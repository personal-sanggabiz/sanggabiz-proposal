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81" r:id="rId41"/>
    <p:sldId id="282" r:id="rId42"/>
    <p:sldId id="283" r:id="rId43"/>
    <p:sldId id="284" r:id="rId44"/>
    <p:sldId id="285" r:id="rId45"/>
    <p:sldId id="286" r:id="rId46"/>
    <p:sldId id="287" r:id="rId47"/>
  </p:sldIdLst>
  <p:sldSz cx="7556500" cy="10693400"/>
  <p:notesSz cx="6858000" cy="9144000"/>
  <p:embeddedFontLst>
    <p:embeddedFont>
      <p:font typeface="Oswald Bold" charset="1" panose="00000800000000000000"/>
      <p:regular r:id="rId31"/>
    </p:embeddedFont>
    <p:embeddedFont>
      <p:font typeface="Nunito" charset="1" panose="00000000000000000000"/>
      <p:regular r:id="rId32"/>
    </p:embeddedFont>
    <p:embeddedFont>
      <p:font typeface="Nunito Bold" charset="1" panose="00000000000000000000"/>
      <p:regular r:id="rId33"/>
    </p:embeddedFont>
    <p:embeddedFont>
      <p:font typeface="Mont 1 Bold" charset="1" panose="00000800000000000000"/>
      <p:regular r:id="rId34"/>
    </p:embeddedFont>
    <p:embeddedFont>
      <p:font typeface="Nunito Bold Italics" charset="1" panose="00000000000000000000"/>
      <p:regular r:id="rId35"/>
    </p:embeddedFont>
    <p:embeddedFont>
      <p:font typeface="Mont 2 Heavy" charset="1" panose="00000A00000000000000"/>
      <p:regular r:id="rId36"/>
    </p:embeddedFont>
    <p:embeddedFont>
      <p:font typeface="Mont 2" charset="1" panose="00000700000000000000"/>
      <p:regular r:id="rId37"/>
    </p:embeddedFont>
    <p:embeddedFont>
      <p:font typeface="Mont 2 Bold" charset="1" panose="00000900000000000000"/>
      <p:regular r:id="rId38"/>
    </p:embeddedFont>
    <p:embeddedFont>
      <p:font typeface="League Spartan" charset="1" panose="00000800000000000000"/>
      <p:regular r:id="rId39"/>
    </p:embeddedFont>
    <p:embeddedFont>
      <p:font typeface="Mont 1" charset="1" panose="000005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font" Target="fonts/font34.fntdata"/><Relationship Id="rId35" Type="http://schemas.openxmlformats.org/officeDocument/2006/relationships/font" Target="fonts/font35.fntdata"/><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font" Target="fonts/font39.fntdata"/><Relationship Id="rId40" Type="http://schemas.openxmlformats.org/officeDocument/2006/relationships/font" Target="fonts/font40.fntdata"/><Relationship Id="rId41" Type="http://schemas.openxmlformats.org/officeDocument/2006/relationships/slide" Target="slides/slide1.xml"/><Relationship Id="rId42" Type="http://schemas.openxmlformats.org/officeDocument/2006/relationships/slide" Target="slides/slide2.xml"/><Relationship Id="rId43" Type="http://schemas.openxmlformats.org/officeDocument/2006/relationships/slide" Target="slides/slide3.xml"/><Relationship Id="rId44" Type="http://schemas.openxmlformats.org/officeDocument/2006/relationships/slide" Target="slides/slide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2.png"/><Relationship Id="rId11" Type="http://schemas.openxmlformats.org/officeDocument/2006/relationships/image" Target="../media/image3.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1"/>
          <p:cNvSpPr txBox="1"/>
          <p:nvPr/>
        </p:nvSpPr>
        <p:spPr>
          <a:xfrm>
            <a:off x="530352" y="1097280"/>
            <a:ext cx="6501384" cy="365760"/>
          </a:xfrm>
          <a:prstGeom prst="rect">
            <a:avLst/>
          </a:prstGeom>
          <a:noFill/>
        </p:spPr>
        <p:txBody>
          <a:bodyPr wrap="square" lIns="0" rIns="0" tIns="0" bIns="0">
            <a:spAutoFit/>
          </a:bodyPr>
          <a:lstStyle/>
          <a:p>
            <a:pPr algn="l">
              <a:lnSpc>
                <a:spcPts val="1980"/>
              </a:lnSpc>
              <a:spcAft>
                <a:spcPts val="0"/>
              </a:spcAft>
            </a:pPr>
            <a:r>
              <a:rPr sz="1800" b="1">
                <a:solidFill>
                  <a:srgbClr val="0F1D3B"/>
                </a:solidFill>
                <a:latin typeface="Nunito Bold"/>
                <a:ea typeface="Nunito Bold"/>
                <a:cs typeface="Nunito Bold"/>
                <a:sym typeface="Nunito Bold"/>
              </a:rPr>
              <a:t>Pelaksanaan Pembelajaran per Kelas</a:t>
            </a:r>
          </a:p>
        </p:txBody>
      </p:sp>
      <p:sp>
        <p:nvSpPr>
          <p:cNvPr id="21" name="Paragraf 1"/>
          <p:cNvSpPr txBox="1"/>
          <p:nvPr/>
        </p:nvSpPr>
        <p:spPr>
          <a:xfrm>
            <a:off x="530352" y="1463040"/>
            <a:ext cx="6501384" cy="731520"/>
          </a:xfrm>
          <a:prstGeom prst="rect">
            <a:avLst/>
          </a:prstGeom>
          <a:noFill/>
        </p:spPr>
        <p:txBody>
          <a:bodyPr wrap="square" lIns="0" rIns="0" tIns="0" bIns="0">
            <a:spAutoFit/>
          </a:bodyPr>
          <a:lstStyle/>
          <a:p>
            <a:pPr algn="just">
              <a:lnSpc>
                <a:spcPts val="1680"/>
              </a:lnSpc>
              <a:spcAft>
                <a:spcPts val="0"/>
              </a:spcAft>
            </a:pPr>
            <a:r>
              <a:rPr sz="1200" b="0">
                <a:solidFill>
                  <a:srgbClr val="000000"/>
                </a:solidFill>
                <a:latin typeface="Nunito"/>
                <a:ea typeface="Nunito"/>
                <a:cs typeface="Nunito"/>
                <a:sym typeface="Nunito"/>
              </a:rPr>
              <a:t>Setiap peserta mengikuti pelatihan IT sesuai jurusannya, yaitu Digital Marketing atau Data Analyst, ditambah dua sesi soft skill. Pembelajaran berjalan hybrid selama 3 bulan dengan tiga bentuk kegiatan:</a:t>
            </a:r>
          </a:p>
        </p:txBody>
      </p:sp>
      <p:sp>
        <p:nvSpPr>
          <p:cNvPr id="22" name="Daftar metode"/>
          <p:cNvSpPr txBox="1"/>
          <p:nvPr/>
        </p:nvSpPr>
        <p:spPr>
          <a:xfrm>
            <a:off x="530352" y="2212848"/>
            <a:ext cx="6501384" cy="2103120"/>
          </a:xfrm>
          <a:prstGeom prst="rect">
            <a:avLst/>
          </a:prstGeom>
          <a:noFill/>
        </p:spPr>
        <p:txBody>
          <a:bodyPr wrap="square" lIns="0" rIns="0" tIns="0" bIns="0">
            <a:spAutoFit/>
          </a:bodyPr>
          <a:lstStyle/>
          <a:p>
            <a:pPr algn="just" marL="259083" indent="-129542" lvl="1">
              <a:lnSpc>
                <a:spcPts val="1680"/>
              </a:lnSpc>
              <a:spcAft>
                <a:spcPts val="200"/>
              </a:spcAft>
              <a:buFont typeface="Arial"/>
              <a:buChar char="•"/>
            </a:pPr>
            <a:r>
              <a:rPr sz="1200" b="1">
                <a:solidFill>
                  <a:srgbClr val="000000"/>
                </a:solidFill>
                <a:latin typeface="Nunito Bold"/>
                <a:ea typeface="Nunito Bold"/>
                <a:cs typeface="Nunito Bold"/>
                <a:sym typeface="Nunito Bold"/>
              </a:rPr>
              <a:t>Onsite atau online via bootcamp: </a:t>
            </a:r>
            <a:r>
              <a:rPr sz="1200" b="0">
                <a:solidFill>
                  <a:srgbClr val="000000"/>
                </a:solidFill>
                <a:latin typeface="Nunito"/>
                <a:ea typeface="Nunito"/>
                <a:cs typeface="Nunito"/>
                <a:sym typeface="Nunito"/>
              </a:rPr>
              <a:t>Sesi pembukaan dan sepuluh sesi bootcamp berdurasi 180 menit, dilaksanakan tatap muka di Kabupaten Bojonegoro atau secara online sesuai kesepakatan dengan tim proyek TechPath. Setiap sesi berisi penjelasan singkat, praktik langsung, dan penugasan.</a:t>
            </a:r>
          </a:p>
          <a:p>
            <a:pPr algn="just" marL="259083" indent="-129542" lvl="1">
              <a:lnSpc>
                <a:spcPts val="1680"/>
              </a:lnSpc>
              <a:spcAft>
                <a:spcPts val="200"/>
              </a:spcAft>
              <a:buFont typeface="Arial"/>
              <a:buChar char="•"/>
            </a:pPr>
            <a:r>
              <a:rPr sz="1200" b="1">
                <a:solidFill>
                  <a:srgbClr val="000000"/>
                </a:solidFill>
                <a:latin typeface="Nunito Bold"/>
                <a:ea typeface="Nunito Bold"/>
                <a:cs typeface="Nunito Bold"/>
                <a:sym typeface="Nunito Bold"/>
              </a:rPr>
              <a:t>Online via belajar mandiri (self-paced): </a:t>
            </a:r>
            <a:r>
              <a:rPr sz="1200" b="0">
                <a:solidFill>
                  <a:srgbClr val="000000"/>
                </a:solidFill>
                <a:latin typeface="Nunito"/>
                <a:ea typeface="Nunito"/>
                <a:cs typeface="Nunito"/>
                <a:sym typeface="Nunito"/>
              </a:rPr>
              <a:t>Peserta mengakses bahan belajar secara mandiri di LMS KitaKerja.id. Trainer memantau penyelesaian modul dan memberi tanggapan melalui grup WhatsApp.</a:t>
            </a:r>
          </a:p>
          <a:p>
            <a:pPr algn="just" marL="259083" indent="-129542" lvl="1">
              <a:lnSpc>
                <a:spcPts val="1680"/>
              </a:lnSpc>
              <a:spcAft>
                <a:spcPts val="200"/>
              </a:spcAft>
              <a:buFont typeface="Arial"/>
              <a:buChar char="•"/>
            </a:pPr>
            <a:r>
              <a:rPr sz="1200" b="1">
                <a:solidFill>
                  <a:srgbClr val="000000"/>
                </a:solidFill>
                <a:latin typeface="Nunito Bold"/>
                <a:ea typeface="Nunito Bold"/>
                <a:cs typeface="Nunito Bold"/>
                <a:sym typeface="Nunito Bold"/>
              </a:rPr>
              <a:t>Offline via mentoring kelompok belajar: </a:t>
            </a:r>
            <a:r>
              <a:rPr sz="1200" b="0">
                <a:solidFill>
                  <a:srgbClr val="000000"/>
                </a:solidFill>
                <a:latin typeface="Nunito"/>
                <a:ea typeface="Nunito"/>
                <a:cs typeface="Nunito"/>
                <a:sym typeface="Nunito"/>
              </a:rPr>
              <a:t>Pertemuan tatap muka dua mingguan untuk membahas kendala belajar dan penugasan, dengan kelompok yang dibentuk berdasarkan jurusan.</a:t>
            </a:r>
          </a:p>
        </p:txBody>
      </p:sp>
      <p:sp>
        <p:nvSpPr>
          <p:cNvPr id="23" name="Judul 2"/>
          <p:cNvSpPr txBox="1"/>
          <p:nvPr/>
        </p:nvSpPr>
        <p:spPr>
          <a:xfrm>
            <a:off x="530352" y="4617720"/>
            <a:ext cx="6501384" cy="365760"/>
          </a:xfrm>
          <a:prstGeom prst="rect">
            <a:avLst/>
          </a:prstGeom>
          <a:noFill/>
        </p:spPr>
        <p:txBody>
          <a:bodyPr wrap="square" lIns="0" rIns="0" tIns="0" bIns="0">
            <a:spAutoFit/>
          </a:bodyPr>
          <a:lstStyle/>
          <a:p>
            <a:pPr algn="l">
              <a:lnSpc>
                <a:spcPts val="1980"/>
              </a:lnSpc>
              <a:spcAft>
                <a:spcPts val="0"/>
              </a:spcAft>
            </a:pPr>
            <a:r>
              <a:rPr sz="1800" b="1">
                <a:solidFill>
                  <a:srgbClr val="0F1D3B"/>
                </a:solidFill>
                <a:latin typeface="Nunito Bold"/>
                <a:ea typeface="Nunito Bold"/>
                <a:cs typeface="Nunito Bold"/>
                <a:sym typeface="Nunito Bold"/>
              </a:rPr>
              <a:t>Kurikulum dan Silabus</a:t>
            </a:r>
          </a:p>
        </p:txBody>
      </p:sp>
      <p:sp>
        <p:nvSpPr>
          <p:cNvPr id="24" name="Paragraf 2"/>
          <p:cNvSpPr txBox="1"/>
          <p:nvPr/>
        </p:nvSpPr>
        <p:spPr>
          <a:xfrm>
            <a:off x="530352" y="4983480"/>
            <a:ext cx="6501384" cy="822960"/>
          </a:xfrm>
          <a:prstGeom prst="rect">
            <a:avLst/>
          </a:prstGeom>
          <a:noFill/>
        </p:spPr>
        <p:txBody>
          <a:bodyPr wrap="square" lIns="0" rIns="0" tIns="0" bIns="0">
            <a:spAutoFit/>
          </a:bodyPr>
          <a:lstStyle/>
          <a:p>
            <a:pPr algn="just">
              <a:lnSpc>
                <a:spcPts val="1680"/>
              </a:lnSpc>
              <a:spcAft>
                <a:spcPts val="0"/>
              </a:spcAft>
            </a:pPr>
            <a:r>
              <a:rPr sz="1200" b="0">
                <a:solidFill>
                  <a:srgbClr val="000000"/>
                </a:solidFill>
                <a:latin typeface="Nunito"/>
                <a:ea typeface="Nunito"/>
                <a:cs typeface="Nunito"/>
                <a:sym typeface="Nunito"/>
              </a:rPr>
              <a:t>Silabus disusun dalam delapan bab: tiga bab Digital Marketing, empat bab Data Analyst, dan satu bab Soft Skill untuk kedua jurusan. Tiap bab memuat topik, materi, metode, serta bentuk kegiatan dan output yang diharapkan. Kelas dan sesi mengikuti estimasi pada RFQ.</a:t>
            </a:r>
          </a:p>
        </p:txBody>
      </p:sp>
      <p:graphicFrame>
        <p:nvGraphicFramePr>
          <p:cNvPr id="25" name="Ringkasan Sesi"/>
          <p:cNvGraphicFramePr>
            <a:graphicFrameLocks noGrp="1"/>
          </p:cNvGraphicFramePr>
          <p:nvPr/>
        </p:nvGraphicFramePr>
        <p:xfrm>
          <a:off x="530352" y="5897880"/>
          <a:ext cx="6501384" cy="1618107"/>
        </p:xfrm>
        <a:graphic>
          <a:graphicData uri="http://schemas.openxmlformats.org/drawingml/2006/table">
            <a:tbl>
              <a:tblPr>
                <a:tableStyleId>{2D5ABB26-0587-4C30-8999-92F81FD0307C}</a:tableStyleId>
              </a:tblPr>
              <a:tblGrid>
                <a:gridCol w="1737360"/>
                <a:gridCol w="1965960"/>
                <a:gridCol w="868680"/>
                <a:gridCol w="1929384"/>
              </a:tblGrid>
              <a:tr h="329184">
                <a:tc>
                  <a:txBody>
                    <a:bodyPr wrap="square"/>
                    <a:lstStyle/>
                    <a:p>
                      <a:pPr algn="ctr">
                        <a:lnSpc>
                          <a:spcPts val="1250"/>
                        </a:lnSpc>
                      </a:pPr>
                      <a:r>
                        <a:rPr sz="1000" b="1">
                          <a:solidFill>
                            <a:srgbClr val="FFFFFF"/>
                          </a:solidFill>
                          <a:latin typeface="Nunito Bold"/>
                          <a:ea typeface="Nunito Bold"/>
                          <a:cs typeface="Nunito Bold"/>
                          <a:sym typeface="Nunito Bold"/>
                        </a:rPr>
                        <a:t>Jenis Pelatihan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250"/>
                        </a:lnSpc>
                      </a:pPr>
                      <a:r>
                        <a:rPr sz="1000" b="1">
                          <a:solidFill>
                            <a:srgbClr val="FFFFFF"/>
                          </a:solidFill>
                          <a:latin typeface="Nunito Bold"/>
                          <a:ea typeface="Nunito Bold"/>
                          <a:cs typeface="Nunito Bold"/>
                          <a:sym typeface="Nunito Bold"/>
                        </a:rPr>
                        <a:t>Jumlah Sesi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250"/>
                        </a:lnSpc>
                      </a:pPr>
                      <a:r>
                        <a:rPr sz="1000" b="1">
                          <a:solidFill>
                            <a:srgbClr val="FFFFFF"/>
                          </a:solidFill>
                          <a:latin typeface="Nunito Bold"/>
                          <a:ea typeface="Nunito Bold"/>
                          <a:cs typeface="Nunito Bold"/>
                          <a:sym typeface="Nunito Bold"/>
                        </a:rPr>
                        <a:t>Durasi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250"/>
                        </a:lnSpc>
                      </a:pPr>
                      <a:r>
                        <a:rPr sz="100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429641">
                <a:tc>
                  <a:txBody>
                    <a:bodyPr wrap="square"/>
                    <a:lstStyle/>
                    <a:p>
                      <a:pPr algn="l">
                        <a:lnSpc>
                          <a:spcPts val="1187"/>
                        </a:lnSpc>
                      </a:pPr>
                      <a:r>
                        <a:rPr sz="950" b="0">
                          <a:solidFill>
                            <a:srgbClr val="000000"/>
                          </a:solidFill>
                          <a:latin typeface="Nunito"/>
                          <a:ea typeface="Nunito"/>
                          <a:cs typeface="Nunito"/>
                          <a:sym typeface="Nunito"/>
                        </a:rPr>
                        <a:t>Digital Marketing</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Pembukaan 1 sesi dan bootcamp 10 sesi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180 menit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Hybrid: onsite,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429641">
                <a:tc>
                  <a:txBody>
                    <a:bodyPr wrap="square"/>
                    <a:lstStyle/>
                    <a:p>
                      <a:pPr algn="l">
                        <a:lnSpc>
                          <a:spcPts val="1187"/>
                        </a:lnSpc>
                      </a:pPr>
                      <a:r>
                        <a:rPr sz="950" b="0">
                          <a:solidFill>
                            <a:srgbClr val="000000"/>
                          </a:solidFill>
                          <a:latin typeface="Nunito"/>
                          <a:ea typeface="Nunito"/>
                          <a:cs typeface="Nunito"/>
                          <a:sym typeface="Nunito"/>
                        </a:rPr>
                        <a:t>Data Analyst dengan optimalisasi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87"/>
                        </a:lnSpc>
                      </a:pPr>
                      <a:r>
                        <a:rPr sz="950" b="0">
                          <a:solidFill>
                            <a:srgbClr val="000000"/>
                          </a:solidFill>
                          <a:latin typeface="Nunito"/>
                          <a:ea typeface="Nunito"/>
                          <a:cs typeface="Nunito"/>
                          <a:sym typeface="Nunito"/>
                        </a:rPr>
                        <a:t>Pembukaan 1 sesi dan bootcamp 10 sesi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87"/>
                        </a:lnSpc>
                      </a:pPr>
                      <a:r>
                        <a:rPr sz="950" b="0">
                          <a:solidFill>
                            <a:srgbClr val="000000"/>
                          </a:solidFill>
                          <a:latin typeface="Nunito"/>
                          <a:ea typeface="Nunito"/>
                          <a:cs typeface="Nunito"/>
                          <a:sym typeface="Nunito"/>
                        </a:rPr>
                        <a:t>180 menit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87"/>
                        </a:lnSpc>
                      </a:pPr>
                      <a:r>
                        <a:rPr sz="950" b="0">
                          <a:solidFill>
                            <a:srgbClr val="000000"/>
                          </a:solidFill>
                          <a:latin typeface="Nunito"/>
                          <a:ea typeface="Nunito"/>
                          <a:cs typeface="Nunito"/>
                          <a:sym typeface="Nunito"/>
                        </a:rPr>
                        <a:t>Hybrid: onsite,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429641">
                <a:tc>
                  <a:txBody>
                    <a:bodyPr wrap="square"/>
                    <a:lstStyle/>
                    <a:p>
                      <a:pPr algn="l">
                        <a:lnSpc>
                          <a:spcPts val="1187"/>
                        </a:lnSpc>
                      </a:pPr>
                      <a:r>
                        <a:rPr sz="950" b="0">
                          <a:solidFill>
                            <a:srgbClr val="000000"/>
                          </a:solidFill>
                          <a:latin typeface="Nunito"/>
                          <a:ea typeface="Nunito"/>
                          <a:cs typeface="Nunito"/>
                          <a:sym typeface="Nunito"/>
                        </a:rPr>
                        <a:t>Soft Skill (kedua jurusan)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2 sesi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180 menit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87"/>
                        </a:lnSpc>
                      </a:pPr>
                      <a:r>
                        <a:rPr sz="950" b="0">
                          <a:solidFill>
                            <a:srgbClr val="000000"/>
                          </a:solidFill>
                          <a:latin typeface="Nunito"/>
                          <a:ea typeface="Nunito"/>
                          <a:cs typeface="Nunito"/>
                          <a:sym typeface="Nunito"/>
                        </a:rPr>
                        <a:t>Hybrid: onsite,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
        <p:nvSpPr>
          <p:cNvPr id="26" name="Kartu 1"/>
          <p:cNvSpPr/>
          <p:nvPr/>
        </p:nvSpPr>
        <p:spPr>
          <a:xfrm>
            <a:off x="530352" y="8001000"/>
            <a:ext cx="1188720" cy="960120"/>
          </a:xfrm>
          <a:prstGeom prst="roundRect">
            <a:avLst/>
          </a:prstGeom>
          <a:solidFill>
            <a:srgbClr val="0171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900" b="1">
                <a:solidFill>
                  <a:srgbClr val="FFFFFF"/>
                </a:solidFill>
                <a:latin typeface="Nunito Bold"/>
                <a:ea typeface="Nunito Bold"/>
                <a:cs typeface="Nunito Bold"/>
                <a:sym typeface="Nunito Bold"/>
              </a:rPr>
              <a:t>1</a:t>
            </a:r>
          </a:p>
          <a:p>
            <a:pPr algn="ctr">
              <a:spcAft>
                <a:spcPts val="0"/>
              </a:spcAft>
            </a:pPr>
            <a:r>
              <a:rPr sz="1000" b="0">
                <a:solidFill>
                  <a:srgbClr val="FFFFFF"/>
                </a:solidFill>
                <a:latin typeface="Nunito"/>
                <a:ea typeface="Nunito"/>
                <a:cs typeface="Nunito"/>
                <a:sym typeface="Nunito"/>
              </a:rPr>
              <a:t>Sesi pembukaan</a:t>
            </a:r>
          </a:p>
        </p:txBody>
      </p:sp>
      <p:sp>
        <p:nvSpPr>
          <p:cNvPr id="27" name="Kartu 2"/>
          <p:cNvSpPr/>
          <p:nvPr/>
        </p:nvSpPr>
        <p:spPr>
          <a:xfrm>
            <a:off x="1856231" y="8001000"/>
            <a:ext cx="1188720" cy="960120"/>
          </a:xfrm>
          <a:prstGeom prst="roundRect">
            <a:avLst/>
          </a:prstGeom>
          <a:solidFill>
            <a:srgbClr val="1AA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900" b="1">
                <a:solidFill>
                  <a:srgbClr val="FFFFFF"/>
                </a:solidFill>
                <a:latin typeface="Nunito Bold"/>
                <a:ea typeface="Nunito Bold"/>
                <a:cs typeface="Nunito Bold"/>
                <a:sym typeface="Nunito Bold"/>
              </a:rPr>
              <a:t>10</a:t>
            </a:r>
          </a:p>
          <a:p>
            <a:pPr algn="ctr">
              <a:spcAft>
                <a:spcPts val="0"/>
              </a:spcAft>
            </a:pPr>
            <a:r>
              <a:rPr sz="1000" b="0">
                <a:solidFill>
                  <a:srgbClr val="FFFFFF"/>
                </a:solidFill>
                <a:latin typeface="Nunito"/>
                <a:ea typeface="Nunito"/>
                <a:cs typeface="Nunito"/>
                <a:sym typeface="Nunito"/>
              </a:rPr>
              <a:t>Sesi bootcamp</a:t>
            </a:r>
          </a:p>
        </p:txBody>
      </p:sp>
      <p:sp>
        <p:nvSpPr>
          <p:cNvPr id="28" name="Kartu 3"/>
          <p:cNvSpPr/>
          <p:nvPr/>
        </p:nvSpPr>
        <p:spPr>
          <a:xfrm>
            <a:off x="3182112" y="8001000"/>
            <a:ext cx="1188720" cy="960120"/>
          </a:xfrm>
          <a:prstGeom prst="roundRect">
            <a:avLst/>
          </a:prstGeom>
          <a:solidFill>
            <a:srgbClr val="0171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900" b="1">
                <a:solidFill>
                  <a:srgbClr val="FFFFFF"/>
                </a:solidFill>
                <a:latin typeface="Nunito Bold"/>
                <a:ea typeface="Nunito Bold"/>
                <a:cs typeface="Nunito Bold"/>
                <a:sym typeface="Nunito Bold"/>
              </a:rPr>
              <a:t>2</a:t>
            </a:r>
          </a:p>
          <a:p>
            <a:pPr algn="ctr">
              <a:spcAft>
                <a:spcPts val="0"/>
              </a:spcAft>
            </a:pPr>
            <a:r>
              <a:rPr sz="1000" b="0">
                <a:solidFill>
                  <a:srgbClr val="FFFFFF"/>
                </a:solidFill>
                <a:latin typeface="Nunito"/>
                <a:ea typeface="Nunito"/>
                <a:cs typeface="Nunito"/>
                <a:sym typeface="Nunito"/>
              </a:rPr>
              <a:t>Sesi soft skill</a:t>
            </a:r>
          </a:p>
        </p:txBody>
      </p:sp>
      <p:sp>
        <p:nvSpPr>
          <p:cNvPr id="29" name="Kartu 4"/>
          <p:cNvSpPr/>
          <p:nvPr/>
        </p:nvSpPr>
        <p:spPr>
          <a:xfrm>
            <a:off x="4507992" y="8001000"/>
            <a:ext cx="1188720" cy="960120"/>
          </a:xfrm>
          <a:prstGeom prst="roundRect">
            <a:avLst/>
          </a:prstGeom>
          <a:solidFill>
            <a:srgbClr val="1AA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a:solidFill>
                  <a:srgbClr val="FFFFFF"/>
                </a:solidFill>
                <a:latin typeface="Nunito Bold"/>
                <a:ea typeface="Nunito Bold"/>
                <a:cs typeface="Nunito Bold"/>
                <a:sym typeface="Nunito Bold"/>
              </a:rPr>
              <a:t>3 bulan</a:t>
            </a:r>
          </a:p>
          <a:p>
            <a:pPr algn="ctr">
              <a:spcAft>
                <a:spcPts val="0"/>
              </a:spcAft>
            </a:pPr>
            <a:r>
              <a:rPr sz="1000" b="0">
                <a:solidFill>
                  <a:srgbClr val="FFFFFF"/>
                </a:solidFill>
                <a:latin typeface="Nunito"/>
                <a:ea typeface="Nunito"/>
                <a:cs typeface="Nunito"/>
                <a:sym typeface="Nunito"/>
              </a:rPr>
              <a:t>Pelatihan hybrid</a:t>
            </a:r>
          </a:p>
        </p:txBody>
      </p:sp>
      <p:sp>
        <p:nvSpPr>
          <p:cNvPr id="30" name="Kartu 5"/>
          <p:cNvSpPr/>
          <p:nvPr/>
        </p:nvSpPr>
        <p:spPr>
          <a:xfrm>
            <a:off x="5833872" y="8001000"/>
            <a:ext cx="1188720" cy="960120"/>
          </a:xfrm>
          <a:prstGeom prst="roundRect">
            <a:avLst/>
          </a:prstGeom>
          <a:solidFill>
            <a:srgbClr val="0171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a:solidFill>
                  <a:srgbClr val="FFFFFF"/>
                </a:solidFill>
                <a:latin typeface="Nunito Bold"/>
                <a:ea typeface="Nunito Bold"/>
                <a:cs typeface="Nunito Bold"/>
                <a:sym typeface="Nunito Bold"/>
              </a:rPr>
              <a:t>2 mingguan</a:t>
            </a:r>
          </a:p>
          <a:p>
            <a:pPr algn="ctr">
              <a:spcAft>
                <a:spcPts val="0"/>
              </a:spcAft>
            </a:pPr>
            <a:r>
              <a:rPr sz="1000" b="0">
                <a:solidFill>
                  <a:srgbClr val="FFFFFF"/>
                </a:solidFill>
                <a:latin typeface="Nunito"/>
                <a:ea typeface="Nunito"/>
                <a:cs typeface="Nunito"/>
                <a:sym typeface="Nunito"/>
              </a:rPr>
              <a:t>Mentoring offline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DM1"/>
          <p:cNvSpPr txBox="1"/>
          <p:nvPr/>
        </p:nvSpPr>
        <p:spPr>
          <a:xfrm>
            <a:off x="530352" y="1088136"/>
            <a:ext cx="6501384" cy="2286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Digital Marketing, BAB 1: Pembukaan dan Fundamental Digital Works</a:t>
            </a:r>
          </a:p>
        </p:txBody>
      </p:sp>
      <p:graphicFrame>
        <p:nvGraphicFramePr>
          <p:cNvPr id="21" name="Tabel DM1"/>
          <p:cNvGraphicFramePr>
            <a:graphicFrameLocks noGrp="1"/>
          </p:cNvGraphicFramePr>
          <p:nvPr/>
        </p:nvGraphicFramePr>
        <p:xfrm>
          <a:off x="530352" y="1426464"/>
          <a:ext cx="6501383" cy="1092200"/>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Sesi Pembukaan</a:t>
                      </a:r>
                    </a:p>
                    <a:p>
                      <a:pPr>
                        <a:lnSpc>
                          <a:spcPts val="1250"/>
                        </a:lnSpc>
                      </a:pPr>
                      <a:r>
                        <a:rPr sz="1000" b="0">
                          <a:solidFill>
                            <a:srgbClr val="000000"/>
                          </a:solidFill>
                          <a:latin typeface="Nunito"/>
                          <a:ea typeface="Nunito"/>
                          <a:cs typeface="Nunito"/>
                          <a:sym typeface="Nunito"/>
                        </a:rPr>
                        <a:t>Urgensi &amp; Fundamental Digital Works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Industri digital, platform, peran Digital Marketer, tren konten, alat kerja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Tabel observasi 3 konten dan peta peluang konten serta peran Digital Marketer (1 halaman)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
        <p:nvSpPr>
          <p:cNvPr id="22" name="Judul DM2"/>
          <p:cNvSpPr txBox="1"/>
          <p:nvPr/>
        </p:nvSpPr>
        <p:spPr>
          <a:xfrm>
            <a:off x="530352" y="2884423"/>
            <a:ext cx="6501384" cy="2286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Digital Marketing, BAB 2: Digital Marketing Inti (Bootcamp 1-5)</a:t>
            </a:r>
          </a:p>
        </p:txBody>
      </p:sp>
      <p:graphicFrame>
        <p:nvGraphicFramePr>
          <p:cNvPr id="23" name="Tabel DM2"/>
          <p:cNvGraphicFramePr>
            <a:graphicFrameLocks noGrp="1"/>
          </p:cNvGraphicFramePr>
          <p:nvPr/>
        </p:nvGraphicFramePr>
        <p:xfrm>
          <a:off x="530352" y="3222752"/>
          <a:ext cx="6501383" cy="4303013"/>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1</a:t>
                      </a:r>
                    </a:p>
                    <a:p>
                      <a:pPr>
                        <a:lnSpc>
                          <a:spcPts val="1250"/>
                        </a:lnSpc>
                      </a:pPr>
                      <a:r>
                        <a:rPr sz="1000" b="0">
                          <a:solidFill>
                            <a:srgbClr val="000000"/>
                          </a:solidFill>
                          <a:latin typeface="Nunito"/>
                          <a:ea typeface="Nunito"/>
                          <a:cs typeface="Nunito"/>
                          <a:sym typeface="Nunito"/>
                        </a:rPr>
                        <a:t>Digital Marketing &amp; Customer Journey</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Funnel, persona, customer journey, analisis kompetitor</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Analisis kompetitor, persona, dan customer journey brand sendiri (Docs atau Sheets)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921765">
                <a:tc>
                  <a:txBody>
                    <a:bodyPr wrap="square"/>
                    <a:lstStyle/>
                    <a:p>
                      <a:pPr algn="l">
                        <a:lnSpc>
                          <a:spcPts val="1250"/>
                        </a:lnSpc>
                      </a:pPr>
                      <a:r>
                        <a:rPr sz="1000" b="1">
                          <a:solidFill>
                            <a:srgbClr val="0F1D3B"/>
                          </a:solidFill>
                          <a:latin typeface="Nunito Bold"/>
                          <a:ea typeface="Nunito Bold"/>
                          <a:cs typeface="Nunito Bold"/>
                          <a:sym typeface="Nunito Bold"/>
                        </a:rPr>
                        <a:t>Bootcamp 2</a:t>
                      </a:r>
                    </a:p>
                    <a:p>
                      <a:pPr>
                        <a:lnSpc>
                          <a:spcPts val="1250"/>
                        </a:lnSpc>
                      </a:pPr>
                      <a:r>
                        <a:rPr sz="1000" b="0">
                          <a:solidFill>
                            <a:srgbClr val="000000"/>
                          </a:solidFill>
                          <a:latin typeface="Nunito"/>
                          <a:ea typeface="Nunito"/>
                          <a:cs typeface="Nunito"/>
                          <a:sym typeface="Nunito"/>
                        </a:rPr>
                        <a:t>Content Production (Design, Video Editing, &amp; Content Planning)</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Desain, format per platform, creative brief, Canva, CapCut, content plan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Satu poster atau carousel promosi berformat PNG atau JPG serta video short-form 10-20 detik berformat MP4</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3</a:t>
                      </a:r>
                    </a:p>
                    <a:p>
                      <a:pPr>
                        <a:lnSpc>
                          <a:spcPts val="1250"/>
                        </a:lnSpc>
                      </a:pPr>
                      <a:r>
                        <a:rPr sz="1000" b="0">
                          <a:solidFill>
                            <a:srgbClr val="000000"/>
                          </a:solidFill>
                          <a:latin typeface="Nunito"/>
                          <a:ea typeface="Nunito"/>
                          <a:cs typeface="Nunito"/>
                          <a:sym typeface="Nunito"/>
                        </a:rPr>
                        <a:t>Copywriting, SEO, &amp; Organic Optimization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Copywriting, SEO, optimasi organik, repurposing konten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Satu paket konten organik (caption IG, hook TikTok, kata kunci, CTA)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4</a:t>
                      </a:r>
                    </a:p>
                    <a:p>
                      <a:pPr>
                        <a:lnSpc>
                          <a:spcPts val="1250"/>
                        </a:lnSpc>
                      </a:pPr>
                      <a:r>
                        <a:rPr sz="1000" b="0">
                          <a:solidFill>
                            <a:srgbClr val="000000"/>
                          </a:solidFill>
                          <a:latin typeface="Nunito"/>
                          <a:ea typeface="Nunito"/>
                          <a:cs typeface="Nunito"/>
                          <a:sym typeface="Nunito"/>
                        </a:rPr>
                        <a:t>Digital Advertising</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Struktur campaign, targeting, creative iklan, anggaran, metrik, setup ads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Tabel simulasi campaign lengkap serta laporan analisis iklan dan rekomendasi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5</a:t>
                      </a:r>
                    </a:p>
                    <a:p>
                      <a:pPr>
                        <a:lnSpc>
                          <a:spcPts val="1250"/>
                        </a:lnSpc>
                      </a:pPr>
                      <a:r>
                        <a:rPr sz="1000" b="0">
                          <a:solidFill>
                            <a:srgbClr val="000000"/>
                          </a:solidFill>
                          <a:latin typeface="Nunito"/>
                          <a:ea typeface="Nunito"/>
                          <a:cs typeface="Nunito"/>
                          <a:sym typeface="Nunito"/>
                        </a:rPr>
                        <a:t>Social Media Analytics, Growth, &amp; Monetization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Analytics, metrik kunci, growth, algoritma, monetisasi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Dokumen analisis insight satu konten serta growth plan 7 hari (Docs atau Sheets)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DM3"/>
          <p:cNvSpPr txBox="1"/>
          <p:nvPr/>
        </p:nvSpPr>
        <p:spPr>
          <a:xfrm>
            <a:off x="530352" y="1088136"/>
            <a:ext cx="6501384" cy="4572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Digital Marketing, BAB 3: Digital Marketing Lanjutan (Bootcamp 6-10)</a:t>
            </a:r>
          </a:p>
        </p:txBody>
      </p:sp>
      <p:graphicFrame>
        <p:nvGraphicFramePr>
          <p:cNvPr id="21" name="Tabel DM3"/>
          <p:cNvGraphicFramePr>
            <a:graphicFrameLocks noGrp="1"/>
          </p:cNvGraphicFramePr>
          <p:nvPr/>
        </p:nvGraphicFramePr>
        <p:xfrm>
          <a:off x="530352" y="1673352"/>
          <a:ext cx="6501383" cy="4144264"/>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6</a:t>
                      </a:r>
                    </a:p>
                    <a:p>
                      <a:pPr>
                        <a:lnSpc>
                          <a:spcPts val="1250"/>
                        </a:lnSpc>
                      </a:pPr>
                      <a:r>
                        <a:rPr sz="1000" b="0">
                          <a:solidFill>
                            <a:srgbClr val="000000"/>
                          </a:solidFill>
                          <a:latin typeface="Nunito"/>
                          <a:ea typeface="Nunito"/>
                          <a:cs typeface="Nunito"/>
                          <a:sym typeface="Nunito"/>
                        </a:rPr>
                        <a:t>Pemasaran di Marketplace (Shopee dan TikTok Shop)</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Toko dan listing marketplace, pencarian, promo, ulasan, live shopping</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Satu dokumen berisi listing, hitungan promo, dan skrip live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7</a:t>
                      </a:r>
                    </a:p>
                    <a:p>
                      <a:pPr>
                        <a:lnSpc>
                          <a:spcPts val="1250"/>
                        </a:lnSpc>
                      </a:pPr>
                      <a:r>
                        <a:rPr sz="1000" b="0">
                          <a:solidFill>
                            <a:srgbClr val="000000"/>
                          </a:solidFill>
                          <a:latin typeface="Nunito"/>
                          <a:ea typeface="Nunito"/>
                          <a:cs typeface="Nunito"/>
                          <a:sym typeface="Nunito"/>
                        </a:rPr>
                        <a:t>WhatsApp Business, Email, dan Relasi Pelanggan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WhatsApp Business, pesan beretika, email, program loyalitas, keluhan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Satu dokumen paket komunikasi pelanggan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8</a:t>
                      </a:r>
                    </a:p>
                    <a:p>
                      <a:pPr>
                        <a:lnSpc>
                          <a:spcPts val="1250"/>
                        </a:lnSpc>
                      </a:pPr>
                      <a:r>
                        <a:rPr sz="1000" b="0">
                          <a:solidFill>
                            <a:srgbClr val="000000"/>
                          </a:solidFill>
                          <a:latin typeface="Nunito"/>
                          <a:ea typeface="Nunito"/>
                          <a:cs typeface="Nunito"/>
                          <a:sym typeface="Nunito"/>
                        </a:rPr>
                        <a:t>Strategi dan Rencana Pemasaran Digital untuk UMKM</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Analisis usaha, target, 4P, anggaran, kalender, rencana satu halaman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Rencana pemasaran satu halaman dan catatan penjelasan 2 menit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9</a:t>
                      </a:r>
                    </a:p>
                    <a:p>
                      <a:pPr>
                        <a:lnSpc>
                          <a:spcPts val="1250"/>
                        </a:lnSpc>
                      </a:pPr>
                      <a:r>
                        <a:rPr sz="1000" b="0">
                          <a:solidFill>
                            <a:srgbClr val="000000"/>
                          </a:solidFill>
                          <a:latin typeface="Nunito"/>
                          <a:ea typeface="Nunito"/>
                          <a:cs typeface="Nunito"/>
                          <a:sym typeface="Nunito"/>
                        </a:rPr>
                        <a:t>Analitik Pemasaran dengan Spreadsheet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Data pemasaran, metrik di Sheets, pivot, grafik, keputusan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Berkas Sheets laporan kinerja satu halaman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10</a:t>
                      </a:r>
                    </a:p>
                    <a:p>
                      <a:pPr>
                        <a:lnSpc>
                          <a:spcPts val="1250"/>
                        </a:lnSpc>
                      </a:pPr>
                      <a:r>
                        <a:rPr sz="1000" b="0">
                          <a:solidFill>
                            <a:srgbClr val="000000"/>
                          </a:solidFill>
                          <a:latin typeface="Nunito"/>
                          <a:ea typeface="Nunito"/>
                          <a:cs typeface="Nunito"/>
                          <a:sym typeface="Nunito"/>
                        </a:rPr>
                        <a:t>Proyek Kampanye Digital Terpadu</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Brief UMKM, strategi, materi, anggaran, pengukuran, presentasi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Dokumen akhir kampanye dan catatan kontribusi pribadi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
        <p:nvSpPr>
          <p:cNvPr id="22" name="Judul DA1"/>
          <p:cNvSpPr txBox="1"/>
          <p:nvPr/>
        </p:nvSpPr>
        <p:spPr>
          <a:xfrm>
            <a:off x="530352" y="6183376"/>
            <a:ext cx="6501384" cy="4572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Data Analyst, BAB 1: Pembukaan dan Fundamental Analisis Data dengan Optimalisasi AI</a:t>
            </a:r>
          </a:p>
        </p:txBody>
      </p:sp>
      <p:graphicFrame>
        <p:nvGraphicFramePr>
          <p:cNvPr id="23" name="Tabel DA1"/>
          <p:cNvGraphicFramePr>
            <a:graphicFrameLocks noGrp="1"/>
          </p:cNvGraphicFramePr>
          <p:nvPr/>
        </p:nvGraphicFramePr>
        <p:xfrm>
          <a:off x="530352" y="6768592"/>
          <a:ext cx="6501383" cy="1250949"/>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921765">
                <a:tc>
                  <a:txBody>
                    <a:bodyPr wrap="square"/>
                    <a:lstStyle/>
                    <a:p>
                      <a:pPr algn="l">
                        <a:lnSpc>
                          <a:spcPts val="1250"/>
                        </a:lnSpc>
                      </a:pPr>
                      <a:r>
                        <a:rPr sz="1000" b="1">
                          <a:solidFill>
                            <a:srgbClr val="0F1D3B"/>
                          </a:solidFill>
                          <a:latin typeface="Nunito Bold"/>
                          <a:ea typeface="Nunito Bold"/>
                          <a:cs typeface="Nunito Bold"/>
                          <a:sym typeface="Nunito Bold"/>
                        </a:rPr>
                        <a:t>Sesi Pembukaan</a:t>
                      </a:r>
                    </a:p>
                    <a:p>
                      <a:pPr>
                        <a:lnSpc>
                          <a:spcPts val="1250"/>
                        </a:lnSpc>
                      </a:pPr>
                      <a:r>
                        <a:rPr sz="1000" b="0">
                          <a:solidFill>
                            <a:srgbClr val="000000"/>
                          </a:solidFill>
                          <a:latin typeface="Nunito"/>
                          <a:ea typeface="Nunito"/>
                          <a:cs typeface="Nunito"/>
                          <a:sym typeface="Nunito"/>
                        </a:rPr>
                        <a:t>Urgensi &amp; Fundamental Analisis Data dengan Optimalisasi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Peran data, alur analisis, jenis data, AI dalam analisis, etika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Satu halaman pertanyaan analisis, tiga data, dan satu risiko</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DA2"/>
          <p:cNvSpPr txBox="1"/>
          <p:nvPr/>
        </p:nvSpPr>
        <p:spPr>
          <a:xfrm>
            <a:off x="530352" y="1088136"/>
            <a:ext cx="6501384" cy="2286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Data Analyst, BAB 2: Data Preparation (Bootcamp 1-3)</a:t>
            </a:r>
          </a:p>
        </p:txBody>
      </p:sp>
      <p:graphicFrame>
        <p:nvGraphicFramePr>
          <p:cNvPr id="21" name="Tabel DA2"/>
          <p:cNvGraphicFramePr>
            <a:graphicFrameLocks noGrp="1"/>
          </p:cNvGraphicFramePr>
          <p:nvPr/>
        </p:nvGraphicFramePr>
        <p:xfrm>
          <a:off x="530352" y="1426464"/>
          <a:ext cx="6501383" cy="2618232"/>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1</a:t>
                      </a:r>
                    </a:p>
                    <a:p>
                      <a:pPr>
                        <a:lnSpc>
                          <a:spcPts val="1250"/>
                        </a:lnSpc>
                      </a:pPr>
                      <a:r>
                        <a:rPr sz="1000" b="0">
                          <a:solidFill>
                            <a:srgbClr val="000000"/>
                          </a:solidFill>
                          <a:latin typeface="Nunito"/>
                          <a:ea typeface="Nunito"/>
                          <a:cs typeface="Nunito"/>
                          <a:sym typeface="Nunito"/>
                        </a:rPr>
                        <a:t>Spreadsheet untuk Analisis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Struktur tabel, rumus dasar dan bersyarat, sort dan filter</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Berkas Sheets: dataset rapi dan tabel ringkasan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2</a:t>
                      </a:r>
                    </a:p>
                    <a:p>
                      <a:pPr>
                        <a:lnSpc>
                          <a:spcPts val="1250"/>
                        </a:lnSpc>
                      </a:pPr>
                      <a:r>
                        <a:rPr sz="1000" b="0">
                          <a:solidFill>
                            <a:srgbClr val="000000"/>
                          </a:solidFill>
                          <a:latin typeface="Nunito"/>
                          <a:ea typeface="Nunito"/>
                          <a:cs typeface="Nunito"/>
                          <a:sym typeface="Nunito"/>
                        </a:rPr>
                        <a:t>Mengumpulkan dan Menelaah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Sumber data, Google Forms, etika dan privasi, statistik deskriptif, anomali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Formulir, Sheets berisi 15 jawaban, dan ringkasan temuan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3</a:t>
                      </a:r>
                    </a:p>
                    <a:p>
                      <a:pPr>
                        <a:lnSpc>
                          <a:spcPts val="1250"/>
                        </a:lnSpc>
                      </a:pPr>
                      <a:r>
                        <a:rPr sz="1000" b="0">
                          <a:solidFill>
                            <a:srgbClr val="000000"/>
                          </a:solidFill>
                          <a:latin typeface="Nunito"/>
                          <a:ea typeface="Nunito"/>
                          <a:cs typeface="Nunito"/>
                          <a:sym typeface="Nunito"/>
                        </a:rPr>
                        <a:t>Validasi dan Pembersihan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Kualitas data, validasi, kosong dan duplikat, format, gabung tabel, dokumentasi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Dataset gabungan, kamus data, dan log</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
        <p:nvSpPr>
          <p:cNvPr id="22" name="Judul DA3"/>
          <p:cNvSpPr txBox="1"/>
          <p:nvPr/>
        </p:nvSpPr>
        <p:spPr>
          <a:xfrm>
            <a:off x="530352" y="4410456"/>
            <a:ext cx="6501384" cy="2286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Data Analyst, BAB 3: Analisis dan Visualisasi Data (Bootcamp 4-7)</a:t>
            </a:r>
          </a:p>
        </p:txBody>
      </p:sp>
      <p:graphicFrame>
        <p:nvGraphicFramePr>
          <p:cNvPr id="23" name="Tabel DA3"/>
          <p:cNvGraphicFramePr>
            <a:graphicFrameLocks noGrp="1"/>
          </p:cNvGraphicFramePr>
          <p:nvPr/>
        </p:nvGraphicFramePr>
        <p:xfrm>
          <a:off x="530352" y="4748784"/>
          <a:ext cx="6501383" cy="3381248"/>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4</a:t>
                      </a:r>
                    </a:p>
                    <a:p>
                      <a:pPr>
                        <a:lnSpc>
                          <a:spcPts val="1250"/>
                        </a:lnSpc>
                      </a:pPr>
                      <a:r>
                        <a:rPr sz="1000" b="0">
                          <a:solidFill>
                            <a:srgbClr val="000000"/>
                          </a:solidFill>
                          <a:latin typeface="Nunito"/>
                          <a:ea typeface="Nunito"/>
                          <a:cs typeface="Nunito"/>
                          <a:sym typeface="Nunito"/>
                        </a:rPr>
                        <a:t>Analisis dengan Pivot dan Insight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Pertanyaan analisis, PivotTable, tren, korelasi, insight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Berkas Sheets: dua pivot dan tiga insight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5</a:t>
                      </a:r>
                    </a:p>
                    <a:p>
                      <a:pPr>
                        <a:lnSpc>
                          <a:spcPts val="1250"/>
                        </a:lnSpc>
                      </a:pPr>
                      <a:r>
                        <a:rPr sz="1000" b="0">
                          <a:solidFill>
                            <a:srgbClr val="000000"/>
                          </a:solidFill>
                          <a:latin typeface="Nunito"/>
                          <a:ea typeface="Nunito"/>
                          <a:cs typeface="Nunito"/>
                          <a:sym typeface="Nunito"/>
                        </a:rPr>
                        <a:t>Visualisasi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Jenis grafik, grafik jujur, aksesibilitas visual, perbaikan grafik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Tiga grafik dan teks alternatif</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6</a:t>
                      </a:r>
                    </a:p>
                    <a:p>
                      <a:pPr>
                        <a:lnSpc>
                          <a:spcPts val="1250"/>
                        </a:lnSpc>
                      </a:pPr>
                      <a:r>
                        <a:rPr sz="1000" b="0">
                          <a:solidFill>
                            <a:srgbClr val="000000"/>
                          </a:solidFill>
                          <a:latin typeface="Nunito"/>
                          <a:ea typeface="Nunito"/>
                          <a:cs typeface="Nunito"/>
                          <a:sym typeface="Nunito"/>
                        </a:rPr>
                        <a:t>Dashboard dengan Looker Studio</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Dashboard Looker Studio, KPI, filter, tata letak, hak akses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Tautan dashboard satu halaman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7</a:t>
                      </a:r>
                    </a:p>
                    <a:p>
                      <a:pPr>
                        <a:lnSpc>
                          <a:spcPts val="1250"/>
                        </a:lnSpc>
                      </a:pPr>
                      <a:r>
                        <a:rPr sz="1000" b="0">
                          <a:solidFill>
                            <a:srgbClr val="000000"/>
                          </a:solidFill>
                          <a:latin typeface="Nunito"/>
                          <a:ea typeface="Nunito"/>
                          <a:cs typeface="Nunito"/>
                          <a:sym typeface="Nunito"/>
                        </a:rPr>
                        <a:t>Data Storytelling dan Laporan Hasil Analisis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Data storytelling, insight dan rekomendasi, laporan, presentasi, peninjauan sejawat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Laporan satu halaman dan 3 slide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DA4"/>
          <p:cNvSpPr txBox="1"/>
          <p:nvPr/>
        </p:nvSpPr>
        <p:spPr>
          <a:xfrm>
            <a:off x="530352" y="1088136"/>
            <a:ext cx="6501384" cy="4572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Data Analyst, BAB 4: Optimalisasi AI dalam Analisis Data (Bootcamp 8-10)</a:t>
            </a:r>
          </a:p>
        </p:txBody>
      </p:sp>
      <p:graphicFrame>
        <p:nvGraphicFramePr>
          <p:cNvPr id="21" name="Tabel DA4"/>
          <p:cNvGraphicFramePr>
            <a:graphicFrameLocks noGrp="1"/>
          </p:cNvGraphicFramePr>
          <p:nvPr/>
        </p:nvGraphicFramePr>
        <p:xfrm>
          <a:off x="530352" y="1673352"/>
          <a:ext cx="6501383" cy="2776981"/>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8</a:t>
                      </a:r>
                    </a:p>
                    <a:p>
                      <a:pPr>
                        <a:lnSpc>
                          <a:spcPts val="1250"/>
                        </a:lnSpc>
                      </a:pPr>
                      <a:r>
                        <a:rPr sz="1000" b="0">
                          <a:solidFill>
                            <a:srgbClr val="000000"/>
                          </a:solidFill>
                          <a:latin typeface="Nunito"/>
                          <a:ea typeface="Nunito"/>
                          <a:cs typeface="Nunito"/>
                          <a:sym typeface="Nunito"/>
                        </a:rPr>
                        <a:t>Dasar AI dan Prompting untuk Analisis Data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Cara kerja dan batas AI, prompt analisis, privasi, memeriksa jawaban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Prompt, hasil AI, hitungan manual, dan catatan selisih</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921765">
                <a:tc>
                  <a:txBody>
                    <a:bodyPr wrap="square"/>
                    <a:lstStyle/>
                    <a:p>
                      <a:pPr algn="l">
                        <a:lnSpc>
                          <a:spcPts val="1250"/>
                        </a:lnSpc>
                      </a:pPr>
                      <a:r>
                        <a:rPr sz="1000" b="1">
                          <a:solidFill>
                            <a:srgbClr val="0F1D3B"/>
                          </a:solidFill>
                          <a:latin typeface="Nunito Bold"/>
                          <a:ea typeface="Nunito Bold"/>
                          <a:cs typeface="Nunito Bold"/>
                          <a:sym typeface="Nunito Bold"/>
                        </a:rPr>
                        <a:t>Bootcamp 9</a:t>
                      </a:r>
                    </a:p>
                    <a:p>
                      <a:pPr>
                        <a:lnSpc>
                          <a:spcPts val="1250"/>
                        </a:lnSpc>
                      </a:pPr>
                      <a:r>
                        <a:rPr sz="1000" b="0">
                          <a:solidFill>
                            <a:srgbClr val="000000"/>
                          </a:solidFill>
                          <a:latin typeface="Nunito"/>
                          <a:ea typeface="Nunito"/>
                          <a:cs typeface="Nunito"/>
                          <a:sym typeface="Nunito"/>
                        </a:rPr>
                        <a:t>AI untuk Rumus, Pembersihan, Analisis, dan Visualisasi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AI untuk rumus, pembersihan, ringkasan, visualisasi, audit kesalahan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Berkas analisis dan catatan prompt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Bootcamp 10</a:t>
                      </a:r>
                    </a:p>
                    <a:p>
                      <a:pPr>
                        <a:lnSpc>
                          <a:spcPts val="1250"/>
                        </a:lnSpc>
                      </a:pPr>
                      <a:r>
                        <a:rPr sz="1000" b="0">
                          <a:solidFill>
                            <a:srgbClr val="000000"/>
                          </a:solidFill>
                          <a:latin typeface="Nunito"/>
                          <a:ea typeface="Nunito"/>
                          <a:cs typeface="Nunito"/>
                          <a:sym typeface="Nunito"/>
                        </a:rPr>
                        <a:t>Optimalisasi Alur Kerja Analisis dengan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Konsep machine learning, prediksi, menilai hasil, templat prompt, otomasi, etika AI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Onsite atau online,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Prediksi, hitungan selisih, templat prompt, daftar periksa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bl>
          </a:graphicData>
        </a:graphic>
      </p:graphicFrame>
      <p:sp>
        <p:nvSpPr>
          <p:cNvPr id="22" name="Judul SS"/>
          <p:cNvSpPr txBox="1"/>
          <p:nvPr/>
        </p:nvSpPr>
        <p:spPr>
          <a:xfrm>
            <a:off x="530352" y="4816094"/>
            <a:ext cx="6501384" cy="457200"/>
          </a:xfrm>
          <a:prstGeom prst="rect">
            <a:avLst/>
          </a:prstGeom>
          <a:noFill/>
        </p:spPr>
        <p:txBody>
          <a:bodyPr wrap="square" lIns="0" rIns="0" tIns="0" bIns="0">
            <a:spAutoFit/>
          </a:bodyPr>
          <a:lstStyle/>
          <a:p>
            <a:pPr algn="l">
              <a:lnSpc>
                <a:spcPts val="1650"/>
              </a:lnSpc>
              <a:spcAft>
                <a:spcPts val="0"/>
              </a:spcAft>
            </a:pPr>
            <a:r>
              <a:rPr sz="1500" b="1">
                <a:solidFill>
                  <a:srgbClr val="0F1D3B"/>
                </a:solidFill>
                <a:latin typeface="Nunito Bold"/>
                <a:ea typeface="Nunito Bold"/>
                <a:cs typeface="Nunito Bold"/>
                <a:sym typeface="Nunito Bold"/>
              </a:rPr>
              <a:t>Soft Skill, BAB Tambahan: Kesiapan Kerja, GEDSI, dan Safeguarding (2 sesi untuk kedua jurusan)</a:t>
            </a:r>
          </a:p>
        </p:txBody>
      </p:sp>
      <p:graphicFrame>
        <p:nvGraphicFramePr>
          <p:cNvPr id="23" name="Tabel SS"/>
          <p:cNvGraphicFramePr>
            <a:graphicFrameLocks noGrp="1"/>
          </p:cNvGraphicFramePr>
          <p:nvPr/>
        </p:nvGraphicFramePr>
        <p:xfrm>
          <a:off x="530352" y="5401310"/>
          <a:ext cx="6501383" cy="1855216"/>
        </p:xfrm>
        <a:graphic>
          <a:graphicData uri="http://schemas.openxmlformats.org/drawingml/2006/table">
            <a:tbl>
              <a:tblPr>
                <a:tableStyleId>{2D5ABB26-0587-4C30-8999-92F81FD0307C}</a:tableStyleId>
              </a:tblPr>
              <a:tblGrid>
                <a:gridCol w="1325880"/>
                <a:gridCol w="2148840"/>
                <a:gridCol w="960120"/>
                <a:gridCol w="2066543"/>
              </a:tblGrid>
              <a:tr h="329184">
                <a:tc>
                  <a:txBody>
                    <a:bodyPr wrap="square"/>
                    <a:lstStyle/>
                    <a:p>
                      <a:pPr algn="ctr">
                        <a:lnSpc>
                          <a:spcPts val="1312"/>
                        </a:lnSpc>
                      </a:pPr>
                      <a:r>
                        <a:rPr sz="1050" b="1">
                          <a:solidFill>
                            <a:srgbClr val="FFFFFF"/>
                          </a:solidFill>
                          <a:latin typeface="Nunito Bold"/>
                          <a:ea typeface="Nunito Bold"/>
                          <a:cs typeface="Nunito Bold"/>
                          <a:sym typeface="Nunito Bold"/>
                        </a:rPr>
                        <a:t>Sesi dan 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Materi / Sub-Topik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Metode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312"/>
                        </a:lnSpc>
                      </a:pPr>
                      <a:r>
                        <a:rPr sz="1050" b="1">
                          <a:solidFill>
                            <a:srgbClr val="FFFFFF"/>
                          </a:solidFill>
                          <a:latin typeface="Nunito Bold"/>
                          <a:ea typeface="Nunito Bold"/>
                          <a:cs typeface="Nunito Bold"/>
                          <a:sym typeface="Nunito Bold"/>
                        </a:rPr>
                        <a:t>Bentuk Kegiatan &amp; Output</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Soft Skill 1</a:t>
                      </a:r>
                    </a:p>
                    <a:p>
                      <a:pPr>
                        <a:lnSpc>
                          <a:spcPts val="1250"/>
                        </a:lnSpc>
                      </a:pPr>
                      <a:r>
                        <a:rPr sz="1000" b="0">
                          <a:solidFill>
                            <a:srgbClr val="000000"/>
                          </a:solidFill>
                          <a:latin typeface="Nunito"/>
                          <a:ea typeface="Nunito"/>
                          <a:cs typeface="Nunito"/>
                          <a:sym typeface="Nunito"/>
                        </a:rPr>
                        <a:t>Profesionalisme, Manajemen Diri, Komunikasi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Profesionalisme, manajemen diri dan waktu, komunikasi profesional</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Tatap muka atau webinar,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250"/>
                        </a:lnSpc>
                      </a:pPr>
                      <a:r>
                        <a:rPr sz="1000" b="0">
                          <a:solidFill>
                            <a:srgbClr val="000000"/>
                          </a:solidFill>
                          <a:latin typeface="Nunito"/>
                          <a:ea typeface="Nunito"/>
                          <a:cs typeface="Nunito"/>
                          <a:sym typeface="Nunito"/>
                        </a:rPr>
                        <a:t>Satu contoh email atau chat kerja profesional</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763016">
                <a:tc>
                  <a:txBody>
                    <a:bodyPr wrap="square"/>
                    <a:lstStyle/>
                    <a:p>
                      <a:pPr algn="l">
                        <a:lnSpc>
                          <a:spcPts val="1250"/>
                        </a:lnSpc>
                      </a:pPr>
                      <a:r>
                        <a:rPr sz="1000" b="1">
                          <a:solidFill>
                            <a:srgbClr val="0F1D3B"/>
                          </a:solidFill>
                          <a:latin typeface="Nunito Bold"/>
                          <a:ea typeface="Nunito Bold"/>
                          <a:cs typeface="Nunito Bold"/>
                          <a:sym typeface="Nunito Bold"/>
                        </a:rPr>
                        <a:t>Soft Skill 2</a:t>
                      </a:r>
                    </a:p>
                    <a:p>
                      <a:pPr>
                        <a:lnSpc>
                          <a:spcPts val="1250"/>
                        </a:lnSpc>
                      </a:pPr>
                      <a:r>
                        <a:rPr sz="1000" b="0">
                          <a:solidFill>
                            <a:srgbClr val="000000"/>
                          </a:solidFill>
                          <a:latin typeface="Nunito"/>
                          <a:ea typeface="Nunito"/>
                          <a:cs typeface="Nunito"/>
                          <a:sym typeface="Nunito"/>
                        </a:rPr>
                        <a:t>Relasi Kerja, GEDSI &amp; Safeguarding, Umpan Balik</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Relasi kerja dan konflik, GEDSI dan safeguarding, umpan balik dan perbaikan diri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Tatap muka atau webinar, dan self-paced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250"/>
                        </a:lnSpc>
                      </a:pPr>
                      <a:r>
                        <a:rPr sz="1000" b="0">
                          <a:solidFill>
                            <a:srgbClr val="000000"/>
                          </a:solidFill>
                          <a:latin typeface="Nunito"/>
                          <a:ea typeface="Nunito"/>
                          <a:cs typeface="Nunito"/>
                          <a:sym typeface="Nunito"/>
                        </a:rPr>
                        <a:t>Satu halaman analisis kasus</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301344"/>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25505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6" id="16"/>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7" id="17"/>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8" id="18"/>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9" id="19"/>
          <p:cNvSpPr txBox="true"/>
          <p:nvPr/>
        </p:nvSpPr>
        <p:spPr>
          <a:xfrm rot="0">
            <a:off x="6506709" y="519574"/>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0" name="Judul Monitoring"/>
          <p:cNvSpPr txBox="1"/>
          <p:nvPr/>
        </p:nvSpPr>
        <p:spPr>
          <a:xfrm>
            <a:off x="530352" y="1097280"/>
            <a:ext cx="6501384" cy="365760"/>
          </a:xfrm>
          <a:prstGeom prst="rect">
            <a:avLst/>
          </a:prstGeom>
          <a:noFill/>
        </p:spPr>
        <p:txBody>
          <a:bodyPr wrap="square" lIns="0" rIns="0" tIns="0" bIns="0">
            <a:spAutoFit/>
          </a:bodyPr>
          <a:lstStyle/>
          <a:p>
            <a:pPr algn="l">
              <a:lnSpc>
                <a:spcPts val="1980"/>
              </a:lnSpc>
              <a:spcAft>
                <a:spcPts val="0"/>
              </a:spcAft>
            </a:pPr>
            <a:r>
              <a:rPr sz="1800" b="1">
                <a:solidFill>
                  <a:srgbClr val="0F1D3B"/>
                </a:solidFill>
                <a:latin typeface="Nunito Bold"/>
                <a:ea typeface="Nunito Bold"/>
                <a:cs typeface="Nunito Bold"/>
                <a:sym typeface="Nunito Bold"/>
              </a:rPr>
              <a:t>Monitoring dan Verifikasi</a:t>
            </a:r>
          </a:p>
        </p:txBody>
      </p:sp>
      <p:sp>
        <p:nvSpPr>
          <p:cNvPr id="21" name="Pengantar"/>
          <p:cNvSpPr txBox="1"/>
          <p:nvPr/>
        </p:nvSpPr>
        <p:spPr>
          <a:xfrm>
            <a:off x="530352" y="1463040"/>
            <a:ext cx="6501384" cy="731520"/>
          </a:xfrm>
          <a:prstGeom prst="rect">
            <a:avLst/>
          </a:prstGeom>
          <a:noFill/>
        </p:spPr>
        <p:txBody>
          <a:bodyPr wrap="square" lIns="0" rIns="0" tIns="0" bIns="0">
            <a:spAutoFit/>
          </a:bodyPr>
          <a:lstStyle/>
          <a:p>
            <a:pPr algn="just">
              <a:lnSpc>
                <a:spcPts val="1680"/>
              </a:lnSpc>
              <a:spcAft>
                <a:spcPts val="0"/>
              </a:spcAft>
            </a:pPr>
            <a:r>
              <a:rPr sz="1200" b="0">
                <a:solidFill>
                  <a:srgbClr val="000000"/>
                </a:solidFill>
                <a:latin typeface="Nunito"/>
                <a:ea typeface="Nunito"/>
                <a:cs typeface="Nunito"/>
                <a:sym typeface="Nunito"/>
              </a:rPr>
              <a:t>Monitoring berjalan sejak peserta terdaftar sampai tiga bulan setelah penempatan. Datanya dicatat per peserta di folder bersama dengan tim proyek TechPath, dan disusun menjadi laporan bulanan serta laporan akhir masa kontrak.</a:t>
            </a:r>
          </a:p>
        </p:txBody>
      </p:sp>
      <p:sp>
        <p:nvSpPr>
          <p:cNvPr id="22" name="Daftar monitoring"/>
          <p:cNvSpPr txBox="1"/>
          <p:nvPr/>
        </p:nvSpPr>
        <p:spPr>
          <a:xfrm>
            <a:off x="530352" y="2331720"/>
            <a:ext cx="6501384" cy="4937760"/>
          </a:xfrm>
          <a:prstGeom prst="rect">
            <a:avLst/>
          </a:prstGeom>
          <a:noFill/>
        </p:spPr>
        <p:txBody>
          <a:bodyPr wrap="square" lIns="0" rIns="0" tIns="0" bIns="0">
            <a:spAutoFit/>
          </a:bodyPr>
          <a:lstStyle/>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Monitoring selama pelatihan: </a:t>
            </a:r>
            <a:r>
              <a:rPr sz="1200" b="0">
                <a:solidFill>
                  <a:srgbClr val="000000"/>
                </a:solidFill>
                <a:latin typeface="Nunito"/>
                <a:ea typeface="Nunito"/>
                <a:cs typeface="Nunito"/>
                <a:sym typeface="Nunito"/>
              </a:rPr>
              <a:t>Presensi, nilai pre-test dan post-test, penugasan, serta progres belajar mandiri di KitaKerja.id dicatat untuk setiap peserta. Dokumen persetujuan peserta (inform consent) disimpan di folder bersama.</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Mentoring offline dua mingguan: </a:t>
            </a:r>
            <a:r>
              <a:rPr sz="1200" b="0">
                <a:solidFill>
                  <a:srgbClr val="000000"/>
                </a:solidFill>
                <a:latin typeface="Nunito"/>
                <a:ea typeface="Nunito"/>
                <a:cs typeface="Nunito"/>
                <a:sym typeface="Nunito"/>
              </a:rPr>
              <a:t>Trainer bertemu kelompok belajar untuk membahas kendala dan penugasan. Hasilnya dicatat dalam notulensi dan laporan progres.</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Tracking system: </a:t>
            </a:r>
            <a:r>
              <a:rPr sz="1200" b="0">
                <a:solidFill>
                  <a:srgbClr val="000000"/>
                </a:solidFill>
                <a:latin typeface="Nunito"/>
                <a:ea typeface="Nunito"/>
                <a:cs typeface="Nunito"/>
                <a:sym typeface="Nunito"/>
              </a:rPr>
              <a:t>Database peserta per kelas untuk memantau status kebekerjaan. Bukti penempatan berupa surat keterangan kerja, kontrak kerja, atau surat keterangan magang berbayar.</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Verifikasi 3 pihak: </a:t>
            </a:r>
            <a:r>
              <a:rPr sz="1200" b="0">
                <a:solidFill>
                  <a:srgbClr val="000000"/>
                </a:solidFill>
                <a:latin typeface="Nunito"/>
                <a:ea typeface="Nunito"/>
                <a:cs typeface="Nunito"/>
                <a:sym typeface="Nunito"/>
              </a:rPr>
              <a:t>Konfirmasi berkala kepada (1) peserta, (2) bagian HRD atau pemberi kerja, dan (3) supervisor langsung untuk memastikan data penempatan valid.</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Mentoring pasca penempatan: </a:t>
            </a:r>
            <a:r>
              <a:rPr sz="1200" b="0">
                <a:solidFill>
                  <a:srgbClr val="000000"/>
                </a:solidFill>
                <a:latin typeface="Nunito"/>
                <a:ea typeface="Nunito"/>
                <a:cs typeface="Nunito"/>
                <a:sym typeface="Nunito"/>
              </a:rPr>
              <a:t>Pendampingan minimal 3 bulan secara online bagi peserta yang sudah bekerja, termasuk konsultasi CV dan Interview Clinic sebelum penempatan.</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Laporan retensi: </a:t>
            </a:r>
            <a:r>
              <a:rPr sz="1200" b="0">
                <a:solidFill>
                  <a:srgbClr val="000000"/>
                </a:solidFill>
                <a:latin typeface="Nunito"/>
                <a:ea typeface="Nunito"/>
                <a:cs typeface="Nunito"/>
                <a:sym typeface="Nunito"/>
              </a:rPr>
              <a:t>Pemantauan pada bulan ke-1 dan bulan ke-3 setelah penempatan untuk mengukur retensi peserta di tempat kerja.</a:t>
            </a:r>
          </a:p>
          <a:p>
            <a:pPr algn="just" marL="259083" indent="-129542" lvl="1">
              <a:lnSpc>
                <a:spcPts val="1680"/>
              </a:lnSpc>
              <a:spcAft>
                <a:spcPts val="300"/>
              </a:spcAft>
              <a:buFont typeface="Arial"/>
              <a:buChar char="•"/>
            </a:pPr>
            <a:r>
              <a:rPr sz="1200" b="1">
                <a:solidFill>
                  <a:srgbClr val="000000"/>
                </a:solidFill>
                <a:latin typeface="Nunito Bold"/>
                <a:ea typeface="Nunito Bold"/>
                <a:cs typeface="Nunito Bold"/>
                <a:sym typeface="Nunito Bold"/>
              </a:rPr>
              <a:t>Survei kepuasan pemberi kerja: </a:t>
            </a:r>
            <a:r>
              <a:rPr sz="1200" b="0">
                <a:solidFill>
                  <a:srgbClr val="000000"/>
                </a:solidFill>
                <a:latin typeface="Nunito"/>
                <a:ea typeface="Nunito"/>
                <a:cs typeface="Nunito"/>
                <a:sym typeface="Nunito"/>
              </a:rPr>
              <a:t>Masukan dari perusahaan atau UMKM mitra tentang performa lulusan, sebagai bahan evaluasi berkelanjutan.</a:t>
            </a:r>
          </a:p>
        </p:txBody>
      </p:sp>
      <p:sp>
        <p:nvSpPr>
          <p:cNvPr id="23" name="Langkah 1"/>
          <p:cNvSpPr/>
          <p:nvPr/>
        </p:nvSpPr>
        <p:spPr>
          <a:xfrm>
            <a:off x="530352" y="7543800"/>
            <a:ext cx="1481328" cy="868680"/>
          </a:xfrm>
          <a:prstGeom prst="roundRect">
            <a:avLst/>
          </a:prstGeom>
          <a:solidFill>
            <a:srgbClr val="0171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0"/>
              </a:spcAft>
            </a:pPr>
            <a:r>
              <a:rPr sz="1800" b="1">
                <a:solidFill>
                  <a:srgbClr val="FFFFFF"/>
                </a:solidFill>
                <a:latin typeface="Nunito Bold"/>
                <a:ea typeface="Nunito Bold"/>
                <a:cs typeface="Nunito Bold"/>
                <a:sym typeface="Nunito Bold"/>
              </a:rPr>
              <a:t>1</a:t>
            </a:r>
          </a:p>
          <a:p>
            <a:pPr algn="ctr">
              <a:spcAft>
                <a:spcPts val="0"/>
              </a:spcAft>
            </a:pPr>
            <a:r>
              <a:rPr sz="1050" b="0">
                <a:solidFill>
                  <a:srgbClr val="FFFFFF"/>
                </a:solidFill>
                <a:latin typeface="Nunito"/>
                <a:ea typeface="Nunito"/>
                <a:cs typeface="Nunito"/>
                <a:sym typeface="Nunito"/>
              </a:rPr>
              <a:t>Data peserta</a:t>
            </a:r>
          </a:p>
        </p:txBody>
      </p:sp>
      <p:sp>
        <p:nvSpPr>
          <p:cNvPr id="24" name="Langkah 2"/>
          <p:cNvSpPr/>
          <p:nvPr/>
        </p:nvSpPr>
        <p:spPr>
          <a:xfrm>
            <a:off x="2194560" y="7543800"/>
            <a:ext cx="1481328" cy="868680"/>
          </a:xfrm>
          <a:prstGeom prst="roundRect">
            <a:avLst/>
          </a:prstGeom>
          <a:solidFill>
            <a:srgbClr val="1AA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0"/>
              </a:spcAft>
            </a:pPr>
            <a:r>
              <a:rPr sz="1800" b="1">
                <a:solidFill>
                  <a:srgbClr val="FFFFFF"/>
                </a:solidFill>
                <a:latin typeface="Nunito Bold"/>
                <a:ea typeface="Nunito Bold"/>
                <a:cs typeface="Nunito Bold"/>
                <a:sym typeface="Nunito Bold"/>
              </a:rPr>
              <a:t>2</a:t>
            </a:r>
          </a:p>
          <a:p>
            <a:pPr algn="ctr">
              <a:spcAft>
                <a:spcPts val="0"/>
              </a:spcAft>
            </a:pPr>
            <a:r>
              <a:rPr sz="1050" b="0">
                <a:solidFill>
                  <a:srgbClr val="FFFFFF"/>
                </a:solidFill>
                <a:latin typeface="Nunito"/>
                <a:ea typeface="Nunito"/>
                <a:cs typeface="Nunito"/>
                <a:sym typeface="Nunito"/>
              </a:rPr>
              <a:t>Bukti penempatan</a:t>
            </a:r>
          </a:p>
        </p:txBody>
      </p:sp>
      <p:sp>
        <p:nvSpPr>
          <p:cNvPr id="25" name="Langkah 3"/>
          <p:cNvSpPr/>
          <p:nvPr/>
        </p:nvSpPr>
        <p:spPr>
          <a:xfrm>
            <a:off x="3858768" y="7543800"/>
            <a:ext cx="1481328" cy="868680"/>
          </a:xfrm>
          <a:prstGeom prst="roundRect">
            <a:avLst/>
          </a:prstGeom>
          <a:solidFill>
            <a:srgbClr val="0171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0"/>
              </a:spcAft>
            </a:pPr>
            <a:r>
              <a:rPr sz="1800" b="1">
                <a:solidFill>
                  <a:srgbClr val="FFFFFF"/>
                </a:solidFill>
                <a:latin typeface="Nunito Bold"/>
                <a:ea typeface="Nunito Bold"/>
                <a:cs typeface="Nunito Bold"/>
                <a:sym typeface="Nunito Bold"/>
              </a:rPr>
              <a:t>3</a:t>
            </a:r>
          </a:p>
          <a:p>
            <a:pPr algn="ctr">
              <a:spcAft>
                <a:spcPts val="0"/>
              </a:spcAft>
            </a:pPr>
            <a:r>
              <a:rPr sz="1050" b="0">
                <a:solidFill>
                  <a:srgbClr val="FFFFFF"/>
                </a:solidFill>
                <a:latin typeface="Nunito"/>
                <a:ea typeface="Nunito"/>
                <a:cs typeface="Nunito"/>
                <a:sym typeface="Nunito"/>
              </a:rPr>
              <a:t>Konfirmasi 3 pihak</a:t>
            </a:r>
          </a:p>
        </p:txBody>
      </p:sp>
      <p:sp>
        <p:nvSpPr>
          <p:cNvPr id="26" name="Langkah 4"/>
          <p:cNvSpPr/>
          <p:nvPr/>
        </p:nvSpPr>
        <p:spPr>
          <a:xfrm>
            <a:off x="5522976" y="7543800"/>
            <a:ext cx="1481328" cy="868680"/>
          </a:xfrm>
          <a:prstGeom prst="roundRect">
            <a:avLst/>
          </a:prstGeom>
          <a:solidFill>
            <a:srgbClr val="1AA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0"/>
              </a:spcAft>
            </a:pPr>
            <a:r>
              <a:rPr sz="1800" b="1">
                <a:solidFill>
                  <a:srgbClr val="FFFFFF"/>
                </a:solidFill>
                <a:latin typeface="Nunito Bold"/>
                <a:ea typeface="Nunito Bold"/>
                <a:cs typeface="Nunito Bold"/>
                <a:sym typeface="Nunito Bold"/>
              </a:rPr>
              <a:t>4</a:t>
            </a:r>
          </a:p>
          <a:p>
            <a:pPr algn="ctr">
              <a:spcAft>
                <a:spcPts val="0"/>
              </a:spcAft>
            </a:pPr>
            <a:r>
              <a:rPr sz="1050" b="0">
                <a:solidFill>
                  <a:srgbClr val="FFFFFF"/>
                </a:solidFill>
                <a:latin typeface="Nunito"/>
                <a:ea typeface="Nunito"/>
                <a:cs typeface="Nunito"/>
                <a:sym typeface="Nunito"/>
              </a:rPr>
              <a:t>Laporan dan evaluasi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txBody>
          <a:bodyPr/>
          <a:p/>
        </p:txBody>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txBody>
          <a:bodyPr/>
          <a:p/>
        </p:txBody>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2337388" y="167955"/>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txBody>
          <a:bodyPr/>
          <a:p/>
        </p:txBody>
      </p:sp>
      <p:sp>
        <p:nvSpPr>
          <p:cNvPr name="Freeform 14" id="14"/>
          <p:cNvSpPr/>
          <p:nvPr/>
        </p:nvSpPr>
        <p:spPr>
          <a:xfrm flipH="false" flipV="false" rot="0">
            <a:off x="529937" y="121663"/>
            <a:ext cx="1539523" cy="585497"/>
          </a:xfrm>
          <a:custGeom>
            <a:avLst/>
            <a:gdLst/>
            <a:ahLst/>
            <a:cxnLst/>
            <a:rect r="r" b="b" t="t" l="l"/>
            <a:pathLst>
              <a:path h="585497" w="1539523">
                <a:moveTo>
                  <a:pt x="0" y="0"/>
                </a:moveTo>
                <a:lnTo>
                  <a:pt x="1539523" y="0"/>
                </a:lnTo>
                <a:lnTo>
                  <a:pt x="1539523" y="585498"/>
                </a:lnTo>
                <a:lnTo>
                  <a:pt x="0" y="585498"/>
                </a:lnTo>
                <a:lnTo>
                  <a:pt x="0" y="0"/>
                </a:lnTo>
                <a:close/>
              </a:path>
            </a:pathLst>
          </a:custGeom>
          <a:blipFill>
            <a:blip r:embed="rId11"/>
            <a:stretch>
              <a:fillRect l="0" t="0" r="0" b="0"/>
            </a:stretch>
          </a:blipFill>
        </p:spPr>
        <p:txBody>
          <a:bodyPr/>
          <a:p/>
        </p:txBody>
      </p:sp>
      <p:sp>
        <p:nvSpPr>
          <p:cNvPr name="TextBox 17" id="1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8" id="1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9" id="19"/>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20" id="20"/>
          <p:cNvSpPr txBox="true"/>
          <p:nvPr/>
        </p:nvSpPr>
        <p:spPr>
          <a:xfrm rot="0">
            <a:off x="6506709" y="386185"/>
            <a:ext cx="523353" cy="187960"/>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2026</a:t>
            </a:r>
          </a:p>
        </p:txBody>
      </p:sp>
      <p:sp>
        <p:nvSpPr>
          <p:cNvPr id="21" name="Judul Timeline"/>
          <p:cNvSpPr txBox="1"/>
          <p:nvPr/>
        </p:nvSpPr>
        <p:spPr>
          <a:xfrm>
            <a:off x="530352" y="1097280"/>
            <a:ext cx="6501384" cy="914400"/>
          </a:xfrm>
          <a:prstGeom prst="rect">
            <a:avLst/>
          </a:prstGeom>
          <a:noFill/>
        </p:spPr>
        <p:txBody>
          <a:bodyPr wrap="square" lIns="0" rIns="0" tIns="0" bIns="0">
            <a:spAutoFit/>
          </a:bodyPr>
          <a:lstStyle/>
          <a:p>
            <a:pPr algn="ctr">
              <a:lnSpc>
                <a:spcPts val="3300"/>
              </a:lnSpc>
              <a:spcAft>
                <a:spcPts val="0"/>
              </a:spcAft>
            </a:pPr>
            <a:r>
              <a:rPr sz="3000" b="0">
                <a:solidFill>
                  <a:srgbClr val="34BDCF"/>
                </a:solidFill>
                <a:latin typeface="Oswald Bold"/>
                <a:ea typeface="Oswald Bold"/>
                <a:cs typeface="Oswald Bold"/>
                <a:sym typeface="Oswald Bold"/>
              </a:rPr>
              <a:t>TIMELINE PELAKSANAAN KEGIATAN</a:t>
            </a:r>
          </a:p>
        </p:txBody>
      </p:sp>
      <p:graphicFrame>
        <p:nvGraphicFramePr>
          <p:cNvPr id="22" name="Tabel Timeline"/>
          <p:cNvGraphicFramePr>
            <a:graphicFrameLocks noGrp="1"/>
          </p:cNvGraphicFramePr>
          <p:nvPr/>
        </p:nvGraphicFramePr>
        <p:xfrm>
          <a:off x="530352" y="2194560"/>
          <a:ext cx="6501380" cy="5124639"/>
        </p:xfrm>
        <a:graphic>
          <a:graphicData uri="http://schemas.openxmlformats.org/drawingml/2006/table">
            <a:tbl>
              <a:tblPr>
                <a:tableStyleId>{2D5ABB26-0587-4C30-8999-92F81FD0307C}</a:tableStyleId>
              </a:tblPr>
              <a:tblGrid>
                <a:gridCol w="2103120"/>
                <a:gridCol w="439826"/>
                <a:gridCol w="439826"/>
                <a:gridCol w="439826"/>
                <a:gridCol w="439826"/>
                <a:gridCol w="439826"/>
                <a:gridCol w="439826"/>
                <a:gridCol w="439826"/>
                <a:gridCol w="439826"/>
                <a:gridCol w="439826"/>
                <a:gridCol w="439826"/>
              </a:tblGrid>
              <a:tr h="365760">
                <a:tc>
                  <a:txBody>
                    <a:bodyPr wrap="square"/>
                    <a:lstStyle/>
                    <a:p>
                      <a:pPr algn="l">
                        <a:lnSpc>
                          <a:spcPts val="1250"/>
                        </a:lnSpc>
                      </a:pPr>
                      <a:r>
                        <a:rPr sz="1000" b="1">
                          <a:solidFill>
                            <a:srgbClr val="FFFFFF"/>
                          </a:solidFill>
                          <a:latin typeface="Nunito Bold"/>
                          <a:ea typeface="Nunito Bold"/>
                          <a:cs typeface="Nunito Bold"/>
                          <a:sym typeface="Nunito Bold"/>
                        </a:rPr>
                        <a:t>Kegiatan Utama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Okt</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Nov</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Des</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Jan</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Feb</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Mar</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Apr</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Mei</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Jun</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c>
                  <a:txBody>
                    <a:bodyPr wrap="square"/>
                    <a:lstStyle/>
                    <a:p>
                      <a:pPr algn="ctr">
                        <a:lnSpc>
                          <a:spcPts val="1125"/>
                        </a:lnSpc>
                      </a:pPr>
                      <a:r>
                        <a:rPr sz="900" b="1">
                          <a:solidFill>
                            <a:srgbClr val="FFFFFF"/>
                          </a:solidFill>
                          <a:latin typeface="Nunito Bold"/>
                          <a:ea typeface="Nunito Bold"/>
                          <a:cs typeface="Nunito Bold"/>
                          <a:sym typeface="Nunito Bold"/>
                        </a:rPr>
                        <a:t>Jul</a:t>
                      </a:r>
                    </a:p>
                  </a:txBody>
                  <a:tcPr marL="18288" marR="18288"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0171CD"/>
                    </a:solidFill>
                  </a:tcPr>
                </a:tc>
              </a:tr>
              <a:tr h="580453">
                <a:tc>
                  <a:txBody>
                    <a:bodyPr wrap="square"/>
                    <a:lstStyle/>
                    <a:p>
                      <a:pPr algn="l">
                        <a:lnSpc>
                          <a:spcPts val="1187"/>
                        </a:lnSpc>
                      </a:pPr>
                      <a:r>
                        <a:rPr sz="950" b="0">
                          <a:solidFill>
                            <a:srgbClr val="000000"/>
                          </a:solidFill>
                          <a:latin typeface="Nunito"/>
                          <a:ea typeface="Nunito"/>
                          <a:cs typeface="Nunito"/>
                          <a:sym typeface="Nunito"/>
                        </a:rPr>
                        <a:t>Penyusunan modul dan LMS KitaKerja.id (silabus, learning materials, unggah, uji coba)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502920">
                <a:tc>
                  <a:txBody>
                    <a:bodyPr wrap="square"/>
                    <a:lstStyle/>
                    <a:p>
                      <a:pPr algn="l">
                        <a:lnSpc>
                          <a:spcPts val="1187"/>
                        </a:lnSpc>
                      </a:pPr>
                      <a:r>
                        <a:rPr sz="950" b="0">
                          <a:solidFill>
                            <a:srgbClr val="000000"/>
                          </a:solidFill>
                          <a:latin typeface="Nunito"/>
                          <a:ea typeface="Nunito"/>
                          <a:cs typeface="Nunito"/>
                          <a:sym typeface="Nunito"/>
                        </a:rPr>
                        <a:t>Rekrutmen dan seleksi peserta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580453">
                <a:tc>
                  <a:txBody>
                    <a:bodyPr wrap="square"/>
                    <a:lstStyle/>
                    <a:p>
                      <a:pPr algn="l">
                        <a:lnSpc>
                          <a:spcPts val="1187"/>
                        </a:lnSpc>
                      </a:pPr>
                      <a:r>
                        <a:rPr sz="950" b="0">
                          <a:solidFill>
                            <a:srgbClr val="000000"/>
                          </a:solidFill>
                          <a:latin typeface="Nunito"/>
                          <a:ea typeface="Nunito"/>
                          <a:cs typeface="Nunito"/>
                          <a:sym typeface="Nunito"/>
                        </a:rPr>
                        <a:t>Sesi pembukaan dan bootcamp Digital Marketing dan Data Analyst (hybrid)</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502920">
                <a:tc>
                  <a:txBody>
                    <a:bodyPr wrap="square"/>
                    <a:lstStyle/>
                    <a:p>
                      <a:pPr algn="l">
                        <a:lnSpc>
                          <a:spcPts val="1187"/>
                        </a:lnSpc>
                      </a:pPr>
                      <a:r>
                        <a:rPr sz="950" b="0">
                          <a:solidFill>
                            <a:srgbClr val="000000"/>
                          </a:solidFill>
                          <a:latin typeface="Nunito"/>
                          <a:ea typeface="Nunito"/>
                          <a:cs typeface="Nunito"/>
                          <a:sym typeface="Nunito"/>
                        </a:rPr>
                        <a:t>Sesi soft skill (2 sesi)</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580453">
                <a:tc>
                  <a:txBody>
                    <a:bodyPr wrap="square"/>
                    <a:lstStyle/>
                    <a:p>
                      <a:pPr algn="l">
                        <a:lnSpc>
                          <a:spcPts val="1187"/>
                        </a:lnSpc>
                      </a:pPr>
                      <a:r>
                        <a:rPr sz="950" b="0">
                          <a:solidFill>
                            <a:srgbClr val="000000"/>
                          </a:solidFill>
                          <a:latin typeface="Nunito"/>
                          <a:ea typeface="Nunito"/>
                          <a:cs typeface="Nunito"/>
                          <a:sym typeface="Nunito"/>
                        </a:rPr>
                        <a:t>Belajar mandiri di KitaKerja.id dan mentoring offline dua mingguan</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502920">
                <a:tc>
                  <a:txBody>
                    <a:bodyPr wrap="square"/>
                    <a:lstStyle/>
                    <a:p>
                      <a:pPr algn="l">
                        <a:lnSpc>
                          <a:spcPts val="1187"/>
                        </a:lnSpc>
                      </a:pPr>
                      <a:r>
                        <a:rPr sz="950" b="0">
                          <a:solidFill>
                            <a:srgbClr val="000000"/>
                          </a:solidFill>
                          <a:latin typeface="Nunito"/>
                          <a:ea typeface="Nunito"/>
                          <a:cs typeface="Nunito"/>
                          <a:sym typeface="Nunito"/>
                        </a:rPr>
                        <a:t>Capstone project bersama UMKM atau private sector</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r>
              <a:tr h="502920">
                <a:tc>
                  <a:txBody>
                    <a:bodyPr wrap="square"/>
                    <a:lstStyle/>
                    <a:p>
                      <a:pPr algn="l">
                        <a:lnSpc>
                          <a:spcPts val="1187"/>
                        </a:lnSpc>
                      </a:pPr>
                      <a:r>
                        <a:rPr sz="950" b="0">
                          <a:solidFill>
                            <a:srgbClr val="000000"/>
                          </a:solidFill>
                          <a:latin typeface="Nunito"/>
                          <a:ea typeface="Nunito"/>
                          <a:cs typeface="Nunito"/>
                          <a:sym typeface="Nunito"/>
                        </a:rPr>
                        <a:t>Job matching dan penempatan kerja (minimal 100 peserta)</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r>
              <a:tr h="502920">
                <a:tc>
                  <a:txBody>
                    <a:bodyPr wrap="square"/>
                    <a:lstStyle/>
                    <a:p>
                      <a:pPr algn="l">
                        <a:lnSpc>
                          <a:spcPts val="1187"/>
                        </a:lnSpc>
                      </a:pPr>
                      <a:r>
                        <a:rPr sz="950" b="0">
                          <a:solidFill>
                            <a:srgbClr val="000000"/>
                          </a:solidFill>
                          <a:latin typeface="Nunito"/>
                          <a:ea typeface="Nunito"/>
                          <a:cs typeface="Nunito"/>
                          <a:sym typeface="Nunito"/>
                        </a:rPr>
                        <a:t>Mentoring pasca penempatan (minimal 3 bulan, online)</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FFFFFF"/>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r>
              <a:tr h="502920">
                <a:tc>
                  <a:txBody>
                    <a:bodyPr wrap="square"/>
                    <a:lstStyle/>
                    <a:p>
                      <a:pPr algn="l">
                        <a:lnSpc>
                          <a:spcPts val="1187"/>
                        </a:lnSpc>
                      </a:pPr>
                      <a:r>
                        <a:rPr sz="950" b="0">
                          <a:solidFill>
                            <a:srgbClr val="000000"/>
                          </a:solidFill>
                          <a:latin typeface="Nunito"/>
                          <a:ea typeface="Nunito"/>
                          <a:cs typeface="Nunito"/>
                          <a:sym typeface="Nunito"/>
                        </a:rPr>
                        <a:t>Monitoring dan evaluasi (laporan bulanan dan laporan akhir)</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EAF4FB"/>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c>
                  <a:txBody>
                    <a:bodyPr wrap="square"/>
                    <a:lstStyle/>
                    <a:p>
                      <a:pPr algn="l">
                        <a:lnSpc>
                          <a:spcPts val="1125"/>
                        </a:lnSpc>
                      </a:pPr>
                      <a:r>
                        <a:rPr sz="900" b="0">
                          <a:solidFill>
                            <a:srgbClr val="000000"/>
                          </a:solidFill>
                          <a:latin typeface="Nunito"/>
                          <a:ea typeface="Nunito"/>
                          <a:cs typeface="Nunito"/>
                          <a:sym typeface="Nunito"/>
                        </a:rPr>
                        <a:t/>
                      </a:r>
                    </a:p>
                  </a:txBody>
                  <a:tcPr marL="54864" marR="54864" marT="36576" marB="36576" anchor="ctr">
                    <a:lnL w="6350" cap="flat" cmpd="sng" algn="ctr">
                      <a:solidFill>
                        <a:srgbClr val="CFD6DD"/>
                      </a:solidFill>
                      <a:prstDash val="solid"/>
                    </a:lnL>
                    <a:lnR w="6350" cap="flat" cmpd="sng" algn="ctr">
                      <a:solidFill>
                        <a:srgbClr val="CFD6DD"/>
                      </a:solidFill>
                      <a:prstDash val="solid"/>
                    </a:lnR>
                    <a:lnT w="6350" cap="flat" cmpd="sng" algn="ctr">
                      <a:solidFill>
                        <a:srgbClr val="CFD6DD"/>
                      </a:solidFill>
                      <a:prstDash val="solid"/>
                    </a:lnT>
                    <a:lnB w="6350" cap="flat" cmpd="sng" algn="ctr">
                      <a:solidFill>
                        <a:srgbClr val="CFD6DD"/>
                      </a:solidFill>
                      <a:prstDash val="solid"/>
                    </a:lnB>
                    <a:solidFill>
                      <a:srgbClr val="1AADBD"/>
                    </a:solidFill>
                  </a:tcPr>
                </a:tc>
              </a:tr>
            </a:tbl>
          </a:graphicData>
        </a:graphic>
      </p:graphicFrame>
      <p:sp>
        <p:nvSpPr>
          <p:cNvPr id="23" name="Catatan Timeline"/>
          <p:cNvSpPr txBox="1"/>
          <p:nvPr/>
        </p:nvSpPr>
        <p:spPr>
          <a:xfrm>
            <a:off x="530352" y="7547800"/>
            <a:ext cx="6501384" cy="1188720"/>
          </a:xfrm>
          <a:prstGeom prst="rect">
            <a:avLst/>
          </a:prstGeom>
          <a:noFill/>
        </p:spPr>
        <p:txBody>
          <a:bodyPr wrap="square" lIns="0" rIns="0" tIns="0" bIns="0">
            <a:spAutoFit/>
          </a:bodyPr>
          <a:lstStyle/>
          <a:p>
            <a:pPr algn="just">
              <a:lnSpc>
                <a:spcPts val="1450"/>
              </a:lnSpc>
              <a:spcAft>
                <a:spcPts val="0"/>
              </a:spcAft>
            </a:pPr>
            <a:r>
              <a:rPr sz="1050" b="0">
                <a:solidFill>
                  <a:srgbClr val="000000"/>
                </a:solidFill>
                <a:latin typeface="Nunito"/>
                <a:ea typeface="Nunito"/>
                <a:cs typeface="Nunito"/>
                <a:sym typeface="Nunito"/>
              </a:rPr>
              <a:t>Catatan: periode kontrak Oktober 2026 sampai Juli 2027 mengikuti RFQ. Jadwal bersifat tentatif dan disesuaikan bersama Plan Indonesia setelah kontrak ditandatangani. Pelatihan hybrid berlangsung 3 bulan, lalu dilanjutkan penempatan kerja dan mentoring pasca penempatan masing-masing 3 bulan.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DAHYoJB9CFw</dc:identifier>
  <dcterms:modified xsi:type="dcterms:W3CDTF">2011-08-01T06:04:30Z</dcterms:modified>
  <cp:revision>1</cp:revision>
  <dc:title>Copy of Proposal for Plan Indonesia - You RISE Surabaya &amp; Sidoarjo</dc:title>
</cp:coreProperties>
</file>