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drive.google.com/file/d/1ha5-qChCFAWESvPBs_YCIk1wztmZecn7/view" TargetMode="External"/><Relationship Id="rId5" Type="http://schemas.openxmlformats.org/officeDocument/2006/relationships/image" Target="../media/image3.jpg"/><Relationship Id="rId6" Type="http://schemas.openxmlformats.org/officeDocument/2006/relationships/hyperlink" Target="https://drive.google.com/file/d/1IoTR5Qby_PAVQTZDJweBhtjcmWByYDcr/view" TargetMode="External"/><Relationship Id="rId7" Type="http://schemas.openxmlformats.org/officeDocument/2006/relationships/image" Target="../media/image4.jpg"/><Relationship Id="rId8" Type="http://schemas.openxmlformats.org/officeDocument/2006/relationships/hyperlink" Target="https://drive.google.com/file/d/1QONJRSzPWMIEqa3gu9igzXVSQa41UhnV/view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396D"/>
            </a:gs>
            <a:gs pos="100000">
              <a:srgbClr val="092647"/>
            </a:gs>
          </a:gsLst>
          <a:lin scaled="0" ang="36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 spc="120">
                <a:solidFill>
                  <a:srgbClr val="FFC00C"/>
                </a:solidFill>
                <a:latin typeface="Montserrat"/>
                <a:ea typeface="Montserrat"/>
                <a:cs typeface="Montserrat"/>
              </a:rPr>
              <a:t>STRATEGI KEBERLANJUTAN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29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Pedoman dan instrumen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10029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Rubrik, instrumen observasi PPL, FGD, dan pedoman pendampingan yang disempurnakan, siap dipakai ulang.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533546" cy="4014215"/>
          </a:xfrm>
          <a:prstGeom prst="roundRect">
            <a:avLst>
              <a:gd name="adj" fmla="val 3622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0664" y="178308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Pedoman Pendampingan Teknis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130552"/>
            <a:ext cx="32409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Metodologi 5 fase, tata kelola, prosedur kerja, indikator RTL, daftar istilah</a:t>
            </a:r>
          </a:p>
        </p:txBody>
      </p:sp>
      <p:pic>
        <p:nvPicPr>
          <p:cNvPr id="8" name="Picture 7" descr="cache_prev_pedoman_358x2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06040"/>
            <a:ext cx="3277514" cy="2606040"/>
          </a:xfrm>
          <a:prstGeom prst="roundRect">
            <a:avLst/>
          </a:prstGeom>
          <a:ln w="31750">
            <a:solidFill>
              <a:srgbClr val="FFFFF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22376" y="5303520"/>
            <a:ext cx="3277514" cy="347472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li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34924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4712" y="5303520"/>
            <a:ext cx="287517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C00C"/>
                </a:solidFill>
                <a:latin typeface="Montserrat"/>
                <a:ea typeface="Montserrat"/>
                <a:cs typeface="Montserrat"/>
                <a:hlinkClick r:id="rId4"/>
              </a:rPr>
              <a:t>Buka di Google Drive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9074" y="1691640"/>
            <a:ext cx="3533546" cy="4014215"/>
          </a:xfrm>
          <a:prstGeom prst="roundRect">
            <a:avLst>
              <a:gd name="adj" fmla="val 3622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75378" y="178308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Rubrik Observasi PPL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5378" y="2130552"/>
            <a:ext cx="32409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Enam dimensi penilaian PPL, skala 1 sampai 4</a:t>
            </a:r>
          </a:p>
        </p:txBody>
      </p:sp>
      <p:pic>
        <p:nvPicPr>
          <p:cNvPr id="15" name="Picture 14" descr="cache_prev_rubrik_358x28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090" y="2606040"/>
            <a:ext cx="3277514" cy="2606040"/>
          </a:xfrm>
          <a:prstGeom prst="roundRect">
            <a:avLst/>
          </a:prstGeom>
          <a:ln w="31750">
            <a:solidFill>
              <a:srgbClr val="FFFFFF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4457090" y="5303520"/>
            <a:ext cx="3277514" cy="347472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li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242" y="5349240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9426" y="5303520"/>
            <a:ext cx="287517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C00C"/>
                </a:solidFill>
                <a:latin typeface="Montserrat"/>
                <a:ea typeface="Montserrat"/>
                <a:cs typeface="Montserrat"/>
                <a:hlinkClick r:id="rId6"/>
              </a:rPr>
              <a:t>Buka di Google Drive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3788" y="1691640"/>
            <a:ext cx="3533546" cy="4014215"/>
          </a:xfrm>
          <a:prstGeom prst="roundRect">
            <a:avLst>
              <a:gd name="adj" fmla="val 3622"/>
            </a:avLst>
          </a:prstGeom>
          <a:solidFill>
            <a:srgbClr val="0D2A4E"/>
          </a:solidFill>
          <a:ln w="19050">
            <a:solidFill>
              <a:srgbClr val="2F7E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10092" y="178308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Panduan FGD Pemetaan PPL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0092" y="2130552"/>
            <a:ext cx="32409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Empat sesi kelompok informan, menjawab Temuan 2 dan 3</a:t>
            </a:r>
          </a:p>
        </p:txBody>
      </p:sp>
      <p:pic>
        <p:nvPicPr>
          <p:cNvPr id="22" name="Picture 21" descr="cache_prev_fgd_358x2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804" y="2606040"/>
            <a:ext cx="3277514" cy="2606040"/>
          </a:xfrm>
          <a:prstGeom prst="roundRect">
            <a:avLst/>
          </a:prstGeom>
          <a:ln w="31750">
            <a:solidFill>
              <a:srgbClr val="FFFFFF"/>
            </a:solidFill>
          </a:ln>
        </p:spPr>
      </p:pic>
      <p:sp>
        <p:nvSpPr>
          <p:cNvPr id="23" name="Rounded Rectangle 22"/>
          <p:cNvSpPr/>
          <p:nvPr/>
        </p:nvSpPr>
        <p:spPr>
          <a:xfrm>
            <a:off x="8191804" y="5303520"/>
            <a:ext cx="3277514" cy="347472"/>
          </a:xfrm>
          <a:prstGeom prst="roundRect">
            <a:avLst>
              <a:gd name="adj" fmla="val 50000"/>
            </a:avLst>
          </a:prstGeom>
          <a:solidFill>
            <a:srgbClr val="0B3361"/>
          </a:solidFill>
          <a:ln w="12700">
            <a:solidFill>
              <a:srgbClr val="FFC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li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956" y="534924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94140" y="5303520"/>
            <a:ext cx="287517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i="0">
                <a:solidFill>
                  <a:srgbClr val="FFC00C"/>
                </a:solidFill>
                <a:latin typeface="Montserrat"/>
                <a:ea typeface="Montserrat"/>
                <a:cs typeface="Montserrat"/>
                <a:hlinkClick r:id="rId8"/>
              </a:rPr>
              <a:t>Buka di Google Drive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852159"/>
            <a:ext cx="327751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780" b="0" i="0">
                <a:solidFill>
                  <a:srgbClr val="2F7E9D"/>
                </a:solidFill>
                <a:latin typeface="Montserrat"/>
                <a:ea typeface="Montserrat"/>
                <a:cs typeface="Montserrat"/>
                <a:hlinkClick r:id="rId4"/>
              </a:rPr>
              <a:t>https://drive.google.com/file/d/1ha5-qChCFAWESvPBs_YCIk1wztmZecn7/view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7090" y="5852159"/>
            <a:ext cx="327751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780" b="0" i="0">
                <a:solidFill>
                  <a:srgbClr val="2F7E9D"/>
                </a:solidFill>
                <a:latin typeface="Montserrat"/>
                <a:ea typeface="Montserrat"/>
                <a:cs typeface="Montserrat"/>
                <a:hlinkClick r:id="rId6"/>
              </a:rPr>
              <a:t>https://drive.google.com/file/d/1IoTR5Qby_PAVQTZDJweBhtjcmWByYDcr/view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804" y="5852159"/>
            <a:ext cx="327751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780" b="0" i="0">
                <a:solidFill>
                  <a:srgbClr val="2F7E9D"/>
                </a:solidFill>
                <a:latin typeface="Montserrat"/>
                <a:ea typeface="Montserrat"/>
                <a:cs typeface="Montserrat"/>
                <a:hlinkClick r:id="rId8"/>
              </a:rPr>
              <a:t>https://drive.google.com/file/d/1QONJRSzPWMIEqa3gu9igzXVSQa41UhnV/view</a:t>
            </a:r>
          </a:p>
        </p:txBody>
      </p:sp>
      <p:pic>
        <p:nvPicPr>
          <p:cNvPr id="29" name="Picture 28" descr="logo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6446520"/>
            <a:ext cx="1109163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2880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850" b="0" i="0">
                <a:solidFill>
                  <a:srgbClr val="B0C0CF"/>
                </a:solidFill>
                <a:latin typeface="Montserrat"/>
                <a:ea typeface="Montserrat"/>
                <a:cs typeface="Montserrat"/>
              </a:rPr>
              <a:t>Slide berdiri sendiri, dipakai di Google Slides langsung (bukan bagian PPTX/PDF utama)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