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8808415" cy="274320"/>
          </a:xfrm>
          <a:prstGeom prst="rect">
            <a:avLst/>
          </a:prstGeom>
          <a:noFill/>
        </p:spPr>
        <p:txBody>
          <a:bodyPr wrap="square" lIns="0" rIns="0" tIns="0" bIns="0" anchor="t">
            <a:spAutoFit/>
          </a:bodyPr>
          <a:lstStyle/>
          <a:p>
            <a:pPr algn="l">
              <a:lnSpc>
                <a:spcPct val="110000"/>
              </a:lnSpc>
              <a:spcAft>
                <a:spcPts val="400"/>
              </a:spcAft>
            </a:pPr>
            <a:r>
              <a:rPr sz="1150" b="1" i="0" spc="120">
                <a:solidFill>
                  <a:srgbClr val="2F7E9D"/>
                </a:solidFill>
                <a:latin typeface="Montserrat"/>
                <a:ea typeface="Montserrat"/>
                <a:cs typeface="Montserrat"/>
              </a:rPr>
              <a:t>KUALITAS DAN KAPABILITAS TIM · CV PERSONEL KUNCI</a:t>
            </a:r>
          </a:p>
        </p:txBody>
      </p:sp>
      <p:sp>
        <p:nvSpPr>
          <p:cNvPr id="3" name="TextBox 2"/>
          <p:cNvSpPr txBox="1"/>
          <p:nvPr/>
        </p:nvSpPr>
        <p:spPr>
          <a:xfrm>
            <a:off x="9585655" y="365760"/>
            <a:ext cx="2011680" cy="274320"/>
          </a:xfrm>
          <a:prstGeom prst="rect">
            <a:avLst/>
          </a:prstGeom>
          <a:noFill/>
        </p:spPr>
        <p:txBody>
          <a:bodyPr wrap="square" lIns="0" rIns="0" tIns="0" bIns="0" anchor="t">
            <a:spAutoFit/>
          </a:bodyPr>
          <a:lstStyle/>
          <a:p>
            <a:pPr algn="r">
              <a:lnSpc>
                <a:spcPct val="110000"/>
              </a:lnSpc>
              <a:spcAft>
                <a:spcPts val="400"/>
              </a:spcAft>
            </a:pPr>
            <a:r>
              <a:rPr sz="1300" b="1" i="0">
                <a:solidFill>
                  <a:srgbClr val="092647"/>
                </a:solidFill>
                <a:latin typeface="Montserrat ExtraBold"/>
                <a:ea typeface="Montserrat ExtraBold"/>
                <a:cs typeface="Montserrat ExtraBold"/>
              </a:rPr>
              <a:t>sanggabiz</a:t>
            </a:r>
          </a:p>
        </p:txBody>
      </p:sp>
      <p:sp>
        <p:nvSpPr>
          <p:cNvPr id="4" name="TextBox 3"/>
          <p:cNvSpPr txBox="1"/>
          <p:nvPr/>
        </p:nvSpPr>
        <p:spPr>
          <a:xfrm>
            <a:off x="594360" y="640080"/>
            <a:ext cx="8808415" cy="548640"/>
          </a:xfrm>
          <a:prstGeom prst="rect">
            <a:avLst/>
          </a:prstGeom>
          <a:noFill/>
        </p:spPr>
        <p:txBody>
          <a:bodyPr wrap="square" lIns="0" rIns="0" tIns="0" bIns="0" anchor="t">
            <a:spAutoFit/>
          </a:bodyPr>
          <a:lstStyle/>
          <a:p>
            <a:pPr algn="l">
              <a:lnSpc>
                <a:spcPct val="100000"/>
              </a:lnSpc>
              <a:spcAft>
                <a:spcPts val="400"/>
              </a:spcAft>
            </a:pPr>
            <a:r>
              <a:rPr sz="2600" b="1" i="0">
                <a:solidFill>
                  <a:srgbClr val="092647"/>
                </a:solidFill>
                <a:latin typeface="Montserrat ExtraBold"/>
                <a:ea typeface="Montserrat ExtraBold"/>
                <a:cs typeface="Montserrat ExtraBold"/>
              </a:rPr>
              <a:t>Administrator Data dan Dokumentasi</a:t>
            </a:r>
          </a:p>
        </p:txBody>
      </p:sp>
      <p:pic>
        <p:nvPicPr>
          <p:cNvPr id="5" name="Picture 4" descr="cache_avatar_placeholder_105x105.jpg"/>
          <p:cNvPicPr>
            <a:picLocks noChangeAspect="1"/>
          </p:cNvPicPr>
          <p:nvPr/>
        </p:nvPicPr>
        <p:blipFill>
          <a:blip r:embed="rId2"/>
          <a:stretch>
            <a:fillRect/>
          </a:stretch>
        </p:blipFill>
        <p:spPr>
          <a:xfrm>
            <a:off x="594360" y="1417320"/>
            <a:ext cx="960120" cy="960120"/>
          </a:xfrm>
          <a:prstGeom prst="roundRect">
            <a:avLst/>
          </a:prstGeom>
        </p:spPr>
      </p:pic>
      <p:sp>
        <p:nvSpPr>
          <p:cNvPr id="6" name="Rounded Rectangle 5"/>
          <p:cNvSpPr/>
          <p:nvPr/>
        </p:nvSpPr>
        <p:spPr>
          <a:xfrm>
            <a:off x="1700784" y="1417320"/>
            <a:ext cx="2322576" cy="960120"/>
          </a:xfrm>
          <a:prstGeom prst="roundRect">
            <a:avLst>
              <a:gd name="adj" fmla="val 9523"/>
            </a:avLst>
          </a:prstGeom>
          <a:solidFill>
            <a:srgbClr val="0926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828800" y="1545336"/>
            <a:ext cx="2066543" cy="365760"/>
          </a:xfrm>
          <a:prstGeom prst="rect">
            <a:avLst/>
          </a:prstGeom>
          <a:noFill/>
        </p:spPr>
        <p:txBody>
          <a:bodyPr wrap="square" lIns="0" rIns="0" tIns="0" bIns="0" anchor="t">
            <a:spAutoFit/>
          </a:bodyPr>
          <a:lstStyle/>
          <a:p>
            <a:pPr algn="l">
              <a:lnSpc>
                <a:spcPct val="95000"/>
              </a:lnSpc>
              <a:spcAft>
                <a:spcPts val="400"/>
              </a:spcAft>
            </a:pPr>
            <a:r>
              <a:rPr sz="1350" b="1" i="0">
                <a:solidFill>
                  <a:srgbClr val="FFFFFF"/>
                </a:solidFill>
                <a:latin typeface="Montserrat"/>
                <a:ea typeface="Montserrat"/>
                <a:cs typeface="Montserrat"/>
              </a:rPr>
              <a:t>Annisa Nastiti</a:t>
            </a:r>
          </a:p>
        </p:txBody>
      </p:sp>
      <p:sp>
        <p:nvSpPr>
          <p:cNvPr id="8" name="TextBox 7"/>
          <p:cNvSpPr txBox="1"/>
          <p:nvPr/>
        </p:nvSpPr>
        <p:spPr>
          <a:xfrm>
            <a:off x="1828800" y="1911095"/>
            <a:ext cx="2066543" cy="457200"/>
          </a:xfrm>
          <a:prstGeom prst="rect">
            <a:avLst/>
          </a:prstGeom>
          <a:noFill/>
        </p:spPr>
        <p:txBody>
          <a:bodyPr wrap="square" lIns="0" rIns="0" tIns="0" bIns="0" anchor="t">
            <a:spAutoFit/>
          </a:bodyPr>
          <a:lstStyle/>
          <a:p>
            <a:pPr algn="l">
              <a:lnSpc>
                <a:spcPct val="100000"/>
              </a:lnSpc>
              <a:spcAft>
                <a:spcPts val="400"/>
              </a:spcAft>
            </a:pPr>
            <a:r>
              <a:rPr sz="880" b="0" i="0">
                <a:solidFill>
                  <a:srgbClr val="B0C0CF"/>
                </a:solidFill>
                <a:latin typeface="Montserrat"/>
                <a:ea typeface="Montserrat"/>
                <a:cs typeface="Montserrat"/>
              </a:rPr>
              <a:t>Teliti dan berorientasi detail, berpengalaman mengelola arsip dan basis data</a:t>
            </a:r>
          </a:p>
        </p:txBody>
      </p:sp>
      <p:sp>
        <p:nvSpPr>
          <p:cNvPr id="9" name="TextBox 8"/>
          <p:cNvSpPr txBox="1"/>
          <p:nvPr/>
        </p:nvSpPr>
        <p:spPr>
          <a:xfrm>
            <a:off x="594360" y="2560320"/>
            <a:ext cx="3429000" cy="256032"/>
          </a:xfrm>
          <a:prstGeom prst="rect">
            <a:avLst/>
          </a:prstGeom>
          <a:noFill/>
        </p:spPr>
        <p:txBody>
          <a:bodyPr wrap="square" lIns="0" rIns="0" tIns="0" bIns="0" anchor="t">
            <a:spAutoFit/>
          </a:bodyPr>
          <a:lstStyle/>
          <a:p>
            <a:pPr algn="l">
              <a:lnSpc>
                <a:spcPct val="110000"/>
              </a:lnSpc>
              <a:spcAft>
                <a:spcPts val="400"/>
              </a:spcAft>
            </a:pPr>
            <a:r>
              <a:rPr sz="1050" b="1" i="0" spc="60">
                <a:solidFill>
                  <a:srgbClr val="092647"/>
                </a:solidFill>
                <a:latin typeface="Montserrat"/>
                <a:ea typeface="Montserrat"/>
                <a:cs typeface="Montserrat"/>
              </a:rPr>
              <a:t>PENDIDIKAN</a:t>
            </a:r>
          </a:p>
        </p:txBody>
      </p:sp>
      <p:sp>
        <p:nvSpPr>
          <p:cNvPr id="10" name="TextBox 9"/>
          <p:cNvSpPr txBox="1"/>
          <p:nvPr/>
        </p:nvSpPr>
        <p:spPr>
          <a:xfrm>
            <a:off x="594360" y="2798064"/>
            <a:ext cx="3429000" cy="685800"/>
          </a:xfrm>
          <a:prstGeom prst="rect">
            <a:avLst/>
          </a:prstGeom>
          <a:noFill/>
        </p:spPr>
        <p:txBody>
          <a:bodyPr wrap="square" lIns="0" rIns="0" tIns="0" bIns="0" anchor="t">
            <a:spAutoFit/>
          </a:bodyPr>
          <a:lstStyle/>
          <a:p>
            <a:pPr algn="l">
              <a:lnSpc>
                <a:spcPct val="110000"/>
              </a:lnSpc>
              <a:spcAft>
                <a:spcPts val="200"/>
              </a:spcAft>
            </a:pPr>
            <a:r>
              <a:rPr sz="930" b="1" i="0">
                <a:solidFill>
                  <a:srgbClr val="1D2733"/>
                </a:solidFill>
                <a:latin typeface="Montserrat"/>
                <a:ea typeface="Montserrat"/>
                <a:cs typeface="Montserrat"/>
              </a:rPr>
              <a:t>S1 </a:t>
            </a:r>
            <a:r>
              <a:rPr sz="930" b="0" i="0">
                <a:solidFill>
                  <a:srgbClr val="1D2733"/>
                </a:solidFill>
                <a:latin typeface="Montserrat"/>
                <a:ea typeface="Montserrat"/>
                <a:cs typeface="Montserrat"/>
              </a:rPr>
              <a:t>- Sastra Indonesia</a:t>
            </a:r>
          </a:p>
          <a:p>
            <a:pPr algn="l">
              <a:lnSpc>
                <a:spcPct val="110000"/>
              </a:lnSpc>
              <a:spcAft>
                <a:spcPts val="200"/>
              </a:spcAft>
            </a:pPr>
            <a:r>
              <a:rPr sz="930" b="0" i="0">
                <a:solidFill>
                  <a:srgbClr val="1D2733"/>
                </a:solidFill>
                <a:latin typeface="Montserrat"/>
                <a:ea typeface="Montserrat"/>
                <a:cs typeface="Montserrat"/>
              </a:rPr>
              <a:t>Universitas Negeri Yogyakarta (2021-2025)</a:t>
            </a:r>
          </a:p>
          <a:p>
            <a:pPr algn="l">
              <a:lnSpc>
                <a:spcPct val="110000"/>
              </a:lnSpc>
              <a:spcAft>
                <a:spcPts val="200"/>
              </a:spcAft>
            </a:pPr>
            <a:r>
              <a:rPr sz="930" b="0" i="0">
                <a:solidFill>
                  <a:srgbClr val="1D2733"/>
                </a:solidFill>
                <a:latin typeface="Montserrat"/>
                <a:ea typeface="Montserrat"/>
                <a:cs typeface="Montserrat"/>
              </a:rPr>
              <a:t>IPK 3,72/4,00 (Dengan Pujian)</a:t>
            </a:r>
          </a:p>
          <a:p>
            <a:pPr algn="l">
              <a:lnSpc>
                <a:spcPct val="110000"/>
              </a:lnSpc>
              <a:spcAft>
                <a:spcPts val="200"/>
              </a:spcAft>
            </a:pPr>
            <a:r>
              <a:rPr sz="930" b="0" i="0">
                <a:solidFill>
                  <a:srgbClr val="1D2733"/>
                </a:solidFill>
                <a:latin typeface="Montserrat"/>
                <a:ea typeface="Montserrat"/>
                <a:cs typeface="Montserrat"/>
              </a:rPr>
              <a:t>Pertukaran Mahasiswa Merdeka, Universitas Udayana (2023)</a:t>
            </a:r>
          </a:p>
        </p:txBody>
      </p:sp>
      <p:sp>
        <p:nvSpPr>
          <p:cNvPr id="11" name="TextBox 10"/>
          <p:cNvSpPr txBox="1"/>
          <p:nvPr/>
        </p:nvSpPr>
        <p:spPr>
          <a:xfrm>
            <a:off x="594360" y="3611880"/>
            <a:ext cx="3429000" cy="256032"/>
          </a:xfrm>
          <a:prstGeom prst="rect">
            <a:avLst/>
          </a:prstGeom>
          <a:noFill/>
        </p:spPr>
        <p:txBody>
          <a:bodyPr wrap="square" lIns="0" rIns="0" tIns="0" bIns="0" anchor="t">
            <a:spAutoFit/>
          </a:bodyPr>
          <a:lstStyle/>
          <a:p>
            <a:pPr algn="l">
              <a:lnSpc>
                <a:spcPct val="110000"/>
              </a:lnSpc>
              <a:spcAft>
                <a:spcPts val="400"/>
              </a:spcAft>
            </a:pPr>
            <a:r>
              <a:rPr sz="1050" b="1" i="0" spc="60">
                <a:solidFill>
                  <a:srgbClr val="092647"/>
                </a:solidFill>
                <a:latin typeface="Montserrat"/>
                <a:ea typeface="Montserrat"/>
                <a:cs typeface="Montserrat"/>
              </a:rPr>
              <a:t>SERTIFIKASI DAN KEAHLIAN</a:t>
            </a:r>
          </a:p>
        </p:txBody>
      </p:sp>
      <p:sp>
        <p:nvSpPr>
          <p:cNvPr id="12" name="TextBox 11"/>
          <p:cNvSpPr txBox="1"/>
          <p:nvPr/>
        </p:nvSpPr>
        <p:spPr>
          <a:xfrm>
            <a:off x="594360" y="3849624"/>
            <a:ext cx="3429000" cy="822960"/>
          </a:xfrm>
          <a:prstGeom prst="rect">
            <a:avLst/>
          </a:prstGeom>
          <a:noFill/>
        </p:spPr>
        <p:txBody>
          <a:bodyPr wrap="square" lIns="0" rIns="0" tIns="0" bIns="0" anchor="t">
            <a:spAutoFit/>
          </a:bodyPr>
          <a:lstStyle/>
          <a:p>
            <a:pPr algn="l">
              <a:lnSpc>
                <a:spcPct val="115000"/>
              </a:lnSpc>
              <a:spcAft>
                <a:spcPts val="400"/>
              </a:spcAft>
            </a:pPr>
            <a:r>
              <a:rPr sz="930" b="0" i="0">
                <a:solidFill>
                  <a:srgbClr val="1D2733"/>
                </a:solidFill>
                <a:latin typeface="Montserrat"/>
                <a:ea typeface="Montserrat"/>
                <a:cs typeface="Montserrat"/>
              </a:rPr>
              <a:t>ProTEFL (550/677), Sertifikasi Microsoft Office Desktop Application (88,89/100). Microsoft Excel (VLOOKUP/HLOOKUP), sistem arsip digital, metadata dan katalogisasi dokumen.</a:t>
            </a:r>
          </a:p>
        </p:txBody>
      </p:sp>
      <p:sp>
        <p:nvSpPr>
          <p:cNvPr id="13" name="Rounded Rectangle 12"/>
          <p:cNvSpPr/>
          <p:nvPr/>
        </p:nvSpPr>
        <p:spPr>
          <a:xfrm>
            <a:off x="594360" y="4663440"/>
            <a:ext cx="3429000" cy="1051560"/>
          </a:xfrm>
          <a:prstGeom prst="roundRect">
            <a:avLst>
              <a:gd name="adj" fmla="val 8695"/>
            </a:avLst>
          </a:prstGeom>
          <a:solidFill>
            <a:srgbClr val="E6F0F4"/>
          </a:solidFill>
          <a:ln w="12700">
            <a:solidFill>
              <a:srgbClr val="2F7E9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 y="4791455"/>
            <a:ext cx="3136392" cy="795527"/>
          </a:xfrm>
          <a:prstGeom prst="rect">
            <a:avLst/>
          </a:prstGeom>
          <a:noFill/>
        </p:spPr>
        <p:txBody>
          <a:bodyPr wrap="square" lIns="0" rIns="0" tIns="0" bIns="0" anchor="t">
            <a:spAutoFit/>
          </a:bodyPr>
          <a:lstStyle/>
          <a:p>
            <a:pPr algn="l">
              <a:lnSpc>
                <a:spcPct val="115000"/>
              </a:lnSpc>
              <a:spcAft>
                <a:spcPts val="400"/>
              </a:spcAft>
            </a:pPr>
            <a:r>
              <a:rPr sz="950" b="1" i="1">
                <a:solidFill>
                  <a:srgbClr val="092647"/>
                </a:solidFill>
                <a:latin typeface="Montserrat"/>
                <a:ea typeface="Montserrat"/>
                <a:cs typeface="Montserrat"/>
              </a:rPr>
              <a:t>Berpengalaman langsung pada pengarsipan dan pendokumentasian data, dari naskah kuno beraksara Jawa hingga sistem arsip digital dan basis data pelanggan.</a:t>
            </a:r>
          </a:p>
        </p:txBody>
      </p:sp>
      <p:sp>
        <p:nvSpPr>
          <p:cNvPr id="15" name="TextBox 14"/>
          <p:cNvSpPr txBox="1"/>
          <p:nvPr/>
        </p:nvSpPr>
        <p:spPr>
          <a:xfrm>
            <a:off x="4343400" y="1417320"/>
            <a:ext cx="7253935" cy="274320"/>
          </a:xfrm>
          <a:prstGeom prst="rect">
            <a:avLst/>
          </a:prstGeom>
          <a:noFill/>
        </p:spPr>
        <p:txBody>
          <a:bodyPr wrap="square" lIns="0" rIns="0" tIns="0" bIns="0" anchor="t">
            <a:spAutoFit/>
          </a:bodyPr>
          <a:lstStyle/>
          <a:p>
            <a:pPr algn="l">
              <a:lnSpc>
                <a:spcPct val="110000"/>
              </a:lnSpc>
              <a:spcAft>
                <a:spcPts val="400"/>
              </a:spcAft>
            </a:pPr>
            <a:r>
              <a:rPr sz="1200" b="1" i="0" spc="60">
                <a:solidFill>
                  <a:srgbClr val="092647"/>
                </a:solidFill>
                <a:latin typeface="Montserrat"/>
                <a:ea typeface="Montserrat"/>
                <a:cs typeface="Montserrat"/>
              </a:rPr>
              <a:t>PENGALAMAN KERJA RELEVAN</a:t>
            </a:r>
          </a:p>
        </p:txBody>
      </p:sp>
      <p:sp>
        <p:nvSpPr>
          <p:cNvPr id="16" name="Rectangle 15"/>
          <p:cNvSpPr/>
          <p:nvPr/>
        </p:nvSpPr>
        <p:spPr>
          <a:xfrm>
            <a:off x="4343400" y="1709928"/>
            <a:ext cx="7253935" cy="18288"/>
          </a:xfrm>
          <a:prstGeom prst="rect">
            <a:avLst/>
          </a:prstGeom>
          <a:solidFill>
            <a:srgbClr val="2F7E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43400" y="1856232"/>
            <a:ext cx="7253935" cy="1298448"/>
          </a:xfrm>
          <a:prstGeom prst="roundRect">
            <a:avLst>
              <a:gd name="adj" fmla="val 4225"/>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07992" y="1947672"/>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Komunitas Jangkah Nusantara</a:t>
            </a:r>
          </a:p>
        </p:txBody>
      </p:sp>
      <p:sp>
        <p:nvSpPr>
          <p:cNvPr id="19" name="TextBox 18"/>
          <p:cNvSpPr txBox="1"/>
          <p:nvPr/>
        </p:nvSpPr>
        <p:spPr>
          <a:xfrm>
            <a:off x="4507992" y="2167128"/>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Konservatoris Arsip dan Naskah Kuno · Juli-Desember 2024</a:t>
            </a:r>
          </a:p>
        </p:txBody>
      </p:sp>
      <p:sp>
        <p:nvSpPr>
          <p:cNvPr id="20" name="TextBox 19"/>
          <p:cNvSpPr txBox="1"/>
          <p:nvPr/>
        </p:nvSpPr>
        <p:spPr>
          <a:xfrm>
            <a:off x="4507992" y="2386584"/>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Mentransliterasi, mendeskripsikan, dan menyusun metadata arsip serta naskah kuno beraksara Jawa dan Latin dalam beberapa bahasa. Berpartisipasi dalam lokakarya restorasi, preservasi, dan digitalisasi arsip bersama komunitas dan mitra. Mendapat predikat “Sangat Baik” dalam sertifikat magang.</a:t>
            </a:r>
          </a:p>
        </p:txBody>
      </p:sp>
      <p:sp>
        <p:nvSpPr>
          <p:cNvPr id="21" name="Rounded Rectangle 20"/>
          <p:cNvSpPr/>
          <p:nvPr/>
        </p:nvSpPr>
        <p:spPr>
          <a:xfrm>
            <a:off x="4343400" y="3264408"/>
            <a:ext cx="7253935" cy="1298448"/>
          </a:xfrm>
          <a:prstGeom prst="roundRect">
            <a:avLst>
              <a:gd name="adj" fmla="val 42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07992" y="3355848"/>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LBB Unggulan Education</a:t>
            </a:r>
          </a:p>
        </p:txBody>
      </p:sp>
      <p:sp>
        <p:nvSpPr>
          <p:cNvPr id="23" name="TextBox 22"/>
          <p:cNvSpPr txBox="1"/>
          <p:nvPr/>
        </p:nvSpPr>
        <p:spPr>
          <a:xfrm>
            <a:off x="4507992" y="3575304"/>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Staf Administrasi · Januari-Juni 2024</a:t>
            </a:r>
          </a:p>
        </p:txBody>
      </p:sp>
      <p:sp>
        <p:nvSpPr>
          <p:cNvPr id="24" name="TextBox 23"/>
          <p:cNvSpPr txBox="1"/>
          <p:nvPr/>
        </p:nvSpPr>
        <p:spPr>
          <a:xfrm>
            <a:off x="4507992" y="3794760"/>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Mengembangkan sistem arsip digital dengan VLOOKUP/HLOOKUP untuk mempermudah penyortiran dokumen. Memperbarui dan mereorganisasi database pelanggan untuk meningkatkan aksesibilitas dan akurasi data. Menginisiasi pembuatan slip gaji, formulir komunikasi kerja, dan kuitansi pembayaran, serta mengoordinasikan komunikasi antara siswa, orang tua, dan pengajar.</a:t>
            </a:r>
          </a:p>
        </p:txBody>
      </p:sp>
      <p:sp>
        <p:nvSpPr>
          <p:cNvPr id="25" name="Rounded Rectangle 24"/>
          <p:cNvSpPr/>
          <p:nvPr/>
        </p:nvSpPr>
        <p:spPr>
          <a:xfrm>
            <a:off x="4343400" y="4672584"/>
            <a:ext cx="7253935" cy="1298448"/>
          </a:xfrm>
          <a:prstGeom prst="roundRect">
            <a:avLst>
              <a:gd name="adj" fmla="val 4225"/>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07992" y="4764024"/>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Nurani Center Solo</a:t>
            </a:r>
          </a:p>
        </p:txBody>
      </p:sp>
      <p:sp>
        <p:nvSpPr>
          <p:cNvPr id="27" name="TextBox 26"/>
          <p:cNvSpPr txBox="1"/>
          <p:nvPr/>
        </p:nvSpPr>
        <p:spPr>
          <a:xfrm>
            <a:off x="4507992" y="4983480"/>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Administrasi Keuangan · Juli 2026-sekarang</a:t>
            </a:r>
          </a:p>
        </p:txBody>
      </p:sp>
      <p:sp>
        <p:nvSpPr>
          <p:cNvPr id="28" name="TextBox 27"/>
          <p:cNvSpPr txBox="1"/>
          <p:nvPr/>
        </p:nvSpPr>
        <p:spPr>
          <a:xfrm>
            <a:off x="4507992" y="5202936"/>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Mengelola dan melakukan pelaporan keuangan, termasuk pembuatan invoice, kwitansi, dan dokumen administrasi keuangan lain secara berkelanjutan.</a:t>
            </a:r>
          </a:p>
        </p:txBody>
      </p:sp>
      <p:sp>
        <p:nvSpPr>
          <p:cNvPr id="29" name="TextBox 28"/>
          <p:cNvSpPr txBox="1"/>
          <p:nvPr/>
        </p:nvSpPr>
        <p:spPr>
          <a:xfrm>
            <a:off x="2057400" y="6510528"/>
            <a:ext cx="7315200" cy="228600"/>
          </a:xfrm>
          <a:prstGeom prst="rect">
            <a:avLst/>
          </a:prstGeom>
          <a:noFill/>
        </p:spPr>
        <p:txBody>
          <a:bodyPr wrap="square" lIns="0" rIns="0" tIns="0" bIns="0" anchor="t">
            <a:spAutoFit/>
          </a:bodyPr>
          <a:lstStyle/>
          <a:p>
            <a:pPr algn="l">
              <a:lnSpc>
                <a:spcPct val="110000"/>
              </a:lnSpc>
              <a:spcAft>
                <a:spcPts val="400"/>
              </a:spcAft>
            </a:pPr>
            <a:r>
              <a:rPr sz="850" b="0" i="0">
                <a:solidFill>
                  <a:srgbClr val="7A8899"/>
                </a:solidFill>
                <a:latin typeface="Montserrat"/>
                <a:ea typeface="Montserrat"/>
                <a:cs typeface="Montserrat"/>
              </a:rPr>
              <a:t>CV lengkap dilampirkan sesuai RFP Lampiran 1 poin 7 (Deskripsi Organisasi dan Staf)</a:t>
            </a:r>
          </a:p>
        </p:txBody>
      </p:sp>
      <p:sp>
        <p:nvSpPr>
          <p:cNvPr id="30" name="TextBox 29"/>
          <p:cNvSpPr txBox="1"/>
          <p:nvPr/>
        </p:nvSpPr>
        <p:spPr>
          <a:xfrm>
            <a:off x="10682935" y="6510528"/>
            <a:ext cx="914400" cy="228600"/>
          </a:xfrm>
          <a:prstGeom prst="rect">
            <a:avLst/>
          </a:prstGeom>
          <a:noFill/>
        </p:spPr>
        <p:txBody>
          <a:bodyPr wrap="square" lIns="0" rIns="0" tIns="0" bIns="0" anchor="t">
            <a:spAutoFit/>
          </a:bodyPr>
          <a:lstStyle/>
          <a:p>
            <a:pPr algn="r">
              <a:lnSpc>
                <a:spcPct val="110000"/>
              </a:lnSpc>
              <a:spcAft>
                <a:spcPts val="400"/>
              </a:spcAft>
            </a:pPr>
            <a:r>
              <a:rPr sz="1000" b="1" i="0">
                <a:solidFill>
                  <a:srgbClr val="2F7E9D"/>
                </a:solidFill>
                <a:latin typeface="Montserrat"/>
                <a:ea typeface="Montserrat"/>
                <a:cs typeface="Montserrat"/>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