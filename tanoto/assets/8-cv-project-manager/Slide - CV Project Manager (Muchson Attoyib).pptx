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65760"/>
            <a:ext cx="8808415" cy="274320"/>
          </a:xfrm>
          <a:prstGeom prst="rect">
            <a:avLst/>
          </a:prstGeom>
          <a:noFill/>
        </p:spPr>
        <p:txBody>
          <a:bodyPr wrap="square" lIns="0" rIns="0" tIns="0" bIns="0" anchor="t">
            <a:spAutoFit/>
          </a:bodyPr>
          <a:lstStyle/>
          <a:p>
            <a:pPr algn="l">
              <a:lnSpc>
                <a:spcPct val="110000"/>
              </a:lnSpc>
              <a:spcAft>
                <a:spcPts val="400"/>
              </a:spcAft>
            </a:pPr>
            <a:r>
              <a:rPr sz="1150" b="1" i="0" spc="120">
                <a:solidFill>
                  <a:srgbClr val="2F7E9D"/>
                </a:solidFill>
                <a:latin typeface="Montserrat"/>
                <a:ea typeface="Montserrat"/>
                <a:cs typeface="Montserrat"/>
              </a:rPr>
              <a:t>KUALITAS DAN KAPABILITAS TIM · CV PERSONEL KUNCI</a:t>
            </a:r>
          </a:p>
        </p:txBody>
      </p:sp>
      <p:sp>
        <p:nvSpPr>
          <p:cNvPr id="3" name="TextBox 2"/>
          <p:cNvSpPr txBox="1"/>
          <p:nvPr/>
        </p:nvSpPr>
        <p:spPr>
          <a:xfrm>
            <a:off x="9585655" y="365760"/>
            <a:ext cx="2011680" cy="274320"/>
          </a:xfrm>
          <a:prstGeom prst="rect">
            <a:avLst/>
          </a:prstGeom>
          <a:noFill/>
        </p:spPr>
        <p:txBody>
          <a:bodyPr wrap="square" lIns="0" rIns="0" tIns="0" bIns="0" anchor="t">
            <a:spAutoFit/>
          </a:bodyPr>
          <a:lstStyle/>
          <a:p>
            <a:pPr algn="r">
              <a:lnSpc>
                <a:spcPct val="110000"/>
              </a:lnSpc>
              <a:spcAft>
                <a:spcPts val="400"/>
              </a:spcAft>
            </a:pPr>
            <a:r>
              <a:rPr sz="1300" b="1" i="0">
                <a:solidFill>
                  <a:srgbClr val="092647"/>
                </a:solidFill>
                <a:latin typeface="Montserrat ExtraBold"/>
                <a:ea typeface="Montserrat ExtraBold"/>
                <a:cs typeface="Montserrat ExtraBold"/>
              </a:rPr>
              <a:t>sanggabiz</a:t>
            </a:r>
          </a:p>
        </p:txBody>
      </p:sp>
      <p:sp>
        <p:nvSpPr>
          <p:cNvPr id="4" name="TextBox 3"/>
          <p:cNvSpPr txBox="1"/>
          <p:nvPr/>
        </p:nvSpPr>
        <p:spPr>
          <a:xfrm>
            <a:off x="594360" y="640080"/>
            <a:ext cx="8808415" cy="548640"/>
          </a:xfrm>
          <a:prstGeom prst="rect">
            <a:avLst/>
          </a:prstGeom>
          <a:noFill/>
        </p:spPr>
        <p:txBody>
          <a:bodyPr wrap="square" lIns="0" rIns="0" tIns="0" bIns="0" anchor="t">
            <a:spAutoFit/>
          </a:bodyPr>
          <a:lstStyle/>
          <a:p>
            <a:pPr algn="l">
              <a:lnSpc>
                <a:spcPct val="100000"/>
              </a:lnSpc>
              <a:spcAft>
                <a:spcPts val="400"/>
              </a:spcAft>
            </a:pPr>
            <a:r>
              <a:rPr sz="2600" b="1" i="0">
                <a:solidFill>
                  <a:srgbClr val="092647"/>
                </a:solidFill>
                <a:latin typeface="Montserrat ExtraBold"/>
                <a:ea typeface="Montserrat ExtraBold"/>
                <a:cs typeface="Montserrat ExtraBold"/>
              </a:rPr>
              <a:t>Project Manager dan Koordinator Nasional</a:t>
            </a:r>
          </a:p>
        </p:txBody>
      </p:sp>
      <p:pic>
        <p:nvPicPr>
          <p:cNvPr id="5" name="Picture 4" descr="cache_avatar_placeholder_105x105.jpg"/>
          <p:cNvPicPr>
            <a:picLocks noChangeAspect="1"/>
          </p:cNvPicPr>
          <p:nvPr/>
        </p:nvPicPr>
        <p:blipFill>
          <a:blip r:embed="rId2"/>
          <a:stretch>
            <a:fillRect/>
          </a:stretch>
        </p:blipFill>
        <p:spPr>
          <a:xfrm>
            <a:off x="594360" y="1417320"/>
            <a:ext cx="960120" cy="960120"/>
          </a:xfrm>
          <a:prstGeom prst="roundRect">
            <a:avLst/>
          </a:prstGeom>
        </p:spPr>
      </p:pic>
      <p:sp>
        <p:nvSpPr>
          <p:cNvPr id="6" name="Rounded Rectangle 5"/>
          <p:cNvSpPr/>
          <p:nvPr/>
        </p:nvSpPr>
        <p:spPr>
          <a:xfrm>
            <a:off x="1700784" y="1417320"/>
            <a:ext cx="2322576" cy="960120"/>
          </a:xfrm>
          <a:prstGeom prst="roundRect">
            <a:avLst>
              <a:gd name="adj" fmla="val 9523"/>
            </a:avLst>
          </a:prstGeom>
          <a:solidFill>
            <a:srgbClr val="0926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828800" y="1545336"/>
            <a:ext cx="2066543" cy="365760"/>
          </a:xfrm>
          <a:prstGeom prst="rect">
            <a:avLst/>
          </a:prstGeom>
          <a:noFill/>
        </p:spPr>
        <p:txBody>
          <a:bodyPr wrap="square" lIns="0" rIns="0" tIns="0" bIns="0" anchor="t">
            <a:spAutoFit/>
          </a:bodyPr>
          <a:lstStyle/>
          <a:p>
            <a:pPr algn="l">
              <a:lnSpc>
                <a:spcPct val="95000"/>
              </a:lnSpc>
              <a:spcAft>
                <a:spcPts val="400"/>
              </a:spcAft>
            </a:pPr>
            <a:r>
              <a:rPr sz="1350" b="1" i="0">
                <a:solidFill>
                  <a:srgbClr val="FFFFFF"/>
                </a:solidFill>
                <a:latin typeface="Montserrat"/>
                <a:ea typeface="Montserrat"/>
                <a:cs typeface="Montserrat"/>
              </a:rPr>
              <a:t>Muhammad Muchson Attoyib</a:t>
            </a:r>
          </a:p>
        </p:txBody>
      </p:sp>
      <p:sp>
        <p:nvSpPr>
          <p:cNvPr id="8" name="TextBox 7"/>
          <p:cNvSpPr txBox="1"/>
          <p:nvPr/>
        </p:nvSpPr>
        <p:spPr>
          <a:xfrm>
            <a:off x="1828800" y="1911095"/>
            <a:ext cx="2066543" cy="457200"/>
          </a:xfrm>
          <a:prstGeom prst="rect">
            <a:avLst/>
          </a:prstGeom>
          <a:noFill/>
        </p:spPr>
        <p:txBody>
          <a:bodyPr wrap="square" lIns="0" rIns="0" tIns="0" bIns="0" anchor="t">
            <a:spAutoFit/>
          </a:bodyPr>
          <a:lstStyle/>
          <a:p>
            <a:pPr algn="l">
              <a:lnSpc>
                <a:spcPct val="100000"/>
              </a:lnSpc>
              <a:spcAft>
                <a:spcPts val="400"/>
              </a:spcAft>
            </a:pPr>
            <a:r>
              <a:rPr sz="880" b="0" i="0">
                <a:solidFill>
                  <a:srgbClr val="B0C0CF"/>
                </a:solidFill>
                <a:latin typeface="Montserrat"/>
                <a:ea typeface="Montserrat"/>
                <a:cs typeface="Montserrat"/>
              </a:rPr>
              <a:t>5+ tahun manajemen program pendidikan dan teknologi, lintas lembaga nasional</a:t>
            </a:r>
          </a:p>
        </p:txBody>
      </p:sp>
      <p:sp>
        <p:nvSpPr>
          <p:cNvPr id="9" name="TextBox 8"/>
          <p:cNvSpPr txBox="1"/>
          <p:nvPr/>
        </p:nvSpPr>
        <p:spPr>
          <a:xfrm>
            <a:off x="594360" y="2560320"/>
            <a:ext cx="3429000" cy="256032"/>
          </a:xfrm>
          <a:prstGeom prst="rect">
            <a:avLst/>
          </a:prstGeom>
          <a:noFill/>
        </p:spPr>
        <p:txBody>
          <a:bodyPr wrap="square" lIns="0" rIns="0" tIns="0" bIns="0" anchor="t">
            <a:spAutoFit/>
          </a:bodyPr>
          <a:lstStyle/>
          <a:p>
            <a:pPr algn="l">
              <a:lnSpc>
                <a:spcPct val="110000"/>
              </a:lnSpc>
              <a:spcAft>
                <a:spcPts val="400"/>
              </a:spcAft>
            </a:pPr>
            <a:r>
              <a:rPr sz="1050" b="1" i="0" spc="60">
                <a:solidFill>
                  <a:srgbClr val="092647"/>
                </a:solidFill>
                <a:latin typeface="Montserrat"/>
                <a:ea typeface="Montserrat"/>
                <a:cs typeface="Montserrat"/>
              </a:rPr>
              <a:t>PENDIDIKAN</a:t>
            </a:r>
          </a:p>
        </p:txBody>
      </p:sp>
      <p:sp>
        <p:nvSpPr>
          <p:cNvPr id="10" name="TextBox 9"/>
          <p:cNvSpPr txBox="1"/>
          <p:nvPr/>
        </p:nvSpPr>
        <p:spPr>
          <a:xfrm>
            <a:off x="594360" y="2798064"/>
            <a:ext cx="3429000" cy="685800"/>
          </a:xfrm>
          <a:prstGeom prst="rect">
            <a:avLst/>
          </a:prstGeom>
          <a:noFill/>
        </p:spPr>
        <p:txBody>
          <a:bodyPr wrap="square" lIns="0" rIns="0" tIns="0" bIns="0" anchor="t">
            <a:spAutoFit/>
          </a:bodyPr>
          <a:lstStyle/>
          <a:p>
            <a:pPr algn="l">
              <a:lnSpc>
                <a:spcPct val="112000"/>
              </a:lnSpc>
              <a:spcAft>
                <a:spcPts val="200"/>
              </a:spcAft>
            </a:pPr>
            <a:r>
              <a:rPr sz="930" b="1" i="0">
                <a:solidFill>
                  <a:srgbClr val="1D2733"/>
                </a:solidFill>
                <a:latin typeface="Montserrat"/>
                <a:ea typeface="Montserrat"/>
                <a:cs typeface="Montserrat"/>
              </a:rPr>
              <a:t>S2 </a:t>
            </a:r>
            <a:r>
              <a:rPr sz="930" b="0" i="0">
                <a:solidFill>
                  <a:srgbClr val="1D2733"/>
                </a:solidFill>
                <a:latin typeface="Montserrat"/>
                <a:ea typeface="Montserrat"/>
                <a:cs typeface="Montserrat"/>
              </a:rPr>
              <a:t>- Pendidikan Kejuruan (Vocational Education)</a:t>
            </a:r>
          </a:p>
          <a:p>
            <a:pPr algn="l">
              <a:lnSpc>
                <a:spcPct val="112000"/>
              </a:lnSpc>
              <a:spcAft>
                <a:spcPts val="200"/>
              </a:spcAft>
            </a:pPr>
            <a:r>
              <a:rPr sz="930" b="0" i="0">
                <a:solidFill>
                  <a:srgbClr val="1D2733"/>
                </a:solidFill>
                <a:latin typeface="Montserrat"/>
                <a:ea typeface="Montserrat"/>
                <a:cs typeface="Montserrat"/>
              </a:rPr>
              <a:t>Universitas Negeri Malang (2018-2020)</a:t>
            </a:r>
          </a:p>
          <a:p>
            <a:pPr algn="l">
              <a:lnSpc>
                <a:spcPct val="112000"/>
              </a:lnSpc>
              <a:spcAft>
                <a:spcPts val="200"/>
              </a:spcAft>
            </a:pPr>
            <a:r>
              <a:rPr sz="930" b="1" i="0">
                <a:solidFill>
                  <a:srgbClr val="1D2733"/>
                </a:solidFill>
                <a:latin typeface="Montserrat"/>
                <a:ea typeface="Montserrat"/>
                <a:cs typeface="Montserrat"/>
              </a:rPr>
              <a:t>S1 </a:t>
            </a:r>
            <a:r>
              <a:rPr sz="930" b="0" i="0">
                <a:solidFill>
                  <a:srgbClr val="1D2733"/>
                </a:solidFill>
                <a:latin typeface="Montserrat"/>
                <a:ea typeface="Montserrat"/>
                <a:cs typeface="Montserrat"/>
              </a:rPr>
              <a:t>- Pendidikan Informatika</a:t>
            </a:r>
          </a:p>
          <a:p>
            <a:pPr algn="l">
              <a:lnSpc>
                <a:spcPct val="112000"/>
              </a:lnSpc>
              <a:spcAft>
                <a:spcPts val="200"/>
              </a:spcAft>
            </a:pPr>
            <a:r>
              <a:rPr sz="930" b="0" i="0">
                <a:solidFill>
                  <a:srgbClr val="1D2733"/>
                </a:solidFill>
                <a:latin typeface="Montserrat"/>
                <a:ea typeface="Montserrat"/>
                <a:cs typeface="Montserrat"/>
              </a:rPr>
              <a:t>Universitas Negeri Malang (2012-2017)</a:t>
            </a:r>
          </a:p>
        </p:txBody>
      </p:sp>
      <p:sp>
        <p:nvSpPr>
          <p:cNvPr id="11" name="TextBox 10"/>
          <p:cNvSpPr txBox="1"/>
          <p:nvPr/>
        </p:nvSpPr>
        <p:spPr>
          <a:xfrm>
            <a:off x="594360" y="3520440"/>
            <a:ext cx="3429000" cy="256032"/>
          </a:xfrm>
          <a:prstGeom prst="rect">
            <a:avLst/>
          </a:prstGeom>
          <a:noFill/>
        </p:spPr>
        <p:txBody>
          <a:bodyPr wrap="square" lIns="0" rIns="0" tIns="0" bIns="0" anchor="t">
            <a:spAutoFit/>
          </a:bodyPr>
          <a:lstStyle/>
          <a:p>
            <a:pPr algn="l">
              <a:lnSpc>
                <a:spcPct val="110000"/>
              </a:lnSpc>
              <a:spcAft>
                <a:spcPts val="400"/>
              </a:spcAft>
            </a:pPr>
            <a:r>
              <a:rPr sz="1050" b="1" i="0" spc="60">
                <a:solidFill>
                  <a:srgbClr val="092647"/>
                </a:solidFill>
                <a:latin typeface="Montserrat"/>
                <a:ea typeface="Montserrat"/>
                <a:cs typeface="Montserrat"/>
              </a:rPr>
              <a:t>KERANGKA KERJA DAN KEAHLIAN</a:t>
            </a:r>
          </a:p>
        </p:txBody>
      </p:sp>
      <p:sp>
        <p:nvSpPr>
          <p:cNvPr id="12" name="TextBox 11"/>
          <p:cNvSpPr txBox="1"/>
          <p:nvPr/>
        </p:nvSpPr>
        <p:spPr>
          <a:xfrm>
            <a:off x="594360" y="3758184"/>
            <a:ext cx="3429000" cy="822960"/>
          </a:xfrm>
          <a:prstGeom prst="rect">
            <a:avLst/>
          </a:prstGeom>
          <a:noFill/>
        </p:spPr>
        <p:txBody>
          <a:bodyPr wrap="square" lIns="0" rIns="0" tIns="0" bIns="0" anchor="t">
            <a:spAutoFit/>
          </a:bodyPr>
          <a:lstStyle/>
          <a:p>
            <a:pPr algn="l">
              <a:lnSpc>
                <a:spcPct val="115000"/>
              </a:lnSpc>
              <a:spcAft>
                <a:spcPts val="400"/>
              </a:spcAft>
            </a:pPr>
            <a:r>
              <a:rPr sz="930" b="0" i="0">
                <a:solidFill>
                  <a:srgbClr val="1D2733"/>
                </a:solidFill>
                <a:latin typeface="Montserrat"/>
                <a:ea typeface="Montserrat"/>
                <a:cs typeface="Montserrat"/>
              </a:rPr>
              <a:t>ADDIE, Bloom's Taxonomy, dan Kirkpatrick Evaluation Model untuk desain dan evaluasi program. Koordinasi pemangku kepentingan lintas lembaga, manajemen linimasa proyek, dan administrasi LMS.</a:t>
            </a:r>
          </a:p>
        </p:txBody>
      </p:sp>
      <p:sp>
        <p:nvSpPr>
          <p:cNvPr id="13" name="Rounded Rectangle 12"/>
          <p:cNvSpPr/>
          <p:nvPr/>
        </p:nvSpPr>
        <p:spPr>
          <a:xfrm>
            <a:off x="594360" y="4572000"/>
            <a:ext cx="3429000" cy="1051560"/>
          </a:xfrm>
          <a:prstGeom prst="roundRect">
            <a:avLst>
              <a:gd name="adj" fmla="val 8695"/>
            </a:avLst>
          </a:prstGeom>
          <a:solidFill>
            <a:srgbClr val="E6F0F4"/>
          </a:solidFill>
          <a:ln w="12700">
            <a:solidFill>
              <a:srgbClr val="2F7E9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0664" y="4700016"/>
            <a:ext cx="3136392" cy="795527"/>
          </a:xfrm>
          <a:prstGeom prst="rect">
            <a:avLst/>
          </a:prstGeom>
          <a:noFill/>
        </p:spPr>
        <p:txBody>
          <a:bodyPr wrap="square" lIns="0" rIns="0" tIns="0" bIns="0" anchor="t">
            <a:spAutoFit/>
          </a:bodyPr>
          <a:lstStyle/>
          <a:p>
            <a:pPr algn="l">
              <a:lnSpc>
                <a:spcPct val="115000"/>
              </a:lnSpc>
              <a:spcAft>
                <a:spcPts val="400"/>
              </a:spcAft>
            </a:pPr>
            <a:r>
              <a:rPr sz="950" b="1" i="1">
                <a:solidFill>
                  <a:srgbClr val="092647"/>
                </a:solidFill>
                <a:latin typeface="Montserrat"/>
                <a:ea typeface="Montserrat"/>
                <a:cs typeface="Montserrat"/>
              </a:rPr>
              <a:t>Pernah mengelola proyek pendidikan bersama Tanoto Foundation, Kampus Merdeka, Prakerja, UN Women, UNHCR, dan Bappenas sebagai Project Coordinator di Alterra Academy (2022-2024).</a:t>
            </a:r>
          </a:p>
        </p:txBody>
      </p:sp>
      <p:sp>
        <p:nvSpPr>
          <p:cNvPr id="15" name="TextBox 14"/>
          <p:cNvSpPr txBox="1"/>
          <p:nvPr/>
        </p:nvSpPr>
        <p:spPr>
          <a:xfrm>
            <a:off x="4343400" y="1417320"/>
            <a:ext cx="7253935" cy="274320"/>
          </a:xfrm>
          <a:prstGeom prst="rect">
            <a:avLst/>
          </a:prstGeom>
          <a:noFill/>
        </p:spPr>
        <p:txBody>
          <a:bodyPr wrap="square" lIns="0" rIns="0" tIns="0" bIns="0" anchor="t">
            <a:spAutoFit/>
          </a:bodyPr>
          <a:lstStyle/>
          <a:p>
            <a:pPr algn="l">
              <a:lnSpc>
                <a:spcPct val="110000"/>
              </a:lnSpc>
              <a:spcAft>
                <a:spcPts val="400"/>
              </a:spcAft>
            </a:pPr>
            <a:r>
              <a:rPr sz="1200" b="1" i="0" spc="60">
                <a:solidFill>
                  <a:srgbClr val="092647"/>
                </a:solidFill>
                <a:latin typeface="Montserrat"/>
                <a:ea typeface="Montserrat"/>
                <a:cs typeface="Montserrat"/>
              </a:rPr>
              <a:t>PENGALAMAN KERJA RELEVAN</a:t>
            </a:r>
          </a:p>
        </p:txBody>
      </p:sp>
      <p:sp>
        <p:nvSpPr>
          <p:cNvPr id="16" name="Rectangle 15"/>
          <p:cNvSpPr/>
          <p:nvPr/>
        </p:nvSpPr>
        <p:spPr>
          <a:xfrm>
            <a:off x="4343400" y="1709928"/>
            <a:ext cx="7253935" cy="18288"/>
          </a:xfrm>
          <a:prstGeom prst="rect">
            <a:avLst/>
          </a:prstGeom>
          <a:solidFill>
            <a:srgbClr val="2F7E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343400" y="1856232"/>
            <a:ext cx="7253935" cy="1298448"/>
          </a:xfrm>
          <a:prstGeom prst="roundRect">
            <a:avLst>
              <a:gd name="adj" fmla="val 4225"/>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507992" y="1947672"/>
            <a:ext cx="6924751" cy="274320"/>
          </a:xfrm>
          <a:prstGeom prst="rect">
            <a:avLst/>
          </a:prstGeom>
          <a:noFill/>
        </p:spPr>
        <p:txBody>
          <a:bodyPr wrap="square" lIns="0" rIns="0" tIns="0" bIns="0" anchor="t">
            <a:spAutoFit/>
          </a:bodyPr>
          <a:lstStyle/>
          <a:p>
            <a:pPr algn="l">
              <a:lnSpc>
                <a:spcPct val="100000"/>
              </a:lnSpc>
              <a:spcAft>
                <a:spcPts val="400"/>
              </a:spcAft>
            </a:pPr>
            <a:r>
              <a:rPr sz="1100" b="1" i="0">
                <a:solidFill>
                  <a:srgbClr val="092647"/>
                </a:solidFill>
                <a:latin typeface="Montserrat"/>
                <a:ea typeface="Montserrat"/>
                <a:cs typeface="Montserrat"/>
              </a:rPr>
              <a:t>Artificial Intelligence Talent Factory - Komdigi</a:t>
            </a:r>
          </a:p>
        </p:txBody>
      </p:sp>
      <p:sp>
        <p:nvSpPr>
          <p:cNvPr id="19" name="TextBox 18"/>
          <p:cNvSpPr txBox="1"/>
          <p:nvPr/>
        </p:nvSpPr>
        <p:spPr>
          <a:xfrm>
            <a:off x="4507992" y="2167128"/>
            <a:ext cx="6924751" cy="219456"/>
          </a:xfrm>
          <a:prstGeom prst="rect">
            <a:avLst/>
          </a:prstGeom>
          <a:noFill/>
        </p:spPr>
        <p:txBody>
          <a:bodyPr wrap="square" lIns="0" rIns="0" tIns="0" bIns="0" anchor="t">
            <a:spAutoFit/>
          </a:bodyPr>
          <a:lstStyle/>
          <a:p>
            <a:pPr algn="l">
              <a:lnSpc>
                <a:spcPct val="100000"/>
              </a:lnSpc>
              <a:spcAft>
                <a:spcPts val="400"/>
              </a:spcAft>
            </a:pPr>
            <a:r>
              <a:rPr sz="900" b="1" i="0">
                <a:solidFill>
                  <a:srgbClr val="2F7E9D"/>
                </a:solidFill>
                <a:latin typeface="Montserrat"/>
                <a:ea typeface="Montserrat"/>
                <a:cs typeface="Montserrat"/>
              </a:rPr>
              <a:t>AI Project Manager · Sep 2025-Mei 2026, Malang (Hybrid)</a:t>
            </a:r>
          </a:p>
        </p:txBody>
      </p:sp>
      <p:sp>
        <p:nvSpPr>
          <p:cNvPr id="20" name="TextBox 19"/>
          <p:cNvSpPr txBox="1"/>
          <p:nvPr/>
        </p:nvSpPr>
        <p:spPr>
          <a:xfrm>
            <a:off x="4507992" y="2386584"/>
            <a:ext cx="6924751" cy="749808"/>
          </a:xfrm>
          <a:prstGeom prst="rect">
            <a:avLst/>
          </a:prstGeom>
          <a:noFill/>
        </p:spPr>
        <p:txBody>
          <a:bodyPr wrap="square" lIns="0" rIns="0" tIns="0" bIns="0" anchor="t">
            <a:spAutoFit/>
          </a:bodyPr>
          <a:lstStyle/>
          <a:p>
            <a:pPr algn="l">
              <a:lnSpc>
                <a:spcPct val="112000"/>
              </a:lnSpc>
              <a:spcAft>
                <a:spcPts val="400"/>
              </a:spcAft>
            </a:pPr>
            <a:r>
              <a:rPr sz="880" b="0" i="0">
                <a:solidFill>
                  <a:srgbClr val="1D2733"/>
                </a:solidFill>
                <a:latin typeface="Montserrat"/>
                <a:ea typeface="Montserrat"/>
                <a:cs typeface="Montserrat"/>
              </a:rPr>
              <a:t>Memimpin program pengembangan talenta AI untuk 150 peserta sebagai penghubung utama antara dosen universitas, Komdigi, dan PMO. Merancang alur kerja manajemen proyek: pemetaan tugas, penetapan aturan, dan pelacakan progres mingguan. Menyelenggarakan workshop dan pertemuan pemangku kepentingan skala besar, dihadiri Wakil Menteri, Kepala Pusat Komdigi, dan Rektor Universitas Brawijaya. Mencapai tingkat penyelesaian modul 100% di tiga jalur pembelajaran melalui pemantauan terstruktur.</a:t>
            </a:r>
          </a:p>
        </p:txBody>
      </p:sp>
      <p:sp>
        <p:nvSpPr>
          <p:cNvPr id="21" name="Rounded Rectangle 20"/>
          <p:cNvSpPr/>
          <p:nvPr/>
        </p:nvSpPr>
        <p:spPr>
          <a:xfrm>
            <a:off x="4343400" y="3264408"/>
            <a:ext cx="7253935" cy="1298448"/>
          </a:xfrm>
          <a:prstGeom prst="roundRect">
            <a:avLst>
              <a:gd name="adj" fmla="val 422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507992" y="3355848"/>
            <a:ext cx="6924751" cy="274320"/>
          </a:xfrm>
          <a:prstGeom prst="rect">
            <a:avLst/>
          </a:prstGeom>
          <a:noFill/>
        </p:spPr>
        <p:txBody>
          <a:bodyPr wrap="square" lIns="0" rIns="0" tIns="0" bIns="0" anchor="t">
            <a:spAutoFit/>
          </a:bodyPr>
          <a:lstStyle/>
          <a:p>
            <a:pPr algn="l">
              <a:lnSpc>
                <a:spcPct val="100000"/>
              </a:lnSpc>
              <a:spcAft>
                <a:spcPts val="400"/>
              </a:spcAft>
            </a:pPr>
            <a:r>
              <a:rPr sz="1100" b="1" i="0">
                <a:solidFill>
                  <a:srgbClr val="092647"/>
                </a:solidFill>
                <a:latin typeface="Montserrat"/>
                <a:ea typeface="Montserrat"/>
                <a:cs typeface="Montserrat"/>
              </a:rPr>
              <a:t>Alterra Academy</a:t>
            </a:r>
          </a:p>
        </p:txBody>
      </p:sp>
      <p:sp>
        <p:nvSpPr>
          <p:cNvPr id="23" name="TextBox 22"/>
          <p:cNvSpPr txBox="1"/>
          <p:nvPr/>
        </p:nvSpPr>
        <p:spPr>
          <a:xfrm>
            <a:off x="4507992" y="3575304"/>
            <a:ext cx="6924751" cy="219456"/>
          </a:xfrm>
          <a:prstGeom prst="rect">
            <a:avLst/>
          </a:prstGeom>
          <a:noFill/>
        </p:spPr>
        <p:txBody>
          <a:bodyPr wrap="square" lIns="0" rIns="0" tIns="0" bIns="0" anchor="t">
            <a:spAutoFit/>
          </a:bodyPr>
          <a:lstStyle/>
          <a:p>
            <a:pPr algn="l">
              <a:lnSpc>
                <a:spcPct val="100000"/>
              </a:lnSpc>
              <a:spcAft>
                <a:spcPts val="400"/>
              </a:spcAft>
            </a:pPr>
            <a:r>
              <a:rPr sz="900" b="1" i="0">
                <a:solidFill>
                  <a:srgbClr val="2F7E9D"/>
                </a:solidFill>
                <a:latin typeface="Montserrat"/>
                <a:ea typeface="Montserrat"/>
                <a:cs typeface="Montserrat"/>
              </a:rPr>
              <a:t>Project Coordinator · Juli 2022-Desember 2024, Remote</a:t>
            </a:r>
          </a:p>
        </p:txBody>
      </p:sp>
      <p:sp>
        <p:nvSpPr>
          <p:cNvPr id="24" name="TextBox 23"/>
          <p:cNvSpPr txBox="1"/>
          <p:nvPr/>
        </p:nvSpPr>
        <p:spPr>
          <a:xfrm>
            <a:off x="4507992" y="3794760"/>
            <a:ext cx="6924751" cy="749808"/>
          </a:xfrm>
          <a:prstGeom prst="rect">
            <a:avLst/>
          </a:prstGeom>
          <a:noFill/>
        </p:spPr>
        <p:txBody>
          <a:bodyPr wrap="square" lIns="0" rIns="0" tIns="0" bIns="0" anchor="t">
            <a:spAutoFit/>
          </a:bodyPr>
          <a:lstStyle/>
          <a:p>
            <a:pPr algn="l">
              <a:lnSpc>
                <a:spcPct val="112000"/>
              </a:lnSpc>
              <a:spcAft>
                <a:spcPts val="400"/>
              </a:spcAft>
            </a:pPr>
            <a:r>
              <a:rPr sz="880" b="0" i="0">
                <a:solidFill>
                  <a:srgbClr val="1D2733"/>
                </a:solidFill>
                <a:latin typeface="Montserrat"/>
                <a:ea typeface="Montserrat"/>
                <a:cs typeface="Montserrat"/>
              </a:rPr>
              <a:t>Mengelola proyek pendidikan skala besar bersama Kampus Merdeka, Prakerja, UN Women, UNHCR, Tanoto Foundation, dan Bappenas. Mengelola LMS Kampus Merdeka: unggah konten, manajemen akun, pelaporan analitik progres. Merencanakan linimasa proyek dan alokasi sumber daya, menerapkan sistem pemantauan hasil belajar. Mengevaluasi efektivitas pelatihan dengan Kirkpatrick Framework (NPS, CSAT, tingkat putus, kehadiran) dan merancang sistem observasi sejawat untuk menjaga mutu pengajaran.</a:t>
            </a:r>
          </a:p>
        </p:txBody>
      </p:sp>
      <p:sp>
        <p:nvSpPr>
          <p:cNvPr id="25" name="Rounded Rectangle 24"/>
          <p:cNvSpPr/>
          <p:nvPr/>
        </p:nvSpPr>
        <p:spPr>
          <a:xfrm>
            <a:off x="4343400" y="4672584"/>
            <a:ext cx="7253935" cy="1298448"/>
          </a:xfrm>
          <a:prstGeom prst="roundRect">
            <a:avLst>
              <a:gd name="adj" fmla="val 4225"/>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507992" y="4764024"/>
            <a:ext cx="6924751" cy="274320"/>
          </a:xfrm>
          <a:prstGeom prst="rect">
            <a:avLst/>
          </a:prstGeom>
          <a:noFill/>
        </p:spPr>
        <p:txBody>
          <a:bodyPr wrap="square" lIns="0" rIns="0" tIns="0" bIns="0" anchor="t">
            <a:spAutoFit/>
          </a:bodyPr>
          <a:lstStyle/>
          <a:p>
            <a:pPr algn="l">
              <a:lnSpc>
                <a:spcPct val="100000"/>
              </a:lnSpc>
              <a:spcAft>
                <a:spcPts val="400"/>
              </a:spcAft>
            </a:pPr>
            <a:r>
              <a:rPr sz="1100" b="1" i="0">
                <a:solidFill>
                  <a:srgbClr val="092647"/>
                </a:solidFill>
                <a:latin typeface="Montserrat"/>
                <a:ea typeface="Montserrat"/>
                <a:cs typeface="Montserrat"/>
              </a:rPr>
              <a:t>Digital Skola</a:t>
            </a:r>
          </a:p>
        </p:txBody>
      </p:sp>
      <p:sp>
        <p:nvSpPr>
          <p:cNvPr id="27" name="TextBox 26"/>
          <p:cNvSpPr txBox="1"/>
          <p:nvPr/>
        </p:nvSpPr>
        <p:spPr>
          <a:xfrm>
            <a:off x="4507992" y="4983480"/>
            <a:ext cx="6924751" cy="219456"/>
          </a:xfrm>
          <a:prstGeom prst="rect">
            <a:avLst/>
          </a:prstGeom>
          <a:noFill/>
        </p:spPr>
        <p:txBody>
          <a:bodyPr wrap="square" lIns="0" rIns="0" tIns="0" bIns="0" anchor="t">
            <a:spAutoFit/>
          </a:bodyPr>
          <a:lstStyle/>
          <a:p>
            <a:pPr algn="l">
              <a:lnSpc>
                <a:spcPct val="100000"/>
              </a:lnSpc>
              <a:spcAft>
                <a:spcPts val="400"/>
              </a:spcAft>
            </a:pPr>
            <a:r>
              <a:rPr sz="900" b="1" i="0">
                <a:solidFill>
                  <a:srgbClr val="2F7E9D"/>
                </a:solidFill>
                <a:latin typeface="Montserrat"/>
                <a:ea typeface="Montserrat"/>
                <a:cs typeface="Montserrat"/>
              </a:rPr>
              <a:t>Curriculum Developer · April 2025-Mei 2026, Remote</a:t>
            </a:r>
          </a:p>
        </p:txBody>
      </p:sp>
      <p:sp>
        <p:nvSpPr>
          <p:cNvPr id="28" name="TextBox 27"/>
          <p:cNvSpPr txBox="1"/>
          <p:nvPr/>
        </p:nvSpPr>
        <p:spPr>
          <a:xfrm>
            <a:off x="4507992" y="5202936"/>
            <a:ext cx="6924751" cy="749808"/>
          </a:xfrm>
          <a:prstGeom prst="rect">
            <a:avLst/>
          </a:prstGeom>
          <a:noFill/>
        </p:spPr>
        <p:txBody>
          <a:bodyPr wrap="square" lIns="0" rIns="0" tIns="0" bIns="0" anchor="t">
            <a:spAutoFit/>
          </a:bodyPr>
          <a:lstStyle/>
          <a:p>
            <a:pPr algn="l">
              <a:lnSpc>
                <a:spcPct val="112000"/>
              </a:lnSpc>
              <a:spcAft>
                <a:spcPts val="400"/>
              </a:spcAft>
            </a:pPr>
            <a:r>
              <a:rPr sz="880" b="0" i="0">
                <a:solidFill>
                  <a:srgbClr val="1D2733"/>
                </a:solidFill>
                <a:latin typeface="Montserrat"/>
                <a:ea typeface="Montserrat"/>
                <a:cs typeface="Montserrat"/>
              </a:rPr>
              <a:t>Menyusun modul kurikulum dan jalur belajar bersama tim produk dan instruktur sesuai kebutuhan industri. Mengelola linimasa pengembangan program agar tiap tahap selesai tepat waktu, mengoordinasikan rapat tim lintas fungsi, dan mereviu konten untuk penjaminan mutu lintas tim desain, teknologi, dan pemasaran.</a:t>
            </a:r>
          </a:p>
        </p:txBody>
      </p:sp>
      <p:sp>
        <p:nvSpPr>
          <p:cNvPr id="29" name="TextBox 28"/>
          <p:cNvSpPr txBox="1"/>
          <p:nvPr/>
        </p:nvSpPr>
        <p:spPr>
          <a:xfrm>
            <a:off x="2057400" y="6510528"/>
            <a:ext cx="7315200" cy="228600"/>
          </a:xfrm>
          <a:prstGeom prst="rect">
            <a:avLst/>
          </a:prstGeom>
          <a:noFill/>
        </p:spPr>
        <p:txBody>
          <a:bodyPr wrap="square" lIns="0" rIns="0" tIns="0" bIns="0" anchor="t">
            <a:spAutoFit/>
          </a:bodyPr>
          <a:lstStyle/>
          <a:p>
            <a:pPr algn="l">
              <a:lnSpc>
                <a:spcPct val="110000"/>
              </a:lnSpc>
              <a:spcAft>
                <a:spcPts val="400"/>
              </a:spcAft>
            </a:pPr>
            <a:r>
              <a:rPr sz="850" b="0" i="0">
                <a:solidFill>
                  <a:srgbClr val="7A8899"/>
                </a:solidFill>
                <a:latin typeface="Montserrat"/>
                <a:ea typeface="Montserrat"/>
                <a:cs typeface="Montserrat"/>
              </a:rPr>
              <a:t>CV lengkap dilampirkan sesuai RFP Lampiran 1 poin 7 (Deskripsi Organisasi dan Staf)</a:t>
            </a:r>
          </a:p>
        </p:txBody>
      </p:sp>
      <p:sp>
        <p:nvSpPr>
          <p:cNvPr id="30" name="TextBox 29"/>
          <p:cNvSpPr txBox="1"/>
          <p:nvPr/>
        </p:nvSpPr>
        <p:spPr>
          <a:xfrm>
            <a:off x="10682935" y="6510528"/>
            <a:ext cx="914400" cy="228600"/>
          </a:xfrm>
          <a:prstGeom prst="rect">
            <a:avLst/>
          </a:prstGeom>
          <a:noFill/>
        </p:spPr>
        <p:txBody>
          <a:bodyPr wrap="square" lIns="0" rIns="0" tIns="0" bIns="0" anchor="t">
            <a:spAutoFit/>
          </a:bodyPr>
          <a:lstStyle/>
          <a:p>
            <a:pPr algn="r">
              <a:lnSpc>
                <a:spcPct val="110000"/>
              </a:lnSpc>
              <a:spcAft>
                <a:spcPts val="400"/>
              </a:spcAft>
            </a:pPr>
            <a:r>
              <a:rPr sz="1000" b="1" i="0">
                <a:solidFill>
                  <a:srgbClr val="2F7E9D"/>
                </a:solidFill>
                <a:latin typeface="Montserrat"/>
                <a:ea typeface="Montserrat"/>
                <a:cs typeface="Montserrat"/>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