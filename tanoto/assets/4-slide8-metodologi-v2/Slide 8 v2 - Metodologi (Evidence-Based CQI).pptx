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PENDEKATAN PENDAMPINGAN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Evidence-Based Continuous Quality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Lima fase, mengikuti langsung ruang lingkup mitra pelaksana RFP bagian C.4.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083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5303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083551" cy="1417320"/>
          </a:xfrm>
          <a:prstGeom prst="roundRect">
            <a:avLst>
              <a:gd name="adj" fmla="val 9032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8092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809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51176"/>
            <a:ext cx="1827519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Review hasil Supervisi 2025 &amp; baseline assessment</a:t>
            </a:r>
          </a:p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Pemetaan kesenjangan mutu dan kesiapan akreditasi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4215" y="1508760"/>
            <a:ext cx="2083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5159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4215" y="1965960"/>
            <a:ext cx="2083551" cy="1417320"/>
          </a:xfrm>
          <a:prstGeom prst="roundRect">
            <a:avLst>
              <a:gd name="adj" fmla="val 9032"/>
            </a:avLst>
          </a:prstGeom>
          <a:solidFill>
            <a:srgbClr val="0D2A4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61375" y="2039112"/>
            <a:ext cx="18092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1375" y="2350008"/>
            <a:ext cx="1809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1375" y="2551176"/>
            <a:ext cx="1827519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Penyusunan pedoman, modul, dan instrumen</a:t>
            </a:r>
          </a:p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Rencana pendampingan berbasis kebutuhan LPTK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4071" y="1508760"/>
            <a:ext cx="2083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5015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4071" y="1965960"/>
            <a:ext cx="2083551" cy="1417320"/>
          </a:xfrm>
          <a:prstGeom prst="roundRect">
            <a:avLst>
              <a:gd name="adj" fmla="val 9032"/>
            </a:avLst>
          </a:prstGeom>
          <a:solidFill>
            <a:srgbClr val="2F7E9D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91231" y="2039112"/>
            <a:ext cx="18092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2350008"/>
            <a:ext cx="1809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Okt–Nov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2551176"/>
            <a:ext cx="1827519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Pendampingan luring di 12 LPTK</a:t>
            </a:r>
          </a:p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Workshop, FGD, technical review, action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3927" y="1508760"/>
            <a:ext cx="2083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4871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3927" y="1965960"/>
            <a:ext cx="2083551" cy="1417320"/>
          </a:xfrm>
          <a:prstGeom prst="roundRect">
            <a:avLst>
              <a:gd name="adj" fmla="val 9032"/>
            </a:avLst>
          </a:prstGeom>
          <a:solidFill>
            <a:srgbClr val="0D2A4E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21087" y="2039112"/>
            <a:ext cx="18092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Monitor &amp;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1087" y="2350008"/>
            <a:ext cx="1809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Okt–Des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1087" y="2551176"/>
            <a:ext cx="1827519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Monitoring RTL &amp; konsultasi berkala</a:t>
            </a:r>
          </a:p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Verifikasi bukti perbaikan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3783" y="1508760"/>
            <a:ext cx="20835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0">
                <a:solidFill>
                  <a:srgbClr val="FFC00C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13783" y="1965960"/>
            <a:ext cx="2083551" cy="1417320"/>
          </a:xfrm>
          <a:prstGeom prst="roundRect">
            <a:avLst>
              <a:gd name="adj" fmla="val 9032"/>
            </a:avLst>
          </a:prstGeom>
          <a:solidFill>
            <a:srgbClr val="FFC00C"/>
          </a:solidFill>
          <a:ln w="22225">
            <a:solidFill>
              <a:srgbClr val="092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50943" y="2039112"/>
            <a:ext cx="180923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25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Evaluate &amp; Improve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0943" y="2350008"/>
            <a:ext cx="1809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Nov–Des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0943" y="2551176"/>
            <a:ext cx="1827519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Studi komparatif &amp; analisis pelaksanaan PPL</a:t>
            </a:r>
          </a:p>
          <a:p>
            <a:pPr algn="l" marL="201168" indent="-201168">
              <a:lnSpc>
                <a:spcPct val="100000"/>
              </a:lnSpc>
              <a:spcAft>
                <a:spcPts val="400"/>
              </a:spcAft>
              <a:buClr>
                <a:srgbClr val="FFC00C"/>
              </a:buClr>
              <a:buFont typeface="Arial"/>
              <a:buChar char="•"/>
            </a:pPr>
            <a:r>
              <a:rPr sz="860" b="0" i="0">
                <a:solidFill>
                  <a:srgbClr val="092647"/>
                </a:solidFill>
                <a:latin typeface="Montserrat"/>
                <a:ea typeface="Montserrat"/>
                <a:cs typeface="Montserrat"/>
              </a:rPr>
              <a:t>Sintesis praktik baik, hambatan, rekomendasi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511296"/>
            <a:ext cx="11002975" cy="512064"/>
          </a:xfrm>
          <a:prstGeom prst="roundRect">
            <a:avLst>
              <a:gd name="adj" fmla="val 23214"/>
            </a:avLst>
          </a:prstGeom>
          <a:solidFill>
            <a:srgbClr val="0D2A4E"/>
          </a:solidFill>
          <a:ln w="15875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3511296"/>
            <a:ext cx="1063721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Dasar pendekatan: </a:t>
            </a:r>
            <a:r>
              <a:rPr sz="9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Continuous Quality Improvement (akar PDCA/Deming, dasar filosofi mutu banyak sistem akreditasi pendidikan tinggi termasuk PPEPP/SPMI) dipadukan dengan evidence-based practice — rekomendasi berbasis bukti yang dapat ditelusuri, bukan asumsi.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13308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 i="0" spc="10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KEY DELIVERABLES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89120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4088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389120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Pedoman dan modul pendampingan teknis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16882" y="4389120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26610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2642" y="4389120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Instrumen dan dashboard monitoring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404" y="4389120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49132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5164" y="4389120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Baseline assessment 12 LPTK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828032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04088" y="48280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828032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Paket perbaikan akreditasi 12 LPTK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16882" y="4828032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426610" y="48280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2642" y="4828032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pendampingan 12 LPTK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39404" y="4828032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149132" y="48280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5164" y="4828032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kemajuan RTL Supervisi 2025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5266944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04088" y="52669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5266944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Studi komparatif pendampingan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16882" y="5266944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426610" y="52669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2642" y="5266944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Analisis pelaksanaan PPL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39404" y="5266944"/>
            <a:ext cx="3557930" cy="365760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149132" y="52669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5164" y="5266944"/>
            <a:ext cx="308244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Laporan sintesis dan rekomendasi akhir</a:t>
            </a:r>
          </a:p>
        </p:txBody>
      </p:sp>
      <p:pic>
        <p:nvPicPr>
          <p:cNvPr id="64" name="Picture 6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510528"/>
            <a:ext cx="924303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645919" y="652881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Slide 8 v2 — dipakai di Google Slides langsung (bukan bagian PPTX/PDF utama)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