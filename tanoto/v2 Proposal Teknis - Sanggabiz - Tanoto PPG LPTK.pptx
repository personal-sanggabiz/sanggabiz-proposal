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Lst>
  <p:sldSz cy="6858000" cx="12191675"/>
  <p:notesSz cx="6858000" cy="9144000"/>
  <p:embeddedFontLst>
    <p:embeddedFont>
      <p:font typeface="Play"/>
      <p:regular r:id="rId104"/>
      <p:bold r:id="rId105"/>
    </p:embeddedFont>
    <p:embeddedFont>
      <p:font typeface="Quattrocento"/>
      <p:regular r:id="rId106"/>
      <p:bold r:id="rId107"/>
    </p:embeddedFont>
    <p:embeddedFont>
      <p:font typeface="Nunito"/>
      <p:bold r:id="rId108"/>
      <p:boldItalic r:id="rId109"/>
    </p:embeddedFont>
    <p:embeddedFont>
      <p:font typeface="Montserrat"/>
      <p:regular r:id="rId110"/>
      <p:bold r:id="rId111"/>
      <p:italic r:id="rId112"/>
      <p:boldItalic r:id="rId113"/>
    </p:embeddedFont>
    <p:embeddedFont>
      <p:font typeface="Poppins"/>
      <p:regular r:id="rId114"/>
      <p:bold r:id="rId115"/>
      <p:italic r:id="rId116"/>
      <p:boldItalic r:id="rId117"/>
    </p:embeddedFont>
    <p:embeddedFont>
      <p:font typeface="Montserrat Medium"/>
      <p:regular r:id="rId118"/>
      <p:bold r:id="rId119"/>
      <p:italic r:id="rId120"/>
      <p:boldItalic r:id="rId121"/>
    </p:embeddedFont>
    <p:embeddedFont>
      <p:font typeface="Poppins Medium"/>
      <p:regular r:id="rId122"/>
      <p:bold r:id="rId123"/>
      <p:italic r:id="rId124"/>
      <p:boldItalic r:id="rId125"/>
    </p:embeddedFont>
    <p:embeddedFont>
      <p:font typeface="Montserrat ExtraBold"/>
      <p:bold r:id="rId126"/>
      <p:boldItalic r:id="rId127"/>
    </p:embeddedFont>
    <p:embeddedFont>
      <p:font typeface="Oswald"/>
      <p:bold r:id="rId1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29" roundtripDataSignature="AMtx7mhOh+tNYK9S8bicganRlKo/rzf39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Academy Sanggabi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C3853E-632C-4474-B46B-82691FB0C724}">
  <a:tblStyle styleId="{C2C3853E-632C-4474-B46B-82691FB0C72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C0A8FE5-9777-497B-A676-DF5488A5486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font" Target="fonts/Quattrocento-bold.fntdata"/><Relationship Id="rId106" Type="http://schemas.openxmlformats.org/officeDocument/2006/relationships/font" Target="fonts/Quattrocento-regular.fntdata"/><Relationship Id="rId105" Type="http://schemas.openxmlformats.org/officeDocument/2006/relationships/font" Target="fonts/Play-bold.fntdata"/><Relationship Id="rId104" Type="http://schemas.openxmlformats.org/officeDocument/2006/relationships/font" Target="fonts/Play-regular.fntdata"/><Relationship Id="rId109" Type="http://schemas.openxmlformats.org/officeDocument/2006/relationships/font" Target="fonts/Nunito-boldItalic.fntdata"/><Relationship Id="rId108" Type="http://schemas.openxmlformats.org/officeDocument/2006/relationships/font" Target="fonts/Nunito-bold.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9" Type="http://customschemas.google.com/relationships/presentationmetadata" Target="metadata"/><Relationship Id="rId128" Type="http://schemas.openxmlformats.org/officeDocument/2006/relationships/font" Target="fonts/Oswald-bold.fntdata"/><Relationship Id="rId127" Type="http://schemas.openxmlformats.org/officeDocument/2006/relationships/font" Target="fonts/MontserratExtraBold-boldItalic.fntdata"/><Relationship Id="rId126" Type="http://schemas.openxmlformats.org/officeDocument/2006/relationships/font" Target="fonts/MontserratExtraBold-bold.fntdata"/><Relationship Id="rId26" Type="http://schemas.openxmlformats.org/officeDocument/2006/relationships/slide" Target="slides/slide18.xml"/><Relationship Id="rId121" Type="http://schemas.openxmlformats.org/officeDocument/2006/relationships/font" Target="fonts/MontserratMedium-boldItalic.fntdata"/><Relationship Id="rId25" Type="http://schemas.openxmlformats.org/officeDocument/2006/relationships/slide" Target="slides/slide17.xml"/><Relationship Id="rId120" Type="http://schemas.openxmlformats.org/officeDocument/2006/relationships/font" Target="fonts/MontserratMedium-italic.fntdata"/><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font" Target="fonts/PoppinsMedium-boldItalic.fntdata"/><Relationship Id="rId29" Type="http://schemas.openxmlformats.org/officeDocument/2006/relationships/slide" Target="slides/slide21.xml"/><Relationship Id="rId124" Type="http://schemas.openxmlformats.org/officeDocument/2006/relationships/font" Target="fonts/PoppinsMedium-italic.fntdata"/><Relationship Id="rId123" Type="http://schemas.openxmlformats.org/officeDocument/2006/relationships/font" Target="fonts/PoppinsMedium-bold.fntdata"/><Relationship Id="rId122" Type="http://schemas.openxmlformats.org/officeDocument/2006/relationships/font" Target="fonts/PoppinsMedium-regular.fntdata"/><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font" Target="fonts/MontserratMedium-regular.fntdata"/><Relationship Id="rId117" Type="http://schemas.openxmlformats.org/officeDocument/2006/relationships/font" Target="fonts/Poppins-boldItalic.fntdata"/><Relationship Id="rId116" Type="http://schemas.openxmlformats.org/officeDocument/2006/relationships/font" Target="fonts/Poppins-italic.fntdata"/><Relationship Id="rId115" Type="http://schemas.openxmlformats.org/officeDocument/2006/relationships/font" Target="fonts/Poppins-bold.fntdata"/><Relationship Id="rId119" Type="http://schemas.openxmlformats.org/officeDocument/2006/relationships/font" Target="fonts/MontserratMedium-bold.fntdata"/><Relationship Id="rId15" Type="http://schemas.openxmlformats.org/officeDocument/2006/relationships/slide" Target="slides/slide7.xml"/><Relationship Id="rId110" Type="http://schemas.openxmlformats.org/officeDocument/2006/relationships/font" Target="fonts/Montserrat-regular.fntdata"/><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font" Target="fonts/Poppins-regular.fntdata"/><Relationship Id="rId18" Type="http://schemas.openxmlformats.org/officeDocument/2006/relationships/slide" Target="slides/slide10.xml"/><Relationship Id="rId113" Type="http://schemas.openxmlformats.org/officeDocument/2006/relationships/font" Target="fonts/Montserrat-boldItalic.fntdata"/><Relationship Id="rId112" Type="http://schemas.openxmlformats.org/officeDocument/2006/relationships/font" Target="fonts/Montserrat-italic.fntdata"/><Relationship Id="rId111" Type="http://schemas.openxmlformats.org/officeDocument/2006/relationships/font" Target="fonts/Montserrat-bold.fntdata"/><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9T16:47:17.557">
    <p:pos x="518" y="2851"/>
    <p:text>di tempat kita ini belum ada, bagina orang itu juga bagus kalau sudah ada di tempat kita siapa menjadi apa</p:text>
    <p:extLst>
      <p:ext uri="{C676402C-5697-4E1C-873F-D02D1690AC5C}">
        <p15:threadingInfo timeZoneBias="0"/>
      </p:ext>
      <p:ext uri="http://customooxmlschemas.google.com/">
        <go:slidesCustomData xmlns:go="http://customooxmlschemas.google.com/" commentPostId="AAACAxueN5U"/>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9T16:48:03.454">
    <p:pos x="374" y="414"/>
    <p:text>semua di bagian ini belum ada namanya</p:text>
    <p:extLst>
      <p:ext uri="{C676402C-5697-4E1C-873F-D02D1690AC5C}">
        <p15:threadingInfo timeZoneBias="0"/>
      </p:ext>
      <p:ext uri="http://customooxmlschemas.google.com/">
        <go:slidesCustomData xmlns:go="http://customooxmlschemas.google.com/" commentPostId="AAACAxueN5Y"/>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9T08:43:35.896">
    <p:pos x="374" y="414"/>
    <p:text>perlu di cek lagi</p:text>
    <p:extLst>
      <p:ext uri="{C676402C-5697-4E1C-873F-D02D1690AC5C}">
        <p15:threadingInfo timeZoneBias="0"/>
      </p:ext>
      <p:ext uri="http://customooxmlschemas.google.com/">
        <go:slidesCustomData xmlns:go="http://customooxmlschemas.google.com/" commentPostId="AAACHuWffgY"/>
      </p:ext>
    </p:extLst>
  </p:cm>
  <p:cm authorId="0" idx="4" dt="2026-09-29T08:43:35.896">
    <p:pos x="374" y="414"/>
    <p:text>cek lebih dalem terkait method dan rubrik yang cocok</p:text>
    <p:extLst>
      <p:ext uri="{C676402C-5697-4E1C-873F-D02D1690AC5C}">
        <p15:threadingInfo timeZoneBias="0">
          <p15:parentCm authorId="0" idx="3"/>
        </p15:threadingInfo>
      </p:ext>
      <p:ext uri="http://customooxmlschemas.google.com/">
        <go:slidesCustomData xmlns:go="http://customooxmlschemas.google.com/" commentPostId="AAACHuWffg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69a5e3ff789ebc32_1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h69a5e3ff789ebc32_1_9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2fef75e91d461226_11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h2fef75e91d461226_11_37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2fef75e91d461226_11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h2fef75e91d461226_11_489: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2fef75e91d461226_11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h2fef75e91d461226_11_552: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h69a5e3ff789ebc32_1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h69a5e3ff789ebc32_1_9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h69a5e3ff789ebc32_1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h69a5e3ff789ebc32_1_10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69a5e3ff789ebc32_1_1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h69a5e3ff789ebc32_1_10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h69a5e3ff789ebc32_1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h69a5e3ff789ebc32_1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h69a5e3ff789ebc32_1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h69a5e3ff789ebc32_1_10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h65eb7c06466a6d0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h65eb7c06466a6d01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69a5e3ff789ebc32_1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h69a5e3ff789ebc32_1_1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h69a5e3ff789ebc32_1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h69a5e3ff789ebc32_1_1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h69a5e3ff789ebc32_1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h69a5e3ff789ebc32_1_11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h69a5e3ff789ebc32_1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h69a5e3ff789ebc32_1_1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h69a5e3ff789ebc32_1_1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h69a5e3ff789ebc32_1_1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h69a5e3ff789ebc32_1_1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h69a5e3ff789ebc32_1_1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h69a5e3ff789ebc32_1_1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h69a5e3ff789ebc32_1_12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h69a5e3ff789ebc32_1_1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h69a5e3ff789ebc32_1_13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h69a5e3ff789ebc32_1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h69a5e3ff789ebc32_1_1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69a5e3ff789ebc32_1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h69a5e3ff789ebc32_1_1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h69a5e3ff789ebc32_1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h69a5e3ff789ebc32_1_14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h69a5e3ff789ebc32_1_1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h69a5e3ff789ebc32_1_14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h69a5e3ff789ebc32_1_1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h69a5e3ff789ebc32_1_15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h69a5e3ff789ebc32_1_1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h69a5e3ff789ebc32_1_15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69a5e3ff789ebc32_1_1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h69a5e3ff789ebc32_1_15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h42bd2064f50dc95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h42bd2064f50dc95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h42bd2064f50dc95c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h42bd2064f50dc95c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42bd2064f50dc95c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h42bd2064f50dc95c_1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42bd2064f50dc95c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h42bd2064f50dc95c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h69a5e3ff789ebc32_1_1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h69a5e3ff789ebc32_1_15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h65eb7c06466a6d01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h65eb7c06466a6d01_2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h69a5e3ff789ebc32_1_1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h69a5e3ff789ebc32_1_16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h69a5e3ff789ebc32_1_1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h69a5e3ff789ebc32_1_16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h69a5e3ff789ebc32_1_1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h69a5e3ff789ebc32_1_17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h65eb7c06466a6d01_2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h65eb7c06466a6d01_2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h65eb7c06466a6d01_2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h65eb7c06466a6d01_2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h2fef75e91d461226_1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h2fef75e91d461226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h65eb7c06466a6d01_2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h65eb7c06466a6d01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h69a5e3ff789ebc32_1_1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h69a5e3ff789ebc32_1_17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h69a5e3ff789ebc32_1_1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h69a5e3ff789ebc32_1_18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h410af0035cb598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h410af0035cb59894_0_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h410af0035cb5989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h410af0035cb59894_0_19: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h410af0035cb5989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h410af0035cb59894_0_75: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h410af0035cb5989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h410af0035cb59894_0_128: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h410af0035cb59894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h410af0035cb59894_0_15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h410af0035cb5989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h410af0035cb59894_0_188: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h410af0035cb59894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h410af0035cb59894_0_204: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h410af0035cb59894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h410af0035cb59894_0_213: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h410af0035cb5989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h410af0035cb59894_0_222: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h410af0035cb59894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h410af0035cb59894_0_233: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h410af0035cb59894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h410af0035cb59894_0_242: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h410af0035cb59894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h410af0035cb59894_0_266: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h410af0035cb59894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h410af0035cb59894_0_299: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h410af0035cb59894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h410af0035cb59894_0_329: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h410af0035cb59894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h410af0035cb59894_0_36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h410af0035cb59894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h410af0035cb59894_0_39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h410af0035cb59894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h410af0035cb59894_0_42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h410af0035cb59894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h410af0035cb59894_0_45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h410af0035cb59894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h410af0035cb59894_0_477: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h410af0035cb59894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h410af0035cb59894_0_505: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h410af0035cb59894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h410af0035cb59894_0_534: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h410af0035cb59894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h410af0035cb59894_0_560: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6" name="Shape 2006"/>
        <p:cNvGrpSpPr/>
        <p:nvPr/>
      </p:nvGrpSpPr>
      <p:grpSpPr>
        <a:xfrm>
          <a:off x="0" y="0"/>
          <a:ext cx="0" cy="0"/>
          <a:chOff x="0" y="0"/>
          <a:chExt cx="0" cy="0"/>
        </a:xfrm>
      </p:grpSpPr>
      <p:sp>
        <p:nvSpPr>
          <p:cNvPr id="2007" name="Google Shape;2007;h410af0035cb5989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h410af0035cb59894_0_585:notes"/>
          <p:cNvSpPr/>
          <p:nvPr>
            <p:ph idx="2" type="sldImg"/>
          </p:nvPr>
        </p:nvSpPr>
        <p:spPr>
          <a:xfrm>
            <a:off x="1143286"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h65eb7c06466a6d01_2_28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2" name="Google Shape;2032;h65eb7c06466a6d01_2_2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33" name="Google Shape;2033;h65eb7c06466a6d01_2_2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h65eb7c06466a6d01_2_302: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4" name="Google Shape;2054;h65eb7c06466a6d01_2_3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55" name="Google Shape;2055;h65eb7c06466a6d01_2_3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h65eb7c06466a6d01_2_39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9" name="Google Shape;2149;h65eb7c06466a6d01_2_39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50" name="Google Shape;2150;h65eb7c06466a6d01_2_39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0" name="Shape 2200"/>
        <p:cNvGrpSpPr/>
        <p:nvPr/>
      </p:nvGrpSpPr>
      <p:grpSpPr>
        <a:xfrm>
          <a:off x="0" y="0"/>
          <a:ext cx="0" cy="0"/>
          <a:chOff x="0" y="0"/>
          <a:chExt cx="0" cy="0"/>
        </a:xfrm>
      </p:grpSpPr>
      <p:sp>
        <p:nvSpPr>
          <p:cNvPr id="2201" name="Google Shape;2201;h65eb7c06466a6d01_2_448: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2" name="Google Shape;2202;h65eb7c06466a6d01_2_4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03" name="Google Shape;2203;h65eb7c06466a6d01_2_4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8" name="Shape 2218"/>
        <p:cNvGrpSpPr/>
        <p:nvPr/>
      </p:nvGrpSpPr>
      <p:grpSpPr>
        <a:xfrm>
          <a:off x="0" y="0"/>
          <a:ext cx="0" cy="0"/>
          <a:chOff x="0" y="0"/>
          <a:chExt cx="0" cy="0"/>
        </a:xfrm>
      </p:grpSpPr>
      <p:sp>
        <p:nvSpPr>
          <p:cNvPr id="2219" name="Google Shape;2219;h65eb7c06466a6d01_2_465: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0" name="Google Shape;2220;h65eb7c06466a6d01_2_4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21" name="Google Shape;2221;h65eb7c06466a6d01_2_4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h65eb7c06466a6d01_2_489: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5" name="Google Shape;2245;h65eb7c06466a6d01_2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46" name="Google Shape;2246;h65eb7c06466a6d01_2_48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4" name="Shape 2264"/>
        <p:cNvGrpSpPr/>
        <p:nvPr/>
      </p:nvGrpSpPr>
      <p:grpSpPr>
        <a:xfrm>
          <a:off x="0" y="0"/>
          <a:ext cx="0" cy="0"/>
          <a:chOff x="0" y="0"/>
          <a:chExt cx="0" cy="0"/>
        </a:xfrm>
      </p:grpSpPr>
      <p:sp>
        <p:nvSpPr>
          <p:cNvPr id="2265" name="Google Shape;2265;h65eb7c06466a6d01_2_509: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6" name="Google Shape;2266;h65eb7c06466a6d01_2_5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67" name="Google Shape;2267;h65eb7c06466a6d01_2_5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h65eb7c06466a6d01_2_52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5" name="Google Shape;2285;h65eb7c06466a6d01_2_5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86" name="Google Shape;2286;h65eb7c06466a6d01_2_5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h65eb7c06466a6d01_2_54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2" name="Google Shape;2302;h65eb7c06466a6d01_2_5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03" name="Google Shape;2303;h65eb7c06466a6d01_2_5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h65eb7c06466a6d01_2_559: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9" name="Google Shape;2319;h65eb7c06466a6d01_2_5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20" name="Google Shape;2320;h65eb7c06466a6d01_2_5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h65eb7c06466a6d01_2_57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5" name="Google Shape;2335;h65eb7c06466a6d01_2_5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36" name="Google Shape;2336;h65eb7c06466a6d01_2_5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h65eb7c06466a6d01_2_59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3" name="Google Shape;2353;h65eb7c06466a6d01_2_5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54" name="Google Shape;2354;h65eb7c06466a6d01_2_59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h65eb7c06466a6d01_2_60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9" name="Google Shape;2369;h65eb7c06466a6d01_2_6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70" name="Google Shape;2370;h65eb7c06466a6d01_2_60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5" name="Shape 2385"/>
        <p:cNvGrpSpPr/>
        <p:nvPr/>
      </p:nvGrpSpPr>
      <p:grpSpPr>
        <a:xfrm>
          <a:off x="0" y="0"/>
          <a:ext cx="0" cy="0"/>
          <a:chOff x="0" y="0"/>
          <a:chExt cx="0" cy="0"/>
        </a:xfrm>
      </p:grpSpPr>
      <p:sp>
        <p:nvSpPr>
          <p:cNvPr id="2386" name="Google Shape;2386;h65eb7c06466a6d01_2_62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7" name="Google Shape;2387;h65eb7c06466a6d01_2_6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88" name="Google Shape;2388;h65eb7c06466a6d01_2_6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h65eb7c06466a6d01_2_638: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3" name="Google Shape;2403;h65eb7c06466a6d01_2_6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04" name="Google Shape;2404;h65eb7c06466a6d01_2_6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9" name="Shape 2419"/>
        <p:cNvGrpSpPr/>
        <p:nvPr/>
      </p:nvGrpSpPr>
      <p:grpSpPr>
        <a:xfrm>
          <a:off x="0" y="0"/>
          <a:ext cx="0" cy="0"/>
          <a:chOff x="0" y="0"/>
          <a:chExt cx="0" cy="0"/>
        </a:xfrm>
      </p:grpSpPr>
      <p:sp>
        <p:nvSpPr>
          <p:cNvPr id="2420" name="Google Shape;2420;h65eb7c06466a6d01_2_655: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1" name="Google Shape;2421;h65eb7c06466a6d01_2_6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22" name="Google Shape;2422;h65eb7c06466a6d01_2_6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0" name="Shape 2440"/>
        <p:cNvGrpSpPr/>
        <p:nvPr/>
      </p:nvGrpSpPr>
      <p:grpSpPr>
        <a:xfrm>
          <a:off x="0" y="0"/>
          <a:ext cx="0" cy="0"/>
          <a:chOff x="0" y="0"/>
          <a:chExt cx="0" cy="0"/>
        </a:xfrm>
      </p:grpSpPr>
      <p:sp>
        <p:nvSpPr>
          <p:cNvPr id="2441" name="Google Shape;2441;h65eb7c06466a6d01_2_675: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2" name="Google Shape;2442;h65eb7c06466a6d01_2_6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43" name="Google Shape;2443;h65eb7c06466a6d01_2_67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8" name="Shape 2458"/>
        <p:cNvGrpSpPr/>
        <p:nvPr/>
      </p:nvGrpSpPr>
      <p:grpSpPr>
        <a:xfrm>
          <a:off x="0" y="0"/>
          <a:ext cx="0" cy="0"/>
          <a:chOff x="0" y="0"/>
          <a:chExt cx="0" cy="0"/>
        </a:xfrm>
      </p:grpSpPr>
      <p:sp>
        <p:nvSpPr>
          <p:cNvPr id="2459" name="Google Shape;2459;h65eb7c06466a6d01_2_692: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0" name="Google Shape;2460;h65eb7c06466a6d01_2_6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61" name="Google Shape;2461;h65eb7c06466a6d01_2_6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6" name="Shape 2476"/>
        <p:cNvGrpSpPr/>
        <p:nvPr/>
      </p:nvGrpSpPr>
      <p:grpSpPr>
        <a:xfrm>
          <a:off x="0" y="0"/>
          <a:ext cx="0" cy="0"/>
          <a:chOff x="0" y="0"/>
          <a:chExt cx="0" cy="0"/>
        </a:xfrm>
      </p:grpSpPr>
      <p:sp>
        <p:nvSpPr>
          <p:cNvPr id="2477" name="Google Shape;2477;h65eb7c06466a6d01_2_709: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8" name="Google Shape;2478;h65eb7c06466a6d01_2_7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79" name="Google Shape;2479;h65eb7c06466a6d01_2_7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4" name="Shape 2494"/>
        <p:cNvGrpSpPr/>
        <p:nvPr/>
      </p:nvGrpSpPr>
      <p:grpSpPr>
        <a:xfrm>
          <a:off x="0" y="0"/>
          <a:ext cx="0" cy="0"/>
          <a:chOff x="0" y="0"/>
          <a:chExt cx="0" cy="0"/>
        </a:xfrm>
      </p:grpSpPr>
      <p:sp>
        <p:nvSpPr>
          <p:cNvPr id="2495" name="Google Shape;2495;h65eb7c06466a6d01_2_72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6" name="Google Shape;2496;h65eb7c06466a6d01_2_7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97" name="Google Shape;2497;h65eb7c06466a6d01_2_7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2" name="Shape 2512"/>
        <p:cNvGrpSpPr/>
        <p:nvPr/>
      </p:nvGrpSpPr>
      <p:grpSpPr>
        <a:xfrm>
          <a:off x="0" y="0"/>
          <a:ext cx="0" cy="0"/>
          <a:chOff x="0" y="0"/>
          <a:chExt cx="0" cy="0"/>
        </a:xfrm>
      </p:grpSpPr>
      <p:sp>
        <p:nvSpPr>
          <p:cNvPr id="2513" name="Google Shape;2513;h65eb7c06466a6d01_2_74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4" name="Google Shape;2514;h65eb7c06466a6d01_2_7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15" name="Google Shape;2515;h65eb7c06466a6d01_2_7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0" name="Shape 2530"/>
        <p:cNvGrpSpPr/>
        <p:nvPr/>
      </p:nvGrpSpPr>
      <p:grpSpPr>
        <a:xfrm>
          <a:off x="0" y="0"/>
          <a:ext cx="0" cy="0"/>
          <a:chOff x="0" y="0"/>
          <a:chExt cx="0" cy="0"/>
        </a:xfrm>
      </p:grpSpPr>
      <p:sp>
        <p:nvSpPr>
          <p:cNvPr id="2531" name="Google Shape;2531;h65eb7c06466a6d01_2_76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2" name="Google Shape;2532;h65eb7c06466a6d01_2_7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33" name="Google Shape;2533;h65eb7c06466a6d01_2_76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8" name="Shape 2548"/>
        <p:cNvGrpSpPr/>
        <p:nvPr/>
      </p:nvGrpSpPr>
      <p:grpSpPr>
        <a:xfrm>
          <a:off x="0" y="0"/>
          <a:ext cx="0" cy="0"/>
          <a:chOff x="0" y="0"/>
          <a:chExt cx="0" cy="0"/>
        </a:xfrm>
      </p:grpSpPr>
      <p:sp>
        <p:nvSpPr>
          <p:cNvPr id="2549" name="Google Shape;2549;h65eb7c06466a6d01_2_77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0" name="Google Shape;2550;h65eb7c06466a6d01_2_7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51" name="Google Shape;2551;h65eb7c06466a6d01_2_7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6" name="Shape 2566"/>
        <p:cNvGrpSpPr/>
        <p:nvPr/>
      </p:nvGrpSpPr>
      <p:grpSpPr>
        <a:xfrm>
          <a:off x="0" y="0"/>
          <a:ext cx="0" cy="0"/>
          <a:chOff x="0" y="0"/>
          <a:chExt cx="0" cy="0"/>
        </a:xfrm>
      </p:grpSpPr>
      <p:sp>
        <p:nvSpPr>
          <p:cNvPr id="2567" name="Google Shape;2567;h65eb7c06466a6d01_2_79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8" name="Google Shape;2568;h65eb7c06466a6d01_2_7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69" name="Google Shape;2569;h65eb7c06466a6d01_2_7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0" name="Shape 2590"/>
        <p:cNvGrpSpPr/>
        <p:nvPr/>
      </p:nvGrpSpPr>
      <p:grpSpPr>
        <a:xfrm>
          <a:off x="0" y="0"/>
          <a:ext cx="0" cy="0"/>
          <a:chOff x="0" y="0"/>
          <a:chExt cx="0" cy="0"/>
        </a:xfrm>
      </p:grpSpPr>
      <p:sp>
        <p:nvSpPr>
          <p:cNvPr id="2591" name="Google Shape;2591;h65eb7c06466a6d01_2_81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2" name="Google Shape;2592;h65eb7c06466a6d01_2_8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93" name="Google Shape;2593;h65eb7c06466a6d01_2_8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h65eb7c06466a6d01_2_83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0" name="Google Shape;2610;h65eb7c06466a6d01_2_8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11" name="Google Shape;2611;h65eb7c06466a6d01_2_8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9" name="Shape 2619"/>
        <p:cNvGrpSpPr/>
        <p:nvPr/>
      </p:nvGrpSpPr>
      <p:grpSpPr>
        <a:xfrm>
          <a:off x="0" y="0"/>
          <a:ext cx="0" cy="0"/>
          <a:chOff x="0" y="0"/>
          <a:chExt cx="0" cy="0"/>
        </a:xfrm>
      </p:grpSpPr>
      <p:sp>
        <p:nvSpPr>
          <p:cNvPr id="2620" name="Google Shape;2620;h65eb7c06466a6d01_2_84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1" name="Google Shape;2621;h65eb7c06466a6d01_2_8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22" name="Google Shape;2622;h65eb7c06466a6d01_2_8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h65eb7c06466a6d01_2_853: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1" name="Google Shape;2631;h65eb7c06466a6d01_2_8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32" name="Google Shape;2632;h65eb7c06466a6d01_2_8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h65eb7c06466a6d01_2_86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0" name="Google Shape;2640;h65eb7c06466a6d01_2_8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41" name="Google Shape;2641;h65eb7c06466a6d01_2_8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7" name="Shape 2647"/>
        <p:cNvGrpSpPr/>
        <p:nvPr/>
      </p:nvGrpSpPr>
      <p:grpSpPr>
        <a:xfrm>
          <a:off x="0" y="0"/>
          <a:ext cx="0" cy="0"/>
          <a:chOff x="0" y="0"/>
          <a:chExt cx="0" cy="0"/>
        </a:xfrm>
      </p:grpSpPr>
      <p:sp>
        <p:nvSpPr>
          <p:cNvPr id="2648" name="Google Shape;2648;h65eb7c06466a6d01_2_869: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9" name="Google Shape;2649;h65eb7c06466a6d01_2_8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50" name="Google Shape;2650;h65eb7c06466a6d01_2_8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9" name="Shape 2719"/>
        <p:cNvGrpSpPr/>
        <p:nvPr/>
      </p:nvGrpSpPr>
      <p:grpSpPr>
        <a:xfrm>
          <a:off x="0" y="0"/>
          <a:ext cx="0" cy="0"/>
          <a:chOff x="0" y="0"/>
          <a:chExt cx="0" cy="0"/>
        </a:xfrm>
      </p:grpSpPr>
      <p:sp>
        <p:nvSpPr>
          <p:cNvPr id="2720" name="Google Shape;2720;h65eb7c06466a6d01_2_940: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1" name="Google Shape;2721;h65eb7c06466a6d01_2_9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22" name="Google Shape;2722;h65eb7c06466a6d01_2_94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6" name="Shape 2736"/>
        <p:cNvGrpSpPr/>
        <p:nvPr/>
      </p:nvGrpSpPr>
      <p:grpSpPr>
        <a:xfrm>
          <a:off x="0" y="0"/>
          <a:ext cx="0" cy="0"/>
          <a:chOff x="0" y="0"/>
          <a:chExt cx="0" cy="0"/>
        </a:xfrm>
      </p:grpSpPr>
      <p:sp>
        <p:nvSpPr>
          <p:cNvPr id="2737" name="Google Shape;2737;h65eb7c06466a6d01_2_956: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8" name="Google Shape;2738;h65eb7c06466a6d01_2_9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39" name="Google Shape;2739;h65eb7c06466a6d01_2_95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9"/>
          <p:cNvSpPr/>
          <p:nvPr>
            <p:ph idx="2" type="pic"/>
          </p:nvPr>
        </p:nvSpPr>
        <p:spPr>
          <a:xfrm>
            <a:off x="1792288" y="612775"/>
            <a:ext cx="5486400" cy="4114800"/>
          </a:xfrm>
          <a:prstGeom prst="rect">
            <a:avLst/>
          </a:prstGeom>
          <a:noFill/>
          <a:ln>
            <a:noFill/>
          </a:ln>
        </p:spPr>
      </p:sp>
      <p:sp>
        <p:nvSpPr>
          <p:cNvPr id="64" name="Google Shape;64;p3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69a5e3ff789ebc32_1_182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69a5e3ff789ebc32_1_182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69a5e3ff789ebc32_1_18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69a5e3ff789ebc32_1_183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69a5e3ff789ebc32_1_18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69a5e3ff789ebc32_1_183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69a5e3ff789ebc32_1_183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69a5e3ff789ebc32_1_18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69a5e3ff789ebc32_1_18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69a5e3ff789ebc32_1_183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69a5e3ff789ebc32_1_183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69a5e3ff789ebc32_1_183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69a5e3ff789ebc32_1_183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69a5e3ff789ebc32_1_184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69a5e3ff789ebc32_1_184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69a5e3ff789ebc32_1_184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69a5e3ff789ebc32_1_184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69a5e3ff789ebc32_1_184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69a5e3ff789ebc32_1_18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69a5e3ff789ebc32_1_1851"/>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69a5e3ff789ebc32_1_1851"/>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69a5e3ff789ebc32_1_185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69a5e3ff789ebc32_1_185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69a5e3ff789ebc32_1_185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69a5e3ff789ebc32_1_18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69a5e3ff789ebc32_1_1858"/>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69a5e3ff789ebc32_1_1858"/>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69a5e3ff789ebc32_1_1858"/>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69a5e3ff789ebc32_1_1858"/>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69a5e3ff789ebc32_1_185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69a5e3ff789ebc32_1_185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69a5e3ff789ebc32_1_185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69a5e3ff789ebc32_1_18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69a5e3ff789ebc32_1_186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69a5e3ff789ebc32_1_186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69a5e3ff789ebc32_1_186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69a5e3ff789ebc32_1_1872"/>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69a5e3ff789ebc32_1_1872"/>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69a5e3ff789ebc32_1_1872"/>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69a5e3ff789ebc32_1_187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69a5e3ff789ebc32_1_187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69a5e3ff789ebc32_1_187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69a5e3ff789ebc32_1_1879"/>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69a5e3ff789ebc32_1_1879"/>
          <p:cNvSpPr/>
          <p:nvPr>
            <p:ph idx="2" type="pic"/>
          </p:nvPr>
        </p:nvSpPr>
        <p:spPr>
          <a:xfrm>
            <a:off x="1792288" y="612775"/>
            <a:ext cx="5486400" cy="4114800"/>
          </a:xfrm>
          <a:prstGeom prst="rect">
            <a:avLst/>
          </a:prstGeom>
          <a:noFill/>
          <a:ln>
            <a:noFill/>
          </a:ln>
        </p:spPr>
      </p:sp>
      <p:sp>
        <p:nvSpPr>
          <p:cNvPr id="139" name="Google Shape;139;h69a5e3ff789ebc32_1_1879"/>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69a5e3ff789ebc32_1_187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69a5e3ff789ebc32_1_187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69a5e3ff789ebc32_1_187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69a5e3ff789ebc32_1_18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69a5e3ff789ebc32_1_1886"/>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69a5e3ff789ebc32_1_188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69a5e3ff789ebc32_1_188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69a5e3ff789ebc32_1_188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69a5e3ff789ebc32_1_1892"/>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69a5e3ff789ebc32_1_1892"/>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69a5e3ff789ebc32_1_189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69a5e3ff789ebc32_1_189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69a5e3ff789ebc32_1_189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69a5e3ff789ebc32_1_18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69a5e3ff789ebc32_1_18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h69a5e3ff789ebc32_1_18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h69a5e3ff789ebc32_1_18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h69a5e3ff789ebc32_1_18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 Id="rId11" Type="http://schemas.openxmlformats.org/officeDocument/2006/relationships/image" Target="../media/image11.jpg"/><Relationship Id="rId10" Type="http://schemas.openxmlformats.org/officeDocument/2006/relationships/image" Target="../media/image8.jpg"/><Relationship Id="rId12" Type="http://schemas.openxmlformats.org/officeDocument/2006/relationships/image" Target="../media/image13.jpg"/><Relationship Id="rId9" Type="http://schemas.openxmlformats.org/officeDocument/2006/relationships/image" Target="../media/image6.jpg"/><Relationship Id="rId5" Type="http://schemas.openxmlformats.org/officeDocument/2006/relationships/image" Target="../media/image42.png"/><Relationship Id="rId6" Type="http://schemas.openxmlformats.org/officeDocument/2006/relationships/image" Target="../media/image14.png"/><Relationship Id="rId7" Type="http://schemas.openxmlformats.org/officeDocument/2006/relationships/image" Target="../media/image5.jpg"/><Relationship Id="rId8" Type="http://schemas.openxmlformats.org/officeDocument/2006/relationships/image" Target="../media/image12.jpg"/></Relationships>
</file>

<file path=ppt/slides/_rels/slide3.xml.rels><?xml version="1.0" encoding="UTF-8" standalone="yes"?><Relationships xmlns="http://schemas.openxmlformats.org/package/2006/relationships"><Relationship Id="rId20" Type="http://schemas.openxmlformats.org/officeDocument/2006/relationships/image" Target="../media/image26.png"/><Relationship Id="rId11" Type="http://schemas.openxmlformats.org/officeDocument/2006/relationships/image" Target="../media/image84.png"/><Relationship Id="rId22" Type="http://schemas.openxmlformats.org/officeDocument/2006/relationships/image" Target="../media/image28.png"/><Relationship Id="rId10" Type="http://schemas.openxmlformats.org/officeDocument/2006/relationships/image" Target="../media/image22.png"/><Relationship Id="rId21" Type="http://schemas.openxmlformats.org/officeDocument/2006/relationships/image" Target="../media/image25.png"/><Relationship Id="rId13" Type="http://schemas.openxmlformats.org/officeDocument/2006/relationships/image" Target="../media/image31.png"/><Relationship Id="rId24" Type="http://schemas.openxmlformats.org/officeDocument/2006/relationships/image" Target="../media/image34.png"/><Relationship Id="rId12" Type="http://schemas.openxmlformats.org/officeDocument/2006/relationships/image" Target="../media/image56.png"/><Relationship Id="rId23"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image" Target="../media/image43.png"/><Relationship Id="rId15" Type="http://schemas.openxmlformats.org/officeDocument/2006/relationships/image" Target="../media/image23.png"/><Relationship Id="rId14" Type="http://schemas.openxmlformats.org/officeDocument/2006/relationships/image" Target="../media/image21.png"/><Relationship Id="rId17" Type="http://schemas.openxmlformats.org/officeDocument/2006/relationships/image" Target="../media/image20.png"/><Relationship Id="rId16" Type="http://schemas.openxmlformats.org/officeDocument/2006/relationships/image" Target="../media/image29.png"/><Relationship Id="rId5" Type="http://schemas.openxmlformats.org/officeDocument/2006/relationships/image" Target="../media/image16.png"/><Relationship Id="rId19" Type="http://schemas.openxmlformats.org/officeDocument/2006/relationships/image" Target="../media/image27.png"/><Relationship Id="rId6" Type="http://schemas.openxmlformats.org/officeDocument/2006/relationships/image" Target="../media/image19.png"/><Relationship Id="rId18" Type="http://schemas.openxmlformats.org/officeDocument/2006/relationships/image" Target="../media/image24.png"/><Relationship Id="rId7" Type="http://schemas.openxmlformats.org/officeDocument/2006/relationships/image" Target="../media/image33.png"/><Relationship Id="rId8"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35.png"/><Relationship Id="rId6" Type="http://schemas.openxmlformats.org/officeDocument/2006/relationships/image" Target="../media/image4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5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37.png"/><Relationship Id="rId7"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comments" Target="../comments/commen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comments" Target="../comments/commen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hyperlink" Target="https://sanggabiz-ppg-dashboard.netlify.app/" TargetMode="External"/><Relationship Id="rId6"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comments" Target="../comments/comment3.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40" Type="http://schemas.openxmlformats.org/officeDocument/2006/relationships/image" Target="../media/image83.png"/><Relationship Id="rId20" Type="http://schemas.openxmlformats.org/officeDocument/2006/relationships/image" Target="../media/image77.png"/><Relationship Id="rId42" Type="http://schemas.openxmlformats.org/officeDocument/2006/relationships/image" Target="../media/image97.png"/><Relationship Id="rId41" Type="http://schemas.openxmlformats.org/officeDocument/2006/relationships/image" Target="../media/image82.png"/><Relationship Id="rId22" Type="http://schemas.openxmlformats.org/officeDocument/2006/relationships/image" Target="../media/image61.png"/><Relationship Id="rId44" Type="http://schemas.openxmlformats.org/officeDocument/2006/relationships/image" Target="../media/image91.png"/><Relationship Id="rId21" Type="http://schemas.openxmlformats.org/officeDocument/2006/relationships/image" Target="../media/image62.png"/><Relationship Id="rId43" Type="http://schemas.openxmlformats.org/officeDocument/2006/relationships/image" Target="../media/image94.png"/><Relationship Id="rId24" Type="http://schemas.openxmlformats.org/officeDocument/2006/relationships/image" Target="../media/image71.png"/><Relationship Id="rId23" Type="http://schemas.openxmlformats.org/officeDocument/2006/relationships/image" Target="../media/image63.png"/><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50.png"/><Relationship Id="rId26" Type="http://schemas.openxmlformats.org/officeDocument/2006/relationships/image" Target="../media/image69.png"/><Relationship Id="rId25" Type="http://schemas.openxmlformats.org/officeDocument/2006/relationships/image" Target="../media/image72.png"/><Relationship Id="rId28" Type="http://schemas.openxmlformats.org/officeDocument/2006/relationships/image" Target="../media/image73.png"/><Relationship Id="rId27" Type="http://schemas.openxmlformats.org/officeDocument/2006/relationships/image" Target="../media/image67.png"/><Relationship Id="rId5" Type="http://schemas.openxmlformats.org/officeDocument/2006/relationships/image" Target="../media/image48.png"/><Relationship Id="rId6" Type="http://schemas.openxmlformats.org/officeDocument/2006/relationships/image" Target="../media/image52.png"/><Relationship Id="rId29" Type="http://schemas.openxmlformats.org/officeDocument/2006/relationships/image" Target="../media/image66.png"/><Relationship Id="rId7" Type="http://schemas.openxmlformats.org/officeDocument/2006/relationships/image" Target="../media/image47.png"/><Relationship Id="rId8" Type="http://schemas.openxmlformats.org/officeDocument/2006/relationships/image" Target="../media/image58.png"/><Relationship Id="rId31" Type="http://schemas.openxmlformats.org/officeDocument/2006/relationships/image" Target="../media/image76.png"/><Relationship Id="rId30" Type="http://schemas.openxmlformats.org/officeDocument/2006/relationships/image" Target="../media/image74.png"/><Relationship Id="rId11" Type="http://schemas.openxmlformats.org/officeDocument/2006/relationships/image" Target="../media/image49.png"/><Relationship Id="rId33" Type="http://schemas.openxmlformats.org/officeDocument/2006/relationships/image" Target="../media/image79.png"/><Relationship Id="rId10" Type="http://schemas.openxmlformats.org/officeDocument/2006/relationships/image" Target="../media/image53.png"/><Relationship Id="rId32" Type="http://schemas.openxmlformats.org/officeDocument/2006/relationships/image" Target="../media/image81.png"/><Relationship Id="rId13" Type="http://schemas.openxmlformats.org/officeDocument/2006/relationships/image" Target="../media/image51.png"/><Relationship Id="rId35" Type="http://schemas.openxmlformats.org/officeDocument/2006/relationships/image" Target="../media/image70.png"/><Relationship Id="rId12" Type="http://schemas.openxmlformats.org/officeDocument/2006/relationships/image" Target="../media/image93.png"/><Relationship Id="rId34" Type="http://schemas.openxmlformats.org/officeDocument/2006/relationships/image" Target="../media/image75.png"/><Relationship Id="rId15" Type="http://schemas.openxmlformats.org/officeDocument/2006/relationships/image" Target="../media/image59.png"/><Relationship Id="rId37" Type="http://schemas.openxmlformats.org/officeDocument/2006/relationships/image" Target="../media/image88.png"/><Relationship Id="rId14" Type="http://schemas.openxmlformats.org/officeDocument/2006/relationships/image" Target="../media/image57.png"/><Relationship Id="rId36" Type="http://schemas.openxmlformats.org/officeDocument/2006/relationships/image" Target="../media/image78.png"/><Relationship Id="rId17" Type="http://schemas.openxmlformats.org/officeDocument/2006/relationships/image" Target="../media/image92.png"/><Relationship Id="rId39" Type="http://schemas.openxmlformats.org/officeDocument/2006/relationships/image" Target="../media/image95.png"/><Relationship Id="rId16" Type="http://schemas.openxmlformats.org/officeDocument/2006/relationships/image" Target="../media/image68.png"/><Relationship Id="rId38" Type="http://schemas.openxmlformats.org/officeDocument/2006/relationships/image" Target="../media/image80.png"/><Relationship Id="rId19" Type="http://schemas.openxmlformats.org/officeDocument/2006/relationships/image" Target="../media/image65.png"/><Relationship Id="rId18"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87.jpg"/><Relationship Id="rId4" Type="http://schemas.openxmlformats.org/officeDocument/2006/relationships/image" Target="../media/image99.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90.jpg"/><Relationship Id="rId4" Type="http://schemas.openxmlformats.org/officeDocument/2006/relationships/image" Target="../media/image99.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89.jpg"/><Relationship Id="rId4" Type="http://schemas.openxmlformats.org/officeDocument/2006/relationships/image" Target="../media/image99.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98.png"/><Relationship Id="rId6" Type="http://schemas.openxmlformats.org/officeDocument/2006/relationships/image" Target="../media/image9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98.png"/><Relationship Id="rId4" Type="http://schemas.openxmlformats.org/officeDocument/2006/relationships/image" Target="../media/image9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10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105.png"/><Relationship Id="rId5" Type="http://schemas.openxmlformats.org/officeDocument/2006/relationships/image" Target="../media/image86.png"/><Relationship Id="rId6" Type="http://schemas.openxmlformats.org/officeDocument/2006/relationships/image" Target="../media/image1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9.png"/><Relationship Id="rId4" Type="http://schemas.openxmlformats.org/officeDocument/2006/relationships/image" Target="../media/image104.jpg"/><Relationship Id="rId9" Type="http://schemas.openxmlformats.org/officeDocument/2006/relationships/image" Target="../media/image109.jpg"/><Relationship Id="rId5" Type="http://schemas.openxmlformats.org/officeDocument/2006/relationships/image" Target="../media/image143.jpg"/><Relationship Id="rId6" Type="http://schemas.openxmlformats.org/officeDocument/2006/relationships/image" Target="../media/image110.jpg"/><Relationship Id="rId7" Type="http://schemas.openxmlformats.org/officeDocument/2006/relationships/image" Target="../media/image103.jpg"/><Relationship Id="rId8" Type="http://schemas.openxmlformats.org/officeDocument/2006/relationships/image" Target="../media/image10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9.png"/><Relationship Id="rId4" Type="http://schemas.openxmlformats.org/officeDocument/2006/relationships/image" Target="../media/image102.png"/><Relationship Id="rId5" Type="http://schemas.openxmlformats.org/officeDocument/2006/relationships/image" Target="../media/image106.png"/><Relationship Id="rId6" Type="http://schemas.openxmlformats.org/officeDocument/2006/relationships/image" Target="../media/image133.png"/><Relationship Id="rId7" Type="http://schemas.openxmlformats.org/officeDocument/2006/relationships/image" Target="../media/image107.png"/><Relationship Id="rId8" Type="http://schemas.openxmlformats.org/officeDocument/2006/relationships/image" Target="../media/image122.png"/></Relationships>
</file>

<file path=ppt/slides/_rels/slide43.xml.rels><?xml version="1.0" encoding="UTF-8" standalone="yes"?><Relationships xmlns="http://schemas.openxmlformats.org/package/2006/relationships"><Relationship Id="rId40" Type="http://schemas.openxmlformats.org/officeDocument/2006/relationships/image" Target="../media/image82.png"/><Relationship Id="rId20" Type="http://schemas.openxmlformats.org/officeDocument/2006/relationships/image" Target="../media/image62.png"/><Relationship Id="rId42" Type="http://schemas.openxmlformats.org/officeDocument/2006/relationships/image" Target="../media/image147.png"/><Relationship Id="rId41" Type="http://schemas.openxmlformats.org/officeDocument/2006/relationships/image" Target="../media/image158.png"/><Relationship Id="rId22" Type="http://schemas.openxmlformats.org/officeDocument/2006/relationships/image" Target="../media/image129.png"/><Relationship Id="rId44" Type="http://schemas.openxmlformats.org/officeDocument/2006/relationships/image" Target="../media/image151.png"/><Relationship Id="rId21" Type="http://schemas.openxmlformats.org/officeDocument/2006/relationships/image" Target="../media/image61.png"/><Relationship Id="rId43" Type="http://schemas.openxmlformats.org/officeDocument/2006/relationships/image" Target="../media/image162.png"/><Relationship Id="rId24" Type="http://schemas.openxmlformats.org/officeDocument/2006/relationships/image" Target="../media/image72.png"/><Relationship Id="rId23" Type="http://schemas.openxmlformats.org/officeDocument/2006/relationships/image" Target="../media/image130.png"/><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9.png"/><Relationship Id="rId4" Type="http://schemas.openxmlformats.org/officeDocument/2006/relationships/image" Target="../media/image111.jpg"/><Relationship Id="rId9" Type="http://schemas.openxmlformats.org/officeDocument/2006/relationships/image" Target="../media/image115.png"/><Relationship Id="rId26" Type="http://schemas.openxmlformats.org/officeDocument/2006/relationships/image" Target="../media/image67.png"/><Relationship Id="rId25" Type="http://schemas.openxmlformats.org/officeDocument/2006/relationships/image" Target="../media/image131.png"/><Relationship Id="rId28" Type="http://schemas.openxmlformats.org/officeDocument/2006/relationships/image" Target="../media/image134.png"/><Relationship Id="rId27" Type="http://schemas.openxmlformats.org/officeDocument/2006/relationships/image" Target="../media/image136.png"/><Relationship Id="rId5" Type="http://schemas.openxmlformats.org/officeDocument/2006/relationships/image" Target="../media/image112.jpg"/><Relationship Id="rId6" Type="http://schemas.openxmlformats.org/officeDocument/2006/relationships/image" Target="../media/image113.jpg"/><Relationship Id="rId29" Type="http://schemas.openxmlformats.org/officeDocument/2006/relationships/image" Target="../media/image74.png"/><Relationship Id="rId7" Type="http://schemas.openxmlformats.org/officeDocument/2006/relationships/image" Target="../media/image119.jpg"/><Relationship Id="rId8" Type="http://schemas.openxmlformats.org/officeDocument/2006/relationships/image" Target="../media/image114.png"/><Relationship Id="rId31" Type="http://schemas.openxmlformats.org/officeDocument/2006/relationships/image" Target="../media/image186.png"/><Relationship Id="rId30" Type="http://schemas.openxmlformats.org/officeDocument/2006/relationships/image" Target="../media/image135.png"/><Relationship Id="rId11" Type="http://schemas.openxmlformats.org/officeDocument/2006/relationships/image" Target="../media/image93.png"/><Relationship Id="rId33" Type="http://schemas.openxmlformats.org/officeDocument/2006/relationships/image" Target="../media/image75.png"/><Relationship Id="rId10" Type="http://schemas.openxmlformats.org/officeDocument/2006/relationships/image" Target="../media/image49.png"/><Relationship Id="rId32" Type="http://schemas.openxmlformats.org/officeDocument/2006/relationships/image" Target="../media/image79.png"/><Relationship Id="rId13" Type="http://schemas.openxmlformats.org/officeDocument/2006/relationships/image" Target="../media/image57.png"/><Relationship Id="rId35" Type="http://schemas.openxmlformats.org/officeDocument/2006/relationships/image" Target="../media/image146.png"/><Relationship Id="rId12" Type="http://schemas.openxmlformats.org/officeDocument/2006/relationships/image" Target="../media/image118.png"/><Relationship Id="rId34" Type="http://schemas.openxmlformats.org/officeDocument/2006/relationships/image" Target="../media/image70.png"/><Relationship Id="rId15" Type="http://schemas.openxmlformats.org/officeDocument/2006/relationships/image" Target="../media/image68.png"/><Relationship Id="rId37" Type="http://schemas.openxmlformats.org/officeDocument/2006/relationships/image" Target="../media/image140.png"/><Relationship Id="rId14" Type="http://schemas.openxmlformats.org/officeDocument/2006/relationships/image" Target="../media/image59.png"/><Relationship Id="rId36" Type="http://schemas.openxmlformats.org/officeDocument/2006/relationships/image" Target="../media/image88.png"/><Relationship Id="rId17" Type="http://schemas.openxmlformats.org/officeDocument/2006/relationships/image" Target="../media/image124.png"/><Relationship Id="rId39" Type="http://schemas.openxmlformats.org/officeDocument/2006/relationships/image" Target="../media/image144.png"/><Relationship Id="rId16" Type="http://schemas.openxmlformats.org/officeDocument/2006/relationships/image" Target="../media/image145.png"/><Relationship Id="rId38" Type="http://schemas.openxmlformats.org/officeDocument/2006/relationships/image" Target="../media/image141.png"/><Relationship Id="rId19" Type="http://schemas.openxmlformats.org/officeDocument/2006/relationships/image" Target="../media/image127.png"/><Relationship Id="rId18"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9.png"/><Relationship Id="rId4" Type="http://schemas.openxmlformats.org/officeDocument/2006/relationships/image" Target="../media/image152.png"/><Relationship Id="rId5" Type="http://schemas.openxmlformats.org/officeDocument/2006/relationships/image" Target="../media/image19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11.jpg"/><Relationship Id="rId4" Type="http://schemas.openxmlformats.org/officeDocument/2006/relationships/image" Target="../media/image112.jpg"/><Relationship Id="rId9" Type="http://schemas.openxmlformats.org/officeDocument/2006/relationships/image" Target="../media/image115.png"/><Relationship Id="rId5" Type="http://schemas.openxmlformats.org/officeDocument/2006/relationships/image" Target="../media/image113.jpg"/><Relationship Id="rId6" Type="http://schemas.openxmlformats.org/officeDocument/2006/relationships/image" Target="../media/image119.jpg"/><Relationship Id="rId7" Type="http://schemas.openxmlformats.org/officeDocument/2006/relationships/image" Target="../media/image114.png"/><Relationship Id="rId8" Type="http://schemas.openxmlformats.org/officeDocument/2006/relationships/image" Target="../media/image16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54.png"/><Relationship Id="rId4" Type="http://schemas.openxmlformats.org/officeDocument/2006/relationships/image" Target="../media/image149.png"/><Relationship Id="rId9" Type="http://schemas.openxmlformats.org/officeDocument/2006/relationships/hyperlink" Target="https://drive.google.com/file/d/12wYcFa2z0uW8S6axhS6epT60ENUWPAci/view?usp=sharing" TargetMode="External"/><Relationship Id="rId5" Type="http://schemas.openxmlformats.org/officeDocument/2006/relationships/image" Target="../media/image157.png"/><Relationship Id="rId6" Type="http://schemas.openxmlformats.org/officeDocument/2006/relationships/hyperlink" Target="https://drive.google.com/file/d/1O_D5Zu6XfYNpaNEkp1a1VoR2ORmr_TUS/view?usp=sharing" TargetMode="External"/><Relationship Id="rId7" Type="http://schemas.openxmlformats.org/officeDocument/2006/relationships/hyperlink" Target="https://drive.google.com/file/d/1O_D5Zu6XfYNpaNEkp1a1VoR2ORmr_TUS/view?usp=sharing" TargetMode="External"/><Relationship Id="rId8" Type="http://schemas.openxmlformats.org/officeDocument/2006/relationships/hyperlink" Target="https://drive.google.com/file/d/12wYcFa2z0uW8S6axhS6epT60ENUWPAci/view?usp=sharing" TargetMode="External"/><Relationship Id="rId11" Type="http://schemas.openxmlformats.org/officeDocument/2006/relationships/hyperlink" Target="https://drive.google.com/file/d/1xBr4a8rVvBLdgH1W3ATXhEbk-WFFsBti/view?usp=sharing" TargetMode="External"/><Relationship Id="rId10" Type="http://schemas.openxmlformats.org/officeDocument/2006/relationships/hyperlink" Target="https://drive.google.com/file/d/12wYcFa2z0uW8S6axhS6epT60ENUWPAci/view?usp=sharing" TargetMode="External"/><Relationship Id="rId13" Type="http://schemas.openxmlformats.org/officeDocument/2006/relationships/hyperlink" Target="https://drive.google.com/file/d/1xBr4a8rVvBLdgH1W3ATXhEbk-WFFsBti/view?usp=sharing" TargetMode="External"/><Relationship Id="rId12" Type="http://schemas.openxmlformats.org/officeDocument/2006/relationships/hyperlink" Target="https://drive.google.com/file/d/1xBr4a8rVvBLdgH1W3ATXhEbk-WFFsBti/view?usp=sharing"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59.png"/><Relationship Id="rId4" Type="http://schemas.openxmlformats.org/officeDocument/2006/relationships/image" Target="../media/image156.png"/><Relationship Id="rId5" Type="http://schemas.openxmlformats.org/officeDocument/2006/relationships/image" Target="../media/image16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0.png"/><Relationship Id="rId6" Type="http://schemas.openxmlformats.org/officeDocument/2006/relationships/image" Target="../media/image17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66.png"/><Relationship Id="rId4" Type="http://schemas.openxmlformats.org/officeDocument/2006/relationships/hyperlink" Target="https://drive.google.com/file/d/188TM-3RZPbCgtcnDjAqDoCihppb8ujXK/view?usp=drive_link" TargetMode="External"/><Relationship Id="rId5" Type="http://schemas.openxmlformats.org/officeDocument/2006/relationships/image" Target="../media/image168.png"/><Relationship Id="rId6" Type="http://schemas.openxmlformats.org/officeDocument/2006/relationships/hyperlink" Target="https://drive.google.com/file/d/1CrZtWSEDORnwMbUQdGN1ib7LN99AaEkJ/view?usp=drive_link"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93.png"/><Relationship Id="rId4" Type="http://schemas.openxmlformats.org/officeDocument/2006/relationships/image" Target="../media/image1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1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9.png"/><Relationship Id="rId4" Type="http://schemas.openxmlformats.org/officeDocument/2006/relationships/image" Target="../media/image170.png"/><Relationship Id="rId9" Type="http://schemas.openxmlformats.org/officeDocument/2006/relationships/image" Target="../media/image172.jpg"/><Relationship Id="rId5" Type="http://schemas.openxmlformats.org/officeDocument/2006/relationships/image" Target="../media/image176.jpg"/><Relationship Id="rId6" Type="http://schemas.openxmlformats.org/officeDocument/2006/relationships/image" Target="../media/image175.jpg"/><Relationship Id="rId7" Type="http://schemas.openxmlformats.org/officeDocument/2006/relationships/image" Target="../media/image174.jpg"/><Relationship Id="rId8" Type="http://schemas.openxmlformats.org/officeDocument/2006/relationships/image" Target="../media/image169.jpg"/><Relationship Id="rId11" Type="http://schemas.openxmlformats.org/officeDocument/2006/relationships/image" Target="../media/image184.jpg"/><Relationship Id="rId10" Type="http://schemas.openxmlformats.org/officeDocument/2006/relationships/image" Target="../media/image178.jpg"/><Relationship Id="rId13" Type="http://schemas.openxmlformats.org/officeDocument/2006/relationships/image" Target="../media/image180.png"/><Relationship Id="rId12" Type="http://schemas.openxmlformats.org/officeDocument/2006/relationships/image" Target="../media/image171.png"/><Relationship Id="rId15" Type="http://schemas.openxmlformats.org/officeDocument/2006/relationships/image" Target="../media/image177.png"/><Relationship Id="rId14" Type="http://schemas.openxmlformats.org/officeDocument/2006/relationships/image" Target="../media/image17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9.png"/><Relationship Id="rId4" Type="http://schemas.openxmlformats.org/officeDocument/2006/relationships/image" Target="../media/image190.jpg"/><Relationship Id="rId9" Type="http://schemas.openxmlformats.org/officeDocument/2006/relationships/image" Target="../media/image180.png"/><Relationship Id="rId5" Type="http://schemas.openxmlformats.org/officeDocument/2006/relationships/image" Target="../media/image181.jpg"/><Relationship Id="rId6" Type="http://schemas.openxmlformats.org/officeDocument/2006/relationships/image" Target="../media/image182.jpg"/><Relationship Id="rId7" Type="http://schemas.openxmlformats.org/officeDocument/2006/relationships/image" Target="../media/image188.jpg"/><Relationship Id="rId8" Type="http://schemas.openxmlformats.org/officeDocument/2006/relationships/image" Target="../media/image171.png"/><Relationship Id="rId11" Type="http://schemas.openxmlformats.org/officeDocument/2006/relationships/image" Target="../media/image177.png"/><Relationship Id="rId10" Type="http://schemas.openxmlformats.org/officeDocument/2006/relationships/image" Target="../media/image179.png"/><Relationship Id="rId12" Type="http://schemas.openxmlformats.org/officeDocument/2006/relationships/image" Target="../media/image19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9.png"/><Relationship Id="rId4" Type="http://schemas.openxmlformats.org/officeDocument/2006/relationships/image" Target="../media/image185.jpg"/><Relationship Id="rId9" Type="http://schemas.openxmlformats.org/officeDocument/2006/relationships/image" Target="../media/image196.jpg"/><Relationship Id="rId5" Type="http://schemas.openxmlformats.org/officeDocument/2006/relationships/image" Target="../media/image192.jpg"/><Relationship Id="rId6" Type="http://schemas.openxmlformats.org/officeDocument/2006/relationships/image" Target="../media/image183.jpg"/><Relationship Id="rId7" Type="http://schemas.openxmlformats.org/officeDocument/2006/relationships/image" Target="../media/image189.jpg"/><Relationship Id="rId8" Type="http://schemas.openxmlformats.org/officeDocument/2006/relationships/image" Target="../media/image191.jpg"/><Relationship Id="rId11" Type="http://schemas.openxmlformats.org/officeDocument/2006/relationships/image" Target="../media/image202.jpg"/><Relationship Id="rId10" Type="http://schemas.openxmlformats.org/officeDocument/2006/relationships/image" Target="../media/image187.jpg"/><Relationship Id="rId13" Type="http://schemas.openxmlformats.org/officeDocument/2006/relationships/image" Target="../media/image180.png"/><Relationship Id="rId12" Type="http://schemas.openxmlformats.org/officeDocument/2006/relationships/image" Target="../media/image171.png"/><Relationship Id="rId15" Type="http://schemas.openxmlformats.org/officeDocument/2006/relationships/image" Target="../media/image177.png"/><Relationship Id="rId14" Type="http://schemas.openxmlformats.org/officeDocument/2006/relationships/image" Target="../media/image179.png"/><Relationship Id="rId16" Type="http://schemas.openxmlformats.org/officeDocument/2006/relationships/image" Target="../media/image1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9.png"/><Relationship Id="rId4" Type="http://schemas.openxmlformats.org/officeDocument/2006/relationships/image" Target="../media/image206.png"/><Relationship Id="rId9" Type="http://schemas.openxmlformats.org/officeDocument/2006/relationships/image" Target="../media/image180.png"/><Relationship Id="rId5" Type="http://schemas.openxmlformats.org/officeDocument/2006/relationships/image" Target="../media/image201.png"/><Relationship Id="rId6" Type="http://schemas.openxmlformats.org/officeDocument/2006/relationships/image" Target="../media/image199.png"/><Relationship Id="rId7" Type="http://schemas.openxmlformats.org/officeDocument/2006/relationships/image" Target="../media/image212.png"/><Relationship Id="rId8" Type="http://schemas.openxmlformats.org/officeDocument/2006/relationships/image" Target="../media/image171.png"/><Relationship Id="rId11" Type="http://schemas.openxmlformats.org/officeDocument/2006/relationships/image" Target="../media/image177.png"/><Relationship Id="rId10" Type="http://schemas.openxmlformats.org/officeDocument/2006/relationships/image" Target="../media/image179.png"/><Relationship Id="rId12" Type="http://schemas.openxmlformats.org/officeDocument/2006/relationships/image" Target="../media/image20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9.png"/><Relationship Id="rId4" Type="http://schemas.openxmlformats.org/officeDocument/2006/relationships/image" Target="../media/image207.jpg"/><Relationship Id="rId9" Type="http://schemas.openxmlformats.org/officeDocument/2006/relationships/image" Target="../media/image204.jpg"/><Relationship Id="rId5" Type="http://schemas.openxmlformats.org/officeDocument/2006/relationships/image" Target="../media/image197.jpg"/><Relationship Id="rId6" Type="http://schemas.openxmlformats.org/officeDocument/2006/relationships/image" Target="../media/image203.jpg"/><Relationship Id="rId7" Type="http://schemas.openxmlformats.org/officeDocument/2006/relationships/image" Target="../media/image200.jpg"/><Relationship Id="rId8" Type="http://schemas.openxmlformats.org/officeDocument/2006/relationships/image" Target="../media/image211.jpg"/><Relationship Id="rId11" Type="http://schemas.openxmlformats.org/officeDocument/2006/relationships/image" Target="../media/image180.png"/><Relationship Id="rId10" Type="http://schemas.openxmlformats.org/officeDocument/2006/relationships/image" Target="../media/image171.png"/><Relationship Id="rId13" Type="http://schemas.openxmlformats.org/officeDocument/2006/relationships/image" Target="../media/image177.png"/><Relationship Id="rId12" Type="http://schemas.openxmlformats.org/officeDocument/2006/relationships/image" Target="../media/image179.png"/><Relationship Id="rId14" Type="http://schemas.openxmlformats.org/officeDocument/2006/relationships/image" Target="../media/image20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9.png"/><Relationship Id="rId4" Type="http://schemas.openxmlformats.org/officeDocument/2006/relationships/image" Target="../media/image206.png"/><Relationship Id="rId9" Type="http://schemas.openxmlformats.org/officeDocument/2006/relationships/image" Target="../media/image180.png"/><Relationship Id="rId5" Type="http://schemas.openxmlformats.org/officeDocument/2006/relationships/image" Target="../media/image201.png"/><Relationship Id="rId6" Type="http://schemas.openxmlformats.org/officeDocument/2006/relationships/image" Target="../media/image199.png"/><Relationship Id="rId7" Type="http://schemas.openxmlformats.org/officeDocument/2006/relationships/image" Target="../media/image212.png"/><Relationship Id="rId8" Type="http://schemas.openxmlformats.org/officeDocument/2006/relationships/image" Target="../media/image171.png"/><Relationship Id="rId11" Type="http://schemas.openxmlformats.org/officeDocument/2006/relationships/image" Target="../media/image177.png"/><Relationship Id="rId10" Type="http://schemas.openxmlformats.org/officeDocument/2006/relationships/image" Target="../media/image179.png"/><Relationship Id="rId12" Type="http://schemas.openxmlformats.org/officeDocument/2006/relationships/image" Target="../media/image20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9.png"/><Relationship Id="rId4" Type="http://schemas.openxmlformats.org/officeDocument/2006/relationships/image" Target="../media/image208.jpg"/><Relationship Id="rId9" Type="http://schemas.openxmlformats.org/officeDocument/2006/relationships/image" Target="../media/image179.png"/><Relationship Id="rId5" Type="http://schemas.openxmlformats.org/officeDocument/2006/relationships/image" Target="../media/image214.jpg"/><Relationship Id="rId6" Type="http://schemas.openxmlformats.org/officeDocument/2006/relationships/image" Target="../media/image210.jpg"/><Relationship Id="rId7" Type="http://schemas.openxmlformats.org/officeDocument/2006/relationships/image" Target="../media/image171.png"/><Relationship Id="rId8" Type="http://schemas.openxmlformats.org/officeDocument/2006/relationships/image" Target="../media/image180.png"/><Relationship Id="rId10" Type="http://schemas.openxmlformats.org/officeDocument/2006/relationships/image" Target="../media/image17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9.png"/><Relationship Id="rId4" Type="http://schemas.openxmlformats.org/officeDocument/2006/relationships/image" Target="../media/image208.jpg"/><Relationship Id="rId9" Type="http://schemas.openxmlformats.org/officeDocument/2006/relationships/image" Target="../media/image179.png"/><Relationship Id="rId5" Type="http://schemas.openxmlformats.org/officeDocument/2006/relationships/image" Target="../media/image214.jpg"/><Relationship Id="rId6" Type="http://schemas.openxmlformats.org/officeDocument/2006/relationships/image" Target="../media/image210.jpg"/><Relationship Id="rId7" Type="http://schemas.openxmlformats.org/officeDocument/2006/relationships/image" Target="../media/image171.png"/><Relationship Id="rId8" Type="http://schemas.openxmlformats.org/officeDocument/2006/relationships/image" Target="../media/image180.png"/><Relationship Id="rId11" Type="http://schemas.openxmlformats.org/officeDocument/2006/relationships/image" Target="../media/image245.png"/><Relationship Id="rId10" Type="http://schemas.openxmlformats.org/officeDocument/2006/relationships/image" Target="../media/image17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9.png"/><Relationship Id="rId4" Type="http://schemas.openxmlformats.org/officeDocument/2006/relationships/image" Target="../media/image209.png"/><Relationship Id="rId9" Type="http://schemas.openxmlformats.org/officeDocument/2006/relationships/image" Target="../media/image215.jpg"/><Relationship Id="rId5" Type="http://schemas.openxmlformats.org/officeDocument/2006/relationships/image" Target="../media/image265.jpg"/><Relationship Id="rId6" Type="http://schemas.openxmlformats.org/officeDocument/2006/relationships/image" Target="../media/image218.jpg"/><Relationship Id="rId7" Type="http://schemas.openxmlformats.org/officeDocument/2006/relationships/image" Target="../media/image213.jpg"/><Relationship Id="rId8" Type="http://schemas.openxmlformats.org/officeDocument/2006/relationships/image" Target="../media/image216.jpg"/><Relationship Id="rId11" Type="http://schemas.openxmlformats.org/officeDocument/2006/relationships/image" Target="../media/image171.png"/><Relationship Id="rId10" Type="http://schemas.openxmlformats.org/officeDocument/2006/relationships/image" Target="../media/image248.jpg"/><Relationship Id="rId13" Type="http://schemas.openxmlformats.org/officeDocument/2006/relationships/image" Target="../media/image179.png"/><Relationship Id="rId12" Type="http://schemas.openxmlformats.org/officeDocument/2006/relationships/image" Target="../media/image180.png"/><Relationship Id="rId14" Type="http://schemas.openxmlformats.org/officeDocument/2006/relationships/image" Target="../media/image17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9.png"/><Relationship Id="rId4" Type="http://schemas.openxmlformats.org/officeDocument/2006/relationships/image" Target="../media/image111.jpg"/><Relationship Id="rId9" Type="http://schemas.openxmlformats.org/officeDocument/2006/relationships/image" Target="../media/image180.png"/><Relationship Id="rId5" Type="http://schemas.openxmlformats.org/officeDocument/2006/relationships/image" Target="../media/image112.jpg"/><Relationship Id="rId6" Type="http://schemas.openxmlformats.org/officeDocument/2006/relationships/image" Target="../media/image113.jpg"/><Relationship Id="rId7" Type="http://schemas.openxmlformats.org/officeDocument/2006/relationships/image" Target="../media/image119.jpg"/><Relationship Id="rId8" Type="http://schemas.openxmlformats.org/officeDocument/2006/relationships/image" Target="../media/image171.png"/><Relationship Id="rId11" Type="http://schemas.openxmlformats.org/officeDocument/2006/relationships/image" Target="../media/image177.png"/><Relationship Id="rId10" Type="http://schemas.openxmlformats.org/officeDocument/2006/relationships/image" Target="../media/image179.png"/><Relationship Id="rId12" Type="http://schemas.openxmlformats.org/officeDocument/2006/relationships/image" Target="../media/image2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9.png"/><Relationship Id="rId4" Type="http://schemas.openxmlformats.org/officeDocument/2006/relationships/image" Target="../media/image114.png"/><Relationship Id="rId9" Type="http://schemas.openxmlformats.org/officeDocument/2006/relationships/image" Target="../media/image177.png"/><Relationship Id="rId5" Type="http://schemas.openxmlformats.org/officeDocument/2006/relationships/image" Target="../media/image115.png"/><Relationship Id="rId6" Type="http://schemas.openxmlformats.org/officeDocument/2006/relationships/image" Target="../media/image171.png"/><Relationship Id="rId7" Type="http://schemas.openxmlformats.org/officeDocument/2006/relationships/image" Target="../media/image180.png"/><Relationship Id="rId8" Type="http://schemas.openxmlformats.org/officeDocument/2006/relationships/image" Target="../media/image179.png"/><Relationship Id="rId10" Type="http://schemas.openxmlformats.org/officeDocument/2006/relationships/image" Target="../media/image28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9.png"/><Relationship Id="rId4" Type="http://schemas.openxmlformats.org/officeDocument/2006/relationships/image" Target="../media/image219.png"/><Relationship Id="rId9" Type="http://schemas.openxmlformats.org/officeDocument/2006/relationships/image" Target="../media/image223.png"/><Relationship Id="rId5" Type="http://schemas.openxmlformats.org/officeDocument/2006/relationships/image" Target="../media/image171.png"/><Relationship Id="rId6" Type="http://schemas.openxmlformats.org/officeDocument/2006/relationships/image" Target="../media/image180.png"/><Relationship Id="rId7" Type="http://schemas.openxmlformats.org/officeDocument/2006/relationships/image" Target="../media/image179.png"/><Relationship Id="rId8" Type="http://schemas.openxmlformats.org/officeDocument/2006/relationships/image" Target="../media/image17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9.png"/><Relationship Id="rId4" Type="http://schemas.openxmlformats.org/officeDocument/2006/relationships/image" Target="../media/image221.png"/><Relationship Id="rId9" Type="http://schemas.openxmlformats.org/officeDocument/2006/relationships/image" Target="../media/image233.jpg"/><Relationship Id="rId5" Type="http://schemas.openxmlformats.org/officeDocument/2006/relationships/image" Target="../media/image222.png"/><Relationship Id="rId6" Type="http://schemas.openxmlformats.org/officeDocument/2006/relationships/image" Target="../media/image104.jpg"/><Relationship Id="rId7" Type="http://schemas.openxmlformats.org/officeDocument/2006/relationships/image" Target="../media/image224.jpg"/><Relationship Id="rId8" Type="http://schemas.openxmlformats.org/officeDocument/2006/relationships/image" Target="../media/image230.jpg"/><Relationship Id="rId11" Type="http://schemas.openxmlformats.org/officeDocument/2006/relationships/image" Target="../media/image109.jpg"/><Relationship Id="rId10" Type="http://schemas.openxmlformats.org/officeDocument/2006/relationships/image" Target="../media/image22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221.png"/><Relationship Id="rId4" Type="http://schemas.openxmlformats.org/officeDocument/2006/relationships/image" Target="../media/image9.png"/><Relationship Id="rId9" Type="http://schemas.openxmlformats.org/officeDocument/2006/relationships/image" Target="../media/image8.jpg"/><Relationship Id="rId5" Type="http://schemas.openxmlformats.org/officeDocument/2006/relationships/image" Target="../media/image14.png"/><Relationship Id="rId6" Type="http://schemas.openxmlformats.org/officeDocument/2006/relationships/image" Target="../media/image5.jpg"/><Relationship Id="rId7" Type="http://schemas.openxmlformats.org/officeDocument/2006/relationships/image" Target="../media/image12.jpg"/><Relationship Id="rId8" Type="http://schemas.openxmlformats.org/officeDocument/2006/relationships/image" Target="../media/image6.jpg"/><Relationship Id="rId11" Type="http://schemas.openxmlformats.org/officeDocument/2006/relationships/image" Target="../media/image13.jpg"/><Relationship Id="rId10" Type="http://schemas.openxmlformats.org/officeDocument/2006/relationships/image" Target="../media/image1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221.png"/><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221.png"/><Relationship Id="rId4" Type="http://schemas.openxmlformats.org/officeDocument/2006/relationships/image" Target="../media/image249.jpg"/><Relationship Id="rId5" Type="http://schemas.openxmlformats.org/officeDocument/2006/relationships/image" Target="../media/image24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221.png"/><Relationship Id="rId4" Type="http://schemas.openxmlformats.org/officeDocument/2006/relationships/image" Target="../media/image247.png"/><Relationship Id="rId5" Type="http://schemas.openxmlformats.org/officeDocument/2006/relationships/image" Target="../media/image9.png"/><Relationship Id="rId6" Type="http://schemas.openxmlformats.org/officeDocument/2006/relationships/image" Target="../media/image24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221.png"/><Relationship Id="rId4" Type="http://schemas.openxmlformats.org/officeDocument/2006/relationships/image" Target="../media/image254.png"/><Relationship Id="rId5" Type="http://schemas.openxmlformats.org/officeDocument/2006/relationships/image" Target="../media/image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221.png"/><Relationship Id="rId4" Type="http://schemas.openxmlformats.org/officeDocument/2006/relationships/image" Target="../media/image9.png"/><Relationship Id="rId5" Type="http://schemas.openxmlformats.org/officeDocument/2006/relationships/image" Target="../media/image250.jpg"/><Relationship Id="rId6" Type="http://schemas.openxmlformats.org/officeDocument/2006/relationships/image" Target="../media/image24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221.png"/><Relationship Id="rId4" Type="http://schemas.openxmlformats.org/officeDocument/2006/relationships/image" Target="../media/image252.png"/><Relationship Id="rId5" Type="http://schemas.openxmlformats.org/officeDocument/2006/relationships/image" Target="../media/image24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221.png"/><Relationship Id="rId4" Type="http://schemas.openxmlformats.org/officeDocument/2006/relationships/image" Target="../media/image251.png"/><Relationship Id="rId5" Type="http://schemas.openxmlformats.org/officeDocument/2006/relationships/image" Target="../media/image24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244.png"/><Relationship Id="rId4" Type="http://schemas.openxmlformats.org/officeDocument/2006/relationships/image" Target="../media/image257.png"/><Relationship Id="rId5" Type="http://schemas.openxmlformats.org/officeDocument/2006/relationships/image" Target="../media/image2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 Id="rId3" Type="http://schemas.openxmlformats.org/officeDocument/2006/relationships/image" Target="../media/image221.png"/><Relationship Id="rId4" Type="http://schemas.openxmlformats.org/officeDocument/2006/relationships/image" Target="../media/image260.png"/><Relationship Id="rId5" Type="http://schemas.openxmlformats.org/officeDocument/2006/relationships/image" Target="../media/image24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 Id="rId3" Type="http://schemas.openxmlformats.org/officeDocument/2006/relationships/image" Target="../media/image221.png"/><Relationship Id="rId4" Type="http://schemas.openxmlformats.org/officeDocument/2006/relationships/image" Target="../media/image244.png"/><Relationship Id="rId5" Type="http://schemas.openxmlformats.org/officeDocument/2006/relationships/image" Target="../media/image25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221.png"/><Relationship Id="rId4" Type="http://schemas.openxmlformats.org/officeDocument/2006/relationships/image" Target="../media/image244.png"/><Relationship Id="rId5" Type="http://schemas.openxmlformats.org/officeDocument/2006/relationships/image" Target="../media/image25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221.png"/><Relationship Id="rId4" Type="http://schemas.openxmlformats.org/officeDocument/2006/relationships/image" Target="../media/image244.png"/><Relationship Id="rId5" Type="http://schemas.openxmlformats.org/officeDocument/2006/relationships/image" Target="../media/image3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 Id="rId3" Type="http://schemas.openxmlformats.org/officeDocument/2006/relationships/image" Target="../media/image221.png"/><Relationship Id="rId4" Type="http://schemas.openxmlformats.org/officeDocument/2006/relationships/image" Target="../media/image244.png"/><Relationship Id="rId5" Type="http://schemas.openxmlformats.org/officeDocument/2006/relationships/image" Target="../media/image253.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 Id="rId3" Type="http://schemas.openxmlformats.org/officeDocument/2006/relationships/image" Target="../media/image258.jpg"/><Relationship Id="rId4" Type="http://schemas.openxmlformats.org/officeDocument/2006/relationships/image" Target="../media/image263.jpg"/><Relationship Id="rId5" Type="http://schemas.openxmlformats.org/officeDocument/2006/relationships/image" Target="../media/image262.jpg"/><Relationship Id="rId6" Type="http://schemas.openxmlformats.org/officeDocument/2006/relationships/image" Target="../media/image267.png"/><Relationship Id="rId7" Type="http://schemas.openxmlformats.org/officeDocument/2006/relationships/image" Target="../media/image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9.png"/><Relationship Id="rId4" Type="http://schemas.openxmlformats.org/officeDocument/2006/relationships/image" Target="../media/image275.jpg"/><Relationship Id="rId5" Type="http://schemas.openxmlformats.org/officeDocument/2006/relationships/image" Target="../media/image256.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 Id="rId3" Type="http://schemas.openxmlformats.org/officeDocument/2006/relationships/image" Target="../media/image9.png"/><Relationship Id="rId4" Type="http://schemas.openxmlformats.org/officeDocument/2006/relationships/image" Target="../media/image268.jpg"/><Relationship Id="rId5" Type="http://schemas.openxmlformats.org/officeDocument/2006/relationships/image" Target="../media/image264.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9.png"/><Relationship Id="rId4" Type="http://schemas.openxmlformats.org/officeDocument/2006/relationships/image" Target="../media/image266.jpg"/><Relationship Id="rId5" Type="http://schemas.openxmlformats.org/officeDocument/2006/relationships/image" Target="../media/image277.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9.png"/><Relationship Id="rId4" Type="http://schemas.openxmlformats.org/officeDocument/2006/relationships/image" Target="../media/image270.jpg"/><Relationship Id="rId5" Type="http://schemas.openxmlformats.org/officeDocument/2006/relationships/image" Target="../media/image269.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9.png"/><Relationship Id="rId4" Type="http://schemas.openxmlformats.org/officeDocument/2006/relationships/image" Target="../media/image276.jpg"/><Relationship Id="rId5" Type="http://schemas.openxmlformats.org/officeDocument/2006/relationships/image" Target="../media/image280.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 Id="rId3" Type="http://schemas.openxmlformats.org/officeDocument/2006/relationships/image" Target="../media/image9.png"/><Relationship Id="rId4" Type="http://schemas.openxmlformats.org/officeDocument/2006/relationships/image" Target="../media/image278.jpg"/><Relationship Id="rId5" Type="http://schemas.openxmlformats.org/officeDocument/2006/relationships/image" Target="../media/image27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9.png"/><Relationship Id="rId4" Type="http://schemas.openxmlformats.org/officeDocument/2006/relationships/image" Target="../media/image274.jpg"/><Relationship Id="rId5" Type="http://schemas.openxmlformats.org/officeDocument/2006/relationships/image" Target="../media/image279.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 Id="rId3" Type="http://schemas.openxmlformats.org/officeDocument/2006/relationships/image" Target="../media/image9.png"/><Relationship Id="rId4" Type="http://schemas.openxmlformats.org/officeDocument/2006/relationships/image" Target="../media/image272.png"/><Relationship Id="rId5" Type="http://schemas.openxmlformats.org/officeDocument/2006/relationships/image" Target="../media/image221.png"/><Relationship Id="rId6" Type="http://schemas.openxmlformats.org/officeDocument/2006/relationships/image" Target="../media/image283.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 Id="rId3" Type="http://schemas.openxmlformats.org/officeDocument/2006/relationships/image" Target="../media/image9.png"/><Relationship Id="rId4" Type="http://schemas.openxmlformats.org/officeDocument/2006/relationships/image" Target="../media/image282.jpg"/><Relationship Id="rId5" Type="http://schemas.openxmlformats.org/officeDocument/2006/relationships/image" Target="../media/image28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 Id="rId3" Type="http://schemas.openxmlformats.org/officeDocument/2006/relationships/image" Target="../media/image314.png"/><Relationship Id="rId4" Type="http://schemas.openxmlformats.org/officeDocument/2006/relationships/image" Target="../media/image286.png"/><Relationship Id="rId5" Type="http://schemas.openxmlformats.org/officeDocument/2006/relationships/image" Target="../media/image28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 Id="rId3" Type="http://schemas.openxmlformats.org/officeDocument/2006/relationships/image" Target="../media/image295.png"/><Relationship Id="rId4" Type="http://schemas.openxmlformats.org/officeDocument/2006/relationships/image" Target="../media/image28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29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 Id="rId3" Type="http://schemas.openxmlformats.org/officeDocument/2006/relationships/image" Target="../media/image297.png"/><Relationship Id="rId4" Type="http://schemas.openxmlformats.org/officeDocument/2006/relationships/hyperlink" Target="https://ksotokpi.lovable.app/" TargetMode="External"/></Relationships>
</file>

<file path=ppt/slides/_rels/slide93.xml.rels><?xml version="1.0" encoding="UTF-8" standalone="yes"?><Relationships xmlns="http://schemas.openxmlformats.org/package/2006/relationships"><Relationship Id="rId20" Type="http://schemas.openxmlformats.org/officeDocument/2006/relationships/image" Target="../media/image301.png"/><Relationship Id="rId22" Type="http://schemas.openxmlformats.org/officeDocument/2006/relationships/image" Target="../media/image158.png"/><Relationship Id="rId21" Type="http://schemas.openxmlformats.org/officeDocument/2006/relationships/image" Target="../media/image62.png"/><Relationship Id="rId24" Type="http://schemas.openxmlformats.org/officeDocument/2006/relationships/image" Target="../media/image63.png"/><Relationship Id="rId23" Type="http://schemas.openxmlformats.org/officeDocument/2006/relationships/image" Target="../media/image61.png"/><Relationship Id="rId1" Type="http://schemas.openxmlformats.org/officeDocument/2006/relationships/slideLayout" Target="../slideLayouts/slideLayout12.xml"/><Relationship Id="rId2" Type="http://schemas.openxmlformats.org/officeDocument/2006/relationships/notesSlide" Target="../notesSlides/notesSlide93.xml"/><Relationship Id="rId3" Type="http://schemas.openxmlformats.org/officeDocument/2006/relationships/image" Target="../media/image9.png"/><Relationship Id="rId4" Type="http://schemas.openxmlformats.org/officeDocument/2006/relationships/image" Target="../media/image221.png"/><Relationship Id="rId9" Type="http://schemas.openxmlformats.org/officeDocument/2006/relationships/image" Target="../media/image305.png"/><Relationship Id="rId26" Type="http://schemas.openxmlformats.org/officeDocument/2006/relationships/image" Target="../media/image72.png"/><Relationship Id="rId25" Type="http://schemas.openxmlformats.org/officeDocument/2006/relationships/image" Target="../media/image71.png"/><Relationship Id="rId28" Type="http://schemas.openxmlformats.org/officeDocument/2006/relationships/image" Target="../media/image67.png"/><Relationship Id="rId27" Type="http://schemas.openxmlformats.org/officeDocument/2006/relationships/image" Target="../media/image69.png"/><Relationship Id="rId5" Type="http://schemas.openxmlformats.org/officeDocument/2006/relationships/image" Target="../media/image289.png"/><Relationship Id="rId6" Type="http://schemas.openxmlformats.org/officeDocument/2006/relationships/image" Target="../media/image293.png"/><Relationship Id="rId29" Type="http://schemas.openxmlformats.org/officeDocument/2006/relationships/image" Target="../media/image136.png"/><Relationship Id="rId7" Type="http://schemas.openxmlformats.org/officeDocument/2006/relationships/image" Target="../media/image65.png"/><Relationship Id="rId8" Type="http://schemas.openxmlformats.org/officeDocument/2006/relationships/image" Target="../media/image324.png"/><Relationship Id="rId30" Type="http://schemas.openxmlformats.org/officeDocument/2006/relationships/image" Target="../media/image312.png"/><Relationship Id="rId11" Type="http://schemas.openxmlformats.org/officeDocument/2006/relationships/image" Target="../media/image327.png"/><Relationship Id="rId10" Type="http://schemas.openxmlformats.org/officeDocument/2006/relationships/image" Target="../media/image49.png"/><Relationship Id="rId13" Type="http://schemas.openxmlformats.org/officeDocument/2006/relationships/image" Target="../media/image118.png"/><Relationship Id="rId12" Type="http://schemas.openxmlformats.org/officeDocument/2006/relationships/image" Target="../media/image93.png"/><Relationship Id="rId15" Type="http://schemas.openxmlformats.org/officeDocument/2006/relationships/image" Target="../media/image59.png"/><Relationship Id="rId14" Type="http://schemas.openxmlformats.org/officeDocument/2006/relationships/image" Target="../media/image57.png"/><Relationship Id="rId17" Type="http://schemas.openxmlformats.org/officeDocument/2006/relationships/image" Target="../media/image82.png"/><Relationship Id="rId16" Type="http://schemas.openxmlformats.org/officeDocument/2006/relationships/image" Target="../media/image68.png"/><Relationship Id="rId19" Type="http://schemas.openxmlformats.org/officeDocument/2006/relationships/image" Target="../media/image124.png"/><Relationship Id="rId18" Type="http://schemas.openxmlformats.org/officeDocument/2006/relationships/image" Target="../media/image14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 Id="rId3" Type="http://schemas.openxmlformats.org/officeDocument/2006/relationships/image" Target="../media/image320.png"/><Relationship Id="rId4" Type="http://schemas.openxmlformats.org/officeDocument/2006/relationships/image" Target="../media/image315.jpg"/><Relationship Id="rId5" Type="http://schemas.openxmlformats.org/officeDocument/2006/relationships/image" Target="../media/image323.jpg"/><Relationship Id="rId6" Type="http://schemas.openxmlformats.org/officeDocument/2006/relationships/image" Target="../media/image328.jpg"/><Relationship Id="rId7" Type="http://schemas.openxmlformats.org/officeDocument/2006/relationships/image" Target="../media/image22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 Id="rId3" Type="http://schemas.openxmlformats.org/officeDocument/2006/relationships/image" Target="../media/image320.png"/><Relationship Id="rId4" Type="http://schemas.openxmlformats.org/officeDocument/2006/relationships/image" Target="../media/image9.png"/><Relationship Id="rId5" Type="http://schemas.openxmlformats.org/officeDocument/2006/relationships/image" Target="../media/image2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58" name="Shape 158"/>
        <p:cNvGrpSpPr/>
        <p:nvPr/>
      </p:nvGrpSpPr>
      <p:grpSpPr>
        <a:xfrm>
          <a:off x="0" y="0"/>
          <a:ext cx="0" cy="0"/>
          <a:chOff x="0" y="0"/>
          <a:chExt cx="0" cy="0"/>
        </a:xfrm>
      </p:grpSpPr>
      <p:pic>
        <p:nvPicPr>
          <p:cNvPr descr="logo_white.png" id="159" name="Google Shape;159;h69a5e3ff789ebc32_1_949"/>
          <p:cNvPicPr preferRelativeResize="0"/>
          <p:nvPr/>
        </p:nvPicPr>
        <p:blipFill rotWithShape="1">
          <a:blip r:embed="rId3">
            <a:alphaModFix/>
          </a:blip>
          <a:srcRect b="0" l="0" r="0" t="0"/>
          <a:stretch/>
        </p:blipFill>
        <p:spPr>
          <a:xfrm>
            <a:off x="640080" y="502920"/>
            <a:ext cx="1941037" cy="384048"/>
          </a:xfrm>
          <a:prstGeom prst="rect">
            <a:avLst/>
          </a:prstGeom>
          <a:noFill/>
          <a:ln>
            <a:noFill/>
          </a:ln>
        </p:spPr>
      </p:pic>
      <p:sp>
        <p:nvSpPr>
          <p:cNvPr id="160" name="Google Shape;160;h69a5e3ff789ebc32_1_949"/>
          <p:cNvSpPr txBox="1"/>
          <p:nvPr/>
        </p:nvSpPr>
        <p:spPr>
          <a:xfrm>
            <a:off x="640080" y="1417320"/>
            <a:ext cx="63093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400" u="none" cap="none" strike="noStrike">
                <a:solidFill>
                  <a:srgbClr val="FFC00C"/>
                </a:solidFill>
                <a:latin typeface="Montserrat"/>
                <a:ea typeface="Montserrat"/>
                <a:cs typeface="Montserrat"/>
                <a:sym typeface="Montserrat"/>
              </a:rPr>
              <a:t>PROPOSAL TEKNIS</a:t>
            </a:r>
            <a:endParaRPr/>
          </a:p>
        </p:txBody>
      </p:sp>
      <p:sp>
        <p:nvSpPr>
          <p:cNvPr id="161" name="Google Shape;161;h69a5e3ff789ebc32_1_949"/>
          <p:cNvSpPr txBox="1"/>
          <p:nvPr/>
        </p:nvSpPr>
        <p:spPr>
          <a:xfrm>
            <a:off x="640080" y="1828800"/>
            <a:ext cx="6309300" cy="15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400" u="none" cap="none" strike="noStrike">
                <a:solidFill>
                  <a:srgbClr val="FFFFFF"/>
                </a:solidFill>
                <a:latin typeface="Montserrat ExtraBold"/>
                <a:ea typeface="Montserrat ExtraBold"/>
                <a:cs typeface="Montserrat ExtraBold"/>
                <a:sym typeface="Montserrat ExtraBold"/>
              </a:rPr>
              <a:t>Mitra Pelaksana Program Pendampingan Teknis LPTK Penyelenggara PPG</a:t>
            </a:r>
            <a:endParaRPr/>
          </a:p>
        </p:txBody>
      </p:sp>
      <p:sp>
        <p:nvSpPr>
          <p:cNvPr id="162" name="Google Shape;162;h69a5e3ff789ebc32_1_949"/>
          <p:cNvSpPr txBox="1"/>
          <p:nvPr/>
        </p:nvSpPr>
        <p:spPr>
          <a:xfrm>
            <a:off x="640080" y="4160520"/>
            <a:ext cx="6035100" cy="51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u="none" cap="none" strike="noStrike">
                <a:solidFill>
                  <a:srgbClr val="FFFFFF"/>
                </a:solidFill>
                <a:latin typeface="Montserrat Medium"/>
                <a:ea typeface="Montserrat Medium"/>
                <a:cs typeface="Montserrat Medium"/>
                <a:sym typeface="Montserrat Medium"/>
              </a:rPr>
              <a:t>Menuju Akreditasi Unggul: dari rencana tindak lanjut ke bukti yang siap diakreditasi</a:t>
            </a:r>
            <a:endParaRPr/>
          </a:p>
        </p:txBody>
      </p:sp>
      <p:sp>
        <p:nvSpPr>
          <p:cNvPr id="163" name="Google Shape;163;h69a5e3ff789ebc32_1_949"/>
          <p:cNvSpPr/>
          <p:nvPr/>
        </p:nvSpPr>
        <p:spPr>
          <a:xfrm>
            <a:off x="640080" y="5029200"/>
            <a:ext cx="5852100" cy="548700"/>
          </a:xfrm>
          <a:prstGeom prst="roundRect">
            <a:avLst>
              <a:gd fmla="val 500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h69a5e3ff789ebc32_1_949"/>
          <p:cNvSpPr txBox="1"/>
          <p:nvPr/>
        </p:nvSpPr>
        <p:spPr>
          <a:xfrm>
            <a:off x="640080" y="5195850"/>
            <a:ext cx="5852100" cy="2154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400">
                <a:solidFill>
                  <a:srgbClr val="FFFFFF"/>
                </a:solidFill>
                <a:latin typeface="Montserrat"/>
                <a:ea typeface="Montserrat"/>
                <a:cs typeface="Montserrat"/>
                <a:sym typeface="Montserrat"/>
              </a:rPr>
              <a:t>12 LPTK  ·  5 Provinsi  ·  6 Oktober – 31 Desember 2026</a:t>
            </a:r>
            <a:endParaRPr/>
          </a:p>
        </p:txBody>
      </p:sp>
      <p:sp>
        <p:nvSpPr>
          <p:cNvPr id="165" name="Google Shape;165;h69a5e3ff789ebc32_1_949"/>
          <p:cNvSpPr txBox="1"/>
          <p:nvPr/>
        </p:nvSpPr>
        <p:spPr>
          <a:xfrm>
            <a:off x="640080" y="5760720"/>
            <a:ext cx="6035100" cy="415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B0C0CF"/>
                </a:solidFill>
                <a:latin typeface="Montserrat"/>
                <a:ea typeface="Montserrat"/>
                <a:cs typeface="Montserrat"/>
                <a:sym typeface="Montserrat"/>
              </a:rPr>
              <a:t>Untuk: </a:t>
            </a:r>
            <a:r>
              <a:rPr b="1" i="0" lang="en-US" sz="1300">
                <a:solidFill>
                  <a:srgbClr val="FFFFFF"/>
                </a:solidFill>
                <a:latin typeface="Montserrat"/>
                <a:ea typeface="Montserrat"/>
                <a:cs typeface="Montserrat"/>
                <a:sym typeface="Montserrat"/>
              </a:rPr>
              <a:t>Tanoto Foundation</a:t>
            </a:r>
            <a:endParaRPr/>
          </a:p>
          <a:p>
            <a:pPr indent="0" lvl="0" marL="0" marR="0" rtl="0" algn="l">
              <a:lnSpc>
                <a:spcPct val="110000"/>
              </a:lnSpc>
              <a:spcBef>
                <a:spcPts val="200"/>
              </a:spcBef>
              <a:spcAft>
                <a:spcPts val="0"/>
              </a:spcAft>
              <a:buNone/>
            </a:pPr>
            <a:r>
              <a:rPr b="0" i="0" lang="en-US" sz="1100">
                <a:solidFill>
                  <a:srgbClr val="B0C0CF"/>
                </a:solidFill>
                <a:latin typeface="Montserrat"/>
                <a:ea typeface="Montserrat"/>
                <a:cs typeface="Montserrat"/>
                <a:sym typeface="Montserrat"/>
              </a:rPr>
              <a:t>RFP No. 0648/TF-JKT/VIII/2026  ·  Diajukan 30 September 2026</a:t>
            </a:r>
            <a:endParaRPr/>
          </a:p>
        </p:txBody>
      </p:sp>
      <p:pic>
        <p:nvPicPr>
          <p:cNvPr descr="cache_image3_229x300.jpg" id="166" name="Google Shape;166;h69a5e3ff789ebc32_1_949"/>
          <p:cNvPicPr preferRelativeResize="0"/>
          <p:nvPr/>
        </p:nvPicPr>
        <p:blipFill rotWithShape="1">
          <a:blip r:embed="rId4">
            <a:alphaModFix/>
          </a:blip>
          <a:srcRect b="0" l="0" r="0" t="0"/>
          <a:stretch/>
        </p:blipFill>
        <p:spPr>
          <a:xfrm rot="360104">
            <a:off x="7589488" y="320069"/>
            <a:ext cx="2103128" cy="2743233"/>
          </a:xfrm>
          <a:prstGeom prst="roundRect">
            <a:avLst>
              <a:gd fmla="val 16667" name="adj"/>
            </a:avLst>
          </a:prstGeom>
          <a:noFill/>
          <a:ln>
            <a:noFill/>
          </a:ln>
        </p:spPr>
      </p:pic>
      <p:pic>
        <p:nvPicPr>
          <p:cNvPr descr="cache_image37_229x290.jpg" id="167" name="Google Shape;167;h69a5e3ff789ebc32_1_949"/>
          <p:cNvPicPr preferRelativeResize="0"/>
          <p:nvPr/>
        </p:nvPicPr>
        <p:blipFill rotWithShape="1">
          <a:blip r:embed="rId5">
            <a:alphaModFix/>
          </a:blip>
          <a:srcRect b="0" l="0" r="0" t="0"/>
          <a:stretch/>
        </p:blipFill>
        <p:spPr>
          <a:xfrm rot="-299990">
            <a:off x="9646862" y="685805"/>
            <a:ext cx="2103203" cy="2651880"/>
          </a:xfrm>
          <a:prstGeom prst="roundRect">
            <a:avLst>
              <a:gd fmla="val 16667" name="adj"/>
            </a:avLst>
          </a:prstGeom>
          <a:noFill/>
          <a:ln>
            <a:noFill/>
          </a:ln>
        </p:spPr>
      </p:pic>
      <p:pic>
        <p:nvPicPr>
          <p:cNvPr descr="cache_image124_250x290.jpg" id="168" name="Google Shape;168;h69a5e3ff789ebc32_1_949"/>
          <p:cNvPicPr preferRelativeResize="0"/>
          <p:nvPr/>
        </p:nvPicPr>
        <p:blipFill rotWithShape="1">
          <a:blip r:embed="rId6">
            <a:alphaModFix/>
          </a:blip>
          <a:srcRect b="0" l="0" r="0" t="0"/>
          <a:stretch/>
        </p:blipFill>
        <p:spPr>
          <a:xfrm rot="-360233">
            <a:off x="7315200" y="3291765"/>
            <a:ext cx="2285939" cy="2651828"/>
          </a:xfrm>
          <a:prstGeom prst="roundRect">
            <a:avLst>
              <a:gd fmla="val 16667" name="adj"/>
            </a:avLst>
          </a:prstGeom>
          <a:noFill/>
          <a:ln>
            <a:noFill/>
          </a:ln>
        </p:spPr>
      </p:pic>
      <p:pic>
        <p:nvPicPr>
          <p:cNvPr descr="cache_image6_250x290.jpg" id="169" name="Google Shape;169;h69a5e3ff789ebc32_1_949"/>
          <p:cNvPicPr preferRelativeResize="0"/>
          <p:nvPr/>
        </p:nvPicPr>
        <p:blipFill rotWithShape="1">
          <a:blip r:embed="rId7">
            <a:alphaModFix/>
          </a:blip>
          <a:srcRect b="0" l="0" r="0" t="0"/>
          <a:stretch/>
        </p:blipFill>
        <p:spPr>
          <a:xfrm rot="299943">
            <a:off x="9509820" y="3611866"/>
            <a:ext cx="2285996" cy="265188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173" name="Shape 173"/>
        <p:cNvGrpSpPr/>
        <p:nvPr/>
      </p:nvGrpSpPr>
      <p:grpSpPr>
        <a:xfrm>
          <a:off x="0" y="0"/>
          <a:ext cx="0" cy="0"/>
          <a:chOff x="0" y="0"/>
          <a:chExt cx="0" cy="0"/>
        </a:xfrm>
      </p:grpSpPr>
      <p:sp>
        <p:nvSpPr>
          <p:cNvPr id="174" name="Google Shape;174;h2fef75e91d461226_11_370"/>
          <p:cNvSpPr/>
          <p:nvPr/>
        </p:nvSpPr>
        <p:spPr>
          <a:xfrm>
            <a:off x="-1749211" y="-2255855"/>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3">
              <a:alphaModFix amt="9000"/>
            </a:blip>
            <a:stretch>
              <a:fillRect b="0" l="0" r="0" t="0"/>
            </a:stretch>
          </a:blipFill>
          <a:ln>
            <a:noFill/>
          </a:ln>
        </p:spPr>
      </p:sp>
      <p:grpSp>
        <p:nvGrpSpPr>
          <p:cNvPr id="175" name="Google Shape;175;h2fef75e91d461226_11_370"/>
          <p:cNvGrpSpPr/>
          <p:nvPr/>
        </p:nvGrpSpPr>
        <p:grpSpPr>
          <a:xfrm>
            <a:off x="450445" y="262511"/>
            <a:ext cx="2311422" cy="1159358"/>
            <a:chOff x="0" y="-38100"/>
            <a:chExt cx="1180200" cy="591962"/>
          </a:xfrm>
        </p:grpSpPr>
        <p:sp>
          <p:nvSpPr>
            <p:cNvPr id="176" name="Google Shape;176;h2fef75e91d461226_11_370"/>
            <p:cNvSpPr/>
            <p:nvPr/>
          </p:nvSpPr>
          <p:spPr>
            <a:xfrm>
              <a:off x="0" y="0"/>
              <a:ext cx="1180190" cy="553862"/>
            </a:xfrm>
            <a:custGeom>
              <a:rect b="b" l="l" r="r" t="t"/>
              <a:pathLst>
                <a:path extrusionOk="0" h="553862" w="1180190">
                  <a:moveTo>
                    <a:pt x="113883" y="0"/>
                  </a:moveTo>
                  <a:lnTo>
                    <a:pt x="1066307" y="0"/>
                  </a:lnTo>
                  <a:cubicBezTo>
                    <a:pt x="1096510" y="0"/>
                    <a:pt x="1125477" y="11998"/>
                    <a:pt x="1146834" y="33356"/>
                  </a:cubicBezTo>
                  <a:cubicBezTo>
                    <a:pt x="1168191" y="54713"/>
                    <a:pt x="1180190" y="83679"/>
                    <a:pt x="1180190" y="113883"/>
                  </a:cubicBezTo>
                  <a:lnTo>
                    <a:pt x="1180190" y="439979"/>
                  </a:lnTo>
                  <a:cubicBezTo>
                    <a:pt x="1180190" y="470182"/>
                    <a:pt x="1168191" y="499149"/>
                    <a:pt x="1146834" y="520506"/>
                  </a:cubicBezTo>
                  <a:cubicBezTo>
                    <a:pt x="1125477" y="541863"/>
                    <a:pt x="1096510" y="553862"/>
                    <a:pt x="1066307" y="553862"/>
                  </a:cubicBezTo>
                  <a:lnTo>
                    <a:pt x="113883" y="553862"/>
                  </a:lnTo>
                  <a:cubicBezTo>
                    <a:pt x="83679" y="553862"/>
                    <a:pt x="54713" y="541863"/>
                    <a:pt x="33356" y="520506"/>
                  </a:cubicBezTo>
                  <a:cubicBezTo>
                    <a:pt x="11998" y="499149"/>
                    <a:pt x="0" y="470182"/>
                    <a:pt x="0" y="439979"/>
                  </a:cubicBezTo>
                  <a:lnTo>
                    <a:pt x="0" y="113883"/>
                  </a:lnTo>
                  <a:cubicBezTo>
                    <a:pt x="0" y="83679"/>
                    <a:pt x="11998" y="54713"/>
                    <a:pt x="33356" y="33356"/>
                  </a:cubicBezTo>
                  <a:cubicBezTo>
                    <a:pt x="54713" y="11998"/>
                    <a:pt x="83679" y="0"/>
                    <a:pt x="113883"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77" name="Google Shape;177;h2fef75e91d461226_11_370"/>
            <p:cNvSpPr txBox="1"/>
            <p:nvPr/>
          </p:nvSpPr>
          <p:spPr>
            <a:xfrm>
              <a:off x="0" y="-38100"/>
              <a:ext cx="1180200" cy="591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8" name="Google Shape;178;h2fef75e91d461226_11_370"/>
          <p:cNvSpPr/>
          <p:nvPr/>
        </p:nvSpPr>
        <p:spPr>
          <a:xfrm rot="1547762">
            <a:off x="7501222" y="1889589"/>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4">
              <a:alphaModFix amt="5000"/>
            </a:blip>
            <a:stretch>
              <a:fillRect b="0" l="0" r="-364404" t="0"/>
            </a:stretch>
          </a:blipFill>
          <a:ln>
            <a:noFill/>
          </a:ln>
        </p:spPr>
      </p:sp>
      <p:sp>
        <p:nvSpPr>
          <p:cNvPr id="179" name="Google Shape;179;h2fef75e91d461226_11_370"/>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4">
              <a:alphaModFix amt="5000"/>
            </a:blip>
            <a:stretch>
              <a:fillRect b="0" l="0" r="-408725" t="0"/>
            </a:stretch>
          </a:blipFill>
          <a:ln>
            <a:noFill/>
          </a:ln>
        </p:spPr>
      </p:sp>
      <p:sp>
        <p:nvSpPr>
          <p:cNvPr id="180" name="Google Shape;180;h2fef75e91d461226_11_370"/>
          <p:cNvSpPr/>
          <p:nvPr/>
        </p:nvSpPr>
        <p:spPr>
          <a:xfrm rot="3210947">
            <a:off x="-1189725" y="4596262"/>
            <a:ext cx="4890322" cy="2445161"/>
          </a:xfrm>
          <a:custGeom>
            <a:rect b="b" l="l" r="r" t="t"/>
            <a:pathLst>
              <a:path extrusionOk="0" h="3657600" w="7315200">
                <a:moveTo>
                  <a:pt x="0" y="0"/>
                </a:moveTo>
                <a:lnTo>
                  <a:pt x="7315200" y="0"/>
                </a:lnTo>
                <a:lnTo>
                  <a:pt x="7315200" y="3657600"/>
                </a:lnTo>
                <a:lnTo>
                  <a:pt x="0" y="3657600"/>
                </a:lnTo>
                <a:lnTo>
                  <a:pt x="0" y="0"/>
                </a:lnTo>
                <a:close/>
              </a:path>
            </a:pathLst>
          </a:custGeom>
          <a:blipFill rotWithShape="1">
            <a:blip r:embed="rId5">
              <a:alphaModFix amt="13000"/>
            </a:blip>
            <a:stretch>
              <a:fillRect b="0" l="0" r="0" t="0"/>
            </a:stretch>
          </a:blipFill>
          <a:ln>
            <a:noFill/>
          </a:ln>
        </p:spPr>
      </p:sp>
      <p:grpSp>
        <p:nvGrpSpPr>
          <p:cNvPr id="181" name="Google Shape;181;h2fef75e91d461226_11_370"/>
          <p:cNvGrpSpPr/>
          <p:nvPr/>
        </p:nvGrpSpPr>
        <p:grpSpPr>
          <a:xfrm>
            <a:off x="435832" y="651780"/>
            <a:ext cx="7081548" cy="5492344"/>
            <a:chOff x="0" y="-57150"/>
            <a:chExt cx="3272132" cy="2537700"/>
          </a:xfrm>
        </p:grpSpPr>
        <p:sp>
          <p:nvSpPr>
            <p:cNvPr id="182" name="Google Shape;182;h2fef75e91d461226_11_370"/>
            <p:cNvSpPr/>
            <p:nvPr/>
          </p:nvSpPr>
          <p:spPr>
            <a:xfrm>
              <a:off x="0" y="0"/>
              <a:ext cx="3272132" cy="2480453"/>
            </a:xfrm>
            <a:custGeom>
              <a:rect b="b" l="l" r="r" t="t"/>
              <a:pathLst>
                <a:path extrusionOk="0" h="2480453" w="3272132">
                  <a:moveTo>
                    <a:pt x="26966" y="0"/>
                  </a:moveTo>
                  <a:lnTo>
                    <a:pt x="3245166" y="0"/>
                  </a:lnTo>
                  <a:cubicBezTo>
                    <a:pt x="3252317" y="0"/>
                    <a:pt x="3259176" y="2841"/>
                    <a:pt x="3264234" y="7898"/>
                  </a:cubicBezTo>
                  <a:cubicBezTo>
                    <a:pt x="3269291" y="12955"/>
                    <a:pt x="3272132" y="19814"/>
                    <a:pt x="3272132" y="26966"/>
                  </a:cubicBezTo>
                  <a:lnTo>
                    <a:pt x="3272132" y="2453487"/>
                  </a:lnTo>
                  <a:cubicBezTo>
                    <a:pt x="3272132" y="2460639"/>
                    <a:pt x="3269291" y="2467497"/>
                    <a:pt x="3264234" y="2472555"/>
                  </a:cubicBezTo>
                  <a:cubicBezTo>
                    <a:pt x="3259176" y="2477612"/>
                    <a:pt x="3252317" y="2480453"/>
                    <a:pt x="3245166" y="2480453"/>
                  </a:cubicBezTo>
                  <a:lnTo>
                    <a:pt x="26966" y="2480453"/>
                  </a:lnTo>
                  <a:cubicBezTo>
                    <a:pt x="19814" y="2480453"/>
                    <a:pt x="12955" y="2477612"/>
                    <a:pt x="7898" y="2472555"/>
                  </a:cubicBezTo>
                  <a:cubicBezTo>
                    <a:pt x="2841" y="2467497"/>
                    <a:pt x="0" y="2460639"/>
                    <a:pt x="0" y="2453487"/>
                  </a:cubicBezTo>
                  <a:lnTo>
                    <a:pt x="0" y="26966"/>
                  </a:lnTo>
                  <a:cubicBezTo>
                    <a:pt x="0" y="19814"/>
                    <a:pt x="2841" y="12955"/>
                    <a:pt x="7898" y="7898"/>
                  </a:cubicBezTo>
                  <a:cubicBezTo>
                    <a:pt x="12955" y="2841"/>
                    <a:pt x="19814" y="0"/>
                    <a:pt x="26966" y="0"/>
                  </a:cubicBezTo>
                  <a:close/>
                </a:path>
              </a:pathLst>
            </a:custGeom>
            <a:solidFill>
              <a:srgbClr val="FFFFFF"/>
            </a:solidFill>
            <a:ln cap="rnd" cmpd="sng" w="1397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83" name="Google Shape;183;h2fef75e91d461226_11_370"/>
            <p:cNvSpPr txBox="1"/>
            <p:nvPr/>
          </p:nvSpPr>
          <p:spPr>
            <a:xfrm>
              <a:off x="0" y="-57150"/>
              <a:ext cx="3272100" cy="2537700"/>
            </a:xfrm>
            <a:prstGeom prst="rect">
              <a:avLst/>
            </a:prstGeom>
            <a:noFill/>
            <a:ln>
              <a:noFill/>
            </a:ln>
          </p:spPr>
          <p:txBody>
            <a:bodyPr anchorCtr="0" anchor="ctr" bIns="33625" lIns="33625" spcFirstLastPara="1" rIns="33625" wrap="square" tIns="33625">
              <a:noAutofit/>
            </a:bodyPr>
            <a:lstStyle/>
            <a:p>
              <a:pPr indent="0" lvl="0" marL="0" marR="0" rtl="0" algn="ctr">
                <a:lnSpc>
                  <a:spcPct val="1115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4" name="Google Shape;184;h2fef75e91d461226_11_370"/>
          <p:cNvSpPr/>
          <p:nvPr/>
        </p:nvSpPr>
        <p:spPr>
          <a:xfrm>
            <a:off x="3065788" y="3371050"/>
            <a:ext cx="1824023" cy="339254"/>
          </a:xfrm>
          <a:custGeom>
            <a:rect b="b" l="l" r="r" t="t"/>
            <a:pathLst>
              <a:path extrusionOk="0" h="508246" w="2732618">
                <a:moveTo>
                  <a:pt x="0" y="0"/>
                </a:moveTo>
                <a:lnTo>
                  <a:pt x="2732618" y="0"/>
                </a:lnTo>
                <a:lnTo>
                  <a:pt x="2732618" y="508246"/>
                </a:lnTo>
                <a:lnTo>
                  <a:pt x="0" y="508246"/>
                </a:lnTo>
                <a:lnTo>
                  <a:pt x="0" y="0"/>
                </a:lnTo>
                <a:close/>
              </a:path>
            </a:pathLst>
          </a:custGeom>
          <a:blipFill rotWithShape="1">
            <a:blip r:embed="rId6">
              <a:alphaModFix/>
            </a:blip>
            <a:stretch>
              <a:fillRect b="-14271" l="-1720" r="-1730" t="-13660"/>
            </a:stretch>
          </a:blipFill>
          <a:ln>
            <a:noFill/>
          </a:ln>
        </p:spPr>
      </p:sp>
      <p:grpSp>
        <p:nvGrpSpPr>
          <p:cNvPr id="185" name="Google Shape;185;h2fef75e91d461226_11_370"/>
          <p:cNvGrpSpPr/>
          <p:nvPr/>
        </p:nvGrpSpPr>
        <p:grpSpPr>
          <a:xfrm>
            <a:off x="8046989" y="5999606"/>
            <a:ext cx="2311363" cy="498935"/>
            <a:chOff x="0" y="-149234"/>
            <a:chExt cx="4622725" cy="997869"/>
          </a:xfrm>
        </p:grpSpPr>
        <p:grpSp>
          <p:nvGrpSpPr>
            <p:cNvPr id="186" name="Google Shape;186;h2fef75e91d461226_11_370"/>
            <p:cNvGrpSpPr/>
            <p:nvPr/>
          </p:nvGrpSpPr>
          <p:grpSpPr>
            <a:xfrm>
              <a:off x="0" y="-149234"/>
              <a:ext cx="4622725" cy="997869"/>
              <a:chOff x="0" y="-38100"/>
              <a:chExt cx="1180200" cy="254760"/>
            </a:xfrm>
          </p:grpSpPr>
          <p:sp>
            <p:nvSpPr>
              <p:cNvPr id="187" name="Google Shape;187;h2fef75e91d461226_11_370"/>
              <p:cNvSpPr/>
              <p:nvPr/>
            </p:nvSpPr>
            <p:spPr>
              <a:xfrm>
                <a:off x="0" y="0"/>
                <a:ext cx="1180190" cy="216660"/>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88" name="Google Shape;188;h2fef75e91d461226_11_370"/>
              <p:cNvSpPr txBox="1"/>
              <p:nvPr/>
            </p:nvSpPr>
            <p:spPr>
              <a:xfrm>
                <a:off x="0" y="-38100"/>
                <a:ext cx="1180200" cy="2547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9" name="Google Shape;189;h2fef75e91d461226_11_370"/>
            <p:cNvSpPr txBox="1"/>
            <p:nvPr/>
          </p:nvSpPr>
          <p:spPr>
            <a:xfrm>
              <a:off x="441589" y="36596"/>
              <a:ext cx="3739500" cy="615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000" u="none" cap="none" strike="noStrike">
                  <a:solidFill>
                    <a:srgbClr val="FFFFFF"/>
                  </a:solidFill>
                  <a:latin typeface="Arial"/>
                  <a:ea typeface="Arial"/>
                  <a:cs typeface="Arial"/>
                  <a:sym typeface="Arial"/>
                </a:rPr>
                <a:t>#TerimaBeres</a:t>
              </a:r>
              <a:endParaRPr sz="900"/>
            </a:p>
          </p:txBody>
        </p:sp>
      </p:grpSp>
      <p:sp>
        <p:nvSpPr>
          <p:cNvPr id="190" name="Google Shape;190;h2fef75e91d461226_11_370"/>
          <p:cNvSpPr txBox="1"/>
          <p:nvPr/>
        </p:nvSpPr>
        <p:spPr>
          <a:xfrm>
            <a:off x="3439385" y="2459829"/>
            <a:ext cx="840000" cy="246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600" u="none" cap="none" strike="noStrike">
                <a:solidFill>
                  <a:srgbClr val="FFFFFF"/>
                </a:solidFill>
                <a:latin typeface="Arial"/>
                <a:ea typeface="Arial"/>
                <a:cs typeface="Arial"/>
                <a:sym typeface="Arial"/>
              </a:rPr>
              <a:t>Finance</a:t>
            </a:r>
            <a:endParaRPr sz="900"/>
          </a:p>
        </p:txBody>
      </p:sp>
      <p:grpSp>
        <p:nvGrpSpPr>
          <p:cNvPr id="191" name="Google Shape;191;h2fef75e91d461226_11_370"/>
          <p:cNvGrpSpPr/>
          <p:nvPr/>
        </p:nvGrpSpPr>
        <p:grpSpPr>
          <a:xfrm>
            <a:off x="1311602" y="1801571"/>
            <a:ext cx="1366510" cy="783814"/>
            <a:chOff x="0" y="0"/>
            <a:chExt cx="7981950" cy="4578350"/>
          </a:xfrm>
        </p:grpSpPr>
        <p:sp>
          <p:nvSpPr>
            <p:cNvPr id="192" name="Google Shape;192;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93" name="Google Shape;193;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94" name="Google Shape;194;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95" name="Google Shape;195;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96" name="Google Shape;196;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7">
                <a:alphaModFix/>
              </a:blip>
              <a:stretch>
                <a:fillRect b="0" l="-8759" r="-8770" t="0"/>
              </a:stretch>
            </a:blipFill>
            <a:ln>
              <a:noFill/>
            </a:ln>
          </p:spPr>
        </p:sp>
      </p:grpSp>
      <p:grpSp>
        <p:nvGrpSpPr>
          <p:cNvPr id="197" name="Google Shape;197;h2fef75e91d461226_11_370"/>
          <p:cNvGrpSpPr/>
          <p:nvPr/>
        </p:nvGrpSpPr>
        <p:grpSpPr>
          <a:xfrm>
            <a:off x="915304" y="3067984"/>
            <a:ext cx="1366510" cy="783814"/>
            <a:chOff x="0" y="0"/>
            <a:chExt cx="7981950" cy="4578350"/>
          </a:xfrm>
        </p:grpSpPr>
        <p:sp>
          <p:nvSpPr>
            <p:cNvPr id="198" name="Google Shape;198;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99" name="Google Shape;199;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0" name="Google Shape;200;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1" name="Google Shape;201;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2" name="Google Shape;202;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8">
                <a:alphaModFix/>
              </a:blip>
              <a:stretch>
                <a:fillRect b="-3230" l="0" r="0" t="-3230"/>
              </a:stretch>
            </a:blipFill>
            <a:ln>
              <a:noFill/>
            </a:ln>
          </p:spPr>
        </p:sp>
      </p:grpSp>
      <p:grpSp>
        <p:nvGrpSpPr>
          <p:cNvPr id="203" name="Google Shape;203;h2fef75e91d461226_11_370"/>
          <p:cNvGrpSpPr/>
          <p:nvPr/>
        </p:nvGrpSpPr>
        <p:grpSpPr>
          <a:xfrm>
            <a:off x="3293263" y="4373980"/>
            <a:ext cx="1366510" cy="783814"/>
            <a:chOff x="0" y="0"/>
            <a:chExt cx="7981950" cy="4578350"/>
          </a:xfrm>
        </p:grpSpPr>
        <p:sp>
          <p:nvSpPr>
            <p:cNvPr id="204" name="Google Shape;204;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5" name="Google Shape;205;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6" name="Google Shape;206;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 name="Google Shape;207;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 name="Google Shape;208;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9">
                <a:alphaModFix/>
              </a:blip>
              <a:stretch>
                <a:fillRect b="-3330" l="0" r="0" t="-3330"/>
              </a:stretch>
            </a:blipFill>
            <a:ln>
              <a:noFill/>
            </a:ln>
          </p:spPr>
        </p:sp>
      </p:grpSp>
      <p:grpSp>
        <p:nvGrpSpPr>
          <p:cNvPr id="209" name="Google Shape;209;h2fef75e91d461226_11_370"/>
          <p:cNvGrpSpPr/>
          <p:nvPr/>
        </p:nvGrpSpPr>
        <p:grpSpPr>
          <a:xfrm>
            <a:off x="3293526" y="1751683"/>
            <a:ext cx="1366510" cy="783814"/>
            <a:chOff x="0" y="0"/>
            <a:chExt cx="7981950" cy="4578350"/>
          </a:xfrm>
        </p:grpSpPr>
        <p:sp>
          <p:nvSpPr>
            <p:cNvPr id="210" name="Google Shape;210;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D2A4E"/>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1" name="Google Shape;211;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2" name="Google Shape;212;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3" name="Google Shape;213;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4" name="Google Shape;214;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10">
                <a:alphaModFix/>
              </a:blip>
              <a:stretch>
                <a:fillRect b="-3330" l="0" r="0" t="-3330"/>
              </a:stretch>
            </a:blipFill>
            <a:ln>
              <a:noFill/>
            </a:ln>
          </p:spPr>
        </p:sp>
      </p:grpSp>
      <p:grpSp>
        <p:nvGrpSpPr>
          <p:cNvPr id="215" name="Google Shape;215;h2fef75e91d461226_11_370"/>
          <p:cNvGrpSpPr/>
          <p:nvPr/>
        </p:nvGrpSpPr>
        <p:grpSpPr>
          <a:xfrm>
            <a:off x="5432949" y="2131763"/>
            <a:ext cx="1366510" cy="783814"/>
            <a:chOff x="0" y="0"/>
            <a:chExt cx="7981950" cy="4578350"/>
          </a:xfrm>
        </p:grpSpPr>
        <p:sp>
          <p:nvSpPr>
            <p:cNvPr id="216" name="Google Shape;216;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7" name="Google Shape;217;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8" name="Google Shape;218;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9" name="Google Shape;219;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0" name="Google Shape;220;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11">
                <a:alphaModFix/>
              </a:blip>
              <a:stretch>
                <a:fillRect b="-3230" l="0" r="0" t="-3230"/>
              </a:stretch>
            </a:blipFill>
            <a:ln>
              <a:noFill/>
            </a:ln>
          </p:spPr>
        </p:sp>
      </p:grpSp>
      <p:grpSp>
        <p:nvGrpSpPr>
          <p:cNvPr id="221" name="Google Shape;221;h2fef75e91d461226_11_370"/>
          <p:cNvGrpSpPr/>
          <p:nvPr/>
        </p:nvGrpSpPr>
        <p:grpSpPr>
          <a:xfrm>
            <a:off x="5432949" y="3941844"/>
            <a:ext cx="1366510" cy="783814"/>
            <a:chOff x="0" y="0"/>
            <a:chExt cx="7981950" cy="4578350"/>
          </a:xfrm>
        </p:grpSpPr>
        <p:sp>
          <p:nvSpPr>
            <p:cNvPr id="222" name="Google Shape;222;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3" name="Google Shape;223;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4" name="Google Shape;224;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5" name="Google Shape;225;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6" name="Google Shape;226;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12">
                <a:alphaModFix/>
              </a:blip>
              <a:stretch>
                <a:fillRect b="-3230" l="0" r="0" t="-3230"/>
              </a:stretch>
            </a:blipFill>
            <a:ln>
              <a:noFill/>
            </a:ln>
          </p:spPr>
        </p:sp>
      </p:grpSp>
      <p:sp>
        <p:nvSpPr>
          <p:cNvPr id="227" name="Google Shape;227;h2fef75e91d461226_11_370"/>
          <p:cNvSpPr/>
          <p:nvPr/>
        </p:nvSpPr>
        <p:spPr>
          <a:xfrm>
            <a:off x="3976636" y="2535352"/>
            <a:ext cx="0" cy="418371"/>
          </a:xfrm>
          <a:custGeom>
            <a:rect b="b" l="l" r="r" t="t"/>
            <a:pathLst>
              <a:path extrusionOk="0" h="626773" w="120000">
                <a:moveTo>
                  <a:pt x="0" y="626774"/>
                </a:moveTo>
                <a:lnTo>
                  <a:pt x="0" y="0"/>
                </a:lnTo>
              </a:path>
            </a:pathLst>
          </a:custGeom>
          <a:noFill/>
          <a:ln cap="rnd" cmpd="sng" w="25400">
            <a:solidFill>
              <a:srgbClr val="092647"/>
            </a:solidFill>
            <a:prstDash val="solid"/>
            <a:round/>
            <a:headEnd len="sm" w="sm" type="none"/>
            <a:tailEnd len="sm" w="sm" type="none"/>
          </a:ln>
        </p:spPr>
      </p:sp>
      <p:sp>
        <p:nvSpPr>
          <p:cNvPr id="228" name="Google Shape;228;h2fef75e91d461226_11_370"/>
          <p:cNvSpPr/>
          <p:nvPr/>
        </p:nvSpPr>
        <p:spPr>
          <a:xfrm>
            <a:off x="4887484" y="2948453"/>
            <a:ext cx="489244" cy="592753"/>
          </a:xfrm>
          <a:custGeom>
            <a:rect b="b" l="l" r="r" t="t"/>
            <a:pathLst>
              <a:path extrusionOk="0" h="888019" w="732950">
                <a:moveTo>
                  <a:pt x="0" y="888019"/>
                </a:moveTo>
                <a:lnTo>
                  <a:pt x="0" y="666015"/>
                </a:lnTo>
                <a:cubicBezTo>
                  <a:pt x="0" y="607135"/>
                  <a:pt x="23390" y="550667"/>
                  <a:pt x="65024" y="509033"/>
                </a:cubicBezTo>
                <a:cubicBezTo>
                  <a:pt x="106658" y="467399"/>
                  <a:pt x="163126" y="444010"/>
                  <a:pt x="222005" y="444010"/>
                </a:cubicBezTo>
                <a:lnTo>
                  <a:pt x="510946" y="444010"/>
                </a:lnTo>
                <a:cubicBezTo>
                  <a:pt x="569824" y="444010"/>
                  <a:pt x="626292" y="420620"/>
                  <a:pt x="667926" y="378986"/>
                </a:cubicBezTo>
                <a:cubicBezTo>
                  <a:pt x="709560" y="337352"/>
                  <a:pt x="732950" y="280884"/>
                  <a:pt x="732950" y="222005"/>
                </a:cubicBezTo>
                <a:lnTo>
                  <a:pt x="732950" y="0"/>
                </a:lnTo>
              </a:path>
            </a:pathLst>
          </a:custGeom>
          <a:noFill/>
          <a:ln cap="rnd"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9" name="Google Shape;229;h2fef75e91d461226_11_370"/>
          <p:cNvSpPr/>
          <p:nvPr/>
        </p:nvSpPr>
        <p:spPr>
          <a:xfrm>
            <a:off x="4887484" y="3540465"/>
            <a:ext cx="515138" cy="1186679"/>
          </a:xfrm>
          <a:custGeom>
            <a:rect b="b" l="l" r="r" t="t"/>
            <a:pathLst>
              <a:path extrusionOk="0" h="1777797" w="771743">
                <a:moveTo>
                  <a:pt x="0" y="0"/>
                </a:moveTo>
                <a:lnTo>
                  <a:pt x="0" y="660299"/>
                </a:lnTo>
                <a:cubicBezTo>
                  <a:pt x="0" y="786551"/>
                  <a:pt x="102348" y="888899"/>
                  <a:pt x="228600" y="888899"/>
                </a:cubicBezTo>
                <a:lnTo>
                  <a:pt x="543143" y="888899"/>
                </a:lnTo>
                <a:cubicBezTo>
                  <a:pt x="669395" y="888899"/>
                  <a:pt x="771743" y="991246"/>
                  <a:pt x="771743" y="1117499"/>
                </a:cubicBezTo>
                <a:lnTo>
                  <a:pt x="771743" y="1777797"/>
                </a:lnTo>
              </a:path>
            </a:pathLst>
          </a:custGeom>
          <a:noFill/>
          <a:ln cap="rnd"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0" name="Google Shape;230;h2fef75e91d461226_11_370"/>
          <p:cNvSpPr/>
          <p:nvPr/>
        </p:nvSpPr>
        <p:spPr>
          <a:xfrm>
            <a:off x="2714576" y="2611108"/>
            <a:ext cx="351660" cy="930519"/>
          </a:xfrm>
          <a:custGeom>
            <a:rect b="b" l="l" r="r" t="t"/>
            <a:pathLst>
              <a:path extrusionOk="0" h="1394036" w="526831">
                <a:moveTo>
                  <a:pt x="526831" y="1394036"/>
                </a:moveTo>
                <a:lnTo>
                  <a:pt x="526831" y="925618"/>
                </a:lnTo>
                <a:cubicBezTo>
                  <a:pt x="526831" y="799366"/>
                  <a:pt x="424484" y="697018"/>
                  <a:pt x="298231" y="697018"/>
                </a:cubicBezTo>
                <a:lnTo>
                  <a:pt x="228600" y="697018"/>
                </a:lnTo>
                <a:cubicBezTo>
                  <a:pt x="102347" y="697018"/>
                  <a:pt x="0" y="594671"/>
                  <a:pt x="0" y="468418"/>
                </a:cubicBezTo>
                <a:lnTo>
                  <a:pt x="0" y="0"/>
                </a:lnTo>
              </a:path>
            </a:pathLst>
          </a:custGeom>
          <a:noFill/>
          <a:ln cap="rnd"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1" name="Google Shape;231;h2fef75e91d461226_11_370"/>
          <p:cNvSpPr/>
          <p:nvPr/>
        </p:nvSpPr>
        <p:spPr>
          <a:xfrm>
            <a:off x="2420428" y="3540465"/>
            <a:ext cx="646183" cy="326345"/>
          </a:xfrm>
          <a:custGeom>
            <a:rect b="b" l="l" r="r" t="t"/>
            <a:pathLst>
              <a:path extrusionOk="0" h="488906" w="968065">
                <a:moveTo>
                  <a:pt x="968065" y="0"/>
                </a:moveTo>
                <a:lnTo>
                  <a:pt x="853765" y="0"/>
                </a:lnTo>
                <a:cubicBezTo>
                  <a:pt x="790639" y="0"/>
                  <a:pt x="739465" y="51174"/>
                  <a:pt x="739465" y="114300"/>
                </a:cubicBezTo>
                <a:lnTo>
                  <a:pt x="739465" y="260307"/>
                </a:lnTo>
                <a:cubicBezTo>
                  <a:pt x="739465" y="386559"/>
                  <a:pt x="637118" y="488907"/>
                  <a:pt x="510865" y="488907"/>
                </a:cubicBezTo>
                <a:lnTo>
                  <a:pt x="0" y="488907"/>
                </a:lnTo>
              </a:path>
            </a:pathLst>
          </a:custGeom>
          <a:noFill/>
          <a:ln cap="rnd"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2" name="Google Shape;232;h2fef75e91d461226_11_370"/>
          <p:cNvSpPr/>
          <p:nvPr/>
        </p:nvSpPr>
        <p:spPr>
          <a:xfrm>
            <a:off x="3976505" y="3709881"/>
            <a:ext cx="131" cy="664929"/>
          </a:xfrm>
          <a:custGeom>
            <a:rect b="b" l="l" r="r" t="t"/>
            <a:pathLst>
              <a:path extrusionOk="0" h="996149" w="196">
                <a:moveTo>
                  <a:pt x="196" y="0"/>
                </a:moveTo>
                <a:lnTo>
                  <a:pt x="196" y="497977"/>
                </a:lnTo>
                <a:cubicBezTo>
                  <a:pt x="196" y="498031"/>
                  <a:pt x="152" y="498075"/>
                  <a:pt x="98" y="498075"/>
                </a:cubicBezTo>
                <a:lnTo>
                  <a:pt x="98" y="498075"/>
                </a:lnTo>
                <a:cubicBezTo>
                  <a:pt x="44" y="498075"/>
                  <a:pt x="0" y="498119"/>
                  <a:pt x="0" y="498173"/>
                </a:cubicBezTo>
                <a:lnTo>
                  <a:pt x="0" y="996149"/>
                </a:lnTo>
              </a:path>
            </a:pathLst>
          </a:custGeom>
          <a:noFill/>
          <a:ln cap="rnd"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grpSp>
        <p:nvGrpSpPr>
          <p:cNvPr id="233" name="Google Shape;233;h2fef75e91d461226_11_370"/>
          <p:cNvGrpSpPr/>
          <p:nvPr/>
        </p:nvGrpSpPr>
        <p:grpSpPr>
          <a:xfrm>
            <a:off x="3256903" y="2394038"/>
            <a:ext cx="1439490" cy="310731"/>
            <a:chOff x="0" y="-92941"/>
            <a:chExt cx="2878980" cy="621462"/>
          </a:xfrm>
        </p:grpSpPr>
        <p:grpSp>
          <p:nvGrpSpPr>
            <p:cNvPr id="234" name="Google Shape;234;h2fef75e91d461226_11_370"/>
            <p:cNvGrpSpPr/>
            <p:nvPr/>
          </p:nvGrpSpPr>
          <p:grpSpPr>
            <a:xfrm>
              <a:off x="0" y="-92941"/>
              <a:ext cx="2878980" cy="621462"/>
              <a:chOff x="0" y="-38100"/>
              <a:chExt cx="1180200" cy="254760"/>
            </a:xfrm>
          </p:grpSpPr>
          <p:sp>
            <p:nvSpPr>
              <p:cNvPr id="235" name="Google Shape;235;h2fef75e91d461226_11_370"/>
              <p:cNvSpPr/>
              <p:nvPr/>
            </p:nvSpPr>
            <p:spPr>
              <a:xfrm>
                <a:off x="0" y="0"/>
                <a:ext cx="1180190" cy="216660"/>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6" name="Google Shape;236;h2fef75e91d461226_11_370"/>
              <p:cNvSpPr txBox="1"/>
              <p:nvPr/>
            </p:nvSpPr>
            <p:spPr>
              <a:xfrm>
                <a:off x="0" y="-38100"/>
                <a:ext cx="1180200" cy="2547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37" name="Google Shape;237;h2fef75e91d461226_11_370"/>
            <p:cNvSpPr txBox="1"/>
            <p:nvPr/>
          </p:nvSpPr>
          <p:spPr>
            <a:xfrm>
              <a:off x="275018" y="-20"/>
              <a:ext cx="2328900" cy="369300"/>
            </a:xfrm>
            <a:prstGeom prst="rect">
              <a:avLst/>
            </a:prstGeom>
            <a:noFill/>
            <a:ln>
              <a:noFill/>
            </a:ln>
          </p:spPr>
          <p:txBody>
            <a:bodyPr anchorCtr="0" anchor="t" bIns="0" lIns="0" spcFirstLastPara="1" rIns="0" wrap="square" tIns="0">
              <a:spAutoFit/>
            </a:bodyPr>
            <a:lstStyle/>
            <a:p>
              <a:pPr indent="0" lvl="0" marL="0" marR="0" rtl="0" algn="ctr">
                <a:lnSpc>
                  <a:spcPct val="150026"/>
                </a:lnSpc>
                <a:spcBef>
                  <a:spcPts val="0"/>
                </a:spcBef>
                <a:spcAft>
                  <a:spcPts val="0"/>
                </a:spcAft>
                <a:buNone/>
              </a:pPr>
              <a:r>
                <a:rPr b="1" i="0" lang="en-US" sz="1200" u="none" cap="none" strike="noStrike">
                  <a:solidFill>
                    <a:srgbClr val="FFFFFF"/>
                  </a:solidFill>
                  <a:latin typeface="Arial"/>
                  <a:ea typeface="Arial"/>
                  <a:cs typeface="Arial"/>
                  <a:sym typeface="Arial"/>
                </a:rPr>
                <a:t>FINANCE</a:t>
              </a:r>
              <a:endParaRPr sz="900"/>
            </a:p>
          </p:txBody>
        </p:sp>
      </p:grpSp>
      <p:grpSp>
        <p:nvGrpSpPr>
          <p:cNvPr id="238" name="Google Shape;238;h2fef75e91d461226_11_370"/>
          <p:cNvGrpSpPr/>
          <p:nvPr/>
        </p:nvGrpSpPr>
        <p:grpSpPr>
          <a:xfrm>
            <a:off x="5376105" y="2771027"/>
            <a:ext cx="1439490" cy="308462"/>
            <a:chOff x="0" y="-92941"/>
            <a:chExt cx="2878980" cy="616924"/>
          </a:xfrm>
        </p:grpSpPr>
        <p:grpSp>
          <p:nvGrpSpPr>
            <p:cNvPr id="239" name="Google Shape;239;h2fef75e91d461226_11_370"/>
            <p:cNvGrpSpPr/>
            <p:nvPr/>
          </p:nvGrpSpPr>
          <p:grpSpPr>
            <a:xfrm>
              <a:off x="0" y="-92941"/>
              <a:ext cx="2878980" cy="616924"/>
              <a:chOff x="0" y="-38100"/>
              <a:chExt cx="1180200" cy="252900"/>
            </a:xfrm>
          </p:grpSpPr>
          <p:sp>
            <p:nvSpPr>
              <p:cNvPr id="240" name="Google Shape;240;h2fef75e91d461226_11_370"/>
              <p:cNvSpPr/>
              <p:nvPr/>
            </p:nvSpPr>
            <p:spPr>
              <a:xfrm>
                <a:off x="0" y="0"/>
                <a:ext cx="1180190" cy="214728"/>
              </a:xfrm>
              <a:custGeom>
                <a:rect b="b" l="l" r="r" t="t"/>
                <a:pathLst>
                  <a:path extrusionOk="0" h="214728" w="1180190">
                    <a:moveTo>
                      <a:pt x="107364" y="0"/>
                    </a:moveTo>
                    <a:lnTo>
                      <a:pt x="1072825" y="0"/>
                    </a:lnTo>
                    <a:cubicBezTo>
                      <a:pt x="1101300" y="0"/>
                      <a:pt x="1128609" y="11312"/>
                      <a:pt x="1148743" y="31446"/>
                    </a:cubicBezTo>
                    <a:cubicBezTo>
                      <a:pt x="1168878" y="51581"/>
                      <a:pt x="1180190" y="78889"/>
                      <a:pt x="1180190" y="107364"/>
                    </a:cubicBezTo>
                    <a:lnTo>
                      <a:pt x="1180190" y="107364"/>
                    </a:lnTo>
                    <a:cubicBezTo>
                      <a:pt x="1180190" y="166660"/>
                      <a:pt x="1132121" y="214728"/>
                      <a:pt x="1072825" y="214728"/>
                    </a:cubicBezTo>
                    <a:lnTo>
                      <a:pt x="107364" y="214728"/>
                    </a:lnTo>
                    <a:cubicBezTo>
                      <a:pt x="78889" y="214728"/>
                      <a:pt x="51581" y="203417"/>
                      <a:pt x="31446" y="183282"/>
                    </a:cubicBezTo>
                    <a:cubicBezTo>
                      <a:pt x="11312" y="163147"/>
                      <a:pt x="0" y="135839"/>
                      <a:pt x="0" y="107364"/>
                    </a:cubicBezTo>
                    <a:lnTo>
                      <a:pt x="0" y="107364"/>
                    </a:lnTo>
                    <a:cubicBezTo>
                      <a:pt x="0" y="78889"/>
                      <a:pt x="11312" y="51581"/>
                      <a:pt x="31446" y="31446"/>
                    </a:cubicBezTo>
                    <a:cubicBezTo>
                      <a:pt x="51581" y="11312"/>
                      <a:pt x="78889" y="0"/>
                      <a:pt x="107364"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41" name="Google Shape;241;h2fef75e91d461226_11_370"/>
              <p:cNvSpPr txBox="1"/>
              <p:nvPr/>
            </p:nvSpPr>
            <p:spPr>
              <a:xfrm>
                <a:off x="0" y="-38100"/>
                <a:ext cx="1180200" cy="252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42" name="Google Shape;242;h2fef75e91d461226_11_370"/>
            <p:cNvSpPr txBox="1"/>
            <p:nvPr/>
          </p:nvSpPr>
          <p:spPr>
            <a:xfrm>
              <a:off x="275018" y="-20"/>
              <a:ext cx="2328900" cy="369300"/>
            </a:xfrm>
            <a:prstGeom prst="rect">
              <a:avLst/>
            </a:prstGeom>
            <a:noFill/>
            <a:ln>
              <a:noFill/>
            </a:ln>
          </p:spPr>
          <p:txBody>
            <a:bodyPr anchorCtr="0" anchor="t" bIns="0" lIns="0" spcFirstLastPara="1" rIns="0" wrap="square" tIns="0">
              <a:spAutoFit/>
            </a:bodyPr>
            <a:lstStyle/>
            <a:p>
              <a:pPr indent="0" lvl="0" marL="0" marR="0" rtl="0" algn="ctr">
                <a:lnSpc>
                  <a:spcPct val="150026"/>
                </a:lnSpc>
                <a:spcBef>
                  <a:spcPts val="0"/>
                </a:spcBef>
                <a:spcAft>
                  <a:spcPts val="0"/>
                </a:spcAft>
                <a:buNone/>
              </a:pPr>
              <a:r>
                <a:rPr b="1" i="0" lang="en-US" sz="1200" u="none" cap="none" strike="noStrike">
                  <a:solidFill>
                    <a:srgbClr val="FFFFFF"/>
                  </a:solidFill>
                  <a:latin typeface="Arial"/>
                  <a:ea typeface="Arial"/>
                  <a:cs typeface="Arial"/>
                  <a:sym typeface="Arial"/>
                </a:rPr>
                <a:t>MARKETING</a:t>
              </a:r>
              <a:endParaRPr sz="900"/>
            </a:p>
          </p:txBody>
        </p:sp>
      </p:grpSp>
      <p:grpSp>
        <p:nvGrpSpPr>
          <p:cNvPr id="243" name="Google Shape;243;h2fef75e91d461226_11_370"/>
          <p:cNvGrpSpPr/>
          <p:nvPr/>
        </p:nvGrpSpPr>
        <p:grpSpPr>
          <a:xfrm>
            <a:off x="5401966" y="4547061"/>
            <a:ext cx="1439490" cy="310731"/>
            <a:chOff x="0" y="-92941"/>
            <a:chExt cx="2878980" cy="621462"/>
          </a:xfrm>
        </p:grpSpPr>
        <p:grpSp>
          <p:nvGrpSpPr>
            <p:cNvPr id="244" name="Google Shape;244;h2fef75e91d461226_11_370"/>
            <p:cNvGrpSpPr/>
            <p:nvPr/>
          </p:nvGrpSpPr>
          <p:grpSpPr>
            <a:xfrm>
              <a:off x="0" y="-92941"/>
              <a:ext cx="2878980" cy="621462"/>
              <a:chOff x="0" y="-38100"/>
              <a:chExt cx="1180200" cy="254760"/>
            </a:xfrm>
          </p:grpSpPr>
          <p:sp>
            <p:nvSpPr>
              <p:cNvPr id="245" name="Google Shape;245;h2fef75e91d461226_11_370"/>
              <p:cNvSpPr/>
              <p:nvPr/>
            </p:nvSpPr>
            <p:spPr>
              <a:xfrm>
                <a:off x="0" y="0"/>
                <a:ext cx="1180190" cy="216660"/>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46" name="Google Shape;246;h2fef75e91d461226_11_370"/>
              <p:cNvSpPr txBox="1"/>
              <p:nvPr/>
            </p:nvSpPr>
            <p:spPr>
              <a:xfrm>
                <a:off x="0" y="-38100"/>
                <a:ext cx="1180200" cy="2547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47" name="Google Shape;247;h2fef75e91d461226_11_370"/>
            <p:cNvSpPr txBox="1"/>
            <p:nvPr/>
          </p:nvSpPr>
          <p:spPr>
            <a:xfrm>
              <a:off x="275018" y="-20"/>
              <a:ext cx="2328900" cy="369300"/>
            </a:xfrm>
            <a:prstGeom prst="rect">
              <a:avLst/>
            </a:prstGeom>
            <a:noFill/>
            <a:ln>
              <a:noFill/>
            </a:ln>
          </p:spPr>
          <p:txBody>
            <a:bodyPr anchorCtr="0" anchor="t" bIns="0" lIns="0" spcFirstLastPara="1" rIns="0" wrap="square" tIns="0">
              <a:spAutoFit/>
            </a:bodyPr>
            <a:lstStyle/>
            <a:p>
              <a:pPr indent="0" lvl="0" marL="0" marR="0" rtl="0" algn="ctr">
                <a:lnSpc>
                  <a:spcPct val="150026"/>
                </a:lnSpc>
                <a:spcBef>
                  <a:spcPts val="0"/>
                </a:spcBef>
                <a:spcAft>
                  <a:spcPts val="0"/>
                </a:spcAft>
                <a:buNone/>
              </a:pPr>
              <a:r>
                <a:rPr b="1" i="0" lang="en-US" sz="1200" u="none" cap="none" strike="noStrike">
                  <a:solidFill>
                    <a:srgbClr val="FFFFFF"/>
                  </a:solidFill>
                  <a:latin typeface="Arial"/>
                  <a:ea typeface="Arial"/>
                  <a:cs typeface="Arial"/>
                  <a:sym typeface="Arial"/>
                </a:rPr>
                <a:t>HR</a:t>
              </a:r>
              <a:endParaRPr sz="900"/>
            </a:p>
          </p:txBody>
        </p:sp>
      </p:grpSp>
      <p:grpSp>
        <p:nvGrpSpPr>
          <p:cNvPr id="248" name="Google Shape;248;h2fef75e91d461226_11_370"/>
          <p:cNvGrpSpPr/>
          <p:nvPr/>
        </p:nvGrpSpPr>
        <p:grpSpPr>
          <a:xfrm>
            <a:off x="3256903" y="4979196"/>
            <a:ext cx="1439490" cy="310731"/>
            <a:chOff x="0" y="-92941"/>
            <a:chExt cx="2878980" cy="621462"/>
          </a:xfrm>
        </p:grpSpPr>
        <p:grpSp>
          <p:nvGrpSpPr>
            <p:cNvPr id="249" name="Google Shape;249;h2fef75e91d461226_11_370"/>
            <p:cNvGrpSpPr/>
            <p:nvPr/>
          </p:nvGrpSpPr>
          <p:grpSpPr>
            <a:xfrm>
              <a:off x="0" y="-92941"/>
              <a:ext cx="2878980" cy="621462"/>
              <a:chOff x="0" y="-38100"/>
              <a:chExt cx="1180200" cy="254760"/>
            </a:xfrm>
          </p:grpSpPr>
          <p:sp>
            <p:nvSpPr>
              <p:cNvPr id="250" name="Google Shape;250;h2fef75e91d461226_11_370"/>
              <p:cNvSpPr/>
              <p:nvPr/>
            </p:nvSpPr>
            <p:spPr>
              <a:xfrm>
                <a:off x="0" y="0"/>
                <a:ext cx="1180190" cy="216660"/>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51" name="Google Shape;251;h2fef75e91d461226_11_370"/>
              <p:cNvSpPr txBox="1"/>
              <p:nvPr/>
            </p:nvSpPr>
            <p:spPr>
              <a:xfrm>
                <a:off x="0" y="-38100"/>
                <a:ext cx="1180200" cy="2547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52" name="Google Shape;252;h2fef75e91d461226_11_370"/>
            <p:cNvSpPr txBox="1"/>
            <p:nvPr/>
          </p:nvSpPr>
          <p:spPr>
            <a:xfrm>
              <a:off x="275018" y="-20"/>
              <a:ext cx="2328900" cy="369300"/>
            </a:xfrm>
            <a:prstGeom prst="rect">
              <a:avLst/>
            </a:prstGeom>
            <a:noFill/>
            <a:ln>
              <a:noFill/>
            </a:ln>
          </p:spPr>
          <p:txBody>
            <a:bodyPr anchorCtr="0" anchor="t" bIns="0" lIns="0" spcFirstLastPara="1" rIns="0" wrap="square" tIns="0">
              <a:spAutoFit/>
            </a:bodyPr>
            <a:lstStyle/>
            <a:p>
              <a:pPr indent="0" lvl="0" marL="0" marR="0" rtl="0" algn="ctr">
                <a:lnSpc>
                  <a:spcPct val="150026"/>
                </a:lnSpc>
                <a:spcBef>
                  <a:spcPts val="0"/>
                </a:spcBef>
                <a:spcAft>
                  <a:spcPts val="0"/>
                </a:spcAft>
                <a:buNone/>
              </a:pPr>
              <a:r>
                <a:rPr b="1" i="0" lang="en-US" sz="1200" u="none" cap="none" strike="noStrike">
                  <a:solidFill>
                    <a:srgbClr val="FFFFFF"/>
                  </a:solidFill>
                  <a:latin typeface="Arial"/>
                  <a:ea typeface="Arial"/>
                  <a:cs typeface="Arial"/>
                  <a:sym typeface="Arial"/>
                </a:rPr>
                <a:t>CS</a:t>
              </a:r>
              <a:endParaRPr sz="900"/>
            </a:p>
          </p:txBody>
        </p:sp>
      </p:grpSp>
      <p:grpSp>
        <p:nvGrpSpPr>
          <p:cNvPr id="253" name="Google Shape;253;h2fef75e91d461226_11_370"/>
          <p:cNvGrpSpPr/>
          <p:nvPr/>
        </p:nvGrpSpPr>
        <p:grpSpPr>
          <a:xfrm>
            <a:off x="776664" y="3710228"/>
            <a:ext cx="1643842" cy="259488"/>
            <a:chOff x="0" y="-106135"/>
            <a:chExt cx="3287683" cy="518976"/>
          </a:xfrm>
        </p:grpSpPr>
        <p:grpSp>
          <p:nvGrpSpPr>
            <p:cNvPr id="254" name="Google Shape;254;h2fef75e91d461226_11_370"/>
            <p:cNvGrpSpPr/>
            <p:nvPr/>
          </p:nvGrpSpPr>
          <p:grpSpPr>
            <a:xfrm>
              <a:off x="0" y="-106135"/>
              <a:ext cx="3287683" cy="518976"/>
              <a:chOff x="0" y="-38100"/>
              <a:chExt cx="1180200" cy="186300"/>
            </a:xfrm>
          </p:grpSpPr>
          <p:sp>
            <p:nvSpPr>
              <p:cNvPr id="255" name="Google Shape;255;h2fef75e91d461226_11_370"/>
              <p:cNvSpPr/>
              <p:nvPr/>
            </p:nvSpPr>
            <p:spPr>
              <a:xfrm>
                <a:off x="0" y="0"/>
                <a:ext cx="1180190" cy="148054"/>
              </a:xfrm>
              <a:custGeom>
                <a:rect b="b" l="l" r="r" t="t"/>
                <a:pathLst>
                  <a:path extrusionOk="0" h="148054" w="1180190">
                    <a:moveTo>
                      <a:pt x="74027" y="0"/>
                    </a:moveTo>
                    <a:lnTo>
                      <a:pt x="1106163" y="0"/>
                    </a:lnTo>
                    <a:cubicBezTo>
                      <a:pt x="1125796" y="0"/>
                      <a:pt x="1144625" y="7799"/>
                      <a:pt x="1158508" y="21682"/>
                    </a:cubicBezTo>
                    <a:cubicBezTo>
                      <a:pt x="1172390" y="35565"/>
                      <a:pt x="1180190" y="54394"/>
                      <a:pt x="1180190" y="74027"/>
                    </a:cubicBezTo>
                    <a:lnTo>
                      <a:pt x="1180190" y="74027"/>
                    </a:lnTo>
                    <a:cubicBezTo>
                      <a:pt x="1180190" y="114911"/>
                      <a:pt x="1147047" y="148054"/>
                      <a:pt x="1106163" y="148054"/>
                    </a:cubicBezTo>
                    <a:lnTo>
                      <a:pt x="74027" y="148054"/>
                    </a:lnTo>
                    <a:cubicBezTo>
                      <a:pt x="54394" y="148054"/>
                      <a:pt x="35565" y="140254"/>
                      <a:pt x="21682" y="126372"/>
                    </a:cubicBezTo>
                    <a:cubicBezTo>
                      <a:pt x="7799" y="112489"/>
                      <a:pt x="0" y="93660"/>
                      <a:pt x="0" y="74027"/>
                    </a:cubicBezTo>
                    <a:lnTo>
                      <a:pt x="0" y="74027"/>
                    </a:lnTo>
                    <a:cubicBezTo>
                      <a:pt x="0" y="54394"/>
                      <a:pt x="7799" y="35565"/>
                      <a:pt x="21682" y="21682"/>
                    </a:cubicBezTo>
                    <a:cubicBezTo>
                      <a:pt x="35565" y="7799"/>
                      <a:pt x="54394" y="0"/>
                      <a:pt x="74027"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56" name="Google Shape;256;h2fef75e91d461226_11_370"/>
              <p:cNvSpPr txBox="1"/>
              <p:nvPr/>
            </p:nvSpPr>
            <p:spPr>
              <a:xfrm>
                <a:off x="0" y="-38100"/>
                <a:ext cx="1180200" cy="1863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57" name="Google Shape;257;h2fef75e91d461226_11_370"/>
            <p:cNvSpPr txBox="1"/>
            <p:nvPr/>
          </p:nvSpPr>
          <p:spPr>
            <a:xfrm>
              <a:off x="314051" y="39367"/>
              <a:ext cx="2659500" cy="246300"/>
            </a:xfrm>
            <a:prstGeom prst="rect">
              <a:avLst/>
            </a:prstGeom>
            <a:noFill/>
            <a:ln>
              <a:noFill/>
            </a:ln>
          </p:spPr>
          <p:txBody>
            <a:bodyPr anchorCtr="0" anchor="t" bIns="0" lIns="0" spcFirstLastPara="1" rIns="0" wrap="square" tIns="0">
              <a:spAutoFit/>
            </a:bodyPr>
            <a:lstStyle/>
            <a:p>
              <a:pPr indent="0" lvl="0" marL="0" marR="0" rtl="0" algn="ctr">
                <a:lnSpc>
                  <a:spcPct val="150041"/>
                </a:lnSpc>
                <a:spcBef>
                  <a:spcPts val="0"/>
                </a:spcBef>
                <a:spcAft>
                  <a:spcPts val="0"/>
                </a:spcAft>
                <a:buNone/>
              </a:pPr>
              <a:r>
                <a:rPr b="1" i="0" lang="en-US" sz="800" u="none" cap="none" strike="noStrike">
                  <a:solidFill>
                    <a:srgbClr val="FFFFFF"/>
                  </a:solidFill>
                  <a:latin typeface="Arial"/>
                  <a:ea typeface="Arial"/>
                  <a:cs typeface="Arial"/>
                  <a:sym typeface="Arial"/>
                </a:rPr>
                <a:t>PROJECT MANAGEMENT</a:t>
              </a:r>
              <a:endParaRPr sz="900"/>
            </a:p>
          </p:txBody>
        </p:sp>
      </p:grpSp>
      <p:grpSp>
        <p:nvGrpSpPr>
          <p:cNvPr id="258" name="Google Shape;258;h2fef75e91d461226_11_370"/>
          <p:cNvGrpSpPr/>
          <p:nvPr/>
        </p:nvGrpSpPr>
        <p:grpSpPr>
          <a:xfrm>
            <a:off x="1275111" y="2433683"/>
            <a:ext cx="1439490" cy="308462"/>
            <a:chOff x="0" y="-92941"/>
            <a:chExt cx="2878980" cy="616924"/>
          </a:xfrm>
        </p:grpSpPr>
        <p:grpSp>
          <p:nvGrpSpPr>
            <p:cNvPr id="259" name="Google Shape;259;h2fef75e91d461226_11_370"/>
            <p:cNvGrpSpPr/>
            <p:nvPr/>
          </p:nvGrpSpPr>
          <p:grpSpPr>
            <a:xfrm>
              <a:off x="0" y="-92941"/>
              <a:ext cx="2878980" cy="616924"/>
              <a:chOff x="0" y="-38100"/>
              <a:chExt cx="1180200" cy="252900"/>
            </a:xfrm>
          </p:grpSpPr>
          <p:sp>
            <p:nvSpPr>
              <p:cNvPr id="260" name="Google Shape;260;h2fef75e91d461226_11_370"/>
              <p:cNvSpPr/>
              <p:nvPr/>
            </p:nvSpPr>
            <p:spPr>
              <a:xfrm>
                <a:off x="0" y="0"/>
                <a:ext cx="1180190" cy="214728"/>
              </a:xfrm>
              <a:custGeom>
                <a:rect b="b" l="l" r="r" t="t"/>
                <a:pathLst>
                  <a:path extrusionOk="0" h="214728" w="1180190">
                    <a:moveTo>
                      <a:pt x="107364" y="0"/>
                    </a:moveTo>
                    <a:lnTo>
                      <a:pt x="1072825" y="0"/>
                    </a:lnTo>
                    <a:cubicBezTo>
                      <a:pt x="1101300" y="0"/>
                      <a:pt x="1128609" y="11312"/>
                      <a:pt x="1148743" y="31446"/>
                    </a:cubicBezTo>
                    <a:cubicBezTo>
                      <a:pt x="1168878" y="51581"/>
                      <a:pt x="1180190" y="78889"/>
                      <a:pt x="1180190" y="107364"/>
                    </a:cubicBezTo>
                    <a:lnTo>
                      <a:pt x="1180190" y="107364"/>
                    </a:lnTo>
                    <a:cubicBezTo>
                      <a:pt x="1180190" y="166660"/>
                      <a:pt x="1132121" y="214728"/>
                      <a:pt x="1072825" y="214728"/>
                    </a:cubicBezTo>
                    <a:lnTo>
                      <a:pt x="107364" y="214728"/>
                    </a:lnTo>
                    <a:cubicBezTo>
                      <a:pt x="78889" y="214728"/>
                      <a:pt x="51581" y="203417"/>
                      <a:pt x="31446" y="183282"/>
                    </a:cubicBezTo>
                    <a:cubicBezTo>
                      <a:pt x="11312" y="163147"/>
                      <a:pt x="0" y="135839"/>
                      <a:pt x="0" y="107364"/>
                    </a:cubicBezTo>
                    <a:lnTo>
                      <a:pt x="0" y="107364"/>
                    </a:lnTo>
                    <a:cubicBezTo>
                      <a:pt x="0" y="78889"/>
                      <a:pt x="11312" y="51581"/>
                      <a:pt x="31446" y="31446"/>
                    </a:cubicBezTo>
                    <a:cubicBezTo>
                      <a:pt x="51581" y="11312"/>
                      <a:pt x="78889" y="0"/>
                      <a:pt x="107364"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1" name="Google Shape;261;h2fef75e91d461226_11_370"/>
              <p:cNvSpPr txBox="1"/>
              <p:nvPr/>
            </p:nvSpPr>
            <p:spPr>
              <a:xfrm>
                <a:off x="0" y="-38100"/>
                <a:ext cx="1180200" cy="252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62" name="Google Shape;262;h2fef75e91d461226_11_370"/>
            <p:cNvSpPr txBox="1"/>
            <p:nvPr/>
          </p:nvSpPr>
          <p:spPr>
            <a:xfrm>
              <a:off x="275018" y="-20"/>
              <a:ext cx="2328900" cy="369300"/>
            </a:xfrm>
            <a:prstGeom prst="rect">
              <a:avLst/>
            </a:prstGeom>
            <a:noFill/>
            <a:ln>
              <a:noFill/>
            </a:ln>
          </p:spPr>
          <p:txBody>
            <a:bodyPr anchorCtr="0" anchor="t" bIns="0" lIns="0" spcFirstLastPara="1" rIns="0" wrap="square" tIns="0">
              <a:spAutoFit/>
            </a:bodyPr>
            <a:lstStyle/>
            <a:p>
              <a:pPr indent="0" lvl="0" marL="0" marR="0" rtl="0" algn="ctr">
                <a:lnSpc>
                  <a:spcPct val="150026"/>
                </a:lnSpc>
                <a:spcBef>
                  <a:spcPts val="0"/>
                </a:spcBef>
                <a:spcAft>
                  <a:spcPts val="0"/>
                </a:spcAft>
                <a:buNone/>
              </a:pPr>
              <a:r>
                <a:rPr b="1" i="0" lang="en-US" sz="1200" u="none" cap="none" strike="noStrike">
                  <a:solidFill>
                    <a:srgbClr val="FFFFFF"/>
                  </a:solidFill>
                  <a:latin typeface="Arial"/>
                  <a:ea typeface="Arial"/>
                  <a:cs typeface="Arial"/>
                  <a:sym typeface="Arial"/>
                </a:rPr>
                <a:t>OPERATIONS</a:t>
              </a:r>
              <a:endParaRPr sz="900"/>
            </a:p>
          </p:txBody>
        </p:sp>
      </p:grpSp>
      <p:sp>
        <p:nvSpPr>
          <p:cNvPr id="263" name="Google Shape;263;h2fef75e91d461226_11_370"/>
          <p:cNvSpPr txBox="1"/>
          <p:nvPr/>
        </p:nvSpPr>
        <p:spPr>
          <a:xfrm>
            <a:off x="645258" y="346776"/>
            <a:ext cx="1869600" cy="3078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000" u="none" cap="none" strike="noStrike">
                <a:solidFill>
                  <a:srgbClr val="FFFFFF"/>
                </a:solidFill>
                <a:latin typeface="Arial"/>
                <a:ea typeface="Arial"/>
                <a:cs typeface="Arial"/>
                <a:sym typeface="Arial"/>
              </a:rPr>
              <a:t>Our Services</a:t>
            </a:r>
            <a:endParaRPr sz="900"/>
          </a:p>
        </p:txBody>
      </p:sp>
      <p:sp>
        <p:nvSpPr>
          <p:cNvPr id="264" name="Google Shape;264;h2fef75e91d461226_11_370"/>
          <p:cNvSpPr/>
          <p:nvPr/>
        </p:nvSpPr>
        <p:spPr>
          <a:xfrm>
            <a:off x="450445"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grpSp>
        <p:nvGrpSpPr>
          <p:cNvPr id="265" name="Google Shape;265;h2fef75e91d461226_11_370"/>
          <p:cNvGrpSpPr/>
          <p:nvPr/>
        </p:nvGrpSpPr>
        <p:grpSpPr>
          <a:xfrm>
            <a:off x="2709122" y="3287202"/>
            <a:ext cx="2475824" cy="568397"/>
            <a:chOff x="0" y="-38100"/>
            <a:chExt cx="1180200" cy="270936"/>
          </a:xfrm>
        </p:grpSpPr>
        <p:sp>
          <p:nvSpPr>
            <p:cNvPr id="266" name="Google Shape;266;h2fef75e91d461226_11_370"/>
            <p:cNvSpPr/>
            <p:nvPr/>
          </p:nvSpPr>
          <p:spPr>
            <a:xfrm>
              <a:off x="0" y="0"/>
              <a:ext cx="1180190" cy="232836"/>
            </a:xfrm>
            <a:custGeom>
              <a:rect b="b" l="l" r="r" t="t"/>
              <a:pathLst>
                <a:path extrusionOk="0" h="232836" w="1180190">
                  <a:moveTo>
                    <a:pt x="106317" y="0"/>
                  </a:moveTo>
                  <a:lnTo>
                    <a:pt x="1073872" y="0"/>
                  </a:lnTo>
                  <a:cubicBezTo>
                    <a:pt x="1132590" y="0"/>
                    <a:pt x="1180190" y="47600"/>
                    <a:pt x="1180190" y="106317"/>
                  </a:cubicBezTo>
                  <a:lnTo>
                    <a:pt x="1180190" y="126519"/>
                  </a:lnTo>
                  <a:cubicBezTo>
                    <a:pt x="1180190" y="185236"/>
                    <a:pt x="1132590" y="232836"/>
                    <a:pt x="1073872" y="232836"/>
                  </a:cubicBezTo>
                  <a:lnTo>
                    <a:pt x="106317" y="232836"/>
                  </a:lnTo>
                  <a:cubicBezTo>
                    <a:pt x="47600" y="232836"/>
                    <a:pt x="0" y="185236"/>
                    <a:pt x="0" y="126519"/>
                  </a:cubicBezTo>
                  <a:lnTo>
                    <a:pt x="0" y="106317"/>
                  </a:lnTo>
                  <a:cubicBezTo>
                    <a:pt x="0" y="47600"/>
                    <a:pt x="47600" y="0"/>
                    <a:pt x="106317"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7" name="Google Shape;267;h2fef75e91d461226_11_370"/>
            <p:cNvSpPr txBox="1"/>
            <p:nvPr/>
          </p:nvSpPr>
          <p:spPr>
            <a:xfrm>
              <a:off x="0" y="-38100"/>
              <a:ext cx="1180200" cy="270900"/>
            </a:xfrm>
            <a:prstGeom prst="rect">
              <a:avLst/>
            </a:prstGeom>
            <a:noFill/>
            <a:ln>
              <a:noFill/>
            </a:ln>
          </p:spPr>
          <p:txBody>
            <a:bodyPr anchorCtr="0" anchor="ctr" bIns="28075" lIns="28075" spcFirstLastPara="1" rIns="28075" wrap="square" tIns="28075">
              <a:noAutofit/>
            </a:bodyPr>
            <a:lstStyle/>
            <a:p>
              <a:pPr indent="0" lvl="0" marL="0" marR="0" rtl="0" algn="ctr">
                <a:lnSpc>
                  <a:spcPct val="147722"/>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68" name="Google Shape;268;h2fef75e91d461226_11_370"/>
          <p:cNvSpPr/>
          <p:nvPr/>
        </p:nvSpPr>
        <p:spPr>
          <a:xfrm>
            <a:off x="3146706" y="3400943"/>
            <a:ext cx="1661979" cy="395438"/>
          </a:xfrm>
          <a:custGeom>
            <a:rect b="b" l="l" r="r" t="t"/>
            <a:pathLst>
              <a:path extrusionOk="0" h="592416" w="2489856">
                <a:moveTo>
                  <a:pt x="0" y="0"/>
                </a:moveTo>
                <a:lnTo>
                  <a:pt x="2489856" y="0"/>
                </a:lnTo>
                <a:lnTo>
                  <a:pt x="2489856" y="592416"/>
                </a:lnTo>
                <a:lnTo>
                  <a:pt x="0" y="592416"/>
                </a:lnTo>
                <a:lnTo>
                  <a:pt x="0" y="0"/>
                </a:lnTo>
                <a:close/>
              </a:path>
            </a:pathLst>
          </a:custGeom>
          <a:blipFill rotWithShape="1">
            <a:blip r:embed="rId4">
              <a:alphaModFix/>
            </a:blip>
            <a:stretch>
              <a:fillRect b="0" l="-2339" r="0" t="0"/>
            </a:stretch>
          </a:blipFill>
          <a:ln>
            <a:noFill/>
          </a:ln>
        </p:spPr>
      </p:sp>
      <p:sp>
        <p:nvSpPr>
          <p:cNvPr id="269" name="Google Shape;269;h2fef75e91d461226_11_370"/>
          <p:cNvSpPr txBox="1"/>
          <p:nvPr/>
        </p:nvSpPr>
        <p:spPr>
          <a:xfrm>
            <a:off x="8046989" y="2258985"/>
            <a:ext cx="3805500" cy="3794700"/>
          </a:xfrm>
          <a:prstGeom prst="rect">
            <a:avLst/>
          </a:prstGeom>
          <a:noFill/>
          <a:ln>
            <a:noFill/>
          </a:ln>
        </p:spPr>
        <p:txBody>
          <a:bodyPr anchorCtr="0" anchor="t" bIns="0" lIns="0" spcFirstLastPara="1" rIns="0" wrap="square" tIns="0">
            <a:spAutoFit/>
          </a:bodyPr>
          <a:lstStyle/>
          <a:p>
            <a:pPr indent="0" lvl="0" marL="0" marR="0" rtl="0" algn="l">
              <a:lnSpc>
                <a:spcPct val="150019"/>
              </a:lnSpc>
              <a:spcBef>
                <a:spcPts val="0"/>
              </a:spcBef>
              <a:spcAft>
                <a:spcPts val="0"/>
              </a:spcAft>
              <a:buNone/>
            </a:pPr>
            <a:r>
              <a:rPr b="1" i="0" lang="en-US" sz="1700" u="none" cap="none" strike="noStrike">
                <a:solidFill>
                  <a:srgbClr val="FFFFFF"/>
                </a:solidFill>
                <a:latin typeface="Arial"/>
                <a:ea typeface="Arial"/>
                <a:cs typeface="Arial"/>
                <a:sym typeface="Arial"/>
              </a:rPr>
              <a:t>Sanggabiz </a:t>
            </a:r>
            <a:r>
              <a:rPr b="0" i="0" lang="en-US" sz="1700" u="none" cap="none" strike="noStrike">
                <a:solidFill>
                  <a:srgbClr val="FFFFFF"/>
                </a:solidFill>
                <a:latin typeface="Arial"/>
                <a:ea typeface="Arial"/>
                <a:cs typeface="Arial"/>
                <a:sym typeface="Arial"/>
              </a:rPr>
              <a:t>adalah mitra solusi bisnis yang menyediakan layanan departemen sebagai layanan (department-as-a-service), termasuk Keuangan, Sumber Daya Manusia, Layanan Pelanggan, Pemasaran, Manajemen Proyek, Administrasi, dan Operasional. Kami membantu Anda menghemat hingga 80% biaya tenaga kerja.</a:t>
            </a:r>
            <a:endParaRPr sz="900"/>
          </a:p>
        </p:txBody>
      </p:sp>
      <p:sp>
        <p:nvSpPr>
          <p:cNvPr id="270" name="Google Shape;270;h2fef75e91d461226_11_370"/>
          <p:cNvSpPr txBox="1"/>
          <p:nvPr/>
        </p:nvSpPr>
        <p:spPr>
          <a:xfrm>
            <a:off x="8046989" y="794239"/>
            <a:ext cx="3341100" cy="1388400"/>
          </a:xfrm>
          <a:prstGeom prst="rect">
            <a:avLst/>
          </a:prstGeom>
          <a:noFill/>
          <a:ln>
            <a:noFill/>
          </a:ln>
        </p:spPr>
        <p:txBody>
          <a:bodyPr anchorCtr="0" anchor="t" bIns="0" lIns="0" spcFirstLastPara="1" rIns="0" wrap="square" tIns="0">
            <a:spAutoFit/>
          </a:bodyPr>
          <a:lstStyle/>
          <a:p>
            <a:pPr indent="0" lvl="0" marL="0" marR="0" rtl="0" algn="l">
              <a:lnSpc>
                <a:spcPct val="119984"/>
              </a:lnSpc>
              <a:spcBef>
                <a:spcPts val="0"/>
              </a:spcBef>
              <a:spcAft>
                <a:spcPts val="0"/>
              </a:spcAft>
              <a:buNone/>
            </a:pPr>
            <a:r>
              <a:rPr b="1" i="0" lang="en-US" sz="4100" u="none" cap="none" strike="noStrike">
                <a:solidFill>
                  <a:srgbClr val="FFFFFF"/>
                </a:solidFill>
                <a:latin typeface="Arial"/>
                <a:ea typeface="Arial"/>
                <a:cs typeface="Arial"/>
                <a:sym typeface="Arial"/>
              </a:rPr>
              <a:t>What is sanggabiz?</a:t>
            </a:r>
            <a:endParaRPr sz="900"/>
          </a:p>
        </p:txBody>
      </p:sp>
      <p:sp>
        <p:nvSpPr>
          <p:cNvPr id="271" name="Google Shape;271;h2fef75e91d461226_11_370"/>
          <p:cNvSpPr txBox="1"/>
          <p:nvPr/>
        </p:nvSpPr>
        <p:spPr>
          <a:xfrm>
            <a:off x="878333" y="1271389"/>
            <a:ext cx="1800000" cy="4434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Operation Excellence</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SOP</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Operation Admin</a:t>
            </a:r>
            <a:endParaRPr sz="900"/>
          </a:p>
        </p:txBody>
      </p:sp>
      <p:sp>
        <p:nvSpPr>
          <p:cNvPr id="272" name="Google Shape;272;h2fef75e91d461226_11_370"/>
          <p:cNvSpPr txBox="1"/>
          <p:nvPr/>
        </p:nvSpPr>
        <p:spPr>
          <a:xfrm>
            <a:off x="3385645" y="974539"/>
            <a:ext cx="1432800" cy="7635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Billing Management</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Banking/Payment</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Sales Invoice</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Accounting</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Tax Support</a:t>
            </a:r>
            <a:endParaRPr sz="900"/>
          </a:p>
        </p:txBody>
      </p:sp>
      <p:sp>
        <p:nvSpPr>
          <p:cNvPr id="273" name="Google Shape;273;h2fef75e91d461226_11_370"/>
          <p:cNvSpPr txBox="1"/>
          <p:nvPr/>
        </p:nvSpPr>
        <p:spPr>
          <a:xfrm>
            <a:off x="5333802" y="1271392"/>
            <a:ext cx="2039400" cy="7635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SosMed Content Management</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SosMed Ads Management</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Marketing Performance</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SEO/SEM</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Personal Branding</a:t>
            </a:r>
            <a:endParaRPr sz="900"/>
          </a:p>
        </p:txBody>
      </p:sp>
      <p:sp>
        <p:nvSpPr>
          <p:cNvPr id="274" name="Google Shape;274;h2fef75e91d461226_11_370"/>
          <p:cNvSpPr txBox="1"/>
          <p:nvPr/>
        </p:nvSpPr>
        <p:spPr>
          <a:xfrm>
            <a:off x="5333652" y="4991105"/>
            <a:ext cx="2039400" cy="6036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Payroll</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HR Admin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Personal Income Tax</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Recruitmen</a:t>
            </a:r>
            <a:endParaRPr sz="900"/>
          </a:p>
        </p:txBody>
      </p:sp>
      <p:sp>
        <p:nvSpPr>
          <p:cNvPr id="275" name="Google Shape;275;h2fef75e91d461226_11_370"/>
          <p:cNvSpPr txBox="1"/>
          <p:nvPr/>
        </p:nvSpPr>
        <p:spPr>
          <a:xfrm>
            <a:off x="3336672" y="5391532"/>
            <a:ext cx="1848300" cy="4434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Customer service</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Knowledge Management</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Training</a:t>
            </a:r>
            <a:endParaRPr sz="900"/>
          </a:p>
        </p:txBody>
      </p:sp>
      <p:sp>
        <p:nvSpPr>
          <p:cNvPr id="276" name="Google Shape;276;h2fef75e91d461226_11_370"/>
          <p:cNvSpPr txBox="1"/>
          <p:nvPr/>
        </p:nvSpPr>
        <p:spPr>
          <a:xfrm>
            <a:off x="685782" y="4064760"/>
            <a:ext cx="2039400" cy="1230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Project Management</a:t>
            </a:r>
            <a:endParaRPr sz="900"/>
          </a:p>
        </p:txBody>
      </p:sp>
      <p:grpSp>
        <p:nvGrpSpPr>
          <p:cNvPr id="277" name="Google Shape;277;h2fef75e91d461226_11_370"/>
          <p:cNvGrpSpPr/>
          <p:nvPr/>
        </p:nvGrpSpPr>
        <p:grpSpPr>
          <a:xfrm>
            <a:off x="1016902" y="4434731"/>
            <a:ext cx="1366510" cy="783814"/>
            <a:chOff x="0" y="0"/>
            <a:chExt cx="7981950" cy="4578350"/>
          </a:xfrm>
        </p:grpSpPr>
        <p:sp>
          <p:nvSpPr>
            <p:cNvPr id="278" name="Google Shape;278;h2fef75e91d461226_11_370"/>
            <p:cNvSpPr/>
            <p:nvPr/>
          </p:nvSpPr>
          <p:spPr>
            <a:xfrm>
              <a:off x="765810" y="21590"/>
              <a:ext cx="6451600" cy="4326890"/>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79" name="Google Shape;279;h2fef75e91d461226_11_370"/>
            <p:cNvSpPr/>
            <p:nvPr/>
          </p:nvSpPr>
          <p:spPr>
            <a:xfrm>
              <a:off x="0" y="0"/>
              <a:ext cx="7981950" cy="4542790"/>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80" name="Google Shape;280;h2fef75e91d461226_11_370"/>
            <p:cNvSpPr/>
            <p:nvPr/>
          </p:nvSpPr>
          <p:spPr>
            <a:xfrm>
              <a:off x="3460750" y="4349750"/>
              <a:ext cx="1059180" cy="96520"/>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81" name="Google Shape;281;h2fef75e91d461226_11_370"/>
            <p:cNvSpPr/>
            <p:nvPr/>
          </p:nvSpPr>
          <p:spPr>
            <a:xfrm>
              <a:off x="163830" y="4542790"/>
              <a:ext cx="7654290" cy="35560"/>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82" name="Google Shape;282;h2fef75e91d461226_11_370"/>
            <p:cNvSpPr/>
            <p:nvPr/>
          </p:nvSpPr>
          <p:spPr>
            <a:xfrm>
              <a:off x="962660" y="276860"/>
              <a:ext cx="6055360" cy="3789680"/>
            </a:xfrm>
            <a:custGeom>
              <a:rect b="b" l="l" r="r" t="t"/>
              <a:pathLst>
                <a:path extrusionOk="0" h="3789680" w="6055360">
                  <a:moveTo>
                    <a:pt x="0" y="0"/>
                  </a:moveTo>
                  <a:lnTo>
                    <a:pt x="6055360" y="0"/>
                  </a:lnTo>
                  <a:lnTo>
                    <a:pt x="6055360" y="3789680"/>
                  </a:lnTo>
                  <a:lnTo>
                    <a:pt x="0" y="3789680"/>
                  </a:lnTo>
                  <a:close/>
                </a:path>
              </a:pathLst>
            </a:custGeom>
            <a:blipFill rotWithShape="1">
              <a:blip r:embed="rId8">
                <a:alphaModFix/>
              </a:blip>
              <a:stretch>
                <a:fillRect b="-3230" l="0" r="0" t="-3230"/>
              </a:stretch>
            </a:blipFill>
            <a:ln>
              <a:noFill/>
            </a:ln>
          </p:spPr>
        </p:sp>
      </p:grpSp>
      <p:sp>
        <p:nvSpPr>
          <p:cNvPr id="283" name="Google Shape;283;h2fef75e91d461226_11_370"/>
          <p:cNvSpPr/>
          <p:nvPr/>
        </p:nvSpPr>
        <p:spPr>
          <a:xfrm>
            <a:off x="2522025" y="3598415"/>
            <a:ext cx="625478" cy="1636795"/>
          </a:xfrm>
          <a:custGeom>
            <a:rect b="b" l="l" r="r" t="t"/>
            <a:pathLst>
              <a:path extrusionOk="0" h="2452128" w="937046">
                <a:moveTo>
                  <a:pt x="937046" y="0"/>
                </a:moveTo>
                <a:lnTo>
                  <a:pt x="822746" y="0"/>
                </a:lnTo>
                <a:cubicBezTo>
                  <a:pt x="792431" y="0"/>
                  <a:pt x="763359" y="12043"/>
                  <a:pt x="741924" y="33478"/>
                </a:cubicBezTo>
                <a:cubicBezTo>
                  <a:pt x="720488" y="54913"/>
                  <a:pt x="708446" y="83986"/>
                  <a:pt x="708446" y="114300"/>
                </a:cubicBezTo>
                <a:lnTo>
                  <a:pt x="708446" y="2223528"/>
                </a:lnTo>
                <a:cubicBezTo>
                  <a:pt x="708446" y="2284157"/>
                  <a:pt x="684361" y="2342302"/>
                  <a:pt x="641491" y="2385172"/>
                </a:cubicBezTo>
                <a:cubicBezTo>
                  <a:pt x="598620" y="2428044"/>
                  <a:pt x="540474" y="2452128"/>
                  <a:pt x="479846" y="2452128"/>
                </a:cubicBezTo>
                <a:lnTo>
                  <a:pt x="0" y="2452128"/>
                </a:lnTo>
              </a:path>
            </a:pathLst>
          </a:custGeom>
          <a:noFill/>
          <a:ln cap="rnd"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grpSp>
        <p:nvGrpSpPr>
          <p:cNvPr id="284" name="Google Shape;284;h2fef75e91d461226_11_370"/>
          <p:cNvGrpSpPr/>
          <p:nvPr/>
        </p:nvGrpSpPr>
        <p:grpSpPr>
          <a:xfrm>
            <a:off x="878261" y="5076976"/>
            <a:ext cx="1643842" cy="259488"/>
            <a:chOff x="0" y="-106135"/>
            <a:chExt cx="3287683" cy="518976"/>
          </a:xfrm>
        </p:grpSpPr>
        <p:grpSp>
          <p:nvGrpSpPr>
            <p:cNvPr id="285" name="Google Shape;285;h2fef75e91d461226_11_370"/>
            <p:cNvGrpSpPr/>
            <p:nvPr/>
          </p:nvGrpSpPr>
          <p:grpSpPr>
            <a:xfrm>
              <a:off x="0" y="-106135"/>
              <a:ext cx="3287683" cy="518976"/>
              <a:chOff x="0" y="-38100"/>
              <a:chExt cx="1180200" cy="186300"/>
            </a:xfrm>
          </p:grpSpPr>
          <p:sp>
            <p:nvSpPr>
              <p:cNvPr id="286" name="Google Shape;286;h2fef75e91d461226_11_370"/>
              <p:cNvSpPr/>
              <p:nvPr/>
            </p:nvSpPr>
            <p:spPr>
              <a:xfrm>
                <a:off x="0" y="0"/>
                <a:ext cx="1180190" cy="148078"/>
              </a:xfrm>
              <a:custGeom>
                <a:rect b="b" l="l" r="r" t="t"/>
                <a:pathLst>
                  <a:path extrusionOk="0" h="148078" w="1180190">
                    <a:moveTo>
                      <a:pt x="74039" y="0"/>
                    </a:moveTo>
                    <a:lnTo>
                      <a:pt x="1106150" y="0"/>
                    </a:lnTo>
                    <a:cubicBezTo>
                      <a:pt x="1147041" y="0"/>
                      <a:pt x="1180190" y="33148"/>
                      <a:pt x="1180190" y="74039"/>
                    </a:cubicBezTo>
                    <a:lnTo>
                      <a:pt x="1180190" y="74039"/>
                    </a:lnTo>
                    <a:cubicBezTo>
                      <a:pt x="1180190" y="114930"/>
                      <a:pt x="1147041" y="148078"/>
                      <a:pt x="1106150" y="148078"/>
                    </a:cubicBezTo>
                    <a:lnTo>
                      <a:pt x="74039" y="148078"/>
                    </a:lnTo>
                    <a:cubicBezTo>
                      <a:pt x="33148" y="148078"/>
                      <a:pt x="0" y="114930"/>
                      <a:pt x="0" y="74039"/>
                    </a:cubicBezTo>
                    <a:lnTo>
                      <a:pt x="0" y="74039"/>
                    </a:lnTo>
                    <a:cubicBezTo>
                      <a:pt x="0" y="33148"/>
                      <a:pt x="33148" y="0"/>
                      <a:pt x="74039"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87" name="Google Shape;287;h2fef75e91d461226_11_370"/>
              <p:cNvSpPr txBox="1"/>
              <p:nvPr/>
            </p:nvSpPr>
            <p:spPr>
              <a:xfrm>
                <a:off x="0" y="-38100"/>
                <a:ext cx="1180200" cy="1863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88" name="Google Shape;288;h2fef75e91d461226_11_370"/>
            <p:cNvSpPr txBox="1"/>
            <p:nvPr/>
          </p:nvSpPr>
          <p:spPr>
            <a:xfrm>
              <a:off x="314051" y="39367"/>
              <a:ext cx="2659500" cy="246300"/>
            </a:xfrm>
            <a:prstGeom prst="rect">
              <a:avLst/>
            </a:prstGeom>
            <a:noFill/>
            <a:ln>
              <a:noFill/>
            </a:ln>
          </p:spPr>
          <p:txBody>
            <a:bodyPr anchorCtr="0" anchor="t" bIns="0" lIns="0" spcFirstLastPara="1" rIns="0" wrap="square" tIns="0">
              <a:spAutoFit/>
            </a:bodyPr>
            <a:lstStyle/>
            <a:p>
              <a:pPr indent="0" lvl="0" marL="0" marR="0" rtl="0" algn="ctr">
                <a:lnSpc>
                  <a:spcPct val="150041"/>
                </a:lnSpc>
                <a:spcBef>
                  <a:spcPts val="0"/>
                </a:spcBef>
                <a:spcAft>
                  <a:spcPts val="0"/>
                </a:spcAft>
                <a:buNone/>
              </a:pPr>
              <a:r>
                <a:rPr b="1" i="0" lang="en-US" sz="800" u="none" cap="none" strike="noStrike">
                  <a:solidFill>
                    <a:srgbClr val="FFFFFF"/>
                  </a:solidFill>
                  <a:latin typeface="Arial"/>
                  <a:ea typeface="Arial"/>
                  <a:cs typeface="Arial"/>
                  <a:sym typeface="Arial"/>
                </a:rPr>
                <a:t>TELEMARKETING</a:t>
              </a:r>
              <a:endParaRPr sz="900"/>
            </a:p>
          </p:txBody>
        </p:sp>
      </p:grpSp>
      <p:sp>
        <p:nvSpPr>
          <p:cNvPr id="289" name="Google Shape;289;h2fef75e91d461226_11_370"/>
          <p:cNvSpPr txBox="1"/>
          <p:nvPr/>
        </p:nvSpPr>
        <p:spPr>
          <a:xfrm>
            <a:off x="787379" y="5431507"/>
            <a:ext cx="2039400" cy="123000"/>
          </a:xfrm>
          <a:prstGeom prst="rect">
            <a:avLst/>
          </a:prstGeom>
          <a:noFill/>
          <a:ln>
            <a:noFill/>
          </a:ln>
        </p:spPr>
        <p:txBody>
          <a:bodyPr anchorCtr="0" anchor="t" bIns="0" lIns="0" spcFirstLastPara="1" rIns="0" wrap="square" tIns="0">
            <a:sp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Telemarketing</a:t>
            </a:r>
            <a:endParaRPr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93" name="Shape 293"/>
        <p:cNvGrpSpPr/>
        <p:nvPr/>
      </p:nvGrpSpPr>
      <p:grpSpPr>
        <a:xfrm>
          <a:off x="0" y="0"/>
          <a:ext cx="0" cy="0"/>
          <a:chOff x="0" y="0"/>
          <a:chExt cx="0" cy="0"/>
        </a:xfrm>
      </p:grpSpPr>
      <p:sp>
        <p:nvSpPr>
          <p:cNvPr id="294" name="Google Shape;294;h2fef75e91d461226_11_489"/>
          <p:cNvSpPr/>
          <p:nvPr/>
        </p:nvSpPr>
        <p:spPr>
          <a:xfrm>
            <a:off x="0" y="2401570"/>
            <a:ext cx="12207240" cy="4989709"/>
          </a:xfrm>
          <a:custGeom>
            <a:rect b="b" l="l" r="r" t="t"/>
            <a:pathLst>
              <a:path extrusionOk="0" h="7475220" w="18288000">
                <a:moveTo>
                  <a:pt x="0" y="0"/>
                </a:moveTo>
                <a:lnTo>
                  <a:pt x="18288000" y="0"/>
                </a:lnTo>
                <a:lnTo>
                  <a:pt x="18288000" y="7475220"/>
                </a:lnTo>
                <a:lnTo>
                  <a:pt x="0" y="7475220"/>
                </a:lnTo>
                <a:lnTo>
                  <a:pt x="0" y="0"/>
                </a:lnTo>
                <a:close/>
              </a:path>
            </a:pathLst>
          </a:custGeom>
          <a:blipFill rotWithShape="1">
            <a:blip r:embed="rId3">
              <a:alphaModFix/>
            </a:blip>
            <a:stretch>
              <a:fillRect b="0" l="0" r="0" t="0"/>
            </a:stretch>
          </a:blipFill>
          <a:ln>
            <a:noFill/>
          </a:ln>
          <a:effectLst>
            <a:reflection blurRad="0" dir="5400000" dist="38100" endA="0" endPos="30000" fadeDir="5400012" kx="0" rotWithShape="0" algn="bl" stPos="0" sy="-100000" ky="0"/>
          </a:effectLst>
        </p:spPr>
      </p:sp>
      <p:sp>
        <p:nvSpPr>
          <p:cNvPr id="295" name="Google Shape;295;h2fef75e91d461226_11_489"/>
          <p:cNvSpPr/>
          <p:nvPr/>
        </p:nvSpPr>
        <p:spPr>
          <a:xfrm>
            <a:off x="9915702" y="3691779"/>
            <a:ext cx="394680" cy="288610"/>
          </a:xfrm>
          <a:custGeom>
            <a:rect b="b" l="l" r="r" t="t"/>
            <a:pathLst>
              <a:path extrusionOk="0" h="432374" w="591281">
                <a:moveTo>
                  <a:pt x="0" y="0"/>
                </a:moveTo>
                <a:lnTo>
                  <a:pt x="591281" y="0"/>
                </a:lnTo>
                <a:lnTo>
                  <a:pt x="591281" y="432375"/>
                </a:lnTo>
                <a:lnTo>
                  <a:pt x="0" y="432375"/>
                </a:lnTo>
                <a:lnTo>
                  <a:pt x="0" y="0"/>
                </a:lnTo>
                <a:close/>
              </a:path>
            </a:pathLst>
          </a:custGeom>
          <a:blipFill rotWithShape="1">
            <a:blip r:embed="rId4">
              <a:alphaModFix/>
            </a:blip>
            <a:stretch>
              <a:fillRect b="0" l="0" r="0" t="0"/>
            </a:stretch>
          </a:blipFill>
          <a:ln>
            <a:noFill/>
          </a:ln>
        </p:spPr>
      </p:sp>
      <p:sp>
        <p:nvSpPr>
          <p:cNvPr id="296" name="Google Shape;296;h2fef75e91d461226_11_489"/>
          <p:cNvSpPr/>
          <p:nvPr/>
        </p:nvSpPr>
        <p:spPr>
          <a:xfrm>
            <a:off x="367476" y="3402459"/>
            <a:ext cx="318713" cy="599930"/>
          </a:xfrm>
          <a:custGeom>
            <a:rect b="b" l="l" r="r" t="t"/>
            <a:pathLst>
              <a:path extrusionOk="0" h="898771" w="477472">
                <a:moveTo>
                  <a:pt x="0" y="0"/>
                </a:moveTo>
                <a:lnTo>
                  <a:pt x="477472" y="0"/>
                </a:lnTo>
                <a:lnTo>
                  <a:pt x="477472" y="898772"/>
                </a:lnTo>
                <a:lnTo>
                  <a:pt x="0" y="898772"/>
                </a:lnTo>
                <a:lnTo>
                  <a:pt x="0" y="0"/>
                </a:lnTo>
                <a:close/>
              </a:path>
            </a:pathLst>
          </a:custGeom>
          <a:blipFill rotWithShape="1">
            <a:blip r:embed="rId5">
              <a:alphaModFix/>
            </a:blip>
            <a:stretch>
              <a:fillRect b="0" l="0" r="0" t="0"/>
            </a:stretch>
          </a:blipFill>
          <a:ln>
            <a:noFill/>
          </a:ln>
        </p:spPr>
      </p:sp>
      <p:sp>
        <p:nvSpPr>
          <p:cNvPr id="297" name="Google Shape;297;h2fef75e91d461226_11_489"/>
          <p:cNvSpPr/>
          <p:nvPr/>
        </p:nvSpPr>
        <p:spPr>
          <a:xfrm>
            <a:off x="11736832" y="3077369"/>
            <a:ext cx="455423" cy="975149"/>
          </a:xfrm>
          <a:custGeom>
            <a:rect b="b" l="l" r="r" t="t"/>
            <a:pathLst>
              <a:path extrusionOk="0" h="1460897" w="682282">
                <a:moveTo>
                  <a:pt x="0" y="0"/>
                </a:moveTo>
                <a:lnTo>
                  <a:pt x="682282" y="0"/>
                </a:lnTo>
                <a:lnTo>
                  <a:pt x="682282" y="1460897"/>
                </a:lnTo>
                <a:lnTo>
                  <a:pt x="0" y="1460897"/>
                </a:lnTo>
                <a:lnTo>
                  <a:pt x="0" y="0"/>
                </a:lnTo>
                <a:close/>
              </a:path>
            </a:pathLst>
          </a:custGeom>
          <a:blipFill rotWithShape="1">
            <a:blip r:embed="rId6">
              <a:alphaModFix/>
            </a:blip>
            <a:stretch>
              <a:fillRect b="-44810" l="0" r="0" t="0"/>
            </a:stretch>
          </a:blipFill>
          <a:ln>
            <a:noFill/>
          </a:ln>
        </p:spPr>
      </p:sp>
      <p:sp>
        <p:nvSpPr>
          <p:cNvPr id="298" name="Google Shape;298;h2fef75e91d461226_11_489"/>
          <p:cNvSpPr/>
          <p:nvPr/>
        </p:nvSpPr>
        <p:spPr>
          <a:xfrm>
            <a:off x="8076219" y="3699199"/>
            <a:ext cx="571807" cy="273752"/>
          </a:xfrm>
          <a:custGeom>
            <a:rect b="b" l="l" r="r" t="t"/>
            <a:pathLst>
              <a:path extrusionOk="0" h="410116" w="856640">
                <a:moveTo>
                  <a:pt x="0" y="0"/>
                </a:moveTo>
                <a:lnTo>
                  <a:pt x="856640" y="0"/>
                </a:lnTo>
                <a:lnTo>
                  <a:pt x="856640" y="410117"/>
                </a:lnTo>
                <a:lnTo>
                  <a:pt x="0" y="410117"/>
                </a:lnTo>
                <a:lnTo>
                  <a:pt x="0" y="0"/>
                </a:lnTo>
                <a:close/>
              </a:path>
            </a:pathLst>
          </a:custGeom>
          <a:blipFill rotWithShape="1">
            <a:blip r:embed="rId7">
              <a:alphaModFix/>
            </a:blip>
            <a:stretch>
              <a:fillRect b="0" l="0" r="0" t="0"/>
            </a:stretch>
          </a:blipFill>
          <a:ln>
            <a:noFill/>
          </a:ln>
        </p:spPr>
      </p:sp>
      <p:sp>
        <p:nvSpPr>
          <p:cNvPr id="299" name="Google Shape;299;h2fef75e91d461226_11_489"/>
          <p:cNvSpPr/>
          <p:nvPr/>
        </p:nvSpPr>
        <p:spPr>
          <a:xfrm>
            <a:off x="4715686" y="4715491"/>
            <a:ext cx="690399" cy="885127"/>
          </a:xfrm>
          <a:custGeom>
            <a:rect b="b" l="l" r="r" t="t"/>
            <a:pathLst>
              <a:path extrusionOk="0" h="1326033" w="1034306">
                <a:moveTo>
                  <a:pt x="0" y="0"/>
                </a:moveTo>
                <a:lnTo>
                  <a:pt x="1034305" y="0"/>
                </a:lnTo>
                <a:lnTo>
                  <a:pt x="1034305" y="1326032"/>
                </a:lnTo>
                <a:lnTo>
                  <a:pt x="0" y="1326032"/>
                </a:lnTo>
                <a:lnTo>
                  <a:pt x="0" y="0"/>
                </a:lnTo>
                <a:close/>
              </a:path>
            </a:pathLst>
          </a:custGeom>
          <a:blipFill rotWithShape="1">
            <a:blip r:embed="rId8">
              <a:alphaModFix/>
            </a:blip>
            <a:stretch>
              <a:fillRect b="0" l="0" r="0" t="0"/>
            </a:stretch>
          </a:blipFill>
          <a:ln>
            <a:noFill/>
          </a:ln>
        </p:spPr>
      </p:sp>
      <p:sp>
        <p:nvSpPr>
          <p:cNvPr id="300" name="Google Shape;300;h2fef75e91d461226_11_489"/>
          <p:cNvSpPr/>
          <p:nvPr/>
        </p:nvSpPr>
        <p:spPr>
          <a:xfrm>
            <a:off x="6795260" y="4705803"/>
            <a:ext cx="690399" cy="885127"/>
          </a:xfrm>
          <a:custGeom>
            <a:rect b="b" l="l" r="r" t="t"/>
            <a:pathLst>
              <a:path extrusionOk="0" h="1326033" w="1034306">
                <a:moveTo>
                  <a:pt x="0" y="0"/>
                </a:moveTo>
                <a:lnTo>
                  <a:pt x="1034306" y="0"/>
                </a:lnTo>
                <a:lnTo>
                  <a:pt x="1034306" y="1326033"/>
                </a:lnTo>
                <a:lnTo>
                  <a:pt x="0" y="1326033"/>
                </a:lnTo>
                <a:lnTo>
                  <a:pt x="0" y="0"/>
                </a:lnTo>
                <a:close/>
              </a:path>
            </a:pathLst>
          </a:custGeom>
          <a:blipFill rotWithShape="1">
            <a:blip r:embed="rId9">
              <a:alphaModFix/>
            </a:blip>
            <a:stretch>
              <a:fillRect b="0" l="0" r="0" t="0"/>
            </a:stretch>
          </a:blipFill>
          <a:ln>
            <a:noFill/>
          </a:ln>
        </p:spPr>
      </p:sp>
      <p:grpSp>
        <p:nvGrpSpPr>
          <p:cNvPr id="301" name="Google Shape;301;h2fef75e91d461226_11_489"/>
          <p:cNvGrpSpPr/>
          <p:nvPr/>
        </p:nvGrpSpPr>
        <p:grpSpPr>
          <a:xfrm>
            <a:off x="4879200" y="4826157"/>
            <a:ext cx="362509" cy="383750"/>
            <a:chOff x="0" y="-47625"/>
            <a:chExt cx="812800" cy="860425"/>
          </a:xfrm>
        </p:grpSpPr>
        <p:sp>
          <p:nvSpPr>
            <p:cNvPr id="302" name="Google Shape;302;h2fef75e91d461226_11_4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ECE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03" name="Google Shape;303;h2fef75e91d461226_11_489"/>
            <p:cNvSpPr txBox="1"/>
            <p:nvPr/>
          </p:nvSpPr>
          <p:spPr>
            <a:xfrm>
              <a:off x="76200" y="-47625"/>
              <a:ext cx="660300" cy="7842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04" name="Google Shape;304;h2fef75e91d461226_11_489"/>
          <p:cNvGrpSpPr/>
          <p:nvPr/>
        </p:nvGrpSpPr>
        <p:grpSpPr>
          <a:xfrm>
            <a:off x="6958775" y="4816470"/>
            <a:ext cx="362509" cy="383750"/>
            <a:chOff x="0" y="-47625"/>
            <a:chExt cx="812800" cy="860425"/>
          </a:xfrm>
        </p:grpSpPr>
        <p:sp>
          <p:nvSpPr>
            <p:cNvPr id="305" name="Google Shape;305;h2fef75e91d461226_11_4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ECE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06" name="Google Shape;306;h2fef75e91d461226_11_489"/>
            <p:cNvSpPr txBox="1"/>
            <p:nvPr/>
          </p:nvSpPr>
          <p:spPr>
            <a:xfrm>
              <a:off x="76200" y="-47625"/>
              <a:ext cx="660300" cy="7842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307" name="Google Shape;307;h2fef75e91d461226_11_489"/>
          <p:cNvSpPr/>
          <p:nvPr/>
        </p:nvSpPr>
        <p:spPr>
          <a:xfrm>
            <a:off x="4715686" y="2401570"/>
            <a:ext cx="690399" cy="885127"/>
          </a:xfrm>
          <a:custGeom>
            <a:rect b="b" l="l" r="r" t="t"/>
            <a:pathLst>
              <a:path extrusionOk="0" h="1326033" w="1034306">
                <a:moveTo>
                  <a:pt x="0" y="0"/>
                </a:moveTo>
                <a:lnTo>
                  <a:pt x="1034305" y="0"/>
                </a:lnTo>
                <a:lnTo>
                  <a:pt x="1034305" y="1326033"/>
                </a:lnTo>
                <a:lnTo>
                  <a:pt x="0" y="1326033"/>
                </a:lnTo>
                <a:lnTo>
                  <a:pt x="0" y="0"/>
                </a:lnTo>
                <a:close/>
              </a:path>
            </a:pathLst>
          </a:custGeom>
          <a:blipFill rotWithShape="1">
            <a:blip r:embed="rId10">
              <a:alphaModFix/>
            </a:blip>
            <a:stretch>
              <a:fillRect b="0" l="0" r="0" t="0"/>
            </a:stretch>
          </a:blipFill>
          <a:ln>
            <a:noFill/>
          </a:ln>
        </p:spPr>
      </p:sp>
      <p:sp>
        <p:nvSpPr>
          <p:cNvPr id="308" name="Google Shape;308;h2fef75e91d461226_11_489"/>
          <p:cNvSpPr/>
          <p:nvPr/>
        </p:nvSpPr>
        <p:spPr>
          <a:xfrm>
            <a:off x="6795260" y="2391883"/>
            <a:ext cx="690399" cy="885127"/>
          </a:xfrm>
          <a:custGeom>
            <a:rect b="b" l="l" r="r" t="t"/>
            <a:pathLst>
              <a:path extrusionOk="0" h="1326033" w="1034306">
                <a:moveTo>
                  <a:pt x="0" y="0"/>
                </a:moveTo>
                <a:lnTo>
                  <a:pt x="1034306" y="0"/>
                </a:lnTo>
                <a:lnTo>
                  <a:pt x="1034306" y="1326033"/>
                </a:lnTo>
                <a:lnTo>
                  <a:pt x="0" y="1326033"/>
                </a:lnTo>
                <a:lnTo>
                  <a:pt x="0" y="0"/>
                </a:lnTo>
                <a:close/>
              </a:path>
            </a:pathLst>
          </a:custGeom>
          <a:blipFill rotWithShape="1">
            <a:blip r:embed="rId11">
              <a:alphaModFix/>
            </a:blip>
            <a:stretch>
              <a:fillRect b="0" l="0" r="0" t="0"/>
            </a:stretch>
          </a:blipFill>
          <a:ln>
            <a:noFill/>
          </a:ln>
        </p:spPr>
      </p:sp>
      <p:grpSp>
        <p:nvGrpSpPr>
          <p:cNvPr id="309" name="Google Shape;309;h2fef75e91d461226_11_489"/>
          <p:cNvGrpSpPr/>
          <p:nvPr/>
        </p:nvGrpSpPr>
        <p:grpSpPr>
          <a:xfrm>
            <a:off x="4879200" y="2512237"/>
            <a:ext cx="362509" cy="383750"/>
            <a:chOff x="0" y="-47625"/>
            <a:chExt cx="812800" cy="860425"/>
          </a:xfrm>
        </p:grpSpPr>
        <p:sp>
          <p:nvSpPr>
            <p:cNvPr id="310" name="Google Shape;310;h2fef75e91d461226_11_4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ECE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11" name="Google Shape;311;h2fef75e91d461226_11_489"/>
            <p:cNvSpPr txBox="1"/>
            <p:nvPr/>
          </p:nvSpPr>
          <p:spPr>
            <a:xfrm>
              <a:off x="76200" y="-47625"/>
              <a:ext cx="660300" cy="7842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12" name="Google Shape;312;h2fef75e91d461226_11_489"/>
          <p:cNvGrpSpPr/>
          <p:nvPr/>
        </p:nvGrpSpPr>
        <p:grpSpPr>
          <a:xfrm>
            <a:off x="6958775" y="2502549"/>
            <a:ext cx="362509" cy="383750"/>
            <a:chOff x="0" y="-47625"/>
            <a:chExt cx="812800" cy="860425"/>
          </a:xfrm>
        </p:grpSpPr>
        <p:sp>
          <p:nvSpPr>
            <p:cNvPr id="313" name="Google Shape;313;h2fef75e91d461226_11_4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ECE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14" name="Google Shape;314;h2fef75e91d461226_11_489"/>
            <p:cNvSpPr txBox="1"/>
            <p:nvPr/>
          </p:nvSpPr>
          <p:spPr>
            <a:xfrm>
              <a:off x="76200" y="-47625"/>
              <a:ext cx="660300" cy="7842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15" name="Google Shape;315;h2fef75e91d461226_11_489"/>
          <p:cNvGrpSpPr/>
          <p:nvPr/>
        </p:nvGrpSpPr>
        <p:grpSpPr>
          <a:xfrm>
            <a:off x="4035758" y="1949545"/>
            <a:ext cx="31894" cy="1424850"/>
            <a:chOff x="0" y="-123825"/>
            <a:chExt cx="12600" cy="562915"/>
          </a:xfrm>
        </p:grpSpPr>
        <p:sp>
          <p:nvSpPr>
            <p:cNvPr id="316" name="Google Shape;316;h2fef75e91d461226_11_489"/>
            <p:cNvSpPr/>
            <p:nvPr/>
          </p:nvSpPr>
          <p:spPr>
            <a:xfrm>
              <a:off x="0" y="0"/>
              <a:ext cx="12543" cy="439090"/>
            </a:xfrm>
            <a:custGeom>
              <a:rect b="b" l="l" r="r" t="t"/>
              <a:pathLst>
                <a:path extrusionOk="0" h="439090" w="12543">
                  <a:moveTo>
                    <a:pt x="0" y="0"/>
                  </a:moveTo>
                  <a:lnTo>
                    <a:pt x="12543" y="0"/>
                  </a:lnTo>
                  <a:lnTo>
                    <a:pt x="12543" y="439090"/>
                  </a:lnTo>
                  <a:lnTo>
                    <a:pt x="0" y="439090"/>
                  </a:lnTo>
                  <a:close/>
                </a:path>
              </a:pathLst>
            </a:custGeom>
            <a:solidFill>
              <a:srgbClr val="E98C76"/>
            </a:solidFill>
            <a:ln>
              <a:noFill/>
            </a:ln>
          </p:spPr>
        </p:sp>
        <p:sp>
          <p:nvSpPr>
            <p:cNvPr id="317" name="Google Shape;317;h2fef75e91d461226_11_489"/>
            <p:cNvSpPr txBox="1"/>
            <p:nvPr/>
          </p:nvSpPr>
          <p:spPr>
            <a:xfrm>
              <a:off x="0" y="-123825"/>
              <a:ext cx="12600" cy="5628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18" name="Google Shape;318;h2fef75e91d461226_11_489"/>
          <p:cNvGrpSpPr/>
          <p:nvPr/>
        </p:nvGrpSpPr>
        <p:grpSpPr>
          <a:xfrm>
            <a:off x="8132462" y="1949545"/>
            <a:ext cx="31894" cy="1424850"/>
            <a:chOff x="0" y="-123825"/>
            <a:chExt cx="12600" cy="562915"/>
          </a:xfrm>
        </p:grpSpPr>
        <p:sp>
          <p:nvSpPr>
            <p:cNvPr id="319" name="Google Shape;319;h2fef75e91d461226_11_489"/>
            <p:cNvSpPr/>
            <p:nvPr/>
          </p:nvSpPr>
          <p:spPr>
            <a:xfrm>
              <a:off x="0" y="0"/>
              <a:ext cx="12543" cy="439090"/>
            </a:xfrm>
            <a:custGeom>
              <a:rect b="b" l="l" r="r" t="t"/>
              <a:pathLst>
                <a:path extrusionOk="0" h="439090" w="12543">
                  <a:moveTo>
                    <a:pt x="0" y="0"/>
                  </a:moveTo>
                  <a:lnTo>
                    <a:pt x="12543" y="0"/>
                  </a:lnTo>
                  <a:lnTo>
                    <a:pt x="12543" y="439090"/>
                  </a:lnTo>
                  <a:lnTo>
                    <a:pt x="0" y="439090"/>
                  </a:lnTo>
                  <a:close/>
                </a:path>
              </a:pathLst>
            </a:custGeom>
            <a:solidFill>
              <a:srgbClr val="909D7B"/>
            </a:solidFill>
            <a:ln>
              <a:noFill/>
            </a:ln>
          </p:spPr>
        </p:sp>
        <p:sp>
          <p:nvSpPr>
            <p:cNvPr id="320" name="Google Shape;320;h2fef75e91d461226_11_489"/>
            <p:cNvSpPr txBox="1"/>
            <p:nvPr/>
          </p:nvSpPr>
          <p:spPr>
            <a:xfrm>
              <a:off x="0" y="-123825"/>
              <a:ext cx="12600" cy="5628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21" name="Google Shape;321;h2fef75e91d461226_11_489"/>
          <p:cNvGrpSpPr/>
          <p:nvPr/>
        </p:nvGrpSpPr>
        <p:grpSpPr>
          <a:xfrm>
            <a:off x="8164211" y="4750294"/>
            <a:ext cx="31894" cy="1424850"/>
            <a:chOff x="0" y="-123825"/>
            <a:chExt cx="12600" cy="562915"/>
          </a:xfrm>
        </p:grpSpPr>
        <p:sp>
          <p:nvSpPr>
            <p:cNvPr id="322" name="Google Shape;322;h2fef75e91d461226_11_489"/>
            <p:cNvSpPr/>
            <p:nvPr/>
          </p:nvSpPr>
          <p:spPr>
            <a:xfrm>
              <a:off x="0" y="0"/>
              <a:ext cx="12543" cy="439090"/>
            </a:xfrm>
            <a:custGeom>
              <a:rect b="b" l="l" r="r" t="t"/>
              <a:pathLst>
                <a:path extrusionOk="0" h="439090" w="12543">
                  <a:moveTo>
                    <a:pt x="0" y="0"/>
                  </a:moveTo>
                  <a:lnTo>
                    <a:pt x="12543" y="0"/>
                  </a:lnTo>
                  <a:lnTo>
                    <a:pt x="12543" y="439090"/>
                  </a:lnTo>
                  <a:lnTo>
                    <a:pt x="0" y="439090"/>
                  </a:lnTo>
                  <a:close/>
                </a:path>
              </a:pathLst>
            </a:custGeom>
            <a:solidFill>
              <a:srgbClr val="CBB3A1"/>
            </a:solidFill>
            <a:ln>
              <a:noFill/>
            </a:ln>
          </p:spPr>
        </p:sp>
        <p:sp>
          <p:nvSpPr>
            <p:cNvPr id="323" name="Google Shape;323;h2fef75e91d461226_11_489"/>
            <p:cNvSpPr txBox="1"/>
            <p:nvPr/>
          </p:nvSpPr>
          <p:spPr>
            <a:xfrm>
              <a:off x="0" y="-123825"/>
              <a:ext cx="12600" cy="5628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24" name="Google Shape;324;h2fef75e91d461226_11_489"/>
          <p:cNvGrpSpPr/>
          <p:nvPr/>
        </p:nvGrpSpPr>
        <p:grpSpPr>
          <a:xfrm>
            <a:off x="4019884" y="4750294"/>
            <a:ext cx="31894" cy="1424850"/>
            <a:chOff x="0" y="-123825"/>
            <a:chExt cx="12600" cy="562915"/>
          </a:xfrm>
        </p:grpSpPr>
        <p:sp>
          <p:nvSpPr>
            <p:cNvPr id="325" name="Google Shape;325;h2fef75e91d461226_11_489"/>
            <p:cNvSpPr/>
            <p:nvPr/>
          </p:nvSpPr>
          <p:spPr>
            <a:xfrm>
              <a:off x="0" y="0"/>
              <a:ext cx="12543" cy="439090"/>
            </a:xfrm>
            <a:custGeom>
              <a:rect b="b" l="l" r="r" t="t"/>
              <a:pathLst>
                <a:path extrusionOk="0" h="439090" w="12543">
                  <a:moveTo>
                    <a:pt x="0" y="0"/>
                  </a:moveTo>
                  <a:lnTo>
                    <a:pt x="12543" y="0"/>
                  </a:lnTo>
                  <a:lnTo>
                    <a:pt x="12543" y="439090"/>
                  </a:lnTo>
                  <a:lnTo>
                    <a:pt x="0" y="439090"/>
                  </a:lnTo>
                  <a:close/>
                </a:path>
              </a:pathLst>
            </a:custGeom>
            <a:solidFill>
              <a:srgbClr val="93C669"/>
            </a:solidFill>
            <a:ln>
              <a:noFill/>
            </a:ln>
          </p:spPr>
        </p:sp>
        <p:sp>
          <p:nvSpPr>
            <p:cNvPr id="326" name="Google Shape;326;h2fef75e91d461226_11_489"/>
            <p:cNvSpPr txBox="1"/>
            <p:nvPr/>
          </p:nvSpPr>
          <p:spPr>
            <a:xfrm>
              <a:off x="0" y="-123825"/>
              <a:ext cx="12600" cy="562800"/>
            </a:xfrm>
            <a:prstGeom prst="rect">
              <a:avLst/>
            </a:prstGeom>
            <a:noFill/>
            <a:ln>
              <a:noFill/>
            </a:ln>
          </p:spPr>
          <p:txBody>
            <a:bodyPr anchorCtr="0" anchor="ctr" bIns="33875" lIns="33875" spcFirstLastPara="1" rIns="33875" wrap="square" tIns="33875">
              <a:noAutofit/>
            </a:bodyPr>
            <a:lstStyle/>
            <a:p>
              <a:pPr indent="0" lvl="0" marL="0" marR="0" rtl="0" algn="ctr">
                <a:lnSpc>
                  <a:spcPct val="186666"/>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327" name="Google Shape;327;h2fef75e91d461226_11_489"/>
          <p:cNvSpPr/>
          <p:nvPr/>
        </p:nvSpPr>
        <p:spPr>
          <a:xfrm rot="-939031">
            <a:off x="5369702" y="2123142"/>
            <a:ext cx="523277" cy="374797"/>
          </a:xfrm>
          <a:custGeom>
            <a:rect b="b" l="l" r="r" t="t"/>
            <a:pathLst>
              <a:path extrusionOk="0" h="561714" w="784243">
                <a:moveTo>
                  <a:pt x="0" y="0"/>
                </a:moveTo>
                <a:lnTo>
                  <a:pt x="784243" y="0"/>
                </a:lnTo>
                <a:lnTo>
                  <a:pt x="784243" y="561715"/>
                </a:lnTo>
                <a:lnTo>
                  <a:pt x="0" y="561715"/>
                </a:lnTo>
                <a:lnTo>
                  <a:pt x="0" y="0"/>
                </a:lnTo>
                <a:close/>
              </a:path>
            </a:pathLst>
          </a:custGeom>
          <a:blipFill rotWithShape="1">
            <a:blip r:embed="rId12">
              <a:alphaModFix/>
            </a:blip>
            <a:stretch>
              <a:fillRect b="0" l="0" r="0" t="0"/>
            </a:stretch>
          </a:blipFill>
          <a:ln>
            <a:noFill/>
          </a:ln>
        </p:spPr>
      </p:sp>
      <p:sp>
        <p:nvSpPr>
          <p:cNvPr id="328" name="Google Shape;328;h2fef75e91d461226_11_489"/>
          <p:cNvSpPr/>
          <p:nvPr/>
        </p:nvSpPr>
        <p:spPr>
          <a:xfrm>
            <a:off x="6208790" y="1897046"/>
            <a:ext cx="538705" cy="606138"/>
          </a:xfrm>
          <a:custGeom>
            <a:rect b="b" l="l" r="r" t="t"/>
            <a:pathLst>
              <a:path extrusionOk="0" h="908072" w="807049">
                <a:moveTo>
                  <a:pt x="0" y="0"/>
                </a:moveTo>
                <a:lnTo>
                  <a:pt x="807049" y="0"/>
                </a:lnTo>
                <a:lnTo>
                  <a:pt x="807049" y="908072"/>
                </a:lnTo>
                <a:lnTo>
                  <a:pt x="0" y="908072"/>
                </a:lnTo>
                <a:lnTo>
                  <a:pt x="0" y="0"/>
                </a:lnTo>
                <a:close/>
              </a:path>
            </a:pathLst>
          </a:custGeom>
          <a:blipFill rotWithShape="1">
            <a:blip r:embed="rId13">
              <a:alphaModFix/>
            </a:blip>
            <a:stretch>
              <a:fillRect b="0" l="0" r="0" t="0"/>
            </a:stretch>
          </a:blipFill>
          <a:ln>
            <a:noFill/>
          </a:ln>
        </p:spPr>
      </p:sp>
      <p:sp>
        <p:nvSpPr>
          <p:cNvPr id="329" name="Google Shape;329;h2fef75e91d461226_11_489"/>
          <p:cNvSpPr/>
          <p:nvPr/>
        </p:nvSpPr>
        <p:spPr>
          <a:xfrm>
            <a:off x="9915702" y="1469613"/>
            <a:ext cx="853966" cy="218829"/>
          </a:xfrm>
          <a:custGeom>
            <a:rect b="b" l="l" r="r" t="t"/>
            <a:pathLst>
              <a:path extrusionOk="0" h="327833" w="1279350">
                <a:moveTo>
                  <a:pt x="0" y="0"/>
                </a:moveTo>
                <a:lnTo>
                  <a:pt x="1279350" y="0"/>
                </a:lnTo>
                <a:lnTo>
                  <a:pt x="1279350" y="327833"/>
                </a:lnTo>
                <a:lnTo>
                  <a:pt x="0" y="327833"/>
                </a:lnTo>
                <a:lnTo>
                  <a:pt x="0" y="0"/>
                </a:lnTo>
                <a:close/>
              </a:path>
            </a:pathLst>
          </a:custGeom>
          <a:blipFill rotWithShape="1">
            <a:blip r:embed="rId14">
              <a:alphaModFix/>
            </a:blip>
            <a:stretch>
              <a:fillRect b="0" l="0" r="0" t="0"/>
            </a:stretch>
          </a:blipFill>
          <a:ln>
            <a:noFill/>
          </a:ln>
        </p:spPr>
      </p:sp>
      <p:sp>
        <p:nvSpPr>
          <p:cNvPr id="330" name="Google Shape;330;h2fef75e91d461226_11_489"/>
          <p:cNvSpPr/>
          <p:nvPr/>
        </p:nvSpPr>
        <p:spPr>
          <a:xfrm flipH="1" rot="-10593467">
            <a:off x="4772201" y="3217975"/>
            <a:ext cx="1931556" cy="1685282"/>
          </a:xfrm>
          <a:custGeom>
            <a:rect b="b" l="l" r="r" t="t"/>
            <a:pathLst>
              <a:path extrusionOk="0" h="2529687" w="2899355">
                <a:moveTo>
                  <a:pt x="2899355" y="0"/>
                </a:moveTo>
                <a:lnTo>
                  <a:pt x="0" y="0"/>
                </a:lnTo>
                <a:lnTo>
                  <a:pt x="0" y="2529687"/>
                </a:lnTo>
                <a:lnTo>
                  <a:pt x="2899355" y="2529687"/>
                </a:lnTo>
                <a:lnTo>
                  <a:pt x="2899355" y="0"/>
                </a:lnTo>
                <a:close/>
              </a:path>
            </a:pathLst>
          </a:custGeom>
          <a:blipFill rotWithShape="1">
            <a:blip r:embed="rId15">
              <a:alphaModFix/>
            </a:blip>
            <a:stretch>
              <a:fillRect b="0" l="0" r="0" t="0"/>
            </a:stretch>
          </a:blipFill>
          <a:ln>
            <a:noFill/>
          </a:ln>
        </p:spPr>
      </p:sp>
      <p:sp>
        <p:nvSpPr>
          <p:cNvPr id="331" name="Google Shape;331;h2fef75e91d461226_11_489"/>
          <p:cNvSpPr/>
          <p:nvPr/>
        </p:nvSpPr>
        <p:spPr>
          <a:xfrm>
            <a:off x="1440454" y="3685567"/>
            <a:ext cx="337128" cy="287401"/>
          </a:xfrm>
          <a:custGeom>
            <a:rect b="b" l="l" r="r" t="t"/>
            <a:pathLst>
              <a:path extrusionOk="0" h="430564" w="505061">
                <a:moveTo>
                  <a:pt x="0" y="0"/>
                </a:moveTo>
                <a:lnTo>
                  <a:pt x="505061" y="0"/>
                </a:lnTo>
                <a:lnTo>
                  <a:pt x="505061" y="430565"/>
                </a:lnTo>
                <a:lnTo>
                  <a:pt x="0" y="430565"/>
                </a:lnTo>
                <a:lnTo>
                  <a:pt x="0" y="0"/>
                </a:lnTo>
                <a:close/>
              </a:path>
            </a:pathLst>
          </a:custGeom>
          <a:blipFill rotWithShape="1">
            <a:blip r:embed="rId16">
              <a:alphaModFix/>
            </a:blip>
            <a:stretch>
              <a:fillRect b="0" l="0" r="0" t="0"/>
            </a:stretch>
          </a:blipFill>
          <a:ln>
            <a:noFill/>
          </a:ln>
        </p:spPr>
      </p:sp>
      <p:sp>
        <p:nvSpPr>
          <p:cNvPr id="332" name="Google Shape;332;h2fef75e91d461226_11_489"/>
          <p:cNvSpPr/>
          <p:nvPr/>
        </p:nvSpPr>
        <p:spPr>
          <a:xfrm>
            <a:off x="3154238" y="3810453"/>
            <a:ext cx="492714" cy="174298"/>
          </a:xfrm>
          <a:custGeom>
            <a:rect b="b" l="l" r="r" t="t"/>
            <a:pathLst>
              <a:path extrusionOk="0" h="261120" w="738149">
                <a:moveTo>
                  <a:pt x="0" y="0"/>
                </a:moveTo>
                <a:lnTo>
                  <a:pt x="738149" y="0"/>
                </a:lnTo>
                <a:lnTo>
                  <a:pt x="738149" y="261120"/>
                </a:lnTo>
                <a:lnTo>
                  <a:pt x="0" y="261120"/>
                </a:lnTo>
                <a:lnTo>
                  <a:pt x="0" y="0"/>
                </a:lnTo>
                <a:close/>
              </a:path>
            </a:pathLst>
          </a:custGeom>
          <a:blipFill rotWithShape="1">
            <a:blip r:embed="rId17">
              <a:alphaModFix/>
            </a:blip>
            <a:stretch>
              <a:fillRect b="0" l="0" r="0" t="0"/>
            </a:stretch>
          </a:blipFill>
          <a:ln>
            <a:noFill/>
          </a:ln>
        </p:spPr>
      </p:sp>
      <p:sp>
        <p:nvSpPr>
          <p:cNvPr id="333" name="Google Shape;333;h2fef75e91d461226_11_489"/>
          <p:cNvSpPr/>
          <p:nvPr/>
        </p:nvSpPr>
        <p:spPr>
          <a:xfrm>
            <a:off x="3425665" y="2262971"/>
            <a:ext cx="526935" cy="479511"/>
          </a:xfrm>
          <a:custGeom>
            <a:rect b="b" l="l" r="r" t="t"/>
            <a:pathLst>
              <a:path extrusionOk="0" h="718368" w="789415">
                <a:moveTo>
                  <a:pt x="0" y="0"/>
                </a:moveTo>
                <a:lnTo>
                  <a:pt x="789415" y="0"/>
                </a:lnTo>
                <a:lnTo>
                  <a:pt x="789415" y="718368"/>
                </a:lnTo>
                <a:lnTo>
                  <a:pt x="0" y="718368"/>
                </a:lnTo>
                <a:lnTo>
                  <a:pt x="0" y="0"/>
                </a:lnTo>
                <a:close/>
              </a:path>
            </a:pathLst>
          </a:custGeom>
          <a:blipFill rotWithShape="1">
            <a:blip r:embed="rId18">
              <a:alphaModFix/>
            </a:blip>
            <a:stretch>
              <a:fillRect b="0" l="0" r="0" t="0"/>
            </a:stretch>
          </a:blipFill>
          <a:ln>
            <a:noFill/>
          </a:ln>
        </p:spPr>
      </p:sp>
      <p:sp>
        <p:nvSpPr>
          <p:cNvPr id="334" name="Google Shape;334;h2fef75e91d461226_11_489"/>
          <p:cNvSpPr/>
          <p:nvPr/>
        </p:nvSpPr>
        <p:spPr>
          <a:xfrm>
            <a:off x="8266233" y="2240189"/>
            <a:ext cx="520500" cy="479511"/>
          </a:xfrm>
          <a:custGeom>
            <a:rect b="b" l="l" r="r" t="t"/>
            <a:pathLst>
              <a:path extrusionOk="0" h="718368" w="779775">
                <a:moveTo>
                  <a:pt x="0" y="0"/>
                </a:moveTo>
                <a:lnTo>
                  <a:pt x="779775" y="0"/>
                </a:lnTo>
                <a:lnTo>
                  <a:pt x="779775" y="718368"/>
                </a:lnTo>
                <a:lnTo>
                  <a:pt x="0" y="718368"/>
                </a:lnTo>
                <a:lnTo>
                  <a:pt x="0" y="0"/>
                </a:lnTo>
                <a:close/>
              </a:path>
            </a:pathLst>
          </a:custGeom>
          <a:blipFill rotWithShape="1">
            <a:blip r:embed="rId19">
              <a:alphaModFix/>
            </a:blip>
            <a:stretch>
              <a:fillRect b="0" l="0" r="0" t="0"/>
            </a:stretch>
          </a:blipFill>
          <a:ln>
            <a:noFill/>
          </a:ln>
        </p:spPr>
      </p:sp>
      <p:sp>
        <p:nvSpPr>
          <p:cNvPr id="335" name="Google Shape;335;h2fef75e91d461226_11_489"/>
          <p:cNvSpPr/>
          <p:nvPr/>
        </p:nvSpPr>
        <p:spPr>
          <a:xfrm>
            <a:off x="3366389" y="5063720"/>
            <a:ext cx="560585" cy="616875"/>
          </a:xfrm>
          <a:custGeom>
            <a:rect b="b" l="l" r="r" t="t"/>
            <a:pathLst>
              <a:path extrusionOk="0" h="924157" w="839828">
                <a:moveTo>
                  <a:pt x="0" y="0"/>
                </a:moveTo>
                <a:lnTo>
                  <a:pt x="839828" y="0"/>
                </a:lnTo>
                <a:lnTo>
                  <a:pt x="839828" y="924157"/>
                </a:lnTo>
                <a:lnTo>
                  <a:pt x="0" y="924157"/>
                </a:lnTo>
                <a:lnTo>
                  <a:pt x="0" y="0"/>
                </a:lnTo>
                <a:close/>
              </a:path>
            </a:pathLst>
          </a:custGeom>
          <a:blipFill rotWithShape="1">
            <a:blip r:embed="rId20">
              <a:alphaModFix/>
            </a:blip>
            <a:stretch>
              <a:fillRect b="0" l="0" r="0" t="0"/>
            </a:stretch>
          </a:blipFill>
          <a:ln>
            <a:noFill/>
          </a:ln>
        </p:spPr>
      </p:sp>
      <p:sp>
        <p:nvSpPr>
          <p:cNvPr id="336" name="Google Shape;336;h2fef75e91d461226_11_489"/>
          <p:cNvSpPr/>
          <p:nvPr/>
        </p:nvSpPr>
        <p:spPr>
          <a:xfrm>
            <a:off x="11929784" y="4520378"/>
            <a:ext cx="524451" cy="317729"/>
          </a:xfrm>
          <a:custGeom>
            <a:rect b="b" l="l" r="r" t="t"/>
            <a:pathLst>
              <a:path extrusionOk="0" h="475999" w="785694">
                <a:moveTo>
                  <a:pt x="0" y="0"/>
                </a:moveTo>
                <a:lnTo>
                  <a:pt x="785694" y="0"/>
                </a:lnTo>
                <a:lnTo>
                  <a:pt x="785694" y="475999"/>
                </a:lnTo>
                <a:lnTo>
                  <a:pt x="0" y="475999"/>
                </a:lnTo>
                <a:lnTo>
                  <a:pt x="0" y="0"/>
                </a:lnTo>
                <a:close/>
              </a:path>
            </a:pathLst>
          </a:custGeom>
          <a:blipFill rotWithShape="1">
            <a:blip r:embed="rId21">
              <a:alphaModFix/>
            </a:blip>
            <a:stretch>
              <a:fillRect b="0" l="0" r="0" t="0"/>
            </a:stretch>
          </a:blipFill>
          <a:ln>
            <a:noFill/>
          </a:ln>
        </p:spPr>
      </p:sp>
      <p:sp>
        <p:nvSpPr>
          <p:cNvPr id="337" name="Google Shape;337;h2fef75e91d461226_11_489"/>
          <p:cNvSpPr/>
          <p:nvPr/>
        </p:nvSpPr>
        <p:spPr>
          <a:xfrm>
            <a:off x="-261891" y="1395263"/>
            <a:ext cx="524451" cy="317729"/>
          </a:xfrm>
          <a:custGeom>
            <a:rect b="b" l="l" r="r" t="t"/>
            <a:pathLst>
              <a:path extrusionOk="0" h="475999" w="785694">
                <a:moveTo>
                  <a:pt x="0" y="0"/>
                </a:moveTo>
                <a:lnTo>
                  <a:pt x="785694" y="0"/>
                </a:lnTo>
                <a:lnTo>
                  <a:pt x="785694" y="475999"/>
                </a:lnTo>
                <a:lnTo>
                  <a:pt x="0" y="475999"/>
                </a:lnTo>
                <a:lnTo>
                  <a:pt x="0" y="0"/>
                </a:lnTo>
                <a:close/>
              </a:path>
            </a:pathLst>
          </a:custGeom>
          <a:blipFill rotWithShape="1">
            <a:blip r:embed="rId21">
              <a:alphaModFix/>
            </a:blip>
            <a:stretch>
              <a:fillRect b="0" l="0" r="0" t="0"/>
            </a:stretch>
          </a:blipFill>
          <a:ln>
            <a:noFill/>
          </a:ln>
        </p:spPr>
      </p:sp>
      <p:sp>
        <p:nvSpPr>
          <p:cNvPr id="338" name="Google Shape;338;h2fef75e91d461226_11_489"/>
          <p:cNvSpPr/>
          <p:nvPr/>
        </p:nvSpPr>
        <p:spPr>
          <a:xfrm>
            <a:off x="2215480" y="3456507"/>
            <a:ext cx="430838" cy="516747"/>
          </a:xfrm>
          <a:custGeom>
            <a:rect b="b" l="l" r="r" t="t"/>
            <a:pathLst>
              <a:path extrusionOk="0" h="774153" w="645450">
                <a:moveTo>
                  <a:pt x="0" y="0"/>
                </a:moveTo>
                <a:lnTo>
                  <a:pt x="645451" y="0"/>
                </a:lnTo>
                <a:lnTo>
                  <a:pt x="645451" y="774154"/>
                </a:lnTo>
                <a:lnTo>
                  <a:pt x="0" y="774154"/>
                </a:lnTo>
                <a:lnTo>
                  <a:pt x="0" y="0"/>
                </a:lnTo>
                <a:close/>
              </a:path>
            </a:pathLst>
          </a:custGeom>
          <a:blipFill rotWithShape="1">
            <a:blip r:embed="rId22">
              <a:alphaModFix/>
            </a:blip>
            <a:stretch>
              <a:fillRect b="0" l="0" r="0" t="0"/>
            </a:stretch>
          </a:blipFill>
          <a:ln>
            <a:noFill/>
          </a:ln>
        </p:spPr>
      </p:sp>
      <p:sp>
        <p:nvSpPr>
          <p:cNvPr id="339" name="Google Shape;339;h2fef75e91d461226_11_489"/>
          <p:cNvSpPr/>
          <p:nvPr/>
        </p:nvSpPr>
        <p:spPr>
          <a:xfrm>
            <a:off x="10803895" y="3374417"/>
            <a:ext cx="564682" cy="606369"/>
          </a:xfrm>
          <a:custGeom>
            <a:rect b="b" l="l" r="r" t="t"/>
            <a:pathLst>
              <a:path extrusionOk="0" h="908418" w="845965">
                <a:moveTo>
                  <a:pt x="0" y="0"/>
                </a:moveTo>
                <a:lnTo>
                  <a:pt x="845965" y="0"/>
                </a:lnTo>
                <a:lnTo>
                  <a:pt x="845965" y="908419"/>
                </a:lnTo>
                <a:lnTo>
                  <a:pt x="0" y="908419"/>
                </a:lnTo>
                <a:lnTo>
                  <a:pt x="0" y="0"/>
                </a:lnTo>
                <a:close/>
              </a:path>
            </a:pathLst>
          </a:custGeom>
          <a:blipFill rotWithShape="1">
            <a:blip r:embed="rId23">
              <a:alphaModFix/>
            </a:blip>
            <a:stretch>
              <a:fillRect b="0" l="0" r="0" t="0"/>
            </a:stretch>
          </a:blipFill>
          <a:ln>
            <a:noFill/>
          </a:ln>
        </p:spPr>
      </p:sp>
      <p:sp>
        <p:nvSpPr>
          <p:cNvPr id="340" name="Google Shape;340;h2fef75e91d461226_11_489"/>
          <p:cNvSpPr txBox="1"/>
          <p:nvPr/>
        </p:nvSpPr>
        <p:spPr>
          <a:xfrm>
            <a:off x="1777152" y="603250"/>
            <a:ext cx="7967100" cy="1454100"/>
          </a:xfrm>
          <a:prstGeom prst="rect">
            <a:avLst/>
          </a:prstGeom>
          <a:noFill/>
          <a:ln>
            <a:noFill/>
          </a:ln>
        </p:spPr>
        <p:txBody>
          <a:bodyPr anchorCtr="0" anchor="t" bIns="0" lIns="0" spcFirstLastPara="1" rIns="0" wrap="square" tIns="0">
            <a:spAutoFit/>
          </a:bodyPr>
          <a:lstStyle/>
          <a:p>
            <a:pPr indent="0" lvl="0" marL="0" marR="0" rtl="0" algn="ctr">
              <a:lnSpc>
                <a:spcPct val="101000"/>
              </a:lnSpc>
              <a:spcBef>
                <a:spcPts val="0"/>
              </a:spcBef>
              <a:spcAft>
                <a:spcPts val="0"/>
              </a:spcAft>
              <a:buNone/>
            </a:pPr>
            <a:r>
              <a:rPr b="1" i="0" lang="en-US" sz="4700" u="none" cap="none" strike="noStrike">
                <a:solidFill>
                  <a:srgbClr val="FFFFFF"/>
                </a:solidFill>
                <a:latin typeface="Poppins"/>
                <a:ea typeface="Poppins"/>
                <a:cs typeface="Poppins"/>
                <a:sym typeface="Poppins"/>
              </a:rPr>
              <a:t>How We Empower Minorities</a:t>
            </a:r>
            <a:endParaRPr sz="900">
              <a:latin typeface="Poppins"/>
              <a:ea typeface="Poppins"/>
              <a:cs typeface="Poppins"/>
              <a:sym typeface="Poppins"/>
            </a:endParaRPr>
          </a:p>
        </p:txBody>
      </p:sp>
      <p:sp>
        <p:nvSpPr>
          <p:cNvPr id="341" name="Google Shape;341;h2fef75e91d461226_11_489"/>
          <p:cNvSpPr txBox="1"/>
          <p:nvPr/>
        </p:nvSpPr>
        <p:spPr>
          <a:xfrm>
            <a:off x="-1" y="5279575"/>
            <a:ext cx="3296100" cy="902100"/>
          </a:xfrm>
          <a:prstGeom prst="rect">
            <a:avLst/>
          </a:prstGeom>
          <a:noFill/>
          <a:ln>
            <a:noFill/>
          </a:ln>
        </p:spPr>
        <p:txBody>
          <a:bodyPr anchorCtr="0" anchor="t" bIns="0" lIns="0" spcFirstLastPara="1" rIns="0" wrap="square" tIns="0">
            <a:spAutoFit/>
          </a:bodyPr>
          <a:lstStyle/>
          <a:p>
            <a:pPr indent="0" lvl="0" marL="0" marR="0" rtl="0" algn="r">
              <a:lnSpc>
                <a:spcPct val="162000"/>
              </a:lnSpc>
              <a:spcBef>
                <a:spcPts val="0"/>
              </a:spcBef>
              <a:spcAft>
                <a:spcPts val="0"/>
              </a:spcAft>
              <a:buNone/>
            </a:pPr>
            <a:r>
              <a:rPr i="0" lang="en-US" sz="1000" u="none" cap="none" strike="noStrike">
                <a:solidFill>
                  <a:srgbClr val="FFFFFF"/>
                </a:solidFill>
                <a:latin typeface="Poppins"/>
                <a:ea typeface="Poppins"/>
                <a:cs typeface="Poppins"/>
                <a:sym typeface="Poppins"/>
              </a:rPr>
              <a:t>Menggunakan machine learning untuk membagi pekerjaan menjadi bagian-bagian dan menerapkan sistem perdagangan yang adil untuk setiap tugas khusus.</a:t>
            </a:r>
            <a:endParaRPr sz="700">
              <a:latin typeface="Poppins"/>
              <a:ea typeface="Poppins"/>
              <a:cs typeface="Poppins"/>
              <a:sym typeface="Poppins"/>
            </a:endParaRPr>
          </a:p>
        </p:txBody>
      </p:sp>
      <p:sp>
        <p:nvSpPr>
          <p:cNvPr id="342" name="Google Shape;342;h2fef75e91d461226_11_489"/>
          <p:cNvSpPr txBox="1"/>
          <p:nvPr/>
        </p:nvSpPr>
        <p:spPr>
          <a:xfrm>
            <a:off x="24199" y="4936550"/>
            <a:ext cx="3271800" cy="261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z="1700" u="none" cap="none" strike="noStrike">
                <a:solidFill>
                  <a:srgbClr val="FFFFFF"/>
                </a:solidFill>
                <a:latin typeface="Poppins"/>
                <a:ea typeface="Poppins"/>
                <a:cs typeface="Poppins"/>
                <a:sym typeface="Poppins"/>
              </a:rPr>
              <a:t>Machine Learning &amp; AI</a:t>
            </a:r>
            <a:endParaRPr sz="900">
              <a:latin typeface="Poppins"/>
              <a:ea typeface="Poppins"/>
              <a:cs typeface="Poppins"/>
              <a:sym typeface="Poppins"/>
            </a:endParaRPr>
          </a:p>
        </p:txBody>
      </p:sp>
      <p:sp>
        <p:nvSpPr>
          <p:cNvPr id="343" name="Google Shape;343;h2fef75e91d461226_11_489"/>
          <p:cNvSpPr txBox="1"/>
          <p:nvPr/>
        </p:nvSpPr>
        <p:spPr>
          <a:xfrm>
            <a:off x="968146" y="2478815"/>
            <a:ext cx="2343600" cy="902100"/>
          </a:xfrm>
          <a:prstGeom prst="rect">
            <a:avLst/>
          </a:prstGeom>
          <a:noFill/>
          <a:ln>
            <a:noFill/>
          </a:ln>
        </p:spPr>
        <p:txBody>
          <a:bodyPr anchorCtr="0" anchor="t" bIns="0" lIns="0" spcFirstLastPara="1" rIns="0" wrap="square" tIns="0">
            <a:spAutoFit/>
          </a:bodyPr>
          <a:lstStyle/>
          <a:p>
            <a:pPr indent="0" lvl="0" marL="0" marR="0" rtl="0" algn="r">
              <a:lnSpc>
                <a:spcPct val="162000"/>
              </a:lnSpc>
              <a:spcBef>
                <a:spcPts val="0"/>
              </a:spcBef>
              <a:spcAft>
                <a:spcPts val="0"/>
              </a:spcAft>
              <a:buNone/>
            </a:pPr>
            <a:r>
              <a:rPr i="0" lang="en-US" sz="1000" u="none" cap="none" strike="noStrike">
                <a:solidFill>
                  <a:srgbClr val="FFFFFF"/>
                </a:solidFill>
                <a:latin typeface="Poppins"/>
                <a:ea typeface="Poppins"/>
                <a:cs typeface="Poppins"/>
                <a:sym typeface="Poppins"/>
              </a:rPr>
              <a:t>Perusahaan sebagai Klien ingin mendapatkan bantuan konsultasi dan juga menjalankan operasional secara efektif dan efisien.</a:t>
            </a:r>
            <a:endParaRPr sz="700">
              <a:latin typeface="Poppins"/>
              <a:ea typeface="Poppins"/>
              <a:cs typeface="Poppins"/>
              <a:sym typeface="Poppins"/>
            </a:endParaRPr>
          </a:p>
        </p:txBody>
      </p:sp>
      <p:sp>
        <p:nvSpPr>
          <p:cNvPr id="344" name="Google Shape;344;h2fef75e91d461226_11_489"/>
          <p:cNvSpPr txBox="1"/>
          <p:nvPr/>
        </p:nvSpPr>
        <p:spPr>
          <a:xfrm>
            <a:off x="-2" y="2135800"/>
            <a:ext cx="3311700" cy="261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i="0" lang="en-US" sz="1700" u="none" cap="none" strike="noStrike">
                <a:solidFill>
                  <a:srgbClr val="FFFFFF"/>
                </a:solidFill>
                <a:latin typeface="Poppins"/>
                <a:ea typeface="Poppins"/>
                <a:cs typeface="Poppins"/>
                <a:sym typeface="Poppins"/>
              </a:rPr>
              <a:t>Perusahaan sebagai Klien</a:t>
            </a:r>
            <a:endParaRPr sz="900">
              <a:latin typeface="Poppins"/>
              <a:ea typeface="Poppins"/>
              <a:cs typeface="Poppins"/>
              <a:sym typeface="Poppins"/>
            </a:endParaRPr>
          </a:p>
        </p:txBody>
      </p:sp>
      <p:sp>
        <p:nvSpPr>
          <p:cNvPr id="345" name="Google Shape;345;h2fef75e91d461226_11_489"/>
          <p:cNvSpPr txBox="1"/>
          <p:nvPr/>
        </p:nvSpPr>
        <p:spPr>
          <a:xfrm>
            <a:off x="8919852" y="5279575"/>
            <a:ext cx="3271800" cy="902100"/>
          </a:xfrm>
          <a:prstGeom prst="rect">
            <a:avLst/>
          </a:prstGeom>
          <a:noFill/>
          <a:ln>
            <a:noFill/>
          </a:ln>
        </p:spPr>
        <p:txBody>
          <a:bodyPr anchorCtr="0" anchor="t" bIns="0" lIns="0" spcFirstLastPara="1" rIns="0" wrap="square" tIns="0">
            <a:spAutoFit/>
          </a:bodyPr>
          <a:lstStyle/>
          <a:p>
            <a:pPr indent="0" lvl="0" marL="0" marR="0" rtl="0" algn="l">
              <a:lnSpc>
                <a:spcPct val="162000"/>
              </a:lnSpc>
              <a:spcBef>
                <a:spcPts val="0"/>
              </a:spcBef>
              <a:spcAft>
                <a:spcPts val="0"/>
              </a:spcAft>
              <a:buNone/>
            </a:pPr>
            <a:r>
              <a:rPr i="0" lang="en-US" sz="1000" u="none" cap="none" strike="noStrike">
                <a:solidFill>
                  <a:srgbClr val="FFFFFF"/>
                </a:solidFill>
                <a:latin typeface="Poppins"/>
                <a:ea typeface="Poppins"/>
                <a:cs typeface="Poppins"/>
                <a:sym typeface="Poppins"/>
              </a:rPr>
              <a:t>Pelatihan keterampilan digital bagi kelompok minoritas, termasuk alat manajemen proyek seperti Asana atau alat layanan pelanggan seperti Zendesk.</a:t>
            </a:r>
            <a:endParaRPr sz="700">
              <a:latin typeface="Poppins"/>
              <a:ea typeface="Poppins"/>
              <a:cs typeface="Poppins"/>
              <a:sym typeface="Poppins"/>
            </a:endParaRPr>
          </a:p>
        </p:txBody>
      </p:sp>
      <p:sp>
        <p:nvSpPr>
          <p:cNvPr id="346" name="Google Shape;346;h2fef75e91d461226_11_489"/>
          <p:cNvSpPr txBox="1"/>
          <p:nvPr/>
        </p:nvSpPr>
        <p:spPr>
          <a:xfrm>
            <a:off x="8919854" y="4936550"/>
            <a:ext cx="3271800" cy="261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700" u="none" cap="none" strike="noStrike">
                <a:solidFill>
                  <a:srgbClr val="FFFFFF"/>
                </a:solidFill>
                <a:latin typeface="Poppins"/>
                <a:ea typeface="Poppins"/>
                <a:cs typeface="Poppins"/>
                <a:sym typeface="Poppins"/>
              </a:rPr>
              <a:t>Sanggabiz Academy</a:t>
            </a:r>
            <a:endParaRPr sz="900">
              <a:latin typeface="Poppins"/>
              <a:ea typeface="Poppins"/>
              <a:cs typeface="Poppins"/>
              <a:sym typeface="Poppins"/>
            </a:endParaRPr>
          </a:p>
        </p:txBody>
      </p:sp>
      <p:sp>
        <p:nvSpPr>
          <p:cNvPr id="347" name="Google Shape;347;h2fef75e91d461226_11_489"/>
          <p:cNvSpPr txBox="1"/>
          <p:nvPr/>
        </p:nvSpPr>
        <p:spPr>
          <a:xfrm>
            <a:off x="8888092" y="2478815"/>
            <a:ext cx="2617800" cy="1151400"/>
          </a:xfrm>
          <a:prstGeom prst="rect">
            <a:avLst/>
          </a:prstGeom>
          <a:noFill/>
          <a:ln>
            <a:noFill/>
          </a:ln>
        </p:spPr>
        <p:txBody>
          <a:bodyPr anchorCtr="0" anchor="t" bIns="0" lIns="0" spcFirstLastPara="1" rIns="0" wrap="square" tIns="0">
            <a:spAutoFit/>
          </a:bodyPr>
          <a:lstStyle/>
          <a:p>
            <a:pPr indent="0" lvl="0" marL="0" marR="0" rtl="0" algn="l">
              <a:lnSpc>
                <a:spcPct val="162000"/>
              </a:lnSpc>
              <a:spcBef>
                <a:spcPts val="0"/>
              </a:spcBef>
              <a:spcAft>
                <a:spcPts val="0"/>
              </a:spcAft>
              <a:buNone/>
            </a:pPr>
            <a:r>
              <a:rPr i="0" lang="en-US" sz="1000" u="none" cap="none" strike="noStrike">
                <a:solidFill>
                  <a:srgbClr val="FFFFFF"/>
                </a:solidFill>
                <a:latin typeface="Poppins"/>
                <a:ea typeface="Poppins"/>
                <a:cs typeface="Poppins"/>
                <a:sym typeface="Poppins"/>
              </a:rPr>
              <a:t>Kelompok minoritas memerlukan lingkungan kerja khusus untuk mendukung peran mereka, misalnya lingkungan kerja jarak jauh dengan prinsip perdagangan yang adil.</a:t>
            </a:r>
            <a:endParaRPr sz="700">
              <a:latin typeface="Poppins"/>
              <a:ea typeface="Poppins"/>
              <a:cs typeface="Poppins"/>
              <a:sym typeface="Poppins"/>
            </a:endParaRPr>
          </a:p>
        </p:txBody>
      </p:sp>
      <p:sp>
        <p:nvSpPr>
          <p:cNvPr id="348" name="Google Shape;348;h2fef75e91d461226_11_489"/>
          <p:cNvSpPr txBox="1"/>
          <p:nvPr/>
        </p:nvSpPr>
        <p:spPr>
          <a:xfrm>
            <a:off x="8888102" y="2135800"/>
            <a:ext cx="3311700" cy="261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700" u="none" cap="none" strike="noStrike">
                <a:solidFill>
                  <a:srgbClr val="FFFFFF"/>
                </a:solidFill>
                <a:latin typeface="Poppins"/>
                <a:ea typeface="Poppins"/>
                <a:cs typeface="Poppins"/>
                <a:sym typeface="Poppins"/>
              </a:rPr>
              <a:t>Minoritas sebagai Bakat</a:t>
            </a:r>
            <a:endParaRPr sz="900">
              <a:latin typeface="Poppins"/>
              <a:ea typeface="Poppins"/>
              <a:cs typeface="Poppins"/>
              <a:sym typeface="Poppins"/>
            </a:endParaRPr>
          </a:p>
        </p:txBody>
      </p:sp>
      <p:sp>
        <p:nvSpPr>
          <p:cNvPr id="349" name="Google Shape;349;h2fef75e91d461226_11_489"/>
          <p:cNvSpPr txBox="1"/>
          <p:nvPr/>
        </p:nvSpPr>
        <p:spPr>
          <a:xfrm>
            <a:off x="4993059" y="4777089"/>
            <a:ext cx="1347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1900" u="none" cap="none" strike="noStrike">
                <a:solidFill>
                  <a:srgbClr val="073763"/>
                </a:solidFill>
                <a:latin typeface="Arial"/>
                <a:ea typeface="Arial"/>
                <a:cs typeface="Arial"/>
                <a:sym typeface="Arial"/>
              </a:rPr>
              <a:t>4</a:t>
            </a:r>
            <a:endParaRPr sz="900"/>
          </a:p>
        </p:txBody>
      </p:sp>
      <p:sp>
        <p:nvSpPr>
          <p:cNvPr id="350" name="Google Shape;350;h2fef75e91d461226_11_489"/>
          <p:cNvSpPr txBox="1"/>
          <p:nvPr/>
        </p:nvSpPr>
        <p:spPr>
          <a:xfrm>
            <a:off x="7073378" y="4767402"/>
            <a:ext cx="1332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1900" u="none" cap="none" strike="noStrike">
                <a:solidFill>
                  <a:srgbClr val="073763"/>
                </a:solidFill>
                <a:latin typeface="Arial"/>
                <a:ea typeface="Arial"/>
                <a:cs typeface="Arial"/>
                <a:sym typeface="Arial"/>
              </a:rPr>
              <a:t>3</a:t>
            </a:r>
            <a:endParaRPr sz="900"/>
          </a:p>
        </p:txBody>
      </p:sp>
      <p:sp>
        <p:nvSpPr>
          <p:cNvPr id="351" name="Google Shape;351;h2fef75e91d461226_11_489"/>
          <p:cNvSpPr txBox="1"/>
          <p:nvPr/>
        </p:nvSpPr>
        <p:spPr>
          <a:xfrm>
            <a:off x="5016903" y="2463169"/>
            <a:ext cx="873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1900" u="none" cap="none" strike="noStrike">
                <a:solidFill>
                  <a:srgbClr val="073763"/>
                </a:solidFill>
                <a:latin typeface="Arial"/>
                <a:ea typeface="Arial"/>
                <a:cs typeface="Arial"/>
                <a:sym typeface="Arial"/>
              </a:rPr>
              <a:t>1</a:t>
            </a:r>
            <a:endParaRPr sz="900"/>
          </a:p>
        </p:txBody>
      </p:sp>
      <p:sp>
        <p:nvSpPr>
          <p:cNvPr id="352" name="Google Shape;352;h2fef75e91d461226_11_489"/>
          <p:cNvSpPr txBox="1"/>
          <p:nvPr/>
        </p:nvSpPr>
        <p:spPr>
          <a:xfrm>
            <a:off x="7073732" y="2453481"/>
            <a:ext cx="132300" cy="2925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1" i="0" lang="en-US" sz="1900" u="none" cap="none" strike="noStrike">
                <a:solidFill>
                  <a:srgbClr val="073763"/>
                </a:solidFill>
                <a:latin typeface="Arial"/>
                <a:ea typeface="Arial"/>
                <a:cs typeface="Arial"/>
                <a:sym typeface="Arial"/>
              </a:rPr>
              <a:t>2</a:t>
            </a:r>
            <a:endParaRPr sz="900"/>
          </a:p>
        </p:txBody>
      </p:sp>
      <p:sp>
        <p:nvSpPr>
          <p:cNvPr id="353" name="Google Shape;353;h2fef75e91d461226_11_489"/>
          <p:cNvSpPr/>
          <p:nvPr/>
        </p:nvSpPr>
        <p:spPr>
          <a:xfrm>
            <a:off x="8291208" y="5063720"/>
            <a:ext cx="465328" cy="467079"/>
          </a:xfrm>
          <a:custGeom>
            <a:rect b="b" l="l" r="r" t="t"/>
            <a:pathLst>
              <a:path extrusionOk="0" h="699744" w="697120">
                <a:moveTo>
                  <a:pt x="0" y="0"/>
                </a:moveTo>
                <a:lnTo>
                  <a:pt x="697120" y="0"/>
                </a:lnTo>
                <a:lnTo>
                  <a:pt x="697120" y="699744"/>
                </a:lnTo>
                <a:lnTo>
                  <a:pt x="0" y="699744"/>
                </a:lnTo>
                <a:lnTo>
                  <a:pt x="0" y="0"/>
                </a:lnTo>
                <a:close/>
              </a:path>
            </a:pathLst>
          </a:custGeom>
          <a:blipFill rotWithShape="1">
            <a:blip r:embed="rId2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357" name="Shape 357"/>
        <p:cNvGrpSpPr/>
        <p:nvPr/>
      </p:nvGrpSpPr>
      <p:grpSpPr>
        <a:xfrm>
          <a:off x="0" y="0"/>
          <a:ext cx="0" cy="0"/>
          <a:chOff x="0" y="0"/>
          <a:chExt cx="0" cy="0"/>
        </a:xfrm>
      </p:grpSpPr>
      <p:sp>
        <p:nvSpPr>
          <p:cNvPr id="358" name="Google Shape;358;h2fef75e91d461226_11_552"/>
          <p:cNvSpPr/>
          <p:nvPr/>
        </p:nvSpPr>
        <p:spPr>
          <a:xfrm>
            <a:off x="-1749211" y="-2767404"/>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3">
              <a:alphaModFix amt="9000"/>
            </a:blip>
            <a:stretch>
              <a:fillRect b="0" l="0" r="0" t="0"/>
            </a:stretch>
          </a:blipFill>
          <a:ln>
            <a:noFill/>
          </a:ln>
        </p:spPr>
      </p:sp>
      <p:grpSp>
        <p:nvGrpSpPr>
          <p:cNvPr id="359" name="Google Shape;359;h2fef75e91d461226_11_552"/>
          <p:cNvGrpSpPr/>
          <p:nvPr/>
        </p:nvGrpSpPr>
        <p:grpSpPr>
          <a:xfrm>
            <a:off x="568114" y="265378"/>
            <a:ext cx="11055928" cy="706235"/>
            <a:chOff x="0" y="-38100"/>
            <a:chExt cx="5645100" cy="360600"/>
          </a:xfrm>
        </p:grpSpPr>
        <p:sp>
          <p:nvSpPr>
            <p:cNvPr id="360" name="Google Shape;360;h2fef75e91d461226_11_552"/>
            <p:cNvSpPr/>
            <p:nvPr/>
          </p:nvSpPr>
          <p:spPr>
            <a:xfrm>
              <a:off x="0" y="0"/>
              <a:ext cx="5645084" cy="322472"/>
            </a:xfrm>
            <a:custGeom>
              <a:rect b="b" l="l" r="r" t="t"/>
              <a:pathLst>
                <a:path extrusionOk="0" h="322472" w="5645084">
                  <a:moveTo>
                    <a:pt x="23809" y="0"/>
                  </a:moveTo>
                  <a:lnTo>
                    <a:pt x="5621275" y="0"/>
                  </a:lnTo>
                  <a:cubicBezTo>
                    <a:pt x="5634424" y="0"/>
                    <a:pt x="5645084" y="10660"/>
                    <a:pt x="5645084" y="23809"/>
                  </a:cubicBezTo>
                  <a:lnTo>
                    <a:pt x="5645084" y="298663"/>
                  </a:lnTo>
                  <a:cubicBezTo>
                    <a:pt x="5645084" y="304978"/>
                    <a:pt x="5642575" y="311033"/>
                    <a:pt x="5638110" y="315498"/>
                  </a:cubicBezTo>
                  <a:cubicBezTo>
                    <a:pt x="5633645" y="319963"/>
                    <a:pt x="5627589" y="322472"/>
                    <a:pt x="5621275" y="322472"/>
                  </a:cubicBezTo>
                  <a:lnTo>
                    <a:pt x="23809" y="322472"/>
                  </a:lnTo>
                  <a:cubicBezTo>
                    <a:pt x="17494" y="322472"/>
                    <a:pt x="11439" y="319963"/>
                    <a:pt x="6973" y="315498"/>
                  </a:cubicBezTo>
                  <a:cubicBezTo>
                    <a:pt x="2508" y="311033"/>
                    <a:pt x="0" y="304978"/>
                    <a:pt x="0" y="298663"/>
                  </a:cubicBezTo>
                  <a:lnTo>
                    <a:pt x="0" y="23809"/>
                  </a:lnTo>
                  <a:cubicBezTo>
                    <a:pt x="0" y="17494"/>
                    <a:pt x="2508" y="11439"/>
                    <a:pt x="6973" y="6973"/>
                  </a:cubicBezTo>
                  <a:cubicBezTo>
                    <a:pt x="11439" y="2508"/>
                    <a:pt x="17494" y="0"/>
                    <a:pt x="23809"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61" name="Google Shape;361;h2fef75e91d461226_11_552"/>
            <p:cNvSpPr txBox="1"/>
            <p:nvPr/>
          </p:nvSpPr>
          <p:spPr>
            <a:xfrm>
              <a:off x="0" y="-38100"/>
              <a:ext cx="5645100" cy="3606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362" name="Google Shape;362;h2fef75e91d461226_11_552"/>
          <p:cNvGrpSpPr/>
          <p:nvPr/>
        </p:nvGrpSpPr>
        <p:grpSpPr>
          <a:xfrm>
            <a:off x="4391298" y="1236275"/>
            <a:ext cx="3480300" cy="599224"/>
            <a:chOff x="0" y="-28575"/>
            <a:chExt cx="1375015" cy="236735"/>
          </a:xfrm>
        </p:grpSpPr>
        <p:sp>
          <p:nvSpPr>
            <p:cNvPr id="363" name="Google Shape;363;h2fef75e91d461226_11_552"/>
            <p:cNvSpPr/>
            <p:nvPr/>
          </p:nvSpPr>
          <p:spPr>
            <a:xfrm>
              <a:off x="0" y="0"/>
              <a:ext cx="1375015" cy="208160"/>
            </a:xfrm>
            <a:custGeom>
              <a:rect b="b" l="l" r="r" t="t"/>
              <a:pathLst>
                <a:path extrusionOk="0" h="208160" w="1375015">
                  <a:moveTo>
                    <a:pt x="0" y="0"/>
                  </a:moveTo>
                  <a:lnTo>
                    <a:pt x="1375015" y="0"/>
                  </a:lnTo>
                  <a:lnTo>
                    <a:pt x="1375015" y="208160"/>
                  </a:lnTo>
                  <a:lnTo>
                    <a:pt x="0" y="208160"/>
                  </a:lnTo>
                  <a:close/>
                </a:path>
              </a:pathLst>
            </a:custGeom>
            <a:gradFill>
              <a:gsLst>
                <a:gs pos="0">
                  <a:srgbClr val="0A396D"/>
                </a:gs>
                <a:gs pos="100000">
                  <a:srgbClr val="092647"/>
                </a:gs>
              </a:gsLst>
              <a:lin ang="5400012" scaled="0"/>
            </a:gradFill>
            <a:ln>
              <a:noFill/>
            </a:ln>
          </p:spPr>
        </p:sp>
        <p:sp>
          <p:nvSpPr>
            <p:cNvPr id="364" name="Google Shape;364;h2fef75e91d461226_11_552"/>
            <p:cNvSpPr txBox="1"/>
            <p:nvPr/>
          </p:nvSpPr>
          <p:spPr>
            <a:xfrm>
              <a:off x="0" y="-28575"/>
              <a:ext cx="1374900" cy="236700"/>
            </a:xfrm>
            <a:prstGeom prst="rect">
              <a:avLst/>
            </a:prstGeom>
            <a:noFill/>
            <a:ln>
              <a:noFill/>
            </a:ln>
          </p:spPr>
          <p:txBody>
            <a:bodyPr anchorCtr="0" anchor="ctr" bIns="33875" lIns="33875" spcFirstLastPara="1" rIns="33875" wrap="square" tIns="33875">
              <a:noAutofit/>
            </a:bodyPr>
            <a:lstStyle/>
            <a:p>
              <a:pPr indent="0" lvl="0" marL="0" marR="0" rtl="0" algn="ctr">
                <a:lnSpc>
                  <a:spcPct val="129992"/>
                </a:lnSpc>
                <a:spcBef>
                  <a:spcPts val="0"/>
                </a:spcBef>
                <a:spcAft>
                  <a:spcPts val="0"/>
                </a:spcAft>
                <a:buNone/>
              </a:pPr>
              <a:r>
                <a:rPr b="1" i="0" lang="en-US" sz="1900" u="none" cap="none" strike="noStrike">
                  <a:solidFill>
                    <a:srgbClr val="FFFFFF"/>
                  </a:solidFill>
                  <a:latin typeface="Arial"/>
                  <a:ea typeface="Arial"/>
                  <a:cs typeface="Arial"/>
                  <a:sym typeface="Arial"/>
                </a:rPr>
                <a:t>How we contribute to SDGs</a:t>
              </a:r>
              <a:endParaRPr sz="900"/>
            </a:p>
          </p:txBody>
        </p:sp>
      </p:grpSp>
      <p:sp>
        <p:nvSpPr>
          <p:cNvPr id="365" name="Google Shape;365;h2fef75e91d461226_11_552"/>
          <p:cNvSpPr/>
          <p:nvPr/>
        </p:nvSpPr>
        <p:spPr>
          <a:xfrm>
            <a:off x="3016605" y="2832374"/>
            <a:ext cx="6237753" cy="3189226"/>
          </a:xfrm>
          <a:custGeom>
            <a:rect b="b" l="l" r="r" t="t"/>
            <a:pathLst>
              <a:path extrusionOk="0" h="4777867" w="9344949">
                <a:moveTo>
                  <a:pt x="0" y="0"/>
                </a:moveTo>
                <a:lnTo>
                  <a:pt x="9344949" y="0"/>
                </a:lnTo>
                <a:lnTo>
                  <a:pt x="9344949" y="4777867"/>
                </a:lnTo>
                <a:lnTo>
                  <a:pt x="0" y="4777867"/>
                </a:lnTo>
                <a:lnTo>
                  <a:pt x="0" y="0"/>
                </a:lnTo>
                <a:close/>
              </a:path>
            </a:pathLst>
          </a:custGeom>
          <a:blipFill rotWithShape="1">
            <a:blip r:embed="rId4">
              <a:alphaModFix/>
            </a:blip>
            <a:stretch>
              <a:fillRect b="0" l="0" r="0" t="-20710"/>
            </a:stretch>
          </a:blipFill>
          <a:ln>
            <a:noFill/>
          </a:ln>
        </p:spPr>
      </p:sp>
      <p:sp>
        <p:nvSpPr>
          <p:cNvPr id="366" name="Google Shape;366;h2fef75e91d461226_11_552"/>
          <p:cNvSpPr txBox="1"/>
          <p:nvPr/>
        </p:nvSpPr>
        <p:spPr>
          <a:xfrm>
            <a:off x="1336661" y="330200"/>
            <a:ext cx="9518400" cy="507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3300" u="none" cap="none" strike="noStrike">
                <a:solidFill>
                  <a:srgbClr val="FFFFFF"/>
                </a:solidFill>
                <a:latin typeface="Arial"/>
                <a:ea typeface="Arial"/>
                <a:cs typeface="Arial"/>
                <a:sym typeface="Arial"/>
              </a:rPr>
              <a:t>Impact Progress 2024-2026</a:t>
            </a:r>
            <a:endParaRPr sz="900"/>
          </a:p>
        </p:txBody>
      </p:sp>
      <p:grpSp>
        <p:nvGrpSpPr>
          <p:cNvPr id="367" name="Google Shape;367;h2fef75e91d461226_11_552"/>
          <p:cNvGrpSpPr/>
          <p:nvPr/>
        </p:nvGrpSpPr>
        <p:grpSpPr>
          <a:xfrm>
            <a:off x="214244" y="1478782"/>
            <a:ext cx="2660358" cy="738617"/>
            <a:chOff x="0" y="-186547"/>
            <a:chExt cx="5320717" cy="1477234"/>
          </a:xfrm>
        </p:grpSpPr>
        <p:grpSp>
          <p:nvGrpSpPr>
            <p:cNvPr id="368" name="Google Shape;368;h2fef75e91d461226_11_552"/>
            <p:cNvGrpSpPr/>
            <p:nvPr/>
          </p:nvGrpSpPr>
          <p:grpSpPr>
            <a:xfrm>
              <a:off x="0" y="-186547"/>
              <a:ext cx="5320717" cy="1477234"/>
              <a:chOff x="0" y="-47625"/>
              <a:chExt cx="1358400" cy="377134"/>
            </a:xfrm>
          </p:grpSpPr>
          <p:sp>
            <p:nvSpPr>
              <p:cNvPr id="369" name="Google Shape;369;h2fef75e91d461226_11_552"/>
              <p:cNvSpPr/>
              <p:nvPr/>
            </p:nvSpPr>
            <p:spPr>
              <a:xfrm>
                <a:off x="0" y="0"/>
                <a:ext cx="1358285" cy="329509"/>
              </a:xfrm>
              <a:custGeom>
                <a:rect b="b" l="l" r="r" t="t"/>
                <a:pathLst>
                  <a:path extrusionOk="0" h="329509" w="1358285">
                    <a:moveTo>
                      <a:pt x="98951" y="0"/>
                    </a:moveTo>
                    <a:lnTo>
                      <a:pt x="1259334" y="0"/>
                    </a:lnTo>
                    <a:cubicBezTo>
                      <a:pt x="1313983" y="0"/>
                      <a:pt x="1358285" y="44302"/>
                      <a:pt x="1358285" y="98951"/>
                    </a:cubicBezTo>
                    <a:lnTo>
                      <a:pt x="1358285" y="230559"/>
                    </a:lnTo>
                    <a:cubicBezTo>
                      <a:pt x="1358285" y="285208"/>
                      <a:pt x="1313983" y="329509"/>
                      <a:pt x="1259334" y="329509"/>
                    </a:cubicBezTo>
                    <a:lnTo>
                      <a:pt x="98951" y="329509"/>
                    </a:lnTo>
                    <a:cubicBezTo>
                      <a:pt x="72707" y="329509"/>
                      <a:pt x="47539" y="319084"/>
                      <a:pt x="28982" y="300527"/>
                    </a:cubicBezTo>
                    <a:cubicBezTo>
                      <a:pt x="10425" y="281971"/>
                      <a:pt x="0" y="256802"/>
                      <a:pt x="0" y="230559"/>
                    </a:cubicBezTo>
                    <a:lnTo>
                      <a:pt x="0" y="98951"/>
                    </a:lnTo>
                    <a:cubicBezTo>
                      <a:pt x="0" y="44302"/>
                      <a:pt x="44302" y="0"/>
                      <a:pt x="98951"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70" name="Google Shape;370;h2fef75e91d461226_11_552"/>
              <p:cNvSpPr txBox="1"/>
              <p:nvPr/>
            </p:nvSpPr>
            <p:spPr>
              <a:xfrm>
                <a:off x="0" y="-47625"/>
                <a:ext cx="1358400" cy="377100"/>
              </a:xfrm>
              <a:prstGeom prst="rect">
                <a:avLst/>
              </a:prstGeom>
              <a:noFill/>
              <a:ln>
                <a:noFill/>
              </a:ln>
            </p:spPr>
            <p:txBody>
              <a:bodyPr anchorCtr="0" anchor="ctr" bIns="26200" lIns="26200" spcFirstLastPara="1" rIns="26200" wrap="square" tIns="26200">
                <a:noAutofit/>
              </a:bodyPr>
              <a:lstStyle/>
              <a:p>
                <a:pPr indent="0" lvl="0" marL="0" marR="0" rtl="0" algn="ctr">
                  <a:lnSpc>
                    <a:spcPct val="1555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371" name="Google Shape;371;h2fef75e91d461226_11_552"/>
            <p:cNvSpPr txBox="1"/>
            <p:nvPr/>
          </p:nvSpPr>
          <p:spPr>
            <a:xfrm>
              <a:off x="508226" y="46121"/>
              <a:ext cx="4303800" cy="123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600" u="none" cap="none" strike="noStrike">
                  <a:solidFill>
                    <a:srgbClr val="FFFFFF"/>
                  </a:solidFill>
                  <a:latin typeface="Arial"/>
                  <a:ea typeface="Arial"/>
                  <a:cs typeface="Arial"/>
                  <a:sym typeface="Arial"/>
                </a:rPr>
                <a:t>Tidak Ada Kemiskinan</a:t>
              </a:r>
              <a:endParaRPr sz="900"/>
            </a:p>
          </p:txBody>
        </p:sp>
      </p:grpSp>
      <p:grpSp>
        <p:nvGrpSpPr>
          <p:cNvPr id="372" name="Google Shape;372;h2fef75e91d461226_11_552"/>
          <p:cNvGrpSpPr/>
          <p:nvPr/>
        </p:nvGrpSpPr>
        <p:grpSpPr>
          <a:xfrm>
            <a:off x="9350574" y="1654570"/>
            <a:ext cx="2660358" cy="448301"/>
            <a:chOff x="0" y="-149238"/>
            <a:chExt cx="5320717" cy="896601"/>
          </a:xfrm>
        </p:grpSpPr>
        <p:grpSp>
          <p:nvGrpSpPr>
            <p:cNvPr id="373" name="Google Shape;373;h2fef75e91d461226_11_552"/>
            <p:cNvGrpSpPr/>
            <p:nvPr/>
          </p:nvGrpSpPr>
          <p:grpSpPr>
            <a:xfrm>
              <a:off x="0" y="-149238"/>
              <a:ext cx="5320717" cy="896601"/>
              <a:chOff x="0" y="-38100"/>
              <a:chExt cx="1358400" cy="228900"/>
            </a:xfrm>
          </p:grpSpPr>
          <p:sp>
            <p:nvSpPr>
              <p:cNvPr id="374" name="Google Shape;374;h2fef75e91d461226_11_552"/>
              <p:cNvSpPr/>
              <p:nvPr/>
            </p:nvSpPr>
            <p:spPr>
              <a:xfrm>
                <a:off x="0" y="0"/>
                <a:ext cx="1358285" cy="190721"/>
              </a:xfrm>
              <a:custGeom>
                <a:rect b="b" l="l" r="r" t="t"/>
                <a:pathLst>
                  <a:path extrusionOk="0" h="190721" w="1358285">
                    <a:moveTo>
                      <a:pt x="95361" y="0"/>
                    </a:moveTo>
                    <a:lnTo>
                      <a:pt x="1262924" y="0"/>
                    </a:lnTo>
                    <a:cubicBezTo>
                      <a:pt x="1315591" y="0"/>
                      <a:pt x="1358285" y="42694"/>
                      <a:pt x="1358285" y="95361"/>
                    </a:cubicBezTo>
                    <a:lnTo>
                      <a:pt x="1358285" y="95361"/>
                    </a:lnTo>
                    <a:cubicBezTo>
                      <a:pt x="1358285" y="120652"/>
                      <a:pt x="1348238" y="144907"/>
                      <a:pt x="1330355" y="162791"/>
                    </a:cubicBezTo>
                    <a:cubicBezTo>
                      <a:pt x="1312471" y="180674"/>
                      <a:pt x="1288216" y="190721"/>
                      <a:pt x="1262924" y="190721"/>
                    </a:cubicBezTo>
                    <a:lnTo>
                      <a:pt x="95361" y="190721"/>
                    </a:lnTo>
                    <a:cubicBezTo>
                      <a:pt x="70069" y="190721"/>
                      <a:pt x="45814" y="180674"/>
                      <a:pt x="27930" y="162791"/>
                    </a:cubicBezTo>
                    <a:cubicBezTo>
                      <a:pt x="10047" y="144907"/>
                      <a:pt x="0" y="120652"/>
                      <a:pt x="0" y="95361"/>
                    </a:cubicBezTo>
                    <a:lnTo>
                      <a:pt x="0" y="95361"/>
                    </a:lnTo>
                    <a:cubicBezTo>
                      <a:pt x="0" y="70069"/>
                      <a:pt x="10047" y="45814"/>
                      <a:pt x="27930" y="27930"/>
                    </a:cubicBezTo>
                    <a:cubicBezTo>
                      <a:pt x="45814" y="10047"/>
                      <a:pt x="70069" y="0"/>
                      <a:pt x="95361"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75" name="Google Shape;375;h2fef75e91d461226_11_552"/>
              <p:cNvSpPr txBox="1"/>
              <p:nvPr/>
            </p:nvSpPr>
            <p:spPr>
              <a:xfrm>
                <a:off x="0" y="-38100"/>
                <a:ext cx="1358400" cy="228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376" name="Google Shape;376;h2fef75e91d461226_11_552"/>
            <p:cNvSpPr txBox="1"/>
            <p:nvPr/>
          </p:nvSpPr>
          <p:spPr>
            <a:xfrm>
              <a:off x="508226" y="55646"/>
              <a:ext cx="4303800" cy="523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700" u="none" cap="none" strike="noStrike">
                  <a:solidFill>
                    <a:srgbClr val="FFFFFF"/>
                  </a:solidFill>
                  <a:latin typeface="Arial"/>
                  <a:ea typeface="Arial"/>
                  <a:cs typeface="Arial"/>
                  <a:sym typeface="Arial"/>
                </a:rPr>
                <a:t>Gender Equality</a:t>
              </a:r>
              <a:endParaRPr sz="900"/>
            </a:p>
          </p:txBody>
        </p:sp>
      </p:grpSp>
      <p:sp>
        <p:nvSpPr>
          <p:cNvPr id="377" name="Google Shape;377;h2fef75e91d461226_11_552"/>
          <p:cNvSpPr/>
          <p:nvPr/>
        </p:nvSpPr>
        <p:spPr>
          <a:xfrm rot="-6289221">
            <a:off x="8756475" y="-1207128"/>
            <a:ext cx="4861754" cy="2430877"/>
          </a:xfrm>
          <a:custGeom>
            <a:rect b="b" l="l" r="r" t="t"/>
            <a:pathLst>
              <a:path extrusionOk="0" h="3657600" w="7315200">
                <a:moveTo>
                  <a:pt x="0" y="0"/>
                </a:moveTo>
                <a:lnTo>
                  <a:pt x="7315200" y="0"/>
                </a:lnTo>
                <a:lnTo>
                  <a:pt x="7315200" y="3657600"/>
                </a:lnTo>
                <a:lnTo>
                  <a:pt x="0" y="3657600"/>
                </a:lnTo>
                <a:lnTo>
                  <a:pt x="0" y="0"/>
                </a:lnTo>
                <a:close/>
              </a:path>
            </a:pathLst>
          </a:custGeom>
          <a:blipFill rotWithShape="1">
            <a:blip r:embed="rId5">
              <a:alphaModFix amt="13000"/>
            </a:blip>
            <a:stretch>
              <a:fillRect b="0" l="0" r="0" t="0"/>
            </a:stretch>
          </a:blipFill>
          <a:ln>
            <a:noFill/>
          </a:ln>
        </p:spPr>
      </p:sp>
      <p:grpSp>
        <p:nvGrpSpPr>
          <p:cNvPr id="378" name="Google Shape;378;h2fef75e91d461226_11_552"/>
          <p:cNvGrpSpPr/>
          <p:nvPr/>
        </p:nvGrpSpPr>
        <p:grpSpPr>
          <a:xfrm>
            <a:off x="214244" y="4620272"/>
            <a:ext cx="2660358" cy="765650"/>
            <a:chOff x="0" y="-149238"/>
            <a:chExt cx="5320717" cy="1531300"/>
          </a:xfrm>
        </p:grpSpPr>
        <p:grpSp>
          <p:nvGrpSpPr>
            <p:cNvPr id="379" name="Google Shape;379;h2fef75e91d461226_11_552"/>
            <p:cNvGrpSpPr/>
            <p:nvPr/>
          </p:nvGrpSpPr>
          <p:grpSpPr>
            <a:xfrm>
              <a:off x="0" y="-149238"/>
              <a:ext cx="5320717" cy="1531300"/>
              <a:chOff x="0" y="-38100"/>
              <a:chExt cx="1358400" cy="390937"/>
            </a:xfrm>
          </p:grpSpPr>
          <p:sp>
            <p:nvSpPr>
              <p:cNvPr id="380" name="Google Shape;380;h2fef75e91d461226_11_552"/>
              <p:cNvSpPr/>
              <p:nvPr/>
            </p:nvSpPr>
            <p:spPr>
              <a:xfrm>
                <a:off x="0" y="0"/>
                <a:ext cx="1358285" cy="352837"/>
              </a:xfrm>
              <a:custGeom>
                <a:rect b="b" l="l" r="r" t="t"/>
                <a:pathLst>
                  <a:path extrusionOk="0" h="352837" w="1358285">
                    <a:moveTo>
                      <a:pt x="98951" y="0"/>
                    </a:moveTo>
                    <a:lnTo>
                      <a:pt x="1259334" y="0"/>
                    </a:lnTo>
                    <a:cubicBezTo>
                      <a:pt x="1313983" y="0"/>
                      <a:pt x="1358285" y="44302"/>
                      <a:pt x="1358285" y="98951"/>
                    </a:cubicBezTo>
                    <a:lnTo>
                      <a:pt x="1358285" y="253887"/>
                    </a:lnTo>
                    <a:cubicBezTo>
                      <a:pt x="1358285" y="308536"/>
                      <a:pt x="1313983" y="352837"/>
                      <a:pt x="1259334" y="352837"/>
                    </a:cubicBezTo>
                    <a:lnTo>
                      <a:pt x="98951" y="352837"/>
                    </a:lnTo>
                    <a:cubicBezTo>
                      <a:pt x="72707" y="352837"/>
                      <a:pt x="47539" y="342412"/>
                      <a:pt x="28982" y="323855"/>
                    </a:cubicBezTo>
                    <a:cubicBezTo>
                      <a:pt x="10425" y="305298"/>
                      <a:pt x="0" y="280130"/>
                      <a:pt x="0" y="253887"/>
                    </a:cubicBezTo>
                    <a:lnTo>
                      <a:pt x="0" y="98951"/>
                    </a:lnTo>
                    <a:cubicBezTo>
                      <a:pt x="0" y="44302"/>
                      <a:pt x="44302" y="0"/>
                      <a:pt x="98951"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81" name="Google Shape;381;h2fef75e91d461226_11_552"/>
              <p:cNvSpPr txBox="1"/>
              <p:nvPr/>
            </p:nvSpPr>
            <p:spPr>
              <a:xfrm>
                <a:off x="0" y="-38100"/>
                <a:ext cx="1358400" cy="390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382" name="Google Shape;382;h2fef75e91d461226_11_552"/>
            <p:cNvSpPr txBox="1"/>
            <p:nvPr/>
          </p:nvSpPr>
          <p:spPr>
            <a:xfrm>
              <a:off x="508226" y="55646"/>
              <a:ext cx="4303800" cy="1308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700" u="none" cap="none" strike="noStrike">
                  <a:solidFill>
                    <a:srgbClr val="FFFFFF"/>
                  </a:solidFill>
                  <a:latin typeface="Arial"/>
                  <a:ea typeface="Arial"/>
                  <a:cs typeface="Arial"/>
                  <a:sym typeface="Arial"/>
                </a:rPr>
                <a:t>Penurunan Ketimpangan</a:t>
              </a:r>
              <a:endParaRPr sz="900"/>
            </a:p>
          </p:txBody>
        </p:sp>
      </p:grpSp>
      <p:grpSp>
        <p:nvGrpSpPr>
          <p:cNvPr id="383" name="Google Shape;383;h2fef75e91d461226_11_552"/>
          <p:cNvGrpSpPr/>
          <p:nvPr/>
        </p:nvGrpSpPr>
        <p:grpSpPr>
          <a:xfrm>
            <a:off x="9350574" y="4543623"/>
            <a:ext cx="2660358" cy="957745"/>
            <a:chOff x="0" y="-111925"/>
            <a:chExt cx="5320717" cy="1915489"/>
          </a:xfrm>
        </p:grpSpPr>
        <p:grpSp>
          <p:nvGrpSpPr>
            <p:cNvPr id="384" name="Google Shape;384;h2fef75e91d461226_11_552"/>
            <p:cNvGrpSpPr/>
            <p:nvPr/>
          </p:nvGrpSpPr>
          <p:grpSpPr>
            <a:xfrm>
              <a:off x="0" y="-111925"/>
              <a:ext cx="5320717" cy="1915489"/>
              <a:chOff x="0" y="-28575"/>
              <a:chExt cx="1358400" cy="489032"/>
            </a:xfrm>
          </p:grpSpPr>
          <p:sp>
            <p:nvSpPr>
              <p:cNvPr id="385" name="Google Shape;385;h2fef75e91d461226_11_552"/>
              <p:cNvSpPr/>
              <p:nvPr/>
            </p:nvSpPr>
            <p:spPr>
              <a:xfrm>
                <a:off x="0" y="0"/>
                <a:ext cx="1358285" cy="460457"/>
              </a:xfrm>
              <a:custGeom>
                <a:rect b="b" l="l" r="r" t="t"/>
                <a:pathLst>
                  <a:path extrusionOk="0" h="460457" w="1358285">
                    <a:moveTo>
                      <a:pt x="98951" y="0"/>
                    </a:moveTo>
                    <a:lnTo>
                      <a:pt x="1259334" y="0"/>
                    </a:lnTo>
                    <a:cubicBezTo>
                      <a:pt x="1313983" y="0"/>
                      <a:pt x="1358285" y="44302"/>
                      <a:pt x="1358285" y="98951"/>
                    </a:cubicBezTo>
                    <a:lnTo>
                      <a:pt x="1358285" y="361506"/>
                    </a:lnTo>
                    <a:cubicBezTo>
                      <a:pt x="1358285" y="387750"/>
                      <a:pt x="1347860" y="412918"/>
                      <a:pt x="1329303" y="431475"/>
                    </a:cubicBezTo>
                    <a:cubicBezTo>
                      <a:pt x="1310746" y="450032"/>
                      <a:pt x="1285578" y="460457"/>
                      <a:pt x="1259334" y="460457"/>
                    </a:cubicBezTo>
                    <a:lnTo>
                      <a:pt x="98951" y="460457"/>
                    </a:lnTo>
                    <a:cubicBezTo>
                      <a:pt x="44302" y="460457"/>
                      <a:pt x="0" y="416155"/>
                      <a:pt x="0" y="361506"/>
                    </a:cubicBezTo>
                    <a:lnTo>
                      <a:pt x="0" y="98951"/>
                    </a:lnTo>
                    <a:cubicBezTo>
                      <a:pt x="0" y="44302"/>
                      <a:pt x="44302" y="0"/>
                      <a:pt x="98951" y="0"/>
                    </a:cubicBezTo>
                    <a:close/>
                  </a:path>
                </a:pathLst>
              </a:custGeom>
              <a:gradFill>
                <a:gsLst>
                  <a:gs pos="0">
                    <a:srgbClr val="0A396D"/>
                  </a:gs>
                  <a:gs pos="100000">
                    <a:srgbClr val="092647"/>
                  </a:gs>
                </a:gsLst>
                <a:lin ang="5400012" scaled="0"/>
              </a:gradFill>
              <a:ln cap="rnd"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386" name="Google Shape;386;h2fef75e91d461226_11_552"/>
              <p:cNvSpPr txBox="1"/>
              <p:nvPr/>
            </p:nvSpPr>
            <p:spPr>
              <a:xfrm>
                <a:off x="0" y="-28575"/>
                <a:ext cx="1358400" cy="489000"/>
              </a:xfrm>
              <a:prstGeom prst="rect">
                <a:avLst/>
              </a:prstGeom>
              <a:noFill/>
              <a:ln>
                <a:noFill/>
              </a:ln>
            </p:spPr>
            <p:txBody>
              <a:bodyPr anchorCtr="0" anchor="ctr" bIns="26200" lIns="26200" spcFirstLastPara="1" rIns="26200" wrap="square" tIns="26200">
                <a:noAutofit/>
              </a:bodyPr>
              <a:lstStyle/>
              <a:p>
                <a:pPr indent="0" lvl="0" marL="0" marR="0" rtl="0" algn="ctr">
                  <a:lnSpc>
                    <a:spcPct val="14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387" name="Google Shape;387;h2fef75e91d461226_11_552"/>
            <p:cNvSpPr txBox="1"/>
            <p:nvPr/>
          </p:nvSpPr>
          <p:spPr>
            <a:xfrm>
              <a:off x="508226" y="46121"/>
              <a:ext cx="4303800" cy="11544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500" u="none" cap="none" strike="noStrike">
                  <a:solidFill>
                    <a:srgbClr val="FFFFFF"/>
                  </a:solidFill>
                  <a:latin typeface="Arial"/>
                  <a:ea typeface="Arial"/>
                  <a:cs typeface="Arial"/>
                  <a:sym typeface="Arial"/>
                </a:rPr>
                <a:t>Pekerjaan Layak dan Pertumbuhan Ekonomi</a:t>
              </a:r>
              <a:endParaRPr sz="900"/>
            </a:p>
          </p:txBody>
        </p:sp>
      </p:grpSp>
      <p:sp>
        <p:nvSpPr>
          <p:cNvPr id="388" name="Google Shape;388;h2fef75e91d461226_11_552"/>
          <p:cNvSpPr/>
          <p:nvPr/>
        </p:nvSpPr>
        <p:spPr>
          <a:xfrm>
            <a:off x="3120775" y="2004469"/>
            <a:ext cx="6133451" cy="889969"/>
          </a:xfrm>
          <a:custGeom>
            <a:rect b="b" l="l" r="r" t="t"/>
            <a:pathLst>
              <a:path extrusionOk="0" h="1333287" w="9188691">
                <a:moveTo>
                  <a:pt x="0" y="0"/>
                </a:moveTo>
                <a:lnTo>
                  <a:pt x="9188690" y="0"/>
                </a:lnTo>
                <a:lnTo>
                  <a:pt x="9188690" y="1333287"/>
                </a:lnTo>
                <a:lnTo>
                  <a:pt x="0" y="1333287"/>
                </a:lnTo>
                <a:lnTo>
                  <a:pt x="0" y="0"/>
                </a:lnTo>
                <a:close/>
              </a:path>
            </a:pathLst>
          </a:custGeom>
          <a:blipFill rotWithShape="1">
            <a:blip r:embed="rId6">
              <a:alphaModFix/>
            </a:blip>
            <a:stretch>
              <a:fillRect b="-3840" l="0" r="0" t="-3840"/>
            </a:stretch>
          </a:blipFill>
          <a:ln>
            <a:noFill/>
          </a:ln>
        </p:spPr>
      </p:sp>
      <p:sp>
        <p:nvSpPr>
          <p:cNvPr id="389" name="Google Shape;389;h2fef75e91d461226_11_552"/>
          <p:cNvSpPr txBox="1"/>
          <p:nvPr/>
        </p:nvSpPr>
        <p:spPr>
          <a:xfrm>
            <a:off x="256299" y="5518275"/>
            <a:ext cx="2617800" cy="11175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i="0" lang="en-US" sz="1100" u="none" cap="none" strike="noStrike">
                <a:solidFill>
                  <a:srgbClr val="FFFFFF"/>
                </a:solidFill>
                <a:latin typeface="Poppins Medium"/>
                <a:ea typeface="Poppins Medium"/>
                <a:cs typeface="Poppins Medium"/>
                <a:sym typeface="Poppins Medium"/>
              </a:rPr>
              <a:t>Menjamin kesetaraan kesempatan kerja, tanpa memandang usia, jenis kelamin, latar belakang, atau lokasi.</a:t>
            </a:r>
            <a:endParaRPr sz="600"/>
          </a:p>
          <a:p>
            <a:pPr indent="0" lvl="0" marL="0" marR="0" rtl="0" algn="l">
              <a:lnSpc>
                <a:spcPct val="139990"/>
              </a:lnSpc>
              <a:spcBef>
                <a:spcPts val="0"/>
              </a:spcBef>
              <a:spcAft>
                <a:spcPts val="0"/>
              </a:spcAft>
              <a:buNone/>
            </a:pPr>
            <a:r>
              <a:t/>
            </a:r>
            <a:endParaRPr b="1" i="0" sz="1100" u="none" cap="none" strike="noStrike">
              <a:solidFill>
                <a:srgbClr val="FFFFFF"/>
              </a:solidFill>
              <a:latin typeface="Poppins Medium"/>
              <a:ea typeface="Poppins Medium"/>
              <a:cs typeface="Poppins Medium"/>
              <a:sym typeface="Poppins Medium"/>
            </a:endParaRPr>
          </a:p>
        </p:txBody>
      </p:sp>
      <p:sp>
        <p:nvSpPr>
          <p:cNvPr id="390" name="Google Shape;390;h2fef75e91d461226_11_552"/>
          <p:cNvSpPr txBox="1"/>
          <p:nvPr/>
        </p:nvSpPr>
        <p:spPr>
          <a:xfrm>
            <a:off x="256299" y="2332816"/>
            <a:ext cx="2617800" cy="15915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i="0" lang="en-US" sz="1100" u="none" cap="none" strike="noStrike">
                <a:solidFill>
                  <a:srgbClr val="FFFFFF"/>
                </a:solidFill>
                <a:latin typeface="Poppins Medium"/>
                <a:ea typeface="Poppins Medium"/>
                <a:cs typeface="Poppins Medium"/>
                <a:sym typeface="Poppins Medium"/>
              </a:rPr>
              <a:t>Menciptakan peluang kerja yang terjangkau bagi komunitas terpinggirkan melalui program pelatihan, sehingga mereka dapat beradaptasi dengan pasar kerja. </a:t>
            </a:r>
            <a:endParaRPr sz="600"/>
          </a:p>
          <a:p>
            <a:pPr indent="0" lvl="0" marL="0" marR="0" rtl="0" algn="l">
              <a:lnSpc>
                <a:spcPct val="139990"/>
              </a:lnSpc>
              <a:spcBef>
                <a:spcPts val="0"/>
              </a:spcBef>
              <a:spcAft>
                <a:spcPts val="0"/>
              </a:spcAft>
              <a:buNone/>
            </a:pPr>
            <a:r>
              <a:rPr b="1" i="0" lang="en-US" sz="1100" u="none" cap="none" strike="noStrike">
                <a:solidFill>
                  <a:srgbClr val="FFFFFF"/>
                </a:solidFill>
                <a:latin typeface="Poppins Medium"/>
                <a:ea typeface="Poppins Medium"/>
                <a:cs typeface="Poppins Medium"/>
                <a:sym typeface="Poppins Medium"/>
              </a:rPr>
              <a:t>[60% gaji dibagikan kepada komunitas terpinggirkan]</a:t>
            </a:r>
            <a:endParaRPr sz="600"/>
          </a:p>
        </p:txBody>
      </p:sp>
      <p:sp>
        <p:nvSpPr>
          <p:cNvPr id="391" name="Google Shape;391;h2fef75e91d461226_11_552"/>
          <p:cNvSpPr txBox="1"/>
          <p:nvPr/>
        </p:nvSpPr>
        <p:spPr>
          <a:xfrm>
            <a:off x="9386101" y="2237946"/>
            <a:ext cx="2659800" cy="1591500"/>
          </a:xfrm>
          <a:prstGeom prst="rect">
            <a:avLst/>
          </a:prstGeom>
          <a:noFill/>
          <a:ln>
            <a:noFill/>
          </a:ln>
        </p:spPr>
        <p:txBody>
          <a:bodyPr anchorCtr="0" anchor="t" bIns="0" lIns="0" spcFirstLastPara="1" rIns="0" wrap="square" tIns="0">
            <a:spAutoFit/>
          </a:bodyPr>
          <a:lstStyle/>
          <a:p>
            <a:pPr indent="0" lvl="0" marL="0" marR="0" rtl="0" algn="r">
              <a:lnSpc>
                <a:spcPct val="139990"/>
              </a:lnSpc>
              <a:spcBef>
                <a:spcPts val="0"/>
              </a:spcBef>
              <a:spcAft>
                <a:spcPts val="0"/>
              </a:spcAft>
              <a:buNone/>
            </a:pPr>
            <a:r>
              <a:rPr b="1" i="0" lang="en-US" sz="1100" u="none" cap="none" strike="noStrike">
                <a:solidFill>
                  <a:srgbClr val="FFFFFF"/>
                </a:solidFill>
                <a:latin typeface="Poppins Medium"/>
                <a:ea typeface="Poppins Medium"/>
                <a:cs typeface="Poppins Medium"/>
                <a:sym typeface="Poppins Medium"/>
              </a:rPr>
              <a:t>Memberdayakan ibu-ibu untuk mendapatkan penghasilan sambil mengelola tanggung jawab keluarga dengan menyediakan lingkungan kerja yang mendukung </a:t>
            </a:r>
            <a:endParaRPr sz="600"/>
          </a:p>
          <a:p>
            <a:pPr indent="0" lvl="0" marL="0" marR="0" rtl="0" algn="r">
              <a:lnSpc>
                <a:spcPct val="139990"/>
              </a:lnSpc>
              <a:spcBef>
                <a:spcPts val="0"/>
              </a:spcBef>
              <a:spcAft>
                <a:spcPts val="0"/>
              </a:spcAft>
              <a:buNone/>
            </a:pPr>
            <a:r>
              <a:rPr b="1" i="0" lang="en-US" sz="1100" u="none" cap="none" strike="noStrike">
                <a:solidFill>
                  <a:srgbClr val="FFFFFF"/>
                </a:solidFill>
                <a:latin typeface="Poppins Medium"/>
                <a:ea typeface="Poppins Medium"/>
                <a:cs typeface="Poppins Medium"/>
                <a:sym typeface="Poppins Medium"/>
              </a:rPr>
              <a:t>[100% ibu-ibu mendapatkan bantuan ekonomi]</a:t>
            </a:r>
            <a:endParaRPr sz="600"/>
          </a:p>
        </p:txBody>
      </p:sp>
      <p:sp>
        <p:nvSpPr>
          <p:cNvPr id="392" name="Google Shape;392;h2fef75e91d461226_11_552"/>
          <p:cNvSpPr txBox="1"/>
          <p:nvPr/>
        </p:nvSpPr>
        <p:spPr>
          <a:xfrm>
            <a:off x="9001727" y="5597887"/>
            <a:ext cx="3009000" cy="880500"/>
          </a:xfrm>
          <a:prstGeom prst="rect">
            <a:avLst/>
          </a:prstGeom>
          <a:noFill/>
          <a:ln>
            <a:noFill/>
          </a:ln>
        </p:spPr>
        <p:txBody>
          <a:bodyPr anchorCtr="0" anchor="t" bIns="0" lIns="0" spcFirstLastPara="1" rIns="0" wrap="square" tIns="0">
            <a:spAutoFit/>
          </a:bodyPr>
          <a:lstStyle/>
          <a:p>
            <a:pPr indent="0" lvl="0" marL="0" marR="0" rtl="0" algn="r">
              <a:lnSpc>
                <a:spcPct val="139990"/>
              </a:lnSpc>
              <a:spcBef>
                <a:spcPts val="0"/>
              </a:spcBef>
              <a:spcAft>
                <a:spcPts val="0"/>
              </a:spcAft>
              <a:buNone/>
            </a:pPr>
            <a:r>
              <a:rPr b="1" i="0" lang="en-US" sz="1100" u="none" cap="none" strike="noStrike">
                <a:solidFill>
                  <a:srgbClr val="FFFFFF"/>
                </a:solidFill>
                <a:latin typeface="Poppins Medium"/>
                <a:ea typeface="Poppins Medium"/>
                <a:cs typeface="Poppins Medium"/>
                <a:sym typeface="Poppins Medium"/>
              </a:rPr>
              <a:t>Mempromosikan standar kerja yang layak, termasuk kondisi kerja yang aman dan upah yang adil.</a:t>
            </a:r>
            <a:endParaRPr sz="600"/>
          </a:p>
          <a:p>
            <a:pPr indent="0" lvl="0" marL="0" marR="0" rtl="0" algn="r">
              <a:lnSpc>
                <a:spcPct val="139990"/>
              </a:lnSpc>
              <a:spcBef>
                <a:spcPts val="0"/>
              </a:spcBef>
              <a:spcAft>
                <a:spcPts val="0"/>
              </a:spcAft>
              <a:buNone/>
            </a:pPr>
            <a:r>
              <a:t/>
            </a:r>
            <a:endParaRPr b="1" i="0" sz="1100" u="none" cap="none" strike="noStrike">
              <a:solidFill>
                <a:srgbClr val="FFFFFF"/>
              </a:solidFill>
              <a:latin typeface="Poppins Medium"/>
              <a:ea typeface="Poppins Medium"/>
              <a:cs typeface="Poppins Medium"/>
              <a:sym typeface="Poppi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396" name="Shape 396"/>
        <p:cNvGrpSpPr/>
        <p:nvPr/>
      </p:nvGrpSpPr>
      <p:grpSpPr>
        <a:xfrm>
          <a:off x="0" y="0"/>
          <a:ext cx="0" cy="0"/>
          <a:chOff x="0" y="0"/>
          <a:chExt cx="0" cy="0"/>
        </a:xfrm>
      </p:grpSpPr>
      <p:pic>
        <p:nvPicPr>
          <p:cNvPr descr="logo_white.png" id="397" name="Google Shape;397;h69a5e3ff789ebc32_1_963"/>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398" name="Google Shape;398;h69a5e3ff789ebc32_1_963"/>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399" name="Google Shape;399;h69a5e3ff789ebc32_1_96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a:t>
            </a:r>
            <a:endParaRPr/>
          </a:p>
        </p:txBody>
      </p:sp>
      <p:sp>
        <p:nvSpPr>
          <p:cNvPr id="400" name="Google Shape;400;h69a5e3ff789ebc32_1_963"/>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RINGKASAN EKSEKUTIF</a:t>
            </a:r>
            <a:endParaRPr/>
          </a:p>
        </p:txBody>
      </p:sp>
      <p:sp>
        <p:nvSpPr>
          <p:cNvPr id="401" name="Google Shape;401;h69a5e3ff789ebc32_1_963"/>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Dari rencana </a:t>
            </a:r>
            <a:r>
              <a:rPr lang="en-US" sz="2800">
                <a:solidFill>
                  <a:srgbClr val="FFFFFF"/>
                </a:solidFill>
                <a:latin typeface="Montserrat ExtraBold"/>
                <a:ea typeface="Montserrat ExtraBold"/>
                <a:cs typeface="Montserrat ExtraBold"/>
                <a:sym typeface="Montserrat ExtraBold"/>
              </a:rPr>
              <a:t>M</a:t>
            </a:r>
            <a:r>
              <a:rPr b="0" i="0" lang="en-US" sz="2800">
                <a:solidFill>
                  <a:srgbClr val="FFFFFF"/>
                </a:solidFill>
                <a:latin typeface="Montserrat ExtraBold"/>
                <a:ea typeface="Montserrat ExtraBold"/>
                <a:cs typeface="Montserrat ExtraBold"/>
                <a:sym typeface="Montserrat ExtraBold"/>
              </a:rPr>
              <a:t>enjadi </a:t>
            </a:r>
            <a:r>
              <a:rPr lang="en-US" sz="2800">
                <a:solidFill>
                  <a:srgbClr val="FFFFFF"/>
                </a:solidFill>
                <a:latin typeface="Montserrat ExtraBold"/>
                <a:ea typeface="Montserrat ExtraBold"/>
                <a:cs typeface="Montserrat ExtraBold"/>
                <a:sym typeface="Montserrat ExtraBold"/>
              </a:rPr>
              <a:t>S</a:t>
            </a:r>
            <a:r>
              <a:rPr b="0" i="0" lang="en-US" sz="2800">
                <a:solidFill>
                  <a:srgbClr val="FFFFFF"/>
                </a:solidFill>
                <a:latin typeface="Montserrat ExtraBold"/>
                <a:ea typeface="Montserrat ExtraBold"/>
                <a:cs typeface="Montserrat ExtraBold"/>
                <a:sym typeface="Montserrat ExtraBold"/>
              </a:rPr>
              <a:t>iap </a:t>
            </a:r>
            <a:r>
              <a:rPr lang="en-US" sz="2800">
                <a:solidFill>
                  <a:srgbClr val="FFFFFF"/>
                </a:solidFill>
                <a:latin typeface="Montserrat ExtraBold"/>
                <a:ea typeface="Montserrat ExtraBold"/>
                <a:cs typeface="Montserrat ExtraBold"/>
                <a:sym typeface="Montserrat ExtraBold"/>
              </a:rPr>
              <a:t>A</a:t>
            </a:r>
            <a:r>
              <a:rPr b="0" i="0" lang="en-US" sz="2800">
                <a:solidFill>
                  <a:srgbClr val="FFFFFF"/>
                </a:solidFill>
                <a:latin typeface="Montserrat ExtraBold"/>
                <a:ea typeface="Montserrat ExtraBold"/>
                <a:cs typeface="Montserrat ExtraBold"/>
                <a:sym typeface="Montserrat ExtraBold"/>
              </a:rPr>
              <a:t>kreditasi</a:t>
            </a:r>
            <a:endParaRPr/>
          </a:p>
        </p:txBody>
      </p:sp>
      <p:sp>
        <p:nvSpPr>
          <p:cNvPr id="402" name="Google Shape;402;h69a5e3ff789ebc32_1_963"/>
          <p:cNvSpPr txBox="1"/>
          <p:nvPr/>
        </p:nvSpPr>
        <p:spPr>
          <a:xfrm>
            <a:off x="594350" y="1572775"/>
            <a:ext cx="7520400" cy="4440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Kegiatan. </a:t>
            </a:r>
            <a:r>
              <a:rPr b="1" i="0" lang="en-US" sz="1350">
                <a:solidFill>
                  <a:srgbClr val="FFC00C"/>
                </a:solidFill>
                <a:latin typeface="Montserrat"/>
                <a:ea typeface="Montserrat"/>
                <a:cs typeface="Montserrat"/>
                <a:sym typeface="Montserrat"/>
              </a:rPr>
              <a:t> </a:t>
            </a:r>
            <a:r>
              <a:rPr lang="en-US" sz="1350">
                <a:solidFill>
                  <a:srgbClr val="FFFFFF"/>
                </a:solidFill>
                <a:latin typeface="Montserrat"/>
                <a:ea typeface="Montserrat"/>
                <a:cs typeface="Montserrat"/>
                <a:sym typeface="Montserrat"/>
              </a:rPr>
              <a:t>Sanggabiz mengoordinasikan pendampingan luring Tim Pendamping Nasional Direktorat PPG di 12 LPTK untuk periode Oktober sampai Desember 2026. Kedua belas LPTK ini bukan kelompok baru. Mereka sudah dibina Tanoto Foundation sejak Supervisi 2025, jauh sebelum kami terlibat, sehingga program ini tidak dimulai dari nol. Kami melanjutkan apa yang sudah dirintis: menelaah pelaksanaan tindakan perbaikan, memperkuat kesiapan akreditasi, dan membuka peluang peningkatan mutu PPL, sesuai tujuan yang ditetapkan Tanoto Foundation sendiri.</a:t>
            </a:r>
            <a:endParaRPr/>
          </a:p>
          <a:p>
            <a:pPr indent="0" lvl="0" marL="0" marR="0" rtl="0" algn="l">
              <a:lnSpc>
                <a:spcPct val="110000"/>
              </a:lnSpc>
              <a:spcBef>
                <a:spcPts val="900"/>
              </a:spcBef>
              <a:spcAft>
                <a:spcPts val="0"/>
              </a:spcAft>
              <a:buNone/>
            </a:pPr>
            <a:r>
              <a:rPr b="1" lang="en-US" sz="1350">
                <a:solidFill>
                  <a:srgbClr val="FFC00C"/>
                </a:solidFill>
                <a:latin typeface="Montserrat"/>
                <a:ea typeface="Montserrat"/>
                <a:cs typeface="Montserrat"/>
                <a:sym typeface="Montserrat"/>
              </a:rPr>
              <a:t>Output</a:t>
            </a:r>
            <a:r>
              <a:rPr b="1" i="0" lang="en-US" sz="1350">
                <a:solidFill>
                  <a:srgbClr val="FFC00C"/>
                </a:solidFill>
                <a:latin typeface="Montserrat"/>
                <a:ea typeface="Montserrat"/>
                <a:cs typeface="Montserrat"/>
                <a:sym typeface="Montserrat"/>
              </a:rPr>
              <a:t>.  </a:t>
            </a:r>
            <a:r>
              <a:rPr b="0" i="0" lang="en-US" sz="1350">
                <a:solidFill>
                  <a:srgbClr val="FFFFFF"/>
                </a:solidFill>
                <a:latin typeface="Montserrat"/>
                <a:ea typeface="Montserrat"/>
                <a:cs typeface="Montserrat"/>
                <a:sym typeface="Montserrat"/>
              </a:rPr>
              <a:t>Tiap LPTK menerima Laporan Pendampingan dan Paket Perbaikan Akreditasi paling lambat 14 hari setelah kunjungan: pemetaan kualifikasi dosen, telaah kurikulum OBE, pemetaan awal PPL, celah bukti akreditasi, dan RTL ber-penanggung jawab dan bertenggat. Di akhir program: studi komparatif terhadap kelompok LPTK pembanding, analisis lintas LPTK, dan rekomendasi pedoman pendampingan teknis</a:t>
            </a:r>
            <a:endParaRPr/>
          </a:p>
          <a:p>
            <a:pPr indent="0" lvl="0" marL="0" marR="0" rtl="0" algn="l">
              <a:lnSpc>
                <a:spcPct val="110000"/>
              </a:lnSpc>
              <a:spcBef>
                <a:spcPts val="900"/>
              </a:spcBef>
              <a:spcAft>
                <a:spcPts val="0"/>
              </a:spcAft>
              <a:buNone/>
            </a:pPr>
            <a:r>
              <a:rPr b="1" lang="en-US" sz="1350">
                <a:solidFill>
                  <a:srgbClr val="FFC00C"/>
                </a:solidFill>
                <a:latin typeface="Montserrat"/>
                <a:ea typeface="Montserrat"/>
                <a:cs typeface="Montserrat"/>
                <a:sym typeface="Montserrat"/>
              </a:rPr>
              <a:t>Dampak.</a:t>
            </a:r>
            <a:r>
              <a:rPr b="1" i="0" lang="en-US" sz="1350">
                <a:solidFill>
                  <a:srgbClr val="FFC00C"/>
                </a:solidFill>
                <a:latin typeface="Montserrat"/>
                <a:ea typeface="Montserrat"/>
                <a:cs typeface="Montserrat"/>
                <a:sym typeface="Montserrat"/>
              </a:rPr>
              <a:t>  </a:t>
            </a:r>
            <a:r>
              <a:rPr b="0" i="0" lang="en-US" sz="1350">
                <a:solidFill>
                  <a:srgbClr val="FFFFFF"/>
                </a:solidFill>
                <a:latin typeface="Montserrat"/>
                <a:ea typeface="Montserrat"/>
                <a:cs typeface="Montserrat"/>
                <a:sym typeface="Montserrat"/>
              </a:rPr>
              <a:t>Lima fokus 2026 dan empat temuan Supervisi 2025 milik Tanoto Foundation sendiri menjadi kerangka kerja utama kami, diterjemahkan ke rubrik akreditasi LAMDIK/BAN-PT sebagai bahasa teknis. Evidence Register menelusuri setiap bukti. Rute berklaster menghemat biaya perjalanan sehingga LPTK tambahan dapat dilayani.</a:t>
            </a:r>
            <a:endParaRPr/>
          </a:p>
          <a:p>
            <a:pPr indent="0" lvl="0" marL="0" marR="0" rtl="0" algn="l">
              <a:lnSpc>
                <a:spcPct val="110000"/>
              </a:lnSpc>
              <a:spcBef>
                <a:spcPts val="900"/>
              </a:spcBef>
              <a:spcAft>
                <a:spcPts val="0"/>
              </a:spcAft>
              <a:buNone/>
            </a:pPr>
            <a:r>
              <a:rPr b="1" lang="en-US" sz="1350">
                <a:solidFill>
                  <a:srgbClr val="FFC00C"/>
                </a:solidFill>
                <a:latin typeface="Montserrat"/>
                <a:ea typeface="Montserrat"/>
                <a:cs typeface="Montserrat"/>
                <a:sym typeface="Montserrat"/>
              </a:rPr>
              <a:t>Budget Program</a:t>
            </a:r>
            <a:r>
              <a:rPr b="1" i="0" lang="en-US" sz="1350">
                <a:solidFill>
                  <a:srgbClr val="FFC00C"/>
                </a:solidFill>
                <a:latin typeface="Montserrat"/>
                <a:ea typeface="Montserrat"/>
                <a:cs typeface="Montserrat"/>
                <a:sym typeface="Montserrat"/>
              </a:rPr>
              <a:t>.  </a:t>
            </a:r>
            <a:r>
              <a:rPr b="1" i="0" lang="en-US" sz="1350">
                <a:solidFill>
                  <a:srgbClr val="FFFFFF"/>
                </a:solidFill>
                <a:latin typeface="Montserrat"/>
                <a:ea typeface="Montserrat"/>
                <a:cs typeface="Montserrat"/>
                <a:sym typeface="Montserrat"/>
              </a:rPr>
              <a:t>Rp510.000.000 (termasuk management fee dan pajak) untuk 12 LPTK inti + 2 LPTK tambahan; atau Rp426.120.000 bila hanya 12 LPTK.</a:t>
            </a:r>
            <a:endParaRPr/>
          </a:p>
        </p:txBody>
      </p:sp>
      <p:sp>
        <p:nvSpPr>
          <p:cNvPr id="403" name="Google Shape;403;h69a5e3ff789ebc32_1_963"/>
          <p:cNvSpPr/>
          <p:nvPr/>
        </p:nvSpPr>
        <p:spPr>
          <a:xfrm>
            <a:off x="8183879" y="1691640"/>
            <a:ext cx="1737300" cy="20574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h69a5e3ff789ebc32_1_963"/>
          <p:cNvSpPr txBox="1"/>
          <p:nvPr/>
        </p:nvSpPr>
        <p:spPr>
          <a:xfrm>
            <a:off x="8183879" y="1892808"/>
            <a:ext cx="1737300" cy="4926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200">
                <a:solidFill>
                  <a:srgbClr val="FFFFFF"/>
                </a:solidFill>
                <a:latin typeface="Montserrat ExtraBold"/>
                <a:ea typeface="Montserrat ExtraBold"/>
                <a:cs typeface="Montserrat ExtraBold"/>
                <a:sym typeface="Montserrat ExtraBold"/>
              </a:rPr>
              <a:t>12</a:t>
            </a:r>
            <a:endParaRPr/>
          </a:p>
        </p:txBody>
      </p:sp>
      <p:sp>
        <p:nvSpPr>
          <p:cNvPr id="405" name="Google Shape;405;h69a5e3ff789ebc32_1_963"/>
          <p:cNvSpPr txBox="1"/>
          <p:nvPr/>
        </p:nvSpPr>
        <p:spPr>
          <a:xfrm>
            <a:off x="8275319" y="2788920"/>
            <a:ext cx="1554600" cy="566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LPTK di 5 provinsi,</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lanjutan Supervisi 2025</a:t>
            </a:r>
            <a:endParaRPr/>
          </a:p>
        </p:txBody>
      </p:sp>
      <p:sp>
        <p:nvSpPr>
          <p:cNvPr id="406" name="Google Shape;406;h69a5e3ff789ebc32_1_963"/>
          <p:cNvSpPr/>
          <p:nvPr/>
        </p:nvSpPr>
        <p:spPr>
          <a:xfrm>
            <a:off x="10058400" y="1691640"/>
            <a:ext cx="1737300" cy="20574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h69a5e3ff789ebc32_1_963"/>
          <p:cNvSpPr txBox="1"/>
          <p:nvPr/>
        </p:nvSpPr>
        <p:spPr>
          <a:xfrm>
            <a:off x="10058400" y="1892808"/>
            <a:ext cx="1737300" cy="4926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200">
                <a:solidFill>
                  <a:srgbClr val="FFFFFF"/>
                </a:solidFill>
                <a:latin typeface="Montserrat ExtraBold"/>
                <a:ea typeface="Montserrat ExtraBold"/>
                <a:cs typeface="Montserrat ExtraBold"/>
                <a:sym typeface="Montserrat ExtraBold"/>
              </a:rPr>
              <a:t>5</a:t>
            </a:r>
            <a:endParaRPr/>
          </a:p>
        </p:txBody>
      </p:sp>
      <p:sp>
        <p:nvSpPr>
          <p:cNvPr id="408" name="Google Shape;408;h69a5e3ff789ebc32_1_963"/>
          <p:cNvSpPr txBox="1"/>
          <p:nvPr/>
        </p:nvSpPr>
        <p:spPr>
          <a:xfrm>
            <a:off x="10149840" y="2788920"/>
            <a:ext cx="1554600" cy="371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fokus 2026 Tanoto</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Foundation</a:t>
            </a:r>
            <a:endParaRPr/>
          </a:p>
        </p:txBody>
      </p:sp>
      <p:sp>
        <p:nvSpPr>
          <p:cNvPr id="409" name="Google Shape;409;h69a5e3ff789ebc32_1_963"/>
          <p:cNvSpPr/>
          <p:nvPr/>
        </p:nvSpPr>
        <p:spPr>
          <a:xfrm>
            <a:off x="8183879" y="3931920"/>
            <a:ext cx="1737300" cy="20574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h69a5e3ff789ebc32_1_963"/>
          <p:cNvSpPr txBox="1"/>
          <p:nvPr/>
        </p:nvSpPr>
        <p:spPr>
          <a:xfrm>
            <a:off x="8183879" y="4133088"/>
            <a:ext cx="1737300" cy="4926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200">
                <a:solidFill>
                  <a:srgbClr val="FFFFFF"/>
                </a:solidFill>
                <a:latin typeface="Montserrat ExtraBold"/>
                <a:ea typeface="Montserrat ExtraBold"/>
                <a:cs typeface="Montserrat ExtraBold"/>
                <a:sym typeface="Montserrat ExtraBold"/>
              </a:rPr>
              <a:t>≤14</a:t>
            </a:r>
            <a:endParaRPr/>
          </a:p>
        </p:txBody>
      </p:sp>
      <p:sp>
        <p:nvSpPr>
          <p:cNvPr id="411" name="Google Shape;411;h69a5e3ff789ebc32_1_963"/>
          <p:cNvSpPr txBox="1"/>
          <p:nvPr/>
        </p:nvSpPr>
        <p:spPr>
          <a:xfrm>
            <a:off x="8275319" y="5029200"/>
            <a:ext cx="1554600" cy="566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hari: laporan tiap LPTK</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setelah kunjungan</a:t>
            </a:r>
            <a:endParaRPr/>
          </a:p>
        </p:txBody>
      </p:sp>
      <p:sp>
        <p:nvSpPr>
          <p:cNvPr id="412" name="Google Shape;412;h69a5e3ff789ebc32_1_963"/>
          <p:cNvSpPr/>
          <p:nvPr/>
        </p:nvSpPr>
        <p:spPr>
          <a:xfrm>
            <a:off x="10058400" y="3931920"/>
            <a:ext cx="1737300" cy="20574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h69a5e3ff789ebc32_1_963"/>
          <p:cNvSpPr txBox="1"/>
          <p:nvPr/>
        </p:nvSpPr>
        <p:spPr>
          <a:xfrm>
            <a:off x="10058400" y="4133088"/>
            <a:ext cx="1737300" cy="4926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200">
                <a:solidFill>
                  <a:srgbClr val="FFFFFF"/>
                </a:solidFill>
                <a:latin typeface="Montserrat ExtraBold"/>
                <a:ea typeface="Montserrat ExtraBold"/>
                <a:cs typeface="Montserrat ExtraBold"/>
                <a:sym typeface="Montserrat ExtraBold"/>
              </a:rPr>
              <a:t>7 Des</a:t>
            </a:r>
            <a:endParaRPr/>
          </a:p>
        </p:txBody>
      </p:sp>
      <p:sp>
        <p:nvSpPr>
          <p:cNvPr id="414" name="Google Shape;414;h69a5e3ff789ebc32_1_963"/>
          <p:cNvSpPr txBox="1"/>
          <p:nvPr/>
        </p:nvSpPr>
        <p:spPr>
          <a:xfrm>
            <a:off x="10149840" y="5029200"/>
            <a:ext cx="1554600" cy="566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Paket Laporan Akhir</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(final, 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418" name="Shape 418"/>
        <p:cNvGrpSpPr/>
        <p:nvPr/>
      </p:nvGrpSpPr>
      <p:grpSpPr>
        <a:xfrm>
          <a:off x="0" y="0"/>
          <a:ext cx="0" cy="0"/>
          <a:chOff x="0" y="0"/>
          <a:chExt cx="0" cy="0"/>
        </a:xfrm>
      </p:grpSpPr>
      <p:pic>
        <p:nvPicPr>
          <p:cNvPr descr="logo_white.png" id="419" name="Google Shape;419;h69a5e3ff789ebc32_1_1006"/>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420" name="Google Shape;420;h69a5e3ff789ebc32_1_1006"/>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421" name="Google Shape;421;h69a5e3ff789ebc32_1_1006"/>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4</a:t>
            </a:r>
            <a:endParaRPr/>
          </a:p>
        </p:txBody>
      </p:sp>
      <p:sp>
        <p:nvSpPr>
          <p:cNvPr id="422" name="Google Shape;422;h69a5e3ff789ebc32_1_1006"/>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PEMAHAMAN TERHADAP TUJUAN</a:t>
            </a:r>
            <a:endParaRPr/>
          </a:p>
        </p:txBody>
      </p:sp>
      <p:sp>
        <p:nvSpPr>
          <p:cNvPr id="423" name="Google Shape;423;h69a5e3ff789ebc32_1_1006"/>
          <p:cNvSpPr txBox="1"/>
          <p:nvPr/>
        </p:nvSpPr>
        <p:spPr>
          <a:xfrm>
            <a:off x="594360" y="658368"/>
            <a:ext cx="11003100" cy="769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500">
                <a:solidFill>
                  <a:srgbClr val="FFFFFF"/>
                </a:solidFill>
                <a:latin typeface="Montserrat ExtraBold"/>
                <a:ea typeface="Montserrat ExtraBold"/>
                <a:cs typeface="Montserrat ExtraBold"/>
                <a:sym typeface="Montserrat ExtraBold"/>
              </a:rPr>
              <a:t>Konteks program: empat temuan Supervisi 2025 yang harus dijawab</a:t>
            </a:r>
            <a:endParaRPr/>
          </a:p>
        </p:txBody>
      </p:sp>
      <p:sp>
        <p:nvSpPr>
          <p:cNvPr id="424" name="Google Shape;424;h69a5e3ff789ebc32_1_1006"/>
          <p:cNvSpPr/>
          <p:nvPr/>
        </p:nvSpPr>
        <p:spPr>
          <a:xfrm>
            <a:off x="594360" y="1600200"/>
            <a:ext cx="2606100" cy="17373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h69a5e3ff789ebc32_1_1006"/>
          <p:cNvSpPr txBox="1"/>
          <p:nvPr/>
        </p:nvSpPr>
        <p:spPr>
          <a:xfrm>
            <a:off x="594360" y="1673352"/>
            <a:ext cx="2606100" cy="554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600">
                <a:solidFill>
                  <a:srgbClr val="FFFFFF"/>
                </a:solidFill>
                <a:latin typeface="Montserrat ExtraBold"/>
                <a:ea typeface="Montserrat ExtraBold"/>
                <a:cs typeface="Montserrat ExtraBold"/>
                <a:sym typeface="Montserrat ExtraBold"/>
              </a:rPr>
              <a:t>169</a:t>
            </a:r>
            <a:endParaRPr/>
          </a:p>
        </p:txBody>
      </p:sp>
      <p:sp>
        <p:nvSpPr>
          <p:cNvPr id="426" name="Google Shape;426;h69a5e3ff789ebc32_1_1006"/>
          <p:cNvSpPr txBox="1"/>
          <p:nvPr/>
        </p:nvSpPr>
        <p:spPr>
          <a:xfrm>
            <a:off x="704088" y="2432304"/>
            <a:ext cx="2377500" cy="371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LPTK disupervisi</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mutu tahunan (2025)</a:t>
            </a:r>
            <a:endParaRPr/>
          </a:p>
        </p:txBody>
      </p:sp>
      <p:sp>
        <p:nvSpPr>
          <p:cNvPr id="427" name="Google Shape;427;h69a5e3ff789ebc32_1_1006"/>
          <p:cNvSpPr/>
          <p:nvPr/>
        </p:nvSpPr>
        <p:spPr>
          <a:xfrm>
            <a:off x="3364991" y="1600200"/>
            <a:ext cx="2606100" cy="17373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h69a5e3ff789ebc32_1_1006"/>
          <p:cNvSpPr txBox="1"/>
          <p:nvPr/>
        </p:nvSpPr>
        <p:spPr>
          <a:xfrm>
            <a:off x="3364991" y="1673352"/>
            <a:ext cx="2606100" cy="554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600">
                <a:solidFill>
                  <a:srgbClr val="FFFFFF"/>
                </a:solidFill>
                <a:latin typeface="Montserrat ExtraBold"/>
                <a:ea typeface="Montserrat ExtraBold"/>
                <a:cs typeface="Montserrat ExtraBold"/>
                <a:sym typeface="Montserrat ExtraBold"/>
              </a:rPr>
              <a:t>25</a:t>
            </a:r>
            <a:endParaRPr/>
          </a:p>
        </p:txBody>
      </p:sp>
      <p:sp>
        <p:nvSpPr>
          <p:cNvPr id="429" name="Google Shape;429;h69a5e3ff789ebc32_1_1006"/>
          <p:cNvSpPr txBox="1"/>
          <p:nvPr/>
        </p:nvSpPr>
        <p:spPr>
          <a:xfrm>
            <a:off x="3474720" y="2432304"/>
            <a:ext cx="2377500" cy="371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LPTK disupervisi</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mendalam Direktorat PPG</a:t>
            </a:r>
            <a:endParaRPr/>
          </a:p>
        </p:txBody>
      </p:sp>
      <p:sp>
        <p:nvSpPr>
          <p:cNvPr id="430" name="Google Shape;430;h69a5e3ff789ebc32_1_1006"/>
          <p:cNvSpPr/>
          <p:nvPr/>
        </p:nvSpPr>
        <p:spPr>
          <a:xfrm>
            <a:off x="6135624" y="1600200"/>
            <a:ext cx="2606100" cy="17373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h69a5e3ff789ebc32_1_1006"/>
          <p:cNvSpPr txBox="1"/>
          <p:nvPr/>
        </p:nvSpPr>
        <p:spPr>
          <a:xfrm>
            <a:off x="6135624" y="1673352"/>
            <a:ext cx="2606100" cy="554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600">
                <a:solidFill>
                  <a:srgbClr val="FFFFFF"/>
                </a:solidFill>
                <a:latin typeface="Montserrat ExtraBold"/>
                <a:ea typeface="Montserrat ExtraBold"/>
                <a:cs typeface="Montserrat ExtraBold"/>
                <a:sym typeface="Montserrat ExtraBold"/>
              </a:rPr>
              <a:t>22</a:t>
            </a:r>
            <a:endParaRPr/>
          </a:p>
        </p:txBody>
      </p:sp>
      <p:sp>
        <p:nvSpPr>
          <p:cNvPr id="432" name="Google Shape;432;h69a5e3ff789ebc32_1_1006"/>
          <p:cNvSpPr txBox="1"/>
          <p:nvPr/>
        </p:nvSpPr>
        <p:spPr>
          <a:xfrm>
            <a:off x="6245352" y="2432304"/>
            <a:ext cx="2377500" cy="371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dari 172 LPTK (2026) terpilih</a:t>
            </a:r>
            <a:br>
              <a:rPr b="1" i="0" lang="en-US" sz="1150">
                <a:solidFill>
                  <a:srgbClr val="FFFFFF"/>
                </a:solidFill>
                <a:latin typeface="Montserrat"/>
                <a:ea typeface="Montserrat"/>
                <a:cs typeface="Montserrat"/>
                <a:sym typeface="Montserrat"/>
              </a:rPr>
            </a:br>
            <a:r>
              <a:rPr b="1" i="0" lang="en-US" sz="1150">
                <a:solidFill>
                  <a:srgbClr val="FFFFFF"/>
                </a:solidFill>
                <a:latin typeface="Montserrat"/>
                <a:ea typeface="Montserrat"/>
                <a:cs typeface="Montserrat"/>
                <a:sym typeface="Montserrat"/>
              </a:rPr>
              <a:t>pendampingan luring</a:t>
            </a:r>
            <a:endParaRPr/>
          </a:p>
        </p:txBody>
      </p:sp>
      <p:sp>
        <p:nvSpPr>
          <p:cNvPr id="433" name="Google Shape;433;h69a5e3ff789ebc32_1_1006"/>
          <p:cNvSpPr/>
          <p:nvPr/>
        </p:nvSpPr>
        <p:spPr>
          <a:xfrm>
            <a:off x="8906256" y="1600200"/>
            <a:ext cx="2606100" cy="1737300"/>
          </a:xfrm>
          <a:prstGeom prst="roundRect">
            <a:avLst>
              <a:gd fmla="val 14736"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h69a5e3ff789ebc32_1_1006"/>
          <p:cNvSpPr txBox="1"/>
          <p:nvPr/>
        </p:nvSpPr>
        <p:spPr>
          <a:xfrm>
            <a:off x="8906256" y="1673352"/>
            <a:ext cx="2606100" cy="554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3600">
                <a:solidFill>
                  <a:srgbClr val="FFFFFF"/>
                </a:solidFill>
                <a:latin typeface="Montserrat ExtraBold"/>
                <a:ea typeface="Montserrat ExtraBold"/>
                <a:cs typeface="Montserrat ExtraBold"/>
                <a:sym typeface="Montserrat ExtraBold"/>
              </a:rPr>
              <a:t>12</a:t>
            </a:r>
            <a:endParaRPr/>
          </a:p>
        </p:txBody>
      </p:sp>
      <p:sp>
        <p:nvSpPr>
          <p:cNvPr id="435" name="Google Shape;435;h69a5e3ff789ebc32_1_1006"/>
          <p:cNvSpPr txBox="1"/>
          <p:nvPr/>
        </p:nvSpPr>
        <p:spPr>
          <a:xfrm>
            <a:off x="9015984" y="2432304"/>
            <a:ext cx="2377500" cy="371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FFFFFF"/>
                </a:solidFill>
                <a:latin typeface="Montserrat"/>
                <a:ea typeface="Montserrat"/>
                <a:cs typeface="Montserrat"/>
                <a:sym typeface="Montserrat"/>
              </a:rPr>
              <a:t>LPTK luring didukung </a:t>
            </a:r>
            <a:r>
              <a:rPr b="1" lang="en-US" sz="1150">
                <a:solidFill>
                  <a:srgbClr val="FFFFFF"/>
                </a:solidFill>
                <a:latin typeface="Montserrat"/>
                <a:ea typeface="Montserrat"/>
                <a:cs typeface="Montserrat"/>
                <a:sym typeface="Montserrat"/>
              </a:rPr>
              <a:t>Tanoto Foundation dari </a:t>
            </a:r>
            <a:r>
              <a:rPr b="1" i="0" lang="en-US" sz="1150">
                <a:solidFill>
                  <a:srgbClr val="FFFFFF"/>
                </a:solidFill>
                <a:latin typeface="Montserrat"/>
                <a:ea typeface="Montserrat"/>
                <a:cs typeface="Montserrat"/>
                <a:sym typeface="Montserrat"/>
              </a:rPr>
              <a:t>2025</a:t>
            </a:r>
            <a:endParaRPr/>
          </a:p>
        </p:txBody>
      </p:sp>
      <p:sp>
        <p:nvSpPr>
          <p:cNvPr id="436" name="Google Shape;436;h69a5e3ff789ebc32_1_1006"/>
          <p:cNvSpPr txBox="1"/>
          <p:nvPr/>
        </p:nvSpPr>
        <p:spPr>
          <a:xfrm>
            <a:off x="594360" y="3401568"/>
            <a:ext cx="11003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500">
                <a:solidFill>
                  <a:srgbClr val="FFC00C"/>
                </a:solidFill>
                <a:latin typeface="Montserrat"/>
                <a:ea typeface="Montserrat"/>
                <a:cs typeface="Montserrat"/>
                <a:sym typeface="Montserrat"/>
              </a:rPr>
              <a:t>Empat </a:t>
            </a:r>
            <a:r>
              <a:rPr b="1" lang="en-US" sz="1500">
                <a:solidFill>
                  <a:srgbClr val="FFC00C"/>
                </a:solidFill>
                <a:latin typeface="Montserrat"/>
                <a:ea typeface="Montserrat"/>
                <a:cs typeface="Montserrat"/>
                <a:sym typeface="Montserrat"/>
              </a:rPr>
              <a:t>tujuan</a:t>
            </a:r>
            <a:r>
              <a:rPr b="1" i="0" lang="en-US" sz="1500">
                <a:solidFill>
                  <a:srgbClr val="FFC00C"/>
                </a:solidFill>
                <a:latin typeface="Montserrat"/>
                <a:ea typeface="Montserrat"/>
                <a:cs typeface="Montserrat"/>
                <a:sym typeface="Montserrat"/>
              </a:rPr>
              <a:t> utama Supervisi 2025 (Tanoto Foundation)</a:t>
            </a:r>
            <a:endParaRPr/>
          </a:p>
        </p:txBody>
      </p:sp>
      <p:sp>
        <p:nvSpPr>
          <p:cNvPr id="437" name="Google Shape;437;h69a5e3ff789ebc32_1_1006"/>
          <p:cNvSpPr/>
          <p:nvPr/>
        </p:nvSpPr>
        <p:spPr>
          <a:xfrm>
            <a:off x="594360" y="3703320"/>
            <a:ext cx="5440800" cy="1115700"/>
          </a:xfrm>
          <a:prstGeom prst="roundRect">
            <a:avLst>
              <a:gd fmla="val 14754"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h69a5e3ff789ebc32_1_1006"/>
          <p:cNvSpPr txBox="1"/>
          <p:nvPr/>
        </p:nvSpPr>
        <p:spPr>
          <a:xfrm>
            <a:off x="704095" y="3791919"/>
            <a:ext cx="548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a:solidFill>
                  <a:srgbClr val="FFC00C"/>
                </a:solidFill>
                <a:latin typeface="Montserrat ExtraBold"/>
                <a:ea typeface="Montserrat ExtraBold"/>
                <a:cs typeface="Montserrat ExtraBold"/>
                <a:sym typeface="Montserrat ExtraBold"/>
              </a:rPr>
              <a:t>1</a:t>
            </a:r>
            <a:endParaRPr/>
          </a:p>
        </p:txBody>
      </p:sp>
      <p:sp>
        <p:nvSpPr>
          <p:cNvPr id="439" name="Google Shape;439;h69a5e3ff789ebc32_1_1006"/>
          <p:cNvSpPr txBox="1"/>
          <p:nvPr/>
        </p:nvSpPr>
        <p:spPr>
          <a:xfrm>
            <a:off x="1280160" y="3776472"/>
            <a:ext cx="4617600" cy="1683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150">
                <a:solidFill>
                  <a:srgbClr val="FFFFFF"/>
                </a:solidFill>
                <a:latin typeface="Montserrat"/>
                <a:ea typeface="Montserrat"/>
                <a:cs typeface="Montserrat"/>
                <a:sym typeface="Montserrat"/>
              </a:rPr>
              <a:t>Implementasi OBE masih terbatas</a:t>
            </a:r>
            <a:endParaRPr/>
          </a:p>
        </p:txBody>
      </p:sp>
      <p:sp>
        <p:nvSpPr>
          <p:cNvPr id="440" name="Google Shape;440;h69a5e3ff789ebc32_1_1006"/>
          <p:cNvSpPr txBox="1"/>
          <p:nvPr/>
        </p:nvSpPr>
        <p:spPr>
          <a:xfrm>
            <a:off x="1280160" y="4279392"/>
            <a:ext cx="4617600" cy="1434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950">
                <a:solidFill>
                  <a:srgbClr val="B0C0CF"/>
                </a:solidFill>
                <a:latin typeface="Montserrat"/>
                <a:ea typeface="Montserrat"/>
                <a:cs typeface="Montserrat"/>
                <a:sym typeface="Montserrat"/>
              </a:rPr>
              <a:t>Tujuan, desain perkuliahan, dan asesmen belum selaras secara konsisten.</a:t>
            </a:r>
            <a:endParaRPr/>
          </a:p>
        </p:txBody>
      </p:sp>
      <p:sp>
        <p:nvSpPr>
          <p:cNvPr id="441" name="Google Shape;441;h69a5e3ff789ebc32_1_1006"/>
          <p:cNvSpPr/>
          <p:nvPr/>
        </p:nvSpPr>
        <p:spPr>
          <a:xfrm>
            <a:off x="6153912" y="3703320"/>
            <a:ext cx="5440800" cy="1115700"/>
          </a:xfrm>
          <a:prstGeom prst="roundRect">
            <a:avLst>
              <a:gd fmla="val 14754"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h69a5e3ff789ebc32_1_1006"/>
          <p:cNvSpPr txBox="1"/>
          <p:nvPr/>
        </p:nvSpPr>
        <p:spPr>
          <a:xfrm>
            <a:off x="6263647" y="3791919"/>
            <a:ext cx="548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a:solidFill>
                  <a:srgbClr val="FFC00C"/>
                </a:solidFill>
                <a:latin typeface="Montserrat ExtraBold"/>
                <a:ea typeface="Montserrat ExtraBold"/>
                <a:cs typeface="Montserrat ExtraBold"/>
                <a:sym typeface="Montserrat ExtraBold"/>
              </a:rPr>
              <a:t>2</a:t>
            </a:r>
            <a:endParaRPr/>
          </a:p>
        </p:txBody>
      </p:sp>
      <p:sp>
        <p:nvSpPr>
          <p:cNvPr id="443" name="Google Shape;443;h69a5e3ff789ebc32_1_1006"/>
          <p:cNvSpPr txBox="1"/>
          <p:nvPr/>
        </p:nvSpPr>
        <p:spPr>
          <a:xfrm>
            <a:off x="6839712" y="3776472"/>
            <a:ext cx="4617600" cy="3363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150">
                <a:solidFill>
                  <a:srgbClr val="FFFFFF"/>
                </a:solidFill>
                <a:latin typeface="Montserrat"/>
                <a:ea typeface="Montserrat"/>
                <a:cs typeface="Montserrat"/>
                <a:sym typeface="Montserrat"/>
              </a:rPr>
              <a:t>Pembelajaran inklusif dan berpusat pada mahasiswa belum konsisten</a:t>
            </a:r>
            <a:endParaRPr/>
          </a:p>
        </p:txBody>
      </p:sp>
      <p:sp>
        <p:nvSpPr>
          <p:cNvPr id="444" name="Google Shape;444;h69a5e3ff789ebc32_1_1006"/>
          <p:cNvSpPr txBox="1"/>
          <p:nvPr/>
        </p:nvSpPr>
        <p:spPr>
          <a:xfrm>
            <a:off x="6839712" y="4279392"/>
            <a:ext cx="4617600" cy="2865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950">
                <a:solidFill>
                  <a:srgbClr val="B0C0CF"/>
                </a:solidFill>
                <a:latin typeface="Montserrat"/>
                <a:ea typeface="Montserrat"/>
                <a:cs typeface="Montserrat"/>
                <a:sym typeface="Montserrat"/>
              </a:rPr>
              <a:t>Praktik pembelajaran belum mendorong partisipasi aktif, dukungan sesuai kebutuhan, dan keterlibatan mahasiswa.</a:t>
            </a:r>
            <a:endParaRPr/>
          </a:p>
        </p:txBody>
      </p:sp>
      <p:sp>
        <p:nvSpPr>
          <p:cNvPr id="445" name="Google Shape;445;h69a5e3ff789ebc32_1_1006"/>
          <p:cNvSpPr/>
          <p:nvPr/>
        </p:nvSpPr>
        <p:spPr>
          <a:xfrm>
            <a:off x="594360" y="4892040"/>
            <a:ext cx="5440800" cy="1115700"/>
          </a:xfrm>
          <a:prstGeom prst="roundRect">
            <a:avLst>
              <a:gd fmla="val 14754"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h69a5e3ff789ebc32_1_1006"/>
          <p:cNvSpPr txBox="1"/>
          <p:nvPr/>
        </p:nvSpPr>
        <p:spPr>
          <a:xfrm>
            <a:off x="704095" y="4980639"/>
            <a:ext cx="548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a:solidFill>
                  <a:srgbClr val="FFC00C"/>
                </a:solidFill>
                <a:latin typeface="Montserrat ExtraBold"/>
                <a:ea typeface="Montserrat ExtraBold"/>
                <a:cs typeface="Montserrat ExtraBold"/>
                <a:sym typeface="Montserrat ExtraBold"/>
              </a:rPr>
              <a:t>3</a:t>
            </a:r>
            <a:endParaRPr/>
          </a:p>
        </p:txBody>
      </p:sp>
      <p:sp>
        <p:nvSpPr>
          <p:cNvPr id="447" name="Google Shape;447;h69a5e3ff789ebc32_1_1006"/>
          <p:cNvSpPr txBox="1"/>
          <p:nvPr/>
        </p:nvSpPr>
        <p:spPr>
          <a:xfrm>
            <a:off x="1280160" y="4965192"/>
            <a:ext cx="4617600" cy="3363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150">
                <a:solidFill>
                  <a:srgbClr val="FFFFFF"/>
                </a:solidFill>
                <a:latin typeface="Montserrat"/>
                <a:ea typeface="Montserrat"/>
                <a:cs typeface="Montserrat"/>
                <a:sym typeface="Montserrat"/>
              </a:rPr>
              <a:t>Mutu praktikum mengajar dan umpan balik belum konsisten</a:t>
            </a:r>
            <a:endParaRPr/>
          </a:p>
        </p:txBody>
      </p:sp>
      <p:sp>
        <p:nvSpPr>
          <p:cNvPr id="448" name="Google Shape;448;h69a5e3ff789ebc32_1_1006"/>
          <p:cNvSpPr txBox="1"/>
          <p:nvPr/>
        </p:nvSpPr>
        <p:spPr>
          <a:xfrm>
            <a:off x="1280160" y="5468112"/>
            <a:ext cx="4617600" cy="2865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950">
                <a:solidFill>
                  <a:srgbClr val="B0C0CF"/>
                </a:solidFill>
                <a:latin typeface="Montserrat"/>
                <a:ea typeface="Montserrat"/>
                <a:cs typeface="Montserrat"/>
                <a:sym typeface="Montserrat"/>
              </a:rPr>
              <a:t>Praktik mengajar, pendampingan, observasi kelas, dan umpan balik yang dapat ditindaklanjuti bervariasi antar-LPTK.</a:t>
            </a:r>
            <a:endParaRPr/>
          </a:p>
        </p:txBody>
      </p:sp>
      <p:sp>
        <p:nvSpPr>
          <p:cNvPr id="449" name="Google Shape;449;h69a5e3ff789ebc32_1_1006"/>
          <p:cNvSpPr/>
          <p:nvPr/>
        </p:nvSpPr>
        <p:spPr>
          <a:xfrm>
            <a:off x="6153912" y="4892040"/>
            <a:ext cx="5440800" cy="1115700"/>
          </a:xfrm>
          <a:prstGeom prst="roundRect">
            <a:avLst>
              <a:gd fmla="val 14754"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h69a5e3ff789ebc32_1_1006"/>
          <p:cNvSpPr txBox="1"/>
          <p:nvPr/>
        </p:nvSpPr>
        <p:spPr>
          <a:xfrm>
            <a:off x="6263647" y="4980639"/>
            <a:ext cx="548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a:solidFill>
                  <a:srgbClr val="FFC00C"/>
                </a:solidFill>
                <a:latin typeface="Montserrat ExtraBold"/>
                <a:ea typeface="Montserrat ExtraBold"/>
                <a:cs typeface="Montserrat ExtraBold"/>
                <a:sym typeface="Montserrat ExtraBold"/>
              </a:rPr>
              <a:t>4</a:t>
            </a:r>
            <a:endParaRPr/>
          </a:p>
        </p:txBody>
      </p:sp>
      <p:sp>
        <p:nvSpPr>
          <p:cNvPr id="451" name="Google Shape;451;h69a5e3ff789ebc32_1_1006"/>
          <p:cNvSpPr txBox="1"/>
          <p:nvPr/>
        </p:nvSpPr>
        <p:spPr>
          <a:xfrm>
            <a:off x="6839712" y="4965192"/>
            <a:ext cx="4617600" cy="1683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150">
                <a:solidFill>
                  <a:srgbClr val="FFFFFF"/>
                </a:solidFill>
                <a:latin typeface="Montserrat"/>
                <a:ea typeface="Montserrat"/>
                <a:cs typeface="Montserrat"/>
                <a:sym typeface="Montserrat"/>
              </a:rPr>
              <a:t>Penjaminan mutu belum jadi dasar perbaikan sistematis</a:t>
            </a:r>
            <a:endParaRPr/>
          </a:p>
        </p:txBody>
      </p:sp>
      <p:sp>
        <p:nvSpPr>
          <p:cNvPr id="452" name="Google Shape;452;h69a5e3ff789ebc32_1_1006"/>
          <p:cNvSpPr txBox="1"/>
          <p:nvPr/>
        </p:nvSpPr>
        <p:spPr>
          <a:xfrm>
            <a:off x="6839712" y="5468112"/>
            <a:ext cx="4617600" cy="2865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950">
                <a:solidFill>
                  <a:srgbClr val="B0C0CF"/>
                </a:solidFill>
                <a:latin typeface="Montserrat"/>
                <a:ea typeface="Montserrat"/>
                <a:cs typeface="Montserrat"/>
                <a:sym typeface="Montserrat"/>
              </a:rPr>
              <a:t>Hasil evaluasi mutu belum ditindaklanjuti untuk memperbaiki penyelenggaraan PPG.</a:t>
            </a:r>
            <a:endParaRPr/>
          </a:p>
        </p:txBody>
      </p:sp>
      <p:sp>
        <p:nvSpPr>
          <p:cNvPr id="453" name="Google Shape;453;h69a5e3ff789ebc32_1_1006"/>
          <p:cNvSpPr txBox="1"/>
          <p:nvPr/>
        </p:nvSpPr>
        <p:spPr>
          <a:xfrm>
            <a:off x="594360" y="6108192"/>
            <a:ext cx="11003100" cy="135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80">
                <a:solidFill>
                  <a:srgbClr val="B0C0CF"/>
                </a:solidFill>
                <a:latin typeface="Montserrat"/>
                <a:ea typeface="Montserrat"/>
                <a:cs typeface="Montserrat"/>
                <a:sym typeface="Montserrat"/>
              </a:rPr>
              <a:t>Sumber: TOR PPG Technical Assistance 2026 (Tanoto Foundation, dibagikan 25 Sep 2026). 12 LPTK sasaran adalah kohort yang sama dengan pembinaan luring Tanoto Foundation (TF) 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457" name="Shape 457"/>
        <p:cNvGrpSpPr/>
        <p:nvPr/>
      </p:nvGrpSpPr>
      <p:grpSpPr>
        <a:xfrm>
          <a:off x="0" y="0"/>
          <a:ext cx="0" cy="0"/>
          <a:chOff x="0" y="0"/>
          <a:chExt cx="0" cy="0"/>
        </a:xfrm>
      </p:grpSpPr>
      <p:pic>
        <p:nvPicPr>
          <p:cNvPr descr="logo_white.png" id="458" name="Google Shape;458;h69a5e3ff789ebc32_1_1044"/>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459" name="Google Shape;459;h69a5e3ff789ebc32_1_1044"/>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460" name="Google Shape;460;h69a5e3ff789ebc32_1_1044"/>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5</a:t>
            </a:r>
            <a:endParaRPr/>
          </a:p>
        </p:txBody>
      </p:sp>
      <p:sp>
        <p:nvSpPr>
          <p:cNvPr id="461" name="Google Shape;461;h69a5e3ff789ebc32_1_1044"/>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KERANGKA LOGIS PROGRAM</a:t>
            </a:r>
            <a:endParaRPr/>
          </a:p>
        </p:txBody>
      </p:sp>
      <p:sp>
        <p:nvSpPr>
          <p:cNvPr id="462" name="Google Shape;462;h69a5e3ff789ebc32_1_1044"/>
          <p:cNvSpPr txBox="1"/>
          <p:nvPr/>
        </p:nvSpPr>
        <p:spPr>
          <a:xfrm>
            <a:off x="594360" y="658368"/>
            <a:ext cx="110031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Teori Perubahan Tanoto Foundation, yang menjadi kerangka kerja kami</a:t>
            </a:r>
            <a:endParaRPr/>
          </a:p>
        </p:txBody>
      </p:sp>
      <p:sp>
        <p:nvSpPr>
          <p:cNvPr id="463" name="Google Shape;463;h69a5e3ff789ebc32_1_1044"/>
          <p:cNvSpPr/>
          <p:nvPr/>
        </p:nvSpPr>
        <p:spPr>
          <a:xfrm>
            <a:off x="594360" y="1691640"/>
            <a:ext cx="1908000" cy="4160400"/>
          </a:xfrm>
          <a:prstGeom prst="roundRect">
            <a:avLst>
              <a:gd fmla="val 9584"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h69a5e3ff789ebc32_1_1044"/>
          <p:cNvSpPr txBox="1"/>
          <p:nvPr/>
        </p:nvSpPr>
        <p:spPr>
          <a:xfrm>
            <a:off x="704088" y="1828800"/>
            <a:ext cx="1688400" cy="1974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350">
                <a:solidFill>
                  <a:schemeClr val="lt1"/>
                </a:solidFill>
                <a:latin typeface="Montserrat"/>
                <a:ea typeface="Montserrat"/>
                <a:cs typeface="Montserrat"/>
                <a:sym typeface="Montserrat"/>
              </a:rPr>
              <a:t>Aktivitas</a:t>
            </a:r>
            <a:endParaRPr>
              <a:solidFill>
                <a:schemeClr val="lt1"/>
              </a:solidFill>
            </a:endParaRPr>
          </a:p>
        </p:txBody>
      </p:sp>
      <p:sp>
        <p:nvSpPr>
          <p:cNvPr id="465" name="Google Shape;465;h69a5e3ff789ebc32_1_1044"/>
          <p:cNvSpPr txBox="1"/>
          <p:nvPr/>
        </p:nvSpPr>
        <p:spPr>
          <a:xfrm>
            <a:off x="704088" y="2423160"/>
            <a:ext cx="1688400" cy="22320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Menyusun bersama pedoman dan modul pendampingan teknis</a:t>
            </a:r>
            <a:endParaRPr>
              <a:solidFill>
                <a:schemeClr val="lt1"/>
              </a:solidFill>
            </a:endParaRPr>
          </a:p>
          <a:p>
            <a:pPr indent="-201168" lvl="0" marL="201168" marR="0" rtl="0" algn="l">
              <a:lnSpc>
                <a:spcPct val="100000"/>
              </a:lnSpc>
              <a:spcBef>
                <a:spcPts val="60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Melaksanakan studi komparatif dengan dan tanpa dukungan TF</a:t>
            </a:r>
            <a:endParaRPr>
              <a:solidFill>
                <a:schemeClr val="lt1"/>
              </a:solidFill>
            </a:endParaRPr>
          </a:p>
          <a:p>
            <a:pPr indent="-201168" lvl="0" marL="201168" marR="0" rtl="0" algn="l">
              <a:lnSpc>
                <a:spcPct val="100000"/>
              </a:lnSpc>
              <a:spcBef>
                <a:spcPts val="60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Memverifikasi kemajuan RTL pembinaan 2025</a:t>
            </a:r>
            <a:endParaRPr>
              <a:solidFill>
                <a:schemeClr val="lt1"/>
              </a:solidFill>
            </a:endParaRPr>
          </a:p>
          <a:p>
            <a:pPr indent="-201168" lvl="0" marL="201168" marR="0" rtl="0" algn="l">
              <a:lnSpc>
                <a:spcPct val="100000"/>
              </a:lnSpc>
              <a:spcBef>
                <a:spcPts val="60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Penguatan kapasitas teknis dan konsultasi langsung ke 12 LPTK</a:t>
            </a:r>
            <a:endParaRPr>
              <a:solidFill>
                <a:schemeClr val="lt1"/>
              </a:solidFill>
            </a:endParaRPr>
          </a:p>
        </p:txBody>
      </p:sp>
      <p:sp>
        <p:nvSpPr>
          <p:cNvPr id="466" name="Google Shape;466;h69a5e3ff789ebc32_1_1044"/>
          <p:cNvSpPr txBox="1"/>
          <p:nvPr/>
        </p:nvSpPr>
        <p:spPr>
          <a:xfrm>
            <a:off x="2502347" y="3291840"/>
            <a:ext cx="365700" cy="307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00">
                <a:solidFill>
                  <a:srgbClr val="FFC00C"/>
                </a:solidFill>
                <a:latin typeface="Montserrat"/>
                <a:ea typeface="Montserrat"/>
                <a:cs typeface="Montserrat"/>
                <a:sym typeface="Montserrat"/>
              </a:rPr>
              <a:t>→</a:t>
            </a:r>
            <a:endParaRPr/>
          </a:p>
        </p:txBody>
      </p:sp>
      <p:sp>
        <p:nvSpPr>
          <p:cNvPr id="467" name="Google Shape;467;h69a5e3ff789ebc32_1_1044"/>
          <p:cNvSpPr/>
          <p:nvPr/>
        </p:nvSpPr>
        <p:spPr>
          <a:xfrm>
            <a:off x="2868107" y="1691640"/>
            <a:ext cx="1908000" cy="4160400"/>
          </a:xfrm>
          <a:prstGeom prst="roundRect">
            <a:avLst>
              <a:gd fmla="val 9584"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h69a5e3ff789ebc32_1_1044"/>
          <p:cNvSpPr txBox="1"/>
          <p:nvPr/>
        </p:nvSpPr>
        <p:spPr>
          <a:xfrm>
            <a:off x="2977835" y="1828800"/>
            <a:ext cx="1688400" cy="1974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lang="en-US" sz="1350">
                <a:solidFill>
                  <a:schemeClr val="lt1"/>
                </a:solidFill>
                <a:latin typeface="Montserrat"/>
                <a:ea typeface="Montserrat"/>
                <a:cs typeface="Montserrat"/>
                <a:sym typeface="Montserrat"/>
              </a:rPr>
              <a:t>Output</a:t>
            </a:r>
            <a:endParaRPr>
              <a:solidFill>
                <a:schemeClr val="lt1"/>
              </a:solidFill>
            </a:endParaRPr>
          </a:p>
        </p:txBody>
      </p:sp>
      <p:sp>
        <p:nvSpPr>
          <p:cNvPr id="469" name="Google Shape;469;h69a5e3ff789ebc32_1_1044"/>
          <p:cNvSpPr txBox="1"/>
          <p:nvPr/>
        </p:nvSpPr>
        <p:spPr>
          <a:xfrm>
            <a:off x="2977835" y="2423160"/>
            <a:ext cx="1688400" cy="17700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Pedoman dan modul pendampingan teknis</a:t>
            </a:r>
            <a:endParaRPr>
              <a:solidFill>
                <a:schemeClr val="lt1"/>
              </a:solidFill>
            </a:endParaRPr>
          </a:p>
          <a:p>
            <a:pPr indent="-201168" lvl="0" marL="201168" marR="0" rtl="0" algn="l">
              <a:lnSpc>
                <a:spcPct val="100000"/>
              </a:lnSpc>
              <a:spcBef>
                <a:spcPts val="60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Paket perbaikan akreditasi</a:t>
            </a:r>
            <a:endParaRPr>
              <a:solidFill>
                <a:schemeClr val="lt1"/>
              </a:solidFill>
            </a:endParaRPr>
          </a:p>
          <a:p>
            <a:pPr indent="-201168" lvl="0" marL="201168" marR="0" rtl="0" algn="l">
              <a:lnSpc>
                <a:spcPct val="100000"/>
              </a:lnSpc>
              <a:spcBef>
                <a:spcPts val="60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Analisis lintas LPTK dan rekomendasi berikutnya</a:t>
            </a:r>
            <a:endParaRPr>
              <a:solidFill>
                <a:schemeClr val="lt1"/>
              </a:solidFill>
            </a:endParaRPr>
          </a:p>
          <a:p>
            <a:pPr indent="-201168" lvl="0" marL="201168" marR="0" rtl="0" algn="l">
              <a:lnSpc>
                <a:spcPct val="100000"/>
              </a:lnSpc>
              <a:spcBef>
                <a:spcPts val="600"/>
              </a:spcBef>
              <a:spcAft>
                <a:spcPts val="0"/>
              </a:spcAft>
              <a:buClr>
                <a:schemeClr val="lt1"/>
              </a:buClr>
              <a:buSzPts val="1000"/>
              <a:buFont typeface="Arial"/>
              <a:buChar char="•"/>
            </a:pPr>
            <a:r>
              <a:rPr b="0" i="0" lang="en-US" sz="1000">
                <a:solidFill>
                  <a:schemeClr val="lt1"/>
                </a:solidFill>
                <a:latin typeface="Montserrat"/>
                <a:ea typeface="Montserrat"/>
                <a:cs typeface="Montserrat"/>
                <a:sym typeface="Montserrat"/>
              </a:rPr>
              <a:t>Laporan studi komparatif dan kemajuan RTL 2025</a:t>
            </a:r>
            <a:endParaRPr>
              <a:solidFill>
                <a:schemeClr val="lt1"/>
              </a:solidFill>
            </a:endParaRPr>
          </a:p>
        </p:txBody>
      </p:sp>
      <p:sp>
        <p:nvSpPr>
          <p:cNvPr id="470" name="Google Shape;470;h69a5e3ff789ebc32_1_1044"/>
          <p:cNvSpPr txBox="1"/>
          <p:nvPr/>
        </p:nvSpPr>
        <p:spPr>
          <a:xfrm>
            <a:off x="4776094" y="3291840"/>
            <a:ext cx="365700" cy="307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00">
                <a:solidFill>
                  <a:srgbClr val="FFC00C"/>
                </a:solidFill>
                <a:latin typeface="Montserrat"/>
                <a:ea typeface="Montserrat"/>
                <a:cs typeface="Montserrat"/>
                <a:sym typeface="Montserrat"/>
              </a:rPr>
              <a:t>→</a:t>
            </a:r>
            <a:endParaRPr/>
          </a:p>
        </p:txBody>
      </p:sp>
      <p:sp>
        <p:nvSpPr>
          <p:cNvPr id="471" name="Google Shape;471;h69a5e3ff789ebc32_1_1044"/>
          <p:cNvSpPr/>
          <p:nvPr/>
        </p:nvSpPr>
        <p:spPr>
          <a:xfrm>
            <a:off x="5141854" y="1691640"/>
            <a:ext cx="1908000" cy="4160400"/>
          </a:xfrm>
          <a:prstGeom prst="roundRect">
            <a:avLst>
              <a:gd fmla="val 9584" name="adj"/>
            </a:avLst>
          </a:prstGeom>
          <a:solidFill>
            <a:srgbClr val="2F7E9D"/>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h69a5e3ff789ebc32_1_1044"/>
          <p:cNvSpPr txBox="1"/>
          <p:nvPr/>
        </p:nvSpPr>
        <p:spPr>
          <a:xfrm>
            <a:off x="5251582" y="1828800"/>
            <a:ext cx="1688400" cy="1974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350">
                <a:solidFill>
                  <a:srgbClr val="FFFFFF"/>
                </a:solidFill>
                <a:latin typeface="Montserrat"/>
                <a:ea typeface="Montserrat"/>
                <a:cs typeface="Montserrat"/>
                <a:sym typeface="Montserrat"/>
              </a:rPr>
              <a:t>Outcome Antara</a:t>
            </a:r>
            <a:endParaRPr/>
          </a:p>
        </p:txBody>
      </p:sp>
      <p:sp>
        <p:nvSpPr>
          <p:cNvPr id="473" name="Google Shape;473;h69a5e3ff789ebc32_1_1044"/>
          <p:cNvSpPr txBox="1"/>
          <p:nvPr/>
        </p:nvSpPr>
        <p:spPr>
          <a:xfrm>
            <a:off x="5251582" y="2423160"/>
            <a:ext cx="1688400" cy="17700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000"/>
              <a:buFont typeface="Arial"/>
              <a:buChar char="•"/>
            </a:pPr>
            <a:r>
              <a:rPr b="0" i="0" lang="en-US" sz="1000">
                <a:solidFill>
                  <a:srgbClr val="FFFFFF"/>
                </a:solidFill>
                <a:latin typeface="Montserrat"/>
                <a:ea typeface="Montserrat"/>
                <a:cs typeface="Montserrat"/>
                <a:sym typeface="Montserrat"/>
              </a:rPr>
              <a:t>LPTK menunjukkan kemajuan melaksanakan tindakan prioritas hasil pembinaan 2025</a:t>
            </a:r>
            <a:endParaRPr/>
          </a:p>
          <a:p>
            <a:pPr indent="-201168" lvl="0" marL="201168" marR="0" rtl="0" algn="l">
              <a:lnSpc>
                <a:spcPct val="100000"/>
              </a:lnSpc>
              <a:spcBef>
                <a:spcPts val="600"/>
              </a:spcBef>
              <a:spcAft>
                <a:spcPts val="0"/>
              </a:spcAft>
              <a:buClr>
                <a:srgbClr val="FFC00C"/>
              </a:buClr>
              <a:buSzPts val="1000"/>
              <a:buFont typeface="Arial"/>
              <a:buChar char="•"/>
            </a:pPr>
            <a:r>
              <a:rPr b="0" i="0" lang="en-US" sz="1000">
                <a:solidFill>
                  <a:srgbClr val="FFFFFF"/>
                </a:solidFill>
                <a:latin typeface="Montserrat"/>
                <a:ea typeface="Montserrat"/>
                <a:cs typeface="Montserrat"/>
                <a:sym typeface="Montserrat"/>
              </a:rPr>
              <a:t>Direktorat PPG memiliki pendekatan pendampingan yang teruji dan bukti untuk mengarahkan dukungan berikutnya</a:t>
            </a:r>
            <a:endParaRPr/>
          </a:p>
        </p:txBody>
      </p:sp>
      <p:sp>
        <p:nvSpPr>
          <p:cNvPr id="474" name="Google Shape;474;h69a5e3ff789ebc32_1_1044"/>
          <p:cNvSpPr txBox="1"/>
          <p:nvPr/>
        </p:nvSpPr>
        <p:spPr>
          <a:xfrm>
            <a:off x="7049841" y="3291840"/>
            <a:ext cx="365700" cy="307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00">
                <a:solidFill>
                  <a:srgbClr val="FFC00C"/>
                </a:solidFill>
                <a:latin typeface="Montserrat"/>
                <a:ea typeface="Montserrat"/>
                <a:cs typeface="Montserrat"/>
                <a:sym typeface="Montserrat"/>
              </a:rPr>
              <a:t>→</a:t>
            </a:r>
            <a:endParaRPr/>
          </a:p>
        </p:txBody>
      </p:sp>
      <p:sp>
        <p:nvSpPr>
          <p:cNvPr id="475" name="Google Shape;475;h69a5e3ff789ebc32_1_1044"/>
          <p:cNvSpPr/>
          <p:nvPr/>
        </p:nvSpPr>
        <p:spPr>
          <a:xfrm>
            <a:off x="7415601" y="1691640"/>
            <a:ext cx="1908000" cy="4160400"/>
          </a:xfrm>
          <a:prstGeom prst="roundRect">
            <a:avLst>
              <a:gd fmla="val 9584" name="adj"/>
            </a:avLst>
          </a:prstGeom>
          <a:solidFill>
            <a:srgbClr val="2F7E9D"/>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h69a5e3ff789ebc32_1_1044"/>
          <p:cNvSpPr txBox="1"/>
          <p:nvPr/>
        </p:nvSpPr>
        <p:spPr>
          <a:xfrm>
            <a:off x="7525329" y="1828800"/>
            <a:ext cx="1688400" cy="1974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350">
                <a:solidFill>
                  <a:srgbClr val="FFFFFF"/>
                </a:solidFill>
                <a:latin typeface="Montserrat"/>
                <a:ea typeface="Montserrat"/>
                <a:cs typeface="Montserrat"/>
                <a:sym typeface="Montserrat"/>
              </a:rPr>
              <a:t>Outcome</a:t>
            </a:r>
            <a:endParaRPr/>
          </a:p>
        </p:txBody>
      </p:sp>
      <p:sp>
        <p:nvSpPr>
          <p:cNvPr id="477" name="Google Shape;477;h69a5e3ff789ebc32_1_1044"/>
          <p:cNvSpPr txBox="1"/>
          <p:nvPr/>
        </p:nvSpPr>
        <p:spPr>
          <a:xfrm>
            <a:off x="7525329" y="2423160"/>
            <a:ext cx="1688400" cy="9234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000"/>
              <a:buFont typeface="Arial"/>
              <a:buChar char="•"/>
            </a:pPr>
            <a:r>
              <a:rPr b="0" i="0" lang="en-US" sz="1000">
                <a:solidFill>
                  <a:srgbClr val="FFFFFF"/>
                </a:solidFill>
                <a:latin typeface="Montserrat"/>
                <a:ea typeface="Montserrat"/>
                <a:cs typeface="Montserrat"/>
                <a:sym typeface="Montserrat"/>
              </a:rPr>
              <a:t>Kapasitas LPTK meningkat dalam memenuhi indikator utama akreditasi dan memperbaiki penyelenggaraan PPG</a:t>
            </a:r>
            <a:endParaRPr/>
          </a:p>
        </p:txBody>
      </p:sp>
      <p:sp>
        <p:nvSpPr>
          <p:cNvPr id="478" name="Google Shape;478;h69a5e3ff789ebc32_1_1044"/>
          <p:cNvSpPr txBox="1"/>
          <p:nvPr/>
        </p:nvSpPr>
        <p:spPr>
          <a:xfrm>
            <a:off x="9323588" y="3291840"/>
            <a:ext cx="365700" cy="307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2000">
                <a:solidFill>
                  <a:srgbClr val="FFC00C"/>
                </a:solidFill>
                <a:latin typeface="Montserrat"/>
                <a:ea typeface="Montserrat"/>
                <a:cs typeface="Montserrat"/>
                <a:sym typeface="Montserrat"/>
              </a:rPr>
              <a:t>→</a:t>
            </a:r>
            <a:endParaRPr/>
          </a:p>
        </p:txBody>
      </p:sp>
      <p:sp>
        <p:nvSpPr>
          <p:cNvPr id="479" name="Google Shape;479;h69a5e3ff789ebc32_1_1044"/>
          <p:cNvSpPr/>
          <p:nvPr/>
        </p:nvSpPr>
        <p:spPr>
          <a:xfrm>
            <a:off x="9689348" y="1691640"/>
            <a:ext cx="1908000" cy="4160400"/>
          </a:xfrm>
          <a:prstGeom prst="roundRect">
            <a:avLst>
              <a:gd fmla="val 9584" name="adj"/>
            </a:avLst>
          </a:prstGeom>
          <a:solidFill>
            <a:srgbClr val="FFC00C"/>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h69a5e3ff789ebc32_1_1044"/>
          <p:cNvSpPr txBox="1"/>
          <p:nvPr/>
        </p:nvSpPr>
        <p:spPr>
          <a:xfrm>
            <a:off x="9799076" y="1828800"/>
            <a:ext cx="1688400" cy="1974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350">
                <a:solidFill>
                  <a:srgbClr val="092647"/>
                </a:solidFill>
                <a:latin typeface="Montserrat"/>
                <a:ea typeface="Montserrat"/>
                <a:cs typeface="Montserrat"/>
                <a:sym typeface="Montserrat"/>
              </a:rPr>
              <a:t>Dampak</a:t>
            </a:r>
            <a:endParaRPr/>
          </a:p>
        </p:txBody>
      </p:sp>
      <p:sp>
        <p:nvSpPr>
          <p:cNvPr id="481" name="Google Shape;481;h69a5e3ff789ebc32_1_1044"/>
          <p:cNvSpPr txBox="1"/>
          <p:nvPr/>
        </p:nvSpPr>
        <p:spPr>
          <a:xfrm>
            <a:off x="9799076" y="2423160"/>
            <a:ext cx="1688400" cy="7695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000"/>
              <a:buFont typeface="Arial"/>
              <a:buChar char="•"/>
            </a:pPr>
            <a:r>
              <a:rPr b="0" i="0" lang="en-US" sz="1000">
                <a:solidFill>
                  <a:srgbClr val="092647"/>
                </a:solidFill>
                <a:latin typeface="Montserrat"/>
                <a:ea typeface="Montserrat"/>
                <a:cs typeface="Montserrat"/>
                <a:sym typeface="Montserrat"/>
              </a:rPr>
              <a:t>Kesiapan LPTK untuk reakreditasi meningkat dan menunjukkan kemajuan menuju Akreditasi Unggul</a:t>
            </a:r>
            <a:endParaRPr/>
          </a:p>
        </p:txBody>
      </p:sp>
      <p:sp>
        <p:nvSpPr>
          <p:cNvPr id="482" name="Google Shape;482;h69a5e3ff789ebc32_1_1044"/>
          <p:cNvSpPr txBox="1"/>
          <p:nvPr/>
        </p:nvSpPr>
        <p:spPr>
          <a:xfrm>
            <a:off x="594360" y="5989320"/>
            <a:ext cx="11003100" cy="37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Ini adalah kerangka logis milik Tanoto Foundation sendiri </a:t>
            </a:r>
            <a:r>
              <a:rPr b="0" i="0" lang="en-US" sz="1150">
                <a:solidFill>
                  <a:srgbClr val="FFFFFF"/>
                </a:solidFill>
                <a:latin typeface="Montserrat"/>
                <a:ea typeface="Montserrat"/>
                <a:cs typeface="Montserrat"/>
                <a:sym typeface="Montserrat"/>
              </a:rPr>
              <a:t>(TOR PPG Technical Assistance 2026). Kami mengikat setiap kegiatan, </a:t>
            </a:r>
            <a:r>
              <a:rPr lang="en-US" sz="1150">
                <a:solidFill>
                  <a:srgbClr val="FFFFFF"/>
                </a:solidFill>
                <a:latin typeface="Montserrat"/>
                <a:ea typeface="Montserrat"/>
                <a:cs typeface="Montserrat"/>
                <a:sym typeface="Montserrat"/>
              </a:rPr>
              <a:t>Output</a:t>
            </a:r>
            <a:r>
              <a:rPr b="0" i="0" lang="en-US" sz="1150">
                <a:solidFill>
                  <a:srgbClr val="FFFFFF"/>
                </a:solidFill>
                <a:latin typeface="Montserrat"/>
                <a:ea typeface="Montserrat"/>
                <a:cs typeface="Montserrat"/>
                <a:sym typeface="Montserrat"/>
              </a:rPr>
              <a:t>, dan indikator keberhasilan proposal ini langsung ke lima kolom di atas</a:t>
            </a:r>
            <a:r>
              <a:rPr lang="en-US" sz="1150">
                <a:solidFill>
                  <a:srgbClr val="FFFFFF"/>
                </a:solidFill>
                <a:latin typeface="Montserrat"/>
                <a:ea typeface="Montserrat"/>
                <a:cs typeface="Montserrat"/>
                <a:sym typeface="Montserrat"/>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486" name="Shape 486"/>
        <p:cNvGrpSpPr/>
        <p:nvPr/>
      </p:nvGrpSpPr>
      <p:grpSpPr>
        <a:xfrm>
          <a:off x="0" y="0"/>
          <a:ext cx="0" cy="0"/>
          <a:chOff x="0" y="0"/>
          <a:chExt cx="0" cy="0"/>
        </a:xfrm>
      </p:grpSpPr>
      <p:pic>
        <p:nvPicPr>
          <p:cNvPr descr="logo_white.png" id="487" name="Google Shape;487;h69a5e3ff789ebc32_1_1072"/>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488" name="Google Shape;488;h69a5e3ff789ebc32_1_1072"/>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489" name="Google Shape;489;h69a5e3ff789ebc32_1_1072"/>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6</a:t>
            </a:r>
            <a:endParaRPr/>
          </a:p>
        </p:txBody>
      </p:sp>
      <p:sp>
        <p:nvSpPr>
          <p:cNvPr id="490" name="Google Shape;490;h69a5e3ff789ebc32_1_1072"/>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PENDEKATAN TEKNIS · 50%</a:t>
            </a:r>
            <a:endParaRPr/>
          </a:p>
        </p:txBody>
      </p:sp>
      <p:sp>
        <p:nvSpPr>
          <p:cNvPr id="491" name="Google Shape;491;h69a5e3ff789ebc32_1_1072"/>
          <p:cNvSpPr txBox="1"/>
          <p:nvPr/>
        </p:nvSpPr>
        <p:spPr>
          <a:xfrm>
            <a:off x="594360" y="658368"/>
            <a:ext cx="110031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300">
                <a:solidFill>
                  <a:srgbClr val="FFFFFF"/>
                </a:solidFill>
                <a:latin typeface="Montserrat ExtraBold"/>
                <a:ea typeface="Montserrat ExtraBold"/>
                <a:cs typeface="Montserrat ExtraBold"/>
                <a:sym typeface="Montserrat ExtraBold"/>
              </a:rPr>
              <a:t>Lima fokus 2026 Tanoto Foundation, </a:t>
            </a:r>
            <a:r>
              <a:rPr lang="en-US" sz="2300">
                <a:solidFill>
                  <a:srgbClr val="FFFFFF"/>
                </a:solidFill>
                <a:latin typeface="Montserrat ExtraBold"/>
                <a:ea typeface="Montserrat ExtraBold"/>
                <a:cs typeface="Montserrat ExtraBold"/>
                <a:sym typeface="Montserrat ExtraBold"/>
              </a:rPr>
              <a:t>untuk memperkuat </a:t>
            </a:r>
            <a:r>
              <a:rPr b="0" i="0" lang="en-US" sz="2300">
                <a:solidFill>
                  <a:srgbClr val="FFFFFF"/>
                </a:solidFill>
                <a:latin typeface="Montserrat ExtraBold"/>
                <a:ea typeface="Montserrat ExtraBold"/>
                <a:cs typeface="Montserrat ExtraBold"/>
                <a:sym typeface="Montserrat ExtraBold"/>
              </a:rPr>
              <a:t>akreditasi </a:t>
            </a:r>
            <a:endParaRPr/>
          </a:p>
        </p:txBody>
      </p:sp>
      <p:graphicFrame>
        <p:nvGraphicFramePr>
          <p:cNvPr id="492" name="Google Shape;492;h69a5e3ff789ebc32_1_1072"/>
          <p:cNvGraphicFramePr/>
          <p:nvPr/>
        </p:nvGraphicFramePr>
        <p:xfrm>
          <a:off x="595735" y="1399025"/>
          <a:ext cx="3000000" cy="3000000"/>
        </p:xfrm>
        <a:graphic>
          <a:graphicData uri="http://schemas.openxmlformats.org/drawingml/2006/table">
            <a:tbl>
              <a:tblPr>
                <a:noFill/>
                <a:tableStyleId>{C2C3853E-632C-4474-B46B-82691FB0C724}</a:tableStyleId>
              </a:tblPr>
              <a:tblGrid>
                <a:gridCol w="2331725"/>
                <a:gridCol w="2880350"/>
                <a:gridCol w="3520450"/>
                <a:gridCol w="2267700"/>
              </a:tblGrid>
              <a:tr h="512075">
                <a:tc>
                  <a:txBody>
                    <a:bodyPr/>
                    <a:lstStyle/>
                    <a:p>
                      <a:pPr indent="0" lvl="0" marL="0" marR="0" rtl="0" algn="l">
                        <a:lnSpc>
                          <a:spcPct val="105000"/>
                        </a:lnSpc>
                        <a:spcBef>
                          <a:spcPts val="0"/>
                        </a:spcBef>
                        <a:spcAft>
                          <a:spcPts val="0"/>
                        </a:spcAft>
                        <a:buNone/>
                      </a:pPr>
                      <a:r>
                        <a:rPr b="1" i="0" lang="en-US" sz="1080" u="none" cap="none" strike="noStrike">
                          <a:solidFill>
                            <a:srgbClr val="092647"/>
                          </a:solidFill>
                          <a:latin typeface="Montserrat"/>
                          <a:ea typeface="Montserrat"/>
                          <a:cs typeface="Montserrat"/>
                          <a:sym typeface="Montserrat"/>
                        </a:rPr>
                        <a:t>Fokus 2026 (bahasa TF)</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080" u="none" cap="none" strike="noStrike">
                          <a:solidFill>
                            <a:srgbClr val="092647"/>
                          </a:solidFill>
                          <a:latin typeface="Montserrat"/>
                          <a:ea typeface="Montserrat"/>
                          <a:cs typeface="Montserrat"/>
                          <a:sym typeface="Montserrat"/>
                        </a:rPr>
                        <a:t>Temuan Supervisi 2025 terkait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080" u="none" cap="none" strike="noStrike">
                          <a:solidFill>
                            <a:srgbClr val="092647"/>
                          </a:solidFill>
                          <a:latin typeface="Montserrat"/>
                          <a:ea typeface="Montserrat"/>
                          <a:cs typeface="Montserrat"/>
                          <a:sym typeface="Montserrat"/>
                        </a:rPr>
                        <a:t>Pendekatan kami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080" u="none" cap="none" strike="noStrike">
                          <a:solidFill>
                            <a:srgbClr val="092647"/>
                          </a:solidFill>
                          <a:latin typeface="Montserrat"/>
                          <a:ea typeface="Montserrat"/>
                          <a:cs typeface="Montserrat"/>
                          <a:sym typeface="Montserrat"/>
                        </a:rPr>
                        <a:t>Elemen akreditasi (LAMDIK)</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r>
              <a:tr h="713225">
                <a:tc>
                  <a:txBody>
                    <a:bodyPr/>
                    <a:lstStyle/>
                    <a:p>
                      <a:pPr indent="0" lvl="0" marL="0" marR="0" rtl="0" algn="l">
                        <a:lnSpc>
                          <a:spcPct val="105000"/>
                        </a:lnSpc>
                        <a:spcBef>
                          <a:spcPts val="0"/>
                        </a:spcBef>
                        <a:spcAft>
                          <a:spcPts val="0"/>
                        </a:spcAft>
                        <a:buNone/>
                      </a:pPr>
                      <a:r>
                        <a:rPr b="1" i="0" lang="en-US" sz="1080" u="none" cap="none" strike="noStrike">
                          <a:solidFill>
                            <a:srgbClr val="FFFFFF"/>
                          </a:solidFill>
                          <a:latin typeface="Montserrat"/>
                          <a:ea typeface="Montserrat"/>
                          <a:cs typeface="Montserrat"/>
                          <a:sym typeface="Montserrat"/>
                        </a:rPr>
                        <a:t>1  Peningkatan kualitas dosen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Memetakan kualifikasi dosen, identifikasi kebutuhan penguatan prioritas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Kualitas Dosen Tetap Program Studi (DTPS)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713225">
                <a:tc>
                  <a:txBody>
                    <a:bodyPr/>
                    <a:lstStyle/>
                    <a:p>
                      <a:pPr indent="0" lvl="0" marL="0" marR="0" rtl="0" algn="l">
                        <a:lnSpc>
                          <a:spcPct val="105000"/>
                        </a:lnSpc>
                        <a:spcBef>
                          <a:spcPts val="0"/>
                        </a:spcBef>
                        <a:spcAft>
                          <a:spcPts val="0"/>
                        </a:spcAft>
                        <a:buNone/>
                      </a:pPr>
                      <a:r>
                        <a:rPr b="1" i="0" lang="en-US" sz="1080" u="none" cap="none" strike="noStrike">
                          <a:solidFill>
                            <a:srgbClr val="FFFFFF"/>
                          </a:solidFill>
                          <a:latin typeface="Montserrat"/>
                          <a:ea typeface="Montserrat"/>
                          <a:cs typeface="Montserrat"/>
                          <a:sym typeface="Montserrat"/>
                        </a:rPr>
                        <a:t>2  Penguatan OBE (Outcome-Based Education)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Temuan 1: OBE masih terbatas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Menelaah keselarasan tujuan, desain perkuliahan, asesmen CPL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Asesmen Capaian Pembelajaran Lulusan (CPL)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713225">
                <a:tc>
                  <a:txBody>
                    <a:bodyPr/>
                    <a:lstStyle/>
                    <a:p>
                      <a:pPr indent="0" lvl="0" marL="0" marR="0" rtl="0" algn="l">
                        <a:lnSpc>
                          <a:spcPct val="105000"/>
                        </a:lnSpc>
                        <a:spcBef>
                          <a:spcPts val="0"/>
                        </a:spcBef>
                        <a:spcAft>
                          <a:spcPts val="0"/>
                        </a:spcAft>
                        <a:buNone/>
                      </a:pPr>
                      <a:r>
                        <a:rPr b="1" i="0" lang="en-US" sz="1080" u="none" cap="none" strike="noStrike">
                          <a:solidFill>
                            <a:srgbClr val="FFFFFF"/>
                          </a:solidFill>
                          <a:latin typeface="Montserrat"/>
                          <a:ea typeface="Montserrat"/>
                          <a:cs typeface="Montserrat"/>
                          <a:sym typeface="Montserrat"/>
                        </a:rPr>
                        <a:t>5  Optimalisasi PPL (Praktik Pengalaman Lapangan)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Temuan 2 &amp; 3: pembelajaran belum berpusat mahasiswa; praktikum dan umpan balik bervariasi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Menelaah standar, peran, pendampingan, dan umpan balik PPL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Pembelajaran mikro</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713225">
                <a:tc>
                  <a:txBody>
                    <a:bodyPr/>
                    <a:lstStyle/>
                    <a:p>
                      <a:pPr indent="0" lvl="0" marL="0" marR="0" rtl="0" algn="l">
                        <a:lnSpc>
                          <a:spcPct val="105000"/>
                        </a:lnSpc>
                        <a:spcBef>
                          <a:spcPts val="0"/>
                        </a:spcBef>
                        <a:spcAft>
                          <a:spcPts val="0"/>
                        </a:spcAft>
                        <a:buNone/>
                      </a:pPr>
                      <a:r>
                        <a:rPr b="1" i="0" lang="en-US" sz="1080" u="none" cap="none" strike="noStrike">
                          <a:solidFill>
                            <a:srgbClr val="FFFFFF"/>
                          </a:solidFill>
                          <a:latin typeface="Montserrat"/>
                          <a:ea typeface="Montserrat"/>
                          <a:cs typeface="Montserrat"/>
                          <a:sym typeface="Montserrat"/>
                        </a:rPr>
                        <a:t>3  Penjaminan mutu berkelanjutan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Temuan 4: penjaminan mutu belum jadi dasar perbaikan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Menelaah pelaksanaan peningkatan mutu dan bukti pendukungnya</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lang="en-US" sz="1080">
                          <a:solidFill>
                            <a:srgbClr val="FFFFFF"/>
                          </a:solidFill>
                          <a:latin typeface="Montserrat"/>
                          <a:ea typeface="Montserrat"/>
                          <a:cs typeface="Montserrat"/>
                          <a:sym typeface="Montserrat"/>
                        </a:rPr>
                        <a:t>Sistem Penjaminan Mutu Internal (SPMI)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713225">
                <a:tc>
                  <a:txBody>
                    <a:bodyPr/>
                    <a:lstStyle/>
                    <a:p>
                      <a:pPr indent="0" lvl="0" marL="0" marR="0" rtl="0" algn="l">
                        <a:lnSpc>
                          <a:spcPct val="105000"/>
                        </a:lnSpc>
                        <a:spcBef>
                          <a:spcPts val="0"/>
                        </a:spcBef>
                        <a:spcAft>
                          <a:spcPts val="0"/>
                        </a:spcAft>
                        <a:buNone/>
                      </a:pPr>
                      <a:r>
                        <a:rPr b="1" i="0" lang="en-US" sz="1080" u="none" cap="none" strike="noStrike">
                          <a:solidFill>
                            <a:srgbClr val="FFFFFF"/>
                          </a:solidFill>
                          <a:latin typeface="Montserrat"/>
                          <a:ea typeface="Montserrat"/>
                          <a:cs typeface="Montserrat"/>
                          <a:sym typeface="Montserrat"/>
                        </a:rPr>
                        <a:t>4  Karya inovatif dan publikasi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Mengidentifikasi potensi publikasi dan inovasi dosen, mahasiswa, guru pamong</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080" u="none" cap="none" strike="noStrike">
                          <a:solidFill>
                            <a:srgbClr val="FFFFFF"/>
                          </a:solidFill>
                          <a:latin typeface="Montserrat"/>
                          <a:ea typeface="Montserrat"/>
                          <a:cs typeface="Montserrat"/>
                          <a:sym typeface="Montserrat"/>
                        </a:rPr>
                        <a:t>Publikasi DTPS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bl>
          </a:graphicData>
        </a:graphic>
      </p:graphicFrame>
      <p:sp>
        <p:nvSpPr>
          <p:cNvPr id="493" name="Google Shape;493;h69a5e3ff789ebc32_1_1072"/>
          <p:cNvSpPr/>
          <p:nvPr/>
        </p:nvSpPr>
        <p:spPr>
          <a:xfrm>
            <a:off x="594360" y="5623560"/>
            <a:ext cx="11003100" cy="685800"/>
          </a:xfrm>
          <a:prstGeom prst="roundRect">
            <a:avLst>
              <a:gd fmla="val 26666" name="adj"/>
            </a:avLst>
          </a:prstGeom>
          <a:solidFill>
            <a:srgbClr val="0D2A4E"/>
          </a:solidFill>
          <a:ln cap="flat" cmpd="sng" w="1905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h69a5e3ff789ebc32_1_1072"/>
          <p:cNvSpPr txBox="1"/>
          <p:nvPr/>
        </p:nvSpPr>
        <p:spPr>
          <a:xfrm>
            <a:off x="822947" y="5788710"/>
            <a:ext cx="10545900" cy="3555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Kerangka utama proposal ini adalah bahasa 5 fokus dan 4 temuan Tanoto Foundation sendiri (TOR PPG Technical Assistance 2026). </a:t>
            </a:r>
            <a:r>
              <a:rPr b="0" i="0" lang="en-US" sz="1100">
                <a:solidFill>
                  <a:srgbClr val="FFFFFF"/>
                </a:solidFill>
                <a:latin typeface="Montserrat"/>
                <a:ea typeface="Montserrat"/>
                <a:cs typeface="Montserrat"/>
                <a:sym typeface="Montserrat"/>
              </a:rPr>
              <a:t>Kolom kanan (elemen LAMDIK/BAN-PT, IAPSK 3.0) hanya penerjemah teknis ke bahasa akreditasi resmi</a:t>
            </a:r>
            <a:r>
              <a:rPr lang="en-US" sz="1100">
                <a:solidFill>
                  <a:srgbClr val="FFFFFF"/>
                </a:solidFill>
                <a:latin typeface="Montserrat"/>
                <a:ea typeface="Montserrat"/>
                <a:cs typeface="Montserrat"/>
                <a:sym typeface="Montserrat"/>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498" name="Shape 498"/>
        <p:cNvGrpSpPr/>
        <p:nvPr/>
      </p:nvGrpSpPr>
      <p:grpSpPr>
        <a:xfrm>
          <a:off x="0" y="0"/>
          <a:ext cx="0" cy="0"/>
          <a:chOff x="0" y="0"/>
          <a:chExt cx="0" cy="0"/>
        </a:xfrm>
      </p:grpSpPr>
      <p:pic>
        <p:nvPicPr>
          <p:cNvPr descr="logo_white.png" id="499" name="Google Shape;499;h69a5e3ff789ebc32_1_1083"/>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500" name="Google Shape;500;h69a5e3ff789ebc32_1_1083"/>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501" name="Google Shape;501;h69a5e3ff789ebc32_1_108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7</a:t>
            </a:r>
            <a:endParaRPr/>
          </a:p>
        </p:txBody>
      </p:sp>
      <p:sp>
        <p:nvSpPr>
          <p:cNvPr id="502" name="Google Shape;502;h69a5e3ff789ebc32_1_1083"/>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RUANG LINGKUP MITRA PELAKSANA</a:t>
            </a:r>
            <a:endParaRPr/>
          </a:p>
        </p:txBody>
      </p:sp>
      <p:sp>
        <p:nvSpPr>
          <p:cNvPr id="503" name="Google Shape;503;h69a5e3ff789ebc32_1_1083"/>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Peran yang jelas: siapa melakukan apa</a:t>
            </a:r>
            <a:endParaRPr/>
          </a:p>
        </p:txBody>
      </p:sp>
      <p:sp>
        <p:nvSpPr>
          <p:cNvPr id="504" name="Google Shape;504;h69a5e3ff789ebc32_1_1083"/>
          <p:cNvSpPr/>
          <p:nvPr/>
        </p:nvSpPr>
        <p:spPr>
          <a:xfrm>
            <a:off x="594360" y="1828800"/>
            <a:ext cx="3566100" cy="3657600"/>
          </a:xfrm>
          <a:prstGeom prst="roundRect">
            <a:avLst>
              <a:gd fmla="val 7179" name="adj"/>
            </a:avLst>
          </a:prstGeom>
          <a:solidFill>
            <a:srgbClr val="0D2A4E"/>
          </a:solidFill>
          <a:ln cap="flat" cmpd="sng" w="2857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h69a5e3ff789ebc32_1_1083"/>
          <p:cNvSpPr/>
          <p:nvPr/>
        </p:nvSpPr>
        <p:spPr>
          <a:xfrm>
            <a:off x="914400" y="1645920"/>
            <a:ext cx="29262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h69a5e3ff789ebc32_1_1083"/>
          <p:cNvSpPr txBox="1"/>
          <p:nvPr/>
        </p:nvSpPr>
        <p:spPr>
          <a:xfrm>
            <a:off x="914400" y="1727176"/>
            <a:ext cx="2926200" cy="192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50">
                <a:solidFill>
                  <a:srgbClr val="092647"/>
                </a:solidFill>
                <a:latin typeface="Montserrat"/>
                <a:ea typeface="Montserrat"/>
                <a:cs typeface="Montserrat"/>
                <a:sym typeface="Montserrat"/>
              </a:rPr>
              <a:t>Direktorat PPG</a:t>
            </a:r>
            <a:endParaRPr/>
          </a:p>
        </p:txBody>
      </p:sp>
      <p:sp>
        <p:nvSpPr>
          <p:cNvPr id="507" name="Google Shape;507;h69a5e3ff789ebc32_1_1083"/>
          <p:cNvSpPr txBox="1"/>
          <p:nvPr/>
        </p:nvSpPr>
        <p:spPr>
          <a:xfrm>
            <a:off x="850392" y="2286000"/>
            <a:ext cx="3108900" cy="25722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Menetapkan kebijakan dan Pedoman Pendampingan 2026</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Menetapkan Tim Pendamping Nasional (TPN, 2 orang per kunjungan)</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Pendampingan substantif ke LPTK</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Menerima rekomendasi penyempurnaan</a:t>
            </a:r>
            <a:endParaRPr/>
          </a:p>
        </p:txBody>
      </p:sp>
      <p:sp>
        <p:nvSpPr>
          <p:cNvPr id="508" name="Google Shape;508;h69a5e3ff789ebc32_1_1083"/>
          <p:cNvSpPr/>
          <p:nvPr/>
        </p:nvSpPr>
        <p:spPr>
          <a:xfrm>
            <a:off x="4297680" y="1828800"/>
            <a:ext cx="3566100" cy="3657600"/>
          </a:xfrm>
          <a:prstGeom prst="roundRect">
            <a:avLst>
              <a:gd fmla="val 7179" name="adj"/>
            </a:avLst>
          </a:prstGeom>
          <a:solidFill>
            <a:srgbClr val="0D2A4E"/>
          </a:solidFill>
          <a:ln cap="flat" cmpd="sng" w="2857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h69a5e3ff789ebc32_1_1083"/>
          <p:cNvSpPr/>
          <p:nvPr/>
        </p:nvSpPr>
        <p:spPr>
          <a:xfrm>
            <a:off x="4617720" y="1645920"/>
            <a:ext cx="29262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h69a5e3ff789ebc32_1_1083"/>
          <p:cNvSpPr txBox="1"/>
          <p:nvPr/>
        </p:nvSpPr>
        <p:spPr>
          <a:xfrm>
            <a:off x="4617720" y="1727176"/>
            <a:ext cx="2926200" cy="192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50">
                <a:solidFill>
                  <a:srgbClr val="092647"/>
                </a:solidFill>
                <a:latin typeface="Montserrat"/>
                <a:ea typeface="Montserrat"/>
                <a:cs typeface="Montserrat"/>
                <a:sym typeface="Montserrat"/>
              </a:rPr>
              <a:t>Tanoto Foundation</a:t>
            </a:r>
            <a:endParaRPr/>
          </a:p>
        </p:txBody>
      </p:sp>
      <p:sp>
        <p:nvSpPr>
          <p:cNvPr id="511" name="Google Shape;511;h69a5e3ff789ebc32_1_1083"/>
          <p:cNvSpPr txBox="1"/>
          <p:nvPr/>
        </p:nvSpPr>
        <p:spPr>
          <a:xfrm>
            <a:off x="4553712" y="2286000"/>
            <a:ext cx="3108900" cy="23265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450"/>
              <a:buFont typeface="Arial"/>
              <a:buChar char="•"/>
            </a:pPr>
            <a:r>
              <a:rPr lang="en-US" sz="1450">
                <a:solidFill>
                  <a:srgbClr val="FFFFFF"/>
                </a:solidFill>
                <a:latin typeface="Montserrat"/>
                <a:ea typeface="Montserrat"/>
                <a:cs typeface="Montserrat"/>
                <a:sym typeface="Montserrat"/>
              </a:rPr>
              <a:t>Program user</a:t>
            </a:r>
            <a:r>
              <a:rPr b="0" i="0" lang="en-US" sz="1450">
                <a:solidFill>
                  <a:srgbClr val="FFFFFF"/>
                </a:solidFill>
                <a:latin typeface="Montserrat"/>
                <a:ea typeface="Montserrat"/>
                <a:cs typeface="Montserrat"/>
                <a:sym typeface="Montserrat"/>
              </a:rPr>
              <a:t> dan pengarah program</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Menyepakati kelompok pembanding dan akses data</a:t>
            </a:r>
            <a:endParaRPr/>
          </a:p>
          <a:p>
            <a:pPr indent="-201168" lvl="0" marL="201168" marR="0" rtl="0" algn="l">
              <a:lnSpc>
                <a:spcPct val="110000"/>
              </a:lnSpc>
              <a:spcBef>
                <a:spcPts val="1000"/>
              </a:spcBef>
              <a:spcAft>
                <a:spcPts val="0"/>
              </a:spcAft>
              <a:buClr>
                <a:srgbClr val="FFC00C"/>
              </a:buClr>
              <a:buSzPts val="1450"/>
              <a:buFont typeface="Arial"/>
              <a:buChar char="•"/>
            </a:pPr>
            <a:r>
              <a:rPr lang="en-US" sz="1450">
                <a:solidFill>
                  <a:srgbClr val="FFFFFF"/>
                </a:solidFill>
                <a:latin typeface="Montserrat"/>
                <a:ea typeface="Montserrat"/>
                <a:cs typeface="Montserrat"/>
                <a:sym typeface="Montserrat"/>
              </a:rPr>
              <a:t>Mereview</a:t>
            </a:r>
            <a:r>
              <a:rPr b="0" i="0" lang="en-US" sz="1450">
                <a:solidFill>
                  <a:srgbClr val="FFFFFF"/>
                </a:solidFill>
                <a:latin typeface="Montserrat"/>
                <a:ea typeface="Montserrat"/>
                <a:cs typeface="Montserrat"/>
                <a:sym typeface="Montserrat"/>
              </a:rPr>
              <a:t> laporan, memberi persetujuan hasil</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Menerima pembelajaran perbandingan LPTK</a:t>
            </a:r>
            <a:endParaRPr/>
          </a:p>
        </p:txBody>
      </p:sp>
      <p:sp>
        <p:nvSpPr>
          <p:cNvPr id="512" name="Google Shape;512;h69a5e3ff789ebc32_1_1083"/>
          <p:cNvSpPr/>
          <p:nvPr/>
        </p:nvSpPr>
        <p:spPr>
          <a:xfrm>
            <a:off x="8001000" y="1828800"/>
            <a:ext cx="3566100" cy="3657600"/>
          </a:xfrm>
          <a:prstGeom prst="roundRect">
            <a:avLst>
              <a:gd fmla="val 7179"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h69a5e3ff789ebc32_1_1083"/>
          <p:cNvSpPr/>
          <p:nvPr/>
        </p:nvSpPr>
        <p:spPr>
          <a:xfrm>
            <a:off x="8321040" y="1645920"/>
            <a:ext cx="29262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h69a5e3ff789ebc32_1_1083"/>
          <p:cNvSpPr txBox="1"/>
          <p:nvPr/>
        </p:nvSpPr>
        <p:spPr>
          <a:xfrm>
            <a:off x="8321040" y="1727176"/>
            <a:ext cx="2926200" cy="192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50">
                <a:solidFill>
                  <a:srgbClr val="092647"/>
                </a:solidFill>
                <a:latin typeface="Montserrat"/>
                <a:ea typeface="Montserrat"/>
                <a:cs typeface="Montserrat"/>
                <a:sym typeface="Montserrat"/>
              </a:rPr>
              <a:t>Sanggabiz (mitra pelaksana)</a:t>
            </a:r>
            <a:endParaRPr/>
          </a:p>
        </p:txBody>
      </p:sp>
      <p:sp>
        <p:nvSpPr>
          <p:cNvPr id="515" name="Google Shape;515;h69a5e3ff789ebc32_1_1083"/>
          <p:cNvSpPr txBox="1"/>
          <p:nvPr/>
        </p:nvSpPr>
        <p:spPr>
          <a:xfrm>
            <a:off x="8257031" y="2286000"/>
            <a:ext cx="3108900" cy="28176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Menyiapkan perangkat: rencana kerja, instrumen, jadwal</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Mengoordinasikan kunjungan luring 12 LPTK dan kebutuhan operasional TPN</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Menghimpun bukti kemajuan RTL dan memantau</a:t>
            </a:r>
            <a:endParaRPr/>
          </a:p>
          <a:p>
            <a:pPr indent="-201168" lvl="0" marL="201168" marR="0" rtl="0" algn="l">
              <a:lnSpc>
                <a:spcPct val="110000"/>
              </a:lnSpc>
              <a:spcBef>
                <a:spcPts val="1000"/>
              </a:spcBef>
              <a:spcAft>
                <a:spcPts val="0"/>
              </a:spcAft>
              <a:buClr>
                <a:srgbClr val="FFC00C"/>
              </a:buClr>
              <a:buSzPts val="1450"/>
              <a:buFont typeface="Arial"/>
              <a:buChar char="•"/>
            </a:pPr>
            <a:r>
              <a:rPr b="0" i="0" lang="en-US" sz="1450">
                <a:solidFill>
                  <a:srgbClr val="FFFFFF"/>
                </a:solidFill>
                <a:latin typeface="Montserrat"/>
                <a:ea typeface="Montserrat"/>
                <a:cs typeface="Montserrat"/>
                <a:sym typeface="Montserrat"/>
              </a:rPr>
              <a:t>Analisis, studi komparatif, pelaporan, repositori data</a:t>
            </a:r>
            <a:endParaRPr/>
          </a:p>
        </p:txBody>
      </p:sp>
      <p:sp>
        <p:nvSpPr>
          <p:cNvPr id="516" name="Google Shape;516;h69a5e3ff789ebc32_1_1083"/>
          <p:cNvSpPr/>
          <p:nvPr/>
        </p:nvSpPr>
        <p:spPr>
          <a:xfrm>
            <a:off x="579285" y="5634600"/>
            <a:ext cx="11003100" cy="548700"/>
          </a:xfrm>
          <a:prstGeom prst="roundRect">
            <a:avLst>
              <a:gd fmla="val 50000" name="adj"/>
            </a:avLst>
          </a:prstGeom>
          <a:solidFill>
            <a:srgbClr val="0D2A4E"/>
          </a:solidFill>
          <a:ln cap="flat" cmpd="sng" w="1905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h69a5e3ff789ebc32_1_1083"/>
          <p:cNvSpPr txBox="1"/>
          <p:nvPr/>
        </p:nvSpPr>
        <p:spPr>
          <a:xfrm>
            <a:off x="868680" y="5715000"/>
            <a:ext cx="10454400" cy="3879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200">
                <a:solidFill>
                  <a:srgbClr val="FFC00C"/>
                </a:solidFill>
                <a:latin typeface="Montserrat"/>
                <a:ea typeface="Montserrat"/>
                <a:cs typeface="Montserrat"/>
                <a:sym typeface="Montserrat"/>
              </a:rPr>
              <a:t>Batas peran: </a:t>
            </a:r>
            <a:r>
              <a:rPr b="0" i="0" lang="en-US" sz="1200">
                <a:solidFill>
                  <a:srgbClr val="FFFFFF"/>
                </a:solidFill>
                <a:latin typeface="Montserrat"/>
                <a:ea typeface="Montserrat"/>
                <a:cs typeface="Montserrat"/>
                <a:sym typeface="Montserrat"/>
              </a:rPr>
              <a:t>kami tidak menggantikan TPN dan tidak menjanjikan pendampingan akreditasi substantif; kami memastikan pendampingan itu terkoordinasi, terdata, dan terbukti.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521" name="Shape 521"/>
        <p:cNvGrpSpPr/>
        <p:nvPr/>
      </p:nvGrpSpPr>
      <p:grpSpPr>
        <a:xfrm>
          <a:off x="0" y="0"/>
          <a:ext cx="0" cy="0"/>
          <a:chOff x="0" y="0"/>
          <a:chExt cx="0" cy="0"/>
        </a:xfrm>
      </p:grpSpPr>
      <p:sp>
        <p:nvSpPr>
          <p:cNvPr id="522" name="Google Shape;522;h65eb7c06466a6d01_0_4"/>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u="none" cap="none" strike="noStrike">
                <a:solidFill>
                  <a:srgbClr val="FFC00C"/>
                </a:solidFill>
                <a:latin typeface="Montserrat"/>
                <a:ea typeface="Montserrat"/>
                <a:cs typeface="Montserrat"/>
                <a:sym typeface="Montserrat"/>
              </a:rPr>
              <a:t>PENDEKATAN PENDAMPINGAN</a:t>
            </a:r>
            <a:endParaRPr/>
          </a:p>
        </p:txBody>
      </p:sp>
      <p:sp>
        <p:nvSpPr>
          <p:cNvPr id="523" name="Google Shape;523;h65eb7c06466a6d01_0_4"/>
          <p:cNvSpPr txBox="1"/>
          <p:nvPr/>
        </p:nvSpPr>
        <p:spPr>
          <a:xfrm>
            <a:off x="594360" y="658368"/>
            <a:ext cx="11003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700" u="none" cap="none" strike="noStrike">
                <a:solidFill>
                  <a:srgbClr val="FFFFFF"/>
                </a:solidFill>
                <a:latin typeface="Montserrat ExtraBold"/>
                <a:ea typeface="Montserrat ExtraBold"/>
                <a:cs typeface="Montserrat ExtraBold"/>
                <a:sym typeface="Montserrat ExtraBold"/>
              </a:rPr>
              <a:t>Evidence-Based Continuous Quality Improvement</a:t>
            </a:r>
            <a:endParaRPr/>
          </a:p>
        </p:txBody>
      </p:sp>
      <p:sp>
        <p:nvSpPr>
          <p:cNvPr id="524" name="Google Shape;524;h65eb7c06466a6d01_0_4"/>
          <p:cNvSpPr txBox="1"/>
          <p:nvPr/>
        </p:nvSpPr>
        <p:spPr>
          <a:xfrm>
            <a:off x="594360" y="1170432"/>
            <a:ext cx="110031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00" u="none" cap="none" strike="noStrike">
                <a:solidFill>
                  <a:srgbClr val="B0C0CF"/>
                </a:solidFill>
                <a:latin typeface="Montserrat"/>
                <a:ea typeface="Montserrat"/>
                <a:cs typeface="Montserrat"/>
                <a:sym typeface="Montserrat"/>
              </a:rPr>
              <a:t>Lima fase, mengikuti langsung ruang lingkup mitra </a:t>
            </a:r>
            <a:endParaRPr/>
          </a:p>
        </p:txBody>
      </p:sp>
      <p:sp>
        <p:nvSpPr>
          <p:cNvPr id="525" name="Google Shape;525;h65eb7c06466a6d01_0_4"/>
          <p:cNvSpPr txBox="1"/>
          <p:nvPr/>
        </p:nvSpPr>
        <p:spPr>
          <a:xfrm>
            <a:off x="594360" y="1508760"/>
            <a:ext cx="2083500" cy="431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800" u="none" cap="none" strike="noStrike">
                <a:solidFill>
                  <a:srgbClr val="FFC00C"/>
                </a:solidFill>
                <a:latin typeface="Montserrat ExtraBold"/>
                <a:ea typeface="Montserrat ExtraBold"/>
                <a:cs typeface="Montserrat ExtraBold"/>
                <a:sym typeface="Montserrat ExtraBold"/>
              </a:rPr>
              <a:t>01</a:t>
            </a:r>
            <a:endParaRPr/>
          </a:p>
        </p:txBody>
      </p:sp>
      <p:sp>
        <p:nvSpPr>
          <p:cNvPr id="526" name="Google Shape;526;h65eb7c06466a6d01_0_4"/>
          <p:cNvSpPr txBox="1"/>
          <p:nvPr/>
        </p:nvSpPr>
        <p:spPr>
          <a:xfrm>
            <a:off x="1792136" y="1605049"/>
            <a:ext cx="457200" cy="246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600" u="none" cap="none" strike="noStrike">
                <a:solidFill>
                  <a:srgbClr val="FFC00C"/>
                </a:solidFill>
                <a:latin typeface="Montserrat"/>
                <a:ea typeface="Montserrat"/>
                <a:cs typeface="Montserrat"/>
                <a:sym typeface="Montserrat"/>
              </a:rPr>
              <a:t>→</a:t>
            </a:r>
            <a:endParaRPr/>
          </a:p>
        </p:txBody>
      </p:sp>
      <p:sp>
        <p:nvSpPr>
          <p:cNvPr id="527" name="Google Shape;527;h65eb7c06466a6d01_0_4"/>
          <p:cNvSpPr/>
          <p:nvPr/>
        </p:nvSpPr>
        <p:spPr>
          <a:xfrm>
            <a:off x="594360" y="1965960"/>
            <a:ext cx="2083500" cy="1417200"/>
          </a:xfrm>
          <a:prstGeom prst="roundRect">
            <a:avLst>
              <a:gd fmla="val 9032" name="adj"/>
            </a:avLst>
          </a:prstGeom>
          <a:solidFill>
            <a:srgbClr val="2F7E9D"/>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h65eb7c06466a6d01_0_4"/>
          <p:cNvSpPr txBox="1"/>
          <p:nvPr/>
        </p:nvSpPr>
        <p:spPr>
          <a:xfrm>
            <a:off x="731520" y="2039112"/>
            <a:ext cx="1809300" cy="173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250">
                <a:solidFill>
                  <a:srgbClr val="FFFFFF"/>
                </a:solidFill>
                <a:latin typeface="Montserrat"/>
                <a:ea typeface="Montserrat"/>
                <a:cs typeface="Montserrat"/>
                <a:sym typeface="Montserrat"/>
              </a:rPr>
              <a:t>Diagnose</a:t>
            </a:r>
            <a:endParaRPr/>
          </a:p>
        </p:txBody>
      </p:sp>
      <p:sp>
        <p:nvSpPr>
          <p:cNvPr id="529" name="Google Shape;529;h65eb7c06466a6d01_0_4"/>
          <p:cNvSpPr txBox="1"/>
          <p:nvPr/>
        </p:nvSpPr>
        <p:spPr>
          <a:xfrm>
            <a:off x="731520" y="2350008"/>
            <a:ext cx="18093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900">
                <a:solidFill>
                  <a:srgbClr val="FFFFFF"/>
                </a:solidFill>
                <a:latin typeface="Montserrat"/>
                <a:ea typeface="Montserrat"/>
                <a:cs typeface="Montserrat"/>
                <a:sym typeface="Montserrat"/>
              </a:rPr>
              <a:t>Okt</a:t>
            </a:r>
            <a:endParaRPr/>
          </a:p>
        </p:txBody>
      </p:sp>
      <p:sp>
        <p:nvSpPr>
          <p:cNvPr id="530" name="Google Shape;530;h65eb7c06466a6d01_0_4"/>
          <p:cNvSpPr txBox="1"/>
          <p:nvPr/>
        </p:nvSpPr>
        <p:spPr>
          <a:xfrm>
            <a:off x="731520" y="2551176"/>
            <a:ext cx="1827600" cy="5808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Review hasil Supervisi 2025 &amp; baseline assessment</a:t>
            </a:r>
            <a:endParaRPr/>
          </a:p>
          <a:p>
            <a:pPr indent="-201168" lvl="0" marL="201168" marR="0" rtl="0" algn="l">
              <a:lnSpc>
                <a:spcPct val="100000"/>
              </a:lnSpc>
              <a:spcBef>
                <a:spcPts val="40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Pemetaan kesenjangan mutu dan kesiapan akreditasi</a:t>
            </a:r>
            <a:endParaRPr/>
          </a:p>
        </p:txBody>
      </p:sp>
      <p:sp>
        <p:nvSpPr>
          <p:cNvPr id="531" name="Google Shape;531;h65eb7c06466a6d01_0_4"/>
          <p:cNvSpPr txBox="1"/>
          <p:nvPr/>
        </p:nvSpPr>
        <p:spPr>
          <a:xfrm>
            <a:off x="2824215" y="1508760"/>
            <a:ext cx="2083500" cy="431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800">
                <a:solidFill>
                  <a:srgbClr val="FFC00C"/>
                </a:solidFill>
                <a:latin typeface="Montserrat ExtraBold"/>
                <a:ea typeface="Montserrat ExtraBold"/>
                <a:cs typeface="Montserrat ExtraBold"/>
                <a:sym typeface="Montserrat ExtraBold"/>
              </a:rPr>
              <a:t>02</a:t>
            </a:r>
            <a:endParaRPr/>
          </a:p>
        </p:txBody>
      </p:sp>
      <p:sp>
        <p:nvSpPr>
          <p:cNvPr id="532" name="Google Shape;532;h65eb7c06466a6d01_0_4"/>
          <p:cNvSpPr txBox="1"/>
          <p:nvPr/>
        </p:nvSpPr>
        <p:spPr>
          <a:xfrm>
            <a:off x="4021992" y="1605049"/>
            <a:ext cx="457200" cy="246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600">
                <a:solidFill>
                  <a:srgbClr val="FFC00C"/>
                </a:solidFill>
                <a:latin typeface="Montserrat"/>
                <a:ea typeface="Montserrat"/>
                <a:cs typeface="Montserrat"/>
                <a:sym typeface="Montserrat"/>
              </a:rPr>
              <a:t>→</a:t>
            </a:r>
            <a:endParaRPr/>
          </a:p>
        </p:txBody>
      </p:sp>
      <p:sp>
        <p:nvSpPr>
          <p:cNvPr id="533" name="Google Shape;533;h65eb7c06466a6d01_0_4"/>
          <p:cNvSpPr/>
          <p:nvPr/>
        </p:nvSpPr>
        <p:spPr>
          <a:xfrm>
            <a:off x="2824215" y="1965960"/>
            <a:ext cx="2083500" cy="1417200"/>
          </a:xfrm>
          <a:prstGeom prst="roundRect">
            <a:avLst>
              <a:gd fmla="val 9032" name="adj"/>
            </a:avLst>
          </a:prstGeom>
          <a:solidFill>
            <a:srgbClr val="0D2A4E"/>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h65eb7c06466a6d01_0_4"/>
          <p:cNvSpPr txBox="1"/>
          <p:nvPr/>
        </p:nvSpPr>
        <p:spPr>
          <a:xfrm>
            <a:off x="2961375" y="2039112"/>
            <a:ext cx="1809300" cy="173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250">
                <a:solidFill>
                  <a:srgbClr val="FFFFFF"/>
                </a:solidFill>
                <a:latin typeface="Montserrat"/>
                <a:ea typeface="Montserrat"/>
                <a:cs typeface="Montserrat"/>
                <a:sym typeface="Montserrat"/>
              </a:rPr>
              <a:t>Design</a:t>
            </a:r>
            <a:endParaRPr/>
          </a:p>
        </p:txBody>
      </p:sp>
      <p:sp>
        <p:nvSpPr>
          <p:cNvPr id="535" name="Google Shape;535;h65eb7c06466a6d01_0_4"/>
          <p:cNvSpPr txBox="1"/>
          <p:nvPr/>
        </p:nvSpPr>
        <p:spPr>
          <a:xfrm>
            <a:off x="2961375" y="2350008"/>
            <a:ext cx="18093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900">
                <a:solidFill>
                  <a:srgbClr val="FFFFFF"/>
                </a:solidFill>
                <a:latin typeface="Montserrat"/>
                <a:ea typeface="Montserrat"/>
                <a:cs typeface="Montserrat"/>
                <a:sym typeface="Montserrat"/>
              </a:rPr>
              <a:t>Okt</a:t>
            </a:r>
            <a:endParaRPr/>
          </a:p>
        </p:txBody>
      </p:sp>
      <p:sp>
        <p:nvSpPr>
          <p:cNvPr id="536" name="Google Shape;536;h65eb7c06466a6d01_0_4"/>
          <p:cNvSpPr txBox="1"/>
          <p:nvPr/>
        </p:nvSpPr>
        <p:spPr>
          <a:xfrm>
            <a:off x="2961375" y="2551176"/>
            <a:ext cx="1827600" cy="5808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Penyusunan pedoman, modul, dan instrumen</a:t>
            </a:r>
            <a:endParaRPr/>
          </a:p>
          <a:p>
            <a:pPr indent="-201168" lvl="0" marL="201168" marR="0" rtl="0" algn="l">
              <a:lnSpc>
                <a:spcPct val="100000"/>
              </a:lnSpc>
              <a:spcBef>
                <a:spcPts val="40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Rencana pendampingan berbasis kebutuhan LPTK</a:t>
            </a:r>
            <a:endParaRPr/>
          </a:p>
        </p:txBody>
      </p:sp>
      <p:sp>
        <p:nvSpPr>
          <p:cNvPr id="537" name="Google Shape;537;h65eb7c06466a6d01_0_4"/>
          <p:cNvSpPr txBox="1"/>
          <p:nvPr/>
        </p:nvSpPr>
        <p:spPr>
          <a:xfrm>
            <a:off x="5054071" y="1508760"/>
            <a:ext cx="2083500" cy="431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800">
                <a:solidFill>
                  <a:srgbClr val="FFC00C"/>
                </a:solidFill>
                <a:latin typeface="Montserrat ExtraBold"/>
                <a:ea typeface="Montserrat ExtraBold"/>
                <a:cs typeface="Montserrat ExtraBold"/>
                <a:sym typeface="Montserrat ExtraBold"/>
              </a:rPr>
              <a:t>03</a:t>
            </a:r>
            <a:endParaRPr/>
          </a:p>
        </p:txBody>
      </p:sp>
      <p:sp>
        <p:nvSpPr>
          <p:cNvPr id="538" name="Google Shape;538;h65eb7c06466a6d01_0_4"/>
          <p:cNvSpPr txBox="1"/>
          <p:nvPr/>
        </p:nvSpPr>
        <p:spPr>
          <a:xfrm>
            <a:off x="6251848" y="1605049"/>
            <a:ext cx="457200" cy="246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600">
                <a:solidFill>
                  <a:srgbClr val="FFC00C"/>
                </a:solidFill>
                <a:latin typeface="Montserrat"/>
                <a:ea typeface="Montserrat"/>
                <a:cs typeface="Montserrat"/>
                <a:sym typeface="Montserrat"/>
              </a:rPr>
              <a:t>→</a:t>
            </a:r>
            <a:endParaRPr/>
          </a:p>
        </p:txBody>
      </p:sp>
      <p:sp>
        <p:nvSpPr>
          <p:cNvPr id="539" name="Google Shape;539;h65eb7c06466a6d01_0_4"/>
          <p:cNvSpPr/>
          <p:nvPr/>
        </p:nvSpPr>
        <p:spPr>
          <a:xfrm>
            <a:off x="5054071" y="1965960"/>
            <a:ext cx="2083500" cy="1417200"/>
          </a:xfrm>
          <a:prstGeom prst="roundRect">
            <a:avLst>
              <a:gd fmla="val 9032" name="adj"/>
            </a:avLst>
          </a:prstGeom>
          <a:solidFill>
            <a:srgbClr val="2F7E9D"/>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h65eb7c06466a6d01_0_4"/>
          <p:cNvSpPr txBox="1"/>
          <p:nvPr/>
        </p:nvSpPr>
        <p:spPr>
          <a:xfrm>
            <a:off x="5191231" y="2039112"/>
            <a:ext cx="1809300" cy="173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250">
                <a:solidFill>
                  <a:srgbClr val="FFFFFF"/>
                </a:solidFill>
                <a:latin typeface="Montserrat"/>
                <a:ea typeface="Montserrat"/>
                <a:cs typeface="Montserrat"/>
                <a:sym typeface="Montserrat"/>
              </a:rPr>
              <a:t>Deliver</a:t>
            </a:r>
            <a:endParaRPr/>
          </a:p>
        </p:txBody>
      </p:sp>
      <p:sp>
        <p:nvSpPr>
          <p:cNvPr id="541" name="Google Shape;541;h65eb7c06466a6d01_0_4"/>
          <p:cNvSpPr txBox="1"/>
          <p:nvPr/>
        </p:nvSpPr>
        <p:spPr>
          <a:xfrm>
            <a:off x="5191231" y="2350008"/>
            <a:ext cx="18093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900">
                <a:solidFill>
                  <a:srgbClr val="FFFFFF"/>
                </a:solidFill>
                <a:latin typeface="Montserrat"/>
                <a:ea typeface="Montserrat"/>
                <a:cs typeface="Montserrat"/>
                <a:sym typeface="Montserrat"/>
              </a:rPr>
              <a:t>Okt–Nov</a:t>
            </a:r>
            <a:endParaRPr/>
          </a:p>
        </p:txBody>
      </p:sp>
      <p:sp>
        <p:nvSpPr>
          <p:cNvPr id="542" name="Google Shape;542;h65eb7c06466a6d01_0_4"/>
          <p:cNvSpPr txBox="1"/>
          <p:nvPr/>
        </p:nvSpPr>
        <p:spPr>
          <a:xfrm>
            <a:off x="5191231" y="2551176"/>
            <a:ext cx="1827600" cy="5808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Pendampingan luring di 12 LPTK</a:t>
            </a:r>
            <a:endParaRPr/>
          </a:p>
          <a:p>
            <a:pPr indent="-201168" lvl="0" marL="201168" marR="0" rtl="0" algn="l">
              <a:lnSpc>
                <a:spcPct val="100000"/>
              </a:lnSpc>
              <a:spcBef>
                <a:spcPts val="40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Workshop, FGD, technical review, action planning</a:t>
            </a:r>
            <a:endParaRPr/>
          </a:p>
        </p:txBody>
      </p:sp>
      <p:sp>
        <p:nvSpPr>
          <p:cNvPr id="543" name="Google Shape;543;h65eb7c06466a6d01_0_4"/>
          <p:cNvSpPr txBox="1"/>
          <p:nvPr/>
        </p:nvSpPr>
        <p:spPr>
          <a:xfrm>
            <a:off x="7283927" y="1508760"/>
            <a:ext cx="2083500" cy="431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800">
                <a:solidFill>
                  <a:srgbClr val="FFC00C"/>
                </a:solidFill>
                <a:latin typeface="Montserrat ExtraBold"/>
                <a:ea typeface="Montserrat ExtraBold"/>
                <a:cs typeface="Montserrat ExtraBold"/>
                <a:sym typeface="Montserrat ExtraBold"/>
              </a:rPr>
              <a:t>04</a:t>
            </a:r>
            <a:endParaRPr/>
          </a:p>
        </p:txBody>
      </p:sp>
      <p:sp>
        <p:nvSpPr>
          <p:cNvPr id="544" name="Google Shape;544;h65eb7c06466a6d01_0_4"/>
          <p:cNvSpPr txBox="1"/>
          <p:nvPr/>
        </p:nvSpPr>
        <p:spPr>
          <a:xfrm>
            <a:off x="8481704" y="1605049"/>
            <a:ext cx="457200" cy="2463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600">
                <a:solidFill>
                  <a:srgbClr val="FFC00C"/>
                </a:solidFill>
                <a:latin typeface="Montserrat"/>
                <a:ea typeface="Montserrat"/>
                <a:cs typeface="Montserrat"/>
                <a:sym typeface="Montserrat"/>
              </a:rPr>
              <a:t>→</a:t>
            </a:r>
            <a:endParaRPr/>
          </a:p>
        </p:txBody>
      </p:sp>
      <p:sp>
        <p:nvSpPr>
          <p:cNvPr id="545" name="Google Shape;545;h65eb7c06466a6d01_0_4"/>
          <p:cNvSpPr/>
          <p:nvPr/>
        </p:nvSpPr>
        <p:spPr>
          <a:xfrm>
            <a:off x="7283927" y="1965960"/>
            <a:ext cx="2083500" cy="1417200"/>
          </a:xfrm>
          <a:prstGeom prst="roundRect">
            <a:avLst>
              <a:gd fmla="val 9032" name="adj"/>
            </a:avLst>
          </a:prstGeom>
          <a:solidFill>
            <a:srgbClr val="0D2A4E"/>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h65eb7c06466a6d01_0_4"/>
          <p:cNvSpPr txBox="1"/>
          <p:nvPr/>
        </p:nvSpPr>
        <p:spPr>
          <a:xfrm>
            <a:off x="7421087" y="2039112"/>
            <a:ext cx="1809300" cy="173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250">
                <a:solidFill>
                  <a:srgbClr val="FFFFFF"/>
                </a:solidFill>
                <a:latin typeface="Montserrat"/>
                <a:ea typeface="Montserrat"/>
                <a:cs typeface="Montserrat"/>
                <a:sym typeface="Montserrat"/>
              </a:rPr>
              <a:t>Monitor &amp; Verify</a:t>
            </a:r>
            <a:endParaRPr/>
          </a:p>
        </p:txBody>
      </p:sp>
      <p:sp>
        <p:nvSpPr>
          <p:cNvPr id="547" name="Google Shape;547;h65eb7c06466a6d01_0_4"/>
          <p:cNvSpPr txBox="1"/>
          <p:nvPr/>
        </p:nvSpPr>
        <p:spPr>
          <a:xfrm>
            <a:off x="7421087" y="2350008"/>
            <a:ext cx="18093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900">
                <a:solidFill>
                  <a:srgbClr val="FFFFFF"/>
                </a:solidFill>
                <a:latin typeface="Montserrat"/>
                <a:ea typeface="Montserrat"/>
                <a:cs typeface="Montserrat"/>
                <a:sym typeface="Montserrat"/>
              </a:rPr>
              <a:t>Okt–Des</a:t>
            </a:r>
            <a:endParaRPr/>
          </a:p>
        </p:txBody>
      </p:sp>
      <p:sp>
        <p:nvSpPr>
          <p:cNvPr id="548" name="Google Shape;548;h65eb7c06466a6d01_0_4"/>
          <p:cNvSpPr txBox="1"/>
          <p:nvPr/>
        </p:nvSpPr>
        <p:spPr>
          <a:xfrm>
            <a:off x="7421087" y="2551176"/>
            <a:ext cx="1827600" cy="4485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Monitoring RTL &amp; konsultasi berkala</a:t>
            </a:r>
            <a:endParaRPr/>
          </a:p>
          <a:p>
            <a:pPr indent="-201168" lvl="0" marL="201168" marR="0" rtl="0" algn="l">
              <a:lnSpc>
                <a:spcPct val="100000"/>
              </a:lnSpc>
              <a:spcBef>
                <a:spcPts val="400"/>
              </a:spcBef>
              <a:spcAft>
                <a:spcPts val="0"/>
              </a:spcAft>
              <a:buClr>
                <a:srgbClr val="FFC00C"/>
              </a:buClr>
              <a:buSzPts val="860"/>
              <a:buFont typeface="Arial"/>
              <a:buChar char="•"/>
            </a:pPr>
            <a:r>
              <a:rPr b="0" i="0" lang="en-US" sz="860">
                <a:solidFill>
                  <a:srgbClr val="FFFFFF"/>
                </a:solidFill>
                <a:latin typeface="Montserrat"/>
                <a:ea typeface="Montserrat"/>
                <a:cs typeface="Montserrat"/>
                <a:sym typeface="Montserrat"/>
              </a:rPr>
              <a:t>Verifikasi bukti perbaikan</a:t>
            </a:r>
            <a:endParaRPr/>
          </a:p>
        </p:txBody>
      </p:sp>
      <p:sp>
        <p:nvSpPr>
          <p:cNvPr id="549" name="Google Shape;549;h65eb7c06466a6d01_0_4"/>
          <p:cNvSpPr txBox="1"/>
          <p:nvPr/>
        </p:nvSpPr>
        <p:spPr>
          <a:xfrm>
            <a:off x="9513783" y="1508760"/>
            <a:ext cx="2083500" cy="431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800">
                <a:solidFill>
                  <a:srgbClr val="FFC00C"/>
                </a:solidFill>
                <a:latin typeface="Montserrat ExtraBold"/>
                <a:ea typeface="Montserrat ExtraBold"/>
                <a:cs typeface="Montserrat ExtraBold"/>
                <a:sym typeface="Montserrat ExtraBold"/>
              </a:rPr>
              <a:t>05</a:t>
            </a:r>
            <a:endParaRPr/>
          </a:p>
        </p:txBody>
      </p:sp>
      <p:sp>
        <p:nvSpPr>
          <p:cNvPr id="550" name="Google Shape;550;h65eb7c06466a6d01_0_4"/>
          <p:cNvSpPr/>
          <p:nvPr/>
        </p:nvSpPr>
        <p:spPr>
          <a:xfrm>
            <a:off x="9513783" y="1965960"/>
            <a:ext cx="2083500" cy="1417200"/>
          </a:xfrm>
          <a:prstGeom prst="roundRect">
            <a:avLst>
              <a:gd fmla="val 9032" name="adj"/>
            </a:avLst>
          </a:prstGeom>
          <a:solidFill>
            <a:srgbClr val="FFC00C"/>
          </a:solidFill>
          <a:ln cap="flat" cmpd="sng" w="22225">
            <a:solidFill>
              <a:srgbClr val="0926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h65eb7c06466a6d01_0_4"/>
          <p:cNvSpPr txBox="1"/>
          <p:nvPr/>
        </p:nvSpPr>
        <p:spPr>
          <a:xfrm>
            <a:off x="9650943" y="2039112"/>
            <a:ext cx="1809300" cy="173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n-US" sz="1250">
                <a:solidFill>
                  <a:srgbClr val="092647"/>
                </a:solidFill>
                <a:latin typeface="Montserrat"/>
                <a:ea typeface="Montserrat"/>
                <a:cs typeface="Montserrat"/>
                <a:sym typeface="Montserrat"/>
              </a:rPr>
              <a:t>Evaluate &amp; Improve</a:t>
            </a:r>
            <a:endParaRPr/>
          </a:p>
        </p:txBody>
      </p:sp>
      <p:sp>
        <p:nvSpPr>
          <p:cNvPr id="552" name="Google Shape;552;h65eb7c06466a6d01_0_4"/>
          <p:cNvSpPr txBox="1"/>
          <p:nvPr/>
        </p:nvSpPr>
        <p:spPr>
          <a:xfrm>
            <a:off x="9650943" y="2350008"/>
            <a:ext cx="18093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900">
                <a:solidFill>
                  <a:srgbClr val="092647"/>
                </a:solidFill>
                <a:latin typeface="Montserrat"/>
                <a:ea typeface="Montserrat"/>
                <a:cs typeface="Montserrat"/>
                <a:sym typeface="Montserrat"/>
              </a:rPr>
              <a:t>Nov–Des</a:t>
            </a:r>
            <a:endParaRPr/>
          </a:p>
        </p:txBody>
      </p:sp>
      <p:sp>
        <p:nvSpPr>
          <p:cNvPr id="553" name="Google Shape;553;h65eb7c06466a6d01_0_4"/>
          <p:cNvSpPr txBox="1"/>
          <p:nvPr/>
        </p:nvSpPr>
        <p:spPr>
          <a:xfrm>
            <a:off x="9650943" y="2551176"/>
            <a:ext cx="1827600" cy="5808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860"/>
              <a:buFont typeface="Arial"/>
              <a:buChar char="•"/>
            </a:pPr>
            <a:r>
              <a:rPr b="0" i="0" lang="en-US" sz="860">
                <a:solidFill>
                  <a:srgbClr val="092647"/>
                </a:solidFill>
                <a:latin typeface="Montserrat"/>
                <a:ea typeface="Montserrat"/>
                <a:cs typeface="Montserrat"/>
                <a:sym typeface="Montserrat"/>
              </a:rPr>
              <a:t>Studi komparatif &amp; analisis pelaksanaan PPL</a:t>
            </a:r>
            <a:endParaRPr/>
          </a:p>
          <a:p>
            <a:pPr indent="-201168" lvl="0" marL="201168" marR="0" rtl="0" algn="l">
              <a:lnSpc>
                <a:spcPct val="100000"/>
              </a:lnSpc>
              <a:spcBef>
                <a:spcPts val="400"/>
              </a:spcBef>
              <a:spcAft>
                <a:spcPts val="0"/>
              </a:spcAft>
              <a:buClr>
                <a:srgbClr val="FFC00C"/>
              </a:buClr>
              <a:buSzPts val="860"/>
              <a:buFont typeface="Arial"/>
              <a:buChar char="•"/>
            </a:pPr>
            <a:r>
              <a:rPr b="0" i="0" lang="en-US" sz="860">
                <a:solidFill>
                  <a:srgbClr val="092647"/>
                </a:solidFill>
                <a:latin typeface="Montserrat"/>
                <a:ea typeface="Montserrat"/>
                <a:cs typeface="Montserrat"/>
                <a:sym typeface="Montserrat"/>
              </a:rPr>
              <a:t>Sintesis praktik baik, hambatan, rekomendasi</a:t>
            </a:r>
            <a:endParaRPr/>
          </a:p>
        </p:txBody>
      </p:sp>
      <p:sp>
        <p:nvSpPr>
          <p:cNvPr id="554" name="Google Shape;554;h65eb7c06466a6d01_0_4"/>
          <p:cNvSpPr/>
          <p:nvPr/>
        </p:nvSpPr>
        <p:spPr>
          <a:xfrm>
            <a:off x="594360" y="3673808"/>
            <a:ext cx="11003100" cy="512100"/>
          </a:xfrm>
          <a:prstGeom prst="roundRect">
            <a:avLst>
              <a:gd fmla="val 23214" name="adj"/>
            </a:avLst>
          </a:prstGeom>
          <a:solidFill>
            <a:srgbClr val="0D2A4E"/>
          </a:solidFill>
          <a:ln cap="flat" cmpd="sng" w="15875">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5" name="Google Shape;555;h65eb7c06466a6d01_0_4"/>
          <p:cNvSpPr txBox="1"/>
          <p:nvPr/>
        </p:nvSpPr>
        <p:spPr>
          <a:xfrm>
            <a:off x="777265" y="3775133"/>
            <a:ext cx="10637100" cy="2910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900">
                <a:solidFill>
                  <a:srgbClr val="FFC00C"/>
                </a:solidFill>
                <a:latin typeface="Montserrat"/>
                <a:ea typeface="Montserrat"/>
                <a:cs typeface="Montserrat"/>
                <a:sym typeface="Montserrat"/>
              </a:rPr>
              <a:t>Dasar pendekatan: </a:t>
            </a:r>
            <a:r>
              <a:rPr b="0" i="0" lang="en-US" sz="900">
                <a:solidFill>
                  <a:srgbClr val="FFFFFF"/>
                </a:solidFill>
                <a:latin typeface="Montserrat"/>
                <a:ea typeface="Montserrat"/>
                <a:cs typeface="Montserrat"/>
                <a:sym typeface="Montserrat"/>
              </a:rPr>
              <a:t>Continuous Quality Improvement (akar PDCA/Deming, dasar filosofi mutu banyak sistem akreditasi pendidikan tinggi termasuk PPEPP/SPMI) dipadukan dengan evidence-based practice — rekomendasi berbasis bukti yang dapat ditelusuri, bukan asumsi.</a:t>
            </a:r>
            <a:endParaRPr/>
          </a:p>
        </p:txBody>
      </p:sp>
      <p:sp>
        <p:nvSpPr>
          <p:cNvPr id="556" name="Google Shape;556;h65eb7c06466a6d01_0_4"/>
          <p:cNvSpPr txBox="1"/>
          <p:nvPr/>
        </p:nvSpPr>
        <p:spPr>
          <a:xfrm>
            <a:off x="594360" y="4295600"/>
            <a:ext cx="36576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FFC00C"/>
                </a:solidFill>
                <a:latin typeface="Montserrat"/>
                <a:ea typeface="Montserrat"/>
                <a:cs typeface="Montserrat"/>
                <a:sym typeface="Montserrat"/>
              </a:rPr>
              <a:t>KEY DELIVERABLES</a:t>
            </a:r>
            <a:endParaRPr/>
          </a:p>
        </p:txBody>
      </p:sp>
      <p:sp>
        <p:nvSpPr>
          <p:cNvPr id="557" name="Google Shape;557;h65eb7c06466a6d01_0_4"/>
          <p:cNvSpPr/>
          <p:nvPr/>
        </p:nvSpPr>
        <p:spPr>
          <a:xfrm>
            <a:off x="594360" y="4551632"/>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h65eb7c06466a6d01_0_4"/>
          <p:cNvSpPr txBox="1"/>
          <p:nvPr/>
        </p:nvSpPr>
        <p:spPr>
          <a:xfrm>
            <a:off x="704076" y="4686782"/>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1</a:t>
            </a:r>
            <a:endParaRPr/>
          </a:p>
        </p:txBody>
      </p:sp>
      <p:sp>
        <p:nvSpPr>
          <p:cNvPr id="559" name="Google Shape;559;h65eb7c06466a6d01_0_4"/>
          <p:cNvSpPr txBox="1"/>
          <p:nvPr/>
        </p:nvSpPr>
        <p:spPr>
          <a:xfrm>
            <a:off x="960108" y="4686782"/>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Pedoman dan modul pendampingan teknis</a:t>
            </a:r>
            <a:endParaRPr/>
          </a:p>
        </p:txBody>
      </p:sp>
      <p:sp>
        <p:nvSpPr>
          <p:cNvPr id="560" name="Google Shape;560;h65eb7c06466a6d01_0_4"/>
          <p:cNvSpPr/>
          <p:nvPr/>
        </p:nvSpPr>
        <p:spPr>
          <a:xfrm>
            <a:off x="4316882" y="4551632"/>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h65eb7c06466a6d01_0_4"/>
          <p:cNvSpPr txBox="1"/>
          <p:nvPr/>
        </p:nvSpPr>
        <p:spPr>
          <a:xfrm>
            <a:off x="4426598" y="4686782"/>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2</a:t>
            </a:r>
            <a:endParaRPr/>
          </a:p>
        </p:txBody>
      </p:sp>
      <p:sp>
        <p:nvSpPr>
          <p:cNvPr id="562" name="Google Shape;562;h65eb7c06466a6d01_0_4"/>
          <p:cNvSpPr txBox="1"/>
          <p:nvPr/>
        </p:nvSpPr>
        <p:spPr>
          <a:xfrm>
            <a:off x="4682630" y="4686782"/>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Instrumen dan dashboard monitoring</a:t>
            </a:r>
            <a:endParaRPr/>
          </a:p>
        </p:txBody>
      </p:sp>
      <p:sp>
        <p:nvSpPr>
          <p:cNvPr id="563" name="Google Shape;563;h65eb7c06466a6d01_0_4"/>
          <p:cNvSpPr/>
          <p:nvPr/>
        </p:nvSpPr>
        <p:spPr>
          <a:xfrm>
            <a:off x="8039404" y="4551632"/>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h65eb7c06466a6d01_0_4"/>
          <p:cNvSpPr txBox="1"/>
          <p:nvPr/>
        </p:nvSpPr>
        <p:spPr>
          <a:xfrm>
            <a:off x="8149120" y="4686782"/>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3</a:t>
            </a:r>
            <a:endParaRPr/>
          </a:p>
        </p:txBody>
      </p:sp>
      <p:sp>
        <p:nvSpPr>
          <p:cNvPr id="565" name="Google Shape;565;h65eb7c06466a6d01_0_4"/>
          <p:cNvSpPr txBox="1"/>
          <p:nvPr/>
        </p:nvSpPr>
        <p:spPr>
          <a:xfrm>
            <a:off x="8405152" y="4686782"/>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Baseline assessment 12 LPTK</a:t>
            </a:r>
            <a:endParaRPr/>
          </a:p>
        </p:txBody>
      </p:sp>
      <p:sp>
        <p:nvSpPr>
          <p:cNvPr id="566" name="Google Shape;566;h65eb7c06466a6d01_0_4"/>
          <p:cNvSpPr/>
          <p:nvPr/>
        </p:nvSpPr>
        <p:spPr>
          <a:xfrm>
            <a:off x="594360" y="4990544"/>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h65eb7c06466a6d01_0_4"/>
          <p:cNvSpPr txBox="1"/>
          <p:nvPr/>
        </p:nvSpPr>
        <p:spPr>
          <a:xfrm>
            <a:off x="704076" y="5125694"/>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4</a:t>
            </a:r>
            <a:endParaRPr/>
          </a:p>
        </p:txBody>
      </p:sp>
      <p:sp>
        <p:nvSpPr>
          <p:cNvPr id="568" name="Google Shape;568;h65eb7c06466a6d01_0_4"/>
          <p:cNvSpPr txBox="1"/>
          <p:nvPr/>
        </p:nvSpPr>
        <p:spPr>
          <a:xfrm>
            <a:off x="960108" y="5125694"/>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Paket perbaikan akreditasi 12 LPTK</a:t>
            </a:r>
            <a:endParaRPr/>
          </a:p>
        </p:txBody>
      </p:sp>
      <p:sp>
        <p:nvSpPr>
          <p:cNvPr id="569" name="Google Shape;569;h65eb7c06466a6d01_0_4"/>
          <p:cNvSpPr/>
          <p:nvPr/>
        </p:nvSpPr>
        <p:spPr>
          <a:xfrm>
            <a:off x="4316882" y="4990544"/>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h65eb7c06466a6d01_0_4"/>
          <p:cNvSpPr txBox="1"/>
          <p:nvPr/>
        </p:nvSpPr>
        <p:spPr>
          <a:xfrm>
            <a:off x="4426598" y="5125694"/>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5</a:t>
            </a:r>
            <a:endParaRPr/>
          </a:p>
        </p:txBody>
      </p:sp>
      <p:sp>
        <p:nvSpPr>
          <p:cNvPr id="571" name="Google Shape;571;h65eb7c06466a6d01_0_4"/>
          <p:cNvSpPr txBox="1"/>
          <p:nvPr/>
        </p:nvSpPr>
        <p:spPr>
          <a:xfrm>
            <a:off x="4682630" y="5125694"/>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Laporan pendampingan 12 LPTK</a:t>
            </a:r>
            <a:endParaRPr/>
          </a:p>
        </p:txBody>
      </p:sp>
      <p:sp>
        <p:nvSpPr>
          <p:cNvPr id="572" name="Google Shape;572;h65eb7c06466a6d01_0_4"/>
          <p:cNvSpPr/>
          <p:nvPr/>
        </p:nvSpPr>
        <p:spPr>
          <a:xfrm>
            <a:off x="8039404" y="4990544"/>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h65eb7c06466a6d01_0_4"/>
          <p:cNvSpPr txBox="1"/>
          <p:nvPr/>
        </p:nvSpPr>
        <p:spPr>
          <a:xfrm>
            <a:off x="8149120" y="5125694"/>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6</a:t>
            </a:r>
            <a:endParaRPr/>
          </a:p>
        </p:txBody>
      </p:sp>
      <p:sp>
        <p:nvSpPr>
          <p:cNvPr id="574" name="Google Shape;574;h65eb7c06466a6d01_0_4"/>
          <p:cNvSpPr txBox="1"/>
          <p:nvPr/>
        </p:nvSpPr>
        <p:spPr>
          <a:xfrm>
            <a:off x="8405152" y="5125694"/>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Laporan kemajuan RTL Supervisi 2025</a:t>
            </a:r>
            <a:endParaRPr/>
          </a:p>
        </p:txBody>
      </p:sp>
      <p:sp>
        <p:nvSpPr>
          <p:cNvPr id="575" name="Google Shape;575;h65eb7c06466a6d01_0_4"/>
          <p:cNvSpPr/>
          <p:nvPr/>
        </p:nvSpPr>
        <p:spPr>
          <a:xfrm>
            <a:off x="594360" y="5429456"/>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h65eb7c06466a6d01_0_4"/>
          <p:cNvSpPr txBox="1"/>
          <p:nvPr/>
        </p:nvSpPr>
        <p:spPr>
          <a:xfrm>
            <a:off x="704076" y="5564606"/>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7</a:t>
            </a:r>
            <a:endParaRPr/>
          </a:p>
        </p:txBody>
      </p:sp>
      <p:sp>
        <p:nvSpPr>
          <p:cNvPr id="577" name="Google Shape;577;h65eb7c06466a6d01_0_4"/>
          <p:cNvSpPr txBox="1"/>
          <p:nvPr/>
        </p:nvSpPr>
        <p:spPr>
          <a:xfrm>
            <a:off x="960108" y="5564606"/>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Studi komparatif pendampingan</a:t>
            </a:r>
            <a:endParaRPr/>
          </a:p>
        </p:txBody>
      </p:sp>
      <p:sp>
        <p:nvSpPr>
          <p:cNvPr id="578" name="Google Shape;578;h65eb7c06466a6d01_0_4"/>
          <p:cNvSpPr/>
          <p:nvPr/>
        </p:nvSpPr>
        <p:spPr>
          <a:xfrm>
            <a:off x="4316882" y="5429456"/>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h65eb7c06466a6d01_0_4"/>
          <p:cNvSpPr txBox="1"/>
          <p:nvPr/>
        </p:nvSpPr>
        <p:spPr>
          <a:xfrm>
            <a:off x="4426598" y="5564606"/>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8</a:t>
            </a:r>
            <a:endParaRPr/>
          </a:p>
        </p:txBody>
      </p:sp>
      <p:sp>
        <p:nvSpPr>
          <p:cNvPr id="580" name="Google Shape;580;h65eb7c06466a6d01_0_4"/>
          <p:cNvSpPr txBox="1"/>
          <p:nvPr/>
        </p:nvSpPr>
        <p:spPr>
          <a:xfrm>
            <a:off x="4682630" y="5564606"/>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Analisis pelaksanaan PPL</a:t>
            </a:r>
            <a:endParaRPr/>
          </a:p>
        </p:txBody>
      </p:sp>
      <p:sp>
        <p:nvSpPr>
          <p:cNvPr id="581" name="Google Shape;581;h65eb7c06466a6d01_0_4"/>
          <p:cNvSpPr/>
          <p:nvPr/>
        </p:nvSpPr>
        <p:spPr>
          <a:xfrm>
            <a:off x="8039404" y="5429456"/>
            <a:ext cx="3558000" cy="3657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h65eb7c06466a6d01_0_4"/>
          <p:cNvSpPr txBox="1"/>
          <p:nvPr/>
        </p:nvSpPr>
        <p:spPr>
          <a:xfrm>
            <a:off x="8149120" y="5564606"/>
            <a:ext cx="274200" cy="1692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9</a:t>
            </a:r>
            <a:endParaRPr/>
          </a:p>
        </p:txBody>
      </p:sp>
      <p:sp>
        <p:nvSpPr>
          <p:cNvPr id="583" name="Google Shape;583;h65eb7c06466a6d01_0_4"/>
          <p:cNvSpPr txBox="1"/>
          <p:nvPr/>
        </p:nvSpPr>
        <p:spPr>
          <a:xfrm>
            <a:off x="8405152" y="5564606"/>
            <a:ext cx="3082500" cy="1203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850">
                <a:solidFill>
                  <a:srgbClr val="FFFFFF"/>
                </a:solidFill>
                <a:latin typeface="Montserrat"/>
                <a:ea typeface="Montserrat"/>
                <a:cs typeface="Montserrat"/>
                <a:sym typeface="Montserrat"/>
              </a:rPr>
              <a:t>Laporan sintesis dan rekomendasi akhir</a:t>
            </a:r>
            <a:endParaRPr/>
          </a:p>
        </p:txBody>
      </p:sp>
      <p:pic>
        <p:nvPicPr>
          <p:cNvPr descr="logo_white.png" id="584" name="Google Shape;584;h65eb7c06466a6d01_0_4"/>
          <p:cNvPicPr preferRelativeResize="0"/>
          <p:nvPr/>
        </p:nvPicPr>
        <p:blipFill rotWithShape="1">
          <a:blip r:embed="rId3">
            <a:alphaModFix/>
          </a:blip>
          <a:srcRect b="0" l="0" r="0" t="0"/>
          <a:stretch/>
        </p:blipFill>
        <p:spPr>
          <a:xfrm>
            <a:off x="594360" y="6510528"/>
            <a:ext cx="924305" cy="182880"/>
          </a:xfrm>
          <a:prstGeom prst="rect">
            <a:avLst/>
          </a:prstGeom>
          <a:noFill/>
          <a:ln>
            <a:noFill/>
          </a:ln>
        </p:spPr>
      </p:pic>
      <p:sp>
        <p:nvSpPr>
          <p:cNvPr id="585" name="Google Shape;585;h65eb7c06466a6d01_0_4"/>
          <p:cNvSpPr txBox="1"/>
          <p:nvPr/>
        </p:nvSpPr>
        <p:spPr>
          <a:xfrm>
            <a:off x="1645919" y="6528816"/>
            <a:ext cx="7315200" cy="123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800">
                <a:solidFill>
                  <a:srgbClr val="B0C0CF"/>
                </a:solidFill>
                <a:latin typeface="Montserrat"/>
                <a:ea typeface="Montserrat"/>
                <a:cs typeface="Montserrat"/>
                <a:sym typeface="Montserrat"/>
              </a:rPr>
              <a:t>Slide 8 v2 — dipakai di Google Slides langsung (bukan bagian PPTX/PDF utama)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589" name="Shape 589"/>
        <p:cNvGrpSpPr/>
        <p:nvPr/>
      </p:nvGrpSpPr>
      <p:grpSpPr>
        <a:xfrm>
          <a:off x="0" y="0"/>
          <a:ext cx="0" cy="0"/>
          <a:chOff x="0" y="0"/>
          <a:chExt cx="0" cy="0"/>
        </a:xfrm>
      </p:grpSpPr>
      <p:pic>
        <p:nvPicPr>
          <p:cNvPr descr="logo_white.png" id="590" name="Google Shape;590;h69a5e3ff789ebc32_1_1140"/>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591" name="Google Shape;591;h69a5e3ff789ebc32_1_1140"/>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592" name="Google Shape;592;h69a5e3ff789ebc32_1_1140"/>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9</a:t>
            </a:r>
            <a:endParaRPr/>
          </a:p>
        </p:txBody>
      </p:sp>
      <p:sp>
        <p:nvSpPr>
          <p:cNvPr id="593" name="Google Shape;593;h69a5e3ff789ebc32_1_1140"/>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DESKRIPSI PROYEK · TUJUAN 1</a:t>
            </a:r>
            <a:endParaRPr/>
          </a:p>
        </p:txBody>
      </p:sp>
      <p:sp>
        <p:nvSpPr>
          <p:cNvPr id="594" name="Google Shape;594;h69a5e3ff789ebc32_1_1140"/>
          <p:cNvSpPr txBox="1"/>
          <p:nvPr/>
        </p:nvSpPr>
        <p:spPr>
          <a:xfrm>
            <a:off x="594360" y="658368"/>
            <a:ext cx="110031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Mendata dan menganalisis kemajuan RTL hasil supervisi 2025</a:t>
            </a:r>
            <a:endParaRPr/>
          </a:p>
        </p:txBody>
      </p:sp>
      <p:sp>
        <p:nvSpPr>
          <p:cNvPr id="595" name="Google Shape;595;h69a5e3ff789ebc32_1_1140"/>
          <p:cNvSpPr/>
          <p:nvPr/>
        </p:nvSpPr>
        <p:spPr>
          <a:xfrm>
            <a:off x="594360" y="1874519"/>
            <a:ext cx="2103000" cy="4297800"/>
          </a:xfrm>
          <a:prstGeom prst="roundRect">
            <a:avLst>
              <a:gd fmla="val 12173"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h69a5e3ff789ebc32_1_1140"/>
          <p:cNvSpPr txBox="1"/>
          <p:nvPr/>
        </p:nvSpPr>
        <p:spPr>
          <a:xfrm>
            <a:off x="594360" y="2011680"/>
            <a:ext cx="2103000" cy="13854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9000">
                <a:solidFill>
                  <a:srgbClr val="FFC00C"/>
                </a:solidFill>
                <a:latin typeface="Montserrat ExtraBold"/>
                <a:ea typeface="Montserrat ExtraBold"/>
                <a:cs typeface="Montserrat ExtraBold"/>
                <a:sym typeface="Montserrat ExtraBold"/>
              </a:rPr>
              <a:t>1</a:t>
            </a:r>
            <a:endParaRPr/>
          </a:p>
        </p:txBody>
      </p:sp>
      <p:sp>
        <p:nvSpPr>
          <p:cNvPr id="597" name="Google Shape;597;h69a5e3ff789ebc32_1_1140"/>
          <p:cNvSpPr txBox="1"/>
          <p:nvPr/>
        </p:nvSpPr>
        <p:spPr>
          <a:xfrm>
            <a:off x="731520" y="3520440"/>
            <a:ext cx="1828800" cy="184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FFFFFF"/>
                </a:solidFill>
                <a:latin typeface="Montserrat"/>
                <a:ea typeface="Montserrat"/>
                <a:cs typeface="Montserrat"/>
                <a:sym typeface="Montserrat"/>
              </a:rPr>
              <a:t>TUJUAN</a:t>
            </a:r>
            <a:endParaRPr/>
          </a:p>
        </p:txBody>
      </p:sp>
      <p:sp>
        <p:nvSpPr>
          <p:cNvPr id="598" name="Google Shape;598;h69a5e3ff789ebc32_1_1140"/>
          <p:cNvSpPr/>
          <p:nvPr/>
        </p:nvSpPr>
        <p:spPr>
          <a:xfrm>
            <a:off x="288036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h69a5e3ff789ebc32_1_1140"/>
          <p:cNvSpPr txBox="1"/>
          <p:nvPr/>
        </p:nvSpPr>
        <p:spPr>
          <a:xfrm>
            <a:off x="2880360" y="1789393"/>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Kegiatan</a:t>
            </a:r>
            <a:endParaRPr/>
          </a:p>
        </p:txBody>
      </p:sp>
      <p:sp>
        <p:nvSpPr>
          <p:cNvPr id="600" name="Google Shape;600;h69a5e3ff789ebc32_1_1140"/>
          <p:cNvSpPr/>
          <p:nvPr/>
        </p:nvSpPr>
        <p:spPr>
          <a:xfrm>
            <a:off x="2880360" y="2029968"/>
            <a:ext cx="3886200" cy="4142100"/>
          </a:xfrm>
          <a:prstGeom prst="roundRect">
            <a:avLst>
              <a:gd fmla="val 51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h69a5e3ff789ebc32_1_1140"/>
          <p:cNvSpPr txBox="1"/>
          <p:nvPr/>
        </p:nvSpPr>
        <p:spPr>
          <a:xfrm>
            <a:off x="3044952" y="2286000"/>
            <a:ext cx="3612000" cy="24468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Telaah laporan supervisi 2025 dan RTL 12 LPTK</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Skor baseline 1–4 pada lima elemen, dengan status bukti tiap elemen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Bangun RTL Tracker: belum, berjalan, selesai, terbukti</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Konsultasi berkala dengan TPN dan LPTK; himpun bukti kemajuan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Verifikasi kemajuan di akhir periode</a:t>
            </a:r>
            <a:endParaRPr/>
          </a:p>
        </p:txBody>
      </p:sp>
      <p:sp>
        <p:nvSpPr>
          <p:cNvPr id="602" name="Google Shape;602;h69a5e3ff789ebc32_1_1140"/>
          <p:cNvSpPr/>
          <p:nvPr/>
        </p:nvSpPr>
        <p:spPr>
          <a:xfrm>
            <a:off x="685800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h69a5e3ff789ebc32_1_1140"/>
          <p:cNvSpPr txBox="1"/>
          <p:nvPr/>
        </p:nvSpPr>
        <p:spPr>
          <a:xfrm>
            <a:off x="6858000" y="1789393"/>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Ukuran keberhasilan</a:t>
            </a:r>
            <a:endParaRPr/>
          </a:p>
        </p:txBody>
      </p:sp>
      <p:sp>
        <p:nvSpPr>
          <p:cNvPr id="604" name="Google Shape;604;h69a5e3ff789ebc32_1_1140"/>
          <p:cNvSpPr/>
          <p:nvPr/>
        </p:nvSpPr>
        <p:spPr>
          <a:xfrm>
            <a:off x="6858000" y="2029968"/>
            <a:ext cx="2651700" cy="4142100"/>
          </a:xfrm>
          <a:prstGeom prst="roundRect">
            <a:avLst>
              <a:gd fmla="val 758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h69a5e3ff789ebc32_1_1140"/>
          <p:cNvSpPr txBox="1"/>
          <p:nvPr/>
        </p:nvSpPr>
        <p:spPr>
          <a:xfrm>
            <a:off x="7022592" y="2286000"/>
            <a:ext cx="2377500" cy="17844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12 dari 12 LPTK punya skor baseline sebelum kunjungan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Persentase RTL berstatus terbukti: awal vs akhir</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Perubahan skor per elemen dan per LPTK</a:t>
            </a:r>
            <a:endParaRPr/>
          </a:p>
        </p:txBody>
      </p:sp>
      <p:sp>
        <p:nvSpPr>
          <p:cNvPr id="606" name="Google Shape;606;h69a5e3ff789ebc32_1_1140"/>
          <p:cNvSpPr/>
          <p:nvPr/>
        </p:nvSpPr>
        <p:spPr>
          <a:xfrm>
            <a:off x="9601200" y="1737360"/>
            <a:ext cx="18288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h69a5e3ff789ebc32_1_1140"/>
          <p:cNvSpPr txBox="1"/>
          <p:nvPr/>
        </p:nvSpPr>
        <p:spPr>
          <a:xfrm>
            <a:off x="9601200" y="1789393"/>
            <a:ext cx="18288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lang="en-US" sz="1200">
                <a:solidFill>
                  <a:srgbClr val="092647"/>
                </a:solidFill>
                <a:latin typeface="Montserrat"/>
                <a:ea typeface="Montserrat"/>
                <a:cs typeface="Montserrat"/>
                <a:sym typeface="Montserrat"/>
              </a:rPr>
              <a:t>Output</a:t>
            </a:r>
            <a:r>
              <a:rPr b="1" i="0" lang="en-US" sz="1200">
                <a:solidFill>
                  <a:srgbClr val="092647"/>
                </a:solidFill>
                <a:latin typeface="Montserrat"/>
                <a:ea typeface="Montserrat"/>
                <a:cs typeface="Montserrat"/>
                <a:sym typeface="Montserrat"/>
              </a:rPr>
              <a:t> dan bukti</a:t>
            </a:r>
            <a:endParaRPr/>
          </a:p>
        </p:txBody>
      </p:sp>
      <p:sp>
        <p:nvSpPr>
          <p:cNvPr id="608" name="Google Shape;608;h69a5e3ff789ebc32_1_1140"/>
          <p:cNvSpPr/>
          <p:nvPr/>
        </p:nvSpPr>
        <p:spPr>
          <a:xfrm>
            <a:off x="9601200" y="2029968"/>
            <a:ext cx="1920300" cy="4142100"/>
          </a:xfrm>
          <a:prstGeom prst="roundRect">
            <a:avLst>
              <a:gd fmla="val 104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h69a5e3ff789ebc32_1_1140"/>
          <p:cNvSpPr txBox="1"/>
          <p:nvPr/>
        </p:nvSpPr>
        <p:spPr>
          <a:xfrm>
            <a:off x="9765792" y="2286000"/>
            <a:ext cx="1645800" cy="16584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Laporan Awal</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RTL Tracker</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Evidence Register</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Skor baseline dan akhir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613" name="Shape 613"/>
        <p:cNvGrpSpPr/>
        <p:nvPr/>
      </p:nvGrpSpPr>
      <p:grpSpPr>
        <a:xfrm>
          <a:off x="0" y="0"/>
          <a:ext cx="0" cy="0"/>
          <a:chOff x="0" y="0"/>
          <a:chExt cx="0" cy="0"/>
        </a:xfrm>
      </p:grpSpPr>
      <p:pic>
        <p:nvPicPr>
          <p:cNvPr descr="logo_white.png" id="614" name="Google Shape;614;h69a5e3ff789ebc32_1_1163"/>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615" name="Google Shape;615;h69a5e3ff789ebc32_1_1163"/>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616" name="Google Shape;616;h69a5e3ff789ebc32_1_116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10</a:t>
            </a:r>
            <a:endParaRPr/>
          </a:p>
        </p:txBody>
      </p:sp>
      <p:sp>
        <p:nvSpPr>
          <p:cNvPr id="617" name="Google Shape;617;h69a5e3ff789ebc32_1_1163"/>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DESKRIPSI PROYEK · TUJUAN 2</a:t>
            </a:r>
            <a:endParaRPr/>
          </a:p>
        </p:txBody>
      </p:sp>
      <p:sp>
        <p:nvSpPr>
          <p:cNvPr id="618" name="Google Shape;618;h69a5e3ff789ebc32_1_1163"/>
          <p:cNvSpPr txBox="1"/>
          <p:nvPr/>
        </p:nvSpPr>
        <p:spPr>
          <a:xfrm>
            <a:off x="594360" y="658368"/>
            <a:ext cx="110031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Memetakan pelaksanaan PPL dan menjawab temuan pembelajaran berpusat mahasiswa</a:t>
            </a:r>
            <a:endParaRPr/>
          </a:p>
        </p:txBody>
      </p:sp>
      <p:sp>
        <p:nvSpPr>
          <p:cNvPr id="619" name="Google Shape;619;h69a5e3ff789ebc32_1_1163"/>
          <p:cNvSpPr/>
          <p:nvPr/>
        </p:nvSpPr>
        <p:spPr>
          <a:xfrm>
            <a:off x="594360" y="1874519"/>
            <a:ext cx="2103000" cy="4297800"/>
          </a:xfrm>
          <a:prstGeom prst="roundRect">
            <a:avLst>
              <a:gd fmla="val 12173"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h69a5e3ff789ebc32_1_1163"/>
          <p:cNvSpPr txBox="1"/>
          <p:nvPr/>
        </p:nvSpPr>
        <p:spPr>
          <a:xfrm>
            <a:off x="594360" y="2011680"/>
            <a:ext cx="2103000" cy="13854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9000">
                <a:solidFill>
                  <a:srgbClr val="FFC00C"/>
                </a:solidFill>
                <a:latin typeface="Montserrat ExtraBold"/>
                <a:ea typeface="Montserrat ExtraBold"/>
                <a:cs typeface="Montserrat ExtraBold"/>
                <a:sym typeface="Montserrat ExtraBold"/>
              </a:rPr>
              <a:t>2</a:t>
            </a:r>
            <a:endParaRPr/>
          </a:p>
        </p:txBody>
      </p:sp>
      <p:sp>
        <p:nvSpPr>
          <p:cNvPr id="621" name="Google Shape;621;h69a5e3ff789ebc32_1_1163"/>
          <p:cNvSpPr txBox="1"/>
          <p:nvPr/>
        </p:nvSpPr>
        <p:spPr>
          <a:xfrm>
            <a:off x="731520" y="3520440"/>
            <a:ext cx="1828800" cy="184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FFFFFF"/>
                </a:solidFill>
                <a:latin typeface="Montserrat"/>
                <a:ea typeface="Montserrat"/>
                <a:cs typeface="Montserrat"/>
                <a:sym typeface="Montserrat"/>
              </a:rPr>
              <a:t>TUJUAN</a:t>
            </a:r>
            <a:endParaRPr/>
          </a:p>
        </p:txBody>
      </p:sp>
      <p:sp>
        <p:nvSpPr>
          <p:cNvPr id="622" name="Google Shape;622;h69a5e3ff789ebc32_1_1163"/>
          <p:cNvSpPr txBox="1"/>
          <p:nvPr/>
        </p:nvSpPr>
        <p:spPr>
          <a:xfrm>
            <a:off x="731520" y="4023360"/>
            <a:ext cx="1828800" cy="14571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FFFFFF"/>
                </a:solidFill>
                <a:latin typeface="Montserrat"/>
                <a:ea typeface="Montserrat"/>
                <a:cs typeface="Montserrat"/>
                <a:sym typeface="Montserrat"/>
              </a:rPr>
              <a:t>Standar pelaksanaan</a:t>
            </a:r>
            <a:endParaRPr/>
          </a:p>
          <a:p>
            <a:pPr indent="0" lvl="0" marL="0" marR="0" rtl="0" algn="ctr">
              <a:lnSpc>
                <a:spcPct val="110000"/>
              </a:lnSpc>
              <a:spcBef>
                <a:spcPts val="400"/>
              </a:spcBef>
              <a:spcAft>
                <a:spcPts val="0"/>
              </a:spcAft>
              <a:buNone/>
            </a:pPr>
            <a:r>
              <a:rPr b="1" i="0" lang="en-US" sz="1200">
                <a:solidFill>
                  <a:srgbClr val="FFFFFF"/>
                </a:solidFill>
                <a:latin typeface="Montserrat"/>
                <a:ea typeface="Montserrat"/>
                <a:cs typeface="Montserrat"/>
                <a:sym typeface="Montserrat"/>
              </a:rPr>
              <a:t>Pembagian peran</a:t>
            </a:r>
            <a:endParaRPr/>
          </a:p>
          <a:p>
            <a:pPr indent="0" lvl="0" marL="0" marR="0" rtl="0" algn="ctr">
              <a:lnSpc>
                <a:spcPct val="110000"/>
              </a:lnSpc>
              <a:spcBef>
                <a:spcPts val="400"/>
              </a:spcBef>
              <a:spcAft>
                <a:spcPts val="0"/>
              </a:spcAft>
              <a:buNone/>
            </a:pPr>
            <a:r>
              <a:rPr b="1" i="0" lang="en-US" sz="1200">
                <a:solidFill>
                  <a:srgbClr val="FFFFFF"/>
                </a:solidFill>
                <a:latin typeface="Montserrat"/>
                <a:ea typeface="Montserrat"/>
                <a:cs typeface="Montserrat"/>
                <a:sym typeface="Montserrat"/>
              </a:rPr>
              <a:t>Pendampingan</a:t>
            </a:r>
            <a:endParaRPr/>
          </a:p>
          <a:p>
            <a:pPr indent="0" lvl="0" marL="0" marR="0" rtl="0" algn="ctr">
              <a:lnSpc>
                <a:spcPct val="110000"/>
              </a:lnSpc>
              <a:spcBef>
                <a:spcPts val="400"/>
              </a:spcBef>
              <a:spcAft>
                <a:spcPts val="0"/>
              </a:spcAft>
              <a:buNone/>
            </a:pPr>
            <a:r>
              <a:rPr b="1" i="0" lang="en-US" sz="1200">
                <a:solidFill>
                  <a:srgbClr val="FFFFFF"/>
                </a:solidFill>
                <a:latin typeface="Montserrat"/>
                <a:ea typeface="Montserrat"/>
                <a:cs typeface="Montserrat"/>
                <a:sym typeface="Montserrat"/>
              </a:rPr>
              <a:t>Observasi</a:t>
            </a:r>
            <a:endParaRPr/>
          </a:p>
          <a:p>
            <a:pPr indent="0" lvl="0" marL="0" marR="0" rtl="0" algn="ctr">
              <a:lnSpc>
                <a:spcPct val="110000"/>
              </a:lnSpc>
              <a:spcBef>
                <a:spcPts val="400"/>
              </a:spcBef>
              <a:spcAft>
                <a:spcPts val="0"/>
              </a:spcAft>
              <a:buNone/>
            </a:pPr>
            <a:r>
              <a:rPr b="1" i="0" lang="en-US" sz="1200">
                <a:solidFill>
                  <a:srgbClr val="FFFFFF"/>
                </a:solidFill>
                <a:latin typeface="Montserrat"/>
                <a:ea typeface="Montserrat"/>
                <a:cs typeface="Montserrat"/>
                <a:sym typeface="Montserrat"/>
              </a:rPr>
              <a:t>Umpan balik</a:t>
            </a:r>
            <a:endParaRPr/>
          </a:p>
          <a:p>
            <a:pPr indent="0" lvl="0" marL="0" marR="0" rtl="0" algn="ctr">
              <a:lnSpc>
                <a:spcPct val="110000"/>
              </a:lnSpc>
              <a:spcBef>
                <a:spcPts val="400"/>
              </a:spcBef>
              <a:spcAft>
                <a:spcPts val="0"/>
              </a:spcAft>
              <a:buNone/>
            </a:pPr>
            <a:r>
              <a:rPr b="1" i="0" lang="en-US" sz="1200">
                <a:solidFill>
                  <a:srgbClr val="FFFFFF"/>
                </a:solidFill>
                <a:latin typeface="Montserrat"/>
                <a:ea typeface="Montserrat"/>
                <a:cs typeface="Montserrat"/>
                <a:sym typeface="Montserrat"/>
              </a:rPr>
              <a:t>Penilaian</a:t>
            </a:r>
            <a:endParaRPr/>
          </a:p>
        </p:txBody>
      </p:sp>
      <p:sp>
        <p:nvSpPr>
          <p:cNvPr id="623" name="Google Shape;623;h69a5e3ff789ebc32_1_1163"/>
          <p:cNvSpPr/>
          <p:nvPr/>
        </p:nvSpPr>
        <p:spPr>
          <a:xfrm>
            <a:off x="288036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h69a5e3ff789ebc32_1_1163"/>
          <p:cNvSpPr txBox="1"/>
          <p:nvPr/>
        </p:nvSpPr>
        <p:spPr>
          <a:xfrm>
            <a:off x="2880360" y="1778987"/>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Kegiatan</a:t>
            </a:r>
            <a:endParaRPr/>
          </a:p>
        </p:txBody>
      </p:sp>
      <p:sp>
        <p:nvSpPr>
          <p:cNvPr id="625" name="Google Shape;625;h69a5e3ff789ebc32_1_1163"/>
          <p:cNvSpPr/>
          <p:nvPr/>
        </p:nvSpPr>
        <p:spPr>
          <a:xfrm>
            <a:off x="2880360" y="2029968"/>
            <a:ext cx="3886200" cy="4142100"/>
          </a:xfrm>
          <a:prstGeom prst="roundRect">
            <a:avLst>
              <a:gd fmla="val 51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h69a5e3ff789ebc32_1_1163"/>
          <p:cNvSpPr txBox="1"/>
          <p:nvPr/>
        </p:nvSpPr>
        <p:spPr>
          <a:xfrm>
            <a:off x="3044952" y="2286000"/>
            <a:ext cx="3612000" cy="38184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Telaah pedoman PPL, SK penugasan, instrumen observasi, rubrik penilaian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FGD: DPL, guru pamong, mahasiswa PPG, pimpinan prodi (daring atau saat kunjungan)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Skoring enam dimensi PPL dengan empat level, termasuk partisipasi aktif dan keterlibatan mahasiswa (Temuan 2 Supervisi 2025)</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Kolaborasi DPL–guru pamong dan siklus supervisi klinis (pra-observasi, observasi, umpan balik, refleksi) — menjawab Temuan 3</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Dokumentasi praktik baik dan hambatan</a:t>
            </a:r>
            <a:endParaRPr/>
          </a:p>
        </p:txBody>
      </p:sp>
      <p:sp>
        <p:nvSpPr>
          <p:cNvPr id="627" name="Google Shape;627;h69a5e3ff789ebc32_1_1163"/>
          <p:cNvSpPr/>
          <p:nvPr/>
        </p:nvSpPr>
        <p:spPr>
          <a:xfrm>
            <a:off x="685800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h69a5e3ff789ebc32_1_1163"/>
          <p:cNvSpPr txBox="1"/>
          <p:nvPr/>
        </p:nvSpPr>
        <p:spPr>
          <a:xfrm>
            <a:off x="6858000" y="1778987"/>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Ukuran keberhasilan</a:t>
            </a:r>
            <a:endParaRPr/>
          </a:p>
        </p:txBody>
      </p:sp>
      <p:sp>
        <p:nvSpPr>
          <p:cNvPr id="629" name="Google Shape;629;h69a5e3ff789ebc32_1_1163"/>
          <p:cNvSpPr/>
          <p:nvPr/>
        </p:nvSpPr>
        <p:spPr>
          <a:xfrm>
            <a:off x="6858000" y="2029968"/>
            <a:ext cx="2651700" cy="4142100"/>
          </a:xfrm>
          <a:prstGeom prst="roundRect">
            <a:avLst>
              <a:gd fmla="val 758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h69a5e3ff789ebc32_1_1163"/>
          <p:cNvSpPr txBox="1"/>
          <p:nvPr/>
        </p:nvSpPr>
        <p:spPr>
          <a:xfrm>
            <a:off x="7022592" y="2286000"/>
            <a:ext cx="2377500" cy="20130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12 dari 12 LPTK terpetakan pada enam dimensi</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Minimal tiga kelompok informan per LPTK</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Praktik baik dan hambatan tercatat dengan bukti</a:t>
            </a:r>
            <a:endParaRPr/>
          </a:p>
        </p:txBody>
      </p:sp>
      <p:sp>
        <p:nvSpPr>
          <p:cNvPr id="631" name="Google Shape;631;h69a5e3ff789ebc32_1_1163"/>
          <p:cNvSpPr/>
          <p:nvPr/>
        </p:nvSpPr>
        <p:spPr>
          <a:xfrm>
            <a:off x="9601200" y="1737360"/>
            <a:ext cx="18288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h69a5e3ff789ebc32_1_1163"/>
          <p:cNvSpPr txBox="1"/>
          <p:nvPr/>
        </p:nvSpPr>
        <p:spPr>
          <a:xfrm>
            <a:off x="9601200" y="1778987"/>
            <a:ext cx="18288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lang="en-US" sz="1200">
                <a:solidFill>
                  <a:srgbClr val="092647"/>
                </a:solidFill>
                <a:latin typeface="Montserrat"/>
                <a:ea typeface="Montserrat"/>
                <a:cs typeface="Montserrat"/>
                <a:sym typeface="Montserrat"/>
              </a:rPr>
              <a:t>Output</a:t>
            </a:r>
            <a:r>
              <a:rPr b="1" i="0" lang="en-US" sz="1200">
                <a:solidFill>
                  <a:srgbClr val="092647"/>
                </a:solidFill>
                <a:latin typeface="Montserrat"/>
                <a:ea typeface="Montserrat"/>
                <a:cs typeface="Montserrat"/>
                <a:sym typeface="Montserrat"/>
              </a:rPr>
              <a:t> dan bukti</a:t>
            </a:r>
            <a:endParaRPr/>
          </a:p>
        </p:txBody>
      </p:sp>
      <p:sp>
        <p:nvSpPr>
          <p:cNvPr id="633" name="Google Shape;633;h69a5e3ff789ebc32_1_1163"/>
          <p:cNvSpPr/>
          <p:nvPr/>
        </p:nvSpPr>
        <p:spPr>
          <a:xfrm>
            <a:off x="9601200" y="2029968"/>
            <a:ext cx="1920300" cy="4142100"/>
          </a:xfrm>
          <a:prstGeom prst="roundRect">
            <a:avLst>
              <a:gd fmla="val 104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h69a5e3ff789ebc32_1_1163"/>
          <p:cNvSpPr txBox="1"/>
          <p:nvPr/>
        </p:nvSpPr>
        <p:spPr>
          <a:xfrm>
            <a:off x="9765792" y="2286000"/>
            <a:ext cx="1645800" cy="15558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Laporan analisis implementasi PPL tiap LPTK</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Instrumen FGD</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Pemetaan lintas LPTK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638" name="Shape 638"/>
        <p:cNvGrpSpPr/>
        <p:nvPr/>
      </p:nvGrpSpPr>
      <p:grpSpPr>
        <a:xfrm>
          <a:off x="0" y="0"/>
          <a:ext cx="0" cy="0"/>
          <a:chOff x="0" y="0"/>
          <a:chExt cx="0" cy="0"/>
        </a:xfrm>
      </p:grpSpPr>
      <p:pic>
        <p:nvPicPr>
          <p:cNvPr descr="logo_white.png" id="639" name="Google Shape;639;h69a5e3ff789ebc32_1_1187"/>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640" name="Google Shape;640;h69a5e3ff789ebc32_1_1187"/>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641" name="Google Shape;641;h69a5e3ff789ebc32_1_1187"/>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11</a:t>
            </a:r>
            <a:endParaRPr/>
          </a:p>
        </p:txBody>
      </p:sp>
      <p:sp>
        <p:nvSpPr>
          <p:cNvPr id="642" name="Google Shape;642;h69a5e3ff789ebc32_1_1187"/>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DESKRIPSI PROYEK · TUJUAN 3</a:t>
            </a:r>
            <a:endParaRPr/>
          </a:p>
        </p:txBody>
      </p:sp>
      <p:sp>
        <p:nvSpPr>
          <p:cNvPr id="643" name="Google Shape;643;h69a5e3ff789ebc32_1_1187"/>
          <p:cNvSpPr txBox="1"/>
          <p:nvPr/>
        </p:nvSpPr>
        <p:spPr>
          <a:xfrm>
            <a:off x="594360" y="658368"/>
            <a:ext cx="110031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Membandingkan LPTK yang menerima dan tidak menerima dukungan Tanoto Foundation</a:t>
            </a:r>
            <a:endParaRPr/>
          </a:p>
        </p:txBody>
      </p:sp>
      <p:sp>
        <p:nvSpPr>
          <p:cNvPr id="644" name="Google Shape;644;h69a5e3ff789ebc32_1_1187"/>
          <p:cNvSpPr/>
          <p:nvPr/>
        </p:nvSpPr>
        <p:spPr>
          <a:xfrm>
            <a:off x="594360" y="1874519"/>
            <a:ext cx="2103000" cy="4297800"/>
          </a:xfrm>
          <a:prstGeom prst="roundRect">
            <a:avLst>
              <a:gd fmla="val 12173"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h69a5e3ff789ebc32_1_1187"/>
          <p:cNvSpPr txBox="1"/>
          <p:nvPr/>
        </p:nvSpPr>
        <p:spPr>
          <a:xfrm>
            <a:off x="594360" y="2011680"/>
            <a:ext cx="2103000" cy="13854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9000">
                <a:solidFill>
                  <a:srgbClr val="FFC00C"/>
                </a:solidFill>
                <a:latin typeface="Montserrat ExtraBold"/>
                <a:ea typeface="Montserrat ExtraBold"/>
                <a:cs typeface="Montserrat ExtraBold"/>
                <a:sym typeface="Montserrat ExtraBold"/>
              </a:rPr>
              <a:t>3</a:t>
            </a:r>
            <a:endParaRPr/>
          </a:p>
        </p:txBody>
      </p:sp>
      <p:sp>
        <p:nvSpPr>
          <p:cNvPr id="646" name="Google Shape;646;h69a5e3ff789ebc32_1_1187"/>
          <p:cNvSpPr txBox="1"/>
          <p:nvPr/>
        </p:nvSpPr>
        <p:spPr>
          <a:xfrm>
            <a:off x="731520" y="3520440"/>
            <a:ext cx="1828800" cy="184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FFFFFF"/>
                </a:solidFill>
                <a:latin typeface="Montserrat"/>
                <a:ea typeface="Montserrat"/>
                <a:cs typeface="Montserrat"/>
                <a:sym typeface="Montserrat"/>
              </a:rPr>
              <a:t>TUJUAN</a:t>
            </a:r>
            <a:endParaRPr/>
          </a:p>
        </p:txBody>
      </p:sp>
      <p:sp>
        <p:nvSpPr>
          <p:cNvPr id="647" name="Google Shape;647;h69a5e3ff789ebc32_1_1187"/>
          <p:cNvSpPr/>
          <p:nvPr/>
        </p:nvSpPr>
        <p:spPr>
          <a:xfrm>
            <a:off x="288036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h69a5e3ff789ebc32_1_1187"/>
          <p:cNvSpPr txBox="1"/>
          <p:nvPr/>
        </p:nvSpPr>
        <p:spPr>
          <a:xfrm>
            <a:off x="2880360" y="1778987"/>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Kegiatan</a:t>
            </a:r>
            <a:endParaRPr/>
          </a:p>
        </p:txBody>
      </p:sp>
      <p:sp>
        <p:nvSpPr>
          <p:cNvPr id="649" name="Google Shape;649;h69a5e3ff789ebc32_1_1187"/>
          <p:cNvSpPr/>
          <p:nvPr/>
        </p:nvSpPr>
        <p:spPr>
          <a:xfrm>
            <a:off x="2880360" y="2029968"/>
            <a:ext cx="3886200" cy="4142100"/>
          </a:xfrm>
          <a:prstGeom prst="roundRect">
            <a:avLst>
              <a:gd fmla="val 51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h69a5e3ff789ebc32_1_1187"/>
          <p:cNvSpPr txBox="1"/>
          <p:nvPr/>
        </p:nvSpPr>
        <p:spPr>
          <a:xfrm>
            <a:off x="3044952" y="2286000"/>
            <a:ext cx="3612000" cy="33612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Basis 2025: 12 LPTK TF vs 13 LPTK Kemendikdasmen (TOR Annex 1)</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Basis 2026: 12 LPTK TF vs 10 LPTK Kemendikdasmen, kedaluwarsa akreditasi 2027 (TOR Annex 2)</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Pencocokan berdasarkan peringkat, jenis PT, wilayah, skor baseline</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Analisis kemajuan disesuaikan baseline; faktor pembeda lewat analisis konfigurasional</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Keterbatasan dinyatakan terbuka; kelompok pembanding dikonfirmasi ulang bersama TF/Direktorat PPG</a:t>
            </a:r>
            <a:endParaRPr/>
          </a:p>
        </p:txBody>
      </p:sp>
      <p:sp>
        <p:nvSpPr>
          <p:cNvPr id="651" name="Google Shape;651;h69a5e3ff789ebc32_1_1187"/>
          <p:cNvSpPr/>
          <p:nvPr/>
        </p:nvSpPr>
        <p:spPr>
          <a:xfrm>
            <a:off x="685800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h69a5e3ff789ebc32_1_1187"/>
          <p:cNvSpPr txBox="1"/>
          <p:nvPr/>
        </p:nvSpPr>
        <p:spPr>
          <a:xfrm>
            <a:off x="6858000" y="1778987"/>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Ukuran keberhasilan</a:t>
            </a:r>
            <a:endParaRPr/>
          </a:p>
        </p:txBody>
      </p:sp>
      <p:sp>
        <p:nvSpPr>
          <p:cNvPr id="653" name="Google Shape;653;h69a5e3ff789ebc32_1_1187"/>
          <p:cNvSpPr/>
          <p:nvPr/>
        </p:nvSpPr>
        <p:spPr>
          <a:xfrm>
            <a:off x="6858000" y="2029968"/>
            <a:ext cx="2651700" cy="4142100"/>
          </a:xfrm>
          <a:prstGeom prst="roundRect">
            <a:avLst>
              <a:gd fmla="val 758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h69a5e3ff789ebc32_1_1187"/>
          <p:cNvSpPr txBox="1"/>
          <p:nvPr/>
        </p:nvSpPr>
        <p:spPr>
          <a:xfrm>
            <a:off x="7022592" y="2286000"/>
            <a:ext cx="2377500" cy="22416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Dua basis pembanding dikonfirmasi pada Laporan Awal</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Selisih kemajuan dilaporkan dengan rentang ketidakpastian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Faktor pembeda kemajuan teridentifikasi dan berbukti</a:t>
            </a:r>
            <a:endParaRPr/>
          </a:p>
        </p:txBody>
      </p:sp>
      <p:sp>
        <p:nvSpPr>
          <p:cNvPr id="655" name="Google Shape;655;h69a5e3ff789ebc32_1_1187"/>
          <p:cNvSpPr/>
          <p:nvPr/>
        </p:nvSpPr>
        <p:spPr>
          <a:xfrm>
            <a:off x="9601200" y="1737360"/>
            <a:ext cx="18288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h69a5e3ff789ebc32_1_1187"/>
          <p:cNvSpPr txBox="1"/>
          <p:nvPr/>
        </p:nvSpPr>
        <p:spPr>
          <a:xfrm>
            <a:off x="9601200" y="1778987"/>
            <a:ext cx="18288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lang="en-US" sz="1200">
                <a:solidFill>
                  <a:srgbClr val="092647"/>
                </a:solidFill>
                <a:latin typeface="Montserrat"/>
                <a:ea typeface="Montserrat"/>
                <a:cs typeface="Montserrat"/>
                <a:sym typeface="Montserrat"/>
              </a:rPr>
              <a:t>Output</a:t>
            </a:r>
            <a:r>
              <a:rPr b="1" i="0" lang="en-US" sz="1200">
                <a:solidFill>
                  <a:srgbClr val="092647"/>
                </a:solidFill>
                <a:latin typeface="Montserrat"/>
                <a:ea typeface="Montserrat"/>
                <a:cs typeface="Montserrat"/>
                <a:sym typeface="Montserrat"/>
              </a:rPr>
              <a:t> dan bukti</a:t>
            </a:r>
            <a:endParaRPr/>
          </a:p>
        </p:txBody>
      </p:sp>
      <p:sp>
        <p:nvSpPr>
          <p:cNvPr id="657" name="Google Shape;657;h69a5e3ff789ebc32_1_1187"/>
          <p:cNvSpPr/>
          <p:nvPr/>
        </p:nvSpPr>
        <p:spPr>
          <a:xfrm>
            <a:off x="9601200" y="2029968"/>
            <a:ext cx="1920300" cy="4142100"/>
          </a:xfrm>
          <a:prstGeom prst="roundRect">
            <a:avLst>
              <a:gd fmla="val 104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h69a5e3ff789ebc32_1_1187"/>
          <p:cNvSpPr txBox="1"/>
          <p:nvPr/>
        </p:nvSpPr>
        <p:spPr>
          <a:xfrm>
            <a:off x="9765792" y="2286000"/>
            <a:ext cx="1645800" cy="16818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Laporan studi komparatif dan kemajuan RTL Supervisi 2025</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Tabel keseimbangan kondisi awal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662" name="Shape 662"/>
        <p:cNvGrpSpPr/>
        <p:nvPr/>
      </p:nvGrpSpPr>
      <p:grpSpPr>
        <a:xfrm>
          <a:off x="0" y="0"/>
          <a:ext cx="0" cy="0"/>
          <a:chOff x="0" y="0"/>
          <a:chExt cx="0" cy="0"/>
        </a:xfrm>
      </p:grpSpPr>
      <p:pic>
        <p:nvPicPr>
          <p:cNvPr descr="logo_white.png" id="663" name="Google Shape;663;h69a5e3ff789ebc32_1_1210"/>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664" name="Google Shape;664;h69a5e3ff789ebc32_1_1210"/>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665" name="Google Shape;665;h69a5e3ff789ebc32_1_1210"/>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12</a:t>
            </a:r>
            <a:endParaRPr/>
          </a:p>
        </p:txBody>
      </p:sp>
      <p:sp>
        <p:nvSpPr>
          <p:cNvPr id="666" name="Google Shape;666;h69a5e3ff789ebc32_1_1210"/>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DESKRIPSI PROYEK · TUJUAN 4</a:t>
            </a:r>
            <a:endParaRPr/>
          </a:p>
        </p:txBody>
      </p:sp>
      <p:sp>
        <p:nvSpPr>
          <p:cNvPr id="667" name="Google Shape;667;h69a5e3ff789ebc32_1_1210"/>
          <p:cNvSpPr txBox="1"/>
          <p:nvPr/>
        </p:nvSpPr>
        <p:spPr>
          <a:xfrm>
            <a:off x="594360" y="658368"/>
            <a:ext cx="110031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Menghasilkan pembelajaran dan rekomendasi untuk siklus pendampingan berikutnya</a:t>
            </a:r>
            <a:endParaRPr/>
          </a:p>
        </p:txBody>
      </p:sp>
      <p:sp>
        <p:nvSpPr>
          <p:cNvPr id="668" name="Google Shape;668;h69a5e3ff789ebc32_1_1210"/>
          <p:cNvSpPr/>
          <p:nvPr/>
        </p:nvSpPr>
        <p:spPr>
          <a:xfrm>
            <a:off x="594360" y="1874519"/>
            <a:ext cx="2103000" cy="4297800"/>
          </a:xfrm>
          <a:prstGeom prst="roundRect">
            <a:avLst>
              <a:gd fmla="val 12173"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h69a5e3ff789ebc32_1_1210"/>
          <p:cNvSpPr txBox="1"/>
          <p:nvPr/>
        </p:nvSpPr>
        <p:spPr>
          <a:xfrm>
            <a:off x="594360" y="2011680"/>
            <a:ext cx="2103000" cy="13854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0" i="0" lang="en-US" sz="9000">
                <a:solidFill>
                  <a:srgbClr val="FFC00C"/>
                </a:solidFill>
                <a:latin typeface="Montserrat ExtraBold"/>
                <a:ea typeface="Montserrat ExtraBold"/>
                <a:cs typeface="Montserrat ExtraBold"/>
                <a:sym typeface="Montserrat ExtraBold"/>
              </a:rPr>
              <a:t>4</a:t>
            </a:r>
            <a:endParaRPr/>
          </a:p>
        </p:txBody>
      </p:sp>
      <p:sp>
        <p:nvSpPr>
          <p:cNvPr id="670" name="Google Shape;670;h69a5e3ff789ebc32_1_1210"/>
          <p:cNvSpPr txBox="1"/>
          <p:nvPr/>
        </p:nvSpPr>
        <p:spPr>
          <a:xfrm>
            <a:off x="731520" y="3520440"/>
            <a:ext cx="1828800" cy="184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FFFFFF"/>
                </a:solidFill>
                <a:latin typeface="Montserrat"/>
                <a:ea typeface="Montserrat"/>
                <a:cs typeface="Montserrat"/>
                <a:sym typeface="Montserrat"/>
              </a:rPr>
              <a:t>TUJUAN</a:t>
            </a:r>
            <a:endParaRPr/>
          </a:p>
        </p:txBody>
      </p:sp>
      <p:sp>
        <p:nvSpPr>
          <p:cNvPr id="671" name="Google Shape;671;h69a5e3ff789ebc32_1_1210"/>
          <p:cNvSpPr/>
          <p:nvPr/>
        </p:nvSpPr>
        <p:spPr>
          <a:xfrm>
            <a:off x="288036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h69a5e3ff789ebc32_1_1210"/>
          <p:cNvSpPr txBox="1"/>
          <p:nvPr/>
        </p:nvSpPr>
        <p:spPr>
          <a:xfrm>
            <a:off x="2880360" y="1778987"/>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Kegiatan</a:t>
            </a:r>
            <a:endParaRPr/>
          </a:p>
        </p:txBody>
      </p:sp>
      <p:sp>
        <p:nvSpPr>
          <p:cNvPr id="673" name="Google Shape;673;h69a5e3ff789ebc32_1_1210"/>
          <p:cNvSpPr/>
          <p:nvPr/>
        </p:nvSpPr>
        <p:spPr>
          <a:xfrm>
            <a:off x="2880360" y="2029968"/>
            <a:ext cx="3886200" cy="4142100"/>
          </a:xfrm>
          <a:prstGeom prst="roundRect">
            <a:avLst>
              <a:gd fmla="val 51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h69a5e3ff789ebc32_1_1210"/>
          <p:cNvSpPr txBox="1"/>
          <p:nvPr/>
        </p:nvSpPr>
        <p:spPr>
          <a:xfrm>
            <a:off x="3044952" y="2286000"/>
            <a:ext cx="3612000" cy="24468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Sintesis lintas LPTK: peta mutu, pola celah, praktik baik</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Rekomendasi perbaikan pedoman, modul, dan instrumen pendampingan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Bahan presentasi untuk TF, Direktorat PPG, pemangku kepentingan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Serah terima repositori data dan bukti</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Log komentar: semua masukan TF dan Direktorat diakomodasi</a:t>
            </a:r>
            <a:endParaRPr/>
          </a:p>
        </p:txBody>
      </p:sp>
      <p:sp>
        <p:nvSpPr>
          <p:cNvPr id="675" name="Google Shape;675;h69a5e3ff789ebc32_1_1210"/>
          <p:cNvSpPr/>
          <p:nvPr/>
        </p:nvSpPr>
        <p:spPr>
          <a:xfrm>
            <a:off x="6858000" y="1737360"/>
            <a:ext cx="21030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h69a5e3ff789ebc32_1_1210"/>
          <p:cNvSpPr txBox="1"/>
          <p:nvPr/>
        </p:nvSpPr>
        <p:spPr>
          <a:xfrm>
            <a:off x="6858000" y="1778987"/>
            <a:ext cx="21030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200">
                <a:solidFill>
                  <a:srgbClr val="092647"/>
                </a:solidFill>
                <a:latin typeface="Montserrat"/>
                <a:ea typeface="Montserrat"/>
                <a:cs typeface="Montserrat"/>
                <a:sym typeface="Montserrat"/>
              </a:rPr>
              <a:t>Ukuran keberhasilan</a:t>
            </a:r>
            <a:endParaRPr/>
          </a:p>
        </p:txBody>
      </p:sp>
      <p:sp>
        <p:nvSpPr>
          <p:cNvPr id="677" name="Google Shape;677;h69a5e3ff789ebc32_1_1210"/>
          <p:cNvSpPr/>
          <p:nvPr/>
        </p:nvSpPr>
        <p:spPr>
          <a:xfrm>
            <a:off x="6858000" y="2029968"/>
            <a:ext cx="2651700" cy="4142100"/>
          </a:xfrm>
          <a:prstGeom prst="roundRect">
            <a:avLst>
              <a:gd fmla="val 758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h69a5e3ff789ebc32_1_1210"/>
          <p:cNvSpPr txBox="1"/>
          <p:nvPr/>
        </p:nvSpPr>
        <p:spPr>
          <a:xfrm>
            <a:off x="7022592" y="2286000"/>
            <a:ext cx="2377500" cy="22416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Setiap rekomendasi tertaut ke temuan berbukti</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100% komentar TF dan Direktorat tercatat dan dijawab</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Repositori diserahterimakan lengkap</a:t>
            </a:r>
            <a:endParaRPr/>
          </a:p>
        </p:txBody>
      </p:sp>
      <p:sp>
        <p:nvSpPr>
          <p:cNvPr id="679" name="Google Shape;679;h69a5e3ff789ebc32_1_1210"/>
          <p:cNvSpPr/>
          <p:nvPr/>
        </p:nvSpPr>
        <p:spPr>
          <a:xfrm>
            <a:off x="9601200" y="1737360"/>
            <a:ext cx="1828800" cy="3657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h69a5e3ff789ebc32_1_1210"/>
          <p:cNvSpPr txBox="1"/>
          <p:nvPr/>
        </p:nvSpPr>
        <p:spPr>
          <a:xfrm>
            <a:off x="9601200" y="1778987"/>
            <a:ext cx="1828800" cy="1848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lang="en-US" sz="1200">
                <a:solidFill>
                  <a:srgbClr val="092647"/>
                </a:solidFill>
                <a:latin typeface="Montserrat"/>
                <a:ea typeface="Montserrat"/>
                <a:cs typeface="Montserrat"/>
                <a:sym typeface="Montserrat"/>
              </a:rPr>
              <a:t>Output</a:t>
            </a:r>
            <a:r>
              <a:rPr b="1" i="0" lang="en-US" sz="1200">
                <a:solidFill>
                  <a:srgbClr val="092647"/>
                </a:solidFill>
                <a:latin typeface="Montserrat"/>
                <a:ea typeface="Montserrat"/>
                <a:cs typeface="Montserrat"/>
                <a:sym typeface="Montserrat"/>
              </a:rPr>
              <a:t> dan bukti</a:t>
            </a:r>
            <a:endParaRPr/>
          </a:p>
        </p:txBody>
      </p:sp>
      <p:sp>
        <p:nvSpPr>
          <p:cNvPr id="681" name="Google Shape;681;h69a5e3ff789ebc32_1_1210"/>
          <p:cNvSpPr/>
          <p:nvPr/>
        </p:nvSpPr>
        <p:spPr>
          <a:xfrm>
            <a:off x="9601200" y="2029968"/>
            <a:ext cx="1920300" cy="4142100"/>
          </a:xfrm>
          <a:prstGeom prst="roundRect">
            <a:avLst>
              <a:gd fmla="val 10476"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h69a5e3ff789ebc32_1_1210"/>
          <p:cNvSpPr txBox="1"/>
          <p:nvPr/>
        </p:nvSpPr>
        <p:spPr>
          <a:xfrm>
            <a:off x="9765792" y="2286000"/>
            <a:ext cx="1645800" cy="23442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Laporan sintesis lintas LPTK</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Rekomendasi pedoman dan instrumen</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Bahan presentasi</a:t>
            </a:r>
            <a:endParaRPr/>
          </a:p>
          <a:p>
            <a:pPr indent="-201168" lvl="0" marL="201168" marR="0" rtl="0" algn="l">
              <a:lnSpc>
                <a:spcPct val="110000"/>
              </a:lnSpc>
              <a:spcBef>
                <a:spcPts val="800"/>
              </a:spcBef>
              <a:spcAft>
                <a:spcPts val="0"/>
              </a:spcAft>
              <a:buClr>
                <a:srgbClr val="FFC00C"/>
              </a:buClr>
              <a:buSzPts val="1350"/>
              <a:buFont typeface="Arial"/>
              <a:buChar char="•"/>
            </a:pPr>
            <a:r>
              <a:rPr b="0" i="0" lang="en-US" sz="1350">
                <a:solidFill>
                  <a:srgbClr val="FFFFFF"/>
                </a:solidFill>
                <a:latin typeface="Montserrat"/>
                <a:ea typeface="Montserrat"/>
                <a:cs typeface="Montserrat"/>
                <a:sym typeface="Montserrat"/>
              </a:rPr>
              <a:t>Repositori data dan bukti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686" name="Shape 686"/>
        <p:cNvGrpSpPr/>
        <p:nvPr/>
      </p:nvGrpSpPr>
      <p:grpSpPr>
        <a:xfrm>
          <a:off x="0" y="0"/>
          <a:ext cx="0" cy="0"/>
          <a:chOff x="0" y="0"/>
          <a:chExt cx="0" cy="0"/>
        </a:xfrm>
      </p:grpSpPr>
      <p:pic>
        <p:nvPicPr>
          <p:cNvPr descr="logo_white.png" id="687" name="Google Shape;687;h69a5e3ff789ebc32_1_1233"/>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688" name="Google Shape;688;h69a5e3ff789ebc32_1_1233"/>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689" name="Google Shape;689;h69a5e3ff789ebc32_1_123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13</a:t>
            </a:r>
            <a:endParaRPr/>
          </a:p>
        </p:txBody>
      </p:sp>
      <p:sp>
        <p:nvSpPr>
          <p:cNvPr id="690" name="Google Shape;690;h69a5e3ff789ebc32_1_1233"/>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PENDEKATAN TEKNIS · PENERJEMAH KE BAHASA AKREDITASI</a:t>
            </a:r>
            <a:endParaRPr/>
          </a:p>
        </p:txBody>
      </p:sp>
      <p:sp>
        <p:nvSpPr>
          <p:cNvPr id="691" name="Google Shape;691;h69a5e3ff789ebc32_1_1233"/>
          <p:cNvSpPr txBox="1"/>
          <p:nvPr/>
        </p:nvSpPr>
        <p:spPr>
          <a:xfrm>
            <a:off x="594360" y="658368"/>
            <a:ext cx="110031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200">
                <a:solidFill>
                  <a:srgbClr val="FFFFFF"/>
                </a:solidFill>
                <a:latin typeface="Montserrat ExtraBold"/>
                <a:ea typeface="Montserrat ExtraBold"/>
                <a:cs typeface="Montserrat ExtraBold"/>
                <a:sym typeface="Montserrat ExtraBold"/>
              </a:rPr>
              <a:t>Readiness Scorecard: rubrik LAMDIK sebagai lapisan kedua dari 5 fokus Tan</a:t>
            </a:r>
            <a:r>
              <a:rPr lang="en-US" sz="2200">
                <a:solidFill>
                  <a:srgbClr val="FFFFFF"/>
                </a:solidFill>
                <a:latin typeface="Montserrat ExtraBold"/>
                <a:ea typeface="Montserrat ExtraBold"/>
                <a:cs typeface="Montserrat ExtraBold"/>
                <a:sym typeface="Montserrat ExtraBold"/>
              </a:rPr>
              <a:t>oto </a:t>
            </a:r>
            <a:r>
              <a:rPr b="0" i="0" lang="en-US" sz="2200">
                <a:solidFill>
                  <a:srgbClr val="FFFFFF"/>
                </a:solidFill>
                <a:latin typeface="Montserrat ExtraBold"/>
                <a:ea typeface="Montserrat ExtraBold"/>
                <a:cs typeface="Montserrat ExtraBold"/>
                <a:sym typeface="Montserrat ExtraBold"/>
              </a:rPr>
              <a:t>Foundation</a:t>
            </a:r>
            <a:endParaRPr/>
          </a:p>
        </p:txBody>
      </p:sp>
      <p:graphicFrame>
        <p:nvGraphicFramePr>
          <p:cNvPr id="692" name="Google Shape;692;h69a5e3ff789ebc32_1_1233"/>
          <p:cNvGraphicFramePr/>
          <p:nvPr/>
        </p:nvGraphicFramePr>
        <p:xfrm>
          <a:off x="594360" y="1645920"/>
          <a:ext cx="3000000" cy="3000000"/>
        </p:xfrm>
        <a:graphic>
          <a:graphicData uri="http://schemas.openxmlformats.org/drawingml/2006/table">
            <a:tbl>
              <a:tblPr>
                <a:noFill/>
                <a:tableStyleId>{C2C3853E-632C-4474-B46B-82691FB0C724}</a:tableStyleId>
              </a:tblPr>
              <a:tblGrid>
                <a:gridCol w="2011675"/>
                <a:gridCol w="3063250"/>
                <a:gridCol w="3200400"/>
                <a:gridCol w="2724900"/>
              </a:tblGrid>
              <a:tr h="420625">
                <a:tc>
                  <a:txBody>
                    <a:bodyPr/>
                    <a:lstStyle/>
                    <a:p>
                      <a:pPr indent="0" lvl="0" marL="0" marR="0" rtl="0" algn="l">
                        <a:lnSpc>
                          <a:spcPct val="105000"/>
                        </a:lnSpc>
                        <a:spcBef>
                          <a:spcPts val="0"/>
                        </a:spcBef>
                        <a:spcAft>
                          <a:spcPts val="0"/>
                        </a:spcAft>
                        <a:buNone/>
                      </a:pPr>
                      <a:r>
                        <a:rPr b="1" i="0" lang="en-US" sz="1150" u="none" cap="none" strike="noStrike">
                          <a:solidFill>
                            <a:srgbClr val="092647"/>
                          </a:solidFill>
                          <a:latin typeface="Montserrat"/>
                          <a:ea typeface="Montserrat"/>
                          <a:cs typeface="Montserrat"/>
                          <a:sym typeface="Montserrat"/>
                        </a:rPr>
                        <a:t>Elemen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150" u="none" cap="none" strike="noStrike">
                          <a:solidFill>
                            <a:srgbClr val="092647"/>
                          </a:solidFill>
                          <a:latin typeface="Montserrat"/>
                          <a:ea typeface="Montserrat"/>
                          <a:cs typeface="Montserrat"/>
                          <a:sym typeface="Montserrat"/>
                        </a:rPr>
                        <a:t>Syarat perlu (PPG)</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150" u="none" cap="none" strike="noStrike">
                          <a:solidFill>
                            <a:srgbClr val="092647"/>
                          </a:solidFill>
                          <a:latin typeface="Montserrat"/>
                          <a:ea typeface="Montserrat"/>
                          <a:cs typeface="Montserrat"/>
                          <a:sym typeface="Montserrat"/>
                        </a:rPr>
                        <a:t>Skor 4 (melampaui)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150" u="none" cap="none" strike="noStrike">
                          <a:solidFill>
                            <a:srgbClr val="092647"/>
                          </a:solidFill>
                          <a:latin typeface="Montserrat"/>
                          <a:ea typeface="Montserrat"/>
                          <a:cs typeface="Montserrat"/>
                          <a:sym typeface="Montserrat"/>
                        </a:rPr>
                        <a:t>Bukti kunci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r>
              <a:tr h="60350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1  Kualitas DTPS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≥20% doktor; ≥3 DTPS lektor kepala</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≥40% doktor dan ≥70% berjabatan lektor ke atas; dianalisis dampaknya</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Ijazah, SK jabatan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60350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2  Kurikulum (CPL)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≥15% MK penciri dinilai CPL, dievaluasi, ditindaklanjuti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≥20% MK penciri; evaluasi rinci dan komprehensif</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Laporan asesmen CPL, target vs capaian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60350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3  Pembelajaran mikro</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Lab lengkap, ≥2 praktik, 8 keterampilan, refleksi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Lab terawat, ≥3 praktik per mahasiswa</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RPS, lembar observasi, rubrik, inventaris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60350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4  SPMI (PPEPP)</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Lima tahap siklus dilaksanakan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Lima tahap berbasis TI, SN-Dikti dan standar PT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Notulen, berita acara, laporan SPMI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60350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5  Publikasi DTPS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≥20% DTPS Sinta 2/Scopus/WoS, 3 tahun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≥20% dan analisis tren, faktor, dampak</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DOI, tautan, rekapitulasi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bl>
          </a:graphicData>
        </a:graphic>
      </p:graphicFrame>
      <p:sp>
        <p:nvSpPr>
          <p:cNvPr id="693" name="Google Shape;693;h69a5e3ff789ebc32_1_1233"/>
          <p:cNvSpPr txBox="1"/>
          <p:nvPr/>
        </p:nvSpPr>
        <p:spPr>
          <a:xfrm>
            <a:off x="594360" y="5349240"/>
            <a:ext cx="5212200" cy="37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Skala 1–4 </a:t>
            </a:r>
            <a:r>
              <a:rPr b="0" i="0" lang="en-US" sz="1150">
                <a:solidFill>
                  <a:srgbClr val="FFFFFF"/>
                </a:solidFill>
                <a:latin typeface="Montserrat"/>
                <a:ea typeface="Montserrat"/>
                <a:cs typeface="Montserrat"/>
                <a:sym typeface="Montserrat"/>
              </a:rPr>
              <a:t>dinilai asesor (expert judgement). Kami memakai skala yang sama pada baseline, pemantauan, dan akhir.</a:t>
            </a:r>
            <a:endParaRPr/>
          </a:p>
        </p:txBody>
      </p:sp>
      <p:sp>
        <p:nvSpPr>
          <p:cNvPr id="694" name="Google Shape;694;h69a5e3ff789ebc32_1_1233"/>
          <p:cNvSpPr txBox="1"/>
          <p:nvPr/>
        </p:nvSpPr>
        <p:spPr>
          <a:xfrm>
            <a:off x="6080760" y="5349240"/>
            <a:ext cx="5486400" cy="566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Catatan konversi: </a:t>
            </a:r>
            <a:r>
              <a:rPr b="0" i="0" lang="en-US" sz="1150">
                <a:solidFill>
                  <a:srgbClr val="FFFFFF"/>
                </a:solidFill>
                <a:latin typeface="Montserrat"/>
                <a:ea typeface="Montserrat"/>
                <a:cs typeface="Montserrat"/>
                <a:sym typeface="Montserrat"/>
              </a:rPr>
              <a:t>hanya prodi PPG berperingkat Baik Sekali dengan nilai 321–360 yang dapat mengajukan konversi ke Unggul Tiga Tahun. Kesiapan tiap LPTK dipilah di Laporan Awal, agar target realistis.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698" name="Shape 698"/>
        <p:cNvGrpSpPr/>
        <p:nvPr/>
      </p:nvGrpSpPr>
      <p:grpSpPr>
        <a:xfrm>
          <a:off x="0" y="0"/>
          <a:ext cx="0" cy="0"/>
          <a:chOff x="0" y="0"/>
          <a:chExt cx="0" cy="0"/>
        </a:xfrm>
      </p:grpSpPr>
      <p:pic>
        <p:nvPicPr>
          <p:cNvPr descr="logo_white.png" id="699" name="Google Shape;699;h69a5e3ff789ebc32_1_1244"/>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700" name="Google Shape;700;h69a5e3ff789ebc32_1_1244"/>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701" name="Google Shape;701;h69a5e3ff789ebc32_1_1244"/>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14</a:t>
            </a:r>
            <a:endParaRPr/>
          </a:p>
        </p:txBody>
      </p:sp>
      <p:sp>
        <p:nvSpPr>
          <p:cNvPr id="702" name="Google Shape;702;h69a5e3ff789ebc32_1_1244"/>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PENDEKATAN TEKNIS · PENGELOLAAN BUKTI DAN TINDAK LANJUT</a:t>
            </a:r>
            <a:endParaRPr/>
          </a:p>
        </p:txBody>
      </p:sp>
      <p:sp>
        <p:nvSpPr>
          <p:cNvPr id="703" name="Google Shape;703;h69a5e3ff789ebc32_1_1244"/>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Evidence Register dan Gap-to-Action Tracker</a:t>
            </a:r>
            <a:endParaRPr/>
          </a:p>
        </p:txBody>
      </p:sp>
      <p:sp>
        <p:nvSpPr>
          <p:cNvPr id="704" name="Google Shape;704;h69a5e3ff789ebc32_1_1244"/>
          <p:cNvSpPr/>
          <p:nvPr/>
        </p:nvSpPr>
        <p:spPr>
          <a:xfrm>
            <a:off x="594360" y="1783080"/>
            <a:ext cx="5394900" cy="3383400"/>
          </a:xfrm>
          <a:prstGeom prst="roundRect">
            <a:avLst>
              <a:gd fmla="val 7567"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atabase_FFFFFF.png" id="705" name="Google Shape;705;h69a5e3ff789ebc32_1_1244"/>
          <p:cNvPicPr preferRelativeResize="0"/>
          <p:nvPr/>
        </p:nvPicPr>
        <p:blipFill rotWithShape="1">
          <a:blip r:embed="rId4">
            <a:alphaModFix/>
          </a:blip>
          <a:srcRect b="0" l="0" r="0" t="0"/>
          <a:stretch/>
        </p:blipFill>
        <p:spPr>
          <a:xfrm>
            <a:off x="868680" y="1965960"/>
            <a:ext cx="502920" cy="502920"/>
          </a:xfrm>
          <a:prstGeom prst="rect">
            <a:avLst/>
          </a:prstGeom>
          <a:noFill/>
          <a:ln>
            <a:noFill/>
          </a:ln>
        </p:spPr>
      </p:pic>
      <p:sp>
        <p:nvSpPr>
          <p:cNvPr id="706" name="Google Shape;706;h69a5e3ff789ebc32_1_1244"/>
          <p:cNvSpPr txBox="1"/>
          <p:nvPr/>
        </p:nvSpPr>
        <p:spPr>
          <a:xfrm>
            <a:off x="1508760" y="1965960"/>
            <a:ext cx="4297800" cy="3078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2000">
                <a:solidFill>
                  <a:srgbClr val="FFFFFF"/>
                </a:solidFill>
                <a:latin typeface="Montserrat ExtraBold"/>
                <a:ea typeface="Montserrat ExtraBold"/>
                <a:cs typeface="Montserrat ExtraBold"/>
                <a:sym typeface="Montserrat ExtraBold"/>
              </a:rPr>
              <a:t>Evidence Register</a:t>
            </a:r>
            <a:endParaRPr/>
          </a:p>
        </p:txBody>
      </p:sp>
      <p:sp>
        <p:nvSpPr>
          <p:cNvPr id="707" name="Google Shape;707;h69a5e3ff789ebc32_1_1244"/>
          <p:cNvSpPr txBox="1"/>
          <p:nvPr/>
        </p:nvSpPr>
        <p:spPr>
          <a:xfrm>
            <a:off x="868680" y="2606040"/>
            <a:ext cx="4937700" cy="404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50">
                <a:solidFill>
                  <a:srgbClr val="FFFFFF"/>
                </a:solidFill>
                <a:latin typeface="Montserrat"/>
                <a:ea typeface="Montserrat"/>
                <a:cs typeface="Montserrat"/>
                <a:sym typeface="Montserrat"/>
              </a:rPr>
              <a:t>Semua bukti tiap elemen tiap LPTK tercatat dan dapat ditelusuri.</a:t>
            </a:r>
            <a:endParaRPr/>
          </a:p>
        </p:txBody>
      </p:sp>
      <p:sp>
        <p:nvSpPr>
          <p:cNvPr id="708" name="Google Shape;708;h69a5e3ff789ebc32_1_1244"/>
          <p:cNvSpPr/>
          <p:nvPr/>
        </p:nvSpPr>
        <p:spPr>
          <a:xfrm>
            <a:off x="868680" y="3246120"/>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h69a5e3ff789ebc32_1_1244"/>
          <p:cNvSpPr txBox="1"/>
          <p:nvPr/>
        </p:nvSpPr>
        <p:spPr>
          <a:xfrm>
            <a:off x="868680" y="3333100"/>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ID bukti</a:t>
            </a:r>
            <a:endParaRPr/>
          </a:p>
        </p:txBody>
      </p:sp>
      <p:sp>
        <p:nvSpPr>
          <p:cNvPr id="710" name="Google Shape;710;h69a5e3ff789ebc32_1_1244"/>
          <p:cNvSpPr/>
          <p:nvPr/>
        </p:nvSpPr>
        <p:spPr>
          <a:xfrm>
            <a:off x="3337560" y="3246120"/>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h69a5e3ff789ebc32_1_1244"/>
          <p:cNvSpPr txBox="1"/>
          <p:nvPr/>
        </p:nvSpPr>
        <p:spPr>
          <a:xfrm>
            <a:off x="3337560" y="3333100"/>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Elemen</a:t>
            </a:r>
            <a:endParaRPr/>
          </a:p>
        </p:txBody>
      </p:sp>
      <p:sp>
        <p:nvSpPr>
          <p:cNvPr id="712" name="Google Shape;712;h69a5e3ff789ebc32_1_1244"/>
          <p:cNvSpPr/>
          <p:nvPr/>
        </p:nvSpPr>
        <p:spPr>
          <a:xfrm>
            <a:off x="868680" y="3685031"/>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h69a5e3ff789ebc32_1_1244"/>
          <p:cNvSpPr txBox="1"/>
          <p:nvPr/>
        </p:nvSpPr>
        <p:spPr>
          <a:xfrm>
            <a:off x="868680" y="3772011"/>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Jenis dokumen</a:t>
            </a:r>
            <a:endParaRPr/>
          </a:p>
        </p:txBody>
      </p:sp>
      <p:sp>
        <p:nvSpPr>
          <p:cNvPr id="714" name="Google Shape;714;h69a5e3ff789ebc32_1_1244"/>
          <p:cNvSpPr/>
          <p:nvPr/>
        </p:nvSpPr>
        <p:spPr>
          <a:xfrm>
            <a:off x="3337560" y="3685031"/>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h69a5e3ff789ebc32_1_1244"/>
          <p:cNvSpPr txBox="1"/>
          <p:nvPr/>
        </p:nvSpPr>
        <p:spPr>
          <a:xfrm>
            <a:off x="3337560" y="3772011"/>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Sumber</a:t>
            </a:r>
            <a:endParaRPr/>
          </a:p>
        </p:txBody>
      </p:sp>
      <p:sp>
        <p:nvSpPr>
          <p:cNvPr id="716" name="Google Shape;716;h69a5e3ff789ebc32_1_1244"/>
          <p:cNvSpPr/>
          <p:nvPr/>
        </p:nvSpPr>
        <p:spPr>
          <a:xfrm>
            <a:off x="868680" y="4123944"/>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h69a5e3ff789ebc32_1_1244"/>
          <p:cNvSpPr txBox="1"/>
          <p:nvPr/>
        </p:nvSpPr>
        <p:spPr>
          <a:xfrm>
            <a:off x="868680" y="4210924"/>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Tanggal</a:t>
            </a:r>
            <a:endParaRPr/>
          </a:p>
        </p:txBody>
      </p:sp>
      <p:sp>
        <p:nvSpPr>
          <p:cNvPr id="718" name="Google Shape;718;h69a5e3ff789ebc32_1_1244"/>
          <p:cNvSpPr/>
          <p:nvPr/>
        </p:nvSpPr>
        <p:spPr>
          <a:xfrm>
            <a:off x="3337560" y="4123944"/>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h69a5e3ff789ebc32_1_1244"/>
          <p:cNvSpPr txBox="1"/>
          <p:nvPr/>
        </p:nvSpPr>
        <p:spPr>
          <a:xfrm>
            <a:off x="3337560" y="4210924"/>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Tautan berkas</a:t>
            </a:r>
            <a:endParaRPr/>
          </a:p>
        </p:txBody>
      </p:sp>
      <p:sp>
        <p:nvSpPr>
          <p:cNvPr id="720" name="Google Shape;720;h69a5e3ff789ebc32_1_1244"/>
          <p:cNvSpPr/>
          <p:nvPr/>
        </p:nvSpPr>
        <p:spPr>
          <a:xfrm>
            <a:off x="868680" y="4562856"/>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h69a5e3ff789ebc32_1_1244"/>
          <p:cNvSpPr txBox="1"/>
          <p:nvPr/>
        </p:nvSpPr>
        <p:spPr>
          <a:xfrm>
            <a:off x="868680" y="4649836"/>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Status</a:t>
            </a:r>
            <a:endParaRPr/>
          </a:p>
        </p:txBody>
      </p:sp>
      <p:sp>
        <p:nvSpPr>
          <p:cNvPr id="722" name="Google Shape;722;h69a5e3ff789ebc32_1_1244"/>
          <p:cNvSpPr/>
          <p:nvPr/>
        </p:nvSpPr>
        <p:spPr>
          <a:xfrm>
            <a:off x="3337560" y="4562856"/>
            <a:ext cx="2331600" cy="347400"/>
          </a:xfrm>
          <a:prstGeom prst="roundRect">
            <a:avLst>
              <a:gd fmla="val 50000" name="adj"/>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h69a5e3ff789ebc32_1_1244"/>
          <p:cNvSpPr txBox="1"/>
          <p:nvPr/>
        </p:nvSpPr>
        <p:spPr>
          <a:xfrm>
            <a:off x="3337560" y="4649836"/>
            <a:ext cx="2331600" cy="1692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FFFF"/>
                </a:solidFill>
                <a:latin typeface="Montserrat"/>
                <a:ea typeface="Montserrat"/>
                <a:cs typeface="Montserrat"/>
                <a:sym typeface="Montserrat"/>
              </a:rPr>
              <a:t>Verifikator</a:t>
            </a:r>
            <a:endParaRPr/>
          </a:p>
        </p:txBody>
      </p:sp>
      <p:sp>
        <p:nvSpPr>
          <p:cNvPr id="724" name="Google Shape;724;h69a5e3ff789ebc32_1_1244"/>
          <p:cNvSpPr/>
          <p:nvPr/>
        </p:nvSpPr>
        <p:spPr>
          <a:xfrm>
            <a:off x="6199632" y="1783080"/>
            <a:ext cx="5394900" cy="3383400"/>
          </a:xfrm>
          <a:prstGeom prst="roundRect">
            <a:avLst>
              <a:gd fmla="val 7567" name="adj"/>
            </a:avLst>
          </a:prstGeom>
          <a:solidFill>
            <a:srgbClr val="0D2A4E"/>
          </a:solidFill>
          <a:ln cap="flat" cmpd="sng" w="2857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flag_FFC00C.png" id="725" name="Google Shape;725;h69a5e3ff789ebc32_1_1244"/>
          <p:cNvPicPr preferRelativeResize="0"/>
          <p:nvPr/>
        </p:nvPicPr>
        <p:blipFill rotWithShape="1">
          <a:blip r:embed="rId5">
            <a:alphaModFix/>
          </a:blip>
          <a:srcRect b="0" l="0" r="0" t="0"/>
          <a:stretch/>
        </p:blipFill>
        <p:spPr>
          <a:xfrm>
            <a:off x="6473952" y="1965960"/>
            <a:ext cx="502920" cy="502920"/>
          </a:xfrm>
          <a:prstGeom prst="rect">
            <a:avLst/>
          </a:prstGeom>
          <a:noFill/>
          <a:ln>
            <a:noFill/>
          </a:ln>
        </p:spPr>
      </p:pic>
      <p:sp>
        <p:nvSpPr>
          <p:cNvPr id="726" name="Google Shape;726;h69a5e3ff789ebc32_1_1244"/>
          <p:cNvSpPr txBox="1"/>
          <p:nvPr/>
        </p:nvSpPr>
        <p:spPr>
          <a:xfrm>
            <a:off x="7114032" y="1965960"/>
            <a:ext cx="4297800" cy="3078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2000">
                <a:solidFill>
                  <a:srgbClr val="FFFFFF"/>
                </a:solidFill>
                <a:latin typeface="Montserrat ExtraBold"/>
                <a:ea typeface="Montserrat ExtraBold"/>
                <a:cs typeface="Montserrat ExtraBold"/>
                <a:sym typeface="Montserrat ExtraBold"/>
              </a:rPr>
              <a:t>Gap-to-Action Tracker</a:t>
            </a:r>
            <a:endParaRPr/>
          </a:p>
        </p:txBody>
      </p:sp>
      <p:sp>
        <p:nvSpPr>
          <p:cNvPr id="727" name="Google Shape;727;h69a5e3ff789ebc32_1_1244"/>
          <p:cNvSpPr txBox="1"/>
          <p:nvPr/>
        </p:nvSpPr>
        <p:spPr>
          <a:xfrm>
            <a:off x="6473952" y="2606040"/>
            <a:ext cx="4937700" cy="404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250">
                <a:solidFill>
                  <a:srgbClr val="FFFFFF"/>
                </a:solidFill>
                <a:latin typeface="Montserrat"/>
                <a:ea typeface="Montserrat"/>
                <a:cs typeface="Montserrat"/>
                <a:sym typeface="Montserrat"/>
              </a:rPr>
              <a:t>Setiap celah bukti menjadi tindakan yang bertanggung jawab dan bertenggat.</a:t>
            </a:r>
            <a:endParaRPr/>
          </a:p>
        </p:txBody>
      </p:sp>
      <p:sp>
        <p:nvSpPr>
          <p:cNvPr id="728" name="Google Shape;728;h69a5e3ff789ebc32_1_1244"/>
          <p:cNvSpPr/>
          <p:nvPr/>
        </p:nvSpPr>
        <p:spPr>
          <a:xfrm>
            <a:off x="6473952" y="3291840"/>
            <a:ext cx="1508700" cy="4116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h69a5e3ff789ebc32_1_1244"/>
          <p:cNvSpPr txBox="1"/>
          <p:nvPr/>
        </p:nvSpPr>
        <p:spPr>
          <a:xfrm>
            <a:off x="6473952" y="3407813"/>
            <a:ext cx="1508700" cy="177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092647"/>
                </a:solidFill>
                <a:latin typeface="Montserrat"/>
                <a:ea typeface="Montserrat"/>
                <a:cs typeface="Montserrat"/>
                <a:sym typeface="Montserrat"/>
              </a:rPr>
              <a:t>Celah</a:t>
            </a:r>
            <a:endParaRPr/>
          </a:p>
        </p:txBody>
      </p:sp>
      <p:sp>
        <p:nvSpPr>
          <p:cNvPr id="730" name="Google Shape;730;h69a5e3ff789ebc32_1_1244"/>
          <p:cNvSpPr/>
          <p:nvPr/>
        </p:nvSpPr>
        <p:spPr>
          <a:xfrm>
            <a:off x="8165592" y="3291840"/>
            <a:ext cx="1508700" cy="4116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h69a5e3ff789ebc32_1_1244"/>
          <p:cNvSpPr txBox="1"/>
          <p:nvPr/>
        </p:nvSpPr>
        <p:spPr>
          <a:xfrm>
            <a:off x="8165592" y="3407813"/>
            <a:ext cx="1508700" cy="177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092647"/>
                </a:solidFill>
                <a:latin typeface="Montserrat"/>
                <a:ea typeface="Montserrat"/>
                <a:cs typeface="Montserrat"/>
                <a:sym typeface="Montserrat"/>
              </a:rPr>
              <a:t>Tindakan</a:t>
            </a:r>
            <a:endParaRPr/>
          </a:p>
        </p:txBody>
      </p:sp>
      <p:sp>
        <p:nvSpPr>
          <p:cNvPr id="732" name="Google Shape;732;h69a5e3ff789ebc32_1_1244"/>
          <p:cNvSpPr/>
          <p:nvPr/>
        </p:nvSpPr>
        <p:spPr>
          <a:xfrm>
            <a:off x="9857232" y="3291840"/>
            <a:ext cx="1508700" cy="4116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h69a5e3ff789ebc32_1_1244"/>
          <p:cNvSpPr txBox="1"/>
          <p:nvPr/>
        </p:nvSpPr>
        <p:spPr>
          <a:xfrm>
            <a:off x="9857232" y="3407813"/>
            <a:ext cx="1508700" cy="177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092647"/>
                </a:solidFill>
                <a:latin typeface="Montserrat"/>
                <a:ea typeface="Montserrat"/>
                <a:cs typeface="Montserrat"/>
                <a:sym typeface="Montserrat"/>
              </a:rPr>
              <a:t>PIC</a:t>
            </a:r>
            <a:endParaRPr/>
          </a:p>
        </p:txBody>
      </p:sp>
      <p:sp>
        <p:nvSpPr>
          <p:cNvPr id="734" name="Google Shape;734;h69a5e3ff789ebc32_1_1244"/>
          <p:cNvSpPr/>
          <p:nvPr/>
        </p:nvSpPr>
        <p:spPr>
          <a:xfrm>
            <a:off x="6473952" y="3977639"/>
            <a:ext cx="1508700" cy="4116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h69a5e3ff789ebc32_1_1244"/>
          <p:cNvSpPr txBox="1"/>
          <p:nvPr/>
        </p:nvSpPr>
        <p:spPr>
          <a:xfrm>
            <a:off x="6473952" y="4093612"/>
            <a:ext cx="1508700" cy="177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092647"/>
                </a:solidFill>
                <a:latin typeface="Montserrat"/>
                <a:ea typeface="Montserrat"/>
                <a:cs typeface="Montserrat"/>
                <a:sym typeface="Montserrat"/>
              </a:rPr>
              <a:t>Tenggat</a:t>
            </a:r>
            <a:endParaRPr/>
          </a:p>
        </p:txBody>
      </p:sp>
      <p:sp>
        <p:nvSpPr>
          <p:cNvPr id="736" name="Google Shape;736;h69a5e3ff789ebc32_1_1244"/>
          <p:cNvSpPr/>
          <p:nvPr/>
        </p:nvSpPr>
        <p:spPr>
          <a:xfrm>
            <a:off x="8165592" y="3977639"/>
            <a:ext cx="1508700" cy="4116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h69a5e3ff789ebc32_1_1244"/>
          <p:cNvSpPr txBox="1"/>
          <p:nvPr/>
        </p:nvSpPr>
        <p:spPr>
          <a:xfrm>
            <a:off x="8165592" y="4093612"/>
            <a:ext cx="1508700" cy="177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092647"/>
                </a:solidFill>
                <a:latin typeface="Montserrat"/>
                <a:ea typeface="Montserrat"/>
                <a:cs typeface="Montserrat"/>
                <a:sym typeface="Montserrat"/>
              </a:rPr>
              <a:t>Status</a:t>
            </a:r>
            <a:endParaRPr/>
          </a:p>
        </p:txBody>
      </p:sp>
      <p:sp>
        <p:nvSpPr>
          <p:cNvPr id="738" name="Google Shape;738;h69a5e3ff789ebc32_1_1244"/>
          <p:cNvSpPr/>
          <p:nvPr/>
        </p:nvSpPr>
        <p:spPr>
          <a:xfrm>
            <a:off x="9857232" y="3977639"/>
            <a:ext cx="1508700" cy="4116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h69a5e3ff789ebc32_1_1244"/>
          <p:cNvSpPr txBox="1"/>
          <p:nvPr/>
        </p:nvSpPr>
        <p:spPr>
          <a:xfrm>
            <a:off x="9857232" y="4093612"/>
            <a:ext cx="1508700" cy="1770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150">
                <a:solidFill>
                  <a:srgbClr val="092647"/>
                </a:solidFill>
                <a:latin typeface="Montserrat"/>
                <a:ea typeface="Montserrat"/>
                <a:cs typeface="Montserrat"/>
                <a:sym typeface="Montserrat"/>
              </a:rPr>
              <a:t>Bukti penutup</a:t>
            </a:r>
            <a:endParaRPr/>
          </a:p>
        </p:txBody>
      </p:sp>
      <p:sp>
        <p:nvSpPr>
          <p:cNvPr id="740" name="Google Shape;740;h69a5e3ff789ebc32_1_1244"/>
          <p:cNvSpPr txBox="1"/>
          <p:nvPr/>
        </p:nvSpPr>
        <p:spPr>
          <a:xfrm>
            <a:off x="6473952" y="4663440"/>
            <a:ext cx="49377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Status: rencana  →  berjalan  →  selesai  →  terbukti</a:t>
            </a:r>
            <a:endParaRPr/>
          </a:p>
        </p:txBody>
      </p:sp>
      <p:sp>
        <p:nvSpPr>
          <p:cNvPr id="741" name="Google Shape;741;h69a5e3ff789ebc32_1_1244"/>
          <p:cNvSpPr txBox="1"/>
          <p:nvPr/>
        </p:nvSpPr>
        <p:spPr>
          <a:xfrm>
            <a:off x="594360" y="5394960"/>
            <a:ext cx="11003100" cy="436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Status bukti: </a:t>
            </a:r>
            <a:r>
              <a:rPr b="0" i="0" lang="en-US" sz="1350">
                <a:solidFill>
                  <a:srgbClr val="FFFFFF"/>
                </a:solidFill>
                <a:latin typeface="Montserrat"/>
                <a:ea typeface="Montserrat"/>
                <a:cs typeface="Montserrat"/>
                <a:sym typeface="Montserrat"/>
              </a:rPr>
              <a:t>Terverifikasi  ·  Diklaim  ·  Belum ada.  Prinsip: tidak ada bukti yang dibuat atau direkayasa. Klaim tanpa dokumen dicatat sebagai diklaim, bukan terverifikasi. Ini menjawab prinsip mutu </a:t>
            </a:r>
            <a:r>
              <a:rPr lang="en-US" sz="1350">
                <a:solidFill>
                  <a:srgbClr val="FFFFFF"/>
                </a:solidFill>
                <a:latin typeface="Montserrat"/>
                <a:ea typeface="Montserrat"/>
                <a:cs typeface="Montserrat"/>
                <a:sym typeface="Montserrat"/>
              </a:rPr>
              <a:t>Output</a:t>
            </a:r>
            <a:r>
              <a:rPr b="0" i="0" lang="en-US" sz="1350">
                <a:solidFill>
                  <a:srgbClr val="FFFFFF"/>
                </a:solidFill>
                <a:latin typeface="Montserrat"/>
                <a:ea typeface="Montserrat"/>
                <a:cs typeface="Montserrat"/>
                <a:sym typeface="Montserrat"/>
              </a:rPr>
              <a:t> Tanoto Foundation: dapat ditelusuri.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745" name="Shape 745"/>
        <p:cNvGrpSpPr/>
        <p:nvPr/>
      </p:nvGrpSpPr>
      <p:grpSpPr>
        <a:xfrm>
          <a:off x="0" y="0"/>
          <a:ext cx="0" cy="0"/>
          <a:chOff x="0" y="0"/>
          <a:chExt cx="0" cy="0"/>
        </a:xfrm>
      </p:grpSpPr>
      <p:pic>
        <p:nvPicPr>
          <p:cNvPr descr="logo_white.png" id="746" name="Google Shape;746;h69a5e3ff789ebc32_1_1290"/>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747" name="Google Shape;747;h69a5e3ff789ebc32_1_1290"/>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748" name="Google Shape;748;h69a5e3ff789ebc32_1_1290"/>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15</a:t>
            </a:r>
            <a:endParaRPr/>
          </a:p>
        </p:txBody>
      </p:sp>
      <p:sp>
        <p:nvSpPr>
          <p:cNvPr id="749" name="Google Shape;749;h69a5e3ff789ebc32_1_1290"/>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PENDEKATAN TEKNIS · METODE STUDI KOMPARATIF</a:t>
            </a:r>
            <a:endParaRPr/>
          </a:p>
        </p:txBody>
      </p:sp>
      <p:sp>
        <p:nvSpPr>
          <p:cNvPr id="750" name="Google Shape;750;h69a5e3ff789ebc32_1_1290"/>
          <p:cNvSpPr txBox="1"/>
          <p:nvPr/>
        </p:nvSpPr>
        <p:spPr>
          <a:xfrm>
            <a:off x="594360" y="658368"/>
            <a:ext cx="11003100" cy="354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300">
                <a:solidFill>
                  <a:srgbClr val="FFFFFF"/>
                </a:solidFill>
                <a:latin typeface="Montserrat ExtraBold"/>
                <a:ea typeface="Montserrat ExtraBold"/>
                <a:cs typeface="Montserrat ExtraBold"/>
                <a:sym typeface="Montserrat ExtraBold"/>
              </a:rPr>
              <a:t>Dua basis pembanding</a:t>
            </a:r>
            <a:endParaRPr/>
          </a:p>
        </p:txBody>
      </p:sp>
      <p:sp>
        <p:nvSpPr>
          <p:cNvPr id="751" name="Google Shape;751;h69a5e3ff789ebc32_1_1290"/>
          <p:cNvSpPr/>
          <p:nvPr/>
        </p:nvSpPr>
        <p:spPr>
          <a:xfrm>
            <a:off x="594360" y="1600200"/>
            <a:ext cx="5440800" cy="1691700"/>
          </a:xfrm>
          <a:prstGeom prst="roundRect">
            <a:avLst>
              <a:gd fmla="val 1081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h69a5e3ff789ebc32_1_1290"/>
          <p:cNvSpPr txBox="1"/>
          <p:nvPr/>
        </p:nvSpPr>
        <p:spPr>
          <a:xfrm>
            <a:off x="795528" y="1691640"/>
            <a:ext cx="50292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C00C"/>
                </a:solidFill>
                <a:latin typeface="Montserrat ExtraBold"/>
                <a:ea typeface="Montserrat ExtraBold"/>
                <a:cs typeface="Montserrat ExtraBold"/>
                <a:sym typeface="Montserrat ExtraBold"/>
              </a:rPr>
              <a:t>Basis Supervisi 2025</a:t>
            </a:r>
            <a:endParaRPr/>
          </a:p>
        </p:txBody>
      </p:sp>
      <p:sp>
        <p:nvSpPr>
          <p:cNvPr id="753" name="Google Shape;753;h69a5e3ff789ebc32_1_1290"/>
          <p:cNvSpPr txBox="1"/>
          <p:nvPr/>
        </p:nvSpPr>
        <p:spPr>
          <a:xfrm>
            <a:off x="795528" y="2011680"/>
            <a:ext cx="5029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B0C0CF"/>
                </a:solidFill>
                <a:latin typeface="Montserrat"/>
                <a:ea typeface="Montserrat"/>
                <a:cs typeface="Montserrat"/>
                <a:sym typeface="Montserrat"/>
              </a:rPr>
              <a:t>Mengukur kemajuan RTL sejak Supervisi 2025</a:t>
            </a:r>
            <a:endParaRPr/>
          </a:p>
        </p:txBody>
      </p:sp>
      <p:sp>
        <p:nvSpPr>
          <p:cNvPr id="754" name="Google Shape;754;h69a5e3ff789ebc32_1_1290"/>
          <p:cNvSpPr/>
          <p:nvPr/>
        </p:nvSpPr>
        <p:spPr>
          <a:xfrm>
            <a:off x="795528" y="2331720"/>
            <a:ext cx="2469000" cy="822900"/>
          </a:xfrm>
          <a:prstGeom prst="roundRect">
            <a:avLst>
              <a:gd fmla="val 13333" name="adj"/>
            </a:avLst>
          </a:prstGeom>
          <a:solidFill>
            <a:srgbClr val="2F7E9D"/>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h69a5e3ff789ebc32_1_1290"/>
          <p:cNvSpPr txBox="1"/>
          <p:nvPr/>
        </p:nvSpPr>
        <p:spPr>
          <a:xfrm>
            <a:off x="886968" y="2377440"/>
            <a:ext cx="2286000" cy="26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700">
                <a:solidFill>
                  <a:srgbClr val="FFFFFF"/>
                </a:solidFill>
                <a:latin typeface="Montserrat ExtraBold"/>
                <a:ea typeface="Montserrat ExtraBold"/>
                <a:cs typeface="Montserrat ExtraBold"/>
                <a:sym typeface="Montserrat ExtraBold"/>
              </a:rPr>
              <a:t>12 LPTK</a:t>
            </a:r>
            <a:endParaRPr/>
          </a:p>
        </p:txBody>
      </p:sp>
      <p:sp>
        <p:nvSpPr>
          <p:cNvPr id="756" name="Google Shape;756;h69a5e3ff789ebc32_1_1290"/>
          <p:cNvSpPr txBox="1"/>
          <p:nvPr/>
        </p:nvSpPr>
        <p:spPr>
          <a:xfrm>
            <a:off x="886968" y="2724912"/>
            <a:ext cx="2286000" cy="121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880">
                <a:solidFill>
                  <a:srgbClr val="FFFFFF"/>
                </a:solidFill>
                <a:latin typeface="Montserrat"/>
                <a:ea typeface="Montserrat"/>
                <a:cs typeface="Montserrat"/>
                <a:sym typeface="Montserrat"/>
              </a:rPr>
              <a:t>didanai dan dipantau TF (RFP C.3)</a:t>
            </a:r>
            <a:endParaRPr/>
          </a:p>
        </p:txBody>
      </p:sp>
      <p:sp>
        <p:nvSpPr>
          <p:cNvPr id="757" name="Google Shape;757;h69a5e3ff789ebc32_1_1290"/>
          <p:cNvSpPr txBox="1"/>
          <p:nvPr/>
        </p:nvSpPr>
        <p:spPr>
          <a:xfrm>
            <a:off x="3383279" y="2651760"/>
            <a:ext cx="365700" cy="169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C00C"/>
                </a:solidFill>
                <a:latin typeface="Montserrat"/>
                <a:ea typeface="Montserrat"/>
                <a:cs typeface="Montserrat"/>
                <a:sym typeface="Montserrat"/>
              </a:rPr>
              <a:t>vs</a:t>
            </a:r>
            <a:endParaRPr/>
          </a:p>
        </p:txBody>
      </p:sp>
      <p:sp>
        <p:nvSpPr>
          <p:cNvPr id="758" name="Google Shape;758;h69a5e3ff789ebc32_1_1290"/>
          <p:cNvSpPr/>
          <p:nvPr/>
        </p:nvSpPr>
        <p:spPr>
          <a:xfrm>
            <a:off x="3749040" y="2331720"/>
            <a:ext cx="2084700" cy="822900"/>
          </a:xfrm>
          <a:prstGeom prst="roundRect">
            <a:avLst>
              <a:gd fmla="val 13333" name="adj"/>
            </a:avLst>
          </a:prstGeom>
          <a:solidFill>
            <a:srgbClr val="0B3361"/>
          </a:solidFill>
          <a:ln cap="flat" cmpd="sng" w="1905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 name="Google Shape;759;h69a5e3ff789ebc32_1_1290"/>
          <p:cNvSpPr txBox="1"/>
          <p:nvPr/>
        </p:nvSpPr>
        <p:spPr>
          <a:xfrm>
            <a:off x="3840480" y="2377440"/>
            <a:ext cx="1920300" cy="26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700">
                <a:solidFill>
                  <a:srgbClr val="FFC00C"/>
                </a:solidFill>
                <a:latin typeface="Montserrat ExtraBold"/>
                <a:ea typeface="Montserrat ExtraBold"/>
                <a:cs typeface="Montserrat ExtraBold"/>
                <a:sym typeface="Montserrat ExtraBold"/>
              </a:rPr>
              <a:t>13 LPTK</a:t>
            </a:r>
            <a:endParaRPr/>
          </a:p>
        </p:txBody>
      </p:sp>
      <p:sp>
        <p:nvSpPr>
          <p:cNvPr id="760" name="Google Shape;760;h69a5e3ff789ebc32_1_1290"/>
          <p:cNvSpPr txBox="1"/>
          <p:nvPr/>
        </p:nvSpPr>
        <p:spPr>
          <a:xfrm>
            <a:off x="3840480" y="2724912"/>
            <a:ext cx="1920300" cy="365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880">
                <a:solidFill>
                  <a:srgbClr val="FFFFFF"/>
                </a:solidFill>
                <a:latin typeface="Montserrat"/>
                <a:ea typeface="Montserrat"/>
                <a:cs typeface="Montserrat"/>
                <a:sym typeface="Montserrat"/>
              </a:rPr>
              <a:t>didanai Kemendikdasmen, disupervisi bersamaan 2025 (TOR Annex 1)</a:t>
            </a:r>
            <a:endParaRPr/>
          </a:p>
        </p:txBody>
      </p:sp>
      <p:sp>
        <p:nvSpPr>
          <p:cNvPr id="761" name="Google Shape;761;h69a5e3ff789ebc32_1_1290"/>
          <p:cNvSpPr/>
          <p:nvPr/>
        </p:nvSpPr>
        <p:spPr>
          <a:xfrm>
            <a:off x="6199632" y="1600200"/>
            <a:ext cx="5440800" cy="1691700"/>
          </a:xfrm>
          <a:prstGeom prst="roundRect">
            <a:avLst>
              <a:gd fmla="val 1081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h69a5e3ff789ebc32_1_1290"/>
          <p:cNvSpPr txBox="1"/>
          <p:nvPr/>
        </p:nvSpPr>
        <p:spPr>
          <a:xfrm>
            <a:off x="6400800" y="1691640"/>
            <a:ext cx="50292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C00C"/>
                </a:solidFill>
                <a:latin typeface="Montserrat ExtraBold"/>
                <a:ea typeface="Montserrat ExtraBold"/>
                <a:cs typeface="Montserrat ExtraBold"/>
                <a:sym typeface="Montserrat ExtraBold"/>
              </a:rPr>
              <a:t>Basis Pendampingan 2026</a:t>
            </a:r>
            <a:endParaRPr/>
          </a:p>
        </p:txBody>
      </p:sp>
      <p:sp>
        <p:nvSpPr>
          <p:cNvPr id="763" name="Google Shape;763;h69a5e3ff789ebc32_1_1290"/>
          <p:cNvSpPr txBox="1"/>
          <p:nvPr/>
        </p:nvSpPr>
        <p:spPr>
          <a:xfrm>
            <a:off x="6400800" y="2011680"/>
            <a:ext cx="5029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B0C0CF"/>
                </a:solidFill>
                <a:latin typeface="Montserrat"/>
                <a:ea typeface="Montserrat"/>
                <a:cs typeface="Montserrat"/>
                <a:sym typeface="Montserrat"/>
              </a:rPr>
              <a:t>Mengukur pendampingan teknis tahun berjalan</a:t>
            </a:r>
            <a:endParaRPr/>
          </a:p>
        </p:txBody>
      </p:sp>
      <p:sp>
        <p:nvSpPr>
          <p:cNvPr id="764" name="Google Shape;764;h69a5e3ff789ebc32_1_1290"/>
          <p:cNvSpPr/>
          <p:nvPr/>
        </p:nvSpPr>
        <p:spPr>
          <a:xfrm>
            <a:off x="6400800" y="2331720"/>
            <a:ext cx="2469000" cy="822900"/>
          </a:xfrm>
          <a:prstGeom prst="roundRect">
            <a:avLst>
              <a:gd fmla="val 13333" name="adj"/>
            </a:avLst>
          </a:prstGeom>
          <a:solidFill>
            <a:srgbClr val="2F7E9D"/>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h69a5e3ff789ebc32_1_1290"/>
          <p:cNvSpPr txBox="1"/>
          <p:nvPr/>
        </p:nvSpPr>
        <p:spPr>
          <a:xfrm>
            <a:off x="6492240" y="2377440"/>
            <a:ext cx="2286000" cy="26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700">
                <a:solidFill>
                  <a:srgbClr val="FFFFFF"/>
                </a:solidFill>
                <a:latin typeface="Montserrat ExtraBold"/>
                <a:ea typeface="Montserrat ExtraBold"/>
                <a:cs typeface="Montserrat ExtraBold"/>
                <a:sym typeface="Montserrat ExtraBold"/>
              </a:rPr>
              <a:t>12 LPTK</a:t>
            </a:r>
            <a:endParaRPr/>
          </a:p>
        </p:txBody>
      </p:sp>
      <p:sp>
        <p:nvSpPr>
          <p:cNvPr id="766" name="Google Shape;766;h69a5e3ff789ebc32_1_1290"/>
          <p:cNvSpPr txBox="1"/>
          <p:nvPr/>
        </p:nvSpPr>
        <p:spPr>
          <a:xfrm>
            <a:off x="6492240" y="2724912"/>
            <a:ext cx="2286000" cy="1218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880">
                <a:solidFill>
                  <a:srgbClr val="FFFFFF"/>
                </a:solidFill>
                <a:latin typeface="Montserrat"/>
                <a:ea typeface="Montserrat"/>
                <a:cs typeface="Montserrat"/>
                <a:sym typeface="Montserrat"/>
              </a:rPr>
              <a:t>sama, TF-funded — kontinuitas dari 2025</a:t>
            </a:r>
            <a:endParaRPr/>
          </a:p>
        </p:txBody>
      </p:sp>
      <p:sp>
        <p:nvSpPr>
          <p:cNvPr id="767" name="Google Shape;767;h69a5e3ff789ebc32_1_1290"/>
          <p:cNvSpPr txBox="1"/>
          <p:nvPr/>
        </p:nvSpPr>
        <p:spPr>
          <a:xfrm>
            <a:off x="8988552" y="2651760"/>
            <a:ext cx="365700" cy="169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00">
                <a:solidFill>
                  <a:srgbClr val="FFC00C"/>
                </a:solidFill>
                <a:latin typeface="Montserrat"/>
                <a:ea typeface="Montserrat"/>
                <a:cs typeface="Montserrat"/>
                <a:sym typeface="Montserrat"/>
              </a:rPr>
              <a:t>vs</a:t>
            </a:r>
            <a:endParaRPr/>
          </a:p>
        </p:txBody>
      </p:sp>
      <p:sp>
        <p:nvSpPr>
          <p:cNvPr id="768" name="Google Shape;768;h69a5e3ff789ebc32_1_1290"/>
          <p:cNvSpPr/>
          <p:nvPr/>
        </p:nvSpPr>
        <p:spPr>
          <a:xfrm>
            <a:off x="9354312" y="2331720"/>
            <a:ext cx="2084700" cy="822900"/>
          </a:xfrm>
          <a:prstGeom prst="roundRect">
            <a:avLst>
              <a:gd fmla="val 13333" name="adj"/>
            </a:avLst>
          </a:prstGeom>
          <a:solidFill>
            <a:srgbClr val="0B3361"/>
          </a:solidFill>
          <a:ln cap="flat" cmpd="sng" w="1905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h69a5e3ff789ebc32_1_1290"/>
          <p:cNvSpPr txBox="1"/>
          <p:nvPr/>
        </p:nvSpPr>
        <p:spPr>
          <a:xfrm>
            <a:off x="9445752" y="2377440"/>
            <a:ext cx="1920300" cy="26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700">
                <a:solidFill>
                  <a:srgbClr val="FFC00C"/>
                </a:solidFill>
                <a:latin typeface="Montserrat ExtraBold"/>
                <a:ea typeface="Montserrat ExtraBold"/>
                <a:cs typeface="Montserrat ExtraBold"/>
                <a:sym typeface="Montserrat ExtraBold"/>
              </a:rPr>
              <a:t>10 LPTK</a:t>
            </a:r>
            <a:endParaRPr/>
          </a:p>
        </p:txBody>
      </p:sp>
      <p:sp>
        <p:nvSpPr>
          <p:cNvPr id="770" name="Google Shape;770;h69a5e3ff789ebc32_1_1290"/>
          <p:cNvSpPr txBox="1"/>
          <p:nvPr/>
        </p:nvSpPr>
        <p:spPr>
          <a:xfrm>
            <a:off x="9445752" y="2724912"/>
            <a:ext cx="1920300" cy="3657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880">
                <a:solidFill>
                  <a:srgbClr val="FFFFFF"/>
                </a:solidFill>
                <a:latin typeface="Montserrat"/>
                <a:ea typeface="Montserrat"/>
                <a:cs typeface="Montserrat"/>
                <a:sym typeface="Montserrat"/>
              </a:rPr>
              <a:t>didanai Kemendikdasmen, dipilih dari 60 LPTK karena akreditasi kedaluwarsa 2027 (TOR Annex 2)</a:t>
            </a:r>
            <a:endParaRPr/>
          </a:p>
        </p:txBody>
      </p:sp>
      <p:sp>
        <p:nvSpPr>
          <p:cNvPr id="771" name="Google Shape;771;h69a5e3ff789ebc32_1_1290"/>
          <p:cNvSpPr/>
          <p:nvPr/>
        </p:nvSpPr>
        <p:spPr>
          <a:xfrm>
            <a:off x="594360" y="3520440"/>
            <a:ext cx="1764900" cy="1005900"/>
          </a:xfrm>
          <a:prstGeom prst="roundRect">
            <a:avLst>
              <a:gd fmla="val 9090"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h69a5e3ff789ebc32_1_1290"/>
          <p:cNvSpPr txBox="1"/>
          <p:nvPr/>
        </p:nvSpPr>
        <p:spPr>
          <a:xfrm>
            <a:off x="685800" y="3575304"/>
            <a:ext cx="4572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a:solidFill>
                  <a:srgbClr val="FFC00C"/>
                </a:solidFill>
                <a:latin typeface="Montserrat ExtraBold"/>
                <a:ea typeface="Montserrat ExtraBold"/>
                <a:cs typeface="Montserrat ExtraBold"/>
                <a:sym typeface="Montserrat ExtraBold"/>
              </a:rPr>
              <a:t>1</a:t>
            </a:r>
            <a:endParaRPr/>
          </a:p>
        </p:txBody>
      </p:sp>
      <p:sp>
        <p:nvSpPr>
          <p:cNvPr id="773" name="Google Shape;773;h69a5e3ff789ebc32_1_1290"/>
          <p:cNvSpPr txBox="1"/>
          <p:nvPr/>
        </p:nvSpPr>
        <p:spPr>
          <a:xfrm>
            <a:off x="685800" y="3922776"/>
            <a:ext cx="1600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FFFFFF"/>
                </a:solidFill>
                <a:latin typeface="Montserrat ExtraBold"/>
                <a:ea typeface="Montserrat ExtraBold"/>
                <a:cs typeface="Montserrat ExtraBold"/>
                <a:sym typeface="Montserrat ExtraBold"/>
              </a:rPr>
              <a:t>Konfirmasi</a:t>
            </a:r>
            <a:endParaRPr/>
          </a:p>
        </p:txBody>
      </p:sp>
      <p:sp>
        <p:nvSpPr>
          <p:cNvPr id="774" name="Google Shape;774;h69a5e3ff789ebc32_1_1290"/>
          <p:cNvSpPr txBox="1"/>
          <p:nvPr/>
        </p:nvSpPr>
        <p:spPr>
          <a:xfrm>
            <a:off x="685800" y="4178808"/>
            <a:ext cx="1600200" cy="324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80">
                <a:solidFill>
                  <a:srgbClr val="FFFFFF"/>
                </a:solidFill>
                <a:latin typeface="Montserrat"/>
                <a:ea typeface="Montserrat"/>
                <a:cs typeface="Montserrat"/>
                <a:sym typeface="Montserrat"/>
              </a:rPr>
              <a:t>kelompok pembanding di atas dan akses data bersama TF/Direktorat</a:t>
            </a:r>
            <a:endParaRPr/>
          </a:p>
        </p:txBody>
      </p:sp>
      <p:sp>
        <p:nvSpPr>
          <p:cNvPr id="775" name="Google Shape;775;h69a5e3ff789ebc32_1_1290"/>
          <p:cNvSpPr/>
          <p:nvPr/>
        </p:nvSpPr>
        <p:spPr>
          <a:xfrm>
            <a:off x="2450591" y="3520440"/>
            <a:ext cx="1764900" cy="1005900"/>
          </a:xfrm>
          <a:prstGeom prst="roundRect">
            <a:avLst>
              <a:gd fmla="val 9090"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h69a5e3ff789ebc32_1_1290"/>
          <p:cNvSpPr txBox="1"/>
          <p:nvPr/>
        </p:nvSpPr>
        <p:spPr>
          <a:xfrm>
            <a:off x="2542032" y="3575304"/>
            <a:ext cx="4572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a:solidFill>
                  <a:srgbClr val="FFC00C"/>
                </a:solidFill>
                <a:latin typeface="Montserrat ExtraBold"/>
                <a:ea typeface="Montserrat ExtraBold"/>
                <a:cs typeface="Montserrat ExtraBold"/>
                <a:sym typeface="Montserrat ExtraBold"/>
              </a:rPr>
              <a:t>2</a:t>
            </a:r>
            <a:endParaRPr/>
          </a:p>
        </p:txBody>
      </p:sp>
      <p:sp>
        <p:nvSpPr>
          <p:cNvPr id="777" name="Google Shape;777;h69a5e3ff789ebc32_1_1290"/>
          <p:cNvSpPr txBox="1"/>
          <p:nvPr/>
        </p:nvSpPr>
        <p:spPr>
          <a:xfrm>
            <a:off x="2542032" y="3922776"/>
            <a:ext cx="1600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FFFFFF"/>
                </a:solidFill>
                <a:latin typeface="Montserrat ExtraBold"/>
                <a:ea typeface="Montserrat ExtraBold"/>
                <a:cs typeface="Montserrat ExtraBold"/>
                <a:sym typeface="Montserrat ExtraBold"/>
              </a:rPr>
              <a:t>Cocokkan</a:t>
            </a:r>
            <a:endParaRPr/>
          </a:p>
        </p:txBody>
      </p:sp>
      <p:sp>
        <p:nvSpPr>
          <p:cNvPr id="778" name="Google Shape;778;h69a5e3ff789ebc32_1_1290"/>
          <p:cNvSpPr txBox="1"/>
          <p:nvPr/>
        </p:nvSpPr>
        <p:spPr>
          <a:xfrm>
            <a:off x="2542032" y="4178808"/>
            <a:ext cx="1600200" cy="216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80">
                <a:solidFill>
                  <a:srgbClr val="FFFFFF"/>
                </a:solidFill>
                <a:latin typeface="Montserrat"/>
                <a:ea typeface="Montserrat"/>
                <a:cs typeface="Montserrat"/>
                <a:sym typeface="Montserrat"/>
              </a:rPr>
              <a:t>berdasar peringkat, jenis PT, wilayah, skor baseline</a:t>
            </a:r>
            <a:endParaRPr/>
          </a:p>
        </p:txBody>
      </p:sp>
      <p:sp>
        <p:nvSpPr>
          <p:cNvPr id="779" name="Google Shape;779;h69a5e3ff789ebc32_1_1290"/>
          <p:cNvSpPr/>
          <p:nvPr/>
        </p:nvSpPr>
        <p:spPr>
          <a:xfrm>
            <a:off x="4306824" y="3520440"/>
            <a:ext cx="1764900" cy="1005900"/>
          </a:xfrm>
          <a:prstGeom prst="roundRect">
            <a:avLst>
              <a:gd fmla="val 9090"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h69a5e3ff789ebc32_1_1290"/>
          <p:cNvSpPr txBox="1"/>
          <p:nvPr/>
        </p:nvSpPr>
        <p:spPr>
          <a:xfrm>
            <a:off x="4398264" y="3575304"/>
            <a:ext cx="4572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a:solidFill>
                  <a:srgbClr val="FFC00C"/>
                </a:solidFill>
                <a:latin typeface="Montserrat ExtraBold"/>
                <a:ea typeface="Montserrat ExtraBold"/>
                <a:cs typeface="Montserrat ExtraBold"/>
                <a:sym typeface="Montserrat ExtraBold"/>
              </a:rPr>
              <a:t>3</a:t>
            </a:r>
            <a:endParaRPr/>
          </a:p>
        </p:txBody>
      </p:sp>
      <p:sp>
        <p:nvSpPr>
          <p:cNvPr id="781" name="Google Shape;781;h69a5e3ff789ebc32_1_1290"/>
          <p:cNvSpPr txBox="1"/>
          <p:nvPr/>
        </p:nvSpPr>
        <p:spPr>
          <a:xfrm>
            <a:off x="4398264" y="3922776"/>
            <a:ext cx="1600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FFFFFF"/>
                </a:solidFill>
                <a:latin typeface="Montserrat ExtraBold"/>
                <a:ea typeface="Montserrat ExtraBold"/>
                <a:cs typeface="Montserrat ExtraBold"/>
                <a:sym typeface="Montserrat ExtraBold"/>
              </a:rPr>
              <a:t>Hitung</a:t>
            </a:r>
            <a:endParaRPr/>
          </a:p>
        </p:txBody>
      </p:sp>
      <p:sp>
        <p:nvSpPr>
          <p:cNvPr id="782" name="Google Shape;782;h69a5e3ff789ebc32_1_1290"/>
          <p:cNvSpPr txBox="1"/>
          <p:nvPr/>
        </p:nvSpPr>
        <p:spPr>
          <a:xfrm>
            <a:off x="4398264" y="4178808"/>
            <a:ext cx="1600200" cy="216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80">
                <a:solidFill>
                  <a:srgbClr val="FFFFFF"/>
                </a:solidFill>
                <a:latin typeface="Montserrat"/>
                <a:ea typeface="Montserrat"/>
                <a:cs typeface="Montserrat"/>
                <a:sym typeface="Montserrat"/>
              </a:rPr>
              <a:t>kemajuan disesuaikan baseline (selisih skor akhir − awal)</a:t>
            </a:r>
            <a:endParaRPr/>
          </a:p>
        </p:txBody>
      </p:sp>
      <p:sp>
        <p:nvSpPr>
          <p:cNvPr id="783" name="Google Shape;783;h69a5e3ff789ebc32_1_1290"/>
          <p:cNvSpPr/>
          <p:nvPr/>
        </p:nvSpPr>
        <p:spPr>
          <a:xfrm>
            <a:off x="6163056" y="3520440"/>
            <a:ext cx="1764900" cy="1005900"/>
          </a:xfrm>
          <a:prstGeom prst="roundRect">
            <a:avLst>
              <a:gd fmla="val 9090"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h69a5e3ff789ebc32_1_1290"/>
          <p:cNvSpPr txBox="1"/>
          <p:nvPr/>
        </p:nvSpPr>
        <p:spPr>
          <a:xfrm>
            <a:off x="6254496" y="3575304"/>
            <a:ext cx="4572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a:solidFill>
                  <a:srgbClr val="FFC00C"/>
                </a:solidFill>
                <a:latin typeface="Montserrat ExtraBold"/>
                <a:ea typeface="Montserrat ExtraBold"/>
                <a:cs typeface="Montserrat ExtraBold"/>
                <a:sym typeface="Montserrat ExtraBold"/>
              </a:rPr>
              <a:t>4</a:t>
            </a:r>
            <a:endParaRPr/>
          </a:p>
        </p:txBody>
      </p:sp>
      <p:sp>
        <p:nvSpPr>
          <p:cNvPr id="785" name="Google Shape;785;h69a5e3ff789ebc32_1_1290"/>
          <p:cNvSpPr txBox="1"/>
          <p:nvPr/>
        </p:nvSpPr>
        <p:spPr>
          <a:xfrm>
            <a:off x="6254496" y="3922776"/>
            <a:ext cx="1600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FFFFFF"/>
                </a:solidFill>
                <a:latin typeface="Montserrat ExtraBold"/>
                <a:ea typeface="Montserrat ExtraBold"/>
                <a:cs typeface="Montserrat ExtraBold"/>
                <a:sym typeface="Montserrat ExtraBold"/>
              </a:rPr>
              <a:t>Uji</a:t>
            </a:r>
            <a:endParaRPr/>
          </a:p>
        </p:txBody>
      </p:sp>
      <p:sp>
        <p:nvSpPr>
          <p:cNvPr id="786" name="Google Shape;786;h69a5e3ff789ebc32_1_1290"/>
          <p:cNvSpPr txBox="1"/>
          <p:nvPr/>
        </p:nvSpPr>
        <p:spPr>
          <a:xfrm>
            <a:off x="6254496" y="4178808"/>
            <a:ext cx="1600200" cy="216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80">
                <a:solidFill>
                  <a:srgbClr val="FFFFFF"/>
                </a:solidFill>
                <a:latin typeface="Montserrat"/>
                <a:ea typeface="Montserrat"/>
                <a:cs typeface="Montserrat"/>
                <a:sym typeface="Montserrat"/>
              </a:rPr>
              <a:t>sensitivitas non-parametrik untuk jumlah kecil</a:t>
            </a:r>
            <a:endParaRPr/>
          </a:p>
        </p:txBody>
      </p:sp>
      <p:sp>
        <p:nvSpPr>
          <p:cNvPr id="787" name="Google Shape;787;h69a5e3ff789ebc32_1_1290"/>
          <p:cNvSpPr/>
          <p:nvPr/>
        </p:nvSpPr>
        <p:spPr>
          <a:xfrm>
            <a:off x="8019288" y="3520440"/>
            <a:ext cx="1764900" cy="1005900"/>
          </a:xfrm>
          <a:prstGeom prst="roundRect">
            <a:avLst>
              <a:gd fmla="val 9090"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h69a5e3ff789ebc32_1_1290"/>
          <p:cNvSpPr txBox="1"/>
          <p:nvPr/>
        </p:nvSpPr>
        <p:spPr>
          <a:xfrm>
            <a:off x="8110727" y="3575304"/>
            <a:ext cx="4572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a:solidFill>
                  <a:srgbClr val="FFC00C"/>
                </a:solidFill>
                <a:latin typeface="Montserrat ExtraBold"/>
                <a:ea typeface="Montserrat ExtraBold"/>
                <a:cs typeface="Montserrat ExtraBold"/>
                <a:sym typeface="Montserrat ExtraBold"/>
              </a:rPr>
              <a:t>5</a:t>
            </a:r>
            <a:endParaRPr/>
          </a:p>
        </p:txBody>
      </p:sp>
      <p:sp>
        <p:nvSpPr>
          <p:cNvPr id="789" name="Google Shape;789;h69a5e3ff789ebc32_1_1290"/>
          <p:cNvSpPr txBox="1"/>
          <p:nvPr/>
        </p:nvSpPr>
        <p:spPr>
          <a:xfrm>
            <a:off x="8110727" y="3922776"/>
            <a:ext cx="1600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FFFFFF"/>
                </a:solidFill>
                <a:latin typeface="Montserrat ExtraBold"/>
                <a:ea typeface="Montserrat ExtraBold"/>
                <a:cs typeface="Montserrat ExtraBold"/>
                <a:sym typeface="Montserrat ExtraBold"/>
              </a:rPr>
              <a:t>Jelaskan</a:t>
            </a:r>
            <a:endParaRPr/>
          </a:p>
        </p:txBody>
      </p:sp>
      <p:sp>
        <p:nvSpPr>
          <p:cNvPr id="790" name="Google Shape;790;h69a5e3ff789ebc32_1_1290"/>
          <p:cNvSpPr txBox="1"/>
          <p:nvPr/>
        </p:nvSpPr>
        <p:spPr>
          <a:xfrm>
            <a:off x="8110727" y="4178808"/>
            <a:ext cx="1600200" cy="216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80">
                <a:solidFill>
                  <a:srgbClr val="FFFFFF"/>
                </a:solidFill>
                <a:latin typeface="Montserrat"/>
                <a:ea typeface="Montserrat"/>
                <a:cs typeface="Montserrat"/>
                <a:sym typeface="Montserrat"/>
              </a:rPr>
              <a:t>faktor pembeda: analisis konfigurasional (QCA)</a:t>
            </a:r>
            <a:endParaRPr/>
          </a:p>
        </p:txBody>
      </p:sp>
      <p:sp>
        <p:nvSpPr>
          <p:cNvPr id="791" name="Google Shape;791;h69a5e3ff789ebc32_1_1290"/>
          <p:cNvSpPr/>
          <p:nvPr/>
        </p:nvSpPr>
        <p:spPr>
          <a:xfrm>
            <a:off x="9875519" y="3520440"/>
            <a:ext cx="1764900" cy="1005900"/>
          </a:xfrm>
          <a:prstGeom prst="roundRect">
            <a:avLst>
              <a:gd fmla="val 9090"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h69a5e3ff789ebc32_1_1290"/>
          <p:cNvSpPr txBox="1"/>
          <p:nvPr/>
        </p:nvSpPr>
        <p:spPr>
          <a:xfrm>
            <a:off x="9966959" y="3575304"/>
            <a:ext cx="457200" cy="27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a:solidFill>
                  <a:srgbClr val="FFC00C"/>
                </a:solidFill>
                <a:latin typeface="Montserrat ExtraBold"/>
                <a:ea typeface="Montserrat ExtraBold"/>
                <a:cs typeface="Montserrat ExtraBold"/>
                <a:sym typeface="Montserrat ExtraBold"/>
              </a:rPr>
              <a:t>6</a:t>
            </a:r>
            <a:endParaRPr/>
          </a:p>
        </p:txBody>
      </p:sp>
      <p:sp>
        <p:nvSpPr>
          <p:cNvPr id="793" name="Google Shape;793;h69a5e3ff789ebc32_1_1290"/>
          <p:cNvSpPr txBox="1"/>
          <p:nvPr/>
        </p:nvSpPr>
        <p:spPr>
          <a:xfrm>
            <a:off x="9966959" y="3922776"/>
            <a:ext cx="16002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050">
                <a:solidFill>
                  <a:srgbClr val="FFFFFF"/>
                </a:solidFill>
                <a:latin typeface="Montserrat ExtraBold"/>
                <a:ea typeface="Montserrat ExtraBold"/>
                <a:cs typeface="Montserrat ExtraBold"/>
                <a:sym typeface="Montserrat ExtraBold"/>
              </a:rPr>
              <a:t>Simpulkan</a:t>
            </a:r>
            <a:endParaRPr/>
          </a:p>
        </p:txBody>
      </p:sp>
      <p:sp>
        <p:nvSpPr>
          <p:cNvPr id="794" name="Google Shape;794;h69a5e3ff789ebc32_1_1290"/>
          <p:cNvSpPr txBox="1"/>
          <p:nvPr/>
        </p:nvSpPr>
        <p:spPr>
          <a:xfrm>
            <a:off x="9966959" y="4178808"/>
            <a:ext cx="1600200" cy="324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80">
                <a:solidFill>
                  <a:srgbClr val="FFFFFF"/>
                </a:solidFill>
                <a:latin typeface="Montserrat"/>
                <a:ea typeface="Montserrat"/>
                <a:cs typeface="Montserrat"/>
                <a:sym typeface="Montserrat"/>
              </a:rPr>
              <a:t>kontribusi TF: contribution analysis, terbuka pada penjelasan lain</a:t>
            </a:r>
            <a:endParaRPr/>
          </a:p>
        </p:txBody>
      </p:sp>
      <p:sp>
        <p:nvSpPr>
          <p:cNvPr id="795" name="Google Shape;795;h69a5e3ff789ebc32_1_1290"/>
          <p:cNvSpPr/>
          <p:nvPr/>
        </p:nvSpPr>
        <p:spPr>
          <a:xfrm>
            <a:off x="594360" y="4709160"/>
            <a:ext cx="5394900" cy="1508700"/>
          </a:xfrm>
          <a:prstGeom prst="roundRect">
            <a:avLst>
              <a:gd fmla="val 13333" name="adj"/>
            </a:avLst>
          </a:prstGeom>
          <a:solidFill>
            <a:srgbClr val="0D2A4E"/>
          </a:solidFill>
          <a:ln cap="flat" cmpd="sng" w="1905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h69a5e3ff789ebc32_1_1290"/>
          <p:cNvSpPr txBox="1"/>
          <p:nvPr/>
        </p:nvSpPr>
        <p:spPr>
          <a:xfrm>
            <a:off x="795528" y="4773168"/>
            <a:ext cx="5029200" cy="192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50">
                <a:solidFill>
                  <a:srgbClr val="FFC00C"/>
                </a:solidFill>
                <a:latin typeface="Montserrat"/>
                <a:ea typeface="Montserrat"/>
                <a:cs typeface="Montserrat"/>
                <a:sym typeface="Montserrat"/>
              </a:rPr>
              <a:t>Keterbatasan yang kami nyatakan sejak awal</a:t>
            </a:r>
            <a:endParaRPr/>
          </a:p>
        </p:txBody>
      </p:sp>
      <p:sp>
        <p:nvSpPr>
          <p:cNvPr id="797" name="Google Shape;797;h69a5e3ff789ebc32_1_1290"/>
          <p:cNvSpPr txBox="1"/>
          <p:nvPr/>
        </p:nvSpPr>
        <p:spPr>
          <a:xfrm>
            <a:off x="795528" y="5102352"/>
            <a:ext cx="5029200" cy="6177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Jumlah kelompok kecil; tidak mengklaim kausalitas kuat</a:t>
            </a:r>
            <a:endParaRPr/>
          </a:p>
          <a:p>
            <a:pPr indent="-201168" lvl="0" marL="201168" marR="0" rtl="0" algn="l">
              <a:lnSpc>
                <a:spcPct val="110000"/>
              </a:lnSpc>
              <a:spcBef>
                <a:spcPts val="4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Kriteria seleksi dua kelompok pembanding berbeda (basis 2025 vs 2026) → potensi confounding, dinyatakan terbuka</a:t>
            </a:r>
            <a:endParaRPr/>
          </a:p>
        </p:txBody>
      </p:sp>
      <p:sp>
        <p:nvSpPr>
          <p:cNvPr id="798" name="Google Shape;798;h69a5e3ff789ebc32_1_1290"/>
          <p:cNvSpPr/>
          <p:nvPr/>
        </p:nvSpPr>
        <p:spPr>
          <a:xfrm>
            <a:off x="6199632" y="4709160"/>
            <a:ext cx="5394900" cy="1508700"/>
          </a:xfrm>
          <a:prstGeom prst="roundRect">
            <a:avLst>
              <a:gd fmla="val 13333"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h69a5e3ff789ebc32_1_1290"/>
          <p:cNvSpPr txBox="1"/>
          <p:nvPr/>
        </p:nvSpPr>
        <p:spPr>
          <a:xfrm>
            <a:off x="6400800" y="4773168"/>
            <a:ext cx="5029200" cy="192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50">
                <a:solidFill>
                  <a:srgbClr val="FFC00C"/>
                </a:solidFill>
                <a:latin typeface="Montserrat"/>
                <a:ea typeface="Montserrat"/>
                <a:cs typeface="Montserrat"/>
                <a:sym typeface="Montserrat"/>
              </a:rPr>
              <a:t>Sesuai batas RFP</a:t>
            </a:r>
            <a:endParaRPr/>
          </a:p>
        </p:txBody>
      </p:sp>
      <p:sp>
        <p:nvSpPr>
          <p:cNvPr id="800" name="Google Shape;800;h69a5e3ff789ebc32_1_1290"/>
          <p:cNvSpPr txBox="1"/>
          <p:nvPr/>
        </p:nvSpPr>
        <p:spPr>
          <a:xfrm>
            <a:off x="6400800" y="5102352"/>
            <a:ext cx="5029200" cy="8124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Hanya data tersedia dan pengumpulan informasi daring, tanpa kunjungan lapangan tambahan</a:t>
            </a:r>
            <a:endParaRPr/>
          </a:p>
          <a:p>
            <a:pPr indent="-201168" lvl="0" marL="201168" marR="0" rtl="0" algn="l">
              <a:lnSpc>
                <a:spcPct val="110000"/>
              </a:lnSpc>
              <a:spcBef>
                <a:spcPts val="4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Nama LPTK pembanding dari TOR 25 Sep 2026; dikonfirmasi ulang saat kick-off</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804" name="Shape 804"/>
        <p:cNvGrpSpPr/>
        <p:nvPr/>
      </p:nvGrpSpPr>
      <p:grpSpPr>
        <a:xfrm>
          <a:off x="0" y="0"/>
          <a:ext cx="0" cy="0"/>
          <a:chOff x="0" y="0"/>
          <a:chExt cx="0" cy="0"/>
        </a:xfrm>
      </p:grpSpPr>
      <p:pic>
        <p:nvPicPr>
          <p:cNvPr descr="logo_white.png" id="805" name="Google Shape;805;h69a5e3ff789ebc32_1_1348"/>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806" name="Google Shape;806;h69a5e3ff789ebc32_1_1348"/>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807" name="Google Shape;807;h69a5e3ff789ebc32_1_1348"/>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16</a:t>
            </a:r>
            <a:endParaRPr/>
          </a:p>
        </p:txBody>
      </p:sp>
      <p:sp>
        <p:nvSpPr>
          <p:cNvPr id="808" name="Google Shape;808;h69a5e3ff789ebc32_1_1348"/>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PENDEKATAN TEKNIS · PENGELOLAAN DATA</a:t>
            </a:r>
            <a:endParaRPr/>
          </a:p>
        </p:txBody>
      </p:sp>
      <p:sp>
        <p:nvSpPr>
          <p:cNvPr id="809" name="Google Shape;809;h69a5e3ff789ebc32_1_1348"/>
          <p:cNvSpPr txBox="1"/>
          <p:nvPr/>
        </p:nvSpPr>
        <p:spPr>
          <a:xfrm>
            <a:off x="594360" y="658368"/>
            <a:ext cx="11003100" cy="86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Data dikelola aman, terlacak, dan tidak dipublikasikan tanpa izin</a:t>
            </a:r>
            <a:endParaRPr/>
          </a:p>
        </p:txBody>
      </p:sp>
      <p:sp>
        <p:nvSpPr>
          <p:cNvPr id="810" name="Google Shape;810;h69a5e3ff789ebc32_1_1348"/>
          <p:cNvSpPr/>
          <p:nvPr/>
        </p:nvSpPr>
        <p:spPr>
          <a:xfrm>
            <a:off x="594360" y="1737360"/>
            <a:ext cx="2606100" cy="3200400"/>
          </a:xfrm>
          <a:prstGeom prst="roundRect">
            <a:avLst>
              <a:gd fmla="val 9824"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atabase_FFFFFF.png" id="811" name="Google Shape;811;h69a5e3ff789ebc32_1_1348"/>
          <p:cNvPicPr preferRelativeResize="0"/>
          <p:nvPr/>
        </p:nvPicPr>
        <p:blipFill rotWithShape="1">
          <a:blip r:embed="rId4">
            <a:alphaModFix/>
          </a:blip>
          <a:srcRect b="0" l="0" r="0" t="0"/>
          <a:stretch/>
        </p:blipFill>
        <p:spPr>
          <a:xfrm>
            <a:off x="822960" y="1920240"/>
            <a:ext cx="548640" cy="548640"/>
          </a:xfrm>
          <a:prstGeom prst="rect">
            <a:avLst/>
          </a:prstGeom>
          <a:noFill/>
          <a:ln>
            <a:noFill/>
          </a:ln>
        </p:spPr>
      </p:pic>
      <p:sp>
        <p:nvSpPr>
          <p:cNvPr id="812" name="Google Shape;812;h69a5e3ff789ebc32_1_1348"/>
          <p:cNvSpPr txBox="1"/>
          <p:nvPr/>
        </p:nvSpPr>
        <p:spPr>
          <a:xfrm>
            <a:off x="822960" y="2560320"/>
            <a:ext cx="21945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FFFFFF"/>
                </a:solidFill>
                <a:latin typeface="Montserrat ExtraBold"/>
                <a:ea typeface="Montserrat ExtraBold"/>
                <a:cs typeface="Montserrat ExtraBold"/>
                <a:sym typeface="Montserrat ExtraBold"/>
              </a:rPr>
              <a:t>Repositori terpusat</a:t>
            </a:r>
            <a:endParaRPr/>
          </a:p>
        </p:txBody>
      </p:sp>
      <p:sp>
        <p:nvSpPr>
          <p:cNvPr id="813" name="Google Shape;813;h69a5e3ff789ebc32_1_1348"/>
          <p:cNvSpPr txBox="1"/>
          <p:nvPr/>
        </p:nvSpPr>
        <p:spPr>
          <a:xfrm>
            <a:off x="822960" y="3200400"/>
            <a:ext cx="2240400" cy="14046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Akses berlapis menurut peran</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Penamaan dan versi baku</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Log akses dan pencadangan</a:t>
            </a:r>
            <a:endParaRPr/>
          </a:p>
        </p:txBody>
      </p:sp>
      <p:sp>
        <p:nvSpPr>
          <p:cNvPr id="814" name="Google Shape;814;h69a5e3ff789ebc32_1_1348"/>
          <p:cNvSpPr/>
          <p:nvPr/>
        </p:nvSpPr>
        <p:spPr>
          <a:xfrm>
            <a:off x="3364991" y="1737360"/>
            <a:ext cx="2606100" cy="3200400"/>
          </a:xfrm>
          <a:prstGeom prst="roundRect">
            <a:avLst>
              <a:gd fmla="val 9824"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ck_FFFFFF.png" id="815" name="Google Shape;815;h69a5e3ff789ebc32_1_1348"/>
          <p:cNvPicPr preferRelativeResize="0"/>
          <p:nvPr/>
        </p:nvPicPr>
        <p:blipFill rotWithShape="1">
          <a:blip r:embed="rId5">
            <a:alphaModFix/>
          </a:blip>
          <a:srcRect b="0" l="0" r="0" t="0"/>
          <a:stretch/>
        </p:blipFill>
        <p:spPr>
          <a:xfrm>
            <a:off x="3593591" y="1920240"/>
            <a:ext cx="548640" cy="548640"/>
          </a:xfrm>
          <a:prstGeom prst="rect">
            <a:avLst/>
          </a:prstGeom>
          <a:noFill/>
          <a:ln>
            <a:noFill/>
          </a:ln>
        </p:spPr>
      </p:pic>
      <p:sp>
        <p:nvSpPr>
          <p:cNvPr id="816" name="Google Shape;816;h69a5e3ff789ebc32_1_1348"/>
          <p:cNvSpPr txBox="1"/>
          <p:nvPr/>
        </p:nvSpPr>
        <p:spPr>
          <a:xfrm>
            <a:off x="3593591" y="2560320"/>
            <a:ext cx="21945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FFFFFF"/>
                </a:solidFill>
                <a:latin typeface="Montserrat ExtraBold"/>
                <a:ea typeface="Montserrat ExtraBold"/>
                <a:cs typeface="Montserrat ExtraBold"/>
                <a:sym typeface="Montserrat ExtraBold"/>
              </a:rPr>
              <a:t>Data pribadi</a:t>
            </a:r>
            <a:endParaRPr/>
          </a:p>
        </p:txBody>
      </p:sp>
      <p:sp>
        <p:nvSpPr>
          <p:cNvPr id="817" name="Google Shape;817;h69a5e3ff789ebc32_1_1348"/>
          <p:cNvSpPr txBox="1"/>
          <p:nvPr/>
        </p:nvSpPr>
        <p:spPr>
          <a:xfrm>
            <a:off x="3593591" y="3200400"/>
            <a:ext cx="2240400" cy="14046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Hanya data yang benar-benar diperlukan</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Persetujuan (consent) untuk FGD dan rekaman</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Anonimisasi di laporan lintas LPTK</a:t>
            </a:r>
            <a:endParaRPr/>
          </a:p>
        </p:txBody>
      </p:sp>
      <p:sp>
        <p:nvSpPr>
          <p:cNvPr id="818" name="Google Shape;818;h69a5e3ff789ebc32_1_1348"/>
          <p:cNvSpPr/>
          <p:nvPr/>
        </p:nvSpPr>
        <p:spPr>
          <a:xfrm>
            <a:off x="6135624" y="1737360"/>
            <a:ext cx="2606100" cy="3200400"/>
          </a:xfrm>
          <a:prstGeom prst="roundRect">
            <a:avLst>
              <a:gd fmla="val 9824"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hield_FFFFFF.png" id="819" name="Google Shape;819;h69a5e3ff789ebc32_1_1348"/>
          <p:cNvPicPr preferRelativeResize="0"/>
          <p:nvPr/>
        </p:nvPicPr>
        <p:blipFill rotWithShape="1">
          <a:blip r:embed="rId6">
            <a:alphaModFix/>
          </a:blip>
          <a:srcRect b="0" l="0" r="0" t="0"/>
          <a:stretch/>
        </p:blipFill>
        <p:spPr>
          <a:xfrm>
            <a:off x="6364224" y="1920240"/>
            <a:ext cx="548640" cy="548640"/>
          </a:xfrm>
          <a:prstGeom prst="rect">
            <a:avLst/>
          </a:prstGeom>
          <a:noFill/>
          <a:ln>
            <a:noFill/>
          </a:ln>
        </p:spPr>
      </p:pic>
      <p:sp>
        <p:nvSpPr>
          <p:cNvPr id="820" name="Google Shape;820;h69a5e3ff789ebc32_1_1348"/>
          <p:cNvSpPr txBox="1"/>
          <p:nvPr/>
        </p:nvSpPr>
        <p:spPr>
          <a:xfrm>
            <a:off x="6364224" y="2560320"/>
            <a:ext cx="21945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FFFFFF"/>
                </a:solidFill>
                <a:latin typeface="Montserrat ExtraBold"/>
                <a:ea typeface="Montserrat ExtraBold"/>
                <a:cs typeface="Montserrat ExtraBold"/>
                <a:sym typeface="Montserrat ExtraBold"/>
              </a:rPr>
              <a:t>Kerahasiaan dan publikasi</a:t>
            </a:r>
            <a:endParaRPr/>
          </a:p>
        </p:txBody>
      </p:sp>
      <p:sp>
        <p:nvSpPr>
          <p:cNvPr id="821" name="Google Shape;821;h69a5e3ff789ebc32_1_1348"/>
          <p:cNvSpPr txBox="1"/>
          <p:nvPr/>
        </p:nvSpPr>
        <p:spPr>
          <a:xfrm>
            <a:off x="6364224" y="3200400"/>
            <a:ext cx="2240400" cy="11160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NDA seluruh tim</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Tidak mempublikasikan data atau hasil tanpa persetujuan tertulis TF dan Direktorat PPG</a:t>
            </a:r>
            <a:endParaRPr/>
          </a:p>
        </p:txBody>
      </p:sp>
      <p:sp>
        <p:nvSpPr>
          <p:cNvPr id="822" name="Google Shape;822;h69a5e3ff789ebc32_1_1348"/>
          <p:cNvSpPr/>
          <p:nvPr/>
        </p:nvSpPr>
        <p:spPr>
          <a:xfrm>
            <a:off x="8906256" y="1737360"/>
            <a:ext cx="2606100" cy="3200400"/>
          </a:xfrm>
          <a:prstGeom prst="roundRect">
            <a:avLst>
              <a:gd fmla="val 9824" name="adj"/>
            </a:avLst>
          </a:prstGeom>
          <a:solidFill>
            <a:srgbClr val="2F7E9D"/>
          </a:solidFill>
          <a:ln cap="flat" cmpd="sng" w="285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FFFF.png" id="823" name="Google Shape;823;h69a5e3ff789ebc32_1_1348"/>
          <p:cNvPicPr preferRelativeResize="0"/>
          <p:nvPr/>
        </p:nvPicPr>
        <p:blipFill rotWithShape="1">
          <a:blip r:embed="rId7">
            <a:alphaModFix/>
          </a:blip>
          <a:srcRect b="0" l="0" r="0" t="0"/>
          <a:stretch/>
        </p:blipFill>
        <p:spPr>
          <a:xfrm>
            <a:off x="9134856" y="1920240"/>
            <a:ext cx="548640" cy="548640"/>
          </a:xfrm>
          <a:prstGeom prst="rect">
            <a:avLst/>
          </a:prstGeom>
          <a:noFill/>
          <a:ln>
            <a:noFill/>
          </a:ln>
        </p:spPr>
      </p:pic>
      <p:sp>
        <p:nvSpPr>
          <p:cNvPr id="824" name="Google Shape;824;h69a5e3ff789ebc32_1_1348"/>
          <p:cNvSpPr txBox="1"/>
          <p:nvPr/>
        </p:nvSpPr>
        <p:spPr>
          <a:xfrm>
            <a:off x="9134856" y="2560320"/>
            <a:ext cx="21945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FFFFFF"/>
                </a:solidFill>
                <a:latin typeface="Montserrat ExtraBold"/>
                <a:ea typeface="Montserrat ExtraBold"/>
                <a:cs typeface="Montserrat ExtraBold"/>
                <a:sym typeface="Montserrat ExtraBold"/>
              </a:rPr>
              <a:t>Integritas bukti</a:t>
            </a:r>
            <a:endParaRPr/>
          </a:p>
        </p:txBody>
      </p:sp>
      <p:sp>
        <p:nvSpPr>
          <p:cNvPr id="825" name="Google Shape;825;h69a5e3ff789ebc32_1_1348"/>
          <p:cNvSpPr txBox="1"/>
          <p:nvPr/>
        </p:nvSpPr>
        <p:spPr>
          <a:xfrm>
            <a:off x="9134856" y="3200400"/>
            <a:ext cx="2240400" cy="9813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Status verifikasi tiap bukti</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Jejak audit perubahan</a:t>
            </a:r>
            <a:endParaRPr/>
          </a:p>
          <a:p>
            <a:pPr indent="-201168" lvl="0" marL="201168" marR="0" rtl="0" algn="l">
              <a:lnSpc>
                <a:spcPct val="110000"/>
              </a:lnSpc>
              <a:spcBef>
                <a:spcPts val="600"/>
              </a:spcBef>
              <a:spcAft>
                <a:spcPts val="0"/>
              </a:spcAft>
              <a:buClr>
                <a:srgbClr val="FFC00C"/>
              </a:buClr>
              <a:buSzPts val="1250"/>
              <a:buFont typeface="Arial"/>
              <a:buChar char="•"/>
            </a:pPr>
            <a:r>
              <a:rPr b="0" i="0" lang="en-US" sz="1250">
                <a:solidFill>
                  <a:srgbClr val="FFFFFF"/>
                </a:solidFill>
                <a:latin typeface="Montserrat"/>
                <a:ea typeface="Montserrat"/>
                <a:cs typeface="Montserrat"/>
                <a:sym typeface="Montserrat"/>
              </a:rPr>
              <a:t>Tidak ada bukti direkayasa</a:t>
            </a:r>
            <a:endParaRPr/>
          </a:p>
        </p:txBody>
      </p:sp>
      <p:sp>
        <p:nvSpPr>
          <p:cNvPr id="826" name="Google Shape;826;h69a5e3ff789ebc32_1_1348"/>
          <p:cNvSpPr/>
          <p:nvPr/>
        </p:nvSpPr>
        <p:spPr>
          <a:xfrm>
            <a:off x="594360" y="5166360"/>
            <a:ext cx="11003100" cy="1097400"/>
          </a:xfrm>
          <a:prstGeom prst="roundRect">
            <a:avLst>
              <a:gd fmla="val 18333"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h69a5e3ff789ebc32_1_1348"/>
          <p:cNvSpPr txBox="1"/>
          <p:nvPr/>
        </p:nvSpPr>
        <p:spPr>
          <a:xfrm>
            <a:off x="822960" y="5303215"/>
            <a:ext cx="27432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00">
                <a:solidFill>
                  <a:srgbClr val="FFC00C"/>
                </a:solidFill>
                <a:latin typeface="Montserrat"/>
                <a:ea typeface="Montserrat"/>
                <a:cs typeface="Montserrat"/>
                <a:sym typeface="Montserrat"/>
              </a:rPr>
              <a:t>Struktur repositori</a:t>
            </a:r>
            <a:endParaRPr/>
          </a:p>
        </p:txBody>
      </p:sp>
      <p:sp>
        <p:nvSpPr>
          <p:cNvPr id="828" name="Google Shape;828;h69a5e3ff789ebc32_1_1348"/>
          <p:cNvSpPr/>
          <p:nvPr/>
        </p:nvSpPr>
        <p:spPr>
          <a:xfrm>
            <a:off x="822960" y="5669280"/>
            <a:ext cx="1691700" cy="3840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h69a5e3ff789ebc32_1_1348"/>
          <p:cNvSpPr txBox="1"/>
          <p:nvPr/>
        </p:nvSpPr>
        <p:spPr>
          <a:xfrm>
            <a:off x="822960" y="5783753"/>
            <a:ext cx="1691700" cy="1617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50">
                <a:solidFill>
                  <a:srgbClr val="FFFFFF"/>
                </a:solidFill>
                <a:latin typeface="Montserrat"/>
                <a:ea typeface="Montserrat"/>
                <a:cs typeface="Montserrat"/>
                <a:sym typeface="Montserrat"/>
              </a:rPr>
              <a:t>00 Panduan</a:t>
            </a:r>
            <a:endParaRPr/>
          </a:p>
        </p:txBody>
      </p:sp>
      <p:sp>
        <p:nvSpPr>
          <p:cNvPr id="830" name="Google Shape;830;h69a5e3ff789ebc32_1_1348"/>
          <p:cNvSpPr/>
          <p:nvPr/>
        </p:nvSpPr>
        <p:spPr>
          <a:xfrm>
            <a:off x="2606040" y="5669280"/>
            <a:ext cx="1691700" cy="3840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h69a5e3ff789ebc32_1_1348"/>
          <p:cNvSpPr txBox="1"/>
          <p:nvPr/>
        </p:nvSpPr>
        <p:spPr>
          <a:xfrm>
            <a:off x="2606040" y="5783753"/>
            <a:ext cx="1691700" cy="1617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50">
                <a:solidFill>
                  <a:srgbClr val="FFFFFF"/>
                </a:solidFill>
                <a:latin typeface="Montserrat"/>
                <a:ea typeface="Montserrat"/>
                <a:cs typeface="Montserrat"/>
                <a:sym typeface="Montserrat"/>
              </a:rPr>
              <a:t>01 Baseline 2025</a:t>
            </a:r>
            <a:endParaRPr/>
          </a:p>
        </p:txBody>
      </p:sp>
      <p:sp>
        <p:nvSpPr>
          <p:cNvPr id="832" name="Google Shape;832;h69a5e3ff789ebc32_1_1348"/>
          <p:cNvSpPr/>
          <p:nvPr/>
        </p:nvSpPr>
        <p:spPr>
          <a:xfrm>
            <a:off x="4389120" y="5669280"/>
            <a:ext cx="1691700" cy="3840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3" name="Google Shape;833;h69a5e3ff789ebc32_1_1348"/>
          <p:cNvSpPr txBox="1"/>
          <p:nvPr/>
        </p:nvSpPr>
        <p:spPr>
          <a:xfrm>
            <a:off x="4389120" y="5783753"/>
            <a:ext cx="1691700" cy="1617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50">
                <a:solidFill>
                  <a:srgbClr val="FFFFFF"/>
                </a:solidFill>
                <a:latin typeface="Montserrat"/>
                <a:ea typeface="Montserrat"/>
                <a:cs typeface="Montserrat"/>
                <a:sym typeface="Montserrat"/>
              </a:rPr>
              <a:t>02 LPTK (E1–E5)</a:t>
            </a:r>
            <a:endParaRPr/>
          </a:p>
        </p:txBody>
      </p:sp>
      <p:sp>
        <p:nvSpPr>
          <p:cNvPr id="834" name="Google Shape;834;h69a5e3ff789ebc32_1_1348"/>
          <p:cNvSpPr/>
          <p:nvPr/>
        </p:nvSpPr>
        <p:spPr>
          <a:xfrm>
            <a:off x="6172200" y="5669280"/>
            <a:ext cx="1691700" cy="3840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5" name="Google Shape;835;h69a5e3ff789ebc32_1_1348"/>
          <p:cNvSpPr txBox="1"/>
          <p:nvPr/>
        </p:nvSpPr>
        <p:spPr>
          <a:xfrm>
            <a:off x="6172200" y="5783753"/>
            <a:ext cx="1691700" cy="1617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50">
                <a:solidFill>
                  <a:srgbClr val="FFFFFF"/>
                </a:solidFill>
                <a:latin typeface="Montserrat"/>
                <a:ea typeface="Montserrat"/>
                <a:cs typeface="Montserrat"/>
                <a:sym typeface="Montserrat"/>
              </a:rPr>
              <a:t>03 Instrumen</a:t>
            </a:r>
            <a:endParaRPr/>
          </a:p>
        </p:txBody>
      </p:sp>
      <p:sp>
        <p:nvSpPr>
          <p:cNvPr id="836" name="Google Shape;836;h69a5e3ff789ebc32_1_1348"/>
          <p:cNvSpPr/>
          <p:nvPr/>
        </p:nvSpPr>
        <p:spPr>
          <a:xfrm>
            <a:off x="7955279" y="5669280"/>
            <a:ext cx="1691700" cy="3840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7" name="Google Shape;837;h69a5e3ff789ebc32_1_1348"/>
          <p:cNvSpPr txBox="1"/>
          <p:nvPr/>
        </p:nvSpPr>
        <p:spPr>
          <a:xfrm>
            <a:off x="7955279" y="5783753"/>
            <a:ext cx="1691700" cy="1617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50">
                <a:solidFill>
                  <a:srgbClr val="FFFFFF"/>
                </a:solidFill>
                <a:latin typeface="Montserrat"/>
                <a:ea typeface="Montserrat"/>
                <a:cs typeface="Montserrat"/>
                <a:sym typeface="Montserrat"/>
              </a:rPr>
              <a:t>04 Laporan</a:t>
            </a:r>
            <a:endParaRPr/>
          </a:p>
        </p:txBody>
      </p:sp>
      <p:sp>
        <p:nvSpPr>
          <p:cNvPr id="838" name="Google Shape;838;h69a5e3ff789ebc32_1_1348"/>
          <p:cNvSpPr/>
          <p:nvPr/>
        </p:nvSpPr>
        <p:spPr>
          <a:xfrm>
            <a:off x="9738360" y="5669280"/>
            <a:ext cx="1691700" cy="384000"/>
          </a:xfrm>
          <a:prstGeom prst="roundRect">
            <a:avLst>
              <a:gd fmla="val 50000" name="adj"/>
            </a:avLst>
          </a:prstGeom>
          <a:solidFill>
            <a:srgbClr val="0B3361"/>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9" name="Google Shape;839;h69a5e3ff789ebc32_1_1348"/>
          <p:cNvSpPr txBox="1"/>
          <p:nvPr/>
        </p:nvSpPr>
        <p:spPr>
          <a:xfrm>
            <a:off x="9738360" y="5783753"/>
            <a:ext cx="1691700" cy="1617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50">
                <a:solidFill>
                  <a:srgbClr val="FFFFFF"/>
                </a:solidFill>
                <a:latin typeface="Montserrat"/>
                <a:ea typeface="Montserrat"/>
                <a:cs typeface="Montserrat"/>
                <a:sym typeface="Montserrat"/>
              </a:rPr>
              <a:t>05 Studi komparatif</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843" name="Shape 843"/>
        <p:cNvGrpSpPr/>
        <p:nvPr/>
      </p:nvGrpSpPr>
      <p:grpSpPr>
        <a:xfrm>
          <a:off x="0" y="0"/>
          <a:ext cx="0" cy="0"/>
          <a:chOff x="0" y="0"/>
          <a:chExt cx="0" cy="0"/>
        </a:xfrm>
      </p:grpSpPr>
      <p:pic>
        <p:nvPicPr>
          <p:cNvPr descr="logo_white.png" id="844" name="Google Shape;844;h69a5e3ff789ebc32_1_1386"/>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845" name="Google Shape;845;h69a5e3ff789ebc32_1_1386"/>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846" name="Google Shape;846;h69a5e3ff789ebc32_1_1386"/>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17</a:t>
            </a:r>
            <a:endParaRPr/>
          </a:p>
        </p:txBody>
      </p:sp>
      <p:sp>
        <p:nvSpPr>
          <p:cNvPr id="847" name="Google Shape;847;h69a5e3ff789ebc32_1_1386"/>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MANAJEMEN MULTILOKASI · EFISIENSI ANGGARAN</a:t>
            </a:r>
            <a:endParaRPr/>
          </a:p>
        </p:txBody>
      </p:sp>
      <p:sp>
        <p:nvSpPr>
          <p:cNvPr id="848" name="Google Shape;848;h69a5e3ff789ebc32_1_1386"/>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12 LPTK dalam 5 klaster rute, dua rute berjalan paralel</a:t>
            </a:r>
            <a:endParaRPr/>
          </a:p>
        </p:txBody>
      </p:sp>
      <p:sp>
        <p:nvSpPr>
          <p:cNvPr id="849" name="Google Shape;849;h69a5e3ff789ebc32_1_1386"/>
          <p:cNvSpPr/>
          <p:nvPr/>
        </p:nvSpPr>
        <p:spPr>
          <a:xfrm>
            <a:off x="594360" y="1691640"/>
            <a:ext cx="3612000" cy="2148900"/>
          </a:xfrm>
          <a:prstGeom prst="roundRect">
            <a:avLst>
              <a:gd fmla="val 11914" name="adj"/>
            </a:avLst>
          </a:prstGeom>
          <a:solidFill>
            <a:srgbClr val="2F7E9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0" name="Google Shape;850;h69a5e3ff789ebc32_1_1386"/>
          <p:cNvSpPr txBox="1"/>
          <p:nvPr/>
        </p:nvSpPr>
        <p:spPr>
          <a:xfrm>
            <a:off x="777240" y="1801368"/>
            <a:ext cx="32460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Medan</a:t>
            </a:r>
            <a:endParaRPr/>
          </a:p>
        </p:txBody>
      </p:sp>
      <p:sp>
        <p:nvSpPr>
          <p:cNvPr id="851" name="Google Shape;851;h69a5e3ff789ebc32_1_1386"/>
          <p:cNvSpPr txBox="1"/>
          <p:nvPr/>
        </p:nvSpPr>
        <p:spPr>
          <a:xfrm>
            <a:off x="777240" y="2148840"/>
            <a:ext cx="32460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FFC00C"/>
                </a:solidFill>
                <a:latin typeface="Montserrat"/>
                <a:ea typeface="Montserrat"/>
                <a:cs typeface="Montserrat"/>
                <a:sym typeface="Montserrat"/>
              </a:rPr>
              <a:t>Sumatera Utara</a:t>
            </a:r>
            <a:endParaRPr/>
          </a:p>
        </p:txBody>
      </p:sp>
      <p:sp>
        <p:nvSpPr>
          <p:cNvPr id="852" name="Google Shape;852;h69a5e3ff789ebc32_1_1386"/>
          <p:cNvSpPr txBox="1"/>
          <p:nvPr/>
        </p:nvSpPr>
        <p:spPr>
          <a:xfrm>
            <a:off x="777240" y="2468880"/>
            <a:ext cx="3246000" cy="10005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Islam Sumatera Utara</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Muhammadiyah Sumatera Utara</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HKBP Nommensen</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Negeri Medan</a:t>
            </a:r>
            <a:endParaRPr/>
          </a:p>
        </p:txBody>
      </p:sp>
      <p:sp>
        <p:nvSpPr>
          <p:cNvPr id="853" name="Google Shape;853;h69a5e3ff789ebc32_1_1386"/>
          <p:cNvSpPr/>
          <p:nvPr/>
        </p:nvSpPr>
        <p:spPr>
          <a:xfrm>
            <a:off x="4297680" y="1691640"/>
            <a:ext cx="3612000" cy="2148900"/>
          </a:xfrm>
          <a:prstGeom prst="roundRect">
            <a:avLst>
              <a:gd fmla="val 11914" name="adj"/>
            </a:avLst>
          </a:prstGeom>
          <a:solidFill>
            <a:srgbClr val="2F7E9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4" name="Google Shape;854;h69a5e3ff789ebc32_1_1386"/>
          <p:cNvSpPr txBox="1"/>
          <p:nvPr/>
        </p:nvSpPr>
        <p:spPr>
          <a:xfrm>
            <a:off x="4480560" y="1801368"/>
            <a:ext cx="32460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Pekanbaru</a:t>
            </a:r>
            <a:endParaRPr/>
          </a:p>
        </p:txBody>
      </p:sp>
      <p:sp>
        <p:nvSpPr>
          <p:cNvPr id="855" name="Google Shape;855;h69a5e3ff789ebc32_1_1386"/>
          <p:cNvSpPr txBox="1"/>
          <p:nvPr/>
        </p:nvSpPr>
        <p:spPr>
          <a:xfrm>
            <a:off x="4480560" y="2148840"/>
            <a:ext cx="32460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FFC00C"/>
                </a:solidFill>
                <a:latin typeface="Montserrat"/>
                <a:ea typeface="Montserrat"/>
                <a:cs typeface="Montserrat"/>
                <a:sym typeface="Montserrat"/>
              </a:rPr>
              <a:t>Riau</a:t>
            </a:r>
            <a:endParaRPr/>
          </a:p>
        </p:txBody>
      </p:sp>
      <p:sp>
        <p:nvSpPr>
          <p:cNvPr id="856" name="Google Shape;856;h69a5e3ff789ebc32_1_1386"/>
          <p:cNvSpPr txBox="1"/>
          <p:nvPr/>
        </p:nvSpPr>
        <p:spPr>
          <a:xfrm>
            <a:off x="4480560" y="2468880"/>
            <a:ext cx="3246000" cy="3924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Riau</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Islam Riau</a:t>
            </a:r>
            <a:endParaRPr/>
          </a:p>
        </p:txBody>
      </p:sp>
      <p:sp>
        <p:nvSpPr>
          <p:cNvPr id="857" name="Google Shape;857;h69a5e3ff789ebc32_1_1386"/>
          <p:cNvSpPr/>
          <p:nvPr/>
        </p:nvSpPr>
        <p:spPr>
          <a:xfrm>
            <a:off x="8001000" y="1691640"/>
            <a:ext cx="3612000" cy="2148900"/>
          </a:xfrm>
          <a:prstGeom prst="roundRect">
            <a:avLst>
              <a:gd fmla="val 11914" name="adj"/>
            </a:avLst>
          </a:prstGeom>
          <a:solidFill>
            <a:srgbClr val="2F7E9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8" name="Google Shape;858;h69a5e3ff789ebc32_1_1386"/>
          <p:cNvSpPr txBox="1"/>
          <p:nvPr/>
        </p:nvSpPr>
        <p:spPr>
          <a:xfrm>
            <a:off x="8183879" y="1801368"/>
            <a:ext cx="32460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Jambi</a:t>
            </a:r>
            <a:endParaRPr/>
          </a:p>
        </p:txBody>
      </p:sp>
      <p:sp>
        <p:nvSpPr>
          <p:cNvPr id="859" name="Google Shape;859;h69a5e3ff789ebc32_1_1386"/>
          <p:cNvSpPr txBox="1"/>
          <p:nvPr/>
        </p:nvSpPr>
        <p:spPr>
          <a:xfrm>
            <a:off x="8183879" y="2148840"/>
            <a:ext cx="32460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FFC00C"/>
                </a:solidFill>
                <a:latin typeface="Montserrat"/>
                <a:ea typeface="Montserrat"/>
                <a:cs typeface="Montserrat"/>
                <a:sym typeface="Montserrat"/>
              </a:rPr>
              <a:t>Jambi</a:t>
            </a:r>
            <a:endParaRPr/>
          </a:p>
        </p:txBody>
      </p:sp>
      <p:sp>
        <p:nvSpPr>
          <p:cNvPr id="860" name="Google Shape;860;h69a5e3ff789ebc32_1_1386"/>
          <p:cNvSpPr txBox="1"/>
          <p:nvPr/>
        </p:nvSpPr>
        <p:spPr>
          <a:xfrm>
            <a:off x="8183879" y="2468880"/>
            <a:ext cx="3246000" cy="1770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Jambi</a:t>
            </a:r>
            <a:endParaRPr/>
          </a:p>
        </p:txBody>
      </p:sp>
      <p:sp>
        <p:nvSpPr>
          <p:cNvPr id="861" name="Google Shape;861;h69a5e3ff789ebc32_1_1386"/>
          <p:cNvSpPr/>
          <p:nvPr/>
        </p:nvSpPr>
        <p:spPr>
          <a:xfrm>
            <a:off x="594360" y="3977639"/>
            <a:ext cx="3612000" cy="2148900"/>
          </a:xfrm>
          <a:prstGeom prst="roundRect">
            <a:avLst>
              <a:gd fmla="val 11914" name="adj"/>
            </a:avLst>
          </a:prstGeom>
          <a:solidFill>
            <a:srgbClr val="0D2A4E"/>
          </a:solidFill>
          <a:ln cap="flat" cmpd="sng" w="254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2" name="Google Shape;862;h69a5e3ff789ebc32_1_1386"/>
          <p:cNvSpPr txBox="1"/>
          <p:nvPr/>
        </p:nvSpPr>
        <p:spPr>
          <a:xfrm>
            <a:off x="777240" y="4087368"/>
            <a:ext cx="32460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Semarang – Salatiga – Kudus</a:t>
            </a:r>
            <a:endParaRPr/>
          </a:p>
        </p:txBody>
      </p:sp>
      <p:sp>
        <p:nvSpPr>
          <p:cNvPr id="863" name="Google Shape;863;h69a5e3ff789ebc32_1_1386"/>
          <p:cNvSpPr txBox="1"/>
          <p:nvPr/>
        </p:nvSpPr>
        <p:spPr>
          <a:xfrm>
            <a:off x="777240" y="4434840"/>
            <a:ext cx="32460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FFC00C"/>
                </a:solidFill>
                <a:latin typeface="Montserrat"/>
                <a:ea typeface="Montserrat"/>
                <a:cs typeface="Montserrat"/>
                <a:sym typeface="Montserrat"/>
              </a:rPr>
              <a:t>Jawa Tengah</a:t>
            </a:r>
            <a:endParaRPr/>
          </a:p>
        </p:txBody>
      </p:sp>
      <p:sp>
        <p:nvSpPr>
          <p:cNvPr id="864" name="Google Shape;864;h69a5e3ff789ebc32_1_1386"/>
          <p:cNvSpPr txBox="1"/>
          <p:nvPr/>
        </p:nvSpPr>
        <p:spPr>
          <a:xfrm>
            <a:off x="777240" y="4754879"/>
            <a:ext cx="3246000" cy="8235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PGRI Semarang</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Islam Sultan Agung</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Kristen Satya Wacana</a:t>
            </a:r>
            <a:endParaRPr/>
          </a:p>
          <a:p>
            <a:pPr indent="-201168" lvl="0" marL="201168" marR="0" rtl="0" algn="l">
              <a:lnSpc>
                <a:spcPct val="100000"/>
              </a:lnSpc>
              <a:spcBef>
                <a:spcPts val="30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Muria Kudus</a:t>
            </a:r>
            <a:endParaRPr/>
          </a:p>
        </p:txBody>
      </p:sp>
      <p:sp>
        <p:nvSpPr>
          <p:cNvPr id="865" name="Google Shape;865;h69a5e3ff789ebc32_1_1386"/>
          <p:cNvSpPr/>
          <p:nvPr/>
        </p:nvSpPr>
        <p:spPr>
          <a:xfrm>
            <a:off x="4297680" y="3977639"/>
            <a:ext cx="3612000" cy="2148900"/>
          </a:xfrm>
          <a:prstGeom prst="roundRect">
            <a:avLst>
              <a:gd fmla="val 11914" name="adj"/>
            </a:avLst>
          </a:prstGeom>
          <a:solidFill>
            <a:srgbClr val="0D2A4E"/>
          </a:solidFill>
          <a:ln cap="flat" cmpd="sng" w="254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h69a5e3ff789ebc32_1_1386"/>
          <p:cNvSpPr txBox="1"/>
          <p:nvPr/>
        </p:nvSpPr>
        <p:spPr>
          <a:xfrm>
            <a:off x="4480560" y="4087368"/>
            <a:ext cx="32460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Samarinda</a:t>
            </a:r>
            <a:endParaRPr/>
          </a:p>
        </p:txBody>
      </p:sp>
      <p:sp>
        <p:nvSpPr>
          <p:cNvPr id="867" name="Google Shape;867;h69a5e3ff789ebc32_1_1386"/>
          <p:cNvSpPr txBox="1"/>
          <p:nvPr/>
        </p:nvSpPr>
        <p:spPr>
          <a:xfrm>
            <a:off x="4480560" y="4434840"/>
            <a:ext cx="32460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FFC00C"/>
                </a:solidFill>
                <a:latin typeface="Montserrat"/>
                <a:ea typeface="Montserrat"/>
                <a:cs typeface="Montserrat"/>
                <a:sym typeface="Montserrat"/>
              </a:rPr>
              <a:t>Kalimantan Timur</a:t>
            </a:r>
            <a:endParaRPr/>
          </a:p>
        </p:txBody>
      </p:sp>
      <p:sp>
        <p:nvSpPr>
          <p:cNvPr id="868" name="Google Shape;868;h69a5e3ff789ebc32_1_1386"/>
          <p:cNvSpPr txBox="1"/>
          <p:nvPr/>
        </p:nvSpPr>
        <p:spPr>
          <a:xfrm>
            <a:off x="4480560" y="4754879"/>
            <a:ext cx="3246000" cy="177000"/>
          </a:xfrm>
          <a:prstGeom prst="rect">
            <a:avLst/>
          </a:prstGeom>
          <a:noFill/>
          <a:ln>
            <a:noFill/>
          </a:ln>
        </p:spPr>
        <p:txBody>
          <a:bodyPr anchorCtr="0" anchor="t" bIns="0" lIns="0" spcFirstLastPara="1" rIns="0" wrap="square" tIns="0">
            <a:spAutoFit/>
          </a:bodyPr>
          <a:lstStyle/>
          <a:p>
            <a:pPr indent="-201168" lvl="0" marL="201168" marR="0" rtl="0" algn="l">
              <a:lnSpc>
                <a:spcPct val="100000"/>
              </a:lnSpc>
              <a:spcBef>
                <a:spcPts val="0"/>
              </a:spcBef>
              <a:spcAft>
                <a:spcPts val="0"/>
              </a:spcAft>
              <a:buClr>
                <a:srgbClr val="FFC00C"/>
              </a:buClr>
              <a:buSzPts val="1150"/>
              <a:buFont typeface="Arial"/>
              <a:buChar char="•"/>
            </a:pPr>
            <a:r>
              <a:rPr b="0" i="0" lang="en-US" sz="1150">
                <a:solidFill>
                  <a:srgbClr val="FFFFFF"/>
                </a:solidFill>
                <a:latin typeface="Montserrat"/>
                <a:ea typeface="Montserrat"/>
                <a:cs typeface="Montserrat"/>
                <a:sym typeface="Montserrat"/>
              </a:rPr>
              <a:t>Universitas Mulawarman</a:t>
            </a:r>
            <a:endParaRPr/>
          </a:p>
        </p:txBody>
      </p:sp>
      <p:sp>
        <p:nvSpPr>
          <p:cNvPr id="869" name="Google Shape;869;h69a5e3ff789ebc32_1_1386"/>
          <p:cNvSpPr/>
          <p:nvPr/>
        </p:nvSpPr>
        <p:spPr>
          <a:xfrm>
            <a:off x="8001000" y="3977639"/>
            <a:ext cx="3612000" cy="2148900"/>
          </a:xfrm>
          <a:prstGeom prst="roundRect">
            <a:avLst>
              <a:gd fmla="val 11914" name="adj"/>
            </a:avLst>
          </a:prstGeom>
          <a:solidFill>
            <a:srgbClr val="0D2A4E"/>
          </a:solidFill>
          <a:ln cap="flat" cmpd="sng" w="2540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h69a5e3ff789ebc32_1_1386"/>
          <p:cNvSpPr txBox="1"/>
          <p:nvPr/>
        </p:nvSpPr>
        <p:spPr>
          <a:xfrm>
            <a:off x="8183879" y="4087368"/>
            <a:ext cx="32460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C00C"/>
                </a:solidFill>
                <a:latin typeface="Montserrat ExtraBold"/>
                <a:ea typeface="Montserrat ExtraBold"/>
                <a:cs typeface="Montserrat ExtraBold"/>
                <a:sym typeface="Montserrat ExtraBold"/>
              </a:rPr>
              <a:t>Dampak klaster</a:t>
            </a:r>
            <a:endParaRPr/>
          </a:p>
        </p:txBody>
      </p:sp>
      <p:sp>
        <p:nvSpPr>
          <p:cNvPr id="871" name="Google Shape;871;h69a5e3ff789ebc32_1_1386"/>
          <p:cNvSpPr txBox="1"/>
          <p:nvPr/>
        </p:nvSpPr>
        <p:spPr>
          <a:xfrm>
            <a:off x="8183879" y="4480559"/>
            <a:ext cx="3246000" cy="81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600">
                <a:solidFill>
                  <a:srgbClr val="FFC00C"/>
                </a:solidFill>
                <a:latin typeface="Montserrat"/>
                <a:ea typeface="Montserrat"/>
                <a:cs typeface="Montserrat"/>
                <a:sym typeface="Montserrat"/>
              </a:rPr>
              <a:t>29 vs 36</a:t>
            </a:r>
            <a:r>
              <a:rPr b="0" i="0" lang="en-US" sz="1200">
                <a:solidFill>
                  <a:srgbClr val="FFFFFF"/>
                </a:solidFill>
                <a:latin typeface="Montserrat"/>
                <a:ea typeface="Montserrat"/>
                <a:cs typeface="Montserrat"/>
                <a:sym typeface="Montserrat"/>
              </a:rPr>
              <a:t> malam menginap</a:t>
            </a:r>
            <a:endParaRPr/>
          </a:p>
          <a:p>
            <a:pPr indent="0" lvl="0" marL="0" marR="0" rtl="0" algn="l">
              <a:lnSpc>
                <a:spcPct val="110000"/>
              </a:lnSpc>
              <a:spcBef>
                <a:spcPts val="400"/>
              </a:spcBef>
              <a:spcAft>
                <a:spcPts val="0"/>
              </a:spcAft>
              <a:buNone/>
            </a:pPr>
            <a:r>
              <a:rPr b="1" i="0" lang="en-US" sz="1600">
                <a:solidFill>
                  <a:srgbClr val="FFC00C"/>
                </a:solidFill>
                <a:latin typeface="Montserrat"/>
                <a:ea typeface="Montserrat"/>
                <a:cs typeface="Montserrat"/>
                <a:sym typeface="Montserrat"/>
              </a:rPr>
              <a:t>5 vs 12</a:t>
            </a:r>
            <a:r>
              <a:rPr b="0" i="0" lang="en-US" sz="1200">
                <a:solidFill>
                  <a:srgbClr val="FFFFFF"/>
                </a:solidFill>
                <a:latin typeface="Montserrat"/>
                <a:ea typeface="Montserrat"/>
                <a:cs typeface="Montserrat"/>
                <a:sym typeface="Montserrat"/>
              </a:rPr>
              <a:t> perjalanan pulang-pergi</a:t>
            </a:r>
            <a:endParaRPr/>
          </a:p>
          <a:p>
            <a:pPr indent="0" lvl="0" marL="0" marR="0" rtl="0" algn="l">
              <a:lnSpc>
                <a:spcPct val="110000"/>
              </a:lnSpc>
              <a:spcBef>
                <a:spcPts val="400"/>
              </a:spcBef>
              <a:spcAft>
                <a:spcPts val="0"/>
              </a:spcAft>
              <a:buNone/>
            </a:pPr>
            <a:r>
              <a:rPr b="0" i="0" lang="en-US" sz="1100">
                <a:solidFill>
                  <a:srgbClr val="FFFFFF"/>
                </a:solidFill>
                <a:latin typeface="Montserrat"/>
                <a:ea typeface="Montserrat"/>
                <a:cs typeface="Montserrat"/>
                <a:sym typeface="Montserrat"/>
              </a:rPr>
              <a:t>Penghematan membiayai 2 LPTK tambahan</a:t>
            </a:r>
            <a:endParaRPr/>
          </a:p>
        </p:txBody>
      </p:sp>
      <p:sp>
        <p:nvSpPr>
          <p:cNvPr id="872" name="Google Shape;872;h69a5e3ff789ebc32_1_1386"/>
          <p:cNvSpPr txBox="1"/>
          <p:nvPr/>
        </p:nvSpPr>
        <p:spPr>
          <a:xfrm>
            <a:off x="594360" y="6144768"/>
            <a:ext cx="110031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a:solidFill>
                  <a:srgbClr val="B0C0CF"/>
                </a:solidFill>
                <a:latin typeface="Montserrat"/>
                <a:ea typeface="Montserrat"/>
                <a:cs typeface="Montserrat"/>
                <a:sym typeface="Montserrat"/>
              </a:rPr>
              <a:t>Lokasi sesuai RFP bagian C.3. Kunjungan berurutan dalam satu klaster; jadwal mengikuti penugasan TPN dan ketersediaan LPTK.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876" name="Shape 876"/>
        <p:cNvGrpSpPr/>
        <p:nvPr/>
      </p:nvGrpSpPr>
      <p:grpSpPr>
        <a:xfrm>
          <a:off x="0" y="0"/>
          <a:ext cx="0" cy="0"/>
          <a:chOff x="0" y="0"/>
          <a:chExt cx="0" cy="0"/>
        </a:xfrm>
      </p:grpSpPr>
      <p:pic>
        <p:nvPicPr>
          <p:cNvPr descr="logo_white.png" id="877" name="Google Shape;877;h69a5e3ff789ebc32_1_1418"/>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878" name="Google Shape;878;h69a5e3ff789ebc32_1_1418"/>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879" name="Google Shape;879;h69a5e3ff789ebc32_1_1418"/>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18</a:t>
            </a:r>
            <a:endParaRPr/>
          </a:p>
        </p:txBody>
      </p:sp>
      <p:sp>
        <p:nvSpPr>
          <p:cNvPr id="880" name="Google Shape;880;h69a5e3ff789ebc32_1_1418"/>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LINIMASA PROYEK</a:t>
            </a:r>
            <a:endParaRPr/>
          </a:p>
        </p:txBody>
      </p:sp>
      <p:sp>
        <p:nvSpPr>
          <p:cNvPr id="881" name="Google Shape;881;h69a5e3ff789ebc32_1_1418"/>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800">
                <a:solidFill>
                  <a:srgbClr val="FFFFFF"/>
                </a:solidFill>
                <a:latin typeface="Montserrat ExtraBold"/>
                <a:ea typeface="Montserrat ExtraBold"/>
                <a:cs typeface="Montserrat ExtraBold"/>
                <a:sym typeface="Montserrat ExtraBold"/>
              </a:rPr>
              <a:t>Timeline</a:t>
            </a:r>
            <a:endParaRPr/>
          </a:p>
        </p:txBody>
      </p:sp>
      <p:sp>
        <p:nvSpPr>
          <p:cNvPr id="882" name="Google Shape;882;h69a5e3ff789ebc32_1_1418"/>
          <p:cNvSpPr/>
          <p:nvPr/>
        </p:nvSpPr>
        <p:spPr>
          <a:xfrm>
            <a:off x="3675887"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3" name="Google Shape;883;h69a5e3ff789ebc32_1_1418"/>
          <p:cNvSpPr txBox="1"/>
          <p:nvPr/>
        </p:nvSpPr>
        <p:spPr>
          <a:xfrm>
            <a:off x="3675875"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5 Okt</a:t>
            </a:r>
            <a:endParaRPr/>
          </a:p>
        </p:txBody>
      </p:sp>
      <p:sp>
        <p:nvSpPr>
          <p:cNvPr id="884" name="Google Shape;884;h69a5e3ff789ebc32_1_1418"/>
          <p:cNvSpPr/>
          <p:nvPr/>
        </p:nvSpPr>
        <p:spPr>
          <a:xfrm>
            <a:off x="4469587"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h69a5e3ff789ebc32_1_1418"/>
          <p:cNvSpPr txBox="1"/>
          <p:nvPr/>
        </p:nvSpPr>
        <p:spPr>
          <a:xfrm>
            <a:off x="4469574"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12</a:t>
            </a:r>
            <a:endParaRPr/>
          </a:p>
        </p:txBody>
      </p:sp>
      <p:sp>
        <p:nvSpPr>
          <p:cNvPr id="886" name="Google Shape;886;h69a5e3ff789ebc32_1_1418"/>
          <p:cNvSpPr/>
          <p:nvPr/>
        </p:nvSpPr>
        <p:spPr>
          <a:xfrm>
            <a:off x="5263286" y="1691640"/>
            <a:ext cx="757200" cy="3474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 name="Google Shape;887;h69a5e3ff789ebc32_1_1418"/>
          <p:cNvSpPr txBox="1"/>
          <p:nvPr/>
        </p:nvSpPr>
        <p:spPr>
          <a:xfrm>
            <a:off x="5263273"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092647"/>
                </a:solidFill>
                <a:latin typeface="Montserrat"/>
                <a:ea typeface="Montserrat"/>
                <a:cs typeface="Montserrat"/>
                <a:sym typeface="Montserrat"/>
              </a:rPr>
              <a:t>19</a:t>
            </a:r>
            <a:endParaRPr/>
          </a:p>
        </p:txBody>
      </p:sp>
      <p:sp>
        <p:nvSpPr>
          <p:cNvPr id="888" name="Google Shape;888;h69a5e3ff789ebc32_1_1418"/>
          <p:cNvSpPr/>
          <p:nvPr/>
        </p:nvSpPr>
        <p:spPr>
          <a:xfrm>
            <a:off x="6056985"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9" name="Google Shape;889;h69a5e3ff789ebc32_1_1418"/>
          <p:cNvSpPr txBox="1"/>
          <p:nvPr/>
        </p:nvSpPr>
        <p:spPr>
          <a:xfrm>
            <a:off x="6056972"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26</a:t>
            </a:r>
            <a:endParaRPr/>
          </a:p>
        </p:txBody>
      </p:sp>
      <p:sp>
        <p:nvSpPr>
          <p:cNvPr id="890" name="Google Shape;890;h69a5e3ff789ebc32_1_1418"/>
          <p:cNvSpPr/>
          <p:nvPr/>
        </p:nvSpPr>
        <p:spPr>
          <a:xfrm>
            <a:off x="6850684"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1" name="Google Shape;891;h69a5e3ff789ebc32_1_1418"/>
          <p:cNvSpPr txBox="1"/>
          <p:nvPr/>
        </p:nvSpPr>
        <p:spPr>
          <a:xfrm>
            <a:off x="6850671"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2 Nov</a:t>
            </a:r>
            <a:endParaRPr/>
          </a:p>
        </p:txBody>
      </p:sp>
      <p:sp>
        <p:nvSpPr>
          <p:cNvPr id="892" name="Google Shape;892;h69a5e3ff789ebc32_1_1418"/>
          <p:cNvSpPr/>
          <p:nvPr/>
        </p:nvSpPr>
        <p:spPr>
          <a:xfrm>
            <a:off x="7644383"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3" name="Google Shape;893;h69a5e3ff789ebc32_1_1418"/>
          <p:cNvSpPr txBox="1"/>
          <p:nvPr/>
        </p:nvSpPr>
        <p:spPr>
          <a:xfrm>
            <a:off x="7644371"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9</a:t>
            </a:r>
            <a:endParaRPr/>
          </a:p>
        </p:txBody>
      </p:sp>
      <p:sp>
        <p:nvSpPr>
          <p:cNvPr id="894" name="Google Shape;894;h69a5e3ff789ebc32_1_1418"/>
          <p:cNvSpPr/>
          <p:nvPr/>
        </p:nvSpPr>
        <p:spPr>
          <a:xfrm>
            <a:off x="8438083"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h69a5e3ff789ebc32_1_1418"/>
          <p:cNvSpPr txBox="1"/>
          <p:nvPr/>
        </p:nvSpPr>
        <p:spPr>
          <a:xfrm>
            <a:off x="8438070"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16</a:t>
            </a:r>
            <a:endParaRPr/>
          </a:p>
        </p:txBody>
      </p:sp>
      <p:sp>
        <p:nvSpPr>
          <p:cNvPr id="896" name="Google Shape;896;h69a5e3ff789ebc32_1_1418"/>
          <p:cNvSpPr/>
          <p:nvPr/>
        </p:nvSpPr>
        <p:spPr>
          <a:xfrm>
            <a:off x="9231782" y="1691640"/>
            <a:ext cx="757200" cy="3474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h69a5e3ff789ebc32_1_1418"/>
          <p:cNvSpPr txBox="1"/>
          <p:nvPr/>
        </p:nvSpPr>
        <p:spPr>
          <a:xfrm>
            <a:off x="9231769"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092647"/>
                </a:solidFill>
                <a:latin typeface="Montserrat"/>
                <a:ea typeface="Montserrat"/>
                <a:cs typeface="Montserrat"/>
                <a:sym typeface="Montserrat"/>
              </a:rPr>
              <a:t>23</a:t>
            </a:r>
            <a:endParaRPr/>
          </a:p>
        </p:txBody>
      </p:sp>
      <p:sp>
        <p:nvSpPr>
          <p:cNvPr id="898" name="Google Shape;898;h69a5e3ff789ebc32_1_1418"/>
          <p:cNvSpPr/>
          <p:nvPr/>
        </p:nvSpPr>
        <p:spPr>
          <a:xfrm>
            <a:off x="10025481" y="1691640"/>
            <a:ext cx="757200" cy="3474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9" name="Google Shape;899;h69a5e3ff789ebc32_1_1418"/>
          <p:cNvSpPr txBox="1"/>
          <p:nvPr/>
        </p:nvSpPr>
        <p:spPr>
          <a:xfrm>
            <a:off x="10025468"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FFFFFF"/>
                </a:solidFill>
                <a:latin typeface="Montserrat"/>
                <a:ea typeface="Montserrat"/>
                <a:cs typeface="Montserrat"/>
                <a:sym typeface="Montserrat"/>
              </a:rPr>
              <a:t>30</a:t>
            </a:r>
            <a:endParaRPr/>
          </a:p>
        </p:txBody>
      </p:sp>
      <p:sp>
        <p:nvSpPr>
          <p:cNvPr id="900" name="Google Shape;900;h69a5e3ff789ebc32_1_1418"/>
          <p:cNvSpPr/>
          <p:nvPr/>
        </p:nvSpPr>
        <p:spPr>
          <a:xfrm>
            <a:off x="10819180" y="1691640"/>
            <a:ext cx="757200" cy="3474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h69a5e3ff789ebc32_1_1418"/>
          <p:cNvSpPr txBox="1"/>
          <p:nvPr/>
        </p:nvSpPr>
        <p:spPr>
          <a:xfrm>
            <a:off x="10819167" y="1784515"/>
            <a:ext cx="793800" cy="1539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1000">
                <a:solidFill>
                  <a:srgbClr val="092647"/>
                </a:solidFill>
                <a:latin typeface="Montserrat"/>
                <a:ea typeface="Montserrat"/>
                <a:cs typeface="Montserrat"/>
                <a:sym typeface="Montserrat"/>
              </a:rPr>
              <a:t>7 Des</a:t>
            </a:r>
            <a:endParaRPr/>
          </a:p>
        </p:txBody>
      </p:sp>
      <p:sp>
        <p:nvSpPr>
          <p:cNvPr id="902" name="Google Shape;902;h69a5e3ff789ebc32_1_1418"/>
          <p:cNvSpPr/>
          <p:nvPr/>
        </p:nvSpPr>
        <p:spPr>
          <a:xfrm>
            <a:off x="594360" y="2176272"/>
            <a:ext cx="11003100" cy="420600"/>
          </a:xfrm>
          <a:prstGeom prst="rect">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h69a5e3ff789ebc32_1_1418"/>
          <p:cNvSpPr txBox="1"/>
          <p:nvPr/>
        </p:nvSpPr>
        <p:spPr>
          <a:xfrm>
            <a:off x="685800" y="2306647"/>
            <a:ext cx="2926200" cy="1416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Persiapan, kick-off, baseline, instrumen</a:t>
            </a:r>
            <a:endParaRPr/>
          </a:p>
        </p:txBody>
      </p:sp>
      <p:sp>
        <p:nvSpPr>
          <p:cNvPr id="904" name="Google Shape;904;h69a5e3ff789ebc32_1_1418"/>
          <p:cNvSpPr/>
          <p:nvPr/>
        </p:nvSpPr>
        <p:spPr>
          <a:xfrm>
            <a:off x="3703320" y="2249424"/>
            <a:ext cx="2289600" cy="2742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h69a5e3ff789ebc32_1_1418"/>
          <p:cNvSpPr/>
          <p:nvPr/>
        </p:nvSpPr>
        <p:spPr>
          <a:xfrm>
            <a:off x="594360" y="2633472"/>
            <a:ext cx="11003100" cy="420600"/>
          </a:xfrm>
          <a:prstGeom prst="rect">
            <a:avLst/>
          </a:prstGeom>
          <a:solidFill>
            <a:srgbClr val="0B33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 name="Google Shape;906;h69a5e3ff789ebc32_1_1418"/>
          <p:cNvSpPr txBox="1"/>
          <p:nvPr/>
        </p:nvSpPr>
        <p:spPr>
          <a:xfrm>
            <a:off x="685800" y="2633472"/>
            <a:ext cx="2926200" cy="2832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Pendampingan luring: Rute Sumatera (Medan, Pekanbaru, Jambi)</a:t>
            </a:r>
            <a:endParaRPr/>
          </a:p>
        </p:txBody>
      </p:sp>
      <p:sp>
        <p:nvSpPr>
          <p:cNvPr id="907" name="Google Shape;907;h69a5e3ff789ebc32_1_1418"/>
          <p:cNvSpPr/>
          <p:nvPr/>
        </p:nvSpPr>
        <p:spPr>
          <a:xfrm>
            <a:off x="6084417" y="2706624"/>
            <a:ext cx="2289600" cy="2742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h69a5e3ff789ebc32_1_1418"/>
          <p:cNvSpPr/>
          <p:nvPr/>
        </p:nvSpPr>
        <p:spPr>
          <a:xfrm>
            <a:off x="594360" y="3090672"/>
            <a:ext cx="11003100" cy="420600"/>
          </a:xfrm>
          <a:prstGeom prst="rect">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h69a5e3ff789ebc32_1_1418"/>
          <p:cNvSpPr txBox="1"/>
          <p:nvPr/>
        </p:nvSpPr>
        <p:spPr>
          <a:xfrm>
            <a:off x="685800" y="3159372"/>
            <a:ext cx="2926200" cy="2832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Pendampingan luring: Rute Jawa–Kaltim (Semarang, Salatiga, Kudus, Samarinda)</a:t>
            </a:r>
            <a:endParaRPr/>
          </a:p>
        </p:txBody>
      </p:sp>
      <p:sp>
        <p:nvSpPr>
          <p:cNvPr id="910" name="Google Shape;910;h69a5e3ff789ebc32_1_1418"/>
          <p:cNvSpPr/>
          <p:nvPr/>
        </p:nvSpPr>
        <p:spPr>
          <a:xfrm>
            <a:off x="6084417" y="3163824"/>
            <a:ext cx="2289600" cy="2742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1" name="Google Shape;911;h69a5e3ff789ebc32_1_1418"/>
          <p:cNvSpPr/>
          <p:nvPr/>
        </p:nvSpPr>
        <p:spPr>
          <a:xfrm>
            <a:off x="594360" y="3547872"/>
            <a:ext cx="11003100" cy="420600"/>
          </a:xfrm>
          <a:prstGeom prst="rect">
            <a:avLst/>
          </a:prstGeom>
          <a:solidFill>
            <a:srgbClr val="0B33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Google Shape;912;h69a5e3ff789ebc32_1_1418"/>
          <p:cNvSpPr txBox="1"/>
          <p:nvPr/>
        </p:nvSpPr>
        <p:spPr>
          <a:xfrm>
            <a:off x="685800" y="3547872"/>
            <a:ext cx="2926200" cy="2832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Laporan Pendampingan tiap LPTK (≤14 hari setelah kunjungan)</a:t>
            </a:r>
            <a:endParaRPr/>
          </a:p>
        </p:txBody>
      </p:sp>
      <p:sp>
        <p:nvSpPr>
          <p:cNvPr id="913" name="Google Shape;913;h69a5e3ff789ebc32_1_1418"/>
          <p:cNvSpPr/>
          <p:nvPr/>
        </p:nvSpPr>
        <p:spPr>
          <a:xfrm>
            <a:off x="6878116" y="3621024"/>
            <a:ext cx="3083400" cy="2742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h69a5e3ff789ebc32_1_1418"/>
          <p:cNvSpPr/>
          <p:nvPr/>
        </p:nvSpPr>
        <p:spPr>
          <a:xfrm>
            <a:off x="594360" y="4005072"/>
            <a:ext cx="11003100" cy="420600"/>
          </a:xfrm>
          <a:prstGeom prst="rect">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h69a5e3ff789ebc32_1_1418"/>
          <p:cNvSpPr txBox="1"/>
          <p:nvPr/>
        </p:nvSpPr>
        <p:spPr>
          <a:xfrm>
            <a:off x="685800" y="4073772"/>
            <a:ext cx="2926200" cy="2832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Pengumpulan data studi komparatif dan pemantauan RTL</a:t>
            </a:r>
            <a:endParaRPr/>
          </a:p>
        </p:txBody>
      </p:sp>
      <p:sp>
        <p:nvSpPr>
          <p:cNvPr id="916" name="Google Shape;916;h69a5e3ff789ebc32_1_1418"/>
          <p:cNvSpPr/>
          <p:nvPr/>
        </p:nvSpPr>
        <p:spPr>
          <a:xfrm>
            <a:off x="6084417" y="4078224"/>
            <a:ext cx="3877200" cy="2742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h69a5e3ff789ebc32_1_1418"/>
          <p:cNvSpPr/>
          <p:nvPr/>
        </p:nvSpPr>
        <p:spPr>
          <a:xfrm>
            <a:off x="594360" y="4462272"/>
            <a:ext cx="11003100" cy="420600"/>
          </a:xfrm>
          <a:prstGeom prst="rect">
            <a:avLst/>
          </a:prstGeom>
          <a:solidFill>
            <a:srgbClr val="0B33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8" name="Google Shape;918;h69a5e3ff789ebc32_1_1418"/>
          <p:cNvSpPr txBox="1"/>
          <p:nvPr/>
        </p:nvSpPr>
        <p:spPr>
          <a:xfrm>
            <a:off x="685800" y="4601785"/>
            <a:ext cx="2926200" cy="1416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Analisis lintas LPTK dan studi komparatif</a:t>
            </a:r>
            <a:endParaRPr/>
          </a:p>
        </p:txBody>
      </p:sp>
      <p:sp>
        <p:nvSpPr>
          <p:cNvPr id="919" name="Google Shape;919;h69a5e3ff789ebc32_1_1418"/>
          <p:cNvSpPr/>
          <p:nvPr/>
        </p:nvSpPr>
        <p:spPr>
          <a:xfrm>
            <a:off x="8465515" y="4535424"/>
            <a:ext cx="2289600" cy="274200"/>
          </a:xfrm>
          <a:prstGeom prst="roundRect">
            <a:avLst>
              <a:gd fmla="val 50000" name="adj"/>
            </a:avLst>
          </a:prstGeom>
          <a:solidFill>
            <a:srgbClr val="2F7E9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h69a5e3ff789ebc32_1_1418"/>
          <p:cNvSpPr/>
          <p:nvPr/>
        </p:nvSpPr>
        <p:spPr>
          <a:xfrm>
            <a:off x="594360" y="4919472"/>
            <a:ext cx="11003100" cy="420600"/>
          </a:xfrm>
          <a:prstGeom prst="rect">
            <a:avLst/>
          </a:prstGeom>
          <a:solidFill>
            <a:srgbClr val="0D2A4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1" name="Google Shape;921;h69a5e3ff789ebc32_1_1418"/>
          <p:cNvSpPr txBox="1"/>
          <p:nvPr/>
        </p:nvSpPr>
        <p:spPr>
          <a:xfrm>
            <a:off x="685800" y="5068110"/>
            <a:ext cx="2926200" cy="141600"/>
          </a:xfrm>
          <a:prstGeom prst="rect">
            <a:avLst/>
          </a:prstGeom>
          <a:noFill/>
          <a:ln>
            <a:noFill/>
          </a:ln>
        </p:spPr>
        <p:txBody>
          <a:bodyPr anchorCtr="0" anchor="ctr" bIns="0" lIns="0" spcFirstLastPara="1" rIns="0" wrap="square" tIns="0">
            <a:spAutoFit/>
          </a:bodyPr>
          <a:lstStyle/>
          <a:p>
            <a:pPr indent="0" lvl="0" marL="0" marR="0" rtl="0" algn="l">
              <a:lnSpc>
                <a:spcPct val="92000"/>
              </a:lnSpc>
              <a:spcBef>
                <a:spcPts val="0"/>
              </a:spcBef>
              <a:spcAft>
                <a:spcPts val="0"/>
              </a:spcAft>
              <a:buNone/>
            </a:pPr>
            <a:r>
              <a:rPr b="1" i="0" lang="en-US" sz="1000">
                <a:solidFill>
                  <a:srgbClr val="FFFFFF"/>
                </a:solidFill>
                <a:latin typeface="Montserrat"/>
                <a:ea typeface="Montserrat"/>
                <a:cs typeface="Montserrat"/>
                <a:sym typeface="Montserrat"/>
              </a:rPr>
              <a:t>Reviu, finalisasi, penyerahan</a:t>
            </a:r>
            <a:endParaRPr/>
          </a:p>
        </p:txBody>
      </p:sp>
      <p:sp>
        <p:nvSpPr>
          <p:cNvPr id="922" name="Google Shape;922;h69a5e3ff789ebc32_1_1418"/>
          <p:cNvSpPr/>
          <p:nvPr/>
        </p:nvSpPr>
        <p:spPr>
          <a:xfrm>
            <a:off x="10052913" y="4992624"/>
            <a:ext cx="1496100" cy="274200"/>
          </a:xfrm>
          <a:prstGeom prst="roundRect">
            <a:avLst>
              <a:gd fmla="val 50000" name="adj"/>
            </a:avLst>
          </a:prstGeom>
          <a:solidFill>
            <a:srgbClr val="FFC00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h69a5e3ff789ebc32_1_1418"/>
          <p:cNvSpPr/>
          <p:nvPr/>
        </p:nvSpPr>
        <p:spPr>
          <a:xfrm>
            <a:off x="5486400" y="5440680"/>
            <a:ext cx="310800" cy="310800"/>
          </a:xfrm>
          <a:prstGeom prst="diamond">
            <a:avLst/>
          </a:prstGeom>
          <a:solidFill>
            <a:srgbClr val="FFC00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h69a5e3ff789ebc32_1_1418"/>
          <p:cNvSpPr txBox="1"/>
          <p:nvPr/>
        </p:nvSpPr>
        <p:spPr>
          <a:xfrm>
            <a:off x="4727448" y="5760720"/>
            <a:ext cx="18288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a:solidFill>
                  <a:srgbClr val="FFFFFF"/>
                </a:solidFill>
                <a:latin typeface="Montserrat"/>
                <a:ea typeface="Montserrat"/>
                <a:cs typeface="Montserrat"/>
                <a:sym typeface="Montserrat"/>
              </a:rPr>
              <a:t>Laporan Awal</a:t>
            </a:r>
            <a:br>
              <a:rPr b="1" i="0" lang="en-US" sz="1000">
                <a:solidFill>
                  <a:srgbClr val="FFFFFF"/>
                </a:solidFill>
                <a:latin typeface="Montserrat"/>
                <a:ea typeface="Montserrat"/>
                <a:cs typeface="Montserrat"/>
                <a:sym typeface="Montserrat"/>
              </a:rPr>
            </a:br>
            <a:r>
              <a:rPr b="1" i="0" lang="en-US" sz="1000">
                <a:solidFill>
                  <a:srgbClr val="FFFFFF"/>
                </a:solidFill>
                <a:latin typeface="Montserrat"/>
                <a:ea typeface="Montserrat"/>
                <a:cs typeface="Montserrat"/>
                <a:sym typeface="Montserrat"/>
              </a:rPr>
              <a:t>(target 23 Okt)</a:t>
            </a:r>
            <a:endParaRPr/>
          </a:p>
        </p:txBody>
      </p:sp>
      <p:sp>
        <p:nvSpPr>
          <p:cNvPr id="925" name="Google Shape;925;h69a5e3ff789ebc32_1_1418"/>
          <p:cNvSpPr/>
          <p:nvPr/>
        </p:nvSpPr>
        <p:spPr>
          <a:xfrm>
            <a:off x="9454896" y="5440680"/>
            <a:ext cx="310800" cy="310800"/>
          </a:xfrm>
          <a:prstGeom prst="diamond">
            <a:avLst/>
          </a:prstGeom>
          <a:solidFill>
            <a:srgbClr val="FFC00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6" name="Google Shape;926;h69a5e3ff789ebc32_1_1418"/>
          <p:cNvSpPr txBox="1"/>
          <p:nvPr/>
        </p:nvSpPr>
        <p:spPr>
          <a:xfrm>
            <a:off x="8695944" y="5760720"/>
            <a:ext cx="18288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a:solidFill>
                  <a:srgbClr val="FFFFFF"/>
                </a:solidFill>
                <a:latin typeface="Montserrat"/>
                <a:ea typeface="Montserrat"/>
                <a:cs typeface="Montserrat"/>
                <a:sym typeface="Montserrat"/>
              </a:rPr>
              <a:t>Draf Laporan Akhir</a:t>
            </a:r>
            <a:br>
              <a:rPr b="1" i="0" lang="en-US" sz="1000">
                <a:solidFill>
                  <a:srgbClr val="FFFFFF"/>
                </a:solidFill>
                <a:latin typeface="Montserrat"/>
                <a:ea typeface="Montserrat"/>
                <a:cs typeface="Montserrat"/>
                <a:sym typeface="Montserrat"/>
              </a:rPr>
            </a:br>
            <a:r>
              <a:rPr b="1" i="0" lang="en-US" sz="1000">
                <a:solidFill>
                  <a:srgbClr val="FFFFFF"/>
                </a:solidFill>
                <a:latin typeface="Montserrat"/>
                <a:ea typeface="Montserrat"/>
                <a:cs typeface="Montserrat"/>
                <a:sym typeface="Montserrat"/>
              </a:rPr>
              <a:t>(target 27 Nov)</a:t>
            </a:r>
            <a:endParaRPr/>
          </a:p>
        </p:txBody>
      </p:sp>
      <p:sp>
        <p:nvSpPr>
          <p:cNvPr id="927" name="Google Shape;927;h69a5e3ff789ebc32_1_1418"/>
          <p:cNvSpPr/>
          <p:nvPr/>
        </p:nvSpPr>
        <p:spPr>
          <a:xfrm>
            <a:off x="11042294" y="5440680"/>
            <a:ext cx="310800" cy="310800"/>
          </a:xfrm>
          <a:prstGeom prst="diamond">
            <a:avLst/>
          </a:prstGeom>
          <a:solidFill>
            <a:srgbClr val="FFC00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8" name="Google Shape;928;h69a5e3ff789ebc32_1_1418"/>
          <p:cNvSpPr txBox="1"/>
          <p:nvPr/>
        </p:nvSpPr>
        <p:spPr>
          <a:xfrm>
            <a:off x="10283342" y="5760720"/>
            <a:ext cx="18288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000">
                <a:solidFill>
                  <a:srgbClr val="FFFFFF"/>
                </a:solidFill>
                <a:latin typeface="Montserrat"/>
                <a:ea typeface="Montserrat"/>
                <a:cs typeface="Montserrat"/>
                <a:sym typeface="Montserrat"/>
              </a:rPr>
              <a:t>Final</a:t>
            </a:r>
            <a:br>
              <a:rPr b="1" i="0" lang="en-US" sz="1000">
                <a:solidFill>
                  <a:srgbClr val="FFFFFF"/>
                </a:solidFill>
                <a:latin typeface="Montserrat"/>
                <a:ea typeface="Montserrat"/>
                <a:cs typeface="Montserrat"/>
                <a:sym typeface="Montserrat"/>
              </a:rPr>
            </a:br>
            <a:r>
              <a:rPr b="1" i="0" lang="en-US" sz="1000">
                <a:solidFill>
                  <a:srgbClr val="FFFFFF"/>
                </a:solidFill>
                <a:latin typeface="Montserrat"/>
                <a:ea typeface="Montserrat"/>
                <a:cs typeface="Montserrat"/>
                <a:sym typeface="Montserrat"/>
              </a:rPr>
              <a:t>7 Des</a:t>
            </a:r>
            <a:endParaRPr/>
          </a:p>
        </p:txBody>
      </p:sp>
      <p:sp>
        <p:nvSpPr>
          <p:cNvPr id="929" name="Google Shape;929;h69a5e3ff789ebc32_1_1418"/>
          <p:cNvSpPr txBox="1"/>
          <p:nvPr/>
        </p:nvSpPr>
        <p:spPr>
          <a:xfrm>
            <a:off x="594360" y="5394960"/>
            <a:ext cx="29262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00">
                <a:solidFill>
                  <a:srgbClr val="FFC00C"/>
                </a:solidFill>
                <a:latin typeface="Montserrat"/>
                <a:ea typeface="Montserrat"/>
                <a:cs typeface="Montserrat"/>
                <a:sym typeface="Montserrat"/>
              </a:rPr>
              <a:t>Tonggak</a:t>
            </a:r>
            <a:endParaRPr/>
          </a:p>
        </p:txBody>
      </p:sp>
      <p:sp>
        <p:nvSpPr>
          <p:cNvPr id="930" name="Google Shape;930;h69a5e3ff789ebc32_1_1418"/>
          <p:cNvSpPr txBox="1"/>
          <p:nvPr/>
        </p:nvSpPr>
        <p:spPr>
          <a:xfrm>
            <a:off x="594360" y="5806440"/>
            <a:ext cx="2926200" cy="30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a:solidFill>
                  <a:srgbClr val="B0C0CF"/>
                </a:solidFill>
                <a:latin typeface="Montserrat"/>
                <a:ea typeface="Montserrat"/>
                <a:cs typeface="Montserrat"/>
                <a:sym typeface="Montserrat"/>
              </a:rPr>
              <a:t>Jadwal kunjungan menyesuaikan penugasan TPN dan ketersediaan LPTK.</a:t>
            </a:r>
            <a:endParaRPr/>
          </a:p>
        </p:txBody>
      </p:sp>
      <p:sp>
        <p:nvSpPr>
          <p:cNvPr id="931" name="Google Shape;931;h69a5e3ff789ebc32_1_1418"/>
          <p:cNvSpPr/>
          <p:nvPr/>
        </p:nvSpPr>
        <p:spPr>
          <a:xfrm>
            <a:off x="5612588" y="2067563"/>
            <a:ext cx="58500" cy="3359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32" name="Google Shape;932;h69a5e3ff789ebc32_1_1418"/>
          <p:cNvSpPr/>
          <p:nvPr/>
        </p:nvSpPr>
        <p:spPr>
          <a:xfrm>
            <a:off x="9581088" y="2067563"/>
            <a:ext cx="58500" cy="3359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33" name="Google Shape;933;h69a5e3ff789ebc32_1_1418"/>
          <p:cNvSpPr/>
          <p:nvPr/>
        </p:nvSpPr>
        <p:spPr>
          <a:xfrm>
            <a:off x="11168538" y="2060013"/>
            <a:ext cx="58500" cy="3359700"/>
          </a:xfrm>
          <a:prstGeom prst="roundRect">
            <a:avLst>
              <a:gd fmla="val 16667"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937" name="Shape 937"/>
        <p:cNvGrpSpPr/>
        <p:nvPr/>
      </p:nvGrpSpPr>
      <p:grpSpPr>
        <a:xfrm>
          <a:off x="0" y="0"/>
          <a:ext cx="0" cy="0"/>
          <a:chOff x="0" y="0"/>
          <a:chExt cx="0" cy="0"/>
        </a:xfrm>
      </p:grpSpPr>
      <p:pic>
        <p:nvPicPr>
          <p:cNvPr descr="logo_white.png" id="938" name="Google Shape;938;h69a5e3ff789ebc32_1_1475"/>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939" name="Google Shape;939;h69a5e3ff789ebc32_1_1475"/>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940" name="Google Shape;940;h69a5e3ff789ebc32_1_1475"/>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19</a:t>
            </a:r>
            <a:endParaRPr/>
          </a:p>
        </p:txBody>
      </p:sp>
      <p:sp>
        <p:nvSpPr>
          <p:cNvPr id="941" name="Google Shape;941;h69a5e3ff789ebc32_1_1475"/>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LINIMASA DAN DELIVERABLES</a:t>
            </a:r>
            <a:endParaRPr/>
          </a:p>
        </p:txBody>
      </p:sp>
      <p:sp>
        <p:nvSpPr>
          <p:cNvPr id="942" name="Google Shape;942;h69a5e3ff789ebc32_1_1475"/>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800">
                <a:solidFill>
                  <a:srgbClr val="FFFFFF"/>
                </a:solidFill>
                <a:latin typeface="Montserrat ExtraBold"/>
                <a:ea typeface="Montserrat ExtraBold"/>
                <a:cs typeface="Montserrat ExtraBold"/>
                <a:sym typeface="Montserrat ExtraBold"/>
              </a:rPr>
              <a:t>Output Program </a:t>
            </a:r>
            <a:endParaRPr/>
          </a:p>
        </p:txBody>
      </p:sp>
      <p:graphicFrame>
        <p:nvGraphicFramePr>
          <p:cNvPr id="943" name="Google Shape;943;h69a5e3ff789ebc32_1_1475"/>
          <p:cNvGraphicFramePr/>
          <p:nvPr/>
        </p:nvGraphicFramePr>
        <p:xfrm>
          <a:off x="595735" y="1437228"/>
          <a:ext cx="3000000" cy="3000000"/>
        </p:xfrm>
        <a:graphic>
          <a:graphicData uri="http://schemas.openxmlformats.org/drawingml/2006/table">
            <a:tbl>
              <a:tblPr>
                <a:noFill/>
                <a:tableStyleId>{C2C3853E-632C-4474-B46B-82691FB0C724}</a:tableStyleId>
              </a:tblPr>
              <a:tblGrid>
                <a:gridCol w="2743200"/>
                <a:gridCol w="5486400"/>
                <a:gridCol w="2770625"/>
              </a:tblGrid>
              <a:tr h="384050">
                <a:tc>
                  <a:txBody>
                    <a:bodyPr/>
                    <a:lstStyle/>
                    <a:p>
                      <a:pPr indent="0" lvl="0" marL="0" marR="0" rtl="0" algn="l">
                        <a:lnSpc>
                          <a:spcPct val="105000"/>
                        </a:lnSpc>
                        <a:spcBef>
                          <a:spcPts val="0"/>
                        </a:spcBef>
                        <a:spcAft>
                          <a:spcPts val="0"/>
                        </a:spcAft>
                        <a:buNone/>
                      </a:pPr>
                      <a:r>
                        <a:rPr b="1" lang="en-US" sz="1200">
                          <a:solidFill>
                            <a:srgbClr val="092647"/>
                          </a:solidFill>
                          <a:latin typeface="Montserrat"/>
                          <a:ea typeface="Montserrat"/>
                          <a:cs typeface="Montserrat"/>
                          <a:sym typeface="Montserrat"/>
                        </a:rPr>
                        <a:t>Output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200" u="none" cap="none" strike="noStrike">
                          <a:solidFill>
                            <a:srgbClr val="092647"/>
                          </a:solidFill>
                          <a:latin typeface="Montserrat"/>
                          <a:ea typeface="Montserrat"/>
                          <a:cs typeface="Montserrat"/>
                          <a:sym typeface="Montserrat"/>
                        </a:rPr>
                        <a:t>Isi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200" u="none" cap="none" strike="noStrike">
                          <a:solidFill>
                            <a:srgbClr val="092647"/>
                          </a:solidFill>
                          <a:latin typeface="Montserrat"/>
                          <a:ea typeface="Montserrat"/>
                          <a:cs typeface="Montserrat"/>
                          <a:sym typeface="Montserrat"/>
                        </a:rPr>
                        <a:t>Waktu</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r>
              <a:tr h="960125">
                <a:tc>
                  <a:txBody>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Montserrat"/>
                          <a:ea typeface="Montserrat"/>
                          <a:cs typeface="Montserrat"/>
                          <a:sym typeface="Montserrat"/>
                        </a:rPr>
                        <a:t>1  Laporan Awal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200" u="none" cap="none" strike="noStrike">
                          <a:solidFill>
                            <a:srgbClr val="FFFFFF"/>
                          </a:solidFill>
                          <a:latin typeface="Montserrat"/>
                          <a:ea typeface="Montserrat"/>
                          <a:cs typeface="Montserrat"/>
                          <a:sym typeface="Montserrat"/>
                        </a:rPr>
                        <a:t>Telaah hasil supervisi 2025, rencana kerja, pedoman dan modul pendampingan, pemetaan jadwal TPN pada 12 LPTK, desain dan instrumen evaluasi dan studi komparatif, instrumen FGD PPL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200" u="none" cap="none" strike="noStrike">
                          <a:solidFill>
                            <a:srgbClr val="FFFFFF"/>
                          </a:solidFill>
                          <a:latin typeface="Montserrat"/>
                          <a:ea typeface="Montserrat"/>
                          <a:cs typeface="Montserrat"/>
                          <a:sym typeface="Montserrat"/>
                        </a:rPr>
                        <a:t>Sebelum kunjungan pertama (target 23 Okt 2026)</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960125">
                <a:tc>
                  <a:txBody>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Montserrat"/>
                          <a:ea typeface="Montserrat"/>
                          <a:cs typeface="Montserrat"/>
                          <a:sym typeface="Montserrat"/>
                        </a:rPr>
                        <a:t>2  Laporan Pendampingan dan Paket Perbaikan Akreditasi (12 LPTK)</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200" u="none" cap="none" strike="noStrike">
                          <a:solidFill>
                            <a:srgbClr val="FFFFFF"/>
                          </a:solidFill>
                          <a:latin typeface="Montserrat"/>
                          <a:ea typeface="Montserrat"/>
                          <a:cs typeface="Montserrat"/>
                          <a:sym typeface="Montserrat"/>
                        </a:rPr>
                        <a:t>Pemetaan dosen dan guru pamong, telaah kurikulum OBE, pemetaan awal microteaching dan PPL, publikasi/karya inovatif, SPMI/PPEPP, kesenjangan bukti akreditasi, rekomendasi, RTL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200" u="none" cap="none" strike="noStrike">
                          <a:solidFill>
                            <a:srgbClr val="FFFFFF"/>
                          </a:solidFill>
                          <a:latin typeface="Montserrat"/>
                          <a:ea typeface="Montserrat"/>
                          <a:cs typeface="Montserrat"/>
                          <a:sym typeface="Montserrat"/>
                        </a:rPr>
                        <a:t>Maksimal 14 hari setelah tiap kunjungan (target internal 10 hari)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960125">
                <a:tc>
                  <a:txBody>
                    <a:bodyPr/>
                    <a:lstStyle/>
                    <a:p>
                      <a:pPr indent="0" lvl="0" marL="0" marR="0" rtl="0" algn="l">
                        <a:lnSpc>
                          <a:spcPct val="105000"/>
                        </a:lnSpc>
                        <a:spcBef>
                          <a:spcPts val="0"/>
                        </a:spcBef>
                        <a:spcAft>
                          <a:spcPts val="0"/>
                        </a:spcAft>
                        <a:buNone/>
                      </a:pPr>
                      <a:r>
                        <a:rPr b="1" i="0" lang="en-US" sz="1200" u="none" cap="none" strike="noStrike">
                          <a:solidFill>
                            <a:srgbClr val="FFFFFF"/>
                          </a:solidFill>
                          <a:latin typeface="Montserrat"/>
                          <a:ea typeface="Montserrat"/>
                          <a:cs typeface="Montserrat"/>
                          <a:sym typeface="Montserrat"/>
                        </a:rPr>
                        <a:t>3  Paket Laporan Akhir</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200" u="none" cap="none" strike="noStrike">
                          <a:solidFill>
                            <a:srgbClr val="FFFFFF"/>
                          </a:solidFill>
                          <a:latin typeface="Montserrat"/>
                          <a:ea typeface="Montserrat"/>
                          <a:cs typeface="Montserrat"/>
                          <a:sym typeface="Montserrat"/>
                        </a:rPr>
                        <a:t>(1) Studi komparatif dan kemajuan RTL Supervisi 2025; (2) analisis implementasi PPL tiap LPTK; (3) sintesis lintas LPTK dan rekomendasi; (4) rekomendasi pedoman dan instrumen, bahan presentasi, repositori data dan bukti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200" u="none" cap="none" strike="noStrike">
                          <a:solidFill>
                            <a:srgbClr val="FFFFFF"/>
                          </a:solidFill>
                          <a:latin typeface="Montserrat"/>
                          <a:ea typeface="Montserrat"/>
                          <a:cs typeface="Montserrat"/>
                          <a:sym typeface="Montserrat"/>
                        </a:rPr>
                        <a:t>Draf November (target 27 Nov); final 7 Desember 2026</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bl>
          </a:graphicData>
        </a:graphic>
      </p:graphicFrame>
      <p:sp>
        <p:nvSpPr>
          <p:cNvPr id="944" name="Google Shape;944;h69a5e3ff789ebc32_1_1475"/>
          <p:cNvSpPr txBox="1"/>
          <p:nvPr/>
        </p:nvSpPr>
        <p:spPr>
          <a:xfrm>
            <a:off x="594360" y="5212080"/>
            <a:ext cx="8229600" cy="192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250">
                <a:solidFill>
                  <a:srgbClr val="FFC00C"/>
                </a:solidFill>
                <a:latin typeface="Montserrat"/>
                <a:ea typeface="Montserrat"/>
                <a:cs typeface="Montserrat"/>
                <a:sym typeface="Montserrat"/>
              </a:rPr>
              <a:t>Prinsip mutu yang kami terapkan pada setiap </a:t>
            </a:r>
            <a:r>
              <a:rPr b="1" lang="en-US" sz="1250">
                <a:solidFill>
                  <a:srgbClr val="FFC00C"/>
                </a:solidFill>
                <a:latin typeface="Montserrat"/>
                <a:ea typeface="Montserrat"/>
                <a:cs typeface="Montserrat"/>
                <a:sym typeface="Montserrat"/>
              </a:rPr>
              <a:t>Output</a:t>
            </a:r>
            <a:endParaRPr/>
          </a:p>
        </p:txBody>
      </p:sp>
      <p:sp>
        <p:nvSpPr>
          <p:cNvPr id="945" name="Google Shape;945;h69a5e3ff789ebc32_1_1475"/>
          <p:cNvSpPr/>
          <p:nvPr/>
        </p:nvSpPr>
        <p:spPr>
          <a:xfrm>
            <a:off x="594360" y="5577840"/>
            <a:ext cx="16239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6" name="Google Shape;946;h69a5e3ff789ebc32_1_1475"/>
          <p:cNvSpPr txBox="1"/>
          <p:nvPr/>
        </p:nvSpPr>
        <p:spPr>
          <a:xfrm>
            <a:off x="594360" y="5646653"/>
            <a:ext cx="16239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Format disepakati</a:t>
            </a:r>
            <a:endParaRPr/>
          </a:p>
        </p:txBody>
      </p:sp>
      <p:sp>
        <p:nvSpPr>
          <p:cNvPr id="947" name="Google Shape;947;h69a5e3ff789ebc32_1_1475"/>
          <p:cNvSpPr/>
          <p:nvPr/>
        </p:nvSpPr>
        <p:spPr>
          <a:xfrm>
            <a:off x="2309774" y="5577840"/>
            <a:ext cx="31530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h69a5e3ff789ebc32_1_1475"/>
          <p:cNvSpPr txBox="1"/>
          <p:nvPr/>
        </p:nvSpPr>
        <p:spPr>
          <a:xfrm>
            <a:off x="2309774" y="5646653"/>
            <a:ext cx="31530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Kondisi awal ≠ terkini ≠ rekomendasi</a:t>
            </a:r>
            <a:endParaRPr/>
          </a:p>
        </p:txBody>
      </p:sp>
      <p:sp>
        <p:nvSpPr>
          <p:cNvPr id="949" name="Google Shape;949;h69a5e3ff789ebc32_1_1475"/>
          <p:cNvSpPr/>
          <p:nvPr/>
        </p:nvSpPr>
        <p:spPr>
          <a:xfrm>
            <a:off x="5554065" y="5577840"/>
            <a:ext cx="20262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0" name="Google Shape;950;h69a5e3ff789ebc32_1_1475"/>
          <p:cNvSpPr txBox="1"/>
          <p:nvPr/>
        </p:nvSpPr>
        <p:spPr>
          <a:xfrm>
            <a:off x="5554065" y="5646653"/>
            <a:ext cx="20262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Bukti dapat ditelusuri</a:t>
            </a:r>
            <a:endParaRPr/>
          </a:p>
        </p:txBody>
      </p:sp>
      <p:sp>
        <p:nvSpPr>
          <p:cNvPr id="951" name="Google Shape;951;h69a5e3ff789ebc32_1_1475"/>
          <p:cNvSpPr/>
          <p:nvPr/>
        </p:nvSpPr>
        <p:spPr>
          <a:xfrm>
            <a:off x="7671816" y="5577840"/>
            <a:ext cx="21873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2" name="Google Shape;952;h69a5e3ff789ebc32_1_1475"/>
          <p:cNvSpPr txBox="1"/>
          <p:nvPr/>
        </p:nvSpPr>
        <p:spPr>
          <a:xfrm>
            <a:off x="7671816" y="5646653"/>
            <a:ext cx="21873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PIC dan tenggat tiap RTL</a:t>
            </a:r>
            <a:endParaRPr/>
          </a:p>
        </p:txBody>
      </p:sp>
      <p:sp>
        <p:nvSpPr>
          <p:cNvPr id="953" name="Google Shape;953;h69a5e3ff789ebc32_1_1475"/>
          <p:cNvSpPr/>
          <p:nvPr/>
        </p:nvSpPr>
        <p:spPr>
          <a:xfrm>
            <a:off x="594360" y="5961888"/>
            <a:ext cx="23481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 name="Google Shape;954;h69a5e3ff789ebc32_1_1475"/>
          <p:cNvSpPr txBox="1"/>
          <p:nvPr/>
        </p:nvSpPr>
        <p:spPr>
          <a:xfrm>
            <a:off x="594360" y="6030701"/>
            <a:ext cx="23481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Kuantitatif dan kualitatif</a:t>
            </a:r>
            <a:endParaRPr/>
          </a:p>
        </p:txBody>
      </p:sp>
      <p:sp>
        <p:nvSpPr>
          <p:cNvPr id="955" name="Google Shape;955;h69a5e3ff789ebc32_1_1475"/>
          <p:cNvSpPr/>
          <p:nvPr/>
        </p:nvSpPr>
        <p:spPr>
          <a:xfrm>
            <a:off x="3033979" y="5961888"/>
            <a:ext cx="23481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h69a5e3ff789ebc32_1_1475"/>
          <p:cNvSpPr txBox="1"/>
          <p:nvPr/>
        </p:nvSpPr>
        <p:spPr>
          <a:xfrm>
            <a:off x="3033979" y="6030701"/>
            <a:ext cx="23481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PDF final + versi editable</a:t>
            </a:r>
            <a:endParaRPr/>
          </a:p>
        </p:txBody>
      </p:sp>
      <p:sp>
        <p:nvSpPr>
          <p:cNvPr id="957" name="Google Shape;957;h69a5e3ff789ebc32_1_1475"/>
          <p:cNvSpPr/>
          <p:nvPr/>
        </p:nvSpPr>
        <p:spPr>
          <a:xfrm>
            <a:off x="5473598" y="5961888"/>
            <a:ext cx="2348100" cy="310800"/>
          </a:xfrm>
          <a:prstGeom prst="roundRect">
            <a:avLst>
              <a:gd fmla="val 50000" name="adj"/>
            </a:avLst>
          </a:prstGeom>
          <a:solidFill>
            <a:srgbClr val="0D2A4E"/>
          </a:solidFill>
          <a:ln cap="flat" cmpd="sng" w="127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8" name="Google Shape;958;h69a5e3ff789ebc32_1_1475"/>
          <p:cNvSpPr txBox="1"/>
          <p:nvPr/>
        </p:nvSpPr>
        <p:spPr>
          <a:xfrm>
            <a:off x="5473598" y="6030701"/>
            <a:ext cx="2348100" cy="14610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950">
                <a:solidFill>
                  <a:srgbClr val="FFFFFF"/>
                </a:solidFill>
                <a:latin typeface="Montserrat"/>
                <a:ea typeface="Montserrat"/>
                <a:cs typeface="Montserrat"/>
                <a:sym typeface="Montserrat"/>
              </a:rPr>
              <a:t>Semua komentar </a:t>
            </a:r>
            <a:r>
              <a:rPr b="1" lang="en-US" sz="950">
                <a:solidFill>
                  <a:srgbClr val="FFFFFF"/>
                </a:solidFill>
                <a:latin typeface="Montserrat"/>
                <a:ea typeface="Montserrat"/>
                <a:cs typeface="Montserrat"/>
                <a:sym typeface="Montserrat"/>
              </a:rPr>
              <a:t>di akomodasi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962" name="Shape 962"/>
        <p:cNvGrpSpPr/>
        <p:nvPr/>
      </p:nvGrpSpPr>
      <p:grpSpPr>
        <a:xfrm>
          <a:off x="0" y="0"/>
          <a:ext cx="0" cy="0"/>
          <a:chOff x="0" y="0"/>
          <a:chExt cx="0" cy="0"/>
        </a:xfrm>
      </p:grpSpPr>
      <p:pic>
        <p:nvPicPr>
          <p:cNvPr descr="logo_white.png" id="963" name="Google Shape;963;h69a5e3ff789ebc32_1_1499"/>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964" name="Google Shape;964;h69a5e3ff789ebc32_1_1499"/>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965" name="Google Shape;965;h69a5e3ff789ebc32_1_1499"/>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20</a:t>
            </a:r>
            <a:endParaRPr/>
          </a:p>
        </p:txBody>
      </p:sp>
      <p:sp>
        <p:nvSpPr>
          <p:cNvPr id="966" name="Google Shape;966;h69a5e3ff789ebc32_1_1499"/>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PENDEKATAN TEKNIS · MITIGASI RISIKO</a:t>
            </a:r>
            <a:endParaRPr/>
          </a:p>
        </p:txBody>
      </p:sp>
      <p:sp>
        <p:nvSpPr>
          <p:cNvPr id="967" name="Google Shape;967;h69a5e3ff789ebc32_1_1499"/>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800">
                <a:solidFill>
                  <a:srgbClr val="FFFFFF"/>
                </a:solidFill>
                <a:latin typeface="Montserrat ExtraBold"/>
                <a:ea typeface="Montserrat ExtraBold"/>
                <a:cs typeface="Montserrat ExtraBold"/>
                <a:sym typeface="Montserrat ExtraBold"/>
              </a:rPr>
              <a:t>Mitigasi Risiko</a:t>
            </a:r>
            <a:endParaRPr/>
          </a:p>
        </p:txBody>
      </p:sp>
      <p:graphicFrame>
        <p:nvGraphicFramePr>
          <p:cNvPr id="968" name="Google Shape;968;h69a5e3ff789ebc32_1_1499"/>
          <p:cNvGraphicFramePr/>
          <p:nvPr/>
        </p:nvGraphicFramePr>
        <p:xfrm>
          <a:off x="594360" y="1691640"/>
          <a:ext cx="3000000" cy="3000000"/>
        </p:xfrm>
        <a:graphic>
          <a:graphicData uri="http://schemas.openxmlformats.org/drawingml/2006/table">
            <a:tbl>
              <a:tblPr>
                <a:noFill/>
                <a:tableStyleId>{C2C3853E-632C-4474-B46B-82691FB0C724}</a:tableStyleId>
              </a:tblPr>
              <a:tblGrid>
                <a:gridCol w="3246125"/>
                <a:gridCol w="2697475"/>
                <a:gridCol w="5056625"/>
              </a:tblGrid>
              <a:tr h="384050">
                <a:tc>
                  <a:txBody>
                    <a:bodyPr/>
                    <a:lstStyle/>
                    <a:p>
                      <a:pPr indent="0" lvl="0" marL="0" marR="0" rtl="0" algn="l">
                        <a:lnSpc>
                          <a:spcPct val="105000"/>
                        </a:lnSpc>
                        <a:spcBef>
                          <a:spcPts val="0"/>
                        </a:spcBef>
                        <a:spcAft>
                          <a:spcPts val="0"/>
                        </a:spcAft>
                        <a:buNone/>
                      </a:pPr>
                      <a:r>
                        <a:rPr b="1" i="0" lang="en-US" sz="1200" u="none" cap="none" strike="noStrike">
                          <a:solidFill>
                            <a:srgbClr val="092647"/>
                          </a:solidFill>
                          <a:latin typeface="Montserrat"/>
                          <a:ea typeface="Montserrat"/>
                          <a:cs typeface="Montserrat"/>
                          <a:sym typeface="Montserrat"/>
                        </a:rPr>
                        <a:t>Risiko</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200" u="none" cap="none" strike="noStrike">
                          <a:solidFill>
                            <a:srgbClr val="092647"/>
                          </a:solidFill>
                          <a:latin typeface="Montserrat"/>
                          <a:ea typeface="Montserrat"/>
                          <a:cs typeface="Montserrat"/>
                          <a:sym typeface="Montserrat"/>
                        </a:rPr>
                        <a:t>Dampak</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c>
                  <a:txBody>
                    <a:bodyPr/>
                    <a:lstStyle/>
                    <a:p>
                      <a:pPr indent="0" lvl="0" marL="0" marR="0" rtl="0" algn="l">
                        <a:lnSpc>
                          <a:spcPct val="105000"/>
                        </a:lnSpc>
                        <a:spcBef>
                          <a:spcPts val="0"/>
                        </a:spcBef>
                        <a:spcAft>
                          <a:spcPts val="0"/>
                        </a:spcAft>
                        <a:buNone/>
                      </a:pPr>
                      <a:r>
                        <a:rPr b="1" i="0" lang="en-US" sz="1200" u="none" cap="none" strike="noStrike">
                          <a:solidFill>
                            <a:srgbClr val="092647"/>
                          </a:solidFill>
                          <a:latin typeface="Montserrat"/>
                          <a:ea typeface="Montserrat"/>
                          <a:cs typeface="Montserrat"/>
                          <a:sym typeface="Montserrat"/>
                        </a:rPr>
                        <a:t>Mitigasi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FFC00C"/>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Jadwal TPN, Direktorat, atau LPTK berubah</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Kunjungan bergeser, laporan terlambat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Kalender bersama, tanggal cadangan, dua rute paralel dan berklaster</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Dokumen atau data LPTK terlambat</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Analisis lemah</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Paket kesiapan dokumen H-7, pengingat H-3, status bukti diklaim vs terverifikasi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Kondisi awal LPTK beragam</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Perbandingan tidak adil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Skor baseline, matching, keterbatasan dinyatakan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Data pembanding terbatas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Studi komparatif dangkal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Minta akses data sejak kick-off; analisis konfigurasional dan contribution analysis</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Beban puncak November</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Laporan tertunda</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Rencana mundur dari 7 Desember, tim laporan paralel, template siap sebelum kunjungan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Data pribadi dan kerahasiaan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Pelanggaran ketentuan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Minimasi data, akses berlapis, NDA, izin tertulis sebelum publikasi</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D2A4E"/>
                    </a:solidFill>
                  </a:tcPr>
                </a:tc>
              </a:tr>
              <a:tr h="548650">
                <a:tc>
                  <a:txBody>
                    <a:bodyPr/>
                    <a:lstStyle/>
                    <a:p>
                      <a:pPr indent="0" lvl="0" marL="0" marR="0" rtl="0" algn="l">
                        <a:lnSpc>
                          <a:spcPct val="105000"/>
                        </a:lnSpc>
                        <a:spcBef>
                          <a:spcPts val="0"/>
                        </a:spcBef>
                        <a:spcAft>
                          <a:spcPts val="0"/>
                        </a:spcAft>
                        <a:buNone/>
                      </a:pPr>
                      <a:r>
                        <a:rPr b="1" i="0" lang="en-US" sz="1150" u="none" cap="none" strike="noStrike">
                          <a:solidFill>
                            <a:srgbClr val="FFFFFF"/>
                          </a:solidFill>
                          <a:latin typeface="Montserrat"/>
                          <a:ea typeface="Montserrat"/>
                          <a:cs typeface="Montserrat"/>
                          <a:sym typeface="Montserrat"/>
                        </a:rPr>
                        <a:t>Kendala perjalanan</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Biaya dan jadwal</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c>
                  <a:txBody>
                    <a:bodyPr/>
                    <a:lstStyle/>
                    <a:p>
                      <a:pPr indent="0" lvl="0" marL="0" marR="0" rtl="0" algn="l">
                        <a:lnSpc>
                          <a:spcPct val="105000"/>
                        </a:lnSpc>
                        <a:spcBef>
                          <a:spcPts val="0"/>
                        </a:spcBef>
                        <a:spcAft>
                          <a:spcPts val="0"/>
                        </a:spcAft>
                        <a:buNone/>
                      </a:pPr>
                      <a:r>
                        <a:rPr b="0" i="0" lang="en-US" sz="1150" u="none" cap="none" strike="noStrike">
                          <a:solidFill>
                            <a:srgbClr val="FFFFFF"/>
                          </a:solidFill>
                          <a:latin typeface="Montserrat"/>
                          <a:ea typeface="Montserrat"/>
                          <a:cs typeface="Montserrat"/>
                          <a:sym typeface="Montserrat"/>
                        </a:rPr>
                        <a:t>Tiket fleksibel, kontingensi, klaster rute</a:t>
                      </a:r>
                      <a:endParaRPr/>
                    </a:p>
                  </a:txBody>
                  <a:tcPr marT="36575" marB="36575" marR="91450" marL="91450" anchor="ctr">
                    <a:lnL cap="flat" cmpd="sng" w="9525">
                      <a:solidFill>
                        <a:srgbClr val="2F7E9D"/>
                      </a:solidFill>
                      <a:prstDash val="solid"/>
                      <a:round/>
                      <a:headEnd len="sm" w="sm" type="none"/>
                      <a:tailEnd len="sm" w="sm" type="none"/>
                    </a:lnL>
                    <a:lnR cap="flat" cmpd="sng" w="9525">
                      <a:solidFill>
                        <a:srgbClr val="2F7E9D"/>
                      </a:solidFill>
                      <a:prstDash val="solid"/>
                      <a:round/>
                      <a:headEnd len="sm" w="sm" type="none"/>
                      <a:tailEnd len="sm" w="sm" type="none"/>
                    </a:lnR>
                    <a:lnT cap="flat" cmpd="sng" w="9525">
                      <a:solidFill>
                        <a:srgbClr val="2F7E9D"/>
                      </a:solidFill>
                      <a:prstDash val="solid"/>
                      <a:round/>
                      <a:headEnd len="sm" w="sm" type="none"/>
                      <a:tailEnd len="sm" w="sm" type="none"/>
                    </a:lnT>
                    <a:lnB cap="flat" cmpd="sng" w="9525">
                      <a:solidFill>
                        <a:srgbClr val="2F7E9D"/>
                      </a:solidFill>
                      <a:prstDash val="solid"/>
                      <a:round/>
                      <a:headEnd len="sm" w="sm" type="none"/>
                      <a:tailEnd len="sm" w="sm" type="none"/>
                    </a:lnB>
                    <a:solidFill>
                      <a:srgbClr val="0B3361"/>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972" name="Shape 972"/>
        <p:cNvGrpSpPr/>
        <p:nvPr/>
      </p:nvGrpSpPr>
      <p:grpSpPr>
        <a:xfrm>
          <a:off x="0" y="0"/>
          <a:ext cx="0" cy="0"/>
          <a:chOff x="0" y="0"/>
          <a:chExt cx="0" cy="0"/>
        </a:xfrm>
      </p:grpSpPr>
      <p:pic>
        <p:nvPicPr>
          <p:cNvPr descr="logo_white.png" id="973" name="Google Shape;973;h69a5e3ff789ebc32_1_1508"/>
          <p:cNvPicPr preferRelativeResize="0"/>
          <p:nvPr/>
        </p:nvPicPr>
        <p:blipFill rotWithShape="1">
          <a:blip r:embed="rId4">
            <a:alphaModFix/>
          </a:blip>
          <a:srcRect b="0" l="0" r="0" t="0"/>
          <a:stretch/>
        </p:blipFill>
        <p:spPr>
          <a:xfrm>
            <a:off x="594360" y="6419088"/>
            <a:ext cx="1201596" cy="237744"/>
          </a:xfrm>
          <a:prstGeom prst="rect">
            <a:avLst/>
          </a:prstGeom>
          <a:noFill/>
          <a:ln>
            <a:noFill/>
          </a:ln>
        </p:spPr>
      </p:pic>
      <p:sp>
        <p:nvSpPr>
          <p:cNvPr id="974" name="Google Shape;974;h69a5e3ff789ebc32_1_1508"/>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975" name="Google Shape;975;h69a5e3ff789ebc32_1_1508"/>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21</a:t>
            </a:r>
            <a:endParaRPr/>
          </a:p>
        </p:txBody>
      </p:sp>
      <p:sp>
        <p:nvSpPr>
          <p:cNvPr id="976" name="Google Shape;976;h69a5e3ff789ebc32_1_1508"/>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TATA KELOLA PROYEK</a:t>
            </a:r>
            <a:endParaRPr/>
          </a:p>
        </p:txBody>
      </p:sp>
      <p:sp>
        <p:nvSpPr>
          <p:cNvPr id="977" name="Google Shape;977;h69a5e3ff789ebc32_1_1508"/>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Struktur pengawasan dan pengambilan keputusan</a:t>
            </a:r>
            <a:endParaRPr/>
          </a:p>
        </p:txBody>
      </p:sp>
      <p:sp>
        <p:nvSpPr>
          <p:cNvPr id="978" name="Google Shape;978;h69a5e3ff789ebc32_1_1508"/>
          <p:cNvSpPr/>
          <p:nvPr/>
        </p:nvSpPr>
        <p:spPr>
          <a:xfrm>
            <a:off x="594360" y="1691640"/>
            <a:ext cx="6675000" cy="1234500"/>
          </a:xfrm>
          <a:prstGeom prst="roundRect">
            <a:avLst>
              <a:gd fmla="val 20740" name="adj"/>
            </a:avLst>
          </a:prstGeom>
          <a:solidFill>
            <a:srgbClr val="FFC00C"/>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9" name="Google Shape;979;h69a5e3ff789ebc32_1_1508"/>
          <p:cNvSpPr txBox="1"/>
          <p:nvPr/>
        </p:nvSpPr>
        <p:spPr>
          <a:xfrm>
            <a:off x="822960" y="1783080"/>
            <a:ext cx="62178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092647"/>
                </a:solidFill>
                <a:latin typeface="Montserrat ExtraBold"/>
                <a:ea typeface="Montserrat ExtraBold"/>
                <a:cs typeface="Montserrat ExtraBold"/>
                <a:sym typeface="Montserrat ExtraBold"/>
              </a:rPr>
              <a:t>Steering Committee</a:t>
            </a:r>
            <a:endParaRPr/>
          </a:p>
        </p:txBody>
      </p:sp>
      <p:sp>
        <p:nvSpPr>
          <p:cNvPr id="980" name="Google Shape;980;h69a5e3ff789ebc32_1_1508"/>
          <p:cNvSpPr txBox="1"/>
          <p:nvPr/>
        </p:nvSpPr>
        <p:spPr>
          <a:xfrm>
            <a:off x="822960" y="2148840"/>
            <a:ext cx="6217800" cy="1536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lang="en-US" sz="1050">
                <a:solidFill>
                  <a:srgbClr val="092647"/>
                </a:solidFill>
                <a:latin typeface="Montserrat"/>
                <a:ea typeface="Montserrat"/>
                <a:cs typeface="Montserrat"/>
                <a:sym typeface="Montserrat"/>
              </a:rPr>
              <a:t>Kemen Dikdasmen</a:t>
            </a:r>
            <a:r>
              <a:rPr b="1" i="0" lang="en-US" sz="1050">
                <a:solidFill>
                  <a:srgbClr val="092647"/>
                </a:solidFill>
                <a:latin typeface="Montserrat"/>
                <a:ea typeface="Montserrat"/>
                <a:cs typeface="Montserrat"/>
                <a:sym typeface="Montserrat"/>
              </a:rPr>
              <a:t> (Direktorat PPG) · Tanoto Foundation · Direktur Sanggabiz</a:t>
            </a:r>
            <a:endParaRPr/>
          </a:p>
        </p:txBody>
      </p:sp>
      <p:sp>
        <p:nvSpPr>
          <p:cNvPr id="981" name="Google Shape;981;h69a5e3ff789ebc32_1_1508"/>
          <p:cNvSpPr txBox="1"/>
          <p:nvPr/>
        </p:nvSpPr>
        <p:spPr>
          <a:xfrm>
            <a:off x="822960" y="2468880"/>
            <a:ext cx="6217800" cy="3018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1000">
                <a:solidFill>
                  <a:srgbClr val="092647"/>
                </a:solidFill>
                <a:latin typeface="Montserrat"/>
                <a:ea typeface="Montserrat"/>
                <a:cs typeface="Montserrat"/>
                <a:sym typeface="Montserrat"/>
              </a:rPr>
              <a:t>Arah strategis; keputusan lingkup, jadwal, anggaran. Rapat: kick-off, reviu tengah (awal Nov), penutupan.</a:t>
            </a:r>
            <a:endParaRPr/>
          </a:p>
        </p:txBody>
      </p:sp>
      <p:sp>
        <p:nvSpPr>
          <p:cNvPr id="982" name="Google Shape;982;h69a5e3ff789ebc32_1_1508"/>
          <p:cNvSpPr/>
          <p:nvPr/>
        </p:nvSpPr>
        <p:spPr>
          <a:xfrm>
            <a:off x="594360" y="3063240"/>
            <a:ext cx="6675000" cy="1234500"/>
          </a:xfrm>
          <a:prstGeom prst="roundRect">
            <a:avLst>
              <a:gd fmla="val 20740" name="adj"/>
            </a:avLst>
          </a:prstGeom>
          <a:solidFill>
            <a:srgbClr val="2F7E9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3" name="Google Shape;983;h69a5e3ff789ebc32_1_1508"/>
          <p:cNvSpPr txBox="1"/>
          <p:nvPr/>
        </p:nvSpPr>
        <p:spPr>
          <a:xfrm>
            <a:off x="822960" y="3154680"/>
            <a:ext cx="62178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FFFFFF"/>
                </a:solidFill>
                <a:latin typeface="Montserrat ExtraBold"/>
                <a:ea typeface="Montserrat ExtraBold"/>
                <a:cs typeface="Montserrat ExtraBold"/>
                <a:sym typeface="Montserrat ExtraBold"/>
              </a:rPr>
              <a:t>Technical Committee</a:t>
            </a:r>
            <a:endParaRPr/>
          </a:p>
        </p:txBody>
      </p:sp>
      <p:sp>
        <p:nvSpPr>
          <p:cNvPr id="984" name="Google Shape;984;h69a5e3ff789ebc32_1_1508"/>
          <p:cNvSpPr txBox="1"/>
          <p:nvPr/>
        </p:nvSpPr>
        <p:spPr>
          <a:xfrm>
            <a:off x="822960" y="3520440"/>
            <a:ext cx="6217800" cy="3072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050">
                <a:solidFill>
                  <a:srgbClr val="FFFFFF"/>
                </a:solidFill>
                <a:latin typeface="Montserrat"/>
                <a:ea typeface="Montserrat"/>
                <a:cs typeface="Montserrat"/>
                <a:sym typeface="Montserrat"/>
              </a:rPr>
              <a:t>Perwakilan Direktorat PPG/TPN · unsur Kemdiktisaintek · Project Manager · Advisor · Analis</a:t>
            </a:r>
            <a:endParaRPr/>
          </a:p>
        </p:txBody>
      </p:sp>
      <p:sp>
        <p:nvSpPr>
          <p:cNvPr id="985" name="Google Shape;985;h69a5e3ff789ebc32_1_1508"/>
          <p:cNvSpPr txBox="1"/>
          <p:nvPr/>
        </p:nvSpPr>
        <p:spPr>
          <a:xfrm>
            <a:off x="822960" y="3840480"/>
            <a:ext cx="6217800" cy="3018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1000">
                <a:solidFill>
                  <a:srgbClr val="FFFFFF"/>
                </a:solidFill>
                <a:latin typeface="Montserrat"/>
                <a:ea typeface="Montserrat"/>
                <a:cs typeface="Montserrat"/>
                <a:sym typeface="Montserrat"/>
              </a:rPr>
              <a:t>Memastikan mutu </a:t>
            </a:r>
            <a:r>
              <a:rPr lang="en-US" sz="1000">
                <a:solidFill>
                  <a:srgbClr val="FFFFFF"/>
                </a:solidFill>
                <a:latin typeface="Montserrat"/>
                <a:ea typeface="Montserrat"/>
                <a:cs typeface="Montserrat"/>
                <a:sym typeface="Montserrat"/>
              </a:rPr>
              <a:t>Output</a:t>
            </a:r>
            <a:r>
              <a:rPr b="0" i="0" lang="en-US" sz="1000">
                <a:solidFill>
                  <a:srgbClr val="FFFFFF"/>
                </a:solidFill>
                <a:latin typeface="Montserrat"/>
                <a:ea typeface="Montserrat"/>
                <a:cs typeface="Montserrat"/>
                <a:sym typeface="Montserrat"/>
              </a:rPr>
              <a:t>, instrumen, jadwal kunjungan; keselarasan dengan revitalisasi LPTK dan persyaratan akreditasi. Rapat mingguan 30 menit.</a:t>
            </a:r>
            <a:endParaRPr/>
          </a:p>
        </p:txBody>
      </p:sp>
      <p:sp>
        <p:nvSpPr>
          <p:cNvPr id="986" name="Google Shape;986;h69a5e3ff789ebc32_1_1508"/>
          <p:cNvSpPr/>
          <p:nvPr/>
        </p:nvSpPr>
        <p:spPr>
          <a:xfrm>
            <a:off x="594360" y="4434840"/>
            <a:ext cx="6675000" cy="1234500"/>
          </a:xfrm>
          <a:prstGeom prst="roundRect">
            <a:avLst>
              <a:gd fmla="val 20740" name="adj"/>
            </a:avLst>
          </a:prstGeom>
          <a:solidFill>
            <a:srgbClr val="0D2A4E"/>
          </a:solidFill>
          <a:ln cap="flat" cmpd="sng" w="254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7" name="Google Shape;987;h69a5e3ff789ebc32_1_1508"/>
          <p:cNvSpPr txBox="1"/>
          <p:nvPr/>
        </p:nvSpPr>
        <p:spPr>
          <a:xfrm>
            <a:off x="822960" y="4526279"/>
            <a:ext cx="62178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FFFFFF"/>
                </a:solidFill>
                <a:latin typeface="Montserrat ExtraBold"/>
                <a:ea typeface="Montserrat ExtraBold"/>
                <a:cs typeface="Montserrat ExtraBold"/>
                <a:sym typeface="Montserrat ExtraBold"/>
              </a:rPr>
              <a:t>Advisory </a:t>
            </a:r>
            <a:r>
              <a:rPr b="0" i="0" lang="en-US" sz="1600">
                <a:solidFill>
                  <a:srgbClr val="FFFFFF"/>
                </a:solidFill>
                <a:latin typeface="Montserrat ExtraBold"/>
                <a:ea typeface="Montserrat ExtraBold"/>
                <a:cs typeface="Montserrat ExtraBold"/>
                <a:sym typeface="Montserrat ExtraBold"/>
                <a:extLst>
                  <a:ext uri="http://customooxmlschemas.google.com/">
                    <go:slidesCustomData xmlns:go="http://customooxmlschemas.google.com/" textRoundtripDataId="0"/>
                  </a:ext>
                </a:extLst>
              </a:rPr>
              <a:t>Board</a:t>
            </a:r>
            <a:endParaRPr/>
          </a:p>
        </p:txBody>
      </p:sp>
      <p:sp>
        <p:nvSpPr>
          <p:cNvPr id="988" name="Google Shape;988;h69a5e3ff789ebc32_1_1508"/>
          <p:cNvSpPr txBox="1"/>
          <p:nvPr/>
        </p:nvSpPr>
        <p:spPr>
          <a:xfrm>
            <a:off x="822960" y="4892040"/>
            <a:ext cx="6217800" cy="1536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050">
                <a:solidFill>
                  <a:srgbClr val="FFFFFF"/>
                </a:solidFill>
                <a:latin typeface="Montserrat"/>
                <a:ea typeface="Montserrat"/>
                <a:cs typeface="Montserrat"/>
                <a:sym typeface="Montserrat"/>
              </a:rPr>
              <a:t>Ahli PPG, akreditasi/penjaminan mutu, evaluasi</a:t>
            </a:r>
            <a:endParaRPr/>
          </a:p>
        </p:txBody>
      </p:sp>
      <p:sp>
        <p:nvSpPr>
          <p:cNvPr id="989" name="Google Shape;989;h69a5e3ff789ebc32_1_1508"/>
          <p:cNvSpPr txBox="1"/>
          <p:nvPr/>
        </p:nvSpPr>
        <p:spPr>
          <a:xfrm>
            <a:off x="822960" y="5212079"/>
            <a:ext cx="6217800" cy="150900"/>
          </a:xfrm>
          <a:prstGeom prst="rect">
            <a:avLst/>
          </a:prstGeom>
          <a:noFill/>
          <a:ln>
            <a:noFill/>
          </a:ln>
        </p:spPr>
        <p:txBody>
          <a:bodyPr anchorCtr="0" anchor="t" bIns="0" lIns="0" spcFirstLastPara="1" rIns="0" wrap="square" tIns="0">
            <a:spAutoFit/>
          </a:bodyPr>
          <a:lstStyle/>
          <a:p>
            <a:pPr indent="0" lvl="0" marL="0" marR="0" rtl="0" algn="l">
              <a:lnSpc>
                <a:spcPct val="98000"/>
              </a:lnSpc>
              <a:spcBef>
                <a:spcPts val="0"/>
              </a:spcBef>
              <a:spcAft>
                <a:spcPts val="0"/>
              </a:spcAft>
              <a:buNone/>
            </a:pPr>
            <a:r>
              <a:rPr b="0" i="0" lang="en-US" sz="1000">
                <a:solidFill>
                  <a:srgbClr val="FFFFFF"/>
                </a:solidFill>
                <a:latin typeface="Montserrat"/>
                <a:ea typeface="Montserrat"/>
                <a:cs typeface="Montserrat"/>
                <a:sym typeface="Montserrat"/>
              </a:rPr>
              <a:t>Reviu metodologi dan draf laporan; dua sesi (baseline dan draf akhir).</a:t>
            </a:r>
            <a:endParaRPr/>
          </a:p>
        </p:txBody>
      </p:sp>
      <p:sp>
        <p:nvSpPr>
          <p:cNvPr id="990" name="Google Shape;990;h69a5e3ff789ebc32_1_1508"/>
          <p:cNvSpPr/>
          <p:nvPr/>
        </p:nvSpPr>
        <p:spPr>
          <a:xfrm>
            <a:off x="594360" y="5806440"/>
            <a:ext cx="6675000" cy="457200"/>
          </a:xfrm>
          <a:prstGeom prst="roundRect">
            <a:avLst>
              <a:gd fmla="val 40000" name="adj"/>
            </a:avLst>
          </a:prstGeom>
          <a:solidFill>
            <a:srgbClr val="0B3361"/>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h69a5e3ff789ebc32_1_1508"/>
          <p:cNvSpPr txBox="1"/>
          <p:nvPr/>
        </p:nvSpPr>
        <p:spPr>
          <a:xfrm>
            <a:off x="822960" y="5866465"/>
            <a:ext cx="6217800" cy="3555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FFFF"/>
                </a:solidFill>
                <a:latin typeface="Montserrat"/>
                <a:ea typeface="Montserrat"/>
                <a:cs typeface="Montserrat"/>
                <a:sym typeface="Montserrat"/>
              </a:rPr>
              <a:t>Tim pelaksana: Project Manager, koordinator lapangan (2), analis data, administrator dokumentasi</a:t>
            </a:r>
            <a:endParaRPr/>
          </a:p>
        </p:txBody>
      </p:sp>
      <p:sp>
        <p:nvSpPr>
          <p:cNvPr id="992" name="Google Shape;992;h69a5e3ff789ebc32_1_1508"/>
          <p:cNvSpPr/>
          <p:nvPr/>
        </p:nvSpPr>
        <p:spPr>
          <a:xfrm>
            <a:off x="7543800" y="1691640"/>
            <a:ext cx="4023300" cy="4572000"/>
          </a:xfrm>
          <a:prstGeom prst="roundRect">
            <a:avLst>
              <a:gd fmla="val 6363"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h69a5e3ff789ebc32_1_1508"/>
          <p:cNvSpPr txBox="1"/>
          <p:nvPr/>
        </p:nvSpPr>
        <p:spPr>
          <a:xfrm>
            <a:off x="7772400" y="1828800"/>
            <a:ext cx="3566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a:solidFill>
                  <a:srgbClr val="FFC00C"/>
                </a:solidFill>
                <a:latin typeface="Montserrat ExtraBold"/>
                <a:ea typeface="Montserrat ExtraBold"/>
                <a:cs typeface="Montserrat ExtraBold"/>
                <a:sym typeface="Montserrat ExtraBold"/>
              </a:rPr>
              <a:t>Mekanisme kerja</a:t>
            </a:r>
            <a:endParaRPr/>
          </a:p>
        </p:txBody>
      </p:sp>
      <p:sp>
        <p:nvSpPr>
          <p:cNvPr id="994" name="Google Shape;994;h69a5e3ff789ebc32_1_1508"/>
          <p:cNvSpPr txBox="1"/>
          <p:nvPr/>
        </p:nvSpPr>
        <p:spPr>
          <a:xfrm>
            <a:off x="7772400" y="2286000"/>
            <a:ext cx="3612000" cy="2416500"/>
          </a:xfrm>
          <a:prstGeom prst="rect">
            <a:avLst/>
          </a:prstGeom>
          <a:noFill/>
          <a:ln>
            <a:noFill/>
          </a:ln>
        </p:spPr>
        <p:txBody>
          <a:bodyPr anchorCtr="0" anchor="t" bIns="0" lIns="0" spcFirstLastPara="1" rIns="0" wrap="square" tIns="0">
            <a:spAutoFit/>
          </a:bodyPr>
          <a:lstStyle/>
          <a:p>
            <a:pPr indent="-201168" lvl="0" marL="201168" marR="0" rtl="0" algn="l">
              <a:lnSpc>
                <a:spcPct val="110000"/>
              </a:lnSpc>
              <a:spcBef>
                <a:spcPts val="0"/>
              </a:spcBef>
              <a:spcAft>
                <a:spcPts val="0"/>
              </a:spcAft>
              <a:buClr>
                <a:srgbClr val="FFC00C"/>
              </a:buClr>
              <a:buSzPts val="1100"/>
              <a:buFont typeface="Arial"/>
              <a:buChar char="•"/>
            </a:pPr>
            <a:r>
              <a:rPr b="0" i="0" lang="en-US" sz="1100">
                <a:solidFill>
                  <a:srgbClr val="FFFFFF"/>
                </a:solidFill>
                <a:latin typeface="Montserrat"/>
                <a:ea typeface="Montserrat"/>
                <a:cs typeface="Montserrat"/>
                <a:sym typeface="Montserrat"/>
              </a:rPr>
              <a:t>Satu pintu komunikasi: Project Manager ↔ narahubung TF dan Direktorat</a:t>
            </a:r>
            <a:endParaRPr/>
          </a:p>
          <a:p>
            <a:pPr indent="-201168" lvl="0" marL="201168" marR="0" rtl="0" algn="l">
              <a:lnSpc>
                <a:spcPct val="110000"/>
              </a:lnSpc>
              <a:spcBef>
                <a:spcPts val="600"/>
              </a:spcBef>
              <a:spcAft>
                <a:spcPts val="0"/>
              </a:spcAft>
              <a:buClr>
                <a:srgbClr val="FFC00C"/>
              </a:buClr>
              <a:buSzPts val="1100"/>
              <a:buFont typeface="Arial"/>
              <a:buChar char="•"/>
            </a:pPr>
            <a:r>
              <a:rPr b="0" i="0" lang="en-US" sz="1100">
                <a:solidFill>
                  <a:srgbClr val="FFFFFF"/>
                </a:solidFill>
                <a:latin typeface="Montserrat"/>
                <a:ea typeface="Montserrat"/>
                <a:cs typeface="Montserrat"/>
                <a:sym typeface="Montserrat"/>
              </a:rPr>
              <a:t>Laporan kemajuan mingguan singkat (status, risiko, keputusan yang diminta)</a:t>
            </a:r>
            <a:endParaRPr/>
          </a:p>
          <a:p>
            <a:pPr indent="-201168" lvl="0" marL="201168" marR="0" rtl="0" algn="l">
              <a:lnSpc>
                <a:spcPct val="110000"/>
              </a:lnSpc>
              <a:spcBef>
                <a:spcPts val="600"/>
              </a:spcBef>
              <a:spcAft>
                <a:spcPts val="0"/>
              </a:spcAft>
              <a:buClr>
                <a:srgbClr val="FFC00C"/>
              </a:buClr>
              <a:buSzPts val="1100"/>
              <a:buFont typeface="Arial"/>
              <a:buChar char="•"/>
            </a:pPr>
            <a:r>
              <a:rPr b="0" i="0" lang="en-US" sz="1100">
                <a:solidFill>
                  <a:srgbClr val="FFFFFF"/>
                </a:solidFill>
                <a:latin typeface="Montserrat"/>
                <a:ea typeface="Montserrat"/>
                <a:cs typeface="Montserrat"/>
                <a:sym typeface="Montserrat"/>
              </a:rPr>
              <a:t>Koordinasi dengan Kemdiktisaintek dilakukan melalui Direktorat PPG, bukan langsung — sesuai struktur tim pendampingan bersama</a:t>
            </a:r>
            <a:endParaRPr/>
          </a:p>
          <a:p>
            <a:pPr indent="-201168" lvl="0" marL="201168" marR="0" rtl="0" algn="l">
              <a:lnSpc>
                <a:spcPct val="110000"/>
              </a:lnSpc>
              <a:spcBef>
                <a:spcPts val="600"/>
              </a:spcBef>
              <a:spcAft>
                <a:spcPts val="0"/>
              </a:spcAft>
              <a:buClr>
                <a:srgbClr val="FFC00C"/>
              </a:buClr>
              <a:buSzPts val="1100"/>
              <a:buFont typeface="Arial"/>
              <a:buChar char="•"/>
            </a:pPr>
            <a:r>
              <a:rPr b="0" i="0" lang="en-US" sz="1100">
                <a:solidFill>
                  <a:srgbClr val="FFFFFF"/>
                </a:solidFill>
                <a:latin typeface="Montserrat"/>
                <a:ea typeface="Montserrat"/>
                <a:cs typeface="Montserrat"/>
                <a:sym typeface="Montserrat"/>
              </a:rPr>
              <a:t>Setiap perubahan lingkup dan alokasi anggaran memerlukan persetujuan tertulis TF</a:t>
            </a:r>
            <a:endParaRPr/>
          </a:p>
          <a:p>
            <a:pPr indent="-201168" lvl="0" marL="201168" marR="0" rtl="0" algn="l">
              <a:lnSpc>
                <a:spcPct val="110000"/>
              </a:lnSpc>
              <a:spcBef>
                <a:spcPts val="600"/>
              </a:spcBef>
              <a:spcAft>
                <a:spcPts val="0"/>
              </a:spcAft>
              <a:buClr>
                <a:srgbClr val="FFC00C"/>
              </a:buClr>
              <a:buSzPts val="1100"/>
              <a:buFont typeface="Arial"/>
              <a:buChar char="•"/>
            </a:pPr>
            <a:r>
              <a:rPr b="0" i="0" lang="en-US" sz="1100">
                <a:solidFill>
                  <a:srgbClr val="FFFFFF"/>
                </a:solidFill>
                <a:latin typeface="Montserrat"/>
                <a:ea typeface="Montserrat"/>
                <a:cs typeface="Montserrat"/>
                <a:sym typeface="Montserrat"/>
              </a:rPr>
              <a:t>Reviu dua lapis sebelum laporan dikirim</a:t>
            </a:r>
            <a:endParaRPr/>
          </a:p>
          <a:p>
            <a:pPr indent="-201168" lvl="0" marL="201168" marR="0" rtl="0" algn="l">
              <a:lnSpc>
                <a:spcPct val="110000"/>
              </a:lnSpc>
              <a:spcBef>
                <a:spcPts val="600"/>
              </a:spcBef>
              <a:spcAft>
                <a:spcPts val="0"/>
              </a:spcAft>
              <a:buClr>
                <a:srgbClr val="FFC00C"/>
              </a:buClr>
              <a:buSzPts val="1100"/>
              <a:buFont typeface="Arial"/>
              <a:buChar char="•"/>
            </a:pPr>
            <a:r>
              <a:rPr b="0" i="0" lang="en-US" sz="1100">
                <a:solidFill>
                  <a:srgbClr val="FFFFFF"/>
                </a:solidFill>
                <a:latin typeface="Montserrat"/>
                <a:ea typeface="Montserrat"/>
                <a:cs typeface="Montserrat"/>
                <a:sym typeface="Montserrat"/>
              </a:rPr>
              <a:t>ToR lengkap tiap badan pada lampiran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998" name="Shape 998"/>
        <p:cNvGrpSpPr/>
        <p:nvPr/>
      </p:nvGrpSpPr>
      <p:grpSpPr>
        <a:xfrm>
          <a:off x="0" y="0"/>
          <a:ext cx="0" cy="0"/>
          <a:chOff x="0" y="0"/>
          <a:chExt cx="0" cy="0"/>
        </a:xfrm>
      </p:grpSpPr>
      <p:pic>
        <p:nvPicPr>
          <p:cNvPr descr="logo_white.png" id="999" name="Google Shape;999;h69a5e3ff789ebc32_1_1533"/>
          <p:cNvPicPr preferRelativeResize="0"/>
          <p:nvPr/>
        </p:nvPicPr>
        <p:blipFill rotWithShape="1">
          <a:blip r:embed="rId4">
            <a:alphaModFix/>
          </a:blip>
          <a:srcRect b="0" l="0" r="0" t="0"/>
          <a:stretch/>
        </p:blipFill>
        <p:spPr>
          <a:xfrm>
            <a:off x="594360" y="6419088"/>
            <a:ext cx="1201596" cy="237744"/>
          </a:xfrm>
          <a:prstGeom prst="rect">
            <a:avLst/>
          </a:prstGeom>
          <a:noFill/>
          <a:ln>
            <a:noFill/>
          </a:ln>
        </p:spPr>
      </p:pic>
      <p:sp>
        <p:nvSpPr>
          <p:cNvPr id="1000" name="Google Shape;1000;h69a5e3ff789ebc32_1_1533"/>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001" name="Google Shape;1001;h69a5e3ff789ebc32_1_153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22</a:t>
            </a:r>
            <a:endParaRPr/>
          </a:p>
        </p:txBody>
      </p:sp>
      <p:sp>
        <p:nvSpPr>
          <p:cNvPr id="1002" name="Google Shape;1002;h69a5e3ff789ebc32_1_1533"/>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KUALITAS DAN KAPABILITAS TIM · 20%</a:t>
            </a:r>
            <a:endParaRPr/>
          </a:p>
        </p:txBody>
      </p:sp>
      <p:sp>
        <p:nvSpPr>
          <p:cNvPr id="1003" name="Google Shape;1003;h69a5e3ff789ebc32_1_1533"/>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Struktur tim dan </a:t>
            </a:r>
            <a:r>
              <a:rPr b="0" i="0" lang="en-US" sz="2800">
                <a:solidFill>
                  <a:srgbClr val="FFFFFF"/>
                </a:solidFill>
                <a:latin typeface="Montserrat ExtraBold"/>
                <a:ea typeface="Montserrat ExtraBold"/>
                <a:cs typeface="Montserrat ExtraBold"/>
                <a:sym typeface="Montserrat ExtraBold"/>
                <a:extLst>
                  <a:ext uri="http://customooxmlschemas.google.com/">
                    <go:slidesCustomData xmlns:go="http://customooxmlschemas.google.com/" textRoundtripDataId="1"/>
                  </a:ext>
                </a:extLst>
              </a:rPr>
              <a:t>pembagian</a:t>
            </a:r>
            <a:r>
              <a:rPr b="0" i="0" lang="en-US" sz="2800">
                <a:solidFill>
                  <a:srgbClr val="FFFFFF"/>
                </a:solidFill>
                <a:latin typeface="Montserrat ExtraBold"/>
                <a:ea typeface="Montserrat ExtraBold"/>
                <a:cs typeface="Montserrat ExtraBold"/>
                <a:sym typeface="Montserrat ExtraBold"/>
              </a:rPr>
              <a:t> peran</a:t>
            </a:r>
            <a:endParaRPr/>
          </a:p>
        </p:txBody>
      </p:sp>
      <p:sp>
        <p:nvSpPr>
          <p:cNvPr id="1004" name="Google Shape;1004;h69a5e3ff789ebc32_1_1533"/>
          <p:cNvSpPr/>
          <p:nvPr/>
        </p:nvSpPr>
        <p:spPr>
          <a:xfrm>
            <a:off x="594360" y="1691640"/>
            <a:ext cx="5440800" cy="1024200"/>
          </a:xfrm>
          <a:prstGeom prst="roundRect">
            <a:avLst>
              <a:gd fmla="val 17857" name="adj"/>
            </a:avLst>
          </a:prstGeom>
          <a:solidFill>
            <a:srgbClr val="2F7E9D"/>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5" name="Google Shape;1005;h69a5e3ff789ebc32_1_1533"/>
          <p:cNvSpPr txBox="1"/>
          <p:nvPr/>
        </p:nvSpPr>
        <p:spPr>
          <a:xfrm>
            <a:off x="777240" y="1764792"/>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Direktur Proyek</a:t>
            </a:r>
            <a:endParaRPr/>
          </a:p>
        </p:txBody>
      </p:sp>
      <p:sp>
        <p:nvSpPr>
          <p:cNvPr id="1006" name="Google Shape;1006;h69a5e3ff789ebc32_1_1533"/>
          <p:cNvSpPr txBox="1"/>
          <p:nvPr/>
        </p:nvSpPr>
        <p:spPr>
          <a:xfrm>
            <a:off x="777240" y="2084832"/>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Steering, hubungan dengan TF dan Direktorat PPG, jaminan mutu</a:t>
            </a:r>
            <a:endParaRPr/>
          </a:p>
        </p:txBody>
      </p:sp>
      <p:sp>
        <p:nvSpPr>
          <p:cNvPr id="1007" name="Google Shape;1007;h69a5e3ff789ebc32_1_1533"/>
          <p:cNvSpPr txBox="1"/>
          <p:nvPr/>
        </p:nvSpPr>
        <p:spPr>
          <a:xfrm>
            <a:off x="777240" y="2404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Personel Kunci]</a:t>
            </a:r>
            <a:endParaRPr/>
          </a:p>
        </p:txBody>
      </p:sp>
      <p:sp>
        <p:nvSpPr>
          <p:cNvPr id="1008" name="Google Shape;1008;h69a5e3ff789ebc32_1_1533"/>
          <p:cNvSpPr/>
          <p:nvPr/>
        </p:nvSpPr>
        <p:spPr>
          <a:xfrm>
            <a:off x="6153912" y="1691640"/>
            <a:ext cx="5440800" cy="1024200"/>
          </a:xfrm>
          <a:prstGeom prst="roundRect">
            <a:avLst>
              <a:gd fmla="val 17857" name="adj"/>
            </a:avLst>
          </a:prstGeom>
          <a:solidFill>
            <a:srgbClr val="2F7E9D"/>
          </a:solidFill>
          <a:ln cap="flat" cmpd="sng" w="222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9" name="Google Shape;1009;h69a5e3ff789ebc32_1_1533"/>
          <p:cNvSpPr txBox="1"/>
          <p:nvPr/>
        </p:nvSpPr>
        <p:spPr>
          <a:xfrm>
            <a:off x="6336792" y="1764792"/>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Project Manager dan Koordinator Nasional</a:t>
            </a:r>
            <a:endParaRPr/>
          </a:p>
        </p:txBody>
      </p:sp>
      <p:sp>
        <p:nvSpPr>
          <p:cNvPr id="1010" name="Google Shape;1010;h69a5e3ff789ebc32_1_1533"/>
          <p:cNvSpPr txBox="1"/>
          <p:nvPr/>
        </p:nvSpPr>
        <p:spPr>
          <a:xfrm>
            <a:off x="6336792" y="2084832"/>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Jadwal, koordinasi TPN, kontrol mutu, laporan mingguan</a:t>
            </a:r>
            <a:endParaRPr/>
          </a:p>
        </p:txBody>
      </p:sp>
      <p:sp>
        <p:nvSpPr>
          <p:cNvPr id="1011" name="Google Shape;1011;h69a5e3ff789ebc32_1_1533"/>
          <p:cNvSpPr txBox="1"/>
          <p:nvPr/>
        </p:nvSpPr>
        <p:spPr>
          <a:xfrm>
            <a:off x="6336792" y="2404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a:t>
            </a:r>
            <a:r>
              <a:rPr i="1" lang="en-US" sz="950">
                <a:solidFill>
                  <a:srgbClr val="FFC00C"/>
                </a:solidFill>
                <a:latin typeface="Montserrat"/>
                <a:ea typeface="Montserrat"/>
                <a:cs typeface="Montserrat"/>
                <a:sym typeface="Montserrat"/>
              </a:rPr>
              <a:t>Personil</a:t>
            </a:r>
            <a:r>
              <a:rPr b="0" i="1" lang="en-US" sz="950">
                <a:solidFill>
                  <a:srgbClr val="FFC00C"/>
                </a:solidFill>
                <a:latin typeface="Montserrat"/>
                <a:ea typeface="Montserrat"/>
                <a:cs typeface="Montserrat"/>
                <a:sym typeface="Montserrat"/>
              </a:rPr>
              <a:t> Kunci]</a:t>
            </a:r>
            <a:endParaRPr/>
          </a:p>
        </p:txBody>
      </p:sp>
      <p:sp>
        <p:nvSpPr>
          <p:cNvPr id="1012" name="Google Shape;1012;h69a5e3ff789ebc32_1_1533"/>
          <p:cNvSpPr/>
          <p:nvPr/>
        </p:nvSpPr>
        <p:spPr>
          <a:xfrm>
            <a:off x="594360" y="2834640"/>
            <a:ext cx="5440800" cy="1024200"/>
          </a:xfrm>
          <a:prstGeom prst="roundRect">
            <a:avLst>
              <a:gd fmla="val 17857"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3" name="Google Shape;1013;h69a5e3ff789ebc32_1_1533"/>
          <p:cNvSpPr txBox="1"/>
          <p:nvPr/>
        </p:nvSpPr>
        <p:spPr>
          <a:xfrm>
            <a:off x="777240" y="2907792"/>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Ahli Akreditasi dan Penjaminan Mutu PPG</a:t>
            </a:r>
            <a:endParaRPr/>
          </a:p>
        </p:txBody>
      </p:sp>
      <p:sp>
        <p:nvSpPr>
          <p:cNvPr id="1014" name="Google Shape;1014;h69a5e3ff789ebc32_1_1533"/>
          <p:cNvSpPr txBox="1"/>
          <p:nvPr/>
        </p:nvSpPr>
        <p:spPr>
          <a:xfrm>
            <a:off x="777240" y="3227832"/>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Rubrik, Paket Perbaikan Akreditasi, reviu laporan</a:t>
            </a:r>
            <a:endParaRPr/>
          </a:p>
        </p:txBody>
      </p:sp>
      <p:sp>
        <p:nvSpPr>
          <p:cNvPr id="1015" name="Google Shape;1015;h69a5e3ff789ebc32_1_1533"/>
          <p:cNvSpPr txBox="1"/>
          <p:nvPr/>
        </p:nvSpPr>
        <p:spPr>
          <a:xfrm>
            <a:off x="777240" y="3547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a:t>
            </a:r>
            <a:r>
              <a:rPr i="1" lang="en-US" sz="950">
                <a:solidFill>
                  <a:srgbClr val="FFC00C"/>
                </a:solidFill>
                <a:latin typeface="Montserrat"/>
                <a:ea typeface="Montserrat"/>
                <a:cs typeface="Montserrat"/>
                <a:sym typeface="Montserrat"/>
              </a:rPr>
              <a:t>Personil</a:t>
            </a:r>
            <a:r>
              <a:rPr b="0" i="1" lang="en-US" sz="950">
                <a:solidFill>
                  <a:srgbClr val="FFC00C"/>
                </a:solidFill>
                <a:latin typeface="Montserrat"/>
                <a:ea typeface="Montserrat"/>
                <a:cs typeface="Montserrat"/>
                <a:sym typeface="Montserrat"/>
              </a:rPr>
              <a:t> Kunci]</a:t>
            </a:r>
            <a:endParaRPr/>
          </a:p>
        </p:txBody>
      </p:sp>
      <p:sp>
        <p:nvSpPr>
          <p:cNvPr id="1016" name="Google Shape;1016;h69a5e3ff789ebc32_1_1533"/>
          <p:cNvSpPr/>
          <p:nvPr/>
        </p:nvSpPr>
        <p:spPr>
          <a:xfrm>
            <a:off x="6153912" y="2834640"/>
            <a:ext cx="5440800" cy="1024200"/>
          </a:xfrm>
          <a:prstGeom prst="roundRect">
            <a:avLst>
              <a:gd fmla="val 17857"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7" name="Google Shape;1017;h69a5e3ff789ebc32_1_1533"/>
          <p:cNvSpPr txBox="1"/>
          <p:nvPr/>
        </p:nvSpPr>
        <p:spPr>
          <a:xfrm>
            <a:off x="6336792" y="2907792"/>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Ahli OBE, Kurikulum, dan PPL</a:t>
            </a:r>
            <a:endParaRPr/>
          </a:p>
        </p:txBody>
      </p:sp>
      <p:sp>
        <p:nvSpPr>
          <p:cNvPr id="1018" name="Google Shape;1018;h69a5e3ff789ebc32_1_1533"/>
          <p:cNvSpPr txBox="1"/>
          <p:nvPr/>
        </p:nvSpPr>
        <p:spPr>
          <a:xfrm>
            <a:off x="6336792" y="3227832"/>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Instrumen CPL, pemetaan PPL dan microteaching, FGD</a:t>
            </a:r>
            <a:endParaRPr/>
          </a:p>
        </p:txBody>
      </p:sp>
      <p:sp>
        <p:nvSpPr>
          <p:cNvPr id="1019" name="Google Shape;1019;h69a5e3ff789ebc32_1_1533"/>
          <p:cNvSpPr txBox="1"/>
          <p:nvPr/>
        </p:nvSpPr>
        <p:spPr>
          <a:xfrm>
            <a:off x="6336792" y="3547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a:t>
            </a:r>
            <a:r>
              <a:rPr i="1" lang="en-US" sz="950">
                <a:solidFill>
                  <a:srgbClr val="FFC00C"/>
                </a:solidFill>
                <a:latin typeface="Montserrat"/>
                <a:ea typeface="Montserrat"/>
                <a:cs typeface="Montserrat"/>
                <a:sym typeface="Montserrat"/>
              </a:rPr>
              <a:t>Personil</a:t>
            </a:r>
            <a:r>
              <a:rPr b="0" i="1" lang="en-US" sz="950">
                <a:solidFill>
                  <a:srgbClr val="FFC00C"/>
                </a:solidFill>
                <a:latin typeface="Montserrat"/>
                <a:ea typeface="Montserrat"/>
                <a:cs typeface="Montserrat"/>
                <a:sym typeface="Montserrat"/>
              </a:rPr>
              <a:t> Kunci]</a:t>
            </a:r>
            <a:endParaRPr/>
          </a:p>
        </p:txBody>
      </p:sp>
      <p:sp>
        <p:nvSpPr>
          <p:cNvPr id="1020" name="Google Shape;1020;h69a5e3ff789ebc32_1_1533"/>
          <p:cNvSpPr/>
          <p:nvPr/>
        </p:nvSpPr>
        <p:spPr>
          <a:xfrm>
            <a:off x="594360" y="3977639"/>
            <a:ext cx="5440800" cy="1024200"/>
          </a:xfrm>
          <a:prstGeom prst="roundRect">
            <a:avLst>
              <a:gd fmla="val 17857"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1" name="Google Shape;1021;h69a5e3ff789ebc32_1_1533"/>
          <p:cNvSpPr txBox="1"/>
          <p:nvPr/>
        </p:nvSpPr>
        <p:spPr>
          <a:xfrm>
            <a:off x="777240" y="4050791"/>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Analis Data dan Studi Komparatif</a:t>
            </a:r>
            <a:endParaRPr/>
          </a:p>
        </p:txBody>
      </p:sp>
      <p:sp>
        <p:nvSpPr>
          <p:cNvPr id="1022" name="Google Shape;1022;h69a5e3ff789ebc32_1_1533"/>
          <p:cNvSpPr txBox="1"/>
          <p:nvPr/>
        </p:nvSpPr>
        <p:spPr>
          <a:xfrm>
            <a:off x="777240" y="4370831"/>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Matching, analisis kemajuan, dashboard, tabel keseimbangan</a:t>
            </a:r>
            <a:endParaRPr/>
          </a:p>
        </p:txBody>
      </p:sp>
      <p:sp>
        <p:nvSpPr>
          <p:cNvPr id="1023" name="Google Shape;1023;h69a5e3ff789ebc32_1_1533"/>
          <p:cNvSpPr txBox="1"/>
          <p:nvPr/>
        </p:nvSpPr>
        <p:spPr>
          <a:xfrm>
            <a:off x="777240" y="4690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a:t>
            </a:r>
            <a:r>
              <a:rPr i="1" lang="en-US" sz="950">
                <a:solidFill>
                  <a:srgbClr val="FFC00C"/>
                </a:solidFill>
                <a:latin typeface="Montserrat"/>
                <a:ea typeface="Montserrat"/>
                <a:cs typeface="Montserrat"/>
                <a:sym typeface="Montserrat"/>
              </a:rPr>
              <a:t>Personil</a:t>
            </a:r>
            <a:r>
              <a:rPr b="0" i="1" lang="en-US" sz="950">
                <a:solidFill>
                  <a:srgbClr val="FFC00C"/>
                </a:solidFill>
                <a:latin typeface="Montserrat"/>
                <a:ea typeface="Montserrat"/>
                <a:cs typeface="Montserrat"/>
                <a:sym typeface="Montserrat"/>
              </a:rPr>
              <a:t> Kunci]</a:t>
            </a:r>
            <a:endParaRPr/>
          </a:p>
        </p:txBody>
      </p:sp>
      <p:sp>
        <p:nvSpPr>
          <p:cNvPr id="1024" name="Google Shape;1024;h69a5e3ff789ebc32_1_1533"/>
          <p:cNvSpPr/>
          <p:nvPr/>
        </p:nvSpPr>
        <p:spPr>
          <a:xfrm>
            <a:off x="6153912" y="3977639"/>
            <a:ext cx="5440800" cy="1024200"/>
          </a:xfrm>
          <a:prstGeom prst="roundRect">
            <a:avLst>
              <a:gd fmla="val 17857"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h69a5e3ff789ebc32_1_1533"/>
          <p:cNvSpPr txBox="1"/>
          <p:nvPr/>
        </p:nvSpPr>
        <p:spPr>
          <a:xfrm>
            <a:off x="6336792" y="4050791"/>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Koordinator Lapangan (2 orang)</a:t>
            </a:r>
            <a:endParaRPr/>
          </a:p>
        </p:txBody>
      </p:sp>
      <p:sp>
        <p:nvSpPr>
          <p:cNvPr id="1026" name="Google Shape;1026;h69a5e3ff789ebc32_1_1533"/>
          <p:cNvSpPr txBox="1"/>
          <p:nvPr/>
        </p:nvSpPr>
        <p:spPr>
          <a:xfrm>
            <a:off x="6336792" y="4370831"/>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Rute Sumatera; Rute Jawa–Kaltim; logistik dan kunjungan</a:t>
            </a:r>
            <a:endParaRPr/>
          </a:p>
        </p:txBody>
      </p:sp>
      <p:sp>
        <p:nvSpPr>
          <p:cNvPr id="1027" name="Google Shape;1027;h69a5e3ff789ebc32_1_1533"/>
          <p:cNvSpPr txBox="1"/>
          <p:nvPr/>
        </p:nvSpPr>
        <p:spPr>
          <a:xfrm>
            <a:off x="6336792" y="4690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a:t>
            </a:r>
            <a:r>
              <a:rPr i="1" lang="en-US" sz="950">
                <a:solidFill>
                  <a:srgbClr val="FFC00C"/>
                </a:solidFill>
                <a:latin typeface="Montserrat"/>
                <a:ea typeface="Montserrat"/>
                <a:cs typeface="Montserrat"/>
                <a:sym typeface="Montserrat"/>
              </a:rPr>
              <a:t>Personil</a:t>
            </a:r>
            <a:r>
              <a:rPr b="0" i="1" lang="en-US" sz="950">
                <a:solidFill>
                  <a:srgbClr val="FFC00C"/>
                </a:solidFill>
                <a:latin typeface="Montserrat"/>
                <a:ea typeface="Montserrat"/>
                <a:cs typeface="Montserrat"/>
                <a:sym typeface="Montserrat"/>
              </a:rPr>
              <a:t> Kunci]</a:t>
            </a:r>
            <a:endParaRPr/>
          </a:p>
        </p:txBody>
      </p:sp>
      <p:sp>
        <p:nvSpPr>
          <p:cNvPr id="1028" name="Google Shape;1028;h69a5e3ff789ebc32_1_1533"/>
          <p:cNvSpPr/>
          <p:nvPr/>
        </p:nvSpPr>
        <p:spPr>
          <a:xfrm>
            <a:off x="594360" y="5120640"/>
            <a:ext cx="5440800" cy="1024200"/>
          </a:xfrm>
          <a:prstGeom prst="roundRect">
            <a:avLst>
              <a:gd fmla="val 17857" name="adj"/>
            </a:avLst>
          </a:prstGeom>
          <a:solidFill>
            <a:srgbClr val="0D2A4E"/>
          </a:solidFill>
          <a:ln cap="flat" cmpd="sng" w="22225">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9" name="Google Shape;1029;h69a5e3ff789ebc32_1_1533"/>
          <p:cNvSpPr txBox="1"/>
          <p:nvPr/>
        </p:nvSpPr>
        <p:spPr>
          <a:xfrm>
            <a:off x="777240" y="5193792"/>
            <a:ext cx="50748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300">
                <a:solidFill>
                  <a:srgbClr val="FFFFFF"/>
                </a:solidFill>
                <a:latin typeface="Montserrat ExtraBold"/>
                <a:ea typeface="Montserrat ExtraBold"/>
                <a:cs typeface="Montserrat ExtraBold"/>
                <a:sym typeface="Montserrat ExtraBold"/>
              </a:rPr>
              <a:t>Administrator Data dan Dokumentasi</a:t>
            </a:r>
            <a:endParaRPr/>
          </a:p>
        </p:txBody>
      </p:sp>
      <p:sp>
        <p:nvSpPr>
          <p:cNvPr id="1030" name="Google Shape;1030;h69a5e3ff789ebc32_1_1533"/>
          <p:cNvSpPr txBox="1"/>
          <p:nvPr/>
        </p:nvSpPr>
        <p:spPr>
          <a:xfrm>
            <a:off x="777240" y="5513831"/>
            <a:ext cx="50748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Evidence Register, repositori, notulen, log komentar</a:t>
            </a:r>
            <a:endParaRPr/>
          </a:p>
        </p:txBody>
      </p:sp>
      <p:sp>
        <p:nvSpPr>
          <p:cNvPr id="1031" name="Google Shape;1031;h69a5e3ff789ebc32_1_1533"/>
          <p:cNvSpPr txBox="1"/>
          <p:nvPr/>
        </p:nvSpPr>
        <p:spPr>
          <a:xfrm>
            <a:off x="777240" y="5833872"/>
            <a:ext cx="50748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950">
                <a:solidFill>
                  <a:srgbClr val="FFC00C"/>
                </a:solidFill>
                <a:latin typeface="Montserrat"/>
                <a:ea typeface="Montserrat"/>
                <a:cs typeface="Montserrat"/>
                <a:sym typeface="Montserrat"/>
              </a:rPr>
              <a:t>Nama dan CV: [diisi, lihat Lampiran CV </a:t>
            </a:r>
            <a:r>
              <a:rPr i="1" lang="en-US" sz="950">
                <a:solidFill>
                  <a:srgbClr val="FFC00C"/>
                </a:solidFill>
                <a:latin typeface="Montserrat"/>
                <a:ea typeface="Montserrat"/>
                <a:cs typeface="Montserrat"/>
                <a:sym typeface="Montserrat"/>
              </a:rPr>
              <a:t>Personil</a:t>
            </a:r>
            <a:r>
              <a:rPr b="0" i="1" lang="en-US" sz="950">
                <a:solidFill>
                  <a:srgbClr val="FFC00C"/>
                </a:solidFill>
                <a:latin typeface="Montserrat"/>
                <a:ea typeface="Montserrat"/>
                <a:cs typeface="Montserrat"/>
                <a:sym typeface="Montserrat"/>
              </a:rPr>
              <a:t> Kunci]</a:t>
            </a:r>
            <a:endParaRPr/>
          </a:p>
        </p:txBody>
      </p:sp>
      <p:sp>
        <p:nvSpPr>
          <p:cNvPr id="1032" name="Google Shape;1032;h69a5e3ff789ebc32_1_1533"/>
          <p:cNvSpPr/>
          <p:nvPr/>
        </p:nvSpPr>
        <p:spPr>
          <a:xfrm>
            <a:off x="6153912" y="5120640"/>
            <a:ext cx="5440800" cy="1024200"/>
          </a:xfrm>
          <a:prstGeom prst="roundRect">
            <a:avLst>
              <a:gd fmla="val 17857" name="adj"/>
            </a:avLst>
          </a:prstGeom>
          <a:solidFill>
            <a:srgbClr val="0B3361"/>
          </a:solidFill>
          <a:ln cap="flat" cmpd="sng" w="19050">
            <a:solidFill>
              <a:srgbClr val="FFC0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3" name="Google Shape;1033;h69a5e3ff789ebc32_1_1533"/>
          <p:cNvSpPr txBox="1"/>
          <p:nvPr/>
        </p:nvSpPr>
        <p:spPr>
          <a:xfrm>
            <a:off x="6336905" y="5424584"/>
            <a:ext cx="5074800" cy="3555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100">
                <a:solidFill>
                  <a:srgbClr val="FFC00C"/>
                </a:solidFill>
                <a:latin typeface="Montserrat"/>
                <a:ea typeface="Montserrat"/>
                <a:cs typeface="Montserrat"/>
                <a:sym typeface="Montserrat"/>
              </a:rPr>
              <a:t>Kepakaran PPG dan akreditasi </a:t>
            </a:r>
            <a:r>
              <a:rPr b="0" i="0" lang="en-US" sz="1100">
                <a:solidFill>
                  <a:srgbClr val="FFFFFF"/>
                </a:solidFill>
                <a:latin typeface="Montserrat"/>
                <a:ea typeface="Montserrat"/>
                <a:cs typeface="Montserrat"/>
                <a:sym typeface="Montserrat"/>
              </a:rPr>
              <a:t>dipastikan lewat Advisor dan Advisory Board; CV personel kunci disajikan di bagian terpisah sesuai RFP.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037" name="Shape 1037"/>
        <p:cNvGrpSpPr/>
        <p:nvPr/>
      </p:nvGrpSpPr>
      <p:grpSpPr>
        <a:xfrm>
          <a:off x="0" y="0"/>
          <a:ext cx="0" cy="0"/>
          <a:chOff x="0" y="0"/>
          <a:chExt cx="0" cy="0"/>
        </a:xfrm>
      </p:grpSpPr>
      <p:pic>
        <p:nvPicPr>
          <p:cNvPr descr="logo_white.png" id="1038" name="Google Shape;1038;h69a5e3ff789ebc32_1_1571"/>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1039" name="Google Shape;1039;h69a5e3ff789ebc32_1_1571"/>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040" name="Google Shape;1040;h69a5e3ff789ebc32_1_1571"/>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23</a:t>
            </a:r>
            <a:endParaRPr/>
          </a:p>
        </p:txBody>
      </p:sp>
      <p:sp>
        <p:nvSpPr>
          <p:cNvPr id="1041" name="Google Shape;1041;h69a5e3ff789ebc32_1_1571"/>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STRATEGI KEBERLANJUTAN</a:t>
            </a:r>
            <a:endParaRPr/>
          </a:p>
        </p:txBody>
      </p:sp>
      <p:sp>
        <p:nvSpPr>
          <p:cNvPr id="1042" name="Google Shape;1042;h69a5e3ff789ebc32_1_1571"/>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Hasil program tetap bekerja setelah Desember 2026</a:t>
            </a:r>
            <a:endParaRPr/>
          </a:p>
        </p:txBody>
      </p:sp>
      <p:sp>
        <p:nvSpPr>
          <p:cNvPr id="1043" name="Google Shape;1043;h69a5e3ff789ebc32_1_1571"/>
          <p:cNvSpPr/>
          <p:nvPr/>
        </p:nvSpPr>
        <p:spPr>
          <a:xfrm>
            <a:off x="594360" y="1737360"/>
            <a:ext cx="5440800" cy="2194500"/>
          </a:xfrm>
          <a:prstGeom prst="roundRect">
            <a:avLst>
              <a:gd fmla="val 11666" name="adj"/>
            </a:avLst>
          </a:prstGeom>
          <a:solidFill>
            <a:srgbClr val="2F7E9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atabase_FFFFFF.png" id="1044" name="Google Shape;1044;h69a5e3ff789ebc32_1_1571"/>
          <p:cNvPicPr preferRelativeResize="0"/>
          <p:nvPr/>
        </p:nvPicPr>
        <p:blipFill rotWithShape="1">
          <a:blip r:embed="rId4">
            <a:alphaModFix/>
          </a:blip>
          <a:srcRect b="0" l="0" r="0" t="0"/>
          <a:stretch/>
        </p:blipFill>
        <p:spPr>
          <a:xfrm>
            <a:off x="868680" y="2011679"/>
            <a:ext cx="548640" cy="548640"/>
          </a:xfrm>
          <a:prstGeom prst="rect">
            <a:avLst/>
          </a:prstGeom>
          <a:noFill/>
          <a:ln>
            <a:noFill/>
          </a:ln>
        </p:spPr>
      </p:pic>
      <p:sp>
        <p:nvSpPr>
          <p:cNvPr id="1045" name="Google Shape;1045;h69a5e3ff789ebc32_1_1571"/>
          <p:cNvSpPr txBox="1"/>
          <p:nvPr/>
        </p:nvSpPr>
        <p:spPr>
          <a:xfrm>
            <a:off x="1600200" y="2011679"/>
            <a:ext cx="4206300" cy="2463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FFFFFF"/>
                </a:solidFill>
                <a:latin typeface="Montserrat ExtraBold"/>
                <a:ea typeface="Montserrat ExtraBold"/>
                <a:cs typeface="Montserrat ExtraBold"/>
                <a:sym typeface="Montserrat ExtraBold"/>
              </a:rPr>
              <a:t>Repositori dan dashboard</a:t>
            </a:r>
            <a:endParaRPr/>
          </a:p>
        </p:txBody>
      </p:sp>
      <p:sp>
        <p:nvSpPr>
          <p:cNvPr id="1046" name="Google Shape;1046;h69a5e3ff789ebc32_1_1571"/>
          <p:cNvSpPr txBox="1"/>
          <p:nvPr/>
        </p:nvSpPr>
        <p:spPr>
          <a:xfrm>
            <a:off x="868680" y="2743200"/>
            <a:ext cx="4937700" cy="46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50">
                <a:solidFill>
                  <a:srgbClr val="FFFFFF"/>
                </a:solidFill>
                <a:latin typeface="Montserrat"/>
                <a:ea typeface="Montserrat"/>
                <a:cs typeface="Montserrat"/>
                <a:sym typeface="Montserrat"/>
              </a:rPr>
              <a:t>Data, bukti, skor, dan tracker diserahterimakan ke TF dan Direktorat PPG dalam format terbuka.</a:t>
            </a:r>
            <a:endParaRPr/>
          </a:p>
        </p:txBody>
      </p:sp>
      <p:sp>
        <p:nvSpPr>
          <p:cNvPr id="1047" name="Google Shape;1047;h69a5e3ff789ebc32_1_1571"/>
          <p:cNvSpPr/>
          <p:nvPr/>
        </p:nvSpPr>
        <p:spPr>
          <a:xfrm>
            <a:off x="6153912" y="1737360"/>
            <a:ext cx="5440800" cy="2194500"/>
          </a:xfrm>
          <a:prstGeom prst="roundRect">
            <a:avLst>
              <a:gd fmla="val 11666" name="adj"/>
            </a:avLst>
          </a:prstGeom>
          <a:solidFill>
            <a:srgbClr val="0D2A4E"/>
          </a:solidFill>
          <a:ln cap="flat" cmpd="sng" w="254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ook_FFC00C.png" id="1048" name="Google Shape;1048;h69a5e3ff789ebc32_1_1571"/>
          <p:cNvPicPr preferRelativeResize="0"/>
          <p:nvPr/>
        </p:nvPicPr>
        <p:blipFill rotWithShape="1">
          <a:blip r:embed="rId5">
            <a:alphaModFix/>
          </a:blip>
          <a:srcRect b="0" l="0" r="0" t="0"/>
          <a:stretch/>
        </p:blipFill>
        <p:spPr>
          <a:xfrm>
            <a:off x="6428232" y="2011679"/>
            <a:ext cx="548640" cy="548640"/>
          </a:xfrm>
          <a:prstGeom prst="rect">
            <a:avLst/>
          </a:prstGeom>
          <a:noFill/>
          <a:ln>
            <a:noFill/>
          </a:ln>
        </p:spPr>
      </p:pic>
      <p:sp>
        <p:nvSpPr>
          <p:cNvPr id="1049" name="Google Shape;1049;h69a5e3ff789ebc32_1_1571"/>
          <p:cNvSpPr txBox="1"/>
          <p:nvPr/>
        </p:nvSpPr>
        <p:spPr>
          <a:xfrm>
            <a:off x="7159752" y="2011679"/>
            <a:ext cx="4206300" cy="2463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FFFFFF"/>
                </a:solidFill>
                <a:latin typeface="Montserrat ExtraBold"/>
                <a:ea typeface="Montserrat ExtraBold"/>
                <a:cs typeface="Montserrat ExtraBold"/>
                <a:sym typeface="Montserrat ExtraBold"/>
              </a:rPr>
              <a:t>Pedoman dan instrumen</a:t>
            </a:r>
            <a:endParaRPr/>
          </a:p>
        </p:txBody>
      </p:sp>
      <p:sp>
        <p:nvSpPr>
          <p:cNvPr id="1050" name="Google Shape;1050;h69a5e3ff789ebc32_1_1571"/>
          <p:cNvSpPr txBox="1"/>
          <p:nvPr/>
        </p:nvSpPr>
        <p:spPr>
          <a:xfrm>
            <a:off x="6428232" y="2743200"/>
            <a:ext cx="4937700" cy="46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50">
                <a:solidFill>
                  <a:srgbClr val="FFFFFF"/>
                </a:solidFill>
                <a:latin typeface="Montserrat"/>
                <a:ea typeface="Montserrat"/>
                <a:cs typeface="Montserrat"/>
                <a:sym typeface="Montserrat"/>
              </a:rPr>
              <a:t>Rubrik, instrumen observasi PPL, FGD, dan templat laporan yang disempurnakan siap dipakai ulang.</a:t>
            </a:r>
            <a:endParaRPr/>
          </a:p>
        </p:txBody>
      </p:sp>
      <p:sp>
        <p:nvSpPr>
          <p:cNvPr id="1051" name="Google Shape;1051;h69a5e3ff789ebc32_1_1571"/>
          <p:cNvSpPr/>
          <p:nvPr/>
        </p:nvSpPr>
        <p:spPr>
          <a:xfrm>
            <a:off x="594360" y="4069079"/>
            <a:ext cx="5440800" cy="2194500"/>
          </a:xfrm>
          <a:prstGeom prst="roundRect">
            <a:avLst>
              <a:gd fmla="val 11666" name="adj"/>
            </a:avLst>
          </a:prstGeom>
          <a:solidFill>
            <a:srgbClr val="0D2A4E"/>
          </a:solidFill>
          <a:ln cap="flat" cmpd="sng" w="2540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users_FFC00C.png" id="1052" name="Google Shape;1052;h69a5e3ff789ebc32_1_1571"/>
          <p:cNvPicPr preferRelativeResize="0"/>
          <p:nvPr/>
        </p:nvPicPr>
        <p:blipFill rotWithShape="1">
          <a:blip r:embed="rId6">
            <a:alphaModFix/>
          </a:blip>
          <a:srcRect b="0" l="0" r="0" t="0"/>
          <a:stretch/>
        </p:blipFill>
        <p:spPr>
          <a:xfrm>
            <a:off x="868680" y="4343399"/>
            <a:ext cx="548640" cy="548640"/>
          </a:xfrm>
          <a:prstGeom prst="rect">
            <a:avLst/>
          </a:prstGeom>
          <a:noFill/>
          <a:ln>
            <a:noFill/>
          </a:ln>
        </p:spPr>
      </p:pic>
      <p:sp>
        <p:nvSpPr>
          <p:cNvPr id="1053" name="Google Shape;1053;h69a5e3ff789ebc32_1_1571"/>
          <p:cNvSpPr txBox="1"/>
          <p:nvPr/>
        </p:nvSpPr>
        <p:spPr>
          <a:xfrm>
            <a:off x="1600200" y="4343399"/>
            <a:ext cx="4206300" cy="2463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FFFFFF"/>
                </a:solidFill>
                <a:latin typeface="Montserrat ExtraBold"/>
                <a:ea typeface="Montserrat ExtraBold"/>
                <a:cs typeface="Montserrat ExtraBold"/>
                <a:sym typeface="Montserrat ExtraBold"/>
              </a:rPr>
              <a:t>Komunitas praktik antar-LPTK</a:t>
            </a:r>
            <a:endParaRPr/>
          </a:p>
        </p:txBody>
      </p:sp>
      <p:sp>
        <p:nvSpPr>
          <p:cNvPr id="1054" name="Google Shape;1054;h69a5e3ff789ebc32_1_1571"/>
          <p:cNvSpPr txBox="1"/>
          <p:nvPr/>
        </p:nvSpPr>
        <p:spPr>
          <a:xfrm>
            <a:off x="868680" y="5074919"/>
            <a:ext cx="4937700" cy="46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50">
                <a:solidFill>
                  <a:srgbClr val="FFFFFF"/>
                </a:solidFill>
                <a:latin typeface="Montserrat"/>
                <a:ea typeface="Montserrat"/>
                <a:cs typeface="Montserrat"/>
                <a:sym typeface="Montserrat"/>
              </a:rPr>
              <a:t>Berbagi praktik baik 12 LPTK lewat sesi daring; memanfaatkan pertemuan yang sudah ada.</a:t>
            </a:r>
            <a:endParaRPr/>
          </a:p>
        </p:txBody>
      </p:sp>
      <p:sp>
        <p:nvSpPr>
          <p:cNvPr id="1055" name="Google Shape;1055;h69a5e3ff789ebc32_1_1571"/>
          <p:cNvSpPr/>
          <p:nvPr/>
        </p:nvSpPr>
        <p:spPr>
          <a:xfrm>
            <a:off x="6153912" y="4069079"/>
            <a:ext cx="5440800" cy="2194500"/>
          </a:xfrm>
          <a:prstGeom prst="roundRect">
            <a:avLst>
              <a:gd fmla="val 11666" name="adj"/>
            </a:avLst>
          </a:prstGeom>
          <a:solidFill>
            <a:srgbClr val="2F7E9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ayers_FFFFFF.png" id="1056" name="Google Shape;1056;h69a5e3ff789ebc32_1_1571"/>
          <p:cNvPicPr preferRelativeResize="0"/>
          <p:nvPr/>
        </p:nvPicPr>
        <p:blipFill rotWithShape="1">
          <a:blip r:embed="rId7">
            <a:alphaModFix/>
          </a:blip>
          <a:srcRect b="0" l="0" r="0" t="0"/>
          <a:stretch/>
        </p:blipFill>
        <p:spPr>
          <a:xfrm>
            <a:off x="6428232" y="4343399"/>
            <a:ext cx="548640" cy="548640"/>
          </a:xfrm>
          <a:prstGeom prst="rect">
            <a:avLst/>
          </a:prstGeom>
          <a:noFill/>
          <a:ln>
            <a:noFill/>
          </a:ln>
        </p:spPr>
      </p:pic>
      <p:sp>
        <p:nvSpPr>
          <p:cNvPr id="1057" name="Google Shape;1057;h69a5e3ff789ebc32_1_1571"/>
          <p:cNvSpPr txBox="1"/>
          <p:nvPr/>
        </p:nvSpPr>
        <p:spPr>
          <a:xfrm>
            <a:off x="7159752" y="4343399"/>
            <a:ext cx="4206300" cy="2463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FFFFFF"/>
                </a:solidFill>
                <a:latin typeface="Montserrat ExtraBold"/>
                <a:ea typeface="Montserrat ExtraBold"/>
                <a:cs typeface="Montserrat ExtraBold"/>
                <a:sym typeface="Montserrat ExtraBold"/>
              </a:rPr>
              <a:t>Replikasi ke LPTK lain</a:t>
            </a:r>
            <a:endParaRPr/>
          </a:p>
        </p:txBody>
      </p:sp>
      <p:sp>
        <p:nvSpPr>
          <p:cNvPr id="1058" name="Google Shape;1058;h69a5e3ff789ebc32_1_1571"/>
          <p:cNvSpPr txBox="1"/>
          <p:nvPr/>
        </p:nvSpPr>
        <p:spPr>
          <a:xfrm>
            <a:off x="6428232" y="5074919"/>
            <a:ext cx="4937700" cy="46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50">
                <a:solidFill>
                  <a:srgbClr val="FFFFFF"/>
                </a:solidFill>
                <a:latin typeface="Montserrat"/>
                <a:ea typeface="Montserrat"/>
                <a:cs typeface="Montserrat"/>
                <a:sym typeface="Montserrat"/>
              </a:rPr>
              <a:t>Playbook ringkas Akreditasi-Ready dan rekomendasi tahapan untuk 172 LPTK.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062" name="Shape 1062"/>
        <p:cNvGrpSpPr/>
        <p:nvPr/>
      </p:nvGrpSpPr>
      <p:grpSpPr>
        <a:xfrm>
          <a:off x="0" y="0"/>
          <a:ext cx="0" cy="0"/>
          <a:chOff x="0" y="0"/>
          <a:chExt cx="0" cy="0"/>
        </a:xfrm>
      </p:grpSpPr>
      <p:pic>
        <p:nvPicPr>
          <p:cNvPr descr="logo_white.png" id="1063" name="Google Shape;1063;h42bd2064f50dc95c_1_0"/>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1064" name="Google Shape;1064;h42bd2064f50dc95c_1_0"/>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065" name="Google Shape;1065;h42bd2064f50dc95c_1_0"/>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STRATEGI KEBERLANJUTAN</a:t>
            </a:r>
            <a:endParaRPr/>
          </a:p>
        </p:txBody>
      </p:sp>
      <p:sp>
        <p:nvSpPr>
          <p:cNvPr id="1066" name="Google Shape;1066;h42bd2064f50dc95c_1_0"/>
          <p:cNvSpPr txBox="1"/>
          <p:nvPr/>
        </p:nvSpPr>
        <p:spPr>
          <a:xfrm>
            <a:off x="1143000" y="658375"/>
            <a:ext cx="104544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800">
                <a:solidFill>
                  <a:srgbClr val="FFFFFF"/>
                </a:solidFill>
                <a:latin typeface="Montserrat ExtraBold"/>
                <a:ea typeface="Montserrat ExtraBold"/>
                <a:cs typeface="Montserrat ExtraBold"/>
                <a:sym typeface="Montserrat ExtraBold"/>
              </a:rPr>
              <a:t> Repositori dan dashboard</a:t>
            </a:r>
            <a:endParaRPr sz="2800">
              <a:solidFill>
                <a:srgbClr val="FFFFFF"/>
              </a:solidFill>
              <a:latin typeface="Montserrat ExtraBold"/>
              <a:ea typeface="Montserrat ExtraBold"/>
              <a:cs typeface="Montserrat ExtraBold"/>
              <a:sym typeface="Montserrat ExtraBold"/>
            </a:endParaRPr>
          </a:p>
        </p:txBody>
      </p:sp>
      <p:pic>
        <p:nvPicPr>
          <p:cNvPr descr="database_FFFFFF.png" id="1067" name="Google Shape;1067;h42bd2064f50dc95c_1_0"/>
          <p:cNvPicPr preferRelativeResize="0"/>
          <p:nvPr/>
        </p:nvPicPr>
        <p:blipFill rotWithShape="1">
          <a:blip r:embed="rId4">
            <a:alphaModFix/>
          </a:blip>
          <a:srcRect b="0" l="0" r="0" t="0"/>
          <a:stretch/>
        </p:blipFill>
        <p:spPr>
          <a:xfrm>
            <a:off x="594355" y="599604"/>
            <a:ext cx="548640" cy="548640"/>
          </a:xfrm>
          <a:prstGeom prst="rect">
            <a:avLst/>
          </a:prstGeom>
          <a:noFill/>
          <a:ln>
            <a:noFill/>
          </a:ln>
        </p:spPr>
      </p:pic>
      <p:sp>
        <p:nvSpPr>
          <p:cNvPr id="1068" name="Google Shape;1068;h42bd2064f50dc95c_1_0"/>
          <p:cNvSpPr txBox="1"/>
          <p:nvPr/>
        </p:nvSpPr>
        <p:spPr>
          <a:xfrm>
            <a:off x="4299550" y="5265350"/>
            <a:ext cx="4263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lt1"/>
                </a:solidFill>
                <a:hlinkClick r:id="rId5">
                  <a:extLst>
                    <a:ext uri="{A12FA001-AC4F-418D-AE19-62706E023703}">
                      <ahyp:hlinkClr val="tx"/>
                    </a:ext>
                  </a:extLst>
                </a:hlinkClick>
              </a:rPr>
              <a:t>https://sanggabiz-ppg-dashboard.netlify.app/</a:t>
            </a:r>
            <a:r>
              <a:rPr lang="en-US">
                <a:solidFill>
                  <a:schemeClr val="lt1"/>
                </a:solidFill>
              </a:rPr>
              <a:t>  </a:t>
            </a:r>
            <a:endParaRPr>
              <a:solidFill>
                <a:schemeClr val="lt1"/>
              </a:solidFill>
            </a:endParaRPr>
          </a:p>
        </p:txBody>
      </p:sp>
      <p:pic>
        <p:nvPicPr>
          <p:cNvPr id="1069" name="Google Shape;1069;h42bd2064f50dc95c_1_0"/>
          <p:cNvPicPr preferRelativeResize="0"/>
          <p:nvPr/>
        </p:nvPicPr>
        <p:blipFill rotWithShape="1">
          <a:blip r:embed="rId6">
            <a:alphaModFix/>
          </a:blip>
          <a:srcRect b="0" l="1098" r="0" t="0"/>
          <a:stretch/>
        </p:blipFill>
        <p:spPr>
          <a:xfrm>
            <a:off x="1452550" y="1241875"/>
            <a:ext cx="9230400" cy="3871200"/>
          </a:xfrm>
          <a:prstGeom prst="roundRect">
            <a:avLst>
              <a:gd fmla="val 621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073" name="Shape 1073"/>
        <p:cNvGrpSpPr/>
        <p:nvPr/>
      </p:nvGrpSpPr>
      <p:grpSpPr>
        <a:xfrm>
          <a:off x="0" y="0"/>
          <a:ext cx="0" cy="0"/>
          <a:chOff x="0" y="0"/>
          <a:chExt cx="0" cy="0"/>
        </a:xfrm>
      </p:grpSpPr>
      <p:pic>
        <p:nvPicPr>
          <p:cNvPr descr="logo_white.png" id="1074" name="Google Shape;1074;h42bd2064f50dc95c_1_25"/>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1075" name="Google Shape;1075;h42bd2064f50dc95c_1_25"/>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076" name="Google Shape;1076;h42bd2064f50dc95c_1_25"/>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23</a:t>
            </a:r>
            <a:endParaRPr/>
          </a:p>
        </p:txBody>
      </p:sp>
      <p:sp>
        <p:nvSpPr>
          <p:cNvPr id="1077" name="Google Shape;1077;h42bd2064f50dc95c_1_25"/>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STRATEGI KEBERLANJUTAN</a:t>
            </a:r>
            <a:endParaRPr/>
          </a:p>
        </p:txBody>
      </p:sp>
      <p:sp>
        <p:nvSpPr>
          <p:cNvPr id="1078" name="Google Shape;1078;h42bd2064f50dc95c_1_25"/>
          <p:cNvSpPr txBox="1"/>
          <p:nvPr/>
        </p:nvSpPr>
        <p:spPr>
          <a:xfrm>
            <a:off x="1265650" y="658375"/>
            <a:ext cx="103317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2800">
                <a:solidFill>
                  <a:srgbClr val="FFFFFF"/>
                </a:solidFill>
                <a:latin typeface="Montserrat ExtraBold"/>
                <a:ea typeface="Montserrat ExtraBold"/>
                <a:cs typeface="Montserrat ExtraBold"/>
                <a:sym typeface="Montserrat ExtraBold"/>
              </a:rPr>
              <a:t>Pedoman dan instrumen</a:t>
            </a:r>
            <a:endParaRPr sz="2800">
              <a:solidFill>
                <a:srgbClr val="FFFFFF"/>
              </a:solidFill>
              <a:latin typeface="Montserrat ExtraBold"/>
              <a:ea typeface="Montserrat ExtraBold"/>
              <a:cs typeface="Montserrat ExtraBold"/>
              <a:sym typeface="Montserrat ExtraBold"/>
            </a:endParaRPr>
          </a:p>
        </p:txBody>
      </p:sp>
      <p:pic>
        <p:nvPicPr>
          <p:cNvPr descr="book_FFC00C.png" id="1079" name="Google Shape;1079;h42bd2064f50dc95c_1_25"/>
          <p:cNvPicPr preferRelativeResize="0"/>
          <p:nvPr/>
        </p:nvPicPr>
        <p:blipFill rotWithShape="1">
          <a:blip r:embed="rId4">
            <a:alphaModFix/>
          </a:blip>
          <a:srcRect b="0" l="0" r="0" t="0"/>
          <a:stretch/>
        </p:blipFill>
        <p:spPr>
          <a:xfrm>
            <a:off x="594357" y="599604"/>
            <a:ext cx="548640" cy="54864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083" name="Shape 1083"/>
        <p:cNvGrpSpPr/>
        <p:nvPr/>
      </p:nvGrpSpPr>
      <p:grpSpPr>
        <a:xfrm>
          <a:off x="0" y="0"/>
          <a:ext cx="0" cy="0"/>
          <a:chOff x="0" y="0"/>
          <a:chExt cx="0" cy="0"/>
        </a:xfrm>
      </p:grpSpPr>
      <p:pic>
        <p:nvPicPr>
          <p:cNvPr descr="logo_white.png" id="1084" name="Google Shape;1084;h42bd2064f50dc95c_1_62"/>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1085" name="Google Shape;1085;h42bd2064f50dc95c_1_62"/>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086" name="Google Shape;1086;h42bd2064f50dc95c_1_62"/>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23</a:t>
            </a:r>
            <a:endParaRPr/>
          </a:p>
        </p:txBody>
      </p:sp>
      <p:sp>
        <p:nvSpPr>
          <p:cNvPr id="1087" name="Google Shape;1087;h42bd2064f50dc95c_1_62"/>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STRATEGI KEBERLANJUTAN</a:t>
            </a:r>
            <a:endParaRPr/>
          </a:p>
        </p:txBody>
      </p:sp>
      <p:sp>
        <p:nvSpPr>
          <p:cNvPr id="1088" name="Google Shape;1088;h42bd2064f50dc95c_1_62"/>
          <p:cNvSpPr txBox="1"/>
          <p:nvPr/>
        </p:nvSpPr>
        <p:spPr>
          <a:xfrm>
            <a:off x="594350" y="658375"/>
            <a:ext cx="103317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2800">
                <a:solidFill>
                  <a:srgbClr val="FFFFFF"/>
                </a:solidFill>
                <a:latin typeface="Montserrat ExtraBold"/>
                <a:ea typeface="Montserrat ExtraBold"/>
                <a:cs typeface="Montserrat ExtraBold"/>
                <a:sym typeface="Montserrat ExtraBold"/>
              </a:rPr>
              <a:t>Playbook </a:t>
            </a:r>
            <a:endParaRPr sz="28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092" name="Shape 1092"/>
        <p:cNvGrpSpPr/>
        <p:nvPr/>
      </p:nvGrpSpPr>
      <p:grpSpPr>
        <a:xfrm>
          <a:off x="0" y="0"/>
          <a:ext cx="0" cy="0"/>
          <a:chOff x="0" y="0"/>
          <a:chExt cx="0" cy="0"/>
        </a:xfrm>
      </p:grpSpPr>
      <p:pic>
        <p:nvPicPr>
          <p:cNvPr descr="logo_white.png" id="1093" name="Google Shape;1093;h42bd2064f50dc95c_1_72"/>
          <p:cNvPicPr preferRelativeResize="0"/>
          <p:nvPr/>
        </p:nvPicPr>
        <p:blipFill rotWithShape="1">
          <a:blip r:embed="rId4">
            <a:alphaModFix/>
          </a:blip>
          <a:srcRect b="0" l="0" r="0" t="0"/>
          <a:stretch/>
        </p:blipFill>
        <p:spPr>
          <a:xfrm>
            <a:off x="594360" y="6419088"/>
            <a:ext cx="1201596" cy="237744"/>
          </a:xfrm>
          <a:prstGeom prst="rect">
            <a:avLst/>
          </a:prstGeom>
          <a:noFill/>
          <a:ln>
            <a:noFill/>
          </a:ln>
        </p:spPr>
      </p:pic>
      <p:sp>
        <p:nvSpPr>
          <p:cNvPr id="1094" name="Google Shape;1094;h42bd2064f50dc95c_1_72"/>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095" name="Google Shape;1095;h42bd2064f50dc95c_1_72"/>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23</a:t>
            </a:r>
            <a:endParaRPr/>
          </a:p>
        </p:txBody>
      </p:sp>
      <p:sp>
        <p:nvSpPr>
          <p:cNvPr id="1096" name="Google Shape;1096;h42bd2064f50dc95c_1_72"/>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STRATEGI KEBERLANJUTAN</a:t>
            </a:r>
            <a:endParaRPr/>
          </a:p>
        </p:txBody>
      </p:sp>
      <p:sp>
        <p:nvSpPr>
          <p:cNvPr id="1097" name="Google Shape;1097;h42bd2064f50dc95c_1_72"/>
          <p:cNvSpPr txBox="1"/>
          <p:nvPr/>
        </p:nvSpPr>
        <p:spPr>
          <a:xfrm>
            <a:off x="594350" y="658375"/>
            <a:ext cx="103317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2800">
                <a:solidFill>
                  <a:srgbClr val="FFFFFF"/>
                </a:solidFill>
                <a:latin typeface="Montserrat ExtraBold"/>
                <a:ea typeface="Montserrat ExtraBold"/>
                <a:cs typeface="Montserrat ExtraBold"/>
                <a:sym typeface="Montserrat ExtraBold"/>
              </a:rPr>
              <a:t>Indikator penilaian RTL nya</a:t>
            </a:r>
            <a:endParaRPr sz="28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101" name="Shape 1101"/>
        <p:cNvGrpSpPr/>
        <p:nvPr/>
      </p:nvGrpSpPr>
      <p:grpSpPr>
        <a:xfrm>
          <a:off x="0" y="0"/>
          <a:ext cx="0" cy="0"/>
          <a:chOff x="0" y="0"/>
          <a:chExt cx="0" cy="0"/>
        </a:xfrm>
      </p:grpSpPr>
      <p:sp>
        <p:nvSpPr>
          <p:cNvPr id="1102" name="Google Shape;1102;h69a5e3ff789ebc32_1_1595"/>
          <p:cNvSpPr txBox="1"/>
          <p:nvPr/>
        </p:nvSpPr>
        <p:spPr>
          <a:xfrm>
            <a:off x="594360" y="5870448"/>
            <a:ext cx="81381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t/>
            </a:r>
            <a:endParaRPr/>
          </a:p>
        </p:txBody>
      </p:sp>
      <p:sp>
        <p:nvSpPr>
          <p:cNvPr id="1103" name="Google Shape;1103;h69a5e3ff789ebc32_1_1595"/>
          <p:cNvSpPr/>
          <p:nvPr/>
        </p:nvSpPr>
        <p:spPr>
          <a:xfrm>
            <a:off x="15650" y="0"/>
            <a:ext cx="12191700" cy="68580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104" name="Google Shape;1104;h69a5e3ff789ebc32_1_1595"/>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24</a:t>
            </a:r>
            <a:endParaRPr/>
          </a:p>
        </p:txBody>
      </p:sp>
      <p:pic>
        <p:nvPicPr>
          <p:cNvPr descr="logo_white.png" id="1105" name="Google Shape;1105;h69a5e3ff789ebc32_1_1595"/>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1106" name="Google Shape;1106;h69a5e3ff789ebc32_1_1595"/>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chemeClr val="lt1"/>
                </a:solidFill>
                <a:latin typeface="Montserrat"/>
                <a:ea typeface="Montserrat"/>
                <a:cs typeface="Montserrat"/>
                <a:sym typeface="Montserrat"/>
              </a:rPr>
              <a:t>Proposal Teknis  ·  RFP No. 0648/TF-JKT/VIII/2026  ·  Tanoto Foundation</a:t>
            </a:r>
            <a:endParaRPr>
              <a:solidFill>
                <a:schemeClr val="lt1"/>
              </a:solidFill>
            </a:endParaRPr>
          </a:p>
        </p:txBody>
      </p:sp>
      <p:sp>
        <p:nvSpPr>
          <p:cNvPr id="1107" name="Google Shape;1107;h69a5e3ff789ebc32_1_1595"/>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EFISIENSI ANGGARAN DAN KELAYAKAN JADWAL · 10%</a:t>
            </a:r>
            <a:endParaRPr/>
          </a:p>
        </p:txBody>
      </p:sp>
      <p:sp>
        <p:nvSpPr>
          <p:cNvPr id="1108" name="Google Shape;1108;h69a5e3ff789ebc32_1_1595"/>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chemeClr val="lt1"/>
                </a:solidFill>
                <a:latin typeface="Montserrat ExtraBold"/>
                <a:ea typeface="Montserrat ExtraBold"/>
                <a:cs typeface="Montserrat ExtraBold"/>
                <a:sym typeface="Montserrat ExtraBold"/>
              </a:rPr>
              <a:t>Anggaran ringkas dan skema pembayaran</a:t>
            </a:r>
            <a:endParaRPr>
              <a:solidFill>
                <a:schemeClr val="lt1"/>
              </a:solidFill>
            </a:endParaRPr>
          </a:p>
        </p:txBody>
      </p:sp>
      <p:graphicFrame>
        <p:nvGraphicFramePr>
          <p:cNvPr id="1109" name="Google Shape;1109;h69a5e3ff789ebc32_1_1595"/>
          <p:cNvGraphicFramePr/>
          <p:nvPr/>
        </p:nvGraphicFramePr>
        <p:xfrm>
          <a:off x="194125" y="1140050"/>
          <a:ext cx="3000000" cy="3000000"/>
        </p:xfrm>
        <a:graphic>
          <a:graphicData uri="http://schemas.openxmlformats.org/drawingml/2006/table">
            <a:tbl>
              <a:tblPr>
                <a:noFill/>
                <a:tableStyleId>{4C0A8FE5-9777-497B-A676-DF5488A54864}</a:tableStyleId>
              </a:tblPr>
              <a:tblGrid>
                <a:gridCol w="751175"/>
                <a:gridCol w="4093100"/>
                <a:gridCol w="1241725"/>
                <a:gridCol w="1487000"/>
                <a:gridCol w="2130875"/>
                <a:gridCol w="2130875"/>
              </a:tblGrid>
              <a:tr h="376725">
                <a:tc gridSpan="6">
                  <a:txBody>
                    <a:bodyPr/>
                    <a:lstStyle/>
                    <a:p>
                      <a:pPr indent="0" lvl="0" marL="0" rtl="0" algn="ctr">
                        <a:lnSpc>
                          <a:spcPct val="115000"/>
                        </a:lnSpc>
                        <a:spcBef>
                          <a:spcPts val="0"/>
                        </a:spcBef>
                        <a:spcAft>
                          <a:spcPts val="0"/>
                        </a:spcAft>
                        <a:buNone/>
                      </a:pPr>
                      <a:r>
                        <a:rPr b="1" lang="en-US" sz="1200">
                          <a:solidFill>
                            <a:srgbClr val="FFFFFF"/>
                          </a:solidFill>
                          <a:latin typeface="Calibri"/>
                          <a:ea typeface="Calibri"/>
                          <a:cs typeface="Calibri"/>
                          <a:sym typeface="Calibri"/>
                        </a:rPr>
                        <a:t>RENCANA ANGGARAN BIAYA (RAB) – PENDAMPINGAN TEKNIS PPG 2026</a:t>
                      </a:r>
                      <a:endParaRPr b="1" sz="1200">
                        <a:solidFill>
                          <a:srgbClr val="FFFFFF"/>
                        </a:solidFill>
                        <a:latin typeface="Calibri"/>
                        <a:ea typeface="Calibri"/>
                        <a:cs typeface="Calibri"/>
                        <a:sym typeface="Calibri"/>
                      </a:endParaRPr>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F4E78"/>
                    </a:solidFill>
                    <a:extLst>
                      <a:ext uri="http://customooxmlschemas.google.com/">
                        <go:slidesCustomData xmlns:go="http://customooxmlschemas.google.com/" cellId="1109:0:0"/>
                      </a:ext>
                    </a:extLst>
                  </a:tcPr>
                </a:tc>
                <a:tc hMerge="1"/>
                <a:tc hMerge="1"/>
                <a:tc hMerge="1"/>
                <a:tc hMerge="1"/>
                <a:tc hMerge="1"/>
              </a:tr>
              <a:tr h="376725">
                <a:tc gridSpan="6">
                  <a:txBody>
                    <a:bodyPr/>
                    <a:lstStyle/>
                    <a:p>
                      <a:pPr indent="0" lvl="0" marL="0" rtl="0" algn="ctr">
                        <a:lnSpc>
                          <a:spcPct val="115000"/>
                        </a:lnSpc>
                        <a:spcBef>
                          <a:spcPts val="0"/>
                        </a:spcBef>
                        <a:spcAft>
                          <a:spcPts val="0"/>
                        </a:spcAft>
                        <a:buNone/>
                      </a:pPr>
                      <a:r>
                        <a:rPr lang="en-US" sz="1200">
                          <a:solidFill>
                            <a:schemeClr val="lt1"/>
                          </a:solidFill>
                          <a:latin typeface="Calibri"/>
                          <a:ea typeface="Calibri"/>
                          <a:cs typeface="Calibri"/>
                          <a:sym typeface="Calibri"/>
                        </a:rPr>
                        <a:t>Pagu total Rp 510.000.000 | 12 LPTK | 3 personel per kunjungan | 3 malam | Akomodasi Rp850.000/orang/malam</a:t>
                      </a:r>
                      <a:endParaRPr sz="1200">
                        <a:solidFill>
                          <a:schemeClr val="lt1"/>
                        </a:solidFill>
                        <a:latin typeface="Calibri"/>
                        <a:ea typeface="Calibri"/>
                        <a:cs typeface="Calibri"/>
                        <a:sym typeface="Calibri"/>
                      </a:endParaRPr>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extLst>
                      <a:ext uri="http://customooxmlschemas.google.com/">
                        <go:slidesCustomData xmlns:go="http://customooxmlschemas.google.com/" cellId="1109:1:0"/>
                      </a:ext>
                    </a:extLst>
                  </a:tcPr>
                </a:tc>
                <a:tc hMerge="1"/>
                <a:tc hMerge="1"/>
                <a:tc hMerge="1"/>
                <a:tc hMerge="1"/>
                <a:tc hMerge="1"/>
              </a:tr>
              <a:tr h="378125">
                <a:tc>
                  <a:txBody>
                    <a:bodyPr/>
                    <a:lstStyle/>
                    <a:p>
                      <a:pPr indent="0" lvl="0" marL="0" rtl="0" algn="ctr">
                        <a:lnSpc>
                          <a:spcPct val="115000"/>
                        </a:lnSpc>
                        <a:spcBef>
                          <a:spcPts val="0"/>
                        </a:spcBef>
                        <a:spcAft>
                          <a:spcPts val="0"/>
                        </a:spcAft>
                        <a:buNone/>
                      </a:pPr>
                      <a:r>
                        <a:rPr b="1" lang="en-US" sz="800">
                          <a:solidFill>
                            <a:srgbClr val="FFFFFF"/>
                          </a:solidFill>
                          <a:latin typeface="Calibri"/>
                          <a:ea typeface="Calibri"/>
                          <a:cs typeface="Calibri"/>
                          <a:sym typeface="Calibri"/>
                        </a:rPr>
                        <a:t>Code</a:t>
                      </a:r>
                      <a:endParaRPr b="1" sz="800">
                        <a:solidFill>
                          <a:srgbClr val="FFFFFF"/>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E1F2"/>
                      </a:solidFill>
                      <a:prstDash val="solid"/>
                      <a:round/>
                      <a:headEnd len="sm" w="sm" type="none"/>
                      <a:tailEnd len="sm" w="sm" type="none"/>
                    </a:lnB>
                    <a:solidFill>
                      <a:srgbClr val="0B3361"/>
                    </a:solidFill>
                    <a:extLst>
                      <a:ext uri="http://customooxmlschemas.google.com/">
                        <go:slidesCustomData xmlns:go="http://customooxmlschemas.google.com/" cellId="1109:2:0"/>
                      </a:ext>
                    </a:extLst>
                  </a:tcPr>
                </a:tc>
                <a:tc>
                  <a:txBody>
                    <a:bodyPr/>
                    <a:lstStyle/>
                    <a:p>
                      <a:pPr indent="0" lvl="0" marL="0" rtl="0" algn="l">
                        <a:lnSpc>
                          <a:spcPct val="115000"/>
                        </a:lnSpc>
                        <a:spcBef>
                          <a:spcPts val="0"/>
                        </a:spcBef>
                        <a:spcAft>
                          <a:spcPts val="0"/>
                        </a:spcAft>
                        <a:buNone/>
                      </a:pPr>
                      <a:r>
                        <a:rPr b="1" lang="en-US" sz="1200">
                          <a:solidFill>
                            <a:srgbClr val="FFFFFF"/>
                          </a:solidFill>
                          <a:latin typeface="Calibri"/>
                          <a:ea typeface="Calibri"/>
                          <a:cs typeface="Calibri"/>
                          <a:sym typeface="Calibri"/>
                        </a:rPr>
                        <a:t>Description</a:t>
                      </a:r>
                      <a:endParaRPr b="1" sz="1200">
                        <a:solidFill>
                          <a:srgbClr val="FFFFFF"/>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E1F2"/>
                      </a:solidFill>
                      <a:prstDash val="solid"/>
                      <a:round/>
                      <a:headEnd len="sm" w="sm" type="none"/>
                      <a:tailEnd len="sm" w="sm" type="none"/>
                    </a:lnB>
                    <a:solidFill>
                      <a:srgbClr val="0B3361"/>
                    </a:solidFill>
                    <a:extLst>
                      <a:ext uri="http://customooxmlschemas.google.com/">
                        <go:slidesCustomData xmlns:go="http://customooxmlschemas.google.com/" cellId="1109:2:1"/>
                      </a:ext>
                    </a:extLst>
                  </a:tcPr>
                </a:tc>
                <a:tc>
                  <a:txBody>
                    <a:bodyPr/>
                    <a:lstStyle/>
                    <a:p>
                      <a:pPr indent="0" lvl="0" marL="0" rtl="0" algn="l">
                        <a:lnSpc>
                          <a:spcPct val="115000"/>
                        </a:lnSpc>
                        <a:spcBef>
                          <a:spcPts val="0"/>
                        </a:spcBef>
                        <a:spcAft>
                          <a:spcPts val="0"/>
                        </a:spcAft>
                        <a:buNone/>
                      </a:pPr>
                      <a:r>
                        <a:rPr b="1" lang="en-US" sz="1200">
                          <a:solidFill>
                            <a:srgbClr val="FFFFFF"/>
                          </a:solidFill>
                          <a:latin typeface="Calibri"/>
                          <a:ea typeface="Calibri"/>
                          <a:cs typeface="Calibri"/>
                          <a:sym typeface="Calibri"/>
                        </a:rPr>
                        <a:t>Quantity</a:t>
                      </a:r>
                      <a:endParaRPr b="1" sz="1200">
                        <a:solidFill>
                          <a:srgbClr val="FFFFFF"/>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E1F2"/>
                      </a:solidFill>
                      <a:prstDash val="solid"/>
                      <a:round/>
                      <a:headEnd len="sm" w="sm" type="none"/>
                      <a:tailEnd len="sm" w="sm" type="none"/>
                    </a:lnB>
                    <a:solidFill>
                      <a:srgbClr val="0B3361"/>
                    </a:solidFill>
                    <a:extLst>
                      <a:ext uri="http://customooxmlschemas.google.com/">
                        <go:slidesCustomData xmlns:go="http://customooxmlschemas.google.com/" cellId="1109:2:2"/>
                      </a:ext>
                    </a:extLst>
                  </a:tcPr>
                </a:tc>
                <a:tc>
                  <a:txBody>
                    <a:bodyPr/>
                    <a:lstStyle/>
                    <a:p>
                      <a:pPr indent="0" lvl="0" marL="0" rtl="0" algn="l">
                        <a:lnSpc>
                          <a:spcPct val="115000"/>
                        </a:lnSpc>
                        <a:spcBef>
                          <a:spcPts val="0"/>
                        </a:spcBef>
                        <a:spcAft>
                          <a:spcPts val="0"/>
                        </a:spcAft>
                        <a:buNone/>
                      </a:pPr>
                      <a:r>
                        <a:rPr b="1" lang="en-US" sz="1200">
                          <a:solidFill>
                            <a:srgbClr val="FFFFFF"/>
                          </a:solidFill>
                          <a:latin typeface="Calibri"/>
                          <a:ea typeface="Calibri"/>
                          <a:cs typeface="Calibri"/>
                          <a:sym typeface="Calibri"/>
                        </a:rPr>
                        <a:t>Frequency</a:t>
                      </a:r>
                      <a:endParaRPr b="1" sz="1200">
                        <a:solidFill>
                          <a:srgbClr val="FFFFFF"/>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E1F2"/>
                      </a:solidFill>
                      <a:prstDash val="solid"/>
                      <a:round/>
                      <a:headEnd len="sm" w="sm" type="none"/>
                      <a:tailEnd len="sm" w="sm" type="none"/>
                    </a:lnB>
                    <a:solidFill>
                      <a:srgbClr val="0B3361"/>
                    </a:solidFill>
                    <a:extLst>
                      <a:ext uri="http://customooxmlschemas.google.com/">
                        <go:slidesCustomData xmlns:go="http://customooxmlschemas.google.com/" cellId="1109:2:3"/>
                      </a:ext>
                    </a:extLst>
                  </a:tcPr>
                </a:tc>
                <a:tc>
                  <a:txBody>
                    <a:bodyPr/>
                    <a:lstStyle/>
                    <a:p>
                      <a:pPr indent="0" lvl="0" marL="0" rtl="0" algn="l">
                        <a:lnSpc>
                          <a:spcPct val="115000"/>
                        </a:lnSpc>
                        <a:spcBef>
                          <a:spcPts val="0"/>
                        </a:spcBef>
                        <a:spcAft>
                          <a:spcPts val="0"/>
                        </a:spcAft>
                        <a:buNone/>
                      </a:pPr>
                      <a:r>
                        <a:rPr b="1" lang="en-US" sz="1200">
                          <a:solidFill>
                            <a:srgbClr val="FFFFFF"/>
                          </a:solidFill>
                          <a:latin typeface="Calibri"/>
                          <a:ea typeface="Calibri"/>
                          <a:cs typeface="Calibri"/>
                          <a:sym typeface="Calibri"/>
                        </a:rPr>
                        <a:t>Price (IDR)</a:t>
                      </a:r>
                      <a:endParaRPr b="1" sz="1200">
                        <a:solidFill>
                          <a:srgbClr val="FFFFFF"/>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E1F2"/>
                      </a:solidFill>
                      <a:prstDash val="solid"/>
                      <a:round/>
                      <a:headEnd len="sm" w="sm" type="none"/>
                      <a:tailEnd len="sm" w="sm" type="none"/>
                    </a:lnB>
                    <a:solidFill>
                      <a:srgbClr val="0B3361"/>
                    </a:solidFill>
                    <a:extLst>
                      <a:ext uri="http://customooxmlschemas.google.com/">
                        <go:slidesCustomData xmlns:go="http://customooxmlschemas.google.com/" cellId="1109:2:4"/>
                      </a:ext>
                    </a:extLst>
                  </a:tcPr>
                </a:tc>
                <a:tc>
                  <a:txBody>
                    <a:bodyPr/>
                    <a:lstStyle/>
                    <a:p>
                      <a:pPr indent="0" lvl="0" marL="0" rtl="0" algn="l">
                        <a:lnSpc>
                          <a:spcPct val="115000"/>
                        </a:lnSpc>
                        <a:spcBef>
                          <a:spcPts val="0"/>
                        </a:spcBef>
                        <a:spcAft>
                          <a:spcPts val="0"/>
                        </a:spcAft>
                        <a:buNone/>
                      </a:pPr>
                      <a:r>
                        <a:rPr b="1" lang="en-US" sz="1200">
                          <a:solidFill>
                            <a:srgbClr val="FFFFFF"/>
                          </a:solidFill>
                          <a:latin typeface="Calibri"/>
                          <a:ea typeface="Calibri"/>
                          <a:cs typeface="Calibri"/>
                          <a:sym typeface="Calibri"/>
                        </a:rPr>
                        <a:t>Total (IDR)</a:t>
                      </a:r>
                      <a:endParaRPr b="1" sz="1200">
                        <a:solidFill>
                          <a:srgbClr val="FFFFFF"/>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E1F2"/>
                      </a:solidFill>
                      <a:prstDash val="solid"/>
                      <a:round/>
                      <a:headEnd len="sm" w="sm" type="none"/>
                      <a:tailEnd len="sm" w="sm" type="none"/>
                    </a:lnB>
                    <a:solidFill>
                      <a:srgbClr val="0B3361"/>
                    </a:solidFill>
                    <a:extLst>
                      <a:ext uri="http://customooxmlschemas.google.com/">
                        <go:slidesCustomData xmlns:go="http://customooxmlschemas.google.com/" cellId="1109:2:5"/>
                      </a:ext>
                    </a:extLst>
                  </a:tcPr>
                </a:tc>
              </a:tr>
              <a:tr h="376725">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A1</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3:0"/>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Akomodasi tim (3 orang × 3 malam × 12 LPTK)</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3: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3.</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3:2"/>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36.</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3: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850,000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3:4"/>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91,800,000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3:5"/>
                      </a:ext>
                    </a:extLst>
                  </a:tcPr>
                </a:tc>
              </a:tr>
              <a:tr h="577900">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A2</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4:0"/>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Tiket perjalanan dan transportasi lokal (estimasi gabungan untuk 12 kunjungan)</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4: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4:2"/>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12.</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4: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15,000,000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4:4"/>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180,000,000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4:5"/>
                      </a:ext>
                    </a:extLst>
                  </a:tcPr>
                </a:tc>
              </a:tr>
              <a:tr h="376725">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A3</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5:0"/>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Honorarium Tim Pendamping Nasional (2 orang × 12 kunjungan)</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5: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2.</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5:2"/>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12.</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5: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5,000,000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5:4"/>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120,000,000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5:5"/>
                      </a:ext>
                    </a:extLst>
                  </a:tcPr>
                </a:tc>
              </a:tr>
              <a:tr h="376725">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A4</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6:0"/>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Remunerasi personel mitra pelaksana (1 orang × 12 kunjungan)</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6: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6:2"/>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12.</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6: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3,000,000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6:4"/>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36,000,000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6:5"/>
                      </a:ext>
                    </a:extLst>
                  </a:tcPr>
                </a:tc>
              </a:tr>
              <a:tr h="577900">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A5</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7:0"/>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Koordinasi teknis, dokumentasi, pengolahan data, dan penyusunan laporan</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7: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7:2"/>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7: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31,245,495</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7:4"/>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31,245,495</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7:5"/>
                      </a:ext>
                    </a:extLst>
                  </a:tcPr>
                </a:tc>
              </a:tr>
              <a:tr h="438875">
                <a:tc>
                  <a:txBody>
                    <a:bodyPr/>
                    <a:lstStyle/>
                    <a:p>
                      <a:pPr indent="0" lvl="0" marL="0" rtl="0" algn="ctr">
                        <a:lnSpc>
                          <a:spcPct val="115000"/>
                        </a:lnSpc>
                        <a:spcBef>
                          <a:spcPts val="0"/>
                        </a:spcBef>
                        <a:spcAft>
                          <a:spcPts val="0"/>
                        </a:spcAft>
                        <a:buNone/>
                      </a:pPr>
                      <a:r>
                        <a:rPr lang="en-US" sz="800">
                          <a:solidFill>
                            <a:schemeClr val="dk1"/>
                          </a:solidFill>
                          <a:latin typeface="Calibri"/>
                          <a:ea typeface="Calibri"/>
                          <a:cs typeface="Calibri"/>
                          <a:sym typeface="Calibri"/>
                        </a:rPr>
                        <a:t>B</a:t>
                      </a:r>
                      <a:endParaRPr sz="800">
                        <a:solidFill>
                          <a:schemeClr val="dk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D9EAF7"/>
                    </a:solidFill>
                    <a:extLst>
                      <a:ext uri="http://customooxmlschemas.google.com/">
                        <go:slidesCustomData xmlns:go="http://customooxmlschemas.google.com/" cellId="1109:8:0"/>
                      </a:ext>
                    </a:extLst>
                  </a:tcPr>
                </a:tc>
                <a:tc>
                  <a:txBody>
                    <a:bodyPr/>
                    <a:lstStyle/>
                    <a:p>
                      <a:pPr indent="0" lvl="0" marL="0" rtl="0" algn="l">
                        <a:lnSpc>
                          <a:spcPct val="115000"/>
                        </a:lnSpc>
                        <a:spcBef>
                          <a:spcPts val="0"/>
                        </a:spcBef>
                        <a:spcAft>
                          <a:spcPts val="0"/>
                        </a:spcAft>
                        <a:buNone/>
                      </a:pPr>
                      <a:r>
                        <a:rPr b="1" lang="en-US" sz="1200">
                          <a:solidFill>
                            <a:schemeClr val="dk1"/>
                          </a:solidFill>
                          <a:latin typeface="Calibri"/>
                          <a:ea typeface="Calibri"/>
                          <a:cs typeface="Calibri"/>
                          <a:sym typeface="Calibri"/>
                        </a:rPr>
                        <a:t>Subtotal biaya langsung</a:t>
                      </a:r>
                      <a:endParaRPr b="1" sz="1200">
                        <a:solidFill>
                          <a:schemeClr val="dk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D9EAF7"/>
                    </a:solidFill>
                    <a:extLst>
                      <a:ext uri="http://customooxmlschemas.google.com/">
                        <go:slidesCustomData xmlns:go="http://customooxmlschemas.google.com/" cellId="1109:8:1"/>
                      </a:ext>
                    </a:extLst>
                  </a:tcPr>
                </a:tc>
                <a:tc>
                  <a:txBody>
                    <a:bodyPr/>
                    <a:lstStyle/>
                    <a:p>
                      <a:pPr indent="0" lvl="0" marL="0" rtl="0" algn="l">
                        <a:spcBef>
                          <a:spcPts val="0"/>
                        </a:spcBef>
                        <a:spcAft>
                          <a:spcPts val="0"/>
                        </a:spcAft>
                        <a:buNone/>
                      </a:pPr>
                      <a:r>
                        <a:t/>
                      </a:r>
                      <a:endParaRPr sz="1800">
                        <a:solidFill>
                          <a:schemeClr val="dk1"/>
                        </a:solidFill>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D9EAF7"/>
                    </a:solidFill>
                    <a:extLst>
                      <a:ext uri="http://customooxmlschemas.google.com/">
                        <go:slidesCustomData xmlns:go="http://customooxmlschemas.google.com/" cellId="1109:8:2"/>
                      </a:ext>
                    </a:extLst>
                  </a:tcPr>
                </a:tc>
                <a:tc>
                  <a:txBody>
                    <a:bodyPr/>
                    <a:lstStyle/>
                    <a:p>
                      <a:pPr indent="0" lvl="0" marL="0" rtl="0" algn="l">
                        <a:spcBef>
                          <a:spcPts val="0"/>
                        </a:spcBef>
                        <a:spcAft>
                          <a:spcPts val="0"/>
                        </a:spcAft>
                        <a:buNone/>
                      </a:pPr>
                      <a:r>
                        <a:t/>
                      </a:r>
                      <a:endParaRPr sz="1800">
                        <a:solidFill>
                          <a:schemeClr val="dk1"/>
                        </a:solidFill>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D9EAF7"/>
                    </a:solidFill>
                    <a:extLst>
                      <a:ext uri="http://customooxmlschemas.google.com/">
                        <go:slidesCustomData xmlns:go="http://customooxmlschemas.google.com/" cellId="1109:8:3"/>
                      </a:ext>
                    </a:extLst>
                  </a:tcPr>
                </a:tc>
                <a:tc>
                  <a:txBody>
                    <a:bodyPr/>
                    <a:lstStyle/>
                    <a:p>
                      <a:pPr indent="0" lvl="0" marL="0" rtl="0" algn="l">
                        <a:spcBef>
                          <a:spcPts val="0"/>
                        </a:spcBef>
                        <a:spcAft>
                          <a:spcPts val="0"/>
                        </a:spcAft>
                        <a:buNone/>
                      </a:pPr>
                      <a:r>
                        <a:t/>
                      </a:r>
                      <a:endParaRPr sz="1800">
                        <a:solidFill>
                          <a:schemeClr val="dk1"/>
                        </a:solidFill>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D9EAF7"/>
                    </a:solidFill>
                    <a:extLst>
                      <a:ext uri="http://customooxmlschemas.google.com/">
                        <go:slidesCustomData xmlns:go="http://customooxmlschemas.google.com/" cellId="1109:8:4"/>
                      </a:ext>
                    </a:extLst>
                  </a:tcPr>
                </a:tc>
                <a:tc>
                  <a:txBody>
                    <a:bodyPr/>
                    <a:lstStyle/>
                    <a:p>
                      <a:pPr indent="0" lvl="0" marL="0" rtl="0" algn="r">
                        <a:lnSpc>
                          <a:spcPct val="115000"/>
                        </a:lnSpc>
                        <a:spcBef>
                          <a:spcPts val="0"/>
                        </a:spcBef>
                        <a:spcAft>
                          <a:spcPts val="0"/>
                        </a:spcAft>
                        <a:buNone/>
                      </a:pPr>
                      <a:r>
                        <a:rPr b="1" lang="en-US" sz="1200">
                          <a:solidFill>
                            <a:schemeClr val="dk1"/>
                          </a:solidFill>
                          <a:latin typeface="Calibri"/>
                          <a:ea typeface="Calibri"/>
                          <a:cs typeface="Calibri"/>
                          <a:sym typeface="Calibri"/>
                        </a:rPr>
                        <a:t>Rp 459,045,495</a:t>
                      </a:r>
                      <a:endParaRPr b="1" sz="1200">
                        <a:solidFill>
                          <a:schemeClr val="dk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D9EAF7"/>
                    </a:solidFill>
                    <a:extLst>
                      <a:ext uri="http://customooxmlschemas.google.com/">
                        <go:slidesCustomData xmlns:go="http://customooxmlschemas.google.com/" cellId="1109:8:5"/>
                      </a:ext>
                    </a:extLst>
                  </a:tcPr>
                </a:tc>
              </a:tr>
              <a:tr h="376725">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C</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9:0"/>
                      </a:ext>
                    </a:extLst>
                  </a:tcPr>
                </a:tc>
                <a:tc>
                  <a:txBody>
                    <a:bodyPr/>
                    <a:lstStyle/>
                    <a:p>
                      <a:pPr indent="0" lvl="0" marL="0" rtl="0" algn="l">
                        <a:lnSpc>
                          <a:spcPct val="115000"/>
                        </a:lnSpc>
                        <a:spcBef>
                          <a:spcPts val="0"/>
                        </a:spcBef>
                        <a:spcAft>
                          <a:spcPts val="0"/>
                        </a:spcAft>
                        <a:buNone/>
                      </a:pPr>
                      <a:r>
                        <a:rPr b="1" lang="en-US" sz="1200">
                          <a:solidFill>
                            <a:schemeClr val="lt1"/>
                          </a:solidFill>
                          <a:latin typeface="Calibri"/>
                          <a:ea typeface="Calibri"/>
                          <a:cs typeface="Calibri"/>
                          <a:sym typeface="Calibri"/>
                        </a:rPr>
                        <a:t>Management fee (10% dari biaya langsung)</a:t>
                      </a:r>
                      <a:endParaRPr b="1"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9: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9:2"/>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9: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459,045,495</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9:4"/>
                      </a:ext>
                    </a:extLst>
                  </a:tcPr>
                </a:tc>
                <a:tc>
                  <a:txBody>
                    <a:bodyPr/>
                    <a:lstStyle/>
                    <a:p>
                      <a:pPr indent="0" lvl="0" marL="0" rtl="0" algn="r">
                        <a:lnSpc>
                          <a:spcPct val="115000"/>
                        </a:lnSpc>
                        <a:spcBef>
                          <a:spcPts val="0"/>
                        </a:spcBef>
                        <a:spcAft>
                          <a:spcPts val="0"/>
                        </a:spcAft>
                        <a:buNone/>
                      </a:pPr>
                      <a:r>
                        <a:rPr b="1" lang="en-US" sz="1200">
                          <a:solidFill>
                            <a:schemeClr val="lt1"/>
                          </a:solidFill>
                          <a:latin typeface="Calibri"/>
                          <a:ea typeface="Calibri"/>
                          <a:cs typeface="Calibri"/>
                          <a:sym typeface="Calibri"/>
                        </a:rPr>
                        <a:t>Rp 45,904,550</a:t>
                      </a:r>
                      <a:endParaRPr b="1"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9:5"/>
                      </a:ext>
                    </a:extLst>
                  </a:tcPr>
                </a:tc>
              </a:tr>
              <a:tr h="376725">
                <a:tc>
                  <a:txBody>
                    <a:bodyPr/>
                    <a:lstStyle/>
                    <a:p>
                      <a:pPr indent="0" lvl="0" marL="0" rtl="0" algn="ctr">
                        <a:lnSpc>
                          <a:spcPct val="115000"/>
                        </a:lnSpc>
                        <a:spcBef>
                          <a:spcPts val="0"/>
                        </a:spcBef>
                        <a:spcAft>
                          <a:spcPts val="0"/>
                        </a:spcAft>
                        <a:buNone/>
                      </a:pPr>
                      <a:r>
                        <a:rPr lang="en-US" sz="800">
                          <a:solidFill>
                            <a:schemeClr val="lt1"/>
                          </a:solidFill>
                          <a:latin typeface="Calibri"/>
                          <a:ea typeface="Calibri"/>
                          <a:cs typeface="Calibri"/>
                          <a:sym typeface="Calibri"/>
                        </a:rPr>
                        <a:t>D</a:t>
                      </a:r>
                      <a:endParaRPr sz="8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10:0"/>
                      </a:ext>
                    </a:extLst>
                  </a:tcPr>
                </a:tc>
                <a:tc>
                  <a:txBody>
                    <a:bodyPr/>
                    <a:lstStyle/>
                    <a:p>
                      <a:pPr indent="0" lvl="0" marL="0" rtl="0" algn="l">
                        <a:lnSpc>
                          <a:spcPct val="115000"/>
                        </a:lnSpc>
                        <a:spcBef>
                          <a:spcPts val="0"/>
                        </a:spcBef>
                        <a:spcAft>
                          <a:spcPts val="0"/>
                        </a:spcAft>
                        <a:buNone/>
                      </a:pPr>
                      <a:r>
                        <a:rPr b="1" lang="en-US" sz="1200">
                          <a:solidFill>
                            <a:schemeClr val="lt1"/>
                          </a:solidFill>
                          <a:latin typeface="Calibri"/>
                          <a:ea typeface="Calibri"/>
                          <a:cs typeface="Calibri"/>
                          <a:sym typeface="Calibri"/>
                        </a:rPr>
                        <a:t>Pajak 11% atas management fee (asumsi PPN dihitung atas fee)</a:t>
                      </a:r>
                      <a:endParaRPr b="1"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10:1"/>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11%</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10:2"/>
                      </a:ext>
                    </a:extLst>
                  </a:tcPr>
                </a:tc>
                <a:tc>
                  <a:txBody>
                    <a:bodyPr/>
                    <a:lstStyle/>
                    <a:p>
                      <a:pPr indent="0" lvl="0" marL="0" rtl="0" algn="l">
                        <a:lnSpc>
                          <a:spcPct val="115000"/>
                        </a:lnSpc>
                        <a:spcBef>
                          <a:spcPts val="0"/>
                        </a:spcBef>
                        <a:spcAft>
                          <a:spcPts val="0"/>
                        </a:spcAft>
                        <a:buNone/>
                      </a:pPr>
                      <a:r>
                        <a:rPr lang="en-US"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10:3"/>
                      </a:ext>
                    </a:extLst>
                  </a:tcPr>
                </a:tc>
                <a:tc>
                  <a:txBody>
                    <a:bodyPr/>
                    <a:lstStyle/>
                    <a:p>
                      <a:pPr indent="0" lvl="0" marL="0" rtl="0" algn="r">
                        <a:lnSpc>
                          <a:spcPct val="115000"/>
                        </a:lnSpc>
                        <a:spcBef>
                          <a:spcPts val="0"/>
                        </a:spcBef>
                        <a:spcAft>
                          <a:spcPts val="0"/>
                        </a:spcAft>
                        <a:buNone/>
                      </a:pPr>
                      <a:r>
                        <a:rPr lang="en-US" sz="1200">
                          <a:solidFill>
                            <a:schemeClr val="lt1"/>
                          </a:solidFill>
                          <a:latin typeface="Calibri"/>
                          <a:ea typeface="Calibri"/>
                          <a:cs typeface="Calibri"/>
                          <a:sym typeface="Calibri"/>
                        </a:rPr>
                        <a:t>Rp 45,904,550</a:t>
                      </a:r>
                      <a:endParaRPr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10:4"/>
                      </a:ext>
                    </a:extLst>
                  </a:tcPr>
                </a:tc>
                <a:tc>
                  <a:txBody>
                    <a:bodyPr/>
                    <a:lstStyle/>
                    <a:p>
                      <a:pPr indent="0" lvl="0" marL="0" rtl="0" algn="r">
                        <a:lnSpc>
                          <a:spcPct val="115000"/>
                        </a:lnSpc>
                        <a:spcBef>
                          <a:spcPts val="0"/>
                        </a:spcBef>
                        <a:spcAft>
                          <a:spcPts val="0"/>
                        </a:spcAft>
                        <a:buNone/>
                      </a:pPr>
                      <a:r>
                        <a:rPr b="1" lang="en-US" sz="1200">
                          <a:solidFill>
                            <a:schemeClr val="lt1"/>
                          </a:solidFill>
                          <a:latin typeface="Calibri"/>
                          <a:ea typeface="Calibri"/>
                          <a:cs typeface="Calibri"/>
                          <a:sym typeface="Calibri"/>
                        </a:rPr>
                        <a:t>Rp 5,049,500</a:t>
                      </a:r>
                      <a:endParaRPr b="1" sz="1200">
                        <a:solidFill>
                          <a:schemeClr val="lt1"/>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extLst>
                      <a:ext uri="http://customooxmlschemas.google.com/">
                        <go:slidesCustomData xmlns:go="http://customooxmlschemas.google.com/" cellId="1109:10:5"/>
                      </a:ext>
                    </a:extLst>
                  </a:tcPr>
                </a:tc>
              </a:tr>
              <a:tr h="438875">
                <a:tc>
                  <a:txBody>
                    <a:bodyPr/>
                    <a:lstStyle/>
                    <a:p>
                      <a:pPr indent="0" lvl="0" marL="0" rtl="0" algn="ctr">
                        <a:lnSpc>
                          <a:spcPct val="115000"/>
                        </a:lnSpc>
                        <a:spcBef>
                          <a:spcPts val="0"/>
                        </a:spcBef>
                        <a:spcAft>
                          <a:spcPts val="0"/>
                        </a:spcAft>
                        <a:buNone/>
                      </a:pPr>
                      <a:r>
                        <a:rPr lang="en-US" sz="800">
                          <a:latin typeface="Calibri"/>
                          <a:ea typeface="Calibri"/>
                          <a:cs typeface="Calibri"/>
                          <a:sym typeface="Calibri"/>
                        </a:rPr>
                        <a:t>E</a:t>
                      </a:r>
                      <a:endParaRPr sz="800">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C6E0B4"/>
                    </a:solidFill>
                    <a:extLst>
                      <a:ext uri="http://customooxmlschemas.google.com/">
                        <go:slidesCustomData xmlns:go="http://customooxmlschemas.google.com/" cellId="1109:11:0"/>
                      </a:ext>
                    </a:extLst>
                  </a:tcPr>
                </a:tc>
                <a:tc>
                  <a:txBody>
                    <a:bodyPr/>
                    <a:lstStyle/>
                    <a:p>
                      <a:pPr indent="0" lvl="0" marL="0" rtl="0" algn="l">
                        <a:lnSpc>
                          <a:spcPct val="115000"/>
                        </a:lnSpc>
                        <a:spcBef>
                          <a:spcPts val="0"/>
                        </a:spcBef>
                        <a:spcAft>
                          <a:spcPts val="0"/>
                        </a:spcAft>
                        <a:buNone/>
                      </a:pPr>
                      <a:r>
                        <a:rPr b="1" lang="en-US" sz="1200">
                          <a:latin typeface="Calibri"/>
                          <a:ea typeface="Calibri"/>
                          <a:cs typeface="Calibri"/>
                          <a:sym typeface="Calibri"/>
                        </a:rPr>
                        <a:t>TOTAL ANGGARAN</a:t>
                      </a:r>
                      <a:endParaRPr b="1" sz="1200">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C6E0B4"/>
                    </a:solidFill>
                    <a:extLst>
                      <a:ext uri="http://customooxmlschemas.google.com/">
                        <go:slidesCustomData xmlns:go="http://customooxmlschemas.google.com/" cellId="1109:11:1"/>
                      </a:ext>
                    </a:extLst>
                  </a:tcPr>
                </a:tc>
                <a:tc>
                  <a:txBody>
                    <a:bodyPr/>
                    <a:lstStyle/>
                    <a:p>
                      <a:pPr indent="0" lvl="0" marL="0" rtl="0" algn="l">
                        <a:spcBef>
                          <a:spcPts val="0"/>
                        </a:spcBef>
                        <a:spcAft>
                          <a:spcPts val="0"/>
                        </a:spcAft>
                        <a:buNone/>
                      </a:pPr>
                      <a:r>
                        <a:t/>
                      </a:r>
                      <a:endParaRPr sz="1800"/>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C6E0B4"/>
                    </a:solidFill>
                    <a:extLst>
                      <a:ext uri="http://customooxmlschemas.google.com/">
                        <go:slidesCustomData xmlns:go="http://customooxmlschemas.google.com/" cellId="1109:11:2"/>
                      </a:ext>
                    </a:extLst>
                  </a:tcPr>
                </a:tc>
                <a:tc>
                  <a:txBody>
                    <a:bodyPr/>
                    <a:lstStyle/>
                    <a:p>
                      <a:pPr indent="0" lvl="0" marL="0" rtl="0" algn="l">
                        <a:spcBef>
                          <a:spcPts val="0"/>
                        </a:spcBef>
                        <a:spcAft>
                          <a:spcPts val="0"/>
                        </a:spcAft>
                        <a:buNone/>
                      </a:pPr>
                      <a:r>
                        <a:t/>
                      </a:r>
                      <a:endParaRPr sz="1800"/>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C6E0B4"/>
                    </a:solidFill>
                    <a:extLst>
                      <a:ext uri="http://customooxmlschemas.google.com/">
                        <go:slidesCustomData xmlns:go="http://customooxmlschemas.google.com/" cellId="1109:11:3"/>
                      </a:ext>
                    </a:extLst>
                  </a:tcPr>
                </a:tc>
                <a:tc>
                  <a:txBody>
                    <a:bodyPr/>
                    <a:lstStyle/>
                    <a:p>
                      <a:pPr indent="0" lvl="0" marL="0" rtl="0" algn="l">
                        <a:spcBef>
                          <a:spcPts val="0"/>
                        </a:spcBef>
                        <a:spcAft>
                          <a:spcPts val="0"/>
                        </a:spcAft>
                        <a:buNone/>
                      </a:pPr>
                      <a:r>
                        <a:t/>
                      </a:r>
                      <a:endParaRPr sz="1800"/>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C6E0B4"/>
                    </a:solidFill>
                    <a:extLst>
                      <a:ext uri="http://customooxmlschemas.google.com/">
                        <go:slidesCustomData xmlns:go="http://customooxmlschemas.google.com/" cellId="1109:11:4"/>
                      </a:ext>
                    </a:extLst>
                  </a:tcPr>
                </a:tc>
                <a:tc>
                  <a:txBody>
                    <a:bodyPr/>
                    <a:lstStyle/>
                    <a:p>
                      <a:pPr indent="0" lvl="0" marL="0" rtl="0" algn="r">
                        <a:lnSpc>
                          <a:spcPct val="115000"/>
                        </a:lnSpc>
                        <a:spcBef>
                          <a:spcPts val="0"/>
                        </a:spcBef>
                        <a:spcAft>
                          <a:spcPts val="0"/>
                        </a:spcAft>
                        <a:buNone/>
                      </a:pPr>
                      <a:r>
                        <a:rPr b="1" lang="en-US" sz="1200">
                          <a:solidFill>
                            <a:srgbClr val="006100"/>
                          </a:solidFill>
                          <a:latin typeface="Calibri"/>
                          <a:ea typeface="Calibri"/>
                          <a:cs typeface="Calibri"/>
                          <a:sym typeface="Calibri"/>
                        </a:rPr>
                        <a:t>Rp 509,999,545</a:t>
                      </a:r>
                      <a:endParaRPr b="1" sz="1200">
                        <a:solidFill>
                          <a:srgbClr val="006100"/>
                        </a:solidFill>
                        <a:latin typeface="Calibri"/>
                        <a:ea typeface="Calibri"/>
                        <a:cs typeface="Calibri"/>
                        <a:sym typeface="Calibri"/>
                      </a:endParaRPr>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E1F2"/>
                      </a:solidFill>
                      <a:prstDash val="solid"/>
                      <a:round/>
                      <a:headEnd len="sm" w="sm" type="none"/>
                      <a:tailEnd len="sm" w="sm" type="none"/>
                    </a:lnT>
                    <a:lnB cap="flat" cmpd="sng" w="9525">
                      <a:solidFill>
                        <a:srgbClr val="D9E1F2"/>
                      </a:solidFill>
                      <a:prstDash val="solid"/>
                      <a:round/>
                      <a:headEnd len="sm" w="sm" type="none"/>
                      <a:tailEnd len="sm" w="sm" type="none"/>
                    </a:lnB>
                    <a:solidFill>
                      <a:srgbClr val="C6E0B4"/>
                    </a:solidFill>
                    <a:extLst>
                      <a:ext uri="http://customooxmlschemas.google.com/">
                        <go:slidesCustomData xmlns:go="http://customooxmlschemas.google.com/" cellId="1109:11:5"/>
                      </a:ext>
                    </a:extLst>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113" name="Shape 1113"/>
        <p:cNvGrpSpPr/>
        <p:nvPr/>
      </p:nvGrpSpPr>
      <p:grpSpPr>
        <a:xfrm>
          <a:off x="0" y="0"/>
          <a:ext cx="0" cy="0"/>
          <a:chOff x="0" y="0"/>
          <a:chExt cx="0" cy="0"/>
        </a:xfrm>
      </p:grpSpPr>
      <p:sp>
        <p:nvSpPr>
          <p:cNvPr id="1114" name="Google Shape;1114;h65eb7c06466a6d01_2_70"/>
          <p:cNvSpPr txBox="1"/>
          <p:nvPr/>
        </p:nvSpPr>
        <p:spPr>
          <a:xfrm>
            <a:off x="594360" y="658368"/>
            <a:ext cx="11003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sp>
        <p:nvSpPr>
          <p:cNvPr id="1115" name="Google Shape;1115;h65eb7c06466a6d01_2_70"/>
          <p:cNvSpPr/>
          <p:nvPr/>
        </p:nvSpPr>
        <p:spPr>
          <a:xfrm>
            <a:off x="-1004824" y="-1440267"/>
            <a:ext cx="3734715" cy="3734715"/>
          </a:xfrm>
          <a:custGeom>
            <a:rect b="b" l="l" r="r" t="t"/>
            <a:pathLst>
              <a:path extrusionOk="0" h="6523520" w="6523520">
                <a:moveTo>
                  <a:pt x="0" y="0"/>
                </a:moveTo>
                <a:lnTo>
                  <a:pt x="6523520" y="0"/>
                </a:lnTo>
                <a:lnTo>
                  <a:pt x="6523520" y="6523520"/>
                </a:lnTo>
                <a:lnTo>
                  <a:pt x="0" y="6523520"/>
                </a:lnTo>
                <a:lnTo>
                  <a:pt x="0" y="0"/>
                </a:lnTo>
                <a:close/>
              </a:path>
            </a:pathLst>
          </a:custGeom>
          <a:blipFill rotWithShape="1">
            <a:blip r:embed="rId3">
              <a:alphaModFix amt="9000"/>
            </a:blip>
            <a:stretch>
              <a:fillRect b="0" l="0" r="0" t="0"/>
            </a:stretch>
          </a:blipFill>
          <a:ln>
            <a:noFill/>
          </a:ln>
        </p:spPr>
      </p:sp>
      <p:sp>
        <p:nvSpPr>
          <p:cNvPr id="1116" name="Google Shape;1116;h65eb7c06466a6d01_2_70"/>
          <p:cNvSpPr/>
          <p:nvPr/>
        </p:nvSpPr>
        <p:spPr>
          <a:xfrm rot="1553619">
            <a:off x="7483624" y="2034158"/>
            <a:ext cx="4587386" cy="4953144"/>
          </a:xfrm>
          <a:custGeom>
            <a:rect b="b" l="l" r="r" t="t"/>
            <a:pathLst>
              <a:path extrusionOk="0" h="8652193" w="8013284">
                <a:moveTo>
                  <a:pt x="0" y="0"/>
                </a:moveTo>
                <a:lnTo>
                  <a:pt x="8013283" y="0"/>
                </a:lnTo>
                <a:lnTo>
                  <a:pt x="8013283" y="8652193"/>
                </a:lnTo>
                <a:lnTo>
                  <a:pt x="0" y="8652193"/>
                </a:lnTo>
                <a:lnTo>
                  <a:pt x="0" y="0"/>
                </a:lnTo>
                <a:close/>
              </a:path>
            </a:pathLst>
          </a:custGeom>
          <a:blipFill rotWithShape="1">
            <a:blip r:embed="rId4">
              <a:alphaModFix amt="5000"/>
            </a:blip>
            <a:stretch>
              <a:fillRect b="0" l="0" r="-364404" t="0"/>
            </a:stretch>
          </a:blipFill>
          <a:ln>
            <a:noFill/>
          </a:ln>
        </p:spPr>
      </p:sp>
      <p:sp>
        <p:nvSpPr>
          <p:cNvPr id="1117" name="Google Shape;1117;h65eb7c06466a6d01_2_70"/>
          <p:cNvSpPr/>
          <p:nvPr/>
        </p:nvSpPr>
        <p:spPr>
          <a:xfrm rot="1553619">
            <a:off x="8027657" y="-1340688"/>
            <a:ext cx="2953906" cy="3493796"/>
          </a:xfrm>
          <a:custGeom>
            <a:rect b="b" l="l" r="r" t="t"/>
            <a:pathLst>
              <a:path extrusionOk="0" h="6102991" w="5159907">
                <a:moveTo>
                  <a:pt x="0" y="0"/>
                </a:moveTo>
                <a:lnTo>
                  <a:pt x="5159906" y="0"/>
                </a:lnTo>
                <a:lnTo>
                  <a:pt x="5159906" y="6102991"/>
                </a:lnTo>
                <a:lnTo>
                  <a:pt x="0" y="6102991"/>
                </a:lnTo>
                <a:lnTo>
                  <a:pt x="0" y="0"/>
                </a:lnTo>
                <a:close/>
              </a:path>
            </a:pathLst>
          </a:custGeom>
          <a:blipFill rotWithShape="1">
            <a:blip r:embed="rId4">
              <a:alphaModFix amt="5000"/>
            </a:blip>
            <a:stretch>
              <a:fillRect b="0" l="0" r="-408725" t="0"/>
            </a:stretch>
          </a:blipFill>
          <a:ln>
            <a:noFill/>
          </a:ln>
        </p:spPr>
      </p:sp>
      <p:grpSp>
        <p:nvGrpSpPr>
          <p:cNvPr id="1118" name="Google Shape;1118;h65eb7c06466a6d01_2_70"/>
          <p:cNvGrpSpPr/>
          <p:nvPr/>
        </p:nvGrpSpPr>
        <p:grpSpPr>
          <a:xfrm>
            <a:off x="1172202" y="349006"/>
            <a:ext cx="9500139" cy="606854"/>
            <a:chOff x="0" y="-38100"/>
            <a:chExt cx="5645100" cy="360600"/>
          </a:xfrm>
        </p:grpSpPr>
        <p:sp>
          <p:nvSpPr>
            <p:cNvPr id="1119" name="Google Shape;1119;h65eb7c06466a6d01_2_70"/>
            <p:cNvSpPr/>
            <p:nvPr/>
          </p:nvSpPr>
          <p:spPr>
            <a:xfrm>
              <a:off x="0" y="0"/>
              <a:ext cx="5645084" cy="322472"/>
            </a:xfrm>
            <a:custGeom>
              <a:rect b="b" l="l" r="r" t="t"/>
              <a:pathLst>
                <a:path extrusionOk="0" h="322472" w="5645084">
                  <a:moveTo>
                    <a:pt x="23809" y="0"/>
                  </a:moveTo>
                  <a:lnTo>
                    <a:pt x="5621275" y="0"/>
                  </a:lnTo>
                  <a:cubicBezTo>
                    <a:pt x="5634424" y="0"/>
                    <a:pt x="5645084" y="10660"/>
                    <a:pt x="5645084" y="23809"/>
                  </a:cubicBezTo>
                  <a:lnTo>
                    <a:pt x="5645084" y="298663"/>
                  </a:lnTo>
                  <a:cubicBezTo>
                    <a:pt x="5645084" y="304978"/>
                    <a:pt x="5642575" y="311033"/>
                    <a:pt x="5638110" y="315498"/>
                  </a:cubicBezTo>
                  <a:cubicBezTo>
                    <a:pt x="5633645" y="319963"/>
                    <a:pt x="5627589" y="322472"/>
                    <a:pt x="5621275" y="322472"/>
                  </a:cubicBezTo>
                  <a:lnTo>
                    <a:pt x="23809" y="322472"/>
                  </a:lnTo>
                  <a:cubicBezTo>
                    <a:pt x="17494" y="322472"/>
                    <a:pt x="11439" y="319963"/>
                    <a:pt x="6973" y="315498"/>
                  </a:cubicBezTo>
                  <a:cubicBezTo>
                    <a:pt x="2508" y="311033"/>
                    <a:pt x="0" y="304978"/>
                    <a:pt x="0" y="298663"/>
                  </a:cubicBezTo>
                  <a:lnTo>
                    <a:pt x="0" y="23809"/>
                  </a:lnTo>
                  <a:cubicBezTo>
                    <a:pt x="0" y="17494"/>
                    <a:pt x="2508" y="11439"/>
                    <a:pt x="6973" y="6973"/>
                  </a:cubicBezTo>
                  <a:cubicBezTo>
                    <a:pt x="11439" y="2508"/>
                    <a:pt x="17494" y="0"/>
                    <a:pt x="23809" y="0"/>
                  </a:cubicBezTo>
                  <a:close/>
                </a:path>
              </a:pathLst>
            </a:custGeom>
            <a:gradFill>
              <a:gsLst>
                <a:gs pos="0">
                  <a:srgbClr val="0A396D"/>
                </a:gs>
                <a:gs pos="100000">
                  <a:srgbClr val="092647"/>
                </a:gs>
              </a:gsLst>
              <a:lin ang="5400012" scaled="0"/>
            </a:gradFill>
            <a:ln cap="rnd" cmpd="sng" w="10925">
              <a:solidFill>
                <a:srgbClr val="FAF7FC"/>
              </a:solidFill>
              <a:prstDash val="solid"/>
              <a:round/>
              <a:headEnd len="sm" w="sm" type="none"/>
              <a:tailEnd len="sm" w="sm" type="none"/>
            </a:ln>
          </p:spPr>
          <p:txBody>
            <a:bodyPr anchorCtr="0" anchor="ctr" bIns="52375" lIns="52375" spcFirstLastPara="1" rIns="52375" wrap="square" tIns="52375">
              <a:noAutofit/>
            </a:bodyPr>
            <a:lstStyle/>
            <a:p>
              <a:pPr indent="0" lvl="0" marL="0" rtl="0" algn="l">
                <a:spcBef>
                  <a:spcPts val="0"/>
                </a:spcBef>
                <a:spcAft>
                  <a:spcPts val="0"/>
                </a:spcAft>
                <a:buNone/>
              </a:pPr>
              <a:r>
                <a:t/>
              </a:r>
              <a:endParaRPr/>
            </a:p>
          </p:txBody>
        </p:sp>
        <p:sp>
          <p:nvSpPr>
            <p:cNvPr id="1120" name="Google Shape;1120;h65eb7c06466a6d01_2_70"/>
            <p:cNvSpPr txBox="1"/>
            <p:nvPr/>
          </p:nvSpPr>
          <p:spPr>
            <a:xfrm>
              <a:off x="0" y="-38100"/>
              <a:ext cx="5645100" cy="360600"/>
            </a:xfrm>
            <a:prstGeom prst="rect">
              <a:avLst/>
            </a:prstGeom>
            <a:noFill/>
            <a:ln>
              <a:noFill/>
            </a:ln>
          </p:spPr>
          <p:txBody>
            <a:bodyPr anchorCtr="0" anchor="ctr" bIns="22525" lIns="22525" spcFirstLastPara="1" rIns="22525" wrap="square" tIns="22525">
              <a:noAutofit/>
            </a:bodyPr>
            <a:lstStyle/>
            <a:p>
              <a:pPr indent="0" lvl="0" marL="0" marR="0" rtl="0" algn="ctr">
                <a:lnSpc>
                  <a:spcPct val="147777"/>
                </a:lnSpc>
                <a:spcBef>
                  <a:spcPts val="0"/>
                </a:spcBef>
                <a:spcAft>
                  <a:spcPts val="0"/>
                </a:spcAft>
                <a:buNone/>
              </a:pPr>
              <a:r>
                <a:t/>
              </a:r>
              <a:endParaRPr b="0" i="0" sz="1031" u="none" cap="none" strike="noStrike">
                <a:solidFill>
                  <a:srgbClr val="000000"/>
                </a:solidFill>
                <a:latin typeface="Calibri"/>
                <a:ea typeface="Calibri"/>
                <a:cs typeface="Calibri"/>
                <a:sym typeface="Calibri"/>
              </a:endParaRPr>
            </a:p>
          </p:txBody>
        </p:sp>
      </p:grpSp>
      <p:sp>
        <p:nvSpPr>
          <p:cNvPr id="1121" name="Google Shape;1121;h65eb7c06466a6d01_2_70"/>
          <p:cNvSpPr/>
          <p:nvPr/>
        </p:nvSpPr>
        <p:spPr>
          <a:xfrm>
            <a:off x="1175403" y="1281130"/>
            <a:ext cx="650069" cy="715343"/>
          </a:xfrm>
          <a:custGeom>
            <a:rect b="b" l="l" r="r" t="t"/>
            <a:pathLst>
              <a:path extrusionOk="0" h="1249508" w="1135491">
                <a:moveTo>
                  <a:pt x="0" y="0"/>
                </a:moveTo>
                <a:lnTo>
                  <a:pt x="1135491" y="0"/>
                </a:lnTo>
                <a:lnTo>
                  <a:pt x="1135491" y="1249508"/>
                </a:lnTo>
                <a:lnTo>
                  <a:pt x="0" y="1249508"/>
                </a:lnTo>
                <a:lnTo>
                  <a:pt x="0" y="0"/>
                </a:lnTo>
                <a:close/>
              </a:path>
            </a:pathLst>
          </a:custGeom>
          <a:blipFill rotWithShape="1">
            <a:blip r:embed="rId5">
              <a:alphaModFix/>
            </a:blip>
            <a:stretch>
              <a:fillRect b="0" l="0" r="0" t="0"/>
            </a:stretch>
          </a:blipFill>
          <a:ln>
            <a:noFill/>
          </a:ln>
        </p:spPr>
      </p:sp>
      <p:sp>
        <p:nvSpPr>
          <p:cNvPr id="1122" name="Google Shape;1122;h65eb7c06466a6d01_2_70"/>
          <p:cNvSpPr/>
          <p:nvPr/>
        </p:nvSpPr>
        <p:spPr>
          <a:xfrm>
            <a:off x="6519530" y="1265567"/>
            <a:ext cx="692127" cy="710785"/>
          </a:xfrm>
          <a:custGeom>
            <a:rect b="b" l="l" r="r" t="t"/>
            <a:pathLst>
              <a:path extrusionOk="0" h="1241546" w="1208955">
                <a:moveTo>
                  <a:pt x="0" y="0"/>
                </a:moveTo>
                <a:lnTo>
                  <a:pt x="1208956" y="0"/>
                </a:lnTo>
                <a:lnTo>
                  <a:pt x="1208956" y="1241546"/>
                </a:lnTo>
                <a:lnTo>
                  <a:pt x="0" y="1241546"/>
                </a:lnTo>
                <a:lnTo>
                  <a:pt x="0" y="0"/>
                </a:lnTo>
                <a:close/>
              </a:path>
            </a:pathLst>
          </a:custGeom>
          <a:blipFill rotWithShape="1">
            <a:blip r:embed="rId6">
              <a:alphaModFix/>
            </a:blip>
            <a:stretch>
              <a:fillRect b="0" l="0" r="0" t="0"/>
            </a:stretch>
          </a:blipFill>
          <a:ln>
            <a:noFill/>
          </a:ln>
        </p:spPr>
      </p:sp>
      <p:sp>
        <p:nvSpPr>
          <p:cNvPr id="1123" name="Google Shape;1123;h65eb7c06466a6d01_2_70"/>
          <p:cNvSpPr/>
          <p:nvPr/>
        </p:nvSpPr>
        <p:spPr>
          <a:xfrm>
            <a:off x="2145344" y="2728292"/>
            <a:ext cx="741401" cy="862095"/>
          </a:xfrm>
          <a:custGeom>
            <a:rect b="b" l="l" r="r" t="t"/>
            <a:pathLst>
              <a:path extrusionOk="0" h="1505842" w="1295024">
                <a:moveTo>
                  <a:pt x="0" y="0"/>
                </a:moveTo>
                <a:lnTo>
                  <a:pt x="1295024" y="0"/>
                </a:lnTo>
                <a:lnTo>
                  <a:pt x="1295024" y="1505842"/>
                </a:lnTo>
                <a:lnTo>
                  <a:pt x="0" y="1505842"/>
                </a:lnTo>
                <a:lnTo>
                  <a:pt x="0" y="0"/>
                </a:lnTo>
                <a:close/>
              </a:path>
            </a:pathLst>
          </a:custGeom>
          <a:blipFill rotWithShape="1">
            <a:blip r:embed="rId7">
              <a:alphaModFix/>
            </a:blip>
            <a:stretch>
              <a:fillRect b="0" l="0" r="0" t="0"/>
            </a:stretch>
          </a:blipFill>
          <a:ln>
            <a:noFill/>
          </a:ln>
        </p:spPr>
      </p:sp>
      <p:sp>
        <p:nvSpPr>
          <p:cNvPr id="1124" name="Google Shape;1124;h65eb7c06466a6d01_2_70"/>
          <p:cNvSpPr/>
          <p:nvPr/>
        </p:nvSpPr>
        <p:spPr>
          <a:xfrm>
            <a:off x="3638340" y="1281130"/>
            <a:ext cx="851054" cy="851054"/>
          </a:xfrm>
          <a:custGeom>
            <a:rect b="b" l="l" r="r" t="t"/>
            <a:pathLst>
              <a:path extrusionOk="0" h="1486558" w="1486558">
                <a:moveTo>
                  <a:pt x="0" y="0"/>
                </a:moveTo>
                <a:lnTo>
                  <a:pt x="1486559" y="0"/>
                </a:lnTo>
                <a:lnTo>
                  <a:pt x="1486559" y="1486558"/>
                </a:lnTo>
                <a:lnTo>
                  <a:pt x="0" y="1486558"/>
                </a:lnTo>
                <a:lnTo>
                  <a:pt x="0" y="0"/>
                </a:lnTo>
                <a:close/>
              </a:path>
            </a:pathLst>
          </a:custGeom>
          <a:blipFill rotWithShape="1">
            <a:blip r:embed="rId8">
              <a:alphaModFix/>
            </a:blip>
            <a:stretch>
              <a:fillRect b="0" l="0" r="0" t="0"/>
            </a:stretch>
          </a:blipFill>
          <a:ln>
            <a:noFill/>
          </a:ln>
        </p:spPr>
      </p:sp>
      <p:sp>
        <p:nvSpPr>
          <p:cNvPr id="1125" name="Google Shape;1125;h65eb7c06466a6d01_2_70"/>
          <p:cNvSpPr/>
          <p:nvPr/>
        </p:nvSpPr>
        <p:spPr>
          <a:xfrm>
            <a:off x="4692883" y="2728292"/>
            <a:ext cx="889444" cy="829407"/>
          </a:xfrm>
          <a:custGeom>
            <a:rect b="b" l="l" r="r" t="t"/>
            <a:pathLst>
              <a:path extrusionOk="0" h="1448745" w="1553614">
                <a:moveTo>
                  <a:pt x="0" y="0"/>
                </a:moveTo>
                <a:lnTo>
                  <a:pt x="1553615" y="0"/>
                </a:lnTo>
                <a:lnTo>
                  <a:pt x="1553615" y="1448745"/>
                </a:lnTo>
                <a:lnTo>
                  <a:pt x="0" y="1448745"/>
                </a:lnTo>
                <a:lnTo>
                  <a:pt x="0" y="0"/>
                </a:lnTo>
                <a:close/>
              </a:path>
            </a:pathLst>
          </a:custGeom>
          <a:blipFill rotWithShape="1">
            <a:blip r:embed="rId9">
              <a:alphaModFix/>
            </a:blip>
            <a:stretch>
              <a:fillRect b="0" l="0" r="0" t="0"/>
            </a:stretch>
          </a:blipFill>
          <a:ln>
            <a:noFill/>
          </a:ln>
        </p:spPr>
      </p:sp>
      <p:sp>
        <p:nvSpPr>
          <p:cNvPr id="1126" name="Google Shape;1126;h65eb7c06466a6d01_2_70"/>
          <p:cNvSpPr/>
          <p:nvPr/>
        </p:nvSpPr>
        <p:spPr>
          <a:xfrm>
            <a:off x="7480304" y="2890290"/>
            <a:ext cx="851054" cy="538292"/>
          </a:xfrm>
          <a:custGeom>
            <a:rect b="b" l="l" r="r" t="t"/>
            <a:pathLst>
              <a:path extrusionOk="0" h="940248" w="1486558">
                <a:moveTo>
                  <a:pt x="0" y="0"/>
                </a:moveTo>
                <a:lnTo>
                  <a:pt x="1486558" y="0"/>
                </a:lnTo>
                <a:lnTo>
                  <a:pt x="1486558" y="940248"/>
                </a:lnTo>
                <a:lnTo>
                  <a:pt x="0" y="940248"/>
                </a:lnTo>
                <a:lnTo>
                  <a:pt x="0" y="0"/>
                </a:lnTo>
                <a:close/>
              </a:path>
            </a:pathLst>
          </a:custGeom>
          <a:blipFill rotWithShape="1">
            <a:blip r:embed="rId10">
              <a:alphaModFix/>
            </a:blip>
            <a:stretch>
              <a:fillRect b="0" l="0" r="0" t="0"/>
            </a:stretch>
          </a:blipFill>
          <a:ln>
            <a:noFill/>
          </a:ln>
        </p:spPr>
      </p:sp>
      <p:grpSp>
        <p:nvGrpSpPr>
          <p:cNvPr id="1127" name="Google Shape;1127;h65eb7c06466a6d01_2_70"/>
          <p:cNvGrpSpPr/>
          <p:nvPr/>
        </p:nvGrpSpPr>
        <p:grpSpPr>
          <a:xfrm>
            <a:off x="1028842" y="4111528"/>
            <a:ext cx="9874256" cy="1840395"/>
            <a:chOff x="0" y="-38100"/>
            <a:chExt cx="10509000" cy="1958700"/>
          </a:xfrm>
        </p:grpSpPr>
        <p:sp>
          <p:nvSpPr>
            <p:cNvPr id="1128" name="Google Shape;1128;h65eb7c06466a6d01_2_70"/>
            <p:cNvSpPr/>
            <p:nvPr/>
          </p:nvSpPr>
          <p:spPr>
            <a:xfrm>
              <a:off x="0" y="0"/>
              <a:ext cx="10508880" cy="1920460"/>
            </a:xfrm>
            <a:custGeom>
              <a:rect b="b" l="l" r="r" t="t"/>
              <a:pathLst>
                <a:path extrusionOk="0" h="1920460" w="10508880">
                  <a:moveTo>
                    <a:pt x="19763" y="0"/>
                  </a:moveTo>
                  <a:lnTo>
                    <a:pt x="10489118" y="0"/>
                  </a:lnTo>
                  <a:cubicBezTo>
                    <a:pt x="10494359" y="0"/>
                    <a:pt x="10499385" y="2082"/>
                    <a:pt x="10503092" y="5788"/>
                  </a:cubicBezTo>
                  <a:cubicBezTo>
                    <a:pt x="10506798" y="9495"/>
                    <a:pt x="10508880" y="14521"/>
                    <a:pt x="10508880" y="19763"/>
                  </a:cubicBezTo>
                  <a:lnTo>
                    <a:pt x="10508880" y="1900697"/>
                  </a:lnTo>
                  <a:cubicBezTo>
                    <a:pt x="10508880" y="1905939"/>
                    <a:pt x="10506798" y="1910965"/>
                    <a:pt x="10503092" y="1914672"/>
                  </a:cubicBezTo>
                  <a:cubicBezTo>
                    <a:pt x="10499385" y="1918378"/>
                    <a:pt x="10494359" y="1920460"/>
                    <a:pt x="10489118" y="1920460"/>
                  </a:cubicBezTo>
                  <a:lnTo>
                    <a:pt x="19763" y="1920460"/>
                  </a:lnTo>
                  <a:cubicBezTo>
                    <a:pt x="14521" y="1920460"/>
                    <a:pt x="9495" y="1918378"/>
                    <a:pt x="5788" y="1914672"/>
                  </a:cubicBezTo>
                  <a:cubicBezTo>
                    <a:pt x="2082" y="1910965"/>
                    <a:pt x="0" y="1905939"/>
                    <a:pt x="0" y="1900697"/>
                  </a:cubicBezTo>
                  <a:lnTo>
                    <a:pt x="0" y="19763"/>
                  </a:lnTo>
                  <a:cubicBezTo>
                    <a:pt x="0" y="14521"/>
                    <a:pt x="2082" y="9495"/>
                    <a:pt x="5788" y="5788"/>
                  </a:cubicBezTo>
                  <a:cubicBezTo>
                    <a:pt x="9495" y="2082"/>
                    <a:pt x="14521" y="0"/>
                    <a:pt x="19763" y="0"/>
                  </a:cubicBezTo>
                  <a:close/>
                </a:path>
              </a:pathLst>
            </a:custGeom>
            <a:solidFill>
              <a:srgbClr val="FFFFFF"/>
            </a:solidFill>
            <a:ln>
              <a:noFill/>
            </a:ln>
          </p:spPr>
          <p:txBody>
            <a:bodyPr anchorCtr="0" anchor="ctr" bIns="52375" lIns="52375" spcFirstLastPara="1" rIns="52375" wrap="square" tIns="52375">
              <a:noAutofit/>
            </a:bodyPr>
            <a:lstStyle/>
            <a:p>
              <a:pPr indent="0" lvl="0" marL="0" rtl="0" algn="l">
                <a:spcBef>
                  <a:spcPts val="0"/>
                </a:spcBef>
                <a:spcAft>
                  <a:spcPts val="0"/>
                </a:spcAft>
                <a:buNone/>
              </a:pPr>
              <a:r>
                <a:t/>
              </a:r>
              <a:endParaRPr/>
            </a:p>
          </p:txBody>
        </p:sp>
        <p:sp>
          <p:nvSpPr>
            <p:cNvPr id="1129" name="Google Shape;1129;h65eb7c06466a6d01_2_70"/>
            <p:cNvSpPr txBox="1"/>
            <p:nvPr/>
          </p:nvSpPr>
          <p:spPr>
            <a:xfrm>
              <a:off x="0" y="-38100"/>
              <a:ext cx="10509000" cy="1958700"/>
            </a:xfrm>
            <a:prstGeom prst="rect">
              <a:avLst/>
            </a:prstGeom>
            <a:noFill/>
            <a:ln>
              <a:noFill/>
            </a:ln>
          </p:spPr>
          <p:txBody>
            <a:bodyPr anchorCtr="0" anchor="ctr" bIns="9075" lIns="9075" spcFirstLastPara="1" rIns="9075" wrap="square" tIns="9075">
              <a:noAutofit/>
            </a:bodyPr>
            <a:lstStyle/>
            <a:p>
              <a:pPr indent="0" lvl="0" marL="0" marR="0" rtl="0" algn="ctr">
                <a:lnSpc>
                  <a:spcPct val="60833"/>
                </a:lnSpc>
                <a:spcBef>
                  <a:spcPts val="0"/>
                </a:spcBef>
                <a:spcAft>
                  <a:spcPts val="0"/>
                </a:spcAft>
                <a:buNone/>
              </a:pPr>
              <a:r>
                <a:t/>
              </a:r>
              <a:endParaRPr b="0" i="0" sz="1031" u="none" cap="none" strike="noStrike">
                <a:solidFill>
                  <a:srgbClr val="000000"/>
                </a:solidFill>
                <a:latin typeface="Calibri"/>
                <a:ea typeface="Calibri"/>
                <a:cs typeface="Calibri"/>
                <a:sym typeface="Calibri"/>
              </a:endParaRPr>
            </a:p>
          </p:txBody>
        </p:sp>
      </p:grpSp>
      <p:sp>
        <p:nvSpPr>
          <p:cNvPr id="1130" name="Google Shape;1130;h65eb7c06466a6d01_2_70"/>
          <p:cNvSpPr/>
          <p:nvPr/>
        </p:nvSpPr>
        <p:spPr>
          <a:xfrm>
            <a:off x="3462111" y="5538325"/>
            <a:ext cx="915816" cy="302219"/>
          </a:xfrm>
          <a:custGeom>
            <a:rect b="b" l="l" r="r" t="t"/>
            <a:pathLst>
              <a:path extrusionOk="0" h="527894" w="1599678">
                <a:moveTo>
                  <a:pt x="0" y="0"/>
                </a:moveTo>
                <a:lnTo>
                  <a:pt x="1599678" y="0"/>
                </a:lnTo>
                <a:lnTo>
                  <a:pt x="1599678" y="527893"/>
                </a:lnTo>
                <a:lnTo>
                  <a:pt x="0" y="527893"/>
                </a:lnTo>
                <a:lnTo>
                  <a:pt x="0" y="0"/>
                </a:lnTo>
                <a:close/>
              </a:path>
            </a:pathLst>
          </a:custGeom>
          <a:blipFill rotWithShape="1">
            <a:blip r:embed="rId11">
              <a:alphaModFix/>
            </a:blip>
            <a:stretch>
              <a:fillRect b="0" l="0" r="0" t="0"/>
            </a:stretch>
          </a:blipFill>
          <a:ln>
            <a:noFill/>
          </a:ln>
        </p:spPr>
      </p:sp>
      <p:sp>
        <p:nvSpPr>
          <p:cNvPr id="1131" name="Google Shape;1131;h65eb7c06466a6d01_2_70"/>
          <p:cNvSpPr/>
          <p:nvPr/>
        </p:nvSpPr>
        <p:spPr>
          <a:xfrm>
            <a:off x="7433067" y="4717701"/>
            <a:ext cx="717155" cy="260258"/>
          </a:xfrm>
          <a:custGeom>
            <a:rect b="b" l="l" r="r" t="t"/>
            <a:pathLst>
              <a:path extrusionOk="0" h="454599" w="1252672">
                <a:moveTo>
                  <a:pt x="0" y="0"/>
                </a:moveTo>
                <a:lnTo>
                  <a:pt x="1252672" y="0"/>
                </a:lnTo>
                <a:lnTo>
                  <a:pt x="1252672" y="454599"/>
                </a:lnTo>
                <a:lnTo>
                  <a:pt x="0" y="454599"/>
                </a:lnTo>
                <a:lnTo>
                  <a:pt x="0" y="0"/>
                </a:lnTo>
                <a:close/>
              </a:path>
            </a:pathLst>
          </a:custGeom>
          <a:blipFill rotWithShape="1">
            <a:blip r:embed="rId12">
              <a:alphaModFix/>
            </a:blip>
            <a:stretch>
              <a:fillRect b="0" l="0" r="0" t="0"/>
            </a:stretch>
          </a:blipFill>
          <a:ln>
            <a:noFill/>
          </a:ln>
        </p:spPr>
      </p:sp>
      <p:sp>
        <p:nvSpPr>
          <p:cNvPr id="1132" name="Google Shape;1132;h65eb7c06466a6d01_2_70"/>
          <p:cNvSpPr/>
          <p:nvPr/>
        </p:nvSpPr>
        <p:spPr>
          <a:xfrm>
            <a:off x="3083997" y="5154365"/>
            <a:ext cx="640749" cy="325180"/>
          </a:xfrm>
          <a:custGeom>
            <a:rect b="b" l="l" r="r" t="t"/>
            <a:pathLst>
              <a:path extrusionOk="0" h="568000" w="1119212">
                <a:moveTo>
                  <a:pt x="0" y="0"/>
                </a:moveTo>
                <a:lnTo>
                  <a:pt x="1119212" y="0"/>
                </a:lnTo>
                <a:lnTo>
                  <a:pt x="1119212" y="568000"/>
                </a:lnTo>
                <a:lnTo>
                  <a:pt x="0" y="568000"/>
                </a:lnTo>
                <a:lnTo>
                  <a:pt x="0" y="0"/>
                </a:lnTo>
                <a:close/>
              </a:path>
            </a:pathLst>
          </a:custGeom>
          <a:blipFill rotWithShape="1">
            <a:blip r:embed="rId13">
              <a:alphaModFix/>
            </a:blip>
            <a:stretch>
              <a:fillRect b="0" l="0" r="0" t="0"/>
            </a:stretch>
          </a:blipFill>
          <a:ln>
            <a:noFill/>
          </a:ln>
        </p:spPr>
      </p:sp>
      <p:sp>
        <p:nvSpPr>
          <p:cNvPr id="1133" name="Google Shape;1133;h65eb7c06466a6d01_2_70"/>
          <p:cNvSpPr/>
          <p:nvPr/>
        </p:nvSpPr>
        <p:spPr>
          <a:xfrm>
            <a:off x="7866760" y="5341283"/>
            <a:ext cx="616591" cy="616591"/>
          </a:xfrm>
          <a:custGeom>
            <a:rect b="b" l="l" r="r" t="t"/>
            <a:pathLst>
              <a:path extrusionOk="0" h="1077014" w="1077014">
                <a:moveTo>
                  <a:pt x="0" y="0"/>
                </a:moveTo>
                <a:lnTo>
                  <a:pt x="1077014" y="0"/>
                </a:lnTo>
                <a:lnTo>
                  <a:pt x="1077014" y="1077014"/>
                </a:lnTo>
                <a:lnTo>
                  <a:pt x="0" y="1077014"/>
                </a:lnTo>
                <a:lnTo>
                  <a:pt x="0" y="0"/>
                </a:lnTo>
                <a:close/>
              </a:path>
            </a:pathLst>
          </a:custGeom>
          <a:blipFill rotWithShape="1">
            <a:blip r:embed="rId14">
              <a:alphaModFix/>
            </a:blip>
            <a:stretch>
              <a:fillRect b="0" l="0" r="0" t="0"/>
            </a:stretch>
          </a:blipFill>
          <a:ln>
            <a:noFill/>
          </a:ln>
        </p:spPr>
      </p:sp>
      <p:sp>
        <p:nvSpPr>
          <p:cNvPr id="1134" name="Google Shape;1134;h65eb7c06466a6d01_2_70"/>
          <p:cNvSpPr/>
          <p:nvPr/>
        </p:nvSpPr>
        <p:spPr>
          <a:xfrm>
            <a:off x="4987269" y="5105001"/>
            <a:ext cx="1461519" cy="374514"/>
          </a:xfrm>
          <a:custGeom>
            <a:rect b="b" l="l" r="r" t="t"/>
            <a:pathLst>
              <a:path extrusionOk="0" h="654173" w="2552871">
                <a:moveTo>
                  <a:pt x="0" y="0"/>
                </a:moveTo>
                <a:lnTo>
                  <a:pt x="2552871" y="0"/>
                </a:lnTo>
                <a:lnTo>
                  <a:pt x="2552871" y="654173"/>
                </a:lnTo>
                <a:lnTo>
                  <a:pt x="0" y="654173"/>
                </a:lnTo>
                <a:lnTo>
                  <a:pt x="0" y="0"/>
                </a:lnTo>
                <a:close/>
              </a:path>
            </a:pathLst>
          </a:custGeom>
          <a:blipFill rotWithShape="1">
            <a:blip r:embed="rId15">
              <a:alphaModFix/>
            </a:blip>
            <a:stretch>
              <a:fillRect b="0" l="0" r="0" t="0"/>
            </a:stretch>
          </a:blipFill>
          <a:ln>
            <a:noFill/>
          </a:ln>
        </p:spPr>
      </p:sp>
      <p:sp>
        <p:nvSpPr>
          <p:cNvPr id="1135" name="Google Shape;1135;h65eb7c06466a6d01_2_70"/>
          <p:cNvSpPr txBox="1"/>
          <p:nvPr/>
        </p:nvSpPr>
        <p:spPr>
          <a:xfrm>
            <a:off x="2143029" y="4111613"/>
            <a:ext cx="7179600" cy="282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33" u="none" cap="none" strike="noStrike">
                <a:solidFill>
                  <a:srgbClr val="000000"/>
                </a:solidFill>
                <a:latin typeface="Arial"/>
                <a:ea typeface="Arial"/>
                <a:cs typeface="Arial"/>
                <a:sym typeface="Arial"/>
              </a:rPr>
              <a:t>Elevate Your Business As Our Clients</a:t>
            </a:r>
            <a:endParaRPr sz="802"/>
          </a:p>
        </p:txBody>
      </p:sp>
      <p:sp>
        <p:nvSpPr>
          <p:cNvPr id="1136" name="Google Shape;1136;h65eb7c06466a6d01_2_70"/>
          <p:cNvSpPr/>
          <p:nvPr/>
        </p:nvSpPr>
        <p:spPr>
          <a:xfrm>
            <a:off x="8094104" y="4523104"/>
            <a:ext cx="1121568" cy="549101"/>
          </a:xfrm>
          <a:custGeom>
            <a:rect b="b" l="l" r="r" t="t"/>
            <a:pathLst>
              <a:path extrusionOk="0" h="959128" w="1959071">
                <a:moveTo>
                  <a:pt x="0" y="0"/>
                </a:moveTo>
                <a:lnTo>
                  <a:pt x="1959070" y="0"/>
                </a:lnTo>
                <a:lnTo>
                  <a:pt x="1959070" y="959128"/>
                </a:lnTo>
                <a:lnTo>
                  <a:pt x="0" y="959128"/>
                </a:lnTo>
                <a:lnTo>
                  <a:pt x="0" y="0"/>
                </a:lnTo>
                <a:close/>
              </a:path>
            </a:pathLst>
          </a:custGeom>
          <a:blipFill rotWithShape="1">
            <a:blip r:embed="rId16">
              <a:alphaModFix/>
            </a:blip>
            <a:stretch>
              <a:fillRect b="-25979" l="-11110" r="-18620" t="-23070"/>
            </a:stretch>
          </a:blipFill>
          <a:ln>
            <a:noFill/>
          </a:ln>
        </p:spPr>
      </p:sp>
      <p:sp>
        <p:nvSpPr>
          <p:cNvPr id="1137" name="Google Shape;1137;h65eb7c06466a6d01_2_70"/>
          <p:cNvSpPr/>
          <p:nvPr/>
        </p:nvSpPr>
        <p:spPr>
          <a:xfrm>
            <a:off x="2240773" y="5109553"/>
            <a:ext cx="905552" cy="385609"/>
          </a:xfrm>
          <a:custGeom>
            <a:rect b="b" l="l" r="r" t="t"/>
            <a:pathLst>
              <a:path extrusionOk="0" h="673552" w="1581751">
                <a:moveTo>
                  <a:pt x="0" y="0"/>
                </a:moveTo>
                <a:lnTo>
                  <a:pt x="1581752" y="0"/>
                </a:lnTo>
                <a:lnTo>
                  <a:pt x="1581752" y="673552"/>
                </a:lnTo>
                <a:lnTo>
                  <a:pt x="0" y="673552"/>
                </a:lnTo>
                <a:lnTo>
                  <a:pt x="0" y="0"/>
                </a:lnTo>
                <a:close/>
              </a:path>
            </a:pathLst>
          </a:custGeom>
          <a:blipFill rotWithShape="1">
            <a:blip r:embed="rId17">
              <a:alphaModFix/>
            </a:blip>
            <a:stretch>
              <a:fillRect b="-66632" l="0" r="-820" t="-70122"/>
            </a:stretch>
          </a:blipFill>
          <a:ln>
            <a:noFill/>
          </a:ln>
        </p:spPr>
      </p:sp>
      <p:sp>
        <p:nvSpPr>
          <p:cNvPr id="1138" name="Google Shape;1138;h65eb7c06466a6d01_2_70"/>
          <p:cNvSpPr/>
          <p:nvPr/>
        </p:nvSpPr>
        <p:spPr>
          <a:xfrm>
            <a:off x="2361033" y="5479739"/>
            <a:ext cx="1253504" cy="385452"/>
          </a:xfrm>
          <a:custGeom>
            <a:rect b="b" l="l" r="r" t="t"/>
            <a:pathLst>
              <a:path extrusionOk="0" h="673279" w="2189526">
                <a:moveTo>
                  <a:pt x="0" y="0"/>
                </a:moveTo>
                <a:lnTo>
                  <a:pt x="2189525" y="0"/>
                </a:lnTo>
                <a:lnTo>
                  <a:pt x="2189525" y="673279"/>
                </a:lnTo>
                <a:lnTo>
                  <a:pt x="0" y="673279"/>
                </a:lnTo>
                <a:lnTo>
                  <a:pt x="0" y="0"/>
                </a:lnTo>
                <a:close/>
              </a:path>
            </a:pathLst>
          </a:custGeom>
          <a:blipFill rotWithShape="1">
            <a:blip r:embed="rId18">
              <a:alphaModFix/>
            </a:blip>
            <a:stretch>
              <a:fillRect b="0" l="0" r="0" t="0"/>
            </a:stretch>
          </a:blipFill>
          <a:ln>
            <a:noFill/>
          </a:ln>
        </p:spPr>
      </p:sp>
      <p:sp>
        <p:nvSpPr>
          <p:cNvPr id="1139" name="Google Shape;1139;h65eb7c06466a6d01_2_70"/>
          <p:cNvSpPr/>
          <p:nvPr/>
        </p:nvSpPr>
        <p:spPr>
          <a:xfrm>
            <a:off x="6449659" y="5072533"/>
            <a:ext cx="508006" cy="395463"/>
          </a:xfrm>
          <a:custGeom>
            <a:rect b="b" l="l" r="r" t="t"/>
            <a:pathLst>
              <a:path extrusionOk="0" h="690765" w="887346">
                <a:moveTo>
                  <a:pt x="0" y="0"/>
                </a:moveTo>
                <a:lnTo>
                  <a:pt x="887346" y="0"/>
                </a:lnTo>
                <a:lnTo>
                  <a:pt x="887346" y="690765"/>
                </a:lnTo>
                <a:lnTo>
                  <a:pt x="0" y="690765"/>
                </a:lnTo>
                <a:lnTo>
                  <a:pt x="0" y="0"/>
                </a:lnTo>
                <a:close/>
              </a:path>
            </a:pathLst>
          </a:custGeom>
          <a:blipFill rotWithShape="1">
            <a:blip r:embed="rId19">
              <a:alphaModFix/>
            </a:blip>
            <a:stretch>
              <a:fillRect b="0" l="0" r="0" t="0"/>
            </a:stretch>
          </a:blipFill>
          <a:ln>
            <a:noFill/>
          </a:ln>
        </p:spPr>
      </p:sp>
      <p:sp>
        <p:nvSpPr>
          <p:cNvPr id="1140" name="Google Shape;1140;h65eb7c06466a6d01_2_70"/>
          <p:cNvSpPr/>
          <p:nvPr/>
        </p:nvSpPr>
        <p:spPr>
          <a:xfrm>
            <a:off x="5600006" y="5543808"/>
            <a:ext cx="1308068" cy="242746"/>
          </a:xfrm>
          <a:custGeom>
            <a:rect b="b" l="l" r="r" t="t"/>
            <a:pathLst>
              <a:path extrusionOk="0" h="424010" w="2284835">
                <a:moveTo>
                  <a:pt x="0" y="0"/>
                </a:moveTo>
                <a:lnTo>
                  <a:pt x="2284835" y="0"/>
                </a:lnTo>
                <a:lnTo>
                  <a:pt x="2284835" y="424010"/>
                </a:lnTo>
                <a:lnTo>
                  <a:pt x="0" y="424010"/>
                </a:lnTo>
                <a:lnTo>
                  <a:pt x="0" y="0"/>
                </a:lnTo>
                <a:close/>
              </a:path>
            </a:pathLst>
          </a:custGeom>
          <a:blipFill rotWithShape="1">
            <a:blip r:embed="rId20">
              <a:alphaModFix/>
            </a:blip>
            <a:stretch>
              <a:fillRect b="-21650" l="-1510" r="0" t="-21640"/>
            </a:stretch>
          </a:blipFill>
          <a:ln>
            <a:noFill/>
          </a:ln>
        </p:spPr>
      </p:sp>
      <p:sp>
        <p:nvSpPr>
          <p:cNvPr id="1141" name="Google Shape;1141;h65eb7c06466a6d01_2_70"/>
          <p:cNvSpPr/>
          <p:nvPr/>
        </p:nvSpPr>
        <p:spPr>
          <a:xfrm>
            <a:off x="8089820" y="5099042"/>
            <a:ext cx="1125849" cy="256131"/>
          </a:xfrm>
          <a:custGeom>
            <a:rect b="b" l="l" r="r" t="t"/>
            <a:pathLst>
              <a:path extrusionOk="0" h="447390" w="1966549">
                <a:moveTo>
                  <a:pt x="0" y="0"/>
                </a:moveTo>
                <a:lnTo>
                  <a:pt x="1966549" y="0"/>
                </a:lnTo>
                <a:lnTo>
                  <a:pt x="1966549" y="447390"/>
                </a:lnTo>
                <a:lnTo>
                  <a:pt x="0" y="447390"/>
                </a:lnTo>
                <a:lnTo>
                  <a:pt x="0" y="0"/>
                </a:lnTo>
                <a:close/>
              </a:path>
            </a:pathLst>
          </a:custGeom>
          <a:blipFill rotWithShape="1">
            <a:blip r:embed="rId21">
              <a:alphaModFix/>
            </a:blip>
            <a:stretch>
              <a:fillRect b="0" l="0" r="0" t="0"/>
            </a:stretch>
          </a:blipFill>
          <a:ln>
            <a:noFill/>
          </a:ln>
        </p:spPr>
      </p:sp>
      <p:sp>
        <p:nvSpPr>
          <p:cNvPr id="1142" name="Google Shape;1142;h65eb7c06466a6d01_2_70"/>
          <p:cNvSpPr/>
          <p:nvPr/>
        </p:nvSpPr>
        <p:spPr>
          <a:xfrm>
            <a:off x="5562198" y="4558688"/>
            <a:ext cx="785177" cy="477977"/>
          </a:xfrm>
          <a:custGeom>
            <a:rect b="b" l="l" r="r" t="t"/>
            <a:pathLst>
              <a:path extrusionOk="0" h="834894" w="1371489">
                <a:moveTo>
                  <a:pt x="0" y="0"/>
                </a:moveTo>
                <a:lnTo>
                  <a:pt x="1371489" y="0"/>
                </a:lnTo>
                <a:lnTo>
                  <a:pt x="1371489" y="834894"/>
                </a:lnTo>
                <a:lnTo>
                  <a:pt x="0" y="834894"/>
                </a:lnTo>
                <a:lnTo>
                  <a:pt x="0" y="0"/>
                </a:lnTo>
                <a:close/>
              </a:path>
            </a:pathLst>
          </a:custGeom>
          <a:blipFill rotWithShape="1">
            <a:blip r:embed="rId22">
              <a:alphaModFix/>
            </a:blip>
            <a:stretch>
              <a:fillRect b="0" l="0" r="0" t="0"/>
            </a:stretch>
          </a:blipFill>
          <a:ln>
            <a:noFill/>
          </a:ln>
        </p:spPr>
      </p:sp>
      <p:sp>
        <p:nvSpPr>
          <p:cNvPr id="1143" name="Google Shape;1143;h65eb7c06466a6d01_2_70"/>
          <p:cNvSpPr/>
          <p:nvPr/>
        </p:nvSpPr>
        <p:spPr>
          <a:xfrm>
            <a:off x="3761349" y="5105001"/>
            <a:ext cx="1184257" cy="339978"/>
          </a:xfrm>
          <a:custGeom>
            <a:rect b="b" l="l" r="r" t="t"/>
            <a:pathLst>
              <a:path extrusionOk="0" h="593848" w="2068571">
                <a:moveTo>
                  <a:pt x="0" y="0"/>
                </a:moveTo>
                <a:lnTo>
                  <a:pt x="2068570" y="0"/>
                </a:lnTo>
                <a:lnTo>
                  <a:pt x="2068570" y="593848"/>
                </a:lnTo>
                <a:lnTo>
                  <a:pt x="0" y="593848"/>
                </a:lnTo>
                <a:lnTo>
                  <a:pt x="0" y="0"/>
                </a:lnTo>
                <a:close/>
              </a:path>
            </a:pathLst>
          </a:custGeom>
          <a:blipFill rotWithShape="1">
            <a:blip r:embed="rId23">
              <a:alphaModFix/>
            </a:blip>
            <a:stretch>
              <a:fillRect b="0" l="0" r="0" t="0"/>
            </a:stretch>
          </a:blipFill>
          <a:ln>
            <a:noFill/>
          </a:ln>
        </p:spPr>
      </p:sp>
      <p:sp>
        <p:nvSpPr>
          <p:cNvPr id="1144" name="Google Shape;1144;h65eb7c06466a6d01_2_70"/>
          <p:cNvSpPr/>
          <p:nvPr/>
        </p:nvSpPr>
        <p:spPr>
          <a:xfrm>
            <a:off x="6325004" y="4478750"/>
            <a:ext cx="1063320" cy="708880"/>
          </a:xfrm>
          <a:custGeom>
            <a:rect b="b" l="l" r="r" t="t"/>
            <a:pathLst>
              <a:path extrusionOk="0" h="1238219" w="1857328">
                <a:moveTo>
                  <a:pt x="0" y="0"/>
                </a:moveTo>
                <a:lnTo>
                  <a:pt x="1857329" y="0"/>
                </a:lnTo>
                <a:lnTo>
                  <a:pt x="1857329" y="1238219"/>
                </a:lnTo>
                <a:lnTo>
                  <a:pt x="0" y="1238219"/>
                </a:lnTo>
                <a:lnTo>
                  <a:pt x="0" y="0"/>
                </a:lnTo>
                <a:close/>
              </a:path>
            </a:pathLst>
          </a:custGeom>
          <a:blipFill rotWithShape="1">
            <a:blip r:embed="rId24">
              <a:alphaModFix/>
            </a:blip>
            <a:stretch>
              <a:fillRect b="0" l="0" r="0" t="0"/>
            </a:stretch>
          </a:blipFill>
          <a:ln>
            <a:noFill/>
          </a:ln>
        </p:spPr>
      </p:sp>
      <p:sp>
        <p:nvSpPr>
          <p:cNvPr id="1145" name="Google Shape;1145;h65eb7c06466a6d01_2_70"/>
          <p:cNvSpPr/>
          <p:nvPr/>
        </p:nvSpPr>
        <p:spPr>
          <a:xfrm>
            <a:off x="4816958" y="4649790"/>
            <a:ext cx="798193" cy="448983"/>
          </a:xfrm>
          <a:custGeom>
            <a:rect b="b" l="l" r="r" t="t"/>
            <a:pathLst>
              <a:path extrusionOk="0" h="784250" w="1394223">
                <a:moveTo>
                  <a:pt x="0" y="0"/>
                </a:moveTo>
                <a:lnTo>
                  <a:pt x="1394222" y="0"/>
                </a:lnTo>
                <a:lnTo>
                  <a:pt x="1394222" y="784250"/>
                </a:lnTo>
                <a:lnTo>
                  <a:pt x="0" y="784250"/>
                </a:lnTo>
                <a:lnTo>
                  <a:pt x="0" y="0"/>
                </a:lnTo>
                <a:close/>
              </a:path>
            </a:pathLst>
          </a:custGeom>
          <a:blipFill rotWithShape="1">
            <a:blip r:embed="rId25">
              <a:alphaModFix/>
            </a:blip>
            <a:stretch>
              <a:fillRect b="0" l="0" r="0" t="0"/>
            </a:stretch>
          </a:blipFill>
          <a:ln>
            <a:noFill/>
          </a:ln>
        </p:spPr>
      </p:sp>
      <p:sp>
        <p:nvSpPr>
          <p:cNvPr id="1146" name="Google Shape;1146;h65eb7c06466a6d01_2_70"/>
          <p:cNvSpPr/>
          <p:nvPr/>
        </p:nvSpPr>
        <p:spPr>
          <a:xfrm>
            <a:off x="4254090" y="4740250"/>
            <a:ext cx="630988" cy="268170"/>
          </a:xfrm>
          <a:custGeom>
            <a:rect b="b" l="l" r="r" t="t"/>
            <a:pathLst>
              <a:path extrusionOk="0" h="468419" w="1102163">
                <a:moveTo>
                  <a:pt x="0" y="0"/>
                </a:moveTo>
                <a:lnTo>
                  <a:pt x="1102162" y="0"/>
                </a:lnTo>
                <a:lnTo>
                  <a:pt x="1102162" y="468419"/>
                </a:lnTo>
                <a:lnTo>
                  <a:pt x="0" y="468419"/>
                </a:lnTo>
                <a:lnTo>
                  <a:pt x="0" y="0"/>
                </a:lnTo>
                <a:close/>
              </a:path>
            </a:pathLst>
          </a:custGeom>
          <a:blipFill rotWithShape="1">
            <a:blip r:embed="rId26">
              <a:alphaModFix/>
            </a:blip>
            <a:stretch>
              <a:fillRect b="0" l="0" r="0" t="0"/>
            </a:stretch>
          </a:blipFill>
          <a:ln>
            <a:noFill/>
          </a:ln>
        </p:spPr>
      </p:sp>
      <p:sp>
        <p:nvSpPr>
          <p:cNvPr id="1147" name="Google Shape;1147;h65eb7c06466a6d01_2_70"/>
          <p:cNvSpPr/>
          <p:nvPr/>
        </p:nvSpPr>
        <p:spPr>
          <a:xfrm>
            <a:off x="6800418" y="5526927"/>
            <a:ext cx="1136131" cy="291133"/>
          </a:xfrm>
          <a:custGeom>
            <a:rect b="b" l="l" r="r" t="t"/>
            <a:pathLst>
              <a:path extrusionOk="0" h="508530" w="1984509">
                <a:moveTo>
                  <a:pt x="0" y="0"/>
                </a:moveTo>
                <a:lnTo>
                  <a:pt x="1984509" y="0"/>
                </a:lnTo>
                <a:lnTo>
                  <a:pt x="1984509" y="508531"/>
                </a:lnTo>
                <a:lnTo>
                  <a:pt x="0" y="508531"/>
                </a:lnTo>
                <a:lnTo>
                  <a:pt x="0" y="0"/>
                </a:lnTo>
                <a:close/>
              </a:path>
            </a:pathLst>
          </a:custGeom>
          <a:blipFill rotWithShape="1">
            <a:blip r:embed="rId27">
              <a:alphaModFix/>
            </a:blip>
            <a:stretch>
              <a:fillRect b="0" l="0" r="0" t="0"/>
            </a:stretch>
          </a:blipFill>
          <a:ln>
            <a:noFill/>
          </a:ln>
        </p:spPr>
      </p:sp>
      <p:sp>
        <p:nvSpPr>
          <p:cNvPr id="1148" name="Google Shape;1148;h65eb7c06466a6d01_2_70"/>
          <p:cNvSpPr/>
          <p:nvPr/>
        </p:nvSpPr>
        <p:spPr>
          <a:xfrm>
            <a:off x="6944507" y="5072533"/>
            <a:ext cx="1135466" cy="315077"/>
          </a:xfrm>
          <a:custGeom>
            <a:rect b="b" l="l" r="r" t="t"/>
            <a:pathLst>
              <a:path extrusionOk="0" h="550353" w="1983346">
                <a:moveTo>
                  <a:pt x="0" y="0"/>
                </a:moveTo>
                <a:lnTo>
                  <a:pt x="1983346" y="0"/>
                </a:lnTo>
                <a:lnTo>
                  <a:pt x="1983346" y="550353"/>
                </a:lnTo>
                <a:lnTo>
                  <a:pt x="0" y="550353"/>
                </a:lnTo>
                <a:lnTo>
                  <a:pt x="0" y="0"/>
                </a:lnTo>
                <a:close/>
              </a:path>
            </a:pathLst>
          </a:custGeom>
          <a:blipFill rotWithShape="1">
            <a:blip r:embed="rId28">
              <a:alphaModFix/>
            </a:blip>
            <a:stretch>
              <a:fillRect b="0" l="0" r="0" t="0"/>
            </a:stretch>
          </a:blipFill>
          <a:ln>
            <a:noFill/>
          </a:ln>
        </p:spPr>
      </p:sp>
      <p:sp>
        <p:nvSpPr>
          <p:cNvPr id="1149" name="Google Shape;1149;h65eb7c06466a6d01_2_70"/>
          <p:cNvSpPr/>
          <p:nvPr/>
        </p:nvSpPr>
        <p:spPr>
          <a:xfrm>
            <a:off x="4452660" y="5526387"/>
            <a:ext cx="1093772" cy="301554"/>
          </a:xfrm>
          <a:custGeom>
            <a:rect b="b" l="l" r="r" t="t"/>
            <a:pathLst>
              <a:path extrusionOk="0" h="526732" w="1910519">
                <a:moveTo>
                  <a:pt x="0" y="0"/>
                </a:moveTo>
                <a:lnTo>
                  <a:pt x="1910519" y="0"/>
                </a:lnTo>
                <a:lnTo>
                  <a:pt x="1910519" y="526732"/>
                </a:lnTo>
                <a:lnTo>
                  <a:pt x="0" y="526732"/>
                </a:lnTo>
                <a:lnTo>
                  <a:pt x="0" y="0"/>
                </a:lnTo>
                <a:close/>
              </a:path>
            </a:pathLst>
          </a:custGeom>
          <a:blipFill rotWithShape="1">
            <a:blip r:embed="rId29">
              <a:alphaModFix/>
            </a:blip>
            <a:stretch>
              <a:fillRect b="0" l="0" r="0" t="0"/>
            </a:stretch>
          </a:blipFill>
          <a:ln>
            <a:noFill/>
          </a:ln>
        </p:spPr>
      </p:sp>
      <p:sp>
        <p:nvSpPr>
          <p:cNvPr id="1150" name="Google Shape;1150;h65eb7c06466a6d01_2_70"/>
          <p:cNvSpPr/>
          <p:nvPr/>
        </p:nvSpPr>
        <p:spPr>
          <a:xfrm>
            <a:off x="1621287" y="5510471"/>
            <a:ext cx="675056" cy="324027"/>
          </a:xfrm>
          <a:custGeom>
            <a:rect b="b" l="l" r="r" t="t"/>
            <a:pathLst>
              <a:path extrusionOk="0" h="565986" w="1179137">
                <a:moveTo>
                  <a:pt x="0" y="0"/>
                </a:moveTo>
                <a:lnTo>
                  <a:pt x="1179137" y="0"/>
                </a:lnTo>
                <a:lnTo>
                  <a:pt x="1179137" y="565985"/>
                </a:lnTo>
                <a:lnTo>
                  <a:pt x="0" y="565985"/>
                </a:lnTo>
                <a:lnTo>
                  <a:pt x="0" y="0"/>
                </a:lnTo>
                <a:close/>
              </a:path>
            </a:pathLst>
          </a:custGeom>
          <a:blipFill rotWithShape="1">
            <a:blip r:embed="rId30">
              <a:alphaModFix/>
            </a:blip>
            <a:stretch>
              <a:fillRect b="0" l="0" r="0" t="0"/>
            </a:stretch>
          </a:blipFill>
          <a:ln>
            <a:noFill/>
          </a:ln>
        </p:spPr>
      </p:sp>
      <p:sp>
        <p:nvSpPr>
          <p:cNvPr id="1151" name="Google Shape;1151;h65eb7c06466a6d01_2_70"/>
          <p:cNvSpPr/>
          <p:nvPr/>
        </p:nvSpPr>
        <p:spPr>
          <a:xfrm>
            <a:off x="2614779" y="4602010"/>
            <a:ext cx="484284" cy="484284"/>
          </a:xfrm>
          <a:custGeom>
            <a:rect b="b" l="l" r="r" t="t"/>
            <a:pathLst>
              <a:path extrusionOk="0" h="845911" w="845911">
                <a:moveTo>
                  <a:pt x="0" y="0"/>
                </a:moveTo>
                <a:lnTo>
                  <a:pt x="845911" y="0"/>
                </a:lnTo>
                <a:lnTo>
                  <a:pt x="845911" y="845911"/>
                </a:lnTo>
                <a:lnTo>
                  <a:pt x="0" y="845911"/>
                </a:lnTo>
                <a:lnTo>
                  <a:pt x="0" y="0"/>
                </a:lnTo>
                <a:close/>
              </a:path>
            </a:pathLst>
          </a:custGeom>
          <a:blipFill rotWithShape="1">
            <a:blip r:embed="rId31">
              <a:alphaModFix/>
            </a:blip>
            <a:stretch>
              <a:fillRect b="0" l="0" r="0" t="0"/>
            </a:stretch>
          </a:blipFill>
          <a:ln>
            <a:noFill/>
          </a:ln>
        </p:spPr>
      </p:sp>
      <p:sp>
        <p:nvSpPr>
          <p:cNvPr id="1152" name="Google Shape;1152;h65eb7c06466a6d01_2_70"/>
          <p:cNvSpPr/>
          <p:nvPr/>
        </p:nvSpPr>
        <p:spPr>
          <a:xfrm>
            <a:off x="1999360" y="4497899"/>
            <a:ext cx="665988" cy="665988"/>
          </a:xfrm>
          <a:custGeom>
            <a:rect b="b" l="l" r="r" t="t"/>
            <a:pathLst>
              <a:path extrusionOk="0" h="1163297" w="1163297">
                <a:moveTo>
                  <a:pt x="0" y="0"/>
                </a:moveTo>
                <a:lnTo>
                  <a:pt x="1163297" y="0"/>
                </a:lnTo>
                <a:lnTo>
                  <a:pt x="1163297" y="1163297"/>
                </a:lnTo>
                <a:lnTo>
                  <a:pt x="0" y="1163297"/>
                </a:lnTo>
                <a:lnTo>
                  <a:pt x="0" y="0"/>
                </a:lnTo>
                <a:close/>
              </a:path>
            </a:pathLst>
          </a:custGeom>
          <a:blipFill rotWithShape="1">
            <a:blip r:embed="rId32">
              <a:alphaModFix/>
            </a:blip>
            <a:stretch>
              <a:fillRect b="0" l="0" r="0" t="0"/>
            </a:stretch>
          </a:blipFill>
          <a:ln>
            <a:noFill/>
          </a:ln>
        </p:spPr>
      </p:sp>
      <p:sp>
        <p:nvSpPr>
          <p:cNvPr id="1153" name="Google Shape;1153;h65eb7c06466a6d01_2_70"/>
          <p:cNvSpPr/>
          <p:nvPr/>
        </p:nvSpPr>
        <p:spPr>
          <a:xfrm>
            <a:off x="9891754" y="4558362"/>
            <a:ext cx="420704" cy="449951"/>
          </a:xfrm>
          <a:custGeom>
            <a:rect b="b" l="l" r="r" t="t"/>
            <a:pathLst>
              <a:path extrusionOk="0" h="785940" w="734854">
                <a:moveTo>
                  <a:pt x="0" y="0"/>
                </a:moveTo>
                <a:lnTo>
                  <a:pt x="734854" y="0"/>
                </a:lnTo>
                <a:lnTo>
                  <a:pt x="734854" y="785939"/>
                </a:lnTo>
                <a:lnTo>
                  <a:pt x="0" y="785939"/>
                </a:lnTo>
                <a:lnTo>
                  <a:pt x="0" y="0"/>
                </a:lnTo>
                <a:close/>
              </a:path>
            </a:pathLst>
          </a:custGeom>
          <a:blipFill rotWithShape="1">
            <a:blip r:embed="rId33">
              <a:alphaModFix/>
            </a:blip>
            <a:stretch>
              <a:fillRect b="0" l="0" r="0" t="0"/>
            </a:stretch>
          </a:blipFill>
          <a:ln>
            <a:noFill/>
          </a:ln>
        </p:spPr>
      </p:sp>
      <p:sp>
        <p:nvSpPr>
          <p:cNvPr id="1154" name="Google Shape;1154;h65eb7c06466a6d01_2_70"/>
          <p:cNvSpPr/>
          <p:nvPr/>
        </p:nvSpPr>
        <p:spPr>
          <a:xfrm>
            <a:off x="10345446" y="4523104"/>
            <a:ext cx="525119" cy="525119"/>
          </a:xfrm>
          <a:custGeom>
            <a:rect b="b" l="l" r="r" t="t"/>
            <a:pathLst>
              <a:path extrusionOk="0" h="917238" w="917238">
                <a:moveTo>
                  <a:pt x="0" y="0"/>
                </a:moveTo>
                <a:lnTo>
                  <a:pt x="917238" y="0"/>
                </a:lnTo>
                <a:lnTo>
                  <a:pt x="917238" y="917238"/>
                </a:lnTo>
                <a:lnTo>
                  <a:pt x="0" y="917238"/>
                </a:lnTo>
                <a:lnTo>
                  <a:pt x="0" y="0"/>
                </a:lnTo>
                <a:close/>
              </a:path>
            </a:pathLst>
          </a:custGeom>
          <a:blipFill rotWithShape="1">
            <a:blip r:embed="rId34">
              <a:alphaModFix/>
            </a:blip>
            <a:stretch>
              <a:fillRect b="0" l="0" r="0" t="0"/>
            </a:stretch>
          </a:blipFill>
          <a:ln>
            <a:noFill/>
          </a:ln>
        </p:spPr>
      </p:sp>
      <p:sp>
        <p:nvSpPr>
          <p:cNvPr id="1155" name="Google Shape;1155;h65eb7c06466a6d01_2_70"/>
          <p:cNvSpPr/>
          <p:nvPr/>
        </p:nvSpPr>
        <p:spPr>
          <a:xfrm>
            <a:off x="9259991" y="5080911"/>
            <a:ext cx="848551" cy="279935"/>
          </a:xfrm>
          <a:custGeom>
            <a:rect b="b" l="l" r="r" t="t"/>
            <a:pathLst>
              <a:path extrusionOk="0" h="488969" w="1482186">
                <a:moveTo>
                  <a:pt x="0" y="0"/>
                </a:moveTo>
                <a:lnTo>
                  <a:pt x="1482186" y="0"/>
                </a:lnTo>
                <a:lnTo>
                  <a:pt x="1482186" y="488969"/>
                </a:lnTo>
                <a:lnTo>
                  <a:pt x="0" y="488969"/>
                </a:lnTo>
                <a:lnTo>
                  <a:pt x="0" y="0"/>
                </a:lnTo>
                <a:close/>
              </a:path>
            </a:pathLst>
          </a:custGeom>
          <a:blipFill rotWithShape="1">
            <a:blip r:embed="rId35">
              <a:alphaModFix/>
            </a:blip>
            <a:stretch>
              <a:fillRect b="-175213" l="-23710" r="-26600" t="-180430"/>
            </a:stretch>
          </a:blipFill>
          <a:ln>
            <a:noFill/>
          </a:ln>
        </p:spPr>
      </p:sp>
      <p:sp>
        <p:nvSpPr>
          <p:cNvPr id="1156" name="Google Shape;1156;h65eb7c06466a6d01_2_70"/>
          <p:cNvSpPr/>
          <p:nvPr/>
        </p:nvSpPr>
        <p:spPr>
          <a:xfrm>
            <a:off x="8549194" y="5584722"/>
            <a:ext cx="1189424" cy="142731"/>
          </a:xfrm>
          <a:custGeom>
            <a:rect b="b" l="l" r="r" t="t"/>
            <a:pathLst>
              <a:path extrusionOk="0" h="249312" w="2077597">
                <a:moveTo>
                  <a:pt x="0" y="0"/>
                </a:moveTo>
                <a:lnTo>
                  <a:pt x="2077597" y="0"/>
                </a:lnTo>
                <a:lnTo>
                  <a:pt x="2077597" y="249311"/>
                </a:lnTo>
                <a:lnTo>
                  <a:pt x="0" y="249311"/>
                </a:lnTo>
                <a:lnTo>
                  <a:pt x="0" y="0"/>
                </a:lnTo>
                <a:close/>
              </a:path>
            </a:pathLst>
          </a:custGeom>
          <a:blipFill rotWithShape="1">
            <a:blip r:embed="rId36">
              <a:alphaModFix/>
            </a:blip>
            <a:stretch>
              <a:fillRect b="0" l="0" r="0" t="0"/>
            </a:stretch>
          </a:blipFill>
          <a:ln>
            <a:noFill/>
          </a:ln>
        </p:spPr>
      </p:sp>
      <p:sp>
        <p:nvSpPr>
          <p:cNvPr id="1157" name="Google Shape;1157;h65eb7c06466a6d01_2_70"/>
          <p:cNvSpPr/>
          <p:nvPr/>
        </p:nvSpPr>
        <p:spPr>
          <a:xfrm>
            <a:off x="979736" y="4618268"/>
            <a:ext cx="1170101" cy="430012"/>
          </a:xfrm>
          <a:custGeom>
            <a:rect b="b" l="l" r="r" t="t"/>
            <a:pathLst>
              <a:path extrusionOk="0" h="751113" w="2043845">
                <a:moveTo>
                  <a:pt x="0" y="0"/>
                </a:moveTo>
                <a:lnTo>
                  <a:pt x="2043845" y="0"/>
                </a:lnTo>
                <a:lnTo>
                  <a:pt x="2043845" y="751113"/>
                </a:lnTo>
                <a:lnTo>
                  <a:pt x="0" y="751113"/>
                </a:lnTo>
                <a:lnTo>
                  <a:pt x="0" y="0"/>
                </a:lnTo>
                <a:close/>
              </a:path>
            </a:pathLst>
          </a:custGeom>
          <a:blipFill rotWithShape="1">
            <a:blip r:embed="rId37">
              <a:alphaModFix/>
            </a:blip>
            <a:stretch>
              <a:fillRect b="0" l="0" r="0" t="0"/>
            </a:stretch>
          </a:blipFill>
          <a:ln>
            <a:noFill/>
          </a:ln>
        </p:spPr>
      </p:sp>
      <p:sp>
        <p:nvSpPr>
          <p:cNvPr id="1158" name="Google Shape;1158;h65eb7c06466a6d01_2_70"/>
          <p:cNvSpPr/>
          <p:nvPr/>
        </p:nvSpPr>
        <p:spPr>
          <a:xfrm>
            <a:off x="1066088" y="5036950"/>
            <a:ext cx="954556" cy="424777"/>
          </a:xfrm>
          <a:custGeom>
            <a:rect b="b" l="l" r="r" t="t"/>
            <a:pathLst>
              <a:path extrusionOk="0" h="741969" w="1667347">
                <a:moveTo>
                  <a:pt x="0" y="0"/>
                </a:moveTo>
                <a:lnTo>
                  <a:pt x="1667346" y="0"/>
                </a:lnTo>
                <a:lnTo>
                  <a:pt x="1667346" y="741969"/>
                </a:lnTo>
                <a:lnTo>
                  <a:pt x="0" y="741969"/>
                </a:lnTo>
                <a:lnTo>
                  <a:pt x="0" y="0"/>
                </a:lnTo>
                <a:close/>
              </a:path>
            </a:pathLst>
          </a:custGeom>
          <a:blipFill rotWithShape="1">
            <a:blip r:embed="rId38">
              <a:alphaModFix/>
            </a:blip>
            <a:stretch>
              <a:fillRect b="0" l="0" r="0" t="0"/>
            </a:stretch>
          </a:blipFill>
          <a:ln>
            <a:noFill/>
          </a:ln>
        </p:spPr>
      </p:sp>
      <p:sp>
        <p:nvSpPr>
          <p:cNvPr id="1159" name="Google Shape;1159;h65eb7c06466a6d01_2_70"/>
          <p:cNvSpPr/>
          <p:nvPr/>
        </p:nvSpPr>
        <p:spPr>
          <a:xfrm>
            <a:off x="10056612" y="5049538"/>
            <a:ext cx="858529" cy="371330"/>
          </a:xfrm>
          <a:custGeom>
            <a:rect b="b" l="l" r="r" t="t"/>
            <a:pathLst>
              <a:path extrusionOk="0" h="648612" w="1499614">
                <a:moveTo>
                  <a:pt x="0" y="0"/>
                </a:moveTo>
                <a:lnTo>
                  <a:pt x="1499614" y="0"/>
                </a:lnTo>
                <a:lnTo>
                  <a:pt x="1499614" y="648613"/>
                </a:lnTo>
                <a:lnTo>
                  <a:pt x="0" y="648613"/>
                </a:lnTo>
                <a:lnTo>
                  <a:pt x="0" y="0"/>
                </a:lnTo>
                <a:close/>
              </a:path>
            </a:pathLst>
          </a:custGeom>
          <a:blipFill rotWithShape="1">
            <a:blip r:embed="rId39">
              <a:alphaModFix/>
            </a:blip>
            <a:stretch>
              <a:fillRect b="-63240" l="0" r="-1310" t="-70991"/>
            </a:stretch>
          </a:blipFill>
          <a:ln>
            <a:noFill/>
          </a:ln>
        </p:spPr>
      </p:sp>
      <p:sp>
        <p:nvSpPr>
          <p:cNvPr id="1160" name="Google Shape;1160;h65eb7c06466a6d01_2_70"/>
          <p:cNvSpPr/>
          <p:nvPr/>
        </p:nvSpPr>
        <p:spPr>
          <a:xfrm>
            <a:off x="3181845" y="4618268"/>
            <a:ext cx="1017076" cy="417001"/>
          </a:xfrm>
          <a:custGeom>
            <a:rect b="b" l="l" r="r" t="t"/>
            <a:pathLst>
              <a:path extrusionOk="0" h="728386" w="1776552">
                <a:moveTo>
                  <a:pt x="0" y="0"/>
                </a:moveTo>
                <a:lnTo>
                  <a:pt x="1776552" y="0"/>
                </a:lnTo>
                <a:lnTo>
                  <a:pt x="1776552" y="728386"/>
                </a:lnTo>
                <a:lnTo>
                  <a:pt x="0" y="728386"/>
                </a:lnTo>
                <a:lnTo>
                  <a:pt x="0" y="0"/>
                </a:lnTo>
                <a:close/>
              </a:path>
            </a:pathLst>
          </a:custGeom>
          <a:blipFill rotWithShape="1">
            <a:blip r:embed="rId40">
              <a:alphaModFix/>
            </a:blip>
            <a:stretch>
              <a:fillRect b="0" l="0" r="0" t="0"/>
            </a:stretch>
          </a:blipFill>
          <a:ln>
            <a:noFill/>
          </a:ln>
        </p:spPr>
      </p:sp>
      <p:sp>
        <p:nvSpPr>
          <p:cNvPr id="1161" name="Google Shape;1161;h65eb7c06466a6d01_2_70"/>
          <p:cNvSpPr/>
          <p:nvPr/>
        </p:nvSpPr>
        <p:spPr>
          <a:xfrm>
            <a:off x="9207932" y="4515366"/>
            <a:ext cx="639791" cy="570877"/>
          </a:xfrm>
          <a:custGeom>
            <a:rect b="b" l="l" r="r" t="t"/>
            <a:pathLst>
              <a:path extrusionOk="0" h="997165" w="1117538">
                <a:moveTo>
                  <a:pt x="0" y="0"/>
                </a:moveTo>
                <a:lnTo>
                  <a:pt x="1117537" y="0"/>
                </a:lnTo>
                <a:lnTo>
                  <a:pt x="1117537" y="997164"/>
                </a:lnTo>
                <a:lnTo>
                  <a:pt x="0" y="997164"/>
                </a:lnTo>
                <a:lnTo>
                  <a:pt x="0" y="0"/>
                </a:lnTo>
                <a:close/>
              </a:path>
            </a:pathLst>
          </a:custGeom>
          <a:blipFill rotWithShape="1">
            <a:blip r:embed="rId41">
              <a:alphaModFix/>
            </a:blip>
            <a:stretch>
              <a:fillRect b="0" l="-680" r="0" t="0"/>
            </a:stretch>
          </a:blipFill>
          <a:ln>
            <a:noFill/>
          </a:ln>
        </p:spPr>
      </p:sp>
      <p:sp>
        <p:nvSpPr>
          <p:cNvPr id="1162" name="Google Shape;1162;h65eb7c06466a6d01_2_70"/>
          <p:cNvSpPr/>
          <p:nvPr/>
        </p:nvSpPr>
        <p:spPr>
          <a:xfrm>
            <a:off x="1066088" y="5575095"/>
            <a:ext cx="509071" cy="290154"/>
          </a:xfrm>
          <a:custGeom>
            <a:rect b="b" l="l" r="r" t="t"/>
            <a:pathLst>
              <a:path extrusionOk="0" h="506819" w="889207">
                <a:moveTo>
                  <a:pt x="0" y="0"/>
                </a:moveTo>
                <a:lnTo>
                  <a:pt x="889207" y="0"/>
                </a:lnTo>
                <a:lnTo>
                  <a:pt x="889207" y="506819"/>
                </a:lnTo>
                <a:lnTo>
                  <a:pt x="0" y="506819"/>
                </a:lnTo>
                <a:lnTo>
                  <a:pt x="0" y="0"/>
                </a:lnTo>
                <a:close/>
              </a:path>
            </a:pathLst>
          </a:custGeom>
          <a:blipFill rotWithShape="1">
            <a:blip r:embed="rId42">
              <a:alphaModFix/>
            </a:blip>
            <a:stretch>
              <a:fillRect b="-54680" l="-14040" r="-9550" t="-62159"/>
            </a:stretch>
          </a:blipFill>
          <a:ln>
            <a:noFill/>
          </a:ln>
        </p:spPr>
      </p:sp>
      <p:sp>
        <p:nvSpPr>
          <p:cNvPr id="1163" name="Google Shape;1163;h65eb7c06466a6d01_2_70"/>
          <p:cNvSpPr/>
          <p:nvPr/>
        </p:nvSpPr>
        <p:spPr>
          <a:xfrm>
            <a:off x="9815715" y="5430238"/>
            <a:ext cx="983853" cy="410241"/>
          </a:xfrm>
          <a:custGeom>
            <a:rect b="b" l="l" r="r" t="t"/>
            <a:pathLst>
              <a:path extrusionOk="0" h="716579" w="1718520">
                <a:moveTo>
                  <a:pt x="0" y="0"/>
                </a:moveTo>
                <a:lnTo>
                  <a:pt x="1718520" y="0"/>
                </a:lnTo>
                <a:lnTo>
                  <a:pt x="1718520" y="716578"/>
                </a:lnTo>
                <a:lnTo>
                  <a:pt x="0" y="716578"/>
                </a:lnTo>
                <a:lnTo>
                  <a:pt x="0" y="0"/>
                </a:lnTo>
                <a:close/>
              </a:path>
            </a:pathLst>
          </a:custGeom>
          <a:blipFill rotWithShape="1">
            <a:blip r:embed="rId43">
              <a:alphaModFix/>
            </a:blip>
            <a:stretch>
              <a:fillRect b="0" l="0" r="0" t="0"/>
            </a:stretch>
          </a:blipFill>
          <a:ln>
            <a:noFill/>
          </a:ln>
        </p:spPr>
      </p:sp>
      <p:sp>
        <p:nvSpPr>
          <p:cNvPr id="1164" name="Google Shape;1164;h65eb7c06466a6d01_2_70"/>
          <p:cNvSpPr/>
          <p:nvPr/>
        </p:nvSpPr>
        <p:spPr>
          <a:xfrm>
            <a:off x="9143088" y="1166094"/>
            <a:ext cx="733666" cy="733666"/>
          </a:xfrm>
          <a:custGeom>
            <a:rect b="b" l="l" r="r" t="t"/>
            <a:pathLst>
              <a:path extrusionOk="0" h="1281513" w="1281513">
                <a:moveTo>
                  <a:pt x="0" y="0"/>
                </a:moveTo>
                <a:lnTo>
                  <a:pt x="1281512" y="0"/>
                </a:lnTo>
                <a:lnTo>
                  <a:pt x="1281512" y="1281512"/>
                </a:lnTo>
                <a:lnTo>
                  <a:pt x="0" y="1281512"/>
                </a:lnTo>
                <a:lnTo>
                  <a:pt x="0" y="0"/>
                </a:lnTo>
                <a:close/>
              </a:path>
            </a:pathLst>
          </a:custGeom>
          <a:blipFill rotWithShape="1">
            <a:blip r:embed="rId44">
              <a:alphaModFix/>
            </a:blip>
            <a:stretch>
              <a:fillRect b="0" l="0" r="0" t="0"/>
            </a:stretch>
          </a:blipFill>
          <a:ln>
            <a:noFill/>
          </a:ln>
        </p:spPr>
      </p:sp>
      <p:sp>
        <p:nvSpPr>
          <p:cNvPr id="1165" name="Google Shape;1165;h65eb7c06466a6d01_2_70"/>
          <p:cNvSpPr txBox="1"/>
          <p:nvPr/>
        </p:nvSpPr>
        <p:spPr>
          <a:xfrm>
            <a:off x="1832603" y="453693"/>
            <a:ext cx="8179200" cy="441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2864" u="none" cap="none" strike="noStrike">
                <a:solidFill>
                  <a:srgbClr val="FFFFFF"/>
                </a:solidFill>
                <a:latin typeface="Arial"/>
                <a:ea typeface="Arial"/>
                <a:cs typeface="Arial"/>
                <a:sym typeface="Arial"/>
              </a:rPr>
              <a:t>Sanggabiz in Numbers</a:t>
            </a:r>
            <a:endParaRPr sz="802"/>
          </a:p>
        </p:txBody>
      </p:sp>
      <p:sp>
        <p:nvSpPr>
          <p:cNvPr id="1166" name="Google Shape;1166;h65eb7c06466a6d01_2_70"/>
          <p:cNvSpPr txBox="1"/>
          <p:nvPr/>
        </p:nvSpPr>
        <p:spPr>
          <a:xfrm>
            <a:off x="645334" y="2014234"/>
            <a:ext cx="1710600" cy="3105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917" u="none" cap="none" strike="noStrike">
                <a:solidFill>
                  <a:srgbClr val="FFFFFF"/>
                </a:solidFill>
                <a:latin typeface="Arial"/>
                <a:ea typeface="Arial"/>
                <a:cs typeface="Arial"/>
                <a:sym typeface="Arial"/>
              </a:rPr>
              <a:t>Mitra Engagement</a:t>
            </a:r>
            <a:endParaRPr sz="802"/>
          </a:p>
          <a:p>
            <a:pPr indent="0" lvl="0" marL="0" marR="0" rtl="0" algn="ctr">
              <a:lnSpc>
                <a:spcPct val="119988"/>
              </a:lnSpc>
              <a:spcBef>
                <a:spcPts val="0"/>
              </a:spcBef>
              <a:spcAft>
                <a:spcPts val="0"/>
              </a:spcAft>
              <a:buNone/>
            </a:pPr>
            <a:r>
              <a:rPr b="0" i="0" lang="en-US" sz="917" u="none" cap="none" strike="noStrike">
                <a:solidFill>
                  <a:srgbClr val="FFFFFF"/>
                </a:solidFill>
                <a:latin typeface="Arial"/>
                <a:ea typeface="Arial"/>
                <a:cs typeface="Arial"/>
                <a:sym typeface="Arial"/>
              </a:rPr>
              <a:t>(Private Sector &amp; Government)</a:t>
            </a:r>
            <a:endParaRPr sz="802"/>
          </a:p>
        </p:txBody>
      </p:sp>
      <p:sp>
        <p:nvSpPr>
          <p:cNvPr id="1167" name="Google Shape;1167;h65eb7c06466a6d01_2_70"/>
          <p:cNvSpPr txBox="1"/>
          <p:nvPr/>
        </p:nvSpPr>
        <p:spPr>
          <a:xfrm>
            <a:off x="2004040" y="1364129"/>
            <a:ext cx="14727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1000+</a:t>
            </a:r>
            <a:endParaRPr sz="802"/>
          </a:p>
        </p:txBody>
      </p:sp>
      <p:sp>
        <p:nvSpPr>
          <p:cNvPr id="1168" name="Google Shape;1168;h65eb7c06466a6d01_2_70"/>
          <p:cNvSpPr txBox="1"/>
          <p:nvPr/>
        </p:nvSpPr>
        <p:spPr>
          <a:xfrm>
            <a:off x="6010502" y="2075005"/>
            <a:ext cx="1710600" cy="3105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917" u="none" cap="none" strike="noStrike">
                <a:solidFill>
                  <a:srgbClr val="FFFFFF"/>
                </a:solidFill>
                <a:latin typeface="Arial"/>
                <a:ea typeface="Arial"/>
                <a:cs typeface="Arial"/>
                <a:sym typeface="Arial"/>
              </a:rPr>
              <a:t>Total User</a:t>
            </a:r>
            <a:endParaRPr sz="802"/>
          </a:p>
          <a:p>
            <a:pPr indent="0" lvl="0" marL="0" marR="0" rtl="0" algn="ctr">
              <a:lnSpc>
                <a:spcPct val="119988"/>
              </a:lnSpc>
              <a:spcBef>
                <a:spcPts val="0"/>
              </a:spcBef>
              <a:spcAft>
                <a:spcPts val="0"/>
              </a:spcAft>
              <a:buNone/>
            </a:pPr>
            <a:r>
              <a:rPr b="0" i="0" lang="en-US" sz="917" u="none" cap="none" strike="noStrike">
                <a:solidFill>
                  <a:srgbClr val="FFFFFF"/>
                </a:solidFill>
                <a:latin typeface="Arial"/>
                <a:ea typeface="Arial"/>
                <a:cs typeface="Arial"/>
                <a:sym typeface="Arial"/>
              </a:rPr>
              <a:t>(B2C, B2B, B2G)</a:t>
            </a:r>
            <a:endParaRPr sz="802"/>
          </a:p>
        </p:txBody>
      </p:sp>
      <p:sp>
        <p:nvSpPr>
          <p:cNvPr id="1169" name="Google Shape;1169;h65eb7c06466a6d01_2_70"/>
          <p:cNvSpPr txBox="1"/>
          <p:nvPr/>
        </p:nvSpPr>
        <p:spPr>
          <a:xfrm>
            <a:off x="7414291" y="1295443"/>
            <a:ext cx="14727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10000+</a:t>
            </a:r>
            <a:endParaRPr sz="802"/>
          </a:p>
        </p:txBody>
      </p:sp>
      <p:sp>
        <p:nvSpPr>
          <p:cNvPr id="1170" name="Google Shape;1170;h65eb7c06466a6d01_2_70"/>
          <p:cNvSpPr txBox="1"/>
          <p:nvPr/>
        </p:nvSpPr>
        <p:spPr>
          <a:xfrm>
            <a:off x="1685620" y="3608234"/>
            <a:ext cx="1710600" cy="1410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917" u="none" cap="none" strike="noStrike">
                <a:solidFill>
                  <a:srgbClr val="FFFFFF"/>
                </a:solidFill>
                <a:latin typeface="Arial"/>
                <a:ea typeface="Arial"/>
                <a:cs typeface="Arial"/>
                <a:sym typeface="Arial"/>
              </a:rPr>
              <a:t>Total Community Partners</a:t>
            </a:r>
            <a:endParaRPr sz="802"/>
          </a:p>
        </p:txBody>
      </p:sp>
      <p:sp>
        <p:nvSpPr>
          <p:cNvPr id="1171" name="Google Shape;1171;h65eb7c06466a6d01_2_70"/>
          <p:cNvSpPr txBox="1"/>
          <p:nvPr/>
        </p:nvSpPr>
        <p:spPr>
          <a:xfrm>
            <a:off x="2954046" y="2816024"/>
            <a:ext cx="14727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100+</a:t>
            </a:r>
            <a:endParaRPr sz="802"/>
          </a:p>
        </p:txBody>
      </p:sp>
      <p:sp>
        <p:nvSpPr>
          <p:cNvPr id="1172" name="Google Shape;1172;h65eb7c06466a6d01_2_70"/>
          <p:cNvSpPr txBox="1"/>
          <p:nvPr/>
        </p:nvSpPr>
        <p:spPr>
          <a:xfrm>
            <a:off x="3242287" y="2162292"/>
            <a:ext cx="1710600" cy="1410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917" u="none" cap="none" strike="noStrike">
                <a:solidFill>
                  <a:srgbClr val="FFFFFF"/>
                </a:solidFill>
                <a:latin typeface="Arial"/>
                <a:ea typeface="Arial"/>
                <a:cs typeface="Arial"/>
                <a:sym typeface="Arial"/>
              </a:rPr>
              <a:t>Channel Media Partner</a:t>
            </a:r>
            <a:endParaRPr sz="802"/>
          </a:p>
        </p:txBody>
      </p:sp>
      <p:sp>
        <p:nvSpPr>
          <p:cNvPr id="1173" name="Google Shape;1173;h65eb7c06466a6d01_2_70"/>
          <p:cNvSpPr txBox="1"/>
          <p:nvPr/>
        </p:nvSpPr>
        <p:spPr>
          <a:xfrm>
            <a:off x="4698715" y="1395673"/>
            <a:ext cx="14727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200+</a:t>
            </a:r>
            <a:endParaRPr sz="802"/>
          </a:p>
        </p:txBody>
      </p:sp>
      <p:sp>
        <p:nvSpPr>
          <p:cNvPr id="1174" name="Google Shape;1174;h65eb7c06466a6d01_2_70"/>
          <p:cNvSpPr txBox="1"/>
          <p:nvPr/>
        </p:nvSpPr>
        <p:spPr>
          <a:xfrm>
            <a:off x="4311426" y="3604316"/>
            <a:ext cx="1801500" cy="1587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1031" u="none" cap="none" strike="noStrike">
                <a:solidFill>
                  <a:srgbClr val="FFFFFF"/>
                </a:solidFill>
                <a:latin typeface="Arial"/>
                <a:ea typeface="Arial"/>
                <a:cs typeface="Arial"/>
                <a:sym typeface="Arial"/>
              </a:rPr>
              <a:t>Total Project and Service</a:t>
            </a:r>
            <a:endParaRPr sz="802"/>
          </a:p>
        </p:txBody>
      </p:sp>
      <p:sp>
        <p:nvSpPr>
          <p:cNvPr id="1175" name="Google Shape;1175;h65eb7c06466a6d01_2_70"/>
          <p:cNvSpPr txBox="1"/>
          <p:nvPr/>
        </p:nvSpPr>
        <p:spPr>
          <a:xfrm>
            <a:off x="5722261" y="2843936"/>
            <a:ext cx="14727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400+</a:t>
            </a:r>
            <a:endParaRPr sz="802"/>
          </a:p>
        </p:txBody>
      </p:sp>
      <p:sp>
        <p:nvSpPr>
          <p:cNvPr id="1176" name="Google Shape;1176;h65eb7c06466a6d01_2_70"/>
          <p:cNvSpPr txBox="1"/>
          <p:nvPr/>
        </p:nvSpPr>
        <p:spPr>
          <a:xfrm>
            <a:off x="7050788" y="3460150"/>
            <a:ext cx="1710600" cy="3105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917" u="none" cap="none" strike="noStrike">
                <a:solidFill>
                  <a:srgbClr val="FFFFFF"/>
                </a:solidFill>
                <a:latin typeface="Arial"/>
                <a:ea typeface="Arial"/>
                <a:cs typeface="Arial"/>
                <a:sym typeface="Arial"/>
              </a:rPr>
              <a:t>Total Team</a:t>
            </a:r>
            <a:endParaRPr sz="802"/>
          </a:p>
          <a:p>
            <a:pPr indent="0" lvl="0" marL="0" marR="0" rtl="0" algn="ctr">
              <a:lnSpc>
                <a:spcPct val="119988"/>
              </a:lnSpc>
              <a:spcBef>
                <a:spcPts val="0"/>
              </a:spcBef>
              <a:spcAft>
                <a:spcPts val="0"/>
              </a:spcAft>
              <a:buNone/>
            </a:pPr>
            <a:r>
              <a:rPr b="0" i="0" lang="en-US" sz="917" u="none" cap="none" strike="noStrike">
                <a:solidFill>
                  <a:srgbClr val="FFFFFF"/>
                </a:solidFill>
                <a:latin typeface="Arial"/>
                <a:ea typeface="Arial"/>
                <a:cs typeface="Arial"/>
                <a:sym typeface="Arial"/>
              </a:rPr>
              <a:t>(Expert &amp; Trainer)</a:t>
            </a:r>
            <a:endParaRPr sz="802"/>
          </a:p>
        </p:txBody>
      </p:sp>
      <p:sp>
        <p:nvSpPr>
          <p:cNvPr id="1177" name="Google Shape;1177;h65eb7c06466a6d01_2_70"/>
          <p:cNvSpPr txBox="1"/>
          <p:nvPr/>
        </p:nvSpPr>
        <p:spPr>
          <a:xfrm>
            <a:off x="8542221" y="2840405"/>
            <a:ext cx="14727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400+</a:t>
            </a:r>
            <a:endParaRPr sz="802"/>
          </a:p>
        </p:txBody>
      </p:sp>
      <p:sp>
        <p:nvSpPr>
          <p:cNvPr id="1178" name="Google Shape;1178;h65eb7c06466a6d01_2_70"/>
          <p:cNvSpPr txBox="1"/>
          <p:nvPr/>
        </p:nvSpPr>
        <p:spPr>
          <a:xfrm>
            <a:off x="8393113" y="2072304"/>
            <a:ext cx="2172600" cy="479700"/>
          </a:xfrm>
          <a:prstGeom prst="rect">
            <a:avLst/>
          </a:prstGeom>
          <a:noFill/>
          <a:ln>
            <a:noFill/>
          </a:ln>
        </p:spPr>
        <p:txBody>
          <a:bodyPr anchorCtr="0" anchor="t" bIns="0" lIns="0" spcFirstLastPara="1" rIns="0" wrap="square" tIns="0">
            <a:spAutoFit/>
          </a:bodyPr>
          <a:lstStyle/>
          <a:p>
            <a:pPr indent="0" lvl="0" marL="0" marR="0" rtl="0" algn="ctr">
              <a:lnSpc>
                <a:spcPct val="119988"/>
              </a:lnSpc>
              <a:spcBef>
                <a:spcPts val="0"/>
              </a:spcBef>
              <a:spcAft>
                <a:spcPts val="0"/>
              </a:spcAft>
              <a:buNone/>
            </a:pPr>
            <a:r>
              <a:rPr b="1" i="0" lang="en-US" sz="917" u="none" cap="none" strike="noStrike">
                <a:solidFill>
                  <a:srgbClr val="FFFFFF"/>
                </a:solidFill>
                <a:latin typeface="Arial"/>
                <a:ea typeface="Arial"/>
                <a:cs typeface="Arial"/>
                <a:sym typeface="Arial"/>
              </a:rPr>
              <a:t>Worldwide Clients</a:t>
            </a:r>
            <a:endParaRPr sz="802"/>
          </a:p>
          <a:p>
            <a:pPr indent="0" lvl="0" marL="0" marR="0" rtl="0" algn="ctr">
              <a:lnSpc>
                <a:spcPct val="119988"/>
              </a:lnSpc>
              <a:spcBef>
                <a:spcPts val="0"/>
              </a:spcBef>
              <a:spcAft>
                <a:spcPts val="0"/>
              </a:spcAft>
              <a:buNone/>
            </a:pPr>
            <a:r>
              <a:rPr b="0" i="0" lang="en-US" sz="917" u="none" cap="none" strike="noStrike">
                <a:solidFill>
                  <a:srgbClr val="FFFFFF"/>
                </a:solidFill>
                <a:latin typeface="Arial"/>
                <a:ea typeface="Arial"/>
                <a:cs typeface="Arial"/>
                <a:sym typeface="Arial"/>
              </a:rPr>
              <a:t>( Australia, UK, Netherlands, India, Timor Leste, Singapore, Malaysia, etc.)</a:t>
            </a:r>
            <a:endParaRPr sz="802"/>
          </a:p>
        </p:txBody>
      </p:sp>
      <p:sp>
        <p:nvSpPr>
          <p:cNvPr id="1179" name="Google Shape;1179;h65eb7c06466a6d01_2_70"/>
          <p:cNvSpPr txBox="1"/>
          <p:nvPr/>
        </p:nvSpPr>
        <p:spPr>
          <a:xfrm>
            <a:off x="10105487" y="1298030"/>
            <a:ext cx="859800" cy="476100"/>
          </a:xfrm>
          <a:prstGeom prst="rect">
            <a:avLst/>
          </a:prstGeom>
          <a:noFill/>
          <a:ln>
            <a:noFill/>
          </a:ln>
        </p:spPr>
        <p:txBody>
          <a:bodyPr anchorCtr="0" anchor="t" bIns="0" lIns="0" spcFirstLastPara="1" rIns="0" wrap="square" tIns="0">
            <a:spAutoFit/>
          </a:bodyPr>
          <a:lstStyle/>
          <a:p>
            <a:pPr indent="0" lvl="0" marL="0" marR="0" rtl="0" algn="ctr">
              <a:lnSpc>
                <a:spcPct val="119992"/>
              </a:lnSpc>
              <a:spcBef>
                <a:spcPts val="0"/>
              </a:spcBef>
              <a:spcAft>
                <a:spcPts val="0"/>
              </a:spcAft>
              <a:buNone/>
            </a:pPr>
            <a:r>
              <a:rPr b="1" i="0" lang="en-US" sz="3093" u="none" cap="none" strike="noStrike">
                <a:solidFill>
                  <a:srgbClr val="FFFFFF"/>
                </a:solidFill>
                <a:latin typeface="Arial"/>
                <a:ea typeface="Arial"/>
                <a:cs typeface="Arial"/>
                <a:sym typeface="Arial"/>
              </a:rPr>
              <a:t>7+</a:t>
            </a:r>
            <a:endParaRPr sz="802"/>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183" name="Shape 1183"/>
        <p:cNvGrpSpPr/>
        <p:nvPr/>
      </p:nvGrpSpPr>
      <p:grpSpPr>
        <a:xfrm>
          <a:off x="0" y="0"/>
          <a:ext cx="0" cy="0"/>
          <a:chOff x="0" y="0"/>
          <a:chExt cx="0" cy="0"/>
        </a:xfrm>
      </p:grpSpPr>
      <p:pic>
        <p:nvPicPr>
          <p:cNvPr descr="cache_image112_660x750.jpg" id="1184" name="Google Shape;1184;h69a5e3ff789ebc32_1_1653"/>
          <p:cNvPicPr preferRelativeResize="0"/>
          <p:nvPr/>
        </p:nvPicPr>
        <p:blipFill rotWithShape="1">
          <a:blip r:embed="rId3">
            <a:alphaModFix/>
          </a:blip>
          <a:srcRect b="0" l="0" r="0" t="0"/>
          <a:stretch/>
        </p:blipFill>
        <p:spPr>
          <a:xfrm>
            <a:off x="0" y="0"/>
            <a:ext cx="6035040" cy="6857999"/>
          </a:xfrm>
          <a:prstGeom prst="rect">
            <a:avLst/>
          </a:prstGeom>
          <a:noFill/>
          <a:ln>
            <a:noFill/>
          </a:ln>
        </p:spPr>
      </p:pic>
      <p:sp>
        <p:nvSpPr>
          <p:cNvPr id="1185" name="Google Shape;1185;h69a5e3ff789ebc32_1_1653"/>
          <p:cNvSpPr/>
          <p:nvPr/>
        </p:nvSpPr>
        <p:spPr>
          <a:xfrm>
            <a:off x="0" y="0"/>
            <a:ext cx="6035100" cy="6858000"/>
          </a:xfrm>
          <a:prstGeom prst="rect">
            <a:avLst/>
          </a:prstGeom>
          <a:solidFill>
            <a:srgbClr val="092647">
              <a:alpha val="7216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6" name="Google Shape;1186;h69a5e3ff789ebc32_1_1653"/>
          <p:cNvSpPr/>
          <p:nvPr/>
        </p:nvSpPr>
        <p:spPr>
          <a:xfrm>
            <a:off x="6035040" y="0"/>
            <a:ext cx="6156600" cy="6858000"/>
          </a:xfrm>
          <a:prstGeom prst="rect">
            <a:avLst/>
          </a:prstGeom>
          <a:solidFill>
            <a:srgbClr val="0B33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h69a5e3ff789ebc32_1_1653"/>
          <p:cNvSpPr txBox="1"/>
          <p:nvPr/>
        </p:nvSpPr>
        <p:spPr>
          <a:xfrm>
            <a:off x="457200" y="347472"/>
            <a:ext cx="52122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PENGALAMAN RELEVAN</a:t>
            </a:r>
            <a:endParaRPr/>
          </a:p>
        </p:txBody>
      </p:sp>
      <p:sp>
        <p:nvSpPr>
          <p:cNvPr id="1188" name="Google Shape;1188;h69a5e3ff789ebc32_1_1653"/>
          <p:cNvSpPr txBox="1"/>
          <p:nvPr/>
        </p:nvSpPr>
        <p:spPr>
          <a:xfrm>
            <a:off x="457200" y="621792"/>
            <a:ext cx="5212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Manajemen program multilokasi</a:t>
            </a:r>
            <a:endParaRPr/>
          </a:p>
        </p:txBody>
      </p:sp>
      <p:sp>
        <p:nvSpPr>
          <p:cNvPr id="1189" name="Google Shape;1189;h69a5e3ff789ebc32_1_1653"/>
          <p:cNvSpPr txBox="1"/>
          <p:nvPr/>
        </p:nvSpPr>
        <p:spPr>
          <a:xfrm>
            <a:off x="457200" y="1463040"/>
            <a:ext cx="52122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Pelatihan dan pengembangan lintas kota dan lembaga</a:t>
            </a:r>
            <a:endParaRPr/>
          </a:p>
        </p:txBody>
      </p:sp>
      <p:sp>
        <p:nvSpPr>
          <p:cNvPr id="1190" name="Google Shape;1190;h69a5e3ff789ebc32_1_1653"/>
          <p:cNvSpPr txBox="1"/>
          <p:nvPr/>
        </p:nvSpPr>
        <p:spPr>
          <a:xfrm>
            <a:off x="457200" y="192024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MSME Training Rumah BUMN</a:t>
            </a:r>
            <a:endParaRPr/>
          </a:p>
        </p:txBody>
      </p:sp>
      <p:pic>
        <p:nvPicPr>
          <p:cNvPr descr="calendar_FFFFFF.png" id="1191" name="Google Shape;1191;h69a5e3ff789ebc32_1_1653"/>
          <p:cNvPicPr preferRelativeResize="0"/>
          <p:nvPr/>
        </p:nvPicPr>
        <p:blipFill rotWithShape="1">
          <a:blip r:embed="rId4">
            <a:alphaModFix/>
          </a:blip>
          <a:srcRect b="0" l="0" r="0" t="0"/>
          <a:stretch/>
        </p:blipFill>
        <p:spPr>
          <a:xfrm>
            <a:off x="502920" y="2313432"/>
            <a:ext cx="256032" cy="256032"/>
          </a:xfrm>
          <a:prstGeom prst="rect">
            <a:avLst/>
          </a:prstGeom>
          <a:noFill/>
          <a:ln>
            <a:noFill/>
          </a:ln>
        </p:spPr>
      </p:pic>
      <p:sp>
        <p:nvSpPr>
          <p:cNvPr id="1192" name="Google Shape;1192;h69a5e3ff789ebc32_1_1653"/>
          <p:cNvSpPr txBox="1"/>
          <p:nvPr/>
        </p:nvSpPr>
        <p:spPr>
          <a:xfrm>
            <a:off x="914400" y="228600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Webinar dan pelatihan UMKM, 2025–2026</a:t>
            </a:r>
            <a:endParaRPr/>
          </a:p>
        </p:txBody>
      </p:sp>
      <p:pic>
        <p:nvPicPr>
          <p:cNvPr descr="people_FFFFFF.png" id="1193" name="Google Shape;1193;h69a5e3ff789ebc32_1_1653"/>
          <p:cNvPicPr preferRelativeResize="0"/>
          <p:nvPr/>
        </p:nvPicPr>
        <p:blipFill rotWithShape="1">
          <a:blip r:embed="rId5">
            <a:alphaModFix/>
          </a:blip>
          <a:srcRect b="0" l="0" r="0" t="0"/>
          <a:stretch/>
        </p:blipFill>
        <p:spPr>
          <a:xfrm>
            <a:off x="502920" y="2642615"/>
            <a:ext cx="256032" cy="256032"/>
          </a:xfrm>
          <a:prstGeom prst="rect">
            <a:avLst/>
          </a:prstGeom>
          <a:noFill/>
          <a:ln>
            <a:noFill/>
          </a:ln>
        </p:spPr>
      </p:pic>
      <p:sp>
        <p:nvSpPr>
          <p:cNvPr id="1194" name="Google Shape;1194;h69a5e3ff789ebc32_1_1653"/>
          <p:cNvSpPr txBox="1"/>
          <p:nvPr/>
        </p:nvSpPr>
        <p:spPr>
          <a:xfrm>
            <a:off x="914400" y="261518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Jejaring Rumah BUMN di banyak daerah</a:t>
            </a:r>
            <a:endParaRPr/>
          </a:p>
        </p:txBody>
      </p:sp>
      <p:pic>
        <p:nvPicPr>
          <p:cNvPr descr="target_FFFFFF.png" id="1195" name="Google Shape;1195;h69a5e3ff789ebc32_1_1653"/>
          <p:cNvPicPr preferRelativeResize="0"/>
          <p:nvPr/>
        </p:nvPicPr>
        <p:blipFill rotWithShape="1">
          <a:blip r:embed="rId6">
            <a:alphaModFix/>
          </a:blip>
          <a:srcRect b="0" l="0" r="0" t="0"/>
          <a:stretch/>
        </p:blipFill>
        <p:spPr>
          <a:xfrm>
            <a:off x="502920" y="2971799"/>
            <a:ext cx="256032" cy="256032"/>
          </a:xfrm>
          <a:prstGeom prst="rect">
            <a:avLst/>
          </a:prstGeom>
          <a:noFill/>
          <a:ln>
            <a:noFill/>
          </a:ln>
        </p:spPr>
      </p:pic>
      <p:sp>
        <p:nvSpPr>
          <p:cNvPr id="1196" name="Google Shape;1196;h69a5e3ff789ebc32_1_1653"/>
          <p:cNvSpPr txBox="1"/>
          <p:nvPr/>
        </p:nvSpPr>
        <p:spPr>
          <a:xfrm>
            <a:off x="914400" y="2944368"/>
            <a:ext cx="4846200" cy="3216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Surabaya, Purbalingga, Labuan Bajo, Yogyakarta, Jakarta, Bojonegoro, Kabanjahe, Samarinda, Pekalongan, dst.</a:t>
            </a:r>
            <a:endParaRPr/>
          </a:p>
        </p:txBody>
      </p:sp>
      <p:sp>
        <p:nvSpPr>
          <p:cNvPr id="1197" name="Google Shape;1197;h69a5e3ff789ebc32_1_1653"/>
          <p:cNvSpPr txBox="1"/>
          <p:nvPr/>
        </p:nvSpPr>
        <p:spPr>
          <a:xfrm>
            <a:off x="457200" y="338328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TechPath Bojonegoro (Plan International)</a:t>
            </a:r>
            <a:endParaRPr/>
          </a:p>
        </p:txBody>
      </p:sp>
      <p:pic>
        <p:nvPicPr>
          <p:cNvPr descr="calendar_FFFFFF.png" id="1198" name="Google Shape;1198;h69a5e3ff789ebc32_1_1653"/>
          <p:cNvPicPr preferRelativeResize="0"/>
          <p:nvPr/>
        </p:nvPicPr>
        <p:blipFill rotWithShape="1">
          <a:blip r:embed="rId4">
            <a:alphaModFix/>
          </a:blip>
          <a:srcRect b="0" l="0" r="0" t="0"/>
          <a:stretch/>
        </p:blipFill>
        <p:spPr>
          <a:xfrm>
            <a:off x="502920" y="3776472"/>
            <a:ext cx="256032" cy="256032"/>
          </a:xfrm>
          <a:prstGeom prst="rect">
            <a:avLst/>
          </a:prstGeom>
          <a:noFill/>
          <a:ln>
            <a:noFill/>
          </a:ln>
        </p:spPr>
      </p:pic>
      <p:sp>
        <p:nvSpPr>
          <p:cNvPr id="1199" name="Google Shape;1199;h69a5e3ff789ebc32_1_1653"/>
          <p:cNvSpPr txBox="1"/>
          <p:nvPr/>
        </p:nvSpPr>
        <p:spPr>
          <a:xfrm>
            <a:off x="914400" y="374904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Desember 2025 – Maret 2026</a:t>
            </a:r>
            <a:endParaRPr/>
          </a:p>
        </p:txBody>
      </p:sp>
      <p:pic>
        <p:nvPicPr>
          <p:cNvPr descr="people_FFFFFF.png" id="1200" name="Google Shape;1200;h69a5e3ff789ebc32_1_1653"/>
          <p:cNvPicPr preferRelativeResize="0"/>
          <p:nvPr/>
        </p:nvPicPr>
        <p:blipFill rotWithShape="1">
          <a:blip r:embed="rId5">
            <a:alphaModFix/>
          </a:blip>
          <a:srcRect b="0" l="0" r="0" t="0"/>
          <a:stretch/>
        </p:blipFill>
        <p:spPr>
          <a:xfrm>
            <a:off x="502920" y="4105656"/>
            <a:ext cx="256032" cy="256032"/>
          </a:xfrm>
          <a:prstGeom prst="rect">
            <a:avLst/>
          </a:prstGeom>
          <a:noFill/>
          <a:ln>
            <a:noFill/>
          </a:ln>
        </p:spPr>
      </p:pic>
      <p:sp>
        <p:nvSpPr>
          <p:cNvPr id="1201" name="Google Shape;1201;h69a5e3ff789ebc32_1_1653"/>
          <p:cNvSpPr txBox="1"/>
          <p:nvPr/>
        </p:nvSpPr>
        <p:spPr>
          <a:xfrm>
            <a:off x="914400" y="407822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69 peserta (individu)</a:t>
            </a:r>
            <a:endParaRPr/>
          </a:p>
        </p:txBody>
      </p:sp>
      <p:pic>
        <p:nvPicPr>
          <p:cNvPr descr="target_FFFFFF.png" id="1202" name="Google Shape;1202;h69a5e3ff789ebc32_1_1653"/>
          <p:cNvPicPr preferRelativeResize="0"/>
          <p:nvPr/>
        </p:nvPicPr>
        <p:blipFill rotWithShape="1">
          <a:blip r:embed="rId6">
            <a:alphaModFix/>
          </a:blip>
          <a:srcRect b="0" l="0" r="0" t="0"/>
          <a:stretch/>
        </p:blipFill>
        <p:spPr>
          <a:xfrm>
            <a:off x="502920" y="4434840"/>
            <a:ext cx="256032" cy="256032"/>
          </a:xfrm>
          <a:prstGeom prst="rect">
            <a:avLst/>
          </a:prstGeom>
          <a:noFill/>
          <a:ln>
            <a:noFill/>
          </a:ln>
        </p:spPr>
      </p:pic>
      <p:sp>
        <p:nvSpPr>
          <p:cNvPr id="1203" name="Google Shape;1203;h69a5e3ff789ebc32_1_1653"/>
          <p:cNvSpPr txBox="1"/>
          <p:nvPr/>
        </p:nvSpPr>
        <p:spPr>
          <a:xfrm>
            <a:off x="914400" y="4407408"/>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Digital marketing, content creation, soft skill dan job readiness</a:t>
            </a:r>
            <a:endParaRPr/>
          </a:p>
        </p:txBody>
      </p:sp>
      <p:sp>
        <p:nvSpPr>
          <p:cNvPr id="1204" name="Google Shape;1204;h69a5e3ff789ebc32_1_1653"/>
          <p:cNvSpPr txBox="1"/>
          <p:nvPr/>
        </p:nvSpPr>
        <p:spPr>
          <a:xfrm>
            <a:off x="457200" y="484632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FYEP: Retail Skills for Youth Empowerment</a:t>
            </a:r>
            <a:endParaRPr/>
          </a:p>
        </p:txBody>
      </p:sp>
      <p:pic>
        <p:nvPicPr>
          <p:cNvPr descr="calendar_FFFFFF.png" id="1205" name="Google Shape;1205;h69a5e3ff789ebc32_1_1653"/>
          <p:cNvPicPr preferRelativeResize="0"/>
          <p:nvPr/>
        </p:nvPicPr>
        <p:blipFill rotWithShape="1">
          <a:blip r:embed="rId4">
            <a:alphaModFix/>
          </a:blip>
          <a:srcRect b="0" l="0" r="0" t="0"/>
          <a:stretch/>
        </p:blipFill>
        <p:spPr>
          <a:xfrm>
            <a:off x="502920" y="5239512"/>
            <a:ext cx="256032" cy="256032"/>
          </a:xfrm>
          <a:prstGeom prst="rect">
            <a:avLst/>
          </a:prstGeom>
          <a:noFill/>
          <a:ln>
            <a:noFill/>
          </a:ln>
        </p:spPr>
      </p:pic>
      <p:sp>
        <p:nvSpPr>
          <p:cNvPr id="1206" name="Google Shape;1206;h69a5e3ff789ebc32_1_1653"/>
          <p:cNvSpPr txBox="1"/>
          <p:nvPr/>
        </p:nvSpPr>
        <p:spPr>
          <a:xfrm>
            <a:off x="914400" y="521208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Program berjalan (Plan International)</a:t>
            </a:r>
            <a:endParaRPr/>
          </a:p>
        </p:txBody>
      </p:sp>
      <p:pic>
        <p:nvPicPr>
          <p:cNvPr descr="people_FFFFFF.png" id="1207" name="Google Shape;1207;h69a5e3ff789ebc32_1_1653"/>
          <p:cNvPicPr preferRelativeResize="0"/>
          <p:nvPr/>
        </p:nvPicPr>
        <p:blipFill rotWithShape="1">
          <a:blip r:embed="rId5">
            <a:alphaModFix/>
          </a:blip>
          <a:srcRect b="0" l="0" r="0" t="0"/>
          <a:stretch/>
        </p:blipFill>
        <p:spPr>
          <a:xfrm>
            <a:off x="502920" y="5568696"/>
            <a:ext cx="256032" cy="256032"/>
          </a:xfrm>
          <a:prstGeom prst="rect">
            <a:avLst/>
          </a:prstGeom>
          <a:noFill/>
          <a:ln>
            <a:noFill/>
          </a:ln>
        </p:spPr>
      </p:pic>
      <p:sp>
        <p:nvSpPr>
          <p:cNvPr id="1208" name="Google Shape;1208;h69a5e3ff789ebc32_1_1653"/>
          <p:cNvSpPr txBox="1"/>
          <p:nvPr/>
        </p:nvSpPr>
        <p:spPr>
          <a:xfrm>
            <a:off x="914400" y="554126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Model P-L-A-N: Prepare, Learn, Apply, Navigate</a:t>
            </a:r>
            <a:endParaRPr/>
          </a:p>
        </p:txBody>
      </p:sp>
      <p:sp>
        <p:nvSpPr>
          <p:cNvPr id="1209" name="Google Shape;1209;h69a5e3ff789ebc32_1_1653"/>
          <p:cNvSpPr txBox="1"/>
          <p:nvPr/>
        </p:nvSpPr>
        <p:spPr>
          <a:xfrm>
            <a:off x="6492240" y="457200"/>
            <a:ext cx="51207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500">
                <a:solidFill>
                  <a:srgbClr val="FFC00C"/>
                </a:solidFill>
                <a:latin typeface="Montserrat"/>
                <a:ea typeface="Montserrat"/>
                <a:cs typeface="Montserrat"/>
                <a:sym typeface="Montserrat"/>
              </a:rPr>
              <a:t>RELEVANSI TERHADAP RFP</a:t>
            </a:r>
            <a:endParaRPr/>
          </a:p>
        </p:txBody>
      </p:sp>
      <p:sp>
        <p:nvSpPr>
          <p:cNvPr id="1210" name="Google Shape;1210;h69a5e3ff789ebc32_1_1653"/>
          <p:cNvSpPr/>
          <p:nvPr/>
        </p:nvSpPr>
        <p:spPr>
          <a:xfrm>
            <a:off x="6492240" y="100584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1" name="Google Shape;1211;h69a5e3ff789ebc32_1_1653"/>
          <p:cNvSpPr txBox="1"/>
          <p:nvPr/>
        </p:nvSpPr>
        <p:spPr>
          <a:xfrm>
            <a:off x="6720840" y="111556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Koordinasi banyak lokasi</a:t>
            </a:r>
            <a:endParaRPr/>
          </a:p>
        </p:txBody>
      </p:sp>
      <p:sp>
        <p:nvSpPr>
          <p:cNvPr id="1212" name="Google Shape;1212;h69a5e3ff789ebc32_1_1653"/>
          <p:cNvSpPr txBox="1"/>
          <p:nvPr/>
        </p:nvSpPr>
        <p:spPr>
          <a:xfrm>
            <a:off x="6720840" y="1508760"/>
            <a:ext cx="4709100" cy="596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Menjangkau jejaring Rumah BUMN di 9+ kota, termasuk Samarinda (Kalimantan Timur), dengan koordinasi jarak jauh.</a:t>
            </a:r>
            <a:endParaRPr/>
          </a:p>
        </p:txBody>
      </p:sp>
      <p:sp>
        <p:nvSpPr>
          <p:cNvPr id="1213" name="Google Shape;1213;h69a5e3ff789ebc32_1_1653"/>
          <p:cNvSpPr/>
          <p:nvPr/>
        </p:nvSpPr>
        <p:spPr>
          <a:xfrm>
            <a:off x="6492240" y="265176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4" name="Google Shape;1214;h69a5e3ff789ebc32_1_1653"/>
          <p:cNvSpPr txBox="1"/>
          <p:nvPr/>
        </p:nvSpPr>
        <p:spPr>
          <a:xfrm>
            <a:off x="6720840" y="276148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Kemitraan lembaga pembangunan</a:t>
            </a:r>
            <a:endParaRPr/>
          </a:p>
        </p:txBody>
      </p:sp>
      <p:sp>
        <p:nvSpPr>
          <p:cNvPr id="1215" name="Google Shape;1215;h69a5e3ff789ebc32_1_1653"/>
          <p:cNvSpPr txBox="1"/>
          <p:nvPr/>
        </p:nvSpPr>
        <p:spPr>
          <a:xfrm>
            <a:off x="6720840" y="315468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Bekerja dengan yayasan dan organisasi pembangunan (Plan International), lengkap dengan pelaporan program.</a:t>
            </a:r>
            <a:endParaRPr/>
          </a:p>
        </p:txBody>
      </p:sp>
      <p:sp>
        <p:nvSpPr>
          <p:cNvPr id="1216" name="Google Shape;1216;h69a5e3ff789ebc32_1_1653"/>
          <p:cNvSpPr/>
          <p:nvPr/>
        </p:nvSpPr>
        <p:spPr>
          <a:xfrm>
            <a:off x="6492240" y="429768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7" name="Google Shape;1217;h69a5e3ff789ebc32_1_1653"/>
          <p:cNvSpPr txBox="1"/>
          <p:nvPr/>
        </p:nvSpPr>
        <p:spPr>
          <a:xfrm>
            <a:off x="6720840" y="440740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Program end-to-end</a:t>
            </a:r>
            <a:endParaRPr/>
          </a:p>
        </p:txBody>
      </p:sp>
      <p:sp>
        <p:nvSpPr>
          <p:cNvPr id="1218" name="Google Shape;1218;h69a5e3ff789ebc32_1_1653"/>
          <p:cNvSpPr txBox="1"/>
          <p:nvPr/>
        </p:nvSpPr>
        <p:spPr>
          <a:xfrm>
            <a:off x="6720840" y="480060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Dari desain, pelaksanaan, hingga pendampingan peserta; sejalan dengan siklus kunjungan dan tindak lanjut.</a:t>
            </a:r>
            <a:endParaRPr/>
          </a:p>
        </p:txBody>
      </p:sp>
      <p:pic>
        <p:nvPicPr>
          <p:cNvPr descr="logo_white.png" id="1219" name="Google Shape;1219;h69a5e3ff789ebc32_1_1653"/>
          <p:cNvPicPr preferRelativeResize="0"/>
          <p:nvPr/>
        </p:nvPicPr>
        <p:blipFill rotWithShape="1">
          <a:blip r:embed="rId7">
            <a:alphaModFix/>
          </a:blip>
          <a:srcRect b="0" l="0" r="0" t="0"/>
          <a:stretch/>
        </p:blipFill>
        <p:spPr>
          <a:xfrm>
            <a:off x="6492240" y="6355080"/>
            <a:ext cx="1201595" cy="237744"/>
          </a:xfrm>
          <a:prstGeom prst="rect">
            <a:avLst/>
          </a:prstGeom>
          <a:noFill/>
          <a:ln>
            <a:noFill/>
          </a:ln>
        </p:spPr>
      </p:pic>
      <p:sp>
        <p:nvSpPr>
          <p:cNvPr id="1220" name="Google Shape;1220;h69a5e3ff789ebc32_1_165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26</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224" name="Shape 1224"/>
        <p:cNvGrpSpPr/>
        <p:nvPr/>
      </p:nvGrpSpPr>
      <p:grpSpPr>
        <a:xfrm>
          <a:off x="0" y="0"/>
          <a:ext cx="0" cy="0"/>
          <a:chOff x="0" y="0"/>
          <a:chExt cx="0" cy="0"/>
        </a:xfrm>
      </p:grpSpPr>
      <p:pic>
        <p:nvPicPr>
          <p:cNvPr descr="cache_image117_660x750.jpg" id="1225" name="Google Shape;1225;h69a5e3ff789ebc32_1_1693"/>
          <p:cNvPicPr preferRelativeResize="0"/>
          <p:nvPr/>
        </p:nvPicPr>
        <p:blipFill rotWithShape="1">
          <a:blip r:embed="rId3">
            <a:alphaModFix/>
          </a:blip>
          <a:srcRect b="0" l="0" r="0" t="0"/>
          <a:stretch/>
        </p:blipFill>
        <p:spPr>
          <a:xfrm>
            <a:off x="0" y="0"/>
            <a:ext cx="6035041" cy="6857999"/>
          </a:xfrm>
          <a:prstGeom prst="rect">
            <a:avLst/>
          </a:prstGeom>
          <a:noFill/>
          <a:ln>
            <a:noFill/>
          </a:ln>
        </p:spPr>
      </p:pic>
      <p:sp>
        <p:nvSpPr>
          <p:cNvPr id="1226" name="Google Shape;1226;h69a5e3ff789ebc32_1_1693"/>
          <p:cNvSpPr/>
          <p:nvPr/>
        </p:nvSpPr>
        <p:spPr>
          <a:xfrm>
            <a:off x="0" y="0"/>
            <a:ext cx="6035100" cy="6858000"/>
          </a:xfrm>
          <a:prstGeom prst="rect">
            <a:avLst/>
          </a:prstGeom>
          <a:solidFill>
            <a:srgbClr val="092647">
              <a:alpha val="7216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7" name="Google Shape;1227;h69a5e3ff789ebc32_1_1693"/>
          <p:cNvSpPr/>
          <p:nvPr/>
        </p:nvSpPr>
        <p:spPr>
          <a:xfrm>
            <a:off x="6035040" y="0"/>
            <a:ext cx="6156600" cy="6858000"/>
          </a:xfrm>
          <a:prstGeom prst="rect">
            <a:avLst/>
          </a:prstGeom>
          <a:solidFill>
            <a:srgbClr val="0B33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8" name="Google Shape;1228;h69a5e3ff789ebc32_1_1693"/>
          <p:cNvSpPr txBox="1"/>
          <p:nvPr/>
        </p:nvSpPr>
        <p:spPr>
          <a:xfrm>
            <a:off x="457200" y="347472"/>
            <a:ext cx="52122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PENGALAMAN RELEVAN</a:t>
            </a:r>
            <a:endParaRPr/>
          </a:p>
        </p:txBody>
      </p:sp>
      <p:sp>
        <p:nvSpPr>
          <p:cNvPr id="1229" name="Google Shape;1229;h69a5e3ff789ebc32_1_1693"/>
          <p:cNvSpPr txBox="1"/>
          <p:nvPr/>
        </p:nvSpPr>
        <p:spPr>
          <a:xfrm>
            <a:off x="457200" y="621792"/>
            <a:ext cx="52122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Class management skala besar</a:t>
            </a:r>
            <a:endParaRPr/>
          </a:p>
        </p:txBody>
      </p:sp>
      <p:sp>
        <p:nvSpPr>
          <p:cNvPr id="1230" name="Google Shape;1230;h69a5e3ff789ebc32_1_1693"/>
          <p:cNvSpPr txBox="1"/>
          <p:nvPr/>
        </p:nvSpPr>
        <p:spPr>
          <a:xfrm>
            <a:off x="457200" y="1463040"/>
            <a:ext cx="52122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Administrasi kelas, peserta, dan pelaporan berkelanjutan</a:t>
            </a:r>
            <a:endParaRPr/>
          </a:p>
        </p:txBody>
      </p:sp>
      <p:sp>
        <p:nvSpPr>
          <p:cNvPr id="1231" name="Google Shape;1231;h69a5e3ff789ebc32_1_1693"/>
          <p:cNvSpPr txBox="1"/>
          <p:nvPr/>
        </p:nvSpPr>
        <p:spPr>
          <a:xfrm>
            <a:off x="457200" y="192024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Class Management LingoTalk</a:t>
            </a:r>
            <a:endParaRPr/>
          </a:p>
        </p:txBody>
      </p:sp>
      <p:pic>
        <p:nvPicPr>
          <p:cNvPr descr="calendar_FFFFFF.png" id="1232" name="Google Shape;1232;h69a5e3ff789ebc32_1_1693"/>
          <p:cNvPicPr preferRelativeResize="0"/>
          <p:nvPr/>
        </p:nvPicPr>
        <p:blipFill rotWithShape="1">
          <a:blip r:embed="rId4">
            <a:alphaModFix/>
          </a:blip>
          <a:srcRect b="0" l="0" r="0" t="0"/>
          <a:stretch/>
        </p:blipFill>
        <p:spPr>
          <a:xfrm>
            <a:off x="502920" y="2313432"/>
            <a:ext cx="256032" cy="256032"/>
          </a:xfrm>
          <a:prstGeom prst="rect">
            <a:avLst/>
          </a:prstGeom>
          <a:noFill/>
          <a:ln>
            <a:noFill/>
          </a:ln>
        </p:spPr>
      </p:pic>
      <p:sp>
        <p:nvSpPr>
          <p:cNvPr id="1233" name="Google Shape;1233;h69a5e3ff789ebc32_1_1693"/>
          <p:cNvSpPr txBox="1"/>
          <p:nvPr/>
        </p:nvSpPr>
        <p:spPr>
          <a:xfrm>
            <a:off x="914400" y="228600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Juli 2023 – sekarang</a:t>
            </a:r>
            <a:endParaRPr/>
          </a:p>
        </p:txBody>
      </p:sp>
      <p:pic>
        <p:nvPicPr>
          <p:cNvPr descr="people_FFFFFF.png" id="1234" name="Google Shape;1234;h69a5e3ff789ebc32_1_1693"/>
          <p:cNvPicPr preferRelativeResize="0"/>
          <p:nvPr/>
        </p:nvPicPr>
        <p:blipFill rotWithShape="1">
          <a:blip r:embed="rId5">
            <a:alphaModFix/>
          </a:blip>
          <a:srcRect b="0" l="0" r="0" t="0"/>
          <a:stretch/>
        </p:blipFill>
        <p:spPr>
          <a:xfrm>
            <a:off x="502920" y="2642615"/>
            <a:ext cx="256032" cy="256032"/>
          </a:xfrm>
          <a:prstGeom prst="rect">
            <a:avLst/>
          </a:prstGeom>
          <a:noFill/>
          <a:ln>
            <a:noFill/>
          </a:ln>
        </p:spPr>
      </p:pic>
      <p:sp>
        <p:nvSpPr>
          <p:cNvPr id="1235" name="Google Shape;1235;h69a5e3ff789ebc32_1_1693"/>
          <p:cNvSpPr txBox="1"/>
          <p:nvPr/>
        </p:nvSpPr>
        <p:spPr>
          <a:xfrm>
            <a:off x="914400" y="261518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1000+ peserta · 350+ kelas Business English</a:t>
            </a:r>
            <a:endParaRPr/>
          </a:p>
        </p:txBody>
      </p:sp>
      <p:pic>
        <p:nvPicPr>
          <p:cNvPr descr="target_FFFFFF.png" id="1236" name="Google Shape;1236;h69a5e3ff789ebc32_1_1693"/>
          <p:cNvPicPr preferRelativeResize="0"/>
          <p:nvPr/>
        </p:nvPicPr>
        <p:blipFill rotWithShape="1">
          <a:blip r:embed="rId6">
            <a:alphaModFix/>
          </a:blip>
          <a:srcRect b="0" l="0" r="0" t="0"/>
          <a:stretch/>
        </p:blipFill>
        <p:spPr>
          <a:xfrm>
            <a:off x="502920" y="2971799"/>
            <a:ext cx="256032" cy="256032"/>
          </a:xfrm>
          <a:prstGeom prst="rect">
            <a:avLst/>
          </a:prstGeom>
          <a:noFill/>
          <a:ln>
            <a:noFill/>
          </a:ln>
        </p:spPr>
      </p:pic>
      <p:sp>
        <p:nvSpPr>
          <p:cNvPr id="1237" name="Google Shape;1237;h69a5e3ff789ebc32_1_1693"/>
          <p:cNvSpPr txBox="1"/>
          <p:nvPr/>
        </p:nvSpPr>
        <p:spPr>
          <a:xfrm>
            <a:off x="914400" y="2944368"/>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28+ institusi pemerintah dan non-pemerintah</a:t>
            </a:r>
            <a:endParaRPr/>
          </a:p>
        </p:txBody>
      </p:sp>
      <p:sp>
        <p:nvSpPr>
          <p:cNvPr id="1238" name="Google Shape;1238;h69a5e3ff789ebc32_1_1693"/>
          <p:cNvSpPr txBox="1"/>
          <p:nvPr/>
        </p:nvSpPr>
        <p:spPr>
          <a:xfrm>
            <a:off x="457200" y="338328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Program Pra Kerja</a:t>
            </a:r>
            <a:endParaRPr/>
          </a:p>
        </p:txBody>
      </p:sp>
      <p:pic>
        <p:nvPicPr>
          <p:cNvPr descr="calendar_FFFFFF.png" id="1239" name="Google Shape;1239;h69a5e3ff789ebc32_1_1693"/>
          <p:cNvPicPr preferRelativeResize="0"/>
          <p:nvPr/>
        </p:nvPicPr>
        <p:blipFill rotWithShape="1">
          <a:blip r:embed="rId4">
            <a:alphaModFix/>
          </a:blip>
          <a:srcRect b="0" l="0" r="0" t="0"/>
          <a:stretch/>
        </p:blipFill>
        <p:spPr>
          <a:xfrm>
            <a:off x="502920" y="3776472"/>
            <a:ext cx="256032" cy="256032"/>
          </a:xfrm>
          <a:prstGeom prst="rect">
            <a:avLst/>
          </a:prstGeom>
          <a:noFill/>
          <a:ln>
            <a:noFill/>
          </a:ln>
        </p:spPr>
      </p:pic>
      <p:sp>
        <p:nvSpPr>
          <p:cNvPr id="1240" name="Google Shape;1240;h69a5e3ff789ebc32_1_1693"/>
          <p:cNvSpPr txBox="1"/>
          <p:nvPr/>
        </p:nvSpPr>
        <p:spPr>
          <a:xfrm>
            <a:off x="914400" y="374904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Juli–November 2023 dan 2024</a:t>
            </a:r>
            <a:endParaRPr/>
          </a:p>
        </p:txBody>
      </p:sp>
      <p:pic>
        <p:nvPicPr>
          <p:cNvPr descr="people_FFFFFF.png" id="1241" name="Google Shape;1241;h69a5e3ff789ebc32_1_1693"/>
          <p:cNvPicPr preferRelativeResize="0"/>
          <p:nvPr/>
        </p:nvPicPr>
        <p:blipFill rotWithShape="1">
          <a:blip r:embed="rId5">
            <a:alphaModFix/>
          </a:blip>
          <a:srcRect b="0" l="0" r="0" t="0"/>
          <a:stretch/>
        </p:blipFill>
        <p:spPr>
          <a:xfrm>
            <a:off x="502920" y="4105656"/>
            <a:ext cx="256032" cy="256032"/>
          </a:xfrm>
          <a:prstGeom prst="rect">
            <a:avLst/>
          </a:prstGeom>
          <a:noFill/>
          <a:ln>
            <a:noFill/>
          </a:ln>
        </p:spPr>
      </p:pic>
      <p:sp>
        <p:nvSpPr>
          <p:cNvPr id="1242" name="Google Shape;1242;h69a5e3ff789ebc32_1_1693"/>
          <p:cNvSpPr txBox="1"/>
          <p:nvPr/>
        </p:nvSpPr>
        <p:spPr>
          <a:xfrm>
            <a:off x="914400" y="407822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±4.000 peserta</a:t>
            </a:r>
            <a:endParaRPr/>
          </a:p>
        </p:txBody>
      </p:sp>
      <p:pic>
        <p:nvPicPr>
          <p:cNvPr descr="target_FFFFFF.png" id="1243" name="Google Shape;1243;h69a5e3ff789ebc32_1_1693"/>
          <p:cNvPicPr preferRelativeResize="0"/>
          <p:nvPr/>
        </p:nvPicPr>
        <p:blipFill rotWithShape="1">
          <a:blip r:embed="rId6">
            <a:alphaModFix/>
          </a:blip>
          <a:srcRect b="0" l="0" r="0" t="0"/>
          <a:stretch/>
        </p:blipFill>
        <p:spPr>
          <a:xfrm>
            <a:off x="502920" y="4434840"/>
            <a:ext cx="256032" cy="256032"/>
          </a:xfrm>
          <a:prstGeom prst="rect">
            <a:avLst/>
          </a:prstGeom>
          <a:noFill/>
          <a:ln>
            <a:noFill/>
          </a:ln>
        </p:spPr>
      </p:pic>
      <p:sp>
        <p:nvSpPr>
          <p:cNvPr id="1244" name="Google Shape;1244;h69a5e3ff789ebc32_1_1693"/>
          <p:cNvSpPr txBox="1"/>
          <p:nvPr/>
        </p:nvSpPr>
        <p:spPr>
          <a:xfrm>
            <a:off x="914400" y="4407408"/>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Customer service, akuntansi UMKM, kewirausahaan</a:t>
            </a:r>
            <a:endParaRPr/>
          </a:p>
        </p:txBody>
      </p:sp>
      <p:sp>
        <p:nvSpPr>
          <p:cNvPr id="1245" name="Google Shape;1245;h69a5e3ff789ebc32_1_1693"/>
          <p:cNvSpPr txBox="1"/>
          <p:nvPr/>
        </p:nvSpPr>
        <p:spPr>
          <a:xfrm>
            <a:off x="457200" y="484632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Amartha Cendekia</a:t>
            </a:r>
            <a:endParaRPr/>
          </a:p>
        </p:txBody>
      </p:sp>
      <p:pic>
        <p:nvPicPr>
          <p:cNvPr descr="calendar_FFFFFF.png" id="1246" name="Google Shape;1246;h69a5e3ff789ebc32_1_1693"/>
          <p:cNvPicPr preferRelativeResize="0"/>
          <p:nvPr/>
        </p:nvPicPr>
        <p:blipFill rotWithShape="1">
          <a:blip r:embed="rId4">
            <a:alphaModFix/>
          </a:blip>
          <a:srcRect b="0" l="0" r="0" t="0"/>
          <a:stretch/>
        </p:blipFill>
        <p:spPr>
          <a:xfrm>
            <a:off x="502920" y="5239512"/>
            <a:ext cx="256032" cy="256032"/>
          </a:xfrm>
          <a:prstGeom prst="rect">
            <a:avLst/>
          </a:prstGeom>
          <a:noFill/>
          <a:ln>
            <a:noFill/>
          </a:ln>
        </p:spPr>
      </p:pic>
      <p:sp>
        <p:nvSpPr>
          <p:cNvPr id="1247" name="Google Shape;1247;h69a5e3ff789ebc32_1_1693"/>
          <p:cNvSpPr txBox="1"/>
          <p:nvPr/>
        </p:nvSpPr>
        <p:spPr>
          <a:xfrm>
            <a:off x="914400" y="521208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Program berjalan</a:t>
            </a:r>
            <a:endParaRPr/>
          </a:p>
        </p:txBody>
      </p:sp>
      <p:pic>
        <p:nvPicPr>
          <p:cNvPr descr="people_FFFFFF.png" id="1248" name="Google Shape;1248;h69a5e3ff789ebc32_1_1693"/>
          <p:cNvPicPr preferRelativeResize="0"/>
          <p:nvPr/>
        </p:nvPicPr>
        <p:blipFill rotWithShape="1">
          <a:blip r:embed="rId5">
            <a:alphaModFix/>
          </a:blip>
          <a:srcRect b="0" l="0" r="0" t="0"/>
          <a:stretch/>
        </p:blipFill>
        <p:spPr>
          <a:xfrm>
            <a:off x="502920" y="5568696"/>
            <a:ext cx="256032" cy="256032"/>
          </a:xfrm>
          <a:prstGeom prst="rect">
            <a:avLst/>
          </a:prstGeom>
          <a:noFill/>
          <a:ln>
            <a:noFill/>
          </a:ln>
        </p:spPr>
      </p:pic>
      <p:sp>
        <p:nvSpPr>
          <p:cNvPr id="1249" name="Google Shape;1249;h69a5e3ff789ebc32_1_1693"/>
          <p:cNvSpPr txBox="1"/>
          <p:nvPr/>
        </p:nvSpPr>
        <p:spPr>
          <a:xfrm>
            <a:off x="914400" y="554126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End-to-end class management</a:t>
            </a:r>
            <a:endParaRPr/>
          </a:p>
        </p:txBody>
      </p:sp>
      <p:sp>
        <p:nvSpPr>
          <p:cNvPr id="1250" name="Google Shape;1250;h69a5e3ff789ebc32_1_1693"/>
          <p:cNvSpPr txBox="1"/>
          <p:nvPr/>
        </p:nvSpPr>
        <p:spPr>
          <a:xfrm>
            <a:off x="6492240" y="457200"/>
            <a:ext cx="51207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500">
                <a:solidFill>
                  <a:srgbClr val="FFC00C"/>
                </a:solidFill>
                <a:latin typeface="Montserrat"/>
                <a:ea typeface="Montserrat"/>
                <a:cs typeface="Montserrat"/>
                <a:sym typeface="Montserrat"/>
              </a:rPr>
              <a:t>RELEVANSI TERHADAP RFP</a:t>
            </a:r>
            <a:endParaRPr/>
          </a:p>
        </p:txBody>
      </p:sp>
      <p:sp>
        <p:nvSpPr>
          <p:cNvPr id="1251" name="Google Shape;1251;h69a5e3ff789ebc32_1_1693"/>
          <p:cNvSpPr/>
          <p:nvPr/>
        </p:nvSpPr>
        <p:spPr>
          <a:xfrm>
            <a:off x="6492240" y="100584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2" name="Google Shape;1252;h69a5e3ff789ebc32_1_1693"/>
          <p:cNvSpPr txBox="1"/>
          <p:nvPr/>
        </p:nvSpPr>
        <p:spPr>
          <a:xfrm>
            <a:off x="6720840" y="111556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Koordinasi jadwal dan peserta</a:t>
            </a:r>
            <a:endParaRPr/>
          </a:p>
        </p:txBody>
      </p:sp>
      <p:sp>
        <p:nvSpPr>
          <p:cNvPr id="1253" name="Google Shape;1253;h69a5e3ff789ebc32_1_1693"/>
          <p:cNvSpPr txBox="1"/>
          <p:nvPr/>
        </p:nvSpPr>
        <p:spPr>
          <a:xfrm>
            <a:off x="6720840" y="150876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Pendaftaran, pengingat, administrasi kelas, dan dokumen pasca-kelas.</a:t>
            </a:r>
            <a:endParaRPr/>
          </a:p>
        </p:txBody>
      </p:sp>
      <p:sp>
        <p:nvSpPr>
          <p:cNvPr id="1254" name="Google Shape;1254;h69a5e3ff789ebc32_1_1693"/>
          <p:cNvSpPr/>
          <p:nvPr/>
        </p:nvSpPr>
        <p:spPr>
          <a:xfrm>
            <a:off x="6492240" y="265176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5" name="Google Shape;1255;h69a5e3ff789ebc32_1_1693"/>
          <p:cNvSpPr txBox="1"/>
          <p:nvPr/>
        </p:nvSpPr>
        <p:spPr>
          <a:xfrm>
            <a:off x="6720840" y="276148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Institusi pemerintah</a:t>
            </a:r>
            <a:endParaRPr/>
          </a:p>
        </p:txBody>
      </p:sp>
      <p:sp>
        <p:nvSpPr>
          <p:cNvPr id="1256" name="Google Shape;1256;h69a5e3ff789ebc32_1_1693"/>
          <p:cNvSpPr txBox="1"/>
          <p:nvPr/>
        </p:nvSpPr>
        <p:spPr>
          <a:xfrm>
            <a:off x="6720840" y="315468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Melayani institusi pemerintah dan non-pemerintah dalam skala ratusan kelas.</a:t>
            </a:r>
            <a:endParaRPr/>
          </a:p>
        </p:txBody>
      </p:sp>
      <p:sp>
        <p:nvSpPr>
          <p:cNvPr id="1257" name="Google Shape;1257;h69a5e3ff789ebc32_1_1693"/>
          <p:cNvSpPr/>
          <p:nvPr/>
        </p:nvSpPr>
        <p:spPr>
          <a:xfrm>
            <a:off x="6492240" y="429768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8" name="Google Shape;1258;h69a5e3ff789ebc32_1_1693"/>
          <p:cNvSpPr txBox="1"/>
          <p:nvPr/>
        </p:nvSpPr>
        <p:spPr>
          <a:xfrm>
            <a:off x="6720840" y="440740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Disiplin pelaporan</a:t>
            </a:r>
            <a:endParaRPr/>
          </a:p>
        </p:txBody>
      </p:sp>
      <p:sp>
        <p:nvSpPr>
          <p:cNvPr id="1259" name="Google Shape;1259;h69a5e3ff789ebc32_1_1693"/>
          <p:cNvSpPr txBox="1"/>
          <p:nvPr/>
        </p:nvSpPr>
        <p:spPr>
          <a:xfrm>
            <a:off x="6720840" y="480060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Data peserta, kehadiran, dan hasil dikelola konsisten; dasar untuk Evidence Register.</a:t>
            </a:r>
            <a:endParaRPr/>
          </a:p>
        </p:txBody>
      </p:sp>
      <p:pic>
        <p:nvPicPr>
          <p:cNvPr descr="logo_white.png" id="1260" name="Google Shape;1260;h69a5e3ff789ebc32_1_1693"/>
          <p:cNvPicPr preferRelativeResize="0"/>
          <p:nvPr/>
        </p:nvPicPr>
        <p:blipFill rotWithShape="1">
          <a:blip r:embed="rId7">
            <a:alphaModFix/>
          </a:blip>
          <a:srcRect b="0" l="0" r="0" t="0"/>
          <a:stretch/>
        </p:blipFill>
        <p:spPr>
          <a:xfrm>
            <a:off x="6492240" y="6355080"/>
            <a:ext cx="1201595" cy="237744"/>
          </a:xfrm>
          <a:prstGeom prst="rect">
            <a:avLst/>
          </a:prstGeom>
          <a:noFill/>
          <a:ln>
            <a:noFill/>
          </a:ln>
        </p:spPr>
      </p:pic>
      <p:sp>
        <p:nvSpPr>
          <p:cNvPr id="1261" name="Google Shape;1261;h69a5e3ff789ebc32_1_169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27</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265" name="Shape 1265"/>
        <p:cNvGrpSpPr/>
        <p:nvPr/>
      </p:nvGrpSpPr>
      <p:grpSpPr>
        <a:xfrm>
          <a:off x="0" y="0"/>
          <a:ext cx="0" cy="0"/>
          <a:chOff x="0" y="0"/>
          <a:chExt cx="0" cy="0"/>
        </a:xfrm>
      </p:grpSpPr>
      <p:pic>
        <p:nvPicPr>
          <p:cNvPr descr="cache_image137_660x750.jpg" id="1266" name="Google Shape;1266;h69a5e3ff789ebc32_1_1733"/>
          <p:cNvPicPr preferRelativeResize="0"/>
          <p:nvPr/>
        </p:nvPicPr>
        <p:blipFill rotWithShape="1">
          <a:blip r:embed="rId3">
            <a:alphaModFix/>
          </a:blip>
          <a:srcRect b="0" l="0" r="0" t="0"/>
          <a:stretch/>
        </p:blipFill>
        <p:spPr>
          <a:xfrm>
            <a:off x="0" y="0"/>
            <a:ext cx="6035040" cy="6857999"/>
          </a:xfrm>
          <a:prstGeom prst="rect">
            <a:avLst/>
          </a:prstGeom>
          <a:noFill/>
          <a:ln>
            <a:noFill/>
          </a:ln>
        </p:spPr>
      </p:pic>
      <p:sp>
        <p:nvSpPr>
          <p:cNvPr id="1267" name="Google Shape;1267;h69a5e3ff789ebc32_1_1733"/>
          <p:cNvSpPr/>
          <p:nvPr/>
        </p:nvSpPr>
        <p:spPr>
          <a:xfrm>
            <a:off x="0" y="0"/>
            <a:ext cx="6035100" cy="6858000"/>
          </a:xfrm>
          <a:prstGeom prst="rect">
            <a:avLst/>
          </a:prstGeom>
          <a:solidFill>
            <a:srgbClr val="092647">
              <a:alpha val="7216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8" name="Google Shape;1268;h69a5e3ff789ebc32_1_1733"/>
          <p:cNvSpPr/>
          <p:nvPr/>
        </p:nvSpPr>
        <p:spPr>
          <a:xfrm>
            <a:off x="6035040" y="0"/>
            <a:ext cx="6156600" cy="6858000"/>
          </a:xfrm>
          <a:prstGeom prst="rect">
            <a:avLst/>
          </a:prstGeom>
          <a:solidFill>
            <a:srgbClr val="0B33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9" name="Google Shape;1269;h69a5e3ff789ebc32_1_1733"/>
          <p:cNvSpPr txBox="1"/>
          <p:nvPr/>
        </p:nvSpPr>
        <p:spPr>
          <a:xfrm>
            <a:off x="457200" y="347472"/>
            <a:ext cx="52122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PENGALAMAN RELEVAN</a:t>
            </a:r>
            <a:endParaRPr/>
          </a:p>
        </p:txBody>
      </p:sp>
      <p:sp>
        <p:nvSpPr>
          <p:cNvPr id="1270" name="Google Shape;1270;h69a5e3ff789ebc32_1_1733"/>
          <p:cNvSpPr txBox="1"/>
          <p:nvPr/>
        </p:nvSpPr>
        <p:spPr>
          <a:xfrm>
            <a:off x="457200" y="621792"/>
            <a:ext cx="5212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a:solidFill>
                  <a:srgbClr val="FFFFFF"/>
                </a:solidFill>
                <a:latin typeface="Montserrat ExtraBold"/>
                <a:ea typeface="Montserrat ExtraBold"/>
                <a:cs typeface="Montserrat ExtraBold"/>
                <a:sym typeface="Montserrat ExtraBold"/>
              </a:rPr>
              <a:t>Kerja sama instansi dan pengembangan modul</a:t>
            </a:r>
            <a:endParaRPr/>
          </a:p>
        </p:txBody>
      </p:sp>
      <p:sp>
        <p:nvSpPr>
          <p:cNvPr id="1271" name="Google Shape;1271;h69a5e3ff789ebc32_1_1733"/>
          <p:cNvSpPr txBox="1"/>
          <p:nvPr/>
        </p:nvSpPr>
        <p:spPr>
          <a:xfrm>
            <a:off x="457200" y="1463040"/>
            <a:ext cx="52122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150">
                <a:solidFill>
                  <a:srgbClr val="FFFFFF"/>
                </a:solidFill>
                <a:latin typeface="Montserrat"/>
                <a:ea typeface="Montserrat"/>
                <a:cs typeface="Montserrat"/>
                <a:sym typeface="Montserrat"/>
              </a:rPr>
              <a:t>Regulator, BUMD, dan bahan ajar</a:t>
            </a:r>
            <a:endParaRPr/>
          </a:p>
        </p:txBody>
      </p:sp>
      <p:sp>
        <p:nvSpPr>
          <p:cNvPr id="1272" name="Google Shape;1272;h69a5e3ff789ebc32_1_1733"/>
          <p:cNvSpPr txBox="1"/>
          <p:nvPr/>
        </p:nvSpPr>
        <p:spPr>
          <a:xfrm>
            <a:off x="457200" y="192024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Otoritas Jasa Keuangan (OJK) Yogyakarta</a:t>
            </a:r>
            <a:endParaRPr/>
          </a:p>
        </p:txBody>
      </p:sp>
      <p:pic>
        <p:nvPicPr>
          <p:cNvPr descr="calendar_FFFFFF.png" id="1273" name="Google Shape;1273;h69a5e3ff789ebc32_1_1733"/>
          <p:cNvPicPr preferRelativeResize="0"/>
          <p:nvPr/>
        </p:nvPicPr>
        <p:blipFill rotWithShape="1">
          <a:blip r:embed="rId4">
            <a:alphaModFix/>
          </a:blip>
          <a:srcRect b="0" l="0" r="0" t="0"/>
          <a:stretch/>
        </p:blipFill>
        <p:spPr>
          <a:xfrm>
            <a:off x="502920" y="2313432"/>
            <a:ext cx="256032" cy="256032"/>
          </a:xfrm>
          <a:prstGeom prst="rect">
            <a:avLst/>
          </a:prstGeom>
          <a:noFill/>
          <a:ln>
            <a:noFill/>
          </a:ln>
        </p:spPr>
      </p:pic>
      <p:sp>
        <p:nvSpPr>
          <p:cNvPr id="1274" name="Google Shape;1274;h69a5e3ff789ebc32_1_1733"/>
          <p:cNvSpPr txBox="1"/>
          <p:nvPr/>
        </p:nvSpPr>
        <p:spPr>
          <a:xfrm>
            <a:off x="914400" y="228600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April 2025</a:t>
            </a:r>
            <a:endParaRPr/>
          </a:p>
        </p:txBody>
      </p:sp>
      <p:pic>
        <p:nvPicPr>
          <p:cNvPr descr="people_FFFFFF.png" id="1275" name="Google Shape;1275;h69a5e3ff789ebc32_1_1733"/>
          <p:cNvPicPr preferRelativeResize="0"/>
          <p:nvPr/>
        </p:nvPicPr>
        <p:blipFill rotWithShape="1">
          <a:blip r:embed="rId5">
            <a:alphaModFix/>
          </a:blip>
          <a:srcRect b="0" l="0" r="0" t="0"/>
          <a:stretch/>
        </p:blipFill>
        <p:spPr>
          <a:xfrm>
            <a:off x="502920" y="2642615"/>
            <a:ext cx="256032" cy="256032"/>
          </a:xfrm>
          <a:prstGeom prst="rect">
            <a:avLst/>
          </a:prstGeom>
          <a:noFill/>
          <a:ln>
            <a:noFill/>
          </a:ln>
        </p:spPr>
      </p:pic>
      <p:sp>
        <p:nvSpPr>
          <p:cNvPr id="1276" name="Google Shape;1276;h69a5e3ff789ebc32_1_1733"/>
          <p:cNvSpPr txBox="1"/>
          <p:nvPr/>
        </p:nvSpPr>
        <p:spPr>
          <a:xfrm>
            <a:off x="914400" y="261518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50 peserta (korporat)</a:t>
            </a:r>
            <a:endParaRPr/>
          </a:p>
        </p:txBody>
      </p:sp>
      <p:pic>
        <p:nvPicPr>
          <p:cNvPr descr="target_FFFFFF.png" id="1277" name="Google Shape;1277;h69a5e3ff789ebc32_1_1733"/>
          <p:cNvPicPr preferRelativeResize="0"/>
          <p:nvPr/>
        </p:nvPicPr>
        <p:blipFill rotWithShape="1">
          <a:blip r:embed="rId6">
            <a:alphaModFix/>
          </a:blip>
          <a:srcRect b="0" l="0" r="0" t="0"/>
          <a:stretch/>
        </p:blipFill>
        <p:spPr>
          <a:xfrm>
            <a:off x="502920" y="2971799"/>
            <a:ext cx="256032" cy="256032"/>
          </a:xfrm>
          <a:prstGeom prst="rect">
            <a:avLst/>
          </a:prstGeom>
          <a:noFill/>
          <a:ln>
            <a:noFill/>
          </a:ln>
        </p:spPr>
      </p:pic>
      <p:sp>
        <p:nvSpPr>
          <p:cNvPr id="1278" name="Google Shape;1278;h69a5e3ff789ebc32_1_1733"/>
          <p:cNvSpPr txBox="1"/>
          <p:nvPr/>
        </p:nvSpPr>
        <p:spPr>
          <a:xfrm>
            <a:off x="914400" y="2944368"/>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Digital marketing bagi lembaga keuangan yang patuh regulasi OJK</a:t>
            </a:r>
            <a:endParaRPr/>
          </a:p>
        </p:txBody>
      </p:sp>
      <p:sp>
        <p:nvSpPr>
          <p:cNvPr id="1279" name="Google Shape;1279;h69a5e3ff789ebc32_1_1733"/>
          <p:cNvSpPr txBox="1"/>
          <p:nvPr/>
        </p:nvSpPr>
        <p:spPr>
          <a:xfrm>
            <a:off x="457200" y="338328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PT Riau Petroleum Rokan</a:t>
            </a:r>
            <a:endParaRPr/>
          </a:p>
        </p:txBody>
      </p:sp>
      <p:pic>
        <p:nvPicPr>
          <p:cNvPr descr="calendar_FFFFFF.png" id="1280" name="Google Shape;1280;h69a5e3ff789ebc32_1_1733"/>
          <p:cNvPicPr preferRelativeResize="0"/>
          <p:nvPr/>
        </p:nvPicPr>
        <p:blipFill rotWithShape="1">
          <a:blip r:embed="rId4">
            <a:alphaModFix/>
          </a:blip>
          <a:srcRect b="0" l="0" r="0" t="0"/>
          <a:stretch/>
        </p:blipFill>
        <p:spPr>
          <a:xfrm>
            <a:off x="502920" y="3776472"/>
            <a:ext cx="256032" cy="256032"/>
          </a:xfrm>
          <a:prstGeom prst="rect">
            <a:avLst/>
          </a:prstGeom>
          <a:noFill/>
          <a:ln>
            <a:noFill/>
          </a:ln>
        </p:spPr>
      </p:pic>
      <p:sp>
        <p:nvSpPr>
          <p:cNvPr id="1281" name="Google Shape;1281;h69a5e3ff789ebc32_1_1733"/>
          <p:cNvSpPr txBox="1"/>
          <p:nvPr/>
        </p:nvSpPr>
        <p:spPr>
          <a:xfrm>
            <a:off x="914400" y="374904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November 2025 dan April 2026</a:t>
            </a:r>
            <a:endParaRPr/>
          </a:p>
        </p:txBody>
      </p:sp>
      <p:pic>
        <p:nvPicPr>
          <p:cNvPr descr="people_FFFFFF.png" id="1282" name="Google Shape;1282;h69a5e3ff789ebc32_1_1733"/>
          <p:cNvPicPr preferRelativeResize="0"/>
          <p:nvPr/>
        </p:nvPicPr>
        <p:blipFill rotWithShape="1">
          <a:blip r:embed="rId5">
            <a:alphaModFix/>
          </a:blip>
          <a:srcRect b="0" l="0" r="0" t="0"/>
          <a:stretch/>
        </p:blipFill>
        <p:spPr>
          <a:xfrm>
            <a:off x="502920" y="4105656"/>
            <a:ext cx="256032" cy="256032"/>
          </a:xfrm>
          <a:prstGeom prst="rect">
            <a:avLst/>
          </a:prstGeom>
          <a:noFill/>
          <a:ln>
            <a:noFill/>
          </a:ln>
        </p:spPr>
      </p:pic>
      <p:sp>
        <p:nvSpPr>
          <p:cNvPr id="1283" name="Google Shape;1283;h69a5e3ff789ebc32_1_1733"/>
          <p:cNvSpPr txBox="1"/>
          <p:nvPr/>
        </p:nvSpPr>
        <p:spPr>
          <a:xfrm>
            <a:off x="914400" y="407822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8, 30, dan 19 peserta</a:t>
            </a:r>
            <a:endParaRPr/>
          </a:p>
        </p:txBody>
      </p:sp>
      <p:pic>
        <p:nvPicPr>
          <p:cNvPr descr="target_FFFFFF.png" id="1284" name="Google Shape;1284;h69a5e3ff789ebc32_1_1733"/>
          <p:cNvPicPr preferRelativeResize="0"/>
          <p:nvPr/>
        </p:nvPicPr>
        <p:blipFill rotWithShape="1">
          <a:blip r:embed="rId6">
            <a:alphaModFix/>
          </a:blip>
          <a:srcRect b="0" l="0" r="0" t="0"/>
          <a:stretch/>
        </p:blipFill>
        <p:spPr>
          <a:xfrm>
            <a:off x="502920" y="4434840"/>
            <a:ext cx="256032" cy="256032"/>
          </a:xfrm>
          <a:prstGeom prst="rect">
            <a:avLst/>
          </a:prstGeom>
          <a:noFill/>
          <a:ln>
            <a:noFill/>
          </a:ln>
        </p:spPr>
      </p:pic>
      <p:sp>
        <p:nvSpPr>
          <p:cNvPr id="1285" name="Google Shape;1285;h69a5e3ff789ebc32_1_1733"/>
          <p:cNvSpPr txBox="1"/>
          <p:nvPr/>
        </p:nvSpPr>
        <p:spPr>
          <a:xfrm>
            <a:off x="914400" y="4407408"/>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Bisnis migas terintegrasi; pelatihan BNSP dan ISO</a:t>
            </a:r>
            <a:endParaRPr/>
          </a:p>
        </p:txBody>
      </p:sp>
      <p:sp>
        <p:nvSpPr>
          <p:cNvPr id="1286" name="Google Shape;1286;h69a5e3ff789ebc32_1_1733"/>
          <p:cNvSpPr txBox="1"/>
          <p:nvPr/>
        </p:nvSpPr>
        <p:spPr>
          <a:xfrm>
            <a:off x="457200" y="4846320"/>
            <a:ext cx="5303400" cy="20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350">
                <a:solidFill>
                  <a:srgbClr val="FFC00C"/>
                </a:solidFill>
                <a:latin typeface="Montserrat"/>
                <a:ea typeface="Montserrat"/>
                <a:cs typeface="Montserrat"/>
                <a:sym typeface="Montserrat"/>
              </a:rPr>
              <a:t>Pengembangan modul dan video</a:t>
            </a:r>
            <a:endParaRPr/>
          </a:p>
        </p:txBody>
      </p:sp>
      <p:pic>
        <p:nvPicPr>
          <p:cNvPr descr="calendar_FFFFFF.png" id="1287" name="Google Shape;1287;h69a5e3ff789ebc32_1_1733"/>
          <p:cNvPicPr preferRelativeResize="0"/>
          <p:nvPr/>
        </p:nvPicPr>
        <p:blipFill rotWithShape="1">
          <a:blip r:embed="rId4">
            <a:alphaModFix/>
          </a:blip>
          <a:srcRect b="0" l="0" r="0" t="0"/>
          <a:stretch/>
        </p:blipFill>
        <p:spPr>
          <a:xfrm>
            <a:off x="502920" y="5239512"/>
            <a:ext cx="256032" cy="256032"/>
          </a:xfrm>
          <a:prstGeom prst="rect">
            <a:avLst/>
          </a:prstGeom>
          <a:noFill/>
          <a:ln>
            <a:noFill/>
          </a:ln>
        </p:spPr>
      </p:pic>
      <p:sp>
        <p:nvSpPr>
          <p:cNvPr id="1288" name="Google Shape;1288;h69a5e3ff789ebc32_1_1733"/>
          <p:cNvSpPr txBox="1"/>
          <p:nvPr/>
        </p:nvSpPr>
        <p:spPr>
          <a:xfrm>
            <a:off x="914400" y="5212080"/>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Modul STEM, Leadership for First-Time Manager, FYEP</a:t>
            </a:r>
            <a:endParaRPr/>
          </a:p>
        </p:txBody>
      </p:sp>
      <p:pic>
        <p:nvPicPr>
          <p:cNvPr descr="people_FFFFFF.png" id="1289" name="Google Shape;1289;h69a5e3ff789ebc32_1_1733"/>
          <p:cNvPicPr preferRelativeResize="0"/>
          <p:nvPr/>
        </p:nvPicPr>
        <p:blipFill rotWithShape="1">
          <a:blip r:embed="rId5">
            <a:alphaModFix/>
          </a:blip>
          <a:srcRect b="0" l="0" r="0" t="0"/>
          <a:stretch/>
        </p:blipFill>
        <p:spPr>
          <a:xfrm>
            <a:off x="502920" y="5568696"/>
            <a:ext cx="256032" cy="256032"/>
          </a:xfrm>
          <a:prstGeom prst="rect">
            <a:avLst/>
          </a:prstGeom>
          <a:noFill/>
          <a:ln>
            <a:noFill/>
          </a:ln>
        </p:spPr>
      </p:pic>
      <p:sp>
        <p:nvSpPr>
          <p:cNvPr id="1290" name="Google Shape;1290;h69a5e3ff789ebc32_1_1733"/>
          <p:cNvSpPr txBox="1"/>
          <p:nvPr/>
        </p:nvSpPr>
        <p:spPr>
          <a:xfrm>
            <a:off x="914400" y="5541264"/>
            <a:ext cx="4846200" cy="1608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1100">
                <a:solidFill>
                  <a:srgbClr val="FFFFFF"/>
                </a:solidFill>
                <a:latin typeface="Montserrat"/>
                <a:ea typeface="Montserrat"/>
                <a:cs typeface="Montserrat"/>
                <a:sym typeface="Montserrat"/>
              </a:rPr>
              <a:t>16 video pembelajaran (FYEP)</a:t>
            </a:r>
            <a:endParaRPr/>
          </a:p>
        </p:txBody>
      </p:sp>
      <p:sp>
        <p:nvSpPr>
          <p:cNvPr id="1291" name="Google Shape;1291;h69a5e3ff789ebc32_1_1733"/>
          <p:cNvSpPr txBox="1"/>
          <p:nvPr/>
        </p:nvSpPr>
        <p:spPr>
          <a:xfrm>
            <a:off x="6492240" y="457200"/>
            <a:ext cx="51207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500">
                <a:solidFill>
                  <a:srgbClr val="FFC00C"/>
                </a:solidFill>
                <a:latin typeface="Montserrat"/>
                <a:ea typeface="Montserrat"/>
                <a:cs typeface="Montserrat"/>
                <a:sym typeface="Montserrat"/>
              </a:rPr>
              <a:t>RELEVANSI TERHADAP RFP</a:t>
            </a:r>
            <a:endParaRPr/>
          </a:p>
        </p:txBody>
      </p:sp>
      <p:sp>
        <p:nvSpPr>
          <p:cNvPr id="1292" name="Google Shape;1292;h69a5e3ff789ebc32_1_1733"/>
          <p:cNvSpPr/>
          <p:nvPr/>
        </p:nvSpPr>
        <p:spPr>
          <a:xfrm>
            <a:off x="6492240" y="100584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3" name="Google Shape;1293;h69a5e3ff789ebc32_1_1733"/>
          <p:cNvSpPr txBox="1"/>
          <p:nvPr/>
        </p:nvSpPr>
        <p:spPr>
          <a:xfrm>
            <a:off x="6720840" y="111556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Kerja dengan regulator dan BUMD</a:t>
            </a:r>
            <a:endParaRPr/>
          </a:p>
        </p:txBody>
      </p:sp>
      <p:sp>
        <p:nvSpPr>
          <p:cNvPr id="1294" name="Google Shape;1294;h69a5e3ff789ebc32_1_1733"/>
          <p:cNvSpPr txBox="1"/>
          <p:nvPr/>
        </p:nvSpPr>
        <p:spPr>
          <a:xfrm>
            <a:off x="6720840" y="150876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Pengalaman menyiapkan materi dan sesi bagi instansi pemerintah dan lembaga berstandar.</a:t>
            </a:r>
            <a:endParaRPr/>
          </a:p>
        </p:txBody>
      </p:sp>
      <p:sp>
        <p:nvSpPr>
          <p:cNvPr id="1295" name="Google Shape;1295;h69a5e3ff789ebc32_1_1733"/>
          <p:cNvSpPr/>
          <p:nvPr/>
        </p:nvSpPr>
        <p:spPr>
          <a:xfrm>
            <a:off x="6492240" y="265176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6" name="Google Shape;1296;h69a5e3ff789ebc32_1_1733"/>
          <p:cNvSpPr txBox="1"/>
          <p:nvPr/>
        </p:nvSpPr>
        <p:spPr>
          <a:xfrm>
            <a:off x="6720840" y="276148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Standar dan mutu</a:t>
            </a:r>
            <a:endParaRPr/>
          </a:p>
        </p:txBody>
      </p:sp>
      <p:sp>
        <p:nvSpPr>
          <p:cNvPr id="1297" name="Google Shape;1297;h69a5e3ff789ebc32_1_1733"/>
          <p:cNvSpPr txBox="1"/>
          <p:nvPr/>
        </p:nvSpPr>
        <p:spPr>
          <a:xfrm>
            <a:off x="6720840" y="315468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Pelatihan BNSP dan ISO (manajemen risiko, audit internal, sertifikasi) selaras dengan disiplin standar dan bukti.</a:t>
            </a:r>
            <a:endParaRPr/>
          </a:p>
        </p:txBody>
      </p:sp>
      <p:sp>
        <p:nvSpPr>
          <p:cNvPr id="1298" name="Google Shape;1298;h69a5e3ff789ebc32_1_1733"/>
          <p:cNvSpPr/>
          <p:nvPr/>
        </p:nvSpPr>
        <p:spPr>
          <a:xfrm>
            <a:off x="6492240" y="4297680"/>
            <a:ext cx="5120700" cy="1463100"/>
          </a:xfrm>
          <a:prstGeom prst="roundRect">
            <a:avLst>
              <a:gd fmla="val 12500"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9" name="Google Shape;1299;h69a5e3ff789ebc32_1_1733"/>
          <p:cNvSpPr txBox="1"/>
          <p:nvPr/>
        </p:nvSpPr>
        <p:spPr>
          <a:xfrm>
            <a:off x="6720840" y="4407408"/>
            <a:ext cx="4663500" cy="21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a:solidFill>
                  <a:srgbClr val="FFFFFF"/>
                </a:solidFill>
                <a:latin typeface="Montserrat ExtraBold"/>
                <a:ea typeface="Montserrat ExtraBold"/>
                <a:cs typeface="Montserrat ExtraBold"/>
                <a:sym typeface="Montserrat ExtraBold"/>
              </a:rPr>
              <a:t>Pengembangan pedoman dan modul</a:t>
            </a:r>
            <a:endParaRPr/>
          </a:p>
        </p:txBody>
      </p:sp>
      <p:sp>
        <p:nvSpPr>
          <p:cNvPr id="1300" name="Google Shape;1300;h69a5e3ff789ebc32_1_1733"/>
          <p:cNvSpPr txBox="1"/>
          <p:nvPr/>
        </p:nvSpPr>
        <p:spPr>
          <a:xfrm>
            <a:off x="6720840" y="4800600"/>
            <a:ext cx="4709100" cy="394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1250">
                <a:solidFill>
                  <a:srgbClr val="FFFFFF"/>
                </a:solidFill>
                <a:latin typeface="Montserrat"/>
                <a:ea typeface="Montserrat"/>
                <a:cs typeface="Montserrat"/>
                <a:sym typeface="Montserrat"/>
              </a:rPr>
              <a:t>Modul, materi presentasi, dan video: relevan untuk penyempurnaan pedoman dan instrumen.</a:t>
            </a:r>
            <a:endParaRPr/>
          </a:p>
        </p:txBody>
      </p:sp>
      <p:pic>
        <p:nvPicPr>
          <p:cNvPr descr="logo_white.png" id="1301" name="Google Shape;1301;h69a5e3ff789ebc32_1_1733"/>
          <p:cNvPicPr preferRelativeResize="0"/>
          <p:nvPr/>
        </p:nvPicPr>
        <p:blipFill rotWithShape="1">
          <a:blip r:embed="rId7">
            <a:alphaModFix/>
          </a:blip>
          <a:srcRect b="0" l="0" r="0" t="0"/>
          <a:stretch/>
        </p:blipFill>
        <p:spPr>
          <a:xfrm>
            <a:off x="6492240" y="6355080"/>
            <a:ext cx="1201595" cy="237744"/>
          </a:xfrm>
          <a:prstGeom prst="rect">
            <a:avLst/>
          </a:prstGeom>
          <a:noFill/>
          <a:ln>
            <a:noFill/>
          </a:ln>
        </p:spPr>
      </p:pic>
      <p:sp>
        <p:nvSpPr>
          <p:cNvPr id="1302" name="Google Shape;1302;h69a5e3ff789ebc32_1_173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28</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306" name="Shape 1306"/>
        <p:cNvGrpSpPr/>
        <p:nvPr/>
      </p:nvGrpSpPr>
      <p:grpSpPr>
        <a:xfrm>
          <a:off x="0" y="0"/>
          <a:ext cx="0" cy="0"/>
          <a:chOff x="0" y="0"/>
          <a:chExt cx="0" cy="0"/>
        </a:xfrm>
      </p:grpSpPr>
      <p:sp>
        <p:nvSpPr>
          <p:cNvPr id="1307" name="Google Shape;1307;h65eb7c06466a6d01_2_195"/>
          <p:cNvSpPr/>
          <p:nvPr/>
        </p:nvSpPr>
        <p:spPr>
          <a:xfrm>
            <a:off x="6842350" y="2551325"/>
            <a:ext cx="4921500" cy="4009200"/>
          </a:xfrm>
          <a:prstGeom prst="roundRect">
            <a:avLst>
              <a:gd fmla="val 20740" name="adj"/>
            </a:avLst>
          </a:prstGeom>
          <a:solidFill>
            <a:srgbClr val="2F7E9D"/>
          </a:solidFill>
          <a:ln cap="flat" cmpd="sng" w="25400">
            <a:solidFill>
              <a:srgbClr val="FFFFF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8" name="Google Shape;1308;h65eb7c06466a6d01_2_195"/>
          <p:cNvSpPr/>
          <p:nvPr/>
        </p:nvSpPr>
        <p:spPr>
          <a:xfrm>
            <a:off x="1819900" y="2600975"/>
            <a:ext cx="4921500" cy="4009200"/>
          </a:xfrm>
          <a:prstGeom prst="roundRect">
            <a:avLst>
              <a:gd fmla="val 20740" name="adj"/>
            </a:avLst>
          </a:prstGeom>
          <a:solidFill>
            <a:srgbClr val="2F7E9D"/>
          </a:solidFill>
          <a:ln cap="flat" cmpd="sng" w="25400">
            <a:solidFill>
              <a:srgbClr val="FFFFF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9" name="Google Shape;1309;h65eb7c06466a6d01_2_195"/>
          <p:cNvSpPr txBox="1"/>
          <p:nvPr/>
        </p:nvSpPr>
        <p:spPr>
          <a:xfrm>
            <a:off x="594360" y="658368"/>
            <a:ext cx="11003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sp>
        <p:nvSpPr>
          <p:cNvPr id="1310" name="Google Shape;1310;h65eb7c06466a6d01_2_195"/>
          <p:cNvSpPr/>
          <p:nvPr/>
        </p:nvSpPr>
        <p:spPr>
          <a:xfrm>
            <a:off x="-1004824" y="-1440267"/>
            <a:ext cx="3734715" cy="3734715"/>
          </a:xfrm>
          <a:custGeom>
            <a:rect b="b" l="l" r="r" t="t"/>
            <a:pathLst>
              <a:path extrusionOk="0" h="6523520" w="6523520">
                <a:moveTo>
                  <a:pt x="0" y="0"/>
                </a:moveTo>
                <a:lnTo>
                  <a:pt x="6523520" y="0"/>
                </a:lnTo>
                <a:lnTo>
                  <a:pt x="6523520" y="6523520"/>
                </a:lnTo>
                <a:lnTo>
                  <a:pt x="0" y="6523520"/>
                </a:lnTo>
                <a:lnTo>
                  <a:pt x="0" y="0"/>
                </a:lnTo>
                <a:close/>
              </a:path>
            </a:pathLst>
          </a:custGeom>
          <a:blipFill rotWithShape="1">
            <a:blip r:embed="rId3">
              <a:alphaModFix amt="9000"/>
            </a:blip>
            <a:stretch>
              <a:fillRect b="0" l="0" r="0" t="0"/>
            </a:stretch>
          </a:blipFill>
          <a:ln>
            <a:noFill/>
          </a:ln>
        </p:spPr>
      </p:sp>
      <p:sp>
        <p:nvSpPr>
          <p:cNvPr id="1311" name="Google Shape;1311;h65eb7c06466a6d01_2_195"/>
          <p:cNvSpPr/>
          <p:nvPr/>
        </p:nvSpPr>
        <p:spPr>
          <a:xfrm rot="1553619">
            <a:off x="7483624" y="2034158"/>
            <a:ext cx="4587386" cy="4953144"/>
          </a:xfrm>
          <a:custGeom>
            <a:rect b="b" l="l" r="r" t="t"/>
            <a:pathLst>
              <a:path extrusionOk="0" h="8652193" w="8013284">
                <a:moveTo>
                  <a:pt x="0" y="0"/>
                </a:moveTo>
                <a:lnTo>
                  <a:pt x="8013283" y="0"/>
                </a:lnTo>
                <a:lnTo>
                  <a:pt x="8013283" y="8652193"/>
                </a:lnTo>
                <a:lnTo>
                  <a:pt x="0" y="8652193"/>
                </a:lnTo>
                <a:lnTo>
                  <a:pt x="0" y="0"/>
                </a:lnTo>
                <a:close/>
              </a:path>
            </a:pathLst>
          </a:custGeom>
          <a:blipFill rotWithShape="1">
            <a:blip r:embed="rId4">
              <a:alphaModFix amt="5000"/>
            </a:blip>
            <a:stretch>
              <a:fillRect b="0" l="0" r="-364404" t="0"/>
            </a:stretch>
          </a:blipFill>
          <a:ln>
            <a:noFill/>
          </a:ln>
        </p:spPr>
      </p:sp>
      <p:sp>
        <p:nvSpPr>
          <p:cNvPr id="1312" name="Google Shape;1312;h65eb7c06466a6d01_2_195"/>
          <p:cNvSpPr/>
          <p:nvPr/>
        </p:nvSpPr>
        <p:spPr>
          <a:xfrm rot="1553619">
            <a:off x="8027657" y="-1340688"/>
            <a:ext cx="2953906" cy="3493796"/>
          </a:xfrm>
          <a:custGeom>
            <a:rect b="b" l="l" r="r" t="t"/>
            <a:pathLst>
              <a:path extrusionOk="0" h="6102991" w="5159907">
                <a:moveTo>
                  <a:pt x="0" y="0"/>
                </a:moveTo>
                <a:lnTo>
                  <a:pt x="5159906" y="0"/>
                </a:lnTo>
                <a:lnTo>
                  <a:pt x="5159906" y="6102991"/>
                </a:lnTo>
                <a:lnTo>
                  <a:pt x="0" y="6102991"/>
                </a:lnTo>
                <a:lnTo>
                  <a:pt x="0" y="0"/>
                </a:lnTo>
                <a:close/>
              </a:path>
            </a:pathLst>
          </a:custGeom>
          <a:blipFill rotWithShape="1">
            <a:blip r:embed="rId4">
              <a:alphaModFix amt="5000"/>
            </a:blip>
            <a:stretch>
              <a:fillRect b="0" l="0" r="-408725" t="0"/>
            </a:stretch>
          </a:blipFill>
          <a:ln>
            <a:noFill/>
          </a:ln>
        </p:spPr>
      </p:sp>
      <p:sp>
        <p:nvSpPr>
          <p:cNvPr id="1313" name="Google Shape;1313;h65eb7c06466a6d01_2_195"/>
          <p:cNvSpPr txBox="1"/>
          <p:nvPr/>
        </p:nvSpPr>
        <p:spPr>
          <a:xfrm>
            <a:off x="1884900" y="2600852"/>
            <a:ext cx="4856400" cy="4009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400"/>
              </a:spcBef>
              <a:spcAft>
                <a:spcPts val="0"/>
              </a:spcAft>
              <a:buNone/>
            </a:pPr>
            <a:r>
              <a:rPr b="1" lang="en-US" spc="14">
                <a:solidFill>
                  <a:schemeClr val="lt1"/>
                </a:solidFill>
                <a:latin typeface="Montserrat"/>
                <a:ea typeface="Montserrat"/>
                <a:cs typeface="Montserrat"/>
                <a:sym typeface="Montserrat"/>
              </a:rPr>
              <a:t>Dwi Andi Rohmatika</a:t>
            </a:r>
            <a:endParaRPr b="1" spc="14">
              <a:solidFill>
                <a:schemeClr val="lt1"/>
              </a:solidFill>
              <a:latin typeface="Montserrat"/>
              <a:ea typeface="Montserrat"/>
              <a:cs typeface="Montserrat"/>
              <a:sym typeface="Montserrat"/>
            </a:endParaRPr>
          </a:p>
          <a:p>
            <a:pPr indent="0" lvl="0" marL="0" rtl="0" algn="ctr">
              <a:lnSpc>
                <a:spcPct val="150000"/>
              </a:lnSpc>
              <a:spcBef>
                <a:spcPts val="1400"/>
              </a:spcBef>
              <a:spcAft>
                <a:spcPts val="0"/>
              </a:spcAft>
              <a:buNone/>
            </a:pPr>
            <a:r>
              <a:rPr b="1" lang="en-US" spc="11" sz="1100">
                <a:solidFill>
                  <a:schemeClr val="lt1"/>
                </a:solidFill>
                <a:latin typeface="Montserrat"/>
                <a:ea typeface="Montserrat"/>
                <a:cs typeface="Montserrat"/>
                <a:sym typeface="Montserrat"/>
              </a:rPr>
              <a:t>MBA Judge Business School,</a:t>
            </a:r>
            <a:endParaRPr b="1" spc="11" sz="1100">
              <a:solidFill>
                <a:schemeClr val="lt1"/>
              </a:solidFill>
              <a:latin typeface="Montserrat"/>
              <a:ea typeface="Montserrat"/>
              <a:cs typeface="Montserrat"/>
              <a:sym typeface="Montserrat"/>
            </a:endParaRPr>
          </a:p>
          <a:p>
            <a:pPr indent="0" lvl="0" marL="0" rtl="0" algn="ctr">
              <a:lnSpc>
                <a:spcPct val="150000"/>
              </a:lnSpc>
              <a:spcBef>
                <a:spcPts val="1100"/>
              </a:spcBef>
              <a:spcAft>
                <a:spcPts val="0"/>
              </a:spcAft>
              <a:buNone/>
            </a:pPr>
            <a:r>
              <a:rPr b="1" lang="en-US" spc="11" sz="1100">
                <a:solidFill>
                  <a:schemeClr val="lt1"/>
                </a:solidFill>
                <a:latin typeface="Montserrat"/>
                <a:ea typeface="Montserrat"/>
                <a:cs typeface="Montserrat"/>
                <a:sym typeface="Montserrat"/>
              </a:rPr>
              <a:t>University of Cambridge</a:t>
            </a:r>
            <a:endParaRPr b="1" spc="11" sz="1100">
              <a:solidFill>
                <a:schemeClr val="lt1"/>
              </a:solidFill>
              <a:latin typeface="Montserrat"/>
              <a:ea typeface="Montserrat"/>
              <a:cs typeface="Montserrat"/>
              <a:sym typeface="Montserrat"/>
            </a:endParaRPr>
          </a:p>
          <a:p>
            <a:pPr indent="0" lvl="0" marL="0" rtl="0" algn="ctr">
              <a:lnSpc>
                <a:spcPct val="150000"/>
              </a:lnSpc>
              <a:spcBef>
                <a:spcPts val="1100"/>
              </a:spcBef>
              <a:spcAft>
                <a:spcPts val="0"/>
              </a:spcAft>
              <a:buNone/>
            </a:pPr>
            <a:r>
              <a:rPr lang="en-US" spc="11" sz="1100">
                <a:solidFill>
                  <a:schemeClr val="lt1"/>
                </a:solidFill>
                <a:latin typeface="Montserrat"/>
                <a:ea typeface="Montserrat"/>
                <a:cs typeface="Montserrat"/>
                <a:sym typeface="Montserrat"/>
              </a:rPr>
              <a:t>Currently | CEO &amp; Founder | Indonesian</a:t>
            </a:r>
            <a:endParaRPr spc="11" sz="1100">
              <a:solidFill>
                <a:schemeClr val="lt1"/>
              </a:solidFill>
              <a:latin typeface="Montserrat"/>
              <a:ea typeface="Montserrat"/>
              <a:cs typeface="Montserrat"/>
              <a:sym typeface="Montserrat"/>
            </a:endParaRPr>
          </a:p>
          <a:p>
            <a:pPr indent="-298450" lvl="0" marL="457200" rtl="0" algn="l">
              <a:lnSpc>
                <a:spcPct val="150000"/>
              </a:lnSpc>
              <a:spcBef>
                <a:spcPts val="110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Graduate from UGM; MBA of Judge Business School, University of Cambridge</a:t>
            </a:r>
            <a:endParaRPr spc="11" sz="1100">
              <a:solidFill>
                <a:schemeClr val="lt1"/>
              </a:solidFill>
              <a:latin typeface="Montserrat"/>
              <a:ea typeface="Montserrat"/>
              <a:cs typeface="Montserrat"/>
              <a:sym typeface="Montserrat"/>
            </a:endParaRPr>
          </a:p>
          <a:p>
            <a:pPr indent="-298450" lvl="0" marL="457200" rtl="0" algn="l">
              <a:lnSpc>
                <a:spcPct val="150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Previously worked at ConocoPhillips Indonesia, eFishery, Payfazz (Fazz), and Schoters | Affiliated speaker with Glints, MariBelajar, PengajarBelajar</a:t>
            </a:r>
            <a:endParaRPr spc="11" sz="1100">
              <a:solidFill>
                <a:schemeClr val="lt1"/>
              </a:solidFill>
              <a:latin typeface="Montserrat"/>
              <a:ea typeface="Montserrat"/>
              <a:cs typeface="Montserrat"/>
              <a:sym typeface="Montserrat"/>
            </a:endParaRPr>
          </a:p>
          <a:p>
            <a:pPr indent="-298450" lvl="0" marL="457200" rtl="0" algn="l">
              <a:lnSpc>
                <a:spcPct val="150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Specialized in Organizational and People Development, Operations (manage 90+ team members across South East Asia), Customer Insights, Product Incubation &amp; Development, Project Management</a:t>
            </a:r>
            <a:endParaRPr spc="11" sz="1100">
              <a:solidFill>
                <a:schemeClr val="lt1"/>
              </a:solidFill>
              <a:latin typeface="Montserrat"/>
              <a:ea typeface="Montserrat"/>
              <a:cs typeface="Montserrat"/>
              <a:sym typeface="Montserrat"/>
            </a:endParaRPr>
          </a:p>
        </p:txBody>
      </p:sp>
      <p:sp>
        <p:nvSpPr>
          <p:cNvPr id="1314" name="Google Shape;1314;h65eb7c06466a6d01_2_195"/>
          <p:cNvSpPr txBox="1"/>
          <p:nvPr/>
        </p:nvSpPr>
        <p:spPr>
          <a:xfrm>
            <a:off x="6698525" y="2622725"/>
            <a:ext cx="5206500" cy="3868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400"/>
              </a:spcBef>
              <a:spcAft>
                <a:spcPts val="0"/>
              </a:spcAft>
              <a:buNone/>
            </a:pPr>
            <a:r>
              <a:rPr b="1" lang="en-US" spc="14">
                <a:solidFill>
                  <a:schemeClr val="lt1"/>
                </a:solidFill>
                <a:latin typeface="Montserrat"/>
                <a:ea typeface="Montserrat"/>
                <a:cs typeface="Montserrat"/>
                <a:sym typeface="Montserrat"/>
              </a:rPr>
              <a:t>Muhammad Muchson Attoyib</a:t>
            </a:r>
            <a:endParaRPr b="1" spc="14">
              <a:solidFill>
                <a:schemeClr val="lt1"/>
              </a:solidFill>
              <a:latin typeface="Montserrat"/>
              <a:ea typeface="Montserrat"/>
              <a:cs typeface="Montserrat"/>
              <a:sym typeface="Montserrat"/>
            </a:endParaRPr>
          </a:p>
          <a:p>
            <a:pPr indent="0" lvl="0" marL="0" rtl="0" algn="ctr">
              <a:lnSpc>
                <a:spcPct val="150000"/>
              </a:lnSpc>
              <a:spcBef>
                <a:spcPts val="1400"/>
              </a:spcBef>
              <a:spcAft>
                <a:spcPts val="0"/>
              </a:spcAft>
              <a:buNone/>
            </a:pPr>
            <a:r>
              <a:rPr b="1" lang="en-US" spc="11" sz="1100">
                <a:solidFill>
                  <a:schemeClr val="lt1"/>
                </a:solidFill>
                <a:latin typeface="Montserrat"/>
                <a:ea typeface="Montserrat"/>
                <a:cs typeface="Montserrat"/>
                <a:sym typeface="Montserrat"/>
              </a:rPr>
              <a:t>Master in Vocational Education (UM); </a:t>
            </a:r>
            <a:endParaRPr b="1" spc="11" sz="1100">
              <a:solidFill>
                <a:schemeClr val="lt1"/>
              </a:solidFill>
              <a:latin typeface="Montserrat"/>
              <a:ea typeface="Montserrat"/>
              <a:cs typeface="Montserrat"/>
              <a:sym typeface="Montserrat"/>
            </a:endParaRPr>
          </a:p>
          <a:p>
            <a:pPr indent="0" lvl="0" marL="0" rtl="0" algn="ctr">
              <a:lnSpc>
                <a:spcPct val="150000"/>
              </a:lnSpc>
              <a:spcBef>
                <a:spcPts val="1100"/>
              </a:spcBef>
              <a:spcAft>
                <a:spcPts val="0"/>
              </a:spcAft>
              <a:buNone/>
            </a:pPr>
            <a:r>
              <a:rPr b="1" lang="en-US" spc="11" sz="1100">
                <a:solidFill>
                  <a:schemeClr val="lt1"/>
                </a:solidFill>
                <a:latin typeface="Montserrat"/>
                <a:ea typeface="Montserrat"/>
                <a:cs typeface="Montserrat"/>
                <a:sym typeface="Montserrat"/>
              </a:rPr>
              <a:t>Currently | Head of Academic / Technical Lead | Indonesian </a:t>
            </a:r>
            <a:endParaRPr b="1" spc="11" sz="1100">
              <a:solidFill>
                <a:schemeClr val="lt1"/>
              </a:solidFill>
              <a:latin typeface="Montserrat"/>
              <a:ea typeface="Montserrat"/>
              <a:cs typeface="Montserrat"/>
              <a:sym typeface="Montserrat"/>
            </a:endParaRPr>
          </a:p>
          <a:p>
            <a:pPr indent="-298450" lvl="0" marL="457200" rtl="0" algn="l">
              <a:lnSpc>
                <a:spcPct val="150000"/>
              </a:lnSpc>
              <a:spcBef>
                <a:spcPts val="110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5+ tahun membangun &amp; men-deliver aplikasi web/mobile end-to-end: React, Next.js, Node.js, Laravel, Flutter, REST/GraphQL, Docker</a:t>
            </a:r>
            <a:endParaRPr spc="11" sz="1100">
              <a:solidFill>
                <a:schemeClr val="lt1"/>
              </a:solidFill>
              <a:latin typeface="Montserrat"/>
              <a:ea typeface="Montserrat"/>
              <a:cs typeface="Montserrat"/>
              <a:sym typeface="Montserrat"/>
            </a:endParaRPr>
          </a:p>
          <a:p>
            <a:pPr indent="-298450" lvl="0" marL="457200" rtl="0" algn="l">
              <a:lnSpc>
                <a:spcPct val="150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Spesialisasi AI Automation &amp; LLM integration (n8n, RAG, Vector DB, LLM-as-a-judge)</a:t>
            </a:r>
            <a:endParaRPr spc="11" sz="1100">
              <a:solidFill>
                <a:schemeClr val="lt1"/>
              </a:solidFill>
              <a:latin typeface="Montserrat"/>
              <a:ea typeface="Montserrat"/>
              <a:cs typeface="Montserrat"/>
              <a:sym typeface="Montserrat"/>
            </a:endParaRPr>
          </a:p>
          <a:p>
            <a:pPr indent="-298450" lvl="0" marL="457200" rtl="0" algn="l">
              <a:lnSpc>
                <a:spcPct val="150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Previously: Alterra Academy, Digital Talent Indonesia (Komdigi), AI Talent Factory — kelola LMS 1.000+ user &amp; pimpin bootcamp Front-End dari nol</a:t>
            </a:r>
            <a:endParaRPr spc="11" sz="1100">
              <a:solidFill>
                <a:schemeClr val="lt1"/>
              </a:solidFill>
              <a:latin typeface="Montserrat"/>
              <a:ea typeface="Montserrat"/>
              <a:cs typeface="Montserrat"/>
              <a:sym typeface="Montserrat"/>
            </a:endParaRPr>
          </a:p>
          <a:p>
            <a:pPr indent="-298450" lvl="0" marL="457200" rtl="0" algn="l">
              <a:lnSpc>
                <a:spcPct val="150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Track record project delivery: 4+ project skala nasional, 400+ peserta, graduation rate 97%, kepuasan 4.8–4.9/5</a:t>
            </a:r>
            <a:endParaRPr spc="11" sz="1100">
              <a:solidFill>
                <a:schemeClr val="lt1"/>
              </a:solidFill>
              <a:latin typeface="Montserrat"/>
              <a:ea typeface="Montserrat"/>
              <a:cs typeface="Montserrat"/>
              <a:sym typeface="Montserrat"/>
            </a:endParaRPr>
          </a:p>
        </p:txBody>
      </p:sp>
      <p:pic>
        <p:nvPicPr>
          <p:cNvPr id="1315" name="Google Shape;1315;h65eb7c06466a6d01_2_195" title="DA.png"/>
          <p:cNvPicPr preferRelativeResize="0"/>
          <p:nvPr/>
        </p:nvPicPr>
        <p:blipFill>
          <a:blip r:embed="rId5">
            <a:alphaModFix/>
          </a:blip>
          <a:stretch>
            <a:fillRect/>
          </a:stretch>
        </p:blipFill>
        <p:spPr>
          <a:xfrm>
            <a:off x="3288613" y="495477"/>
            <a:ext cx="2048976" cy="2048976"/>
          </a:xfrm>
          <a:prstGeom prst="rect">
            <a:avLst/>
          </a:prstGeom>
          <a:noFill/>
          <a:ln>
            <a:noFill/>
          </a:ln>
        </p:spPr>
      </p:pic>
      <p:pic>
        <p:nvPicPr>
          <p:cNvPr id="1316" name="Google Shape;1316;h65eb7c06466a6d01_2_195" title="Sanggabiz - Pitchdeck SFI 2026.png"/>
          <p:cNvPicPr preferRelativeResize="0"/>
          <p:nvPr/>
        </p:nvPicPr>
        <p:blipFill>
          <a:blip r:embed="rId6">
            <a:alphaModFix/>
          </a:blip>
          <a:stretch>
            <a:fillRect/>
          </a:stretch>
        </p:blipFill>
        <p:spPr>
          <a:xfrm>
            <a:off x="8182142" y="608575"/>
            <a:ext cx="2239259" cy="1878100"/>
          </a:xfrm>
          <a:prstGeom prst="rect">
            <a:avLst/>
          </a:prstGeom>
          <a:noFill/>
          <a:ln>
            <a:noFill/>
          </a:ln>
        </p:spPr>
      </p:pic>
      <p:sp>
        <p:nvSpPr>
          <p:cNvPr id="1317" name="Google Shape;1317;h65eb7c06466a6d01_2_195"/>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1150">
                <a:solidFill>
                  <a:srgbClr val="FFC00C"/>
                </a:solidFill>
                <a:latin typeface="Montserrat"/>
                <a:ea typeface="Montserrat"/>
                <a:cs typeface="Montserrat"/>
                <a:sym typeface="Montserrat"/>
              </a:rPr>
              <a:t>TIM</a:t>
            </a:r>
            <a:endParaRPr/>
          </a:p>
        </p:txBody>
      </p:sp>
      <p:sp>
        <p:nvSpPr>
          <p:cNvPr id="1318" name="Google Shape;1318;h65eb7c06466a6d01_2_195"/>
          <p:cNvSpPr txBox="1"/>
          <p:nvPr/>
        </p:nvSpPr>
        <p:spPr>
          <a:xfrm>
            <a:off x="594350" y="658375"/>
            <a:ext cx="103317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2800">
                <a:solidFill>
                  <a:srgbClr val="FFFFFF"/>
                </a:solidFill>
                <a:latin typeface="Montserrat ExtraBold"/>
                <a:ea typeface="Montserrat ExtraBold"/>
                <a:cs typeface="Montserrat ExtraBold"/>
                <a:sym typeface="Montserrat ExtraBold"/>
              </a:rPr>
              <a:t>Konsultan</a:t>
            </a:r>
            <a:endParaRPr sz="28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322" name="Shape 1322"/>
        <p:cNvGrpSpPr/>
        <p:nvPr/>
      </p:nvGrpSpPr>
      <p:grpSpPr>
        <a:xfrm>
          <a:off x="0" y="0"/>
          <a:ext cx="0" cy="0"/>
          <a:chOff x="0" y="0"/>
          <a:chExt cx="0" cy="0"/>
        </a:xfrm>
      </p:grpSpPr>
      <p:sp>
        <p:nvSpPr>
          <p:cNvPr id="1323" name="Google Shape;1323;h65eb7c06466a6d01_2_268"/>
          <p:cNvSpPr/>
          <p:nvPr/>
        </p:nvSpPr>
        <p:spPr>
          <a:xfrm>
            <a:off x="2908327" y="2210250"/>
            <a:ext cx="5728500" cy="4433100"/>
          </a:xfrm>
          <a:prstGeom prst="roundRect">
            <a:avLst>
              <a:gd fmla="val 20740" name="adj"/>
            </a:avLst>
          </a:prstGeom>
          <a:solidFill>
            <a:srgbClr val="2F7E9D"/>
          </a:solidFill>
          <a:ln cap="flat" cmpd="sng" w="25400">
            <a:solidFill>
              <a:srgbClr val="FFFFFF"/>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4" name="Google Shape;1324;h65eb7c06466a6d01_2_268"/>
          <p:cNvSpPr txBox="1"/>
          <p:nvPr/>
        </p:nvSpPr>
        <p:spPr>
          <a:xfrm>
            <a:off x="594360" y="658368"/>
            <a:ext cx="11003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sp>
        <p:nvSpPr>
          <p:cNvPr id="1325" name="Google Shape;1325;h65eb7c06466a6d01_2_268"/>
          <p:cNvSpPr/>
          <p:nvPr/>
        </p:nvSpPr>
        <p:spPr>
          <a:xfrm>
            <a:off x="-1004824" y="-1440267"/>
            <a:ext cx="3734715" cy="3734715"/>
          </a:xfrm>
          <a:custGeom>
            <a:rect b="b" l="l" r="r" t="t"/>
            <a:pathLst>
              <a:path extrusionOk="0" h="6523520" w="6523520">
                <a:moveTo>
                  <a:pt x="0" y="0"/>
                </a:moveTo>
                <a:lnTo>
                  <a:pt x="6523520" y="0"/>
                </a:lnTo>
                <a:lnTo>
                  <a:pt x="6523520" y="6523520"/>
                </a:lnTo>
                <a:lnTo>
                  <a:pt x="0" y="6523520"/>
                </a:lnTo>
                <a:lnTo>
                  <a:pt x="0" y="0"/>
                </a:lnTo>
                <a:close/>
              </a:path>
            </a:pathLst>
          </a:custGeom>
          <a:blipFill rotWithShape="1">
            <a:blip r:embed="rId3">
              <a:alphaModFix amt="9000"/>
            </a:blip>
            <a:stretch>
              <a:fillRect b="0" l="0" r="0" t="0"/>
            </a:stretch>
          </a:blipFill>
          <a:ln>
            <a:noFill/>
          </a:ln>
        </p:spPr>
      </p:sp>
      <p:sp>
        <p:nvSpPr>
          <p:cNvPr id="1326" name="Google Shape;1326;h65eb7c06466a6d01_2_268"/>
          <p:cNvSpPr/>
          <p:nvPr/>
        </p:nvSpPr>
        <p:spPr>
          <a:xfrm rot="1553619">
            <a:off x="7483624" y="2034158"/>
            <a:ext cx="4587386" cy="4953144"/>
          </a:xfrm>
          <a:custGeom>
            <a:rect b="b" l="l" r="r" t="t"/>
            <a:pathLst>
              <a:path extrusionOk="0" h="8652193" w="8013284">
                <a:moveTo>
                  <a:pt x="0" y="0"/>
                </a:moveTo>
                <a:lnTo>
                  <a:pt x="8013283" y="0"/>
                </a:lnTo>
                <a:lnTo>
                  <a:pt x="8013283" y="8652193"/>
                </a:lnTo>
                <a:lnTo>
                  <a:pt x="0" y="8652193"/>
                </a:lnTo>
                <a:lnTo>
                  <a:pt x="0" y="0"/>
                </a:lnTo>
                <a:close/>
              </a:path>
            </a:pathLst>
          </a:custGeom>
          <a:blipFill rotWithShape="1">
            <a:blip r:embed="rId4">
              <a:alphaModFix amt="5000"/>
            </a:blip>
            <a:stretch>
              <a:fillRect b="0" l="0" r="-364404" t="0"/>
            </a:stretch>
          </a:blipFill>
          <a:ln>
            <a:noFill/>
          </a:ln>
        </p:spPr>
      </p:sp>
      <p:sp>
        <p:nvSpPr>
          <p:cNvPr id="1327" name="Google Shape;1327;h65eb7c06466a6d01_2_268"/>
          <p:cNvSpPr/>
          <p:nvPr/>
        </p:nvSpPr>
        <p:spPr>
          <a:xfrm rot="1553619">
            <a:off x="8027657" y="-1340688"/>
            <a:ext cx="2953906" cy="3493796"/>
          </a:xfrm>
          <a:custGeom>
            <a:rect b="b" l="l" r="r" t="t"/>
            <a:pathLst>
              <a:path extrusionOk="0" h="6102991" w="5159907">
                <a:moveTo>
                  <a:pt x="0" y="0"/>
                </a:moveTo>
                <a:lnTo>
                  <a:pt x="5159906" y="0"/>
                </a:lnTo>
                <a:lnTo>
                  <a:pt x="5159906" y="6102991"/>
                </a:lnTo>
                <a:lnTo>
                  <a:pt x="0" y="6102991"/>
                </a:lnTo>
                <a:lnTo>
                  <a:pt x="0" y="0"/>
                </a:lnTo>
                <a:close/>
              </a:path>
            </a:pathLst>
          </a:custGeom>
          <a:blipFill rotWithShape="1">
            <a:blip r:embed="rId4">
              <a:alphaModFix amt="5000"/>
            </a:blip>
            <a:stretch>
              <a:fillRect b="0" l="0" r="-408725" t="0"/>
            </a:stretch>
          </a:blipFill>
          <a:ln>
            <a:noFill/>
          </a:ln>
        </p:spPr>
      </p:sp>
      <p:sp>
        <p:nvSpPr>
          <p:cNvPr id="1328" name="Google Shape;1328;h65eb7c06466a6d01_2_268"/>
          <p:cNvSpPr txBox="1"/>
          <p:nvPr/>
        </p:nvSpPr>
        <p:spPr>
          <a:xfrm>
            <a:off x="2940850" y="2152663"/>
            <a:ext cx="5532300" cy="450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400"/>
              </a:spcBef>
              <a:spcAft>
                <a:spcPts val="0"/>
              </a:spcAft>
              <a:buNone/>
            </a:pPr>
            <a:r>
              <a:rPr b="1" lang="en-US" spc="14">
                <a:solidFill>
                  <a:schemeClr val="lt1"/>
                </a:solidFill>
                <a:latin typeface="Montserrat"/>
                <a:ea typeface="Montserrat"/>
                <a:cs typeface="Montserrat"/>
                <a:sym typeface="Montserrat"/>
              </a:rPr>
              <a:t>Lu'lu' Al Adhliyani</a:t>
            </a:r>
            <a:endParaRPr b="1" spc="14">
              <a:solidFill>
                <a:schemeClr val="lt1"/>
              </a:solidFill>
              <a:latin typeface="Montserrat"/>
              <a:ea typeface="Montserrat"/>
              <a:cs typeface="Montserrat"/>
              <a:sym typeface="Montserrat"/>
            </a:endParaRPr>
          </a:p>
          <a:p>
            <a:pPr indent="0" lvl="0" marL="0" rtl="0" algn="ctr">
              <a:lnSpc>
                <a:spcPct val="150000"/>
              </a:lnSpc>
              <a:spcBef>
                <a:spcPts val="1400"/>
              </a:spcBef>
              <a:spcAft>
                <a:spcPts val="0"/>
              </a:spcAft>
              <a:buNone/>
            </a:pPr>
            <a:r>
              <a:rPr b="1" lang="en-US" spc="11" sz="1100">
                <a:solidFill>
                  <a:schemeClr val="lt1"/>
                </a:solidFill>
                <a:latin typeface="Montserrat"/>
                <a:ea typeface="Montserrat"/>
                <a:cs typeface="Montserrat"/>
                <a:sym typeface="Montserrat"/>
              </a:rPr>
              <a:t>Sarjana Pertanian (S.P), Ekonomi Pertanian </a:t>
            </a:r>
            <a:endParaRPr b="1" spc="11" sz="1100">
              <a:solidFill>
                <a:schemeClr val="lt1"/>
              </a:solidFill>
              <a:latin typeface="Montserrat"/>
              <a:ea typeface="Montserrat"/>
              <a:cs typeface="Montserrat"/>
              <a:sym typeface="Montserrat"/>
            </a:endParaRPr>
          </a:p>
          <a:p>
            <a:pPr indent="0" lvl="0" marL="0" rtl="0" algn="ctr">
              <a:lnSpc>
                <a:spcPct val="150000"/>
              </a:lnSpc>
              <a:spcBef>
                <a:spcPts val="1100"/>
              </a:spcBef>
              <a:spcAft>
                <a:spcPts val="0"/>
              </a:spcAft>
              <a:buNone/>
            </a:pPr>
            <a:r>
              <a:rPr b="1" lang="en-US" spc="11" sz="1100">
                <a:solidFill>
                  <a:schemeClr val="lt1"/>
                </a:solidFill>
                <a:latin typeface="Montserrat"/>
                <a:ea typeface="Montserrat"/>
                <a:cs typeface="Montserrat"/>
                <a:sym typeface="Montserrat"/>
              </a:rPr>
              <a:t>Universitas Gadjah Mada</a:t>
            </a:r>
            <a:endParaRPr b="1" spc="11" sz="1100">
              <a:solidFill>
                <a:schemeClr val="lt1"/>
              </a:solidFill>
              <a:latin typeface="Montserrat"/>
              <a:ea typeface="Montserrat"/>
              <a:cs typeface="Montserrat"/>
              <a:sym typeface="Montserrat"/>
            </a:endParaRPr>
          </a:p>
          <a:p>
            <a:pPr indent="0" lvl="0" marL="0" rtl="0" algn="ctr">
              <a:lnSpc>
                <a:spcPct val="150000"/>
              </a:lnSpc>
              <a:spcBef>
                <a:spcPts val="1100"/>
              </a:spcBef>
              <a:spcAft>
                <a:spcPts val="0"/>
              </a:spcAft>
              <a:buNone/>
            </a:pPr>
            <a:r>
              <a:rPr lang="en-US" spc="11" sz="1100">
                <a:solidFill>
                  <a:schemeClr val="lt1"/>
                </a:solidFill>
                <a:latin typeface="Montserrat"/>
                <a:ea typeface="Montserrat"/>
                <a:cs typeface="Montserrat"/>
                <a:sym typeface="Montserrat"/>
              </a:rPr>
              <a:t>Currently | Academic Product Manager Trainee di Sanggabiz | Indonesian</a:t>
            </a:r>
            <a:endParaRPr spc="11" sz="1100">
              <a:solidFill>
                <a:schemeClr val="lt1"/>
              </a:solidFill>
              <a:latin typeface="Montserrat"/>
              <a:ea typeface="Montserrat"/>
              <a:cs typeface="Montserrat"/>
              <a:sym typeface="Montserrat"/>
            </a:endParaRPr>
          </a:p>
          <a:p>
            <a:pPr indent="-298450" lvl="0" marL="457200" rtl="0" algn="l">
              <a:lnSpc>
                <a:spcPct val="115000"/>
              </a:lnSpc>
              <a:spcBef>
                <a:spcPts val="110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Berpengalaman luas dalam Training and Development (HR), Product Management, dan Event Management</a:t>
            </a:r>
            <a:endParaRPr spc="11"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Spesialisasi pengembangan program akademi dan pelatihan, perancangan kurikulum (learning journey), kemitraan pendidikan, serta pengelolaan acara berskala besar</a:t>
            </a:r>
            <a:endParaRPr spc="11"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Previously: Pusat Inovasi Agroteknologi (PIAT) UGM (Field Coordinator &amp; Organizing Committee), Skill Academy by Ruangguru, Dompet Dhuafa, dan Universitas Gadjah Mada (Panitia MBKM &amp; Tim Teknis)</a:t>
            </a:r>
            <a:endParaRPr spc="11" sz="1100">
              <a:solidFill>
                <a:schemeClr val="lt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lt1"/>
              </a:buClr>
              <a:buSzPts val="1100"/>
              <a:buFont typeface="Montserrat"/>
              <a:buChar char="●"/>
            </a:pPr>
            <a:r>
              <a:rPr lang="en-US" spc="11" sz="1100">
                <a:solidFill>
                  <a:schemeClr val="lt1"/>
                </a:solidFill>
                <a:latin typeface="Montserrat"/>
                <a:ea typeface="Montserrat"/>
                <a:cs typeface="Montserrat"/>
                <a:sym typeface="Montserrat"/>
              </a:rPr>
              <a:t>Track record project delivery: Sukses mengelola acara AgriFest dengan 3.000+ peserta dan pendanaan Rp250.000.000, memfasilitasi 251 mahasiswa dari 61 universitas untuk program MBKM, serta mengoordinasikan program magang untuk ratusan siswa dan mahasiswa</a:t>
            </a:r>
            <a:endParaRPr spc="11" sz="1100">
              <a:solidFill>
                <a:schemeClr val="lt1"/>
              </a:solidFill>
              <a:latin typeface="Montserrat"/>
              <a:ea typeface="Montserrat"/>
              <a:cs typeface="Montserrat"/>
              <a:sym typeface="Montserrat"/>
            </a:endParaRPr>
          </a:p>
        </p:txBody>
      </p:sp>
      <p:pic>
        <p:nvPicPr>
          <p:cNvPr id="1329" name="Google Shape;1329;h65eb7c06466a6d01_2_268" title="Lulu.png"/>
          <p:cNvPicPr preferRelativeResize="0"/>
          <p:nvPr/>
        </p:nvPicPr>
        <p:blipFill>
          <a:blip r:embed="rId5">
            <a:alphaModFix/>
          </a:blip>
          <a:stretch>
            <a:fillRect/>
          </a:stretch>
        </p:blipFill>
        <p:spPr>
          <a:xfrm>
            <a:off x="4920938" y="227487"/>
            <a:ext cx="1883326" cy="1883326"/>
          </a:xfrm>
          <a:prstGeom prst="rect">
            <a:avLst/>
          </a:prstGeom>
          <a:noFill/>
          <a:ln>
            <a:noFill/>
          </a:ln>
        </p:spPr>
      </p:pic>
      <p:sp>
        <p:nvSpPr>
          <p:cNvPr id="1330" name="Google Shape;1330;h65eb7c06466a6d01_2_268"/>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1150">
                <a:solidFill>
                  <a:srgbClr val="FFC00C"/>
                </a:solidFill>
                <a:latin typeface="Montserrat"/>
                <a:ea typeface="Montserrat"/>
                <a:cs typeface="Montserrat"/>
                <a:sym typeface="Montserrat"/>
              </a:rPr>
              <a:t>TIM</a:t>
            </a:r>
            <a:endParaRPr/>
          </a:p>
        </p:txBody>
      </p:sp>
      <p:sp>
        <p:nvSpPr>
          <p:cNvPr id="1331" name="Google Shape;1331;h65eb7c06466a6d01_2_268"/>
          <p:cNvSpPr txBox="1"/>
          <p:nvPr/>
        </p:nvSpPr>
        <p:spPr>
          <a:xfrm>
            <a:off x="594350" y="658375"/>
            <a:ext cx="103317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2800">
                <a:solidFill>
                  <a:srgbClr val="FFFFFF"/>
                </a:solidFill>
                <a:latin typeface="Montserrat ExtraBold"/>
                <a:ea typeface="Montserrat ExtraBold"/>
                <a:cs typeface="Montserrat ExtraBold"/>
                <a:sym typeface="Montserrat ExtraBold"/>
              </a:rPr>
              <a:t>Konsultan</a:t>
            </a:r>
            <a:endParaRPr sz="28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35" name="Shape 1335"/>
        <p:cNvGrpSpPr/>
        <p:nvPr/>
      </p:nvGrpSpPr>
      <p:grpSpPr>
        <a:xfrm>
          <a:off x="0" y="0"/>
          <a:ext cx="0" cy="0"/>
          <a:chOff x="0" y="0"/>
          <a:chExt cx="0" cy="0"/>
        </a:xfrm>
      </p:grpSpPr>
      <p:sp>
        <p:nvSpPr>
          <p:cNvPr id="1336" name="Google Shape;1336;h2fef75e91d461226_11_0"/>
          <p:cNvSpPr txBox="1"/>
          <p:nvPr/>
        </p:nvSpPr>
        <p:spPr>
          <a:xfrm>
            <a:off x="943975" y="2353775"/>
            <a:ext cx="4856400" cy="4009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400"/>
              </a:spcBef>
              <a:spcAft>
                <a:spcPts val="0"/>
              </a:spcAft>
              <a:buNone/>
            </a:pPr>
            <a:r>
              <a:rPr b="1" lang="en-US" spc="14">
                <a:solidFill>
                  <a:srgbClr val="004F8A"/>
                </a:solidFill>
              </a:rPr>
              <a:t>Dwi Andi Rohmatika</a:t>
            </a:r>
            <a:endParaRPr b="1" spc="14">
              <a:solidFill>
                <a:srgbClr val="004F8A"/>
              </a:solidFill>
            </a:endParaRPr>
          </a:p>
          <a:p>
            <a:pPr indent="0" lvl="0" marL="0" rtl="0" algn="ctr">
              <a:lnSpc>
                <a:spcPct val="150000"/>
              </a:lnSpc>
              <a:spcBef>
                <a:spcPts val="1400"/>
              </a:spcBef>
              <a:spcAft>
                <a:spcPts val="0"/>
              </a:spcAft>
              <a:buNone/>
            </a:pPr>
            <a:r>
              <a:rPr b="1" lang="en-US" spc="11" sz="1100">
                <a:solidFill>
                  <a:srgbClr val="004F8A"/>
                </a:solidFill>
              </a:rPr>
              <a:t>MBA Judge Business School,</a:t>
            </a:r>
            <a:endParaRPr b="1" spc="11" sz="1100">
              <a:solidFill>
                <a:srgbClr val="004F8A"/>
              </a:solidFill>
            </a:endParaRPr>
          </a:p>
          <a:p>
            <a:pPr indent="0" lvl="0" marL="0" rtl="0" algn="ctr">
              <a:lnSpc>
                <a:spcPct val="150000"/>
              </a:lnSpc>
              <a:spcBef>
                <a:spcPts val="1100"/>
              </a:spcBef>
              <a:spcAft>
                <a:spcPts val="0"/>
              </a:spcAft>
              <a:buNone/>
            </a:pPr>
            <a:r>
              <a:rPr b="1" lang="en-US" spc="11" sz="1100">
                <a:solidFill>
                  <a:srgbClr val="004F8A"/>
                </a:solidFill>
              </a:rPr>
              <a:t>University of Cambridge</a:t>
            </a:r>
            <a:endParaRPr b="1" spc="11" sz="1100">
              <a:solidFill>
                <a:srgbClr val="004F8A"/>
              </a:solidFill>
            </a:endParaRPr>
          </a:p>
          <a:p>
            <a:pPr indent="0" lvl="0" marL="0" rtl="0" algn="ctr">
              <a:lnSpc>
                <a:spcPct val="150000"/>
              </a:lnSpc>
              <a:spcBef>
                <a:spcPts val="1100"/>
              </a:spcBef>
              <a:spcAft>
                <a:spcPts val="0"/>
              </a:spcAft>
              <a:buNone/>
            </a:pPr>
            <a:r>
              <a:rPr lang="en-US" spc="11" sz="1100">
                <a:solidFill>
                  <a:srgbClr val="004F8A"/>
                </a:solidFill>
              </a:rPr>
              <a:t>Currently | CEO &amp; Founder | Indonesian</a:t>
            </a:r>
            <a:endParaRPr spc="11" sz="1100">
              <a:solidFill>
                <a:srgbClr val="004F8A"/>
              </a:solidFill>
            </a:endParaRPr>
          </a:p>
          <a:p>
            <a:pPr indent="-298450" lvl="0" marL="457200" rtl="0" algn="l">
              <a:lnSpc>
                <a:spcPct val="150000"/>
              </a:lnSpc>
              <a:spcBef>
                <a:spcPts val="1100"/>
              </a:spcBef>
              <a:spcAft>
                <a:spcPts val="0"/>
              </a:spcAft>
              <a:buClr>
                <a:srgbClr val="004F8A"/>
              </a:buClr>
              <a:buSzPts val="1100"/>
              <a:buChar char="●"/>
            </a:pPr>
            <a:r>
              <a:rPr lang="en-US" spc="11" sz="1100">
                <a:solidFill>
                  <a:srgbClr val="004F8A"/>
                </a:solidFill>
              </a:rPr>
              <a:t>Graduate from UGM; MBA of Judge Business School, University of Cambridge</a:t>
            </a:r>
            <a:endParaRPr spc="11" sz="1100">
              <a:solidFill>
                <a:srgbClr val="004F8A"/>
              </a:solidFill>
            </a:endParaRPr>
          </a:p>
          <a:p>
            <a:pPr indent="-298450" lvl="0" marL="457200" rtl="0" algn="l">
              <a:lnSpc>
                <a:spcPct val="150000"/>
              </a:lnSpc>
              <a:spcBef>
                <a:spcPts val="0"/>
              </a:spcBef>
              <a:spcAft>
                <a:spcPts val="0"/>
              </a:spcAft>
              <a:buClr>
                <a:srgbClr val="004F8A"/>
              </a:buClr>
              <a:buSzPts val="1100"/>
              <a:buChar char="●"/>
            </a:pPr>
            <a:r>
              <a:rPr lang="en-US" spc="11" sz="1100">
                <a:solidFill>
                  <a:srgbClr val="004F8A"/>
                </a:solidFill>
              </a:rPr>
              <a:t>Previously worked at ConocoPhillips Indonesia, eFishery, Payfazz (Fazz), and Schoters | Affiliated speaker with Glints, MariBelajar, PengajarBelajar</a:t>
            </a:r>
            <a:endParaRPr spc="11" sz="1100">
              <a:solidFill>
                <a:srgbClr val="004F8A"/>
              </a:solidFill>
            </a:endParaRPr>
          </a:p>
          <a:p>
            <a:pPr indent="-298450" lvl="0" marL="457200" rtl="0" algn="l">
              <a:lnSpc>
                <a:spcPct val="150000"/>
              </a:lnSpc>
              <a:spcBef>
                <a:spcPts val="0"/>
              </a:spcBef>
              <a:spcAft>
                <a:spcPts val="0"/>
              </a:spcAft>
              <a:buClr>
                <a:srgbClr val="004F8A"/>
              </a:buClr>
              <a:buSzPts val="1100"/>
              <a:buChar char="●"/>
            </a:pPr>
            <a:r>
              <a:rPr lang="en-US" spc="11" sz="1100">
                <a:solidFill>
                  <a:srgbClr val="004F8A"/>
                </a:solidFill>
              </a:rPr>
              <a:t>Specialized in Organizational and People Development, Operations (manage 90+ team members across South East Asia), Customer Insights, Product Incubation &amp; Development, Project Management</a:t>
            </a:r>
            <a:endParaRPr spc="11" sz="1100">
              <a:solidFill>
                <a:srgbClr val="004F8A"/>
              </a:solidFill>
            </a:endParaRPr>
          </a:p>
        </p:txBody>
      </p:sp>
      <p:sp>
        <p:nvSpPr>
          <p:cNvPr id="1337" name="Google Shape;1337;h2fef75e91d461226_11_0"/>
          <p:cNvSpPr txBox="1"/>
          <p:nvPr/>
        </p:nvSpPr>
        <p:spPr>
          <a:xfrm>
            <a:off x="6699850" y="2297375"/>
            <a:ext cx="4787100" cy="45171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400"/>
              </a:spcBef>
              <a:spcAft>
                <a:spcPts val="0"/>
              </a:spcAft>
              <a:buNone/>
            </a:pPr>
            <a:r>
              <a:rPr b="1" lang="en-US" spc="14">
                <a:solidFill>
                  <a:srgbClr val="004F8A"/>
                </a:solidFill>
              </a:rPr>
              <a:t>Muhammad Muchson Attoyib</a:t>
            </a:r>
            <a:endParaRPr b="1" spc="14">
              <a:solidFill>
                <a:srgbClr val="004F8A"/>
              </a:solidFill>
            </a:endParaRPr>
          </a:p>
          <a:p>
            <a:pPr indent="0" lvl="0" marL="0" rtl="0" algn="ctr">
              <a:lnSpc>
                <a:spcPct val="150000"/>
              </a:lnSpc>
              <a:spcBef>
                <a:spcPts val="1400"/>
              </a:spcBef>
              <a:spcAft>
                <a:spcPts val="0"/>
              </a:spcAft>
              <a:buNone/>
            </a:pPr>
            <a:r>
              <a:rPr b="1" lang="en-US" spc="11" sz="1100">
                <a:solidFill>
                  <a:srgbClr val="004F8A"/>
                </a:solidFill>
              </a:rPr>
              <a:t>Master in Vocational Education (UM); </a:t>
            </a:r>
            <a:endParaRPr b="1" spc="11" sz="1100">
              <a:solidFill>
                <a:srgbClr val="004F8A"/>
              </a:solidFill>
            </a:endParaRPr>
          </a:p>
          <a:p>
            <a:pPr indent="0" lvl="0" marL="0" rtl="0" algn="ctr">
              <a:lnSpc>
                <a:spcPct val="150000"/>
              </a:lnSpc>
              <a:spcBef>
                <a:spcPts val="1100"/>
              </a:spcBef>
              <a:spcAft>
                <a:spcPts val="0"/>
              </a:spcAft>
              <a:buNone/>
            </a:pPr>
            <a:r>
              <a:rPr b="1" lang="en-US" spc="11" sz="1100">
                <a:solidFill>
                  <a:srgbClr val="004F8A"/>
                </a:solidFill>
              </a:rPr>
              <a:t>Bachelor in Informatics Education (UM) </a:t>
            </a:r>
            <a:endParaRPr b="1" spc="11" sz="1100">
              <a:solidFill>
                <a:srgbClr val="004F8A"/>
              </a:solidFill>
            </a:endParaRPr>
          </a:p>
          <a:p>
            <a:pPr indent="0" lvl="0" marL="0" rtl="0" algn="ctr">
              <a:lnSpc>
                <a:spcPct val="150000"/>
              </a:lnSpc>
              <a:spcBef>
                <a:spcPts val="1100"/>
              </a:spcBef>
              <a:spcAft>
                <a:spcPts val="0"/>
              </a:spcAft>
              <a:buNone/>
            </a:pPr>
            <a:r>
              <a:rPr b="1" lang="en-US" spc="11" sz="1100">
                <a:solidFill>
                  <a:srgbClr val="004F8A"/>
                </a:solidFill>
              </a:rPr>
              <a:t>Currently | Head of Academic / Technical Lead | Indonesian </a:t>
            </a:r>
            <a:endParaRPr b="1" spc="11" sz="1100">
              <a:solidFill>
                <a:srgbClr val="004F8A"/>
              </a:solidFill>
            </a:endParaRPr>
          </a:p>
          <a:p>
            <a:pPr indent="-298450" lvl="0" marL="457200" rtl="0" algn="l">
              <a:lnSpc>
                <a:spcPct val="150000"/>
              </a:lnSpc>
              <a:spcBef>
                <a:spcPts val="1100"/>
              </a:spcBef>
              <a:spcAft>
                <a:spcPts val="0"/>
              </a:spcAft>
              <a:buClr>
                <a:srgbClr val="004F8A"/>
              </a:buClr>
              <a:buSzPts val="1100"/>
              <a:buChar char="●"/>
            </a:pPr>
            <a:r>
              <a:rPr lang="en-US" spc="11" sz="1100">
                <a:solidFill>
                  <a:srgbClr val="004F8A"/>
                </a:solidFill>
              </a:rPr>
              <a:t>5+ tahun membangun &amp; men-deliver aplikasi web/mobile end-to-end: React, Next.js, Node.js, Laravel, Flutter, REST/GraphQL, Docker</a:t>
            </a:r>
            <a:endParaRPr spc="11" sz="1100">
              <a:solidFill>
                <a:srgbClr val="004F8A"/>
              </a:solidFill>
            </a:endParaRPr>
          </a:p>
          <a:p>
            <a:pPr indent="-298450" lvl="0" marL="457200" rtl="0" algn="l">
              <a:lnSpc>
                <a:spcPct val="150000"/>
              </a:lnSpc>
              <a:spcBef>
                <a:spcPts val="0"/>
              </a:spcBef>
              <a:spcAft>
                <a:spcPts val="0"/>
              </a:spcAft>
              <a:buClr>
                <a:srgbClr val="004F8A"/>
              </a:buClr>
              <a:buSzPts val="1100"/>
              <a:buChar char="●"/>
            </a:pPr>
            <a:r>
              <a:rPr lang="en-US" spc="11" sz="1100">
                <a:solidFill>
                  <a:srgbClr val="004F8A"/>
                </a:solidFill>
              </a:rPr>
              <a:t>Spesialisasi AI Automation &amp; LLM integration (n8n, RAG, Vector DB, LLM-as-a-judge) — bangun AI Agent CS/Sales terintegrasi Telegram untuk operasional bisnis</a:t>
            </a:r>
            <a:endParaRPr spc="11" sz="1100">
              <a:solidFill>
                <a:srgbClr val="004F8A"/>
              </a:solidFill>
            </a:endParaRPr>
          </a:p>
          <a:p>
            <a:pPr indent="-298450" lvl="0" marL="457200" rtl="0" algn="l">
              <a:lnSpc>
                <a:spcPct val="150000"/>
              </a:lnSpc>
              <a:spcBef>
                <a:spcPts val="0"/>
              </a:spcBef>
              <a:spcAft>
                <a:spcPts val="0"/>
              </a:spcAft>
              <a:buClr>
                <a:srgbClr val="004F8A"/>
              </a:buClr>
              <a:buSzPts val="1100"/>
              <a:buChar char="●"/>
            </a:pPr>
            <a:r>
              <a:rPr lang="en-US" spc="11" sz="1100">
                <a:solidFill>
                  <a:srgbClr val="004F8A"/>
                </a:solidFill>
              </a:rPr>
              <a:t>Previously: Alterra Academy, Digital Talent Indonesia (Komdigi), AI Talent Factory — kelola LMS 1.000+ user &amp; pimpin bootcamp Front-End dari nol</a:t>
            </a:r>
            <a:endParaRPr spc="11" sz="1100">
              <a:solidFill>
                <a:srgbClr val="004F8A"/>
              </a:solidFill>
            </a:endParaRPr>
          </a:p>
          <a:p>
            <a:pPr indent="-298450" lvl="0" marL="457200" rtl="0" algn="l">
              <a:lnSpc>
                <a:spcPct val="150000"/>
              </a:lnSpc>
              <a:spcBef>
                <a:spcPts val="0"/>
              </a:spcBef>
              <a:spcAft>
                <a:spcPts val="0"/>
              </a:spcAft>
              <a:buClr>
                <a:srgbClr val="004F8A"/>
              </a:buClr>
              <a:buSzPts val="1100"/>
              <a:buChar char="●"/>
            </a:pPr>
            <a:r>
              <a:rPr lang="en-US" spc="11" sz="1100">
                <a:solidFill>
                  <a:srgbClr val="004F8A"/>
                </a:solidFill>
              </a:rPr>
              <a:t>Track record project delivery: 4+ project skala nasional, 400+ peserta, graduation rate 97%, kepuasan 4.8–4.9/5</a:t>
            </a:r>
            <a:endParaRPr spc="11" sz="1100">
              <a:solidFill>
                <a:srgbClr val="004F8A"/>
              </a:solidFill>
            </a:endParaRPr>
          </a:p>
        </p:txBody>
      </p:sp>
      <p:pic>
        <p:nvPicPr>
          <p:cNvPr id="1338" name="Google Shape;1338;h2fef75e91d461226_11_0" title="DA.png"/>
          <p:cNvPicPr preferRelativeResize="0"/>
          <p:nvPr/>
        </p:nvPicPr>
        <p:blipFill>
          <a:blip r:embed="rId3">
            <a:alphaModFix/>
          </a:blip>
          <a:stretch>
            <a:fillRect/>
          </a:stretch>
        </p:blipFill>
        <p:spPr>
          <a:xfrm>
            <a:off x="2347688" y="248400"/>
            <a:ext cx="2048976" cy="2048976"/>
          </a:xfrm>
          <a:prstGeom prst="rect">
            <a:avLst/>
          </a:prstGeom>
          <a:noFill/>
          <a:ln>
            <a:noFill/>
          </a:ln>
        </p:spPr>
      </p:pic>
      <p:pic>
        <p:nvPicPr>
          <p:cNvPr id="1339" name="Google Shape;1339;h2fef75e91d461226_11_0" title="Sanggabiz - Pitchdeck SFI 2026.png"/>
          <p:cNvPicPr preferRelativeResize="0"/>
          <p:nvPr/>
        </p:nvPicPr>
        <p:blipFill>
          <a:blip r:embed="rId4">
            <a:alphaModFix/>
          </a:blip>
          <a:stretch>
            <a:fillRect/>
          </a:stretch>
        </p:blipFill>
        <p:spPr>
          <a:xfrm>
            <a:off x="7781039" y="172200"/>
            <a:ext cx="2624716" cy="2201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43" name="Shape 1343"/>
        <p:cNvGrpSpPr/>
        <p:nvPr/>
      </p:nvGrpSpPr>
      <p:grpSpPr>
        <a:xfrm>
          <a:off x="0" y="0"/>
          <a:ext cx="0" cy="0"/>
          <a:chOff x="0" y="0"/>
          <a:chExt cx="0" cy="0"/>
        </a:xfrm>
      </p:grpSpPr>
      <p:sp>
        <p:nvSpPr>
          <p:cNvPr id="1344" name="Google Shape;1344;h65eb7c06466a6d01_2_183"/>
          <p:cNvSpPr txBox="1"/>
          <p:nvPr/>
        </p:nvSpPr>
        <p:spPr>
          <a:xfrm>
            <a:off x="966725" y="2114925"/>
            <a:ext cx="4856400" cy="450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1400"/>
              </a:spcBef>
              <a:spcAft>
                <a:spcPts val="0"/>
              </a:spcAft>
              <a:buNone/>
            </a:pPr>
            <a:r>
              <a:rPr b="1" lang="en-US" spc="14">
                <a:solidFill>
                  <a:srgbClr val="004F8A"/>
                </a:solidFill>
              </a:rPr>
              <a:t>Lu'lu' Al Adhliyani</a:t>
            </a:r>
            <a:endParaRPr b="1" spc="14">
              <a:solidFill>
                <a:srgbClr val="004F8A"/>
              </a:solidFill>
            </a:endParaRPr>
          </a:p>
          <a:p>
            <a:pPr indent="0" lvl="0" marL="0" rtl="0" algn="ctr">
              <a:lnSpc>
                <a:spcPct val="150000"/>
              </a:lnSpc>
              <a:spcBef>
                <a:spcPts val="1400"/>
              </a:spcBef>
              <a:spcAft>
                <a:spcPts val="0"/>
              </a:spcAft>
              <a:buNone/>
            </a:pPr>
            <a:r>
              <a:rPr b="1" lang="en-US" spc="11" sz="1100">
                <a:solidFill>
                  <a:srgbClr val="004F8A"/>
                </a:solidFill>
              </a:rPr>
              <a:t>Sarjana Pertanian (S.P), Ekonomi Pertanian </a:t>
            </a:r>
            <a:endParaRPr b="1" spc="11" sz="1100">
              <a:solidFill>
                <a:srgbClr val="004F8A"/>
              </a:solidFill>
            </a:endParaRPr>
          </a:p>
          <a:p>
            <a:pPr indent="0" lvl="0" marL="0" rtl="0" algn="ctr">
              <a:lnSpc>
                <a:spcPct val="150000"/>
              </a:lnSpc>
              <a:spcBef>
                <a:spcPts val="1100"/>
              </a:spcBef>
              <a:spcAft>
                <a:spcPts val="0"/>
              </a:spcAft>
              <a:buNone/>
            </a:pPr>
            <a:r>
              <a:rPr b="1" lang="en-US" spc="11" sz="1100">
                <a:solidFill>
                  <a:srgbClr val="004F8A"/>
                </a:solidFill>
              </a:rPr>
              <a:t>Universitas Gadjah Mada</a:t>
            </a:r>
            <a:endParaRPr b="1" spc="11" sz="1100">
              <a:solidFill>
                <a:srgbClr val="004F8A"/>
              </a:solidFill>
            </a:endParaRPr>
          </a:p>
          <a:p>
            <a:pPr indent="0" lvl="0" marL="0" rtl="0" algn="ctr">
              <a:lnSpc>
                <a:spcPct val="150000"/>
              </a:lnSpc>
              <a:spcBef>
                <a:spcPts val="1100"/>
              </a:spcBef>
              <a:spcAft>
                <a:spcPts val="0"/>
              </a:spcAft>
              <a:buNone/>
            </a:pPr>
            <a:r>
              <a:rPr lang="en-US" spc="11" sz="1100">
                <a:solidFill>
                  <a:srgbClr val="004F8A"/>
                </a:solidFill>
              </a:rPr>
              <a:t>Currently | Academic Product Manager Trainee di Sanggabiz | Indonesian</a:t>
            </a:r>
            <a:endParaRPr spc="11" sz="1100">
              <a:solidFill>
                <a:srgbClr val="004F8A"/>
              </a:solidFill>
            </a:endParaRPr>
          </a:p>
          <a:p>
            <a:pPr indent="-298450" lvl="0" marL="457200" rtl="0" algn="l">
              <a:lnSpc>
                <a:spcPct val="115000"/>
              </a:lnSpc>
              <a:spcBef>
                <a:spcPts val="1100"/>
              </a:spcBef>
              <a:spcAft>
                <a:spcPts val="0"/>
              </a:spcAft>
              <a:buClr>
                <a:srgbClr val="004F8A"/>
              </a:buClr>
              <a:buSzPts val="1100"/>
              <a:buChar char="●"/>
            </a:pPr>
            <a:r>
              <a:rPr lang="en-US" spc="11" sz="1100">
                <a:solidFill>
                  <a:srgbClr val="004F8A"/>
                </a:solidFill>
              </a:rPr>
              <a:t>Berpengalaman luas dalam Training and Development (HR), Product Management, dan Event Management</a:t>
            </a:r>
            <a:endParaRPr spc="11" sz="1100">
              <a:solidFill>
                <a:srgbClr val="004F8A"/>
              </a:solidFill>
            </a:endParaRPr>
          </a:p>
          <a:p>
            <a:pPr indent="-298450" lvl="0" marL="457200" rtl="0" algn="l">
              <a:lnSpc>
                <a:spcPct val="115000"/>
              </a:lnSpc>
              <a:spcBef>
                <a:spcPts val="0"/>
              </a:spcBef>
              <a:spcAft>
                <a:spcPts val="0"/>
              </a:spcAft>
              <a:buClr>
                <a:srgbClr val="004F8A"/>
              </a:buClr>
              <a:buSzPts val="1100"/>
              <a:buChar char="●"/>
            </a:pPr>
            <a:r>
              <a:rPr lang="en-US" spc="11" sz="1100">
                <a:solidFill>
                  <a:srgbClr val="004F8A"/>
                </a:solidFill>
              </a:rPr>
              <a:t>Spesialisasi pengembangan program akademi dan pelatihan, perancangan kurikulum (learning journey), kemitraan pendidikan, serta pengelolaan acara berskala besar</a:t>
            </a:r>
            <a:endParaRPr spc="11" sz="1100">
              <a:solidFill>
                <a:srgbClr val="004F8A"/>
              </a:solidFill>
            </a:endParaRPr>
          </a:p>
          <a:p>
            <a:pPr indent="-298450" lvl="0" marL="457200" rtl="0" algn="l">
              <a:lnSpc>
                <a:spcPct val="115000"/>
              </a:lnSpc>
              <a:spcBef>
                <a:spcPts val="0"/>
              </a:spcBef>
              <a:spcAft>
                <a:spcPts val="0"/>
              </a:spcAft>
              <a:buClr>
                <a:srgbClr val="004F8A"/>
              </a:buClr>
              <a:buSzPts val="1100"/>
              <a:buChar char="●"/>
            </a:pPr>
            <a:r>
              <a:rPr lang="en-US" spc="11" sz="1100">
                <a:solidFill>
                  <a:srgbClr val="004F8A"/>
                </a:solidFill>
              </a:rPr>
              <a:t>Previously: Pusat Inovasi Agroteknologi (PIAT) UGM (Field Coordinator &amp; Organizing Committee), Skill Academy by Ruangguru, Dompet Dhuafa, dan Universitas Gadjah Mada (Panitia MBKM &amp; Tim Teknis)</a:t>
            </a:r>
            <a:endParaRPr spc="11" sz="1100">
              <a:solidFill>
                <a:srgbClr val="004F8A"/>
              </a:solidFill>
            </a:endParaRPr>
          </a:p>
          <a:p>
            <a:pPr indent="-298450" lvl="0" marL="457200" rtl="0" algn="l">
              <a:lnSpc>
                <a:spcPct val="115000"/>
              </a:lnSpc>
              <a:spcBef>
                <a:spcPts val="0"/>
              </a:spcBef>
              <a:spcAft>
                <a:spcPts val="0"/>
              </a:spcAft>
              <a:buClr>
                <a:srgbClr val="004F8A"/>
              </a:buClr>
              <a:buSzPts val="1100"/>
              <a:buChar char="●"/>
            </a:pPr>
            <a:r>
              <a:rPr lang="en-US" spc="11" sz="1100">
                <a:solidFill>
                  <a:srgbClr val="004F8A"/>
                </a:solidFill>
              </a:rPr>
              <a:t>Track record project delivery: Sukses mengelola acara AgriFest dengan 3.000+ peserta dan pendanaan Rp250.000.000, memfasilitasi 251 mahasiswa dari 61 universitas untuk program MBKM, serta mengoordinasikan program magang untuk ratusan siswa dan mahasiswa</a:t>
            </a:r>
            <a:endParaRPr spc="11" sz="1100">
              <a:solidFill>
                <a:srgbClr val="004F8A"/>
              </a:solidFill>
            </a:endParaRPr>
          </a:p>
        </p:txBody>
      </p:sp>
      <p:sp>
        <p:nvSpPr>
          <p:cNvPr id="1345" name="Google Shape;1345;h65eb7c06466a6d01_2_18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346" name="Google Shape;1346;h65eb7c06466a6d01_2_183" title="Lulu.png"/>
          <p:cNvPicPr preferRelativeResize="0"/>
          <p:nvPr/>
        </p:nvPicPr>
        <p:blipFill>
          <a:blip r:embed="rId3">
            <a:alphaModFix/>
          </a:blip>
          <a:stretch>
            <a:fillRect/>
          </a:stretch>
        </p:blipFill>
        <p:spPr>
          <a:xfrm>
            <a:off x="2453263" y="158900"/>
            <a:ext cx="1883326" cy="18833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350" name="Shape 1350"/>
        <p:cNvGrpSpPr/>
        <p:nvPr/>
      </p:nvGrpSpPr>
      <p:grpSpPr>
        <a:xfrm>
          <a:off x="0" y="0"/>
          <a:ext cx="0" cy="0"/>
          <a:chOff x="0" y="0"/>
          <a:chExt cx="0" cy="0"/>
        </a:xfrm>
      </p:grpSpPr>
      <p:pic>
        <p:nvPicPr>
          <p:cNvPr descr="logo_white.png" id="1351" name="Google Shape;1351;h69a5e3ff789ebc32_1_1773"/>
          <p:cNvPicPr preferRelativeResize="0"/>
          <p:nvPr/>
        </p:nvPicPr>
        <p:blipFill rotWithShape="1">
          <a:blip r:embed="rId3">
            <a:alphaModFix/>
          </a:blip>
          <a:srcRect b="0" l="0" r="0" t="0"/>
          <a:stretch/>
        </p:blipFill>
        <p:spPr>
          <a:xfrm>
            <a:off x="594360" y="6419088"/>
            <a:ext cx="1201596" cy="237744"/>
          </a:xfrm>
          <a:prstGeom prst="rect">
            <a:avLst/>
          </a:prstGeom>
          <a:noFill/>
          <a:ln>
            <a:noFill/>
          </a:ln>
        </p:spPr>
      </p:pic>
      <p:sp>
        <p:nvSpPr>
          <p:cNvPr id="1352" name="Google Shape;1352;h69a5e3ff789ebc32_1_1773"/>
          <p:cNvSpPr txBox="1"/>
          <p:nvPr/>
        </p:nvSpPr>
        <p:spPr>
          <a:xfrm>
            <a:off x="1920240" y="6455664"/>
            <a:ext cx="68580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00">
                <a:solidFill>
                  <a:srgbClr val="B0C0CF"/>
                </a:solidFill>
                <a:latin typeface="Montserrat"/>
                <a:ea typeface="Montserrat"/>
                <a:cs typeface="Montserrat"/>
                <a:sym typeface="Montserrat"/>
              </a:rPr>
              <a:t>Proposal Teknis  ·  RFP No. 0648/TF-JKT/VIII/2026  ·  Tanoto Foundation</a:t>
            </a:r>
            <a:endParaRPr/>
          </a:p>
        </p:txBody>
      </p:sp>
      <p:sp>
        <p:nvSpPr>
          <p:cNvPr id="1353" name="Google Shape;1353;h69a5e3ff789ebc32_1_1773"/>
          <p:cNvSpPr txBox="1"/>
          <p:nvPr/>
        </p:nvSpPr>
        <p:spPr>
          <a:xfrm>
            <a:off x="10682935" y="6455664"/>
            <a:ext cx="914400" cy="15390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US" sz="1000">
                <a:solidFill>
                  <a:srgbClr val="FFC00C"/>
                </a:solidFill>
                <a:latin typeface="Montserrat"/>
                <a:ea typeface="Montserrat"/>
                <a:cs typeface="Montserrat"/>
                <a:sym typeface="Montserrat"/>
              </a:rPr>
              <a:t>29</a:t>
            </a:r>
            <a:endParaRPr/>
          </a:p>
        </p:txBody>
      </p:sp>
      <p:sp>
        <p:nvSpPr>
          <p:cNvPr id="1354" name="Google Shape;1354;h69a5e3ff789ebc32_1_1773"/>
          <p:cNvSpPr txBox="1"/>
          <p:nvPr/>
        </p:nvSpPr>
        <p:spPr>
          <a:xfrm>
            <a:off x="594360" y="384048"/>
            <a:ext cx="11003100" cy="177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150">
                <a:solidFill>
                  <a:srgbClr val="FFC00C"/>
                </a:solidFill>
                <a:latin typeface="Montserrat"/>
                <a:ea typeface="Montserrat"/>
                <a:cs typeface="Montserrat"/>
                <a:sym typeface="Montserrat"/>
              </a:rPr>
              <a:t>PERSYARATAN KELEMBAGAAN (RFP BAGIAN D)</a:t>
            </a:r>
            <a:endParaRPr/>
          </a:p>
        </p:txBody>
      </p:sp>
      <p:sp>
        <p:nvSpPr>
          <p:cNvPr id="1355" name="Google Shape;1355;h69a5e3ff789ebc32_1_1773"/>
          <p:cNvSpPr txBox="1"/>
          <p:nvPr/>
        </p:nvSpPr>
        <p:spPr>
          <a:xfrm>
            <a:off x="594360" y="658368"/>
            <a:ext cx="110031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800">
                <a:solidFill>
                  <a:srgbClr val="FFFFFF"/>
                </a:solidFill>
                <a:latin typeface="Montserrat ExtraBold"/>
                <a:ea typeface="Montserrat ExtraBold"/>
                <a:cs typeface="Montserrat ExtraBold"/>
                <a:sym typeface="Montserrat ExtraBold"/>
              </a:rPr>
              <a:t>Komitmen kepatuhan dan etika</a:t>
            </a:r>
            <a:endParaRPr/>
          </a:p>
        </p:txBody>
      </p:sp>
      <p:sp>
        <p:nvSpPr>
          <p:cNvPr id="1356" name="Google Shape;1356;h69a5e3ff789ebc32_1_1773"/>
          <p:cNvSpPr/>
          <p:nvPr/>
        </p:nvSpPr>
        <p:spPr>
          <a:xfrm>
            <a:off x="594360" y="1691640"/>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57" name="Google Shape;1357;h69a5e3ff789ebc32_1_1773"/>
          <p:cNvPicPr preferRelativeResize="0"/>
          <p:nvPr/>
        </p:nvPicPr>
        <p:blipFill rotWithShape="1">
          <a:blip r:embed="rId4">
            <a:alphaModFix/>
          </a:blip>
          <a:srcRect b="0" l="0" r="0" t="0"/>
          <a:stretch/>
        </p:blipFill>
        <p:spPr>
          <a:xfrm>
            <a:off x="795528" y="1947672"/>
            <a:ext cx="457200" cy="457200"/>
          </a:xfrm>
          <a:prstGeom prst="rect">
            <a:avLst/>
          </a:prstGeom>
          <a:noFill/>
          <a:ln>
            <a:noFill/>
          </a:ln>
        </p:spPr>
      </p:pic>
      <p:sp>
        <p:nvSpPr>
          <p:cNvPr id="1358" name="Google Shape;1358;h69a5e3ff789ebc32_1_1773"/>
          <p:cNvSpPr txBox="1"/>
          <p:nvPr/>
        </p:nvSpPr>
        <p:spPr>
          <a:xfrm>
            <a:off x="1447915" y="2047260"/>
            <a:ext cx="4434900" cy="1770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Memiliki NPWP dan rekening atas nama lembaga</a:t>
            </a:r>
            <a:endParaRPr/>
          </a:p>
        </p:txBody>
      </p:sp>
      <p:sp>
        <p:nvSpPr>
          <p:cNvPr id="1359" name="Google Shape;1359;h69a5e3ff789ebc32_1_1773"/>
          <p:cNvSpPr/>
          <p:nvPr/>
        </p:nvSpPr>
        <p:spPr>
          <a:xfrm>
            <a:off x="6153912" y="1691640"/>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60" name="Google Shape;1360;h69a5e3ff789ebc32_1_1773"/>
          <p:cNvPicPr preferRelativeResize="0"/>
          <p:nvPr/>
        </p:nvPicPr>
        <p:blipFill rotWithShape="1">
          <a:blip r:embed="rId4">
            <a:alphaModFix/>
          </a:blip>
          <a:srcRect b="0" l="0" r="0" t="0"/>
          <a:stretch/>
        </p:blipFill>
        <p:spPr>
          <a:xfrm>
            <a:off x="6355080" y="1947672"/>
            <a:ext cx="457200" cy="457200"/>
          </a:xfrm>
          <a:prstGeom prst="rect">
            <a:avLst/>
          </a:prstGeom>
          <a:noFill/>
          <a:ln>
            <a:noFill/>
          </a:ln>
        </p:spPr>
      </p:pic>
      <p:sp>
        <p:nvSpPr>
          <p:cNvPr id="1361" name="Google Shape;1361;h69a5e3ff789ebc32_1_1773"/>
          <p:cNvSpPr txBox="1"/>
          <p:nvPr/>
        </p:nvSpPr>
        <p:spPr>
          <a:xfrm>
            <a:off x="7007467" y="2047260"/>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Tidak ada catatan pelanggaran hak anak, kekerasan, pelecehan, diskriminasi, atau eksploitasi anak</a:t>
            </a:r>
            <a:endParaRPr/>
          </a:p>
        </p:txBody>
      </p:sp>
      <p:sp>
        <p:nvSpPr>
          <p:cNvPr id="1362" name="Google Shape;1362;h69a5e3ff789ebc32_1_1773"/>
          <p:cNvSpPr/>
          <p:nvPr/>
        </p:nvSpPr>
        <p:spPr>
          <a:xfrm>
            <a:off x="594360" y="2788920"/>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63" name="Google Shape;1363;h69a5e3ff789ebc32_1_1773"/>
          <p:cNvPicPr preferRelativeResize="0"/>
          <p:nvPr/>
        </p:nvPicPr>
        <p:blipFill rotWithShape="1">
          <a:blip r:embed="rId4">
            <a:alphaModFix/>
          </a:blip>
          <a:srcRect b="0" l="0" r="0" t="0"/>
          <a:stretch/>
        </p:blipFill>
        <p:spPr>
          <a:xfrm>
            <a:off x="795528" y="3044952"/>
            <a:ext cx="457200" cy="457200"/>
          </a:xfrm>
          <a:prstGeom prst="rect">
            <a:avLst/>
          </a:prstGeom>
          <a:noFill/>
          <a:ln>
            <a:noFill/>
          </a:ln>
        </p:spPr>
      </p:pic>
      <p:sp>
        <p:nvSpPr>
          <p:cNvPr id="1364" name="Google Shape;1364;h69a5e3ff789ebc32_1_1773"/>
          <p:cNvSpPr txBox="1"/>
          <p:nvPr/>
        </p:nvSpPr>
        <p:spPr>
          <a:xfrm>
            <a:off x="1447915" y="3144539"/>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Tidak terlibat, berafiliasi, atau menerima pendanaan dari partai politik dan organisasi terlarang</a:t>
            </a:r>
            <a:endParaRPr/>
          </a:p>
        </p:txBody>
      </p:sp>
      <p:sp>
        <p:nvSpPr>
          <p:cNvPr id="1365" name="Google Shape;1365;h69a5e3ff789ebc32_1_1773"/>
          <p:cNvSpPr/>
          <p:nvPr/>
        </p:nvSpPr>
        <p:spPr>
          <a:xfrm>
            <a:off x="6153912" y="2788920"/>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66" name="Google Shape;1366;h69a5e3ff789ebc32_1_1773"/>
          <p:cNvPicPr preferRelativeResize="0"/>
          <p:nvPr/>
        </p:nvPicPr>
        <p:blipFill rotWithShape="1">
          <a:blip r:embed="rId4">
            <a:alphaModFix/>
          </a:blip>
          <a:srcRect b="0" l="0" r="0" t="0"/>
          <a:stretch/>
        </p:blipFill>
        <p:spPr>
          <a:xfrm>
            <a:off x="6355080" y="3044952"/>
            <a:ext cx="457200" cy="457200"/>
          </a:xfrm>
          <a:prstGeom prst="rect">
            <a:avLst/>
          </a:prstGeom>
          <a:noFill/>
          <a:ln>
            <a:noFill/>
          </a:ln>
        </p:spPr>
      </p:pic>
      <p:sp>
        <p:nvSpPr>
          <p:cNvPr id="1367" name="Google Shape;1367;h69a5e3ff789ebc32_1_1773"/>
          <p:cNvSpPr txBox="1"/>
          <p:nvPr/>
        </p:nvSpPr>
        <p:spPr>
          <a:xfrm>
            <a:off x="7007467" y="3144539"/>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Tidak menerima pendanaan dari perusahaan rokok, perjudian, atau susu formula selama kemitraan</a:t>
            </a:r>
            <a:endParaRPr/>
          </a:p>
        </p:txBody>
      </p:sp>
      <p:sp>
        <p:nvSpPr>
          <p:cNvPr id="1368" name="Google Shape;1368;h69a5e3ff789ebc32_1_1773"/>
          <p:cNvSpPr/>
          <p:nvPr/>
        </p:nvSpPr>
        <p:spPr>
          <a:xfrm>
            <a:off x="594360" y="3886200"/>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69" name="Google Shape;1369;h69a5e3ff789ebc32_1_1773"/>
          <p:cNvPicPr preferRelativeResize="0"/>
          <p:nvPr/>
        </p:nvPicPr>
        <p:blipFill rotWithShape="1">
          <a:blip r:embed="rId4">
            <a:alphaModFix/>
          </a:blip>
          <a:srcRect b="0" l="0" r="0" t="0"/>
          <a:stretch/>
        </p:blipFill>
        <p:spPr>
          <a:xfrm>
            <a:off x="795528" y="4142232"/>
            <a:ext cx="457200" cy="457200"/>
          </a:xfrm>
          <a:prstGeom prst="rect">
            <a:avLst/>
          </a:prstGeom>
          <a:noFill/>
          <a:ln>
            <a:noFill/>
          </a:ln>
        </p:spPr>
      </p:pic>
      <p:sp>
        <p:nvSpPr>
          <p:cNvPr id="1370" name="Google Shape;1370;h69a5e3ff789ebc32_1_1773"/>
          <p:cNvSpPr txBox="1"/>
          <p:nvPr/>
        </p:nvSpPr>
        <p:spPr>
          <a:xfrm>
            <a:off x="1447915" y="4241820"/>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Mematuhi kebijakan perlindungan anak, antikorupsi, konflik kepentingan, dan kode etik Tanoto Foundation</a:t>
            </a:r>
            <a:endParaRPr/>
          </a:p>
        </p:txBody>
      </p:sp>
      <p:sp>
        <p:nvSpPr>
          <p:cNvPr id="1371" name="Google Shape;1371;h69a5e3ff789ebc32_1_1773"/>
          <p:cNvSpPr/>
          <p:nvPr/>
        </p:nvSpPr>
        <p:spPr>
          <a:xfrm>
            <a:off x="6153912" y="3886200"/>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72" name="Google Shape;1372;h69a5e3ff789ebc32_1_1773"/>
          <p:cNvPicPr preferRelativeResize="0"/>
          <p:nvPr/>
        </p:nvPicPr>
        <p:blipFill rotWithShape="1">
          <a:blip r:embed="rId4">
            <a:alphaModFix/>
          </a:blip>
          <a:srcRect b="0" l="0" r="0" t="0"/>
          <a:stretch/>
        </p:blipFill>
        <p:spPr>
          <a:xfrm>
            <a:off x="6355080" y="4142232"/>
            <a:ext cx="457200" cy="457200"/>
          </a:xfrm>
          <a:prstGeom prst="rect">
            <a:avLst/>
          </a:prstGeom>
          <a:noFill/>
          <a:ln>
            <a:noFill/>
          </a:ln>
        </p:spPr>
      </p:pic>
      <p:sp>
        <p:nvSpPr>
          <p:cNvPr id="1373" name="Google Shape;1373;h69a5e3ff789ebc32_1_1773"/>
          <p:cNvSpPr txBox="1"/>
          <p:nvPr/>
        </p:nvSpPr>
        <p:spPr>
          <a:xfrm>
            <a:off x="7007467" y="4241820"/>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Menjaga kerahasiaan data dan membatasi data pribadi pada yang benar-benar diperlukan</a:t>
            </a:r>
            <a:endParaRPr/>
          </a:p>
        </p:txBody>
      </p:sp>
      <p:sp>
        <p:nvSpPr>
          <p:cNvPr id="1374" name="Google Shape;1374;h69a5e3ff789ebc32_1_1773"/>
          <p:cNvSpPr/>
          <p:nvPr/>
        </p:nvSpPr>
        <p:spPr>
          <a:xfrm>
            <a:off x="594360" y="4983479"/>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75" name="Google Shape;1375;h69a5e3ff789ebc32_1_1773"/>
          <p:cNvPicPr preferRelativeResize="0"/>
          <p:nvPr/>
        </p:nvPicPr>
        <p:blipFill rotWithShape="1">
          <a:blip r:embed="rId4">
            <a:alphaModFix/>
          </a:blip>
          <a:srcRect b="0" l="0" r="0" t="0"/>
          <a:stretch/>
        </p:blipFill>
        <p:spPr>
          <a:xfrm>
            <a:off x="795528" y="5239512"/>
            <a:ext cx="457200" cy="457200"/>
          </a:xfrm>
          <a:prstGeom prst="rect">
            <a:avLst/>
          </a:prstGeom>
          <a:noFill/>
          <a:ln>
            <a:noFill/>
          </a:ln>
        </p:spPr>
      </p:pic>
      <p:sp>
        <p:nvSpPr>
          <p:cNvPr id="1376" name="Google Shape;1376;h69a5e3ff789ebc32_1_1773"/>
          <p:cNvSpPr txBox="1"/>
          <p:nvPr/>
        </p:nvSpPr>
        <p:spPr>
          <a:xfrm>
            <a:off x="1447915" y="5339099"/>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Tidak mempublikasikan data atau hasil program tanpa persetujuan tertulis TF dan Direktorat PPG</a:t>
            </a:r>
            <a:endParaRPr/>
          </a:p>
        </p:txBody>
      </p:sp>
      <p:sp>
        <p:nvSpPr>
          <p:cNvPr id="1377" name="Google Shape;1377;h69a5e3ff789ebc32_1_1773"/>
          <p:cNvSpPr/>
          <p:nvPr/>
        </p:nvSpPr>
        <p:spPr>
          <a:xfrm>
            <a:off x="6153912" y="4983479"/>
            <a:ext cx="5440800" cy="987600"/>
          </a:xfrm>
          <a:prstGeom prst="roundRect">
            <a:avLst>
              <a:gd fmla="val 18518" name="adj"/>
            </a:avLst>
          </a:prstGeom>
          <a:solidFill>
            <a:srgbClr val="0D2A4E"/>
          </a:solidFill>
          <a:ln cap="flat" cmpd="sng" w="19050">
            <a:solidFill>
              <a:srgbClr val="2F7E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heck_FFC00C.png" id="1378" name="Google Shape;1378;h69a5e3ff789ebc32_1_1773"/>
          <p:cNvPicPr preferRelativeResize="0"/>
          <p:nvPr/>
        </p:nvPicPr>
        <p:blipFill rotWithShape="1">
          <a:blip r:embed="rId4">
            <a:alphaModFix/>
          </a:blip>
          <a:srcRect b="0" l="0" r="0" t="0"/>
          <a:stretch/>
        </p:blipFill>
        <p:spPr>
          <a:xfrm>
            <a:off x="6355080" y="5239512"/>
            <a:ext cx="457200" cy="457200"/>
          </a:xfrm>
          <a:prstGeom prst="rect">
            <a:avLst/>
          </a:prstGeom>
          <a:noFill/>
          <a:ln>
            <a:noFill/>
          </a:ln>
        </p:spPr>
      </p:pic>
      <p:sp>
        <p:nvSpPr>
          <p:cNvPr id="1379" name="Google Shape;1379;h69a5e3ff789ebc32_1_1773"/>
          <p:cNvSpPr txBox="1"/>
          <p:nvPr/>
        </p:nvSpPr>
        <p:spPr>
          <a:xfrm>
            <a:off x="7007467" y="5339099"/>
            <a:ext cx="4434900" cy="357600"/>
          </a:xfrm>
          <a:prstGeom prst="rect">
            <a:avLst/>
          </a:prstGeom>
          <a:noFill/>
          <a:ln>
            <a:noFill/>
          </a:ln>
        </p:spPr>
        <p:txBody>
          <a:bodyPr anchorCtr="0" anchor="ctr" bIns="0" lIns="0" spcFirstLastPara="1" rIns="0" wrap="square" tIns="0">
            <a:spAutoFit/>
          </a:bodyPr>
          <a:lstStyle/>
          <a:p>
            <a:pPr indent="0" lvl="0" marL="0" marR="0" rtl="0" algn="l">
              <a:lnSpc>
                <a:spcPct val="102000"/>
              </a:lnSpc>
              <a:spcBef>
                <a:spcPts val="0"/>
              </a:spcBef>
              <a:spcAft>
                <a:spcPts val="0"/>
              </a:spcAft>
              <a:buNone/>
            </a:pPr>
            <a:r>
              <a:rPr b="0" i="0" lang="en-US" sz="1150">
                <a:solidFill>
                  <a:srgbClr val="FFFFFF"/>
                </a:solidFill>
                <a:latin typeface="Montserrat"/>
                <a:ea typeface="Montserrat"/>
                <a:cs typeface="Montserrat"/>
                <a:sym typeface="Montserrat"/>
              </a:rPr>
              <a:t>Bersedia mematuhi prosedur dan kebijakan Tanoto Foundation</a:t>
            </a:r>
            <a:endParaRPr/>
          </a:p>
        </p:txBody>
      </p:sp>
      <p:sp>
        <p:nvSpPr>
          <p:cNvPr id="1380" name="Google Shape;1380;h69a5e3ff789ebc32_1_1773"/>
          <p:cNvSpPr txBox="1"/>
          <p:nvPr/>
        </p:nvSpPr>
        <p:spPr>
          <a:xfrm>
            <a:off x="594360" y="6172200"/>
            <a:ext cx="11003100" cy="14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950">
                <a:solidFill>
                  <a:srgbClr val="B0C0CF"/>
                </a:solidFill>
                <a:latin typeface="Montserrat"/>
                <a:ea typeface="Montserrat"/>
                <a:cs typeface="Montserrat"/>
                <a:sym typeface="Montserrat"/>
              </a:rPr>
              <a:t>Bukti pendukung disampaikan setelah nominasi oleh Tanoto Foundation (RFP bagian D, catatan kaki 2).</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B396D"/>
            </a:gs>
            <a:gs pos="100000">
              <a:srgbClr val="092647"/>
            </a:gs>
          </a:gsLst>
          <a:lin ang="3600008" scaled="0"/>
        </a:gradFill>
      </p:bgPr>
    </p:bg>
    <p:spTree>
      <p:nvGrpSpPr>
        <p:cNvPr id="1384" name="Shape 1384"/>
        <p:cNvGrpSpPr/>
        <p:nvPr/>
      </p:nvGrpSpPr>
      <p:grpSpPr>
        <a:xfrm>
          <a:off x="0" y="0"/>
          <a:ext cx="0" cy="0"/>
          <a:chOff x="0" y="0"/>
          <a:chExt cx="0" cy="0"/>
        </a:xfrm>
      </p:grpSpPr>
      <p:sp>
        <p:nvSpPr>
          <p:cNvPr id="1385" name="Google Shape;1385;h69a5e3ff789ebc32_1_1806"/>
          <p:cNvSpPr txBox="1"/>
          <p:nvPr/>
        </p:nvSpPr>
        <p:spPr>
          <a:xfrm>
            <a:off x="594360" y="1463040"/>
            <a:ext cx="8686800" cy="1169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800">
                <a:solidFill>
                  <a:srgbClr val="FFFFFF"/>
                </a:solidFill>
                <a:latin typeface="Montserrat ExtraBold"/>
                <a:ea typeface="Montserrat ExtraBold"/>
                <a:cs typeface="Montserrat ExtraBold"/>
                <a:sym typeface="Montserrat ExtraBold"/>
              </a:rPr>
              <a:t>Siap berjalan bersama Tanoto Foundation dan Direktorat PPG</a:t>
            </a:r>
            <a:endParaRPr/>
          </a:p>
        </p:txBody>
      </p:sp>
      <p:sp>
        <p:nvSpPr>
          <p:cNvPr id="1386" name="Google Shape;1386;h69a5e3ff789ebc32_1_1806"/>
          <p:cNvSpPr txBox="1"/>
          <p:nvPr/>
        </p:nvSpPr>
        <p:spPr>
          <a:xfrm>
            <a:off x="594360" y="3063240"/>
            <a:ext cx="8686800" cy="517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600">
                <a:solidFill>
                  <a:srgbClr val="B0C0CF"/>
                </a:solidFill>
                <a:latin typeface="Montserrat Medium"/>
                <a:ea typeface="Montserrat Medium"/>
                <a:cs typeface="Montserrat Medium"/>
                <a:sym typeface="Montserrat Medium"/>
              </a:rPr>
              <a:t>Mengubah rencana tindak lanjut menjadi bukti, dan bukti menjadi Akreditasi Unggul.</a:t>
            </a:r>
            <a:endParaRPr/>
          </a:p>
        </p:txBody>
      </p:sp>
      <p:pic>
        <p:nvPicPr>
          <p:cNvPr descr="logo_white.png" id="1387" name="Google Shape;1387;h69a5e3ff789ebc32_1_1806"/>
          <p:cNvPicPr preferRelativeResize="0"/>
          <p:nvPr/>
        </p:nvPicPr>
        <p:blipFill rotWithShape="1">
          <a:blip r:embed="rId3">
            <a:alphaModFix/>
          </a:blip>
          <a:srcRect b="0" l="0" r="0" t="0"/>
          <a:stretch/>
        </p:blipFill>
        <p:spPr>
          <a:xfrm>
            <a:off x="594360" y="3977639"/>
            <a:ext cx="3466138" cy="685800"/>
          </a:xfrm>
          <a:prstGeom prst="rect">
            <a:avLst/>
          </a:prstGeom>
          <a:noFill/>
          <a:ln>
            <a:noFill/>
          </a:ln>
        </p:spPr>
      </p:pic>
      <p:sp>
        <p:nvSpPr>
          <p:cNvPr id="1388" name="Google Shape;1388;h69a5e3ff789ebc32_1_1806"/>
          <p:cNvSpPr/>
          <p:nvPr/>
        </p:nvSpPr>
        <p:spPr>
          <a:xfrm>
            <a:off x="594360" y="5074920"/>
            <a:ext cx="3383400" cy="475500"/>
          </a:xfrm>
          <a:prstGeom prst="roundRect">
            <a:avLst>
              <a:gd fmla="val 50000" name="adj"/>
            </a:avLst>
          </a:prstGeom>
          <a:solidFill>
            <a:srgbClr val="0D2A4E"/>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ink_FFFFFF.png" id="1389" name="Google Shape;1389;h69a5e3ff789ebc32_1_1806"/>
          <p:cNvPicPr preferRelativeResize="0"/>
          <p:nvPr/>
        </p:nvPicPr>
        <p:blipFill rotWithShape="1">
          <a:blip r:embed="rId4">
            <a:alphaModFix/>
          </a:blip>
          <a:srcRect b="0" l="0" r="0" t="0"/>
          <a:stretch/>
        </p:blipFill>
        <p:spPr>
          <a:xfrm>
            <a:off x="777240" y="5166360"/>
            <a:ext cx="292608" cy="292608"/>
          </a:xfrm>
          <a:prstGeom prst="rect">
            <a:avLst/>
          </a:prstGeom>
          <a:noFill/>
          <a:ln>
            <a:noFill/>
          </a:ln>
        </p:spPr>
      </p:pic>
      <p:sp>
        <p:nvSpPr>
          <p:cNvPr id="1390" name="Google Shape;1390;h69a5e3ff789ebc32_1_1806"/>
          <p:cNvSpPr txBox="1"/>
          <p:nvPr/>
        </p:nvSpPr>
        <p:spPr>
          <a:xfrm>
            <a:off x="1188720" y="5074920"/>
            <a:ext cx="2743200" cy="1848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200">
                <a:solidFill>
                  <a:srgbClr val="FFFFFF"/>
                </a:solidFill>
                <a:latin typeface="Montserrat"/>
                <a:ea typeface="Montserrat"/>
                <a:cs typeface="Montserrat"/>
                <a:sym typeface="Montserrat"/>
              </a:rPr>
              <a:t>www.sanggabiz.com</a:t>
            </a:r>
            <a:endParaRPr/>
          </a:p>
        </p:txBody>
      </p:sp>
      <p:sp>
        <p:nvSpPr>
          <p:cNvPr id="1391" name="Google Shape;1391;h69a5e3ff789ebc32_1_1806"/>
          <p:cNvSpPr/>
          <p:nvPr/>
        </p:nvSpPr>
        <p:spPr>
          <a:xfrm>
            <a:off x="4114800" y="5074920"/>
            <a:ext cx="3383400" cy="475500"/>
          </a:xfrm>
          <a:prstGeom prst="roundRect">
            <a:avLst>
              <a:gd fmla="val 50000" name="adj"/>
            </a:avLst>
          </a:prstGeom>
          <a:solidFill>
            <a:srgbClr val="0D2A4E"/>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arget_FFFFFF.png" id="1392" name="Google Shape;1392;h69a5e3ff789ebc32_1_1806"/>
          <p:cNvPicPr preferRelativeResize="0"/>
          <p:nvPr/>
        </p:nvPicPr>
        <p:blipFill rotWithShape="1">
          <a:blip r:embed="rId5">
            <a:alphaModFix/>
          </a:blip>
          <a:srcRect b="0" l="0" r="0" t="0"/>
          <a:stretch/>
        </p:blipFill>
        <p:spPr>
          <a:xfrm>
            <a:off x="4297680" y="5166360"/>
            <a:ext cx="292608" cy="292608"/>
          </a:xfrm>
          <a:prstGeom prst="rect">
            <a:avLst/>
          </a:prstGeom>
          <a:noFill/>
          <a:ln>
            <a:noFill/>
          </a:ln>
        </p:spPr>
      </p:pic>
      <p:sp>
        <p:nvSpPr>
          <p:cNvPr id="1393" name="Google Shape;1393;h69a5e3ff789ebc32_1_1806"/>
          <p:cNvSpPr txBox="1"/>
          <p:nvPr/>
        </p:nvSpPr>
        <p:spPr>
          <a:xfrm>
            <a:off x="4709160" y="5074920"/>
            <a:ext cx="2743200" cy="1848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200">
                <a:solidFill>
                  <a:srgbClr val="FFFFFF"/>
                </a:solidFill>
                <a:latin typeface="Montserrat"/>
                <a:ea typeface="Montserrat"/>
                <a:cs typeface="Montserrat"/>
                <a:sym typeface="Montserrat"/>
              </a:rPr>
              <a:t>@sanggabiz</a:t>
            </a:r>
            <a:endParaRPr/>
          </a:p>
        </p:txBody>
      </p:sp>
      <p:sp>
        <p:nvSpPr>
          <p:cNvPr id="1394" name="Google Shape;1394;h69a5e3ff789ebc32_1_1806"/>
          <p:cNvSpPr/>
          <p:nvPr/>
        </p:nvSpPr>
        <p:spPr>
          <a:xfrm>
            <a:off x="7635240" y="5074920"/>
            <a:ext cx="3383400" cy="475500"/>
          </a:xfrm>
          <a:prstGeom prst="roundRect">
            <a:avLst>
              <a:gd fmla="val 50000" name="adj"/>
            </a:avLst>
          </a:prstGeom>
          <a:solidFill>
            <a:srgbClr val="0D2A4E"/>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oc_FFFFFF.png" id="1395" name="Google Shape;1395;h69a5e3ff789ebc32_1_1806"/>
          <p:cNvPicPr preferRelativeResize="0"/>
          <p:nvPr/>
        </p:nvPicPr>
        <p:blipFill rotWithShape="1">
          <a:blip r:embed="rId6">
            <a:alphaModFix/>
          </a:blip>
          <a:srcRect b="0" l="0" r="0" t="0"/>
          <a:stretch/>
        </p:blipFill>
        <p:spPr>
          <a:xfrm>
            <a:off x="7818119" y="5166360"/>
            <a:ext cx="292608" cy="292608"/>
          </a:xfrm>
          <a:prstGeom prst="rect">
            <a:avLst/>
          </a:prstGeom>
          <a:noFill/>
          <a:ln>
            <a:noFill/>
          </a:ln>
        </p:spPr>
      </p:pic>
      <p:sp>
        <p:nvSpPr>
          <p:cNvPr id="1396" name="Google Shape;1396;h69a5e3ff789ebc32_1_1806"/>
          <p:cNvSpPr txBox="1"/>
          <p:nvPr/>
        </p:nvSpPr>
        <p:spPr>
          <a:xfrm>
            <a:off x="8229600" y="5074920"/>
            <a:ext cx="2743200" cy="1848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1200">
                <a:solidFill>
                  <a:srgbClr val="FFFFFF"/>
                </a:solidFill>
                <a:latin typeface="Montserrat"/>
                <a:ea typeface="Montserrat"/>
                <a:cs typeface="Montserrat"/>
                <a:sym typeface="Montserrat"/>
              </a:rPr>
              <a:t>partnership@sanggabiz.com</a:t>
            </a:r>
            <a:endParaRPr/>
          </a:p>
        </p:txBody>
      </p:sp>
      <p:sp>
        <p:nvSpPr>
          <p:cNvPr id="1397" name="Google Shape;1397;h69a5e3ff789ebc32_1_1806"/>
          <p:cNvSpPr txBox="1"/>
          <p:nvPr/>
        </p:nvSpPr>
        <p:spPr>
          <a:xfrm>
            <a:off x="594360" y="5760720"/>
            <a:ext cx="100584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50">
                <a:solidFill>
                  <a:srgbClr val="B0C0CF"/>
                </a:solidFill>
                <a:latin typeface="Montserrat"/>
                <a:ea typeface="Montserrat"/>
                <a:cs typeface="Montserrat"/>
                <a:sym typeface="Montserrat"/>
              </a:rPr>
              <a:t>Yogyakarta  |  </a:t>
            </a:r>
            <a:r>
              <a:rPr b="0" i="0" lang="en-US" sz="1050">
                <a:solidFill>
                  <a:srgbClr val="B0C0CF"/>
                </a:solidFill>
                <a:latin typeface="Montserrat"/>
                <a:ea typeface="Montserrat"/>
                <a:cs typeface="Montserrat"/>
                <a:sym typeface="Montserrat"/>
              </a:rPr>
              <a:t>Jl. Bambu Gading No.111, Sendon, Tirtoadi, Kec. Mlati, Kab. Sleman, DI Yogyakarta 55287</a:t>
            </a:r>
            <a:endParaRPr/>
          </a:p>
        </p:txBody>
      </p:sp>
      <p:sp>
        <p:nvSpPr>
          <p:cNvPr id="1398" name="Google Shape;1398;h69a5e3ff789ebc32_1_1806"/>
          <p:cNvSpPr txBox="1"/>
          <p:nvPr/>
        </p:nvSpPr>
        <p:spPr>
          <a:xfrm>
            <a:off x="594360" y="6126480"/>
            <a:ext cx="10058400" cy="161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n-US" sz="1050">
                <a:solidFill>
                  <a:srgbClr val="FFC00C"/>
                </a:solidFill>
                <a:latin typeface="Montserrat"/>
                <a:ea typeface="Montserrat"/>
                <a:cs typeface="Montserrat"/>
                <a:sym typeface="Montserrat"/>
              </a:rPr>
              <a:t>Kontak proyek: [nama, jabatan, telepon: diisi]</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50000">
              <a:srgbClr val="092647"/>
            </a:gs>
            <a:gs pos="100000">
              <a:srgbClr val="092647"/>
            </a:gs>
          </a:gsLst>
          <a:lin ang="5400012" scaled="0"/>
        </a:gradFill>
      </p:bgPr>
    </p:bg>
    <p:spTree>
      <p:nvGrpSpPr>
        <p:cNvPr id="1402" name="Shape 1402"/>
        <p:cNvGrpSpPr/>
        <p:nvPr/>
      </p:nvGrpSpPr>
      <p:grpSpPr>
        <a:xfrm>
          <a:off x="0" y="0"/>
          <a:ext cx="0" cy="0"/>
          <a:chOff x="0" y="0"/>
          <a:chExt cx="0" cy="0"/>
        </a:xfrm>
      </p:grpSpPr>
      <p:sp>
        <p:nvSpPr>
          <p:cNvPr id="1403" name="Google Shape;1403;h410af0035cb59894_0_0"/>
          <p:cNvSpPr/>
          <p:nvPr/>
        </p:nvSpPr>
        <p:spPr>
          <a:xfrm rot="1547762">
            <a:off x="7501222" y="1889589"/>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3">
              <a:alphaModFix amt="5000"/>
            </a:blip>
            <a:stretch>
              <a:fillRect b="0" l="0" r="-364404" t="0"/>
            </a:stretch>
          </a:blipFill>
          <a:ln>
            <a:noFill/>
          </a:ln>
        </p:spPr>
      </p:sp>
      <p:sp>
        <p:nvSpPr>
          <p:cNvPr id="1404" name="Google Shape;1404;h410af0035cb59894_0_0"/>
          <p:cNvSpPr/>
          <p:nvPr/>
        </p:nvSpPr>
        <p:spPr>
          <a:xfrm rot="678596">
            <a:off x="8140364" y="-2505438"/>
            <a:ext cx="2266514" cy="3399771"/>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4">
              <a:alphaModFix/>
            </a:blip>
            <a:stretch>
              <a:fillRect b="0" l="-62572" r="-62572" t="0"/>
            </a:stretch>
          </a:blipFill>
          <a:ln cap="sq" cmpd="sng" w="38100">
            <a:solidFill>
              <a:srgbClr val="FFFFFF"/>
            </a:solidFill>
            <a:prstDash val="solid"/>
            <a:miter lim="8000"/>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05" name="Google Shape;1405;h410af0035cb59894_0_0"/>
          <p:cNvSpPr/>
          <p:nvPr/>
        </p:nvSpPr>
        <p:spPr>
          <a:xfrm rot="678596">
            <a:off x="7422349" y="1108360"/>
            <a:ext cx="2266514" cy="3399771"/>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5">
              <a:alphaModFix/>
            </a:blip>
            <a:stretch>
              <a:fillRect b="0" l="-62780" r="-62780" t="0"/>
            </a:stretch>
          </a:blipFill>
          <a:ln cap="sq" cmpd="sng" w="38100">
            <a:solidFill>
              <a:srgbClr val="FFFFFF"/>
            </a:solidFill>
            <a:prstDash val="solid"/>
            <a:miter lim="8000"/>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06" name="Google Shape;1406;h410af0035cb59894_0_0"/>
          <p:cNvSpPr/>
          <p:nvPr/>
        </p:nvSpPr>
        <p:spPr>
          <a:xfrm>
            <a:off x="558785" y="488261"/>
            <a:ext cx="1662538" cy="395571"/>
          </a:xfrm>
          <a:custGeom>
            <a:rect b="b" l="l" r="r" t="t"/>
            <a:pathLst>
              <a:path extrusionOk="0" h="592616" w="2490694">
                <a:moveTo>
                  <a:pt x="0" y="0"/>
                </a:moveTo>
                <a:lnTo>
                  <a:pt x="2490694" y="0"/>
                </a:lnTo>
                <a:lnTo>
                  <a:pt x="2490694" y="592616"/>
                </a:lnTo>
                <a:lnTo>
                  <a:pt x="0" y="592616"/>
                </a:lnTo>
                <a:lnTo>
                  <a:pt x="0" y="0"/>
                </a:lnTo>
                <a:close/>
              </a:path>
            </a:pathLst>
          </a:custGeom>
          <a:blipFill rotWithShape="1">
            <a:blip r:embed="rId3">
              <a:alphaModFix/>
            </a:blip>
            <a:stretch>
              <a:fillRect b="0" l="-2339" r="0" t="0"/>
            </a:stretch>
          </a:blipFill>
          <a:ln>
            <a:noFill/>
          </a:ln>
        </p:spPr>
      </p:sp>
      <p:sp>
        <p:nvSpPr>
          <p:cNvPr id="1407" name="Google Shape;1407;h410af0035cb59894_0_0"/>
          <p:cNvSpPr/>
          <p:nvPr/>
        </p:nvSpPr>
        <p:spPr>
          <a:xfrm rot="678596">
            <a:off x="6704335" y="4722160"/>
            <a:ext cx="2266514" cy="3399771"/>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6">
              <a:alphaModFix/>
            </a:blip>
            <a:stretch>
              <a:fillRect b="0" l="-99997" r="-99988" t="0"/>
            </a:stretch>
          </a:blipFill>
          <a:ln cap="sq" cmpd="sng" w="38100">
            <a:solidFill>
              <a:srgbClr val="FFFFFF"/>
            </a:solidFill>
            <a:prstDash val="solid"/>
            <a:miter lim="8000"/>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08" name="Google Shape;1408;h410af0035cb59894_0_0"/>
          <p:cNvSpPr/>
          <p:nvPr/>
        </p:nvSpPr>
        <p:spPr>
          <a:xfrm rot="678596">
            <a:off x="10286129" y="84005"/>
            <a:ext cx="2266514" cy="3399771"/>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7">
              <a:alphaModFix/>
            </a:blip>
            <a:stretch>
              <a:fillRect b="0" l="-62780" r="-62780" t="0"/>
            </a:stretch>
          </a:blipFill>
          <a:ln cap="sq" cmpd="sng" w="38100">
            <a:solidFill>
              <a:srgbClr val="FFFFFF"/>
            </a:solidFill>
            <a:prstDash val="solid"/>
            <a:miter lim="8000"/>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09" name="Google Shape;1409;h410af0035cb59894_0_0"/>
          <p:cNvSpPr/>
          <p:nvPr/>
        </p:nvSpPr>
        <p:spPr>
          <a:xfrm rot="678596">
            <a:off x="9568115" y="3697804"/>
            <a:ext cx="2266514" cy="3399771"/>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8">
              <a:alphaModFix/>
            </a:blip>
            <a:stretch>
              <a:fillRect b="0" l="-62780" r="-62780" t="0"/>
            </a:stretch>
          </a:blipFill>
          <a:ln cap="sq" cmpd="sng" w="38100">
            <a:solidFill>
              <a:srgbClr val="FFFFFF"/>
            </a:solidFill>
            <a:prstDash val="solid"/>
            <a:miter lim="8000"/>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10" name="Google Shape;1410;h410af0035cb59894_0_0"/>
          <p:cNvSpPr/>
          <p:nvPr/>
        </p:nvSpPr>
        <p:spPr>
          <a:xfrm rot="678596">
            <a:off x="11821232" y="5738874"/>
            <a:ext cx="2266514" cy="3399771"/>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9">
              <a:alphaModFix/>
            </a:blip>
            <a:stretch>
              <a:fillRect b="0" l="-62572" r="-62572" t="0"/>
            </a:stretch>
          </a:blipFill>
          <a:ln cap="sq" cmpd="sng" w="38100">
            <a:solidFill>
              <a:srgbClr val="FFFFFF"/>
            </a:solidFill>
            <a:prstDash val="solid"/>
            <a:miter lim="8000"/>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grpSp>
        <p:nvGrpSpPr>
          <p:cNvPr id="1411" name="Google Shape;1411;h410af0035cb59894_0_0"/>
          <p:cNvGrpSpPr/>
          <p:nvPr/>
        </p:nvGrpSpPr>
        <p:grpSpPr>
          <a:xfrm>
            <a:off x="773313" y="5612098"/>
            <a:ext cx="3502973" cy="498947"/>
            <a:chOff x="0" y="-38100"/>
            <a:chExt cx="1788600" cy="254760"/>
          </a:xfrm>
        </p:grpSpPr>
        <p:sp>
          <p:nvSpPr>
            <p:cNvPr id="1412" name="Google Shape;1412;h410af0035cb59894_0_0"/>
            <p:cNvSpPr/>
            <p:nvPr/>
          </p:nvSpPr>
          <p:spPr>
            <a:xfrm>
              <a:off x="0" y="0"/>
              <a:ext cx="1788498" cy="216660"/>
            </a:xfrm>
            <a:custGeom>
              <a:rect b="b" l="l" r="r" t="t"/>
              <a:pathLst>
                <a:path extrusionOk="0" h="216660" w="1788498">
                  <a:moveTo>
                    <a:pt x="75149" y="0"/>
                  </a:moveTo>
                  <a:lnTo>
                    <a:pt x="1713349" y="0"/>
                  </a:lnTo>
                  <a:cubicBezTo>
                    <a:pt x="1733280" y="0"/>
                    <a:pt x="1752394" y="7917"/>
                    <a:pt x="1766488" y="22011"/>
                  </a:cubicBezTo>
                  <a:cubicBezTo>
                    <a:pt x="1780581" y="36104"/>
                    <a:pt x="1788498" y="55218"/>
                    <a:pt x="1788498" y="75149"/>
                  </a:cubicBezTo>
                  <a:lnTo>
                    <a:pt x="1788498" y="141511"/>
                  </a:lnTo>
                  <a:cubicBezTo>
                    <a:pt x="1788498" y="183015"/>
                    <a:pt x="1754853" y="216660"/>
                    <a:pt x="1713349" y="216660"/>
                  </a:cubicBezTo>
                  <a:lnTo>
                    <a:pt x="75149" y="216660"/>
                  </a:lnTo>
                  <a:cubicBezTo>
                    <a:pt x="55218" y="216660"/>
                    <a:pt x="36104" y="208743"/>
                    <a:pt x="22011" y="194649"/>
                  </a:cubicBezTo>
                  <a:cubicBezTo>
                    <a:pt x="7917" y="180556"/>
                    <a:pt x="0" y="161442"/>
                    <a:pt x="0" y="141511"/>
                  </a:cubicBezTo>
                  <a:lnTo>
                    <a:pt x="0" y="75149"/>
                  </a:lnTo>
                  <a:cubicBezTo>
                    <a:pt x="0" y="55218"/>
                    <a:pt x="7917" y="36104"/>
                    <a:pt x="22011" y="22011"/>
                  </a:cubicBezTo>
                  <a:cubicBezTo>
                    <a:pt x="36104" y="7917"/>
                    <a:pt x="55218" y="0"/>
                    <a:pt x="75149" y="0"/>
                  </a:cubicBezTo>
                  <a:close/>
                </a:path>
              </a:pathLst>
            </a:custGeom>
            <a:solidFill>
              <a:srgbClr val="073763"/>
            </a:solidFill>
            <a:ln cap="rnd" cmpd="sng" w="508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13" name="Google Shape;1413;h410af0035cb59894_0_0"/>
            <p:cNvSpPr txBox="1"/>
            <p:nvPr/>
          </p:nvSpPr>
          <p:spPr>
            <a:xfrm>
              <a:off x="0" y="-38100"/>
              <a:ext cx="1788600" cy="2547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414" name="Google Shape;1414;h410af0035cb59894_0_0"/>
          <p:cNvSpPr txBox="1"/>
          <p:nvPr/>
        </p:nvSpPr>
        <p:spPr>
          <a:xfrm>
            <a:off x="971583" y="5715436"/>
            <a:ext cx="936300" cy="885300"/>
          </a:xfrm>
          <a:prstGeom prst="rect">
            <a:avLst/>
          </a:prstGeom>
          <a:noFill/>
          <a:ln>
            <a:noFill/>
          </a:ln>
        </p:spPr>
        <p:txBody>
          <a:bodyPr anchorCtr="0" anchor="t" bIns="0" lIns="0" spcFirstLastPara="1" rIns="0" wrap="square" tIns="0">
            <a:spAutoFit/>
          </a:bodyPr>
          <a:lstStyle/>
          <a:p>
            <a:pPr indent="0" lvl="0" marL="0" marR="0" rtl="0" algn="ctr">
              <a:lnSpc>
                <a:spcPct val="113018"/>
              </a:lnSpc>
              <a:spcBef>
                <a:spcPts val="0"/>
              </a:spcBef>
              <a:spcAft>
                <a:spcPts val="0"/>
              </a:spcAft>
              <a:buNone/>
            </a:pPr>
            <a:r>
              <a:rPr b="1" i="0" lang="en-US" sz="2700" u="none" cap="none" strike="noStrike">
                <a:solidFill>
                  <a:srgbClr val="FFFFFF"/>
                </a:solidFill>
                <a:latin typeface="Arial"/>
                <a:ea typeface="Arial"/>
                <a:cs typeface="Arial"/>
                <a:sym typeface="Arial"/>
              </a:rPr>
              <a:t>100++</a:t>
            </a:r>
            <a:endParaRPr sz="900"/>
          </a:p>
        </p:txBody>
      </p:sp>
      <p:sp>
        <p:nvSpPr>
          <p:cNvPr id="1415" name="Google Shape;1415;h410af0035cb59894_0_0"/>
          <p:cNvSpPr txBox="1"/>
          <p:nvPr/>
        </p:nvSpPr>
        <p:spPr>
          <a:xfrm>
            <a:off x="2015187" y="5733778"/>
            <a:ext cx="2152800" cy="372600"/>
          </a:xfrm>
          <a:prstGeom prst="rect">
            <a:avLst/>
          </a:prstGeom>
          <a:noFill/>
          <a:ln>
            <a:noFill/>
          </a:ln>
        </p:spPr>
        <p:txBody>
          <a:bodyPr anchorCtr="0" anchor="t" bIns="0" lIns="0" spcFirstLastPara="1" rIns="0" wrap="square" tIns="0">
            <a:spAutoFit/>
          </a:bodyPr>
          <a:lstStyle/>
          <a:p>
            <a:pPr indent="0" lvl="0" marL="0" marR="0" rtl="0" algn="l">
              <a:lnSpc>
                <a:spcPct val="120012"/>
              </a:lnSpc>
              <a:spcBef>
                <a:spcPts val="0"/>
              </a:spcBef>
              <a:spcAft>
                <a:spcPts val="0"/>
              </a:spcAft>
              <a:buNone/>
            </a:pPr>
            <a:r>
              <a:rPr b="0" i="0" lang="en-US" sz="1100" u="none" cap="none" strike="noStrike">
                <a:solidFill>
                  <a:srgbClr val="FAF7FC"/>
                </a:solidFill>
                <a:latin typeface="Arial"/>
                <a:ea typeface="Arial"/>
                <a:cs typeface="Arial"/>
                <a:sym typeface="Arial"/>
              </a:rPr>
              <a:t>Great Organisations and Companies Using Our Services</a:t>
            </a:r>
            <a:endParaRPr sz="900"/>
          </a:p>
        </p:txBody>
      </p:sp>
      <p:sp>
        <p:nvSpPr>
          <p:cNvPr id="1416" name="Google Shape;1416;h410af0035cb59894_0_0"/>
          <p:cNvSpPr txBox="1"/>
          <p:nvPr/>
        </p:nvSpPr>
        <p:spPr>
          <a:xfrm>
            <a:off x="685782" y="1318231"/>
            <a:ext cx="6429000" cy="800400"/>
          </a:xfrm>
          <a:prstGeom prst="rect">
            <a:avLst/>
          </a:prstGeom>
          <a:noFill/>
          <a:ln>
            <a:noFill/>
          </a:ln>
        </p:spPr>
        <p:txBody>
          <a:bodyPr anchorCtr="0" anchor="t" bIns="0" lIns="0" spcFirstLastPara="1" rIns="0" wrap="square" tIns="0">
            <a:spAutoFit/>
          </a:bodyPr>
          <a:lstStyle/>
          <a:p>
            <a:pPr indent="0" lvl="0" marL="0" marR="0" rtl="0" algn="l">
              <a:lnSpc>
                <a:spcPct val="113006"/>
              </a:lnSpc>
              <a:spcBef>
                <a:spcPts val="0"/>
              </a:spcBef>
              <a:spcAft>
                <a:spcPts val="0"/>
              </a:spcAft>
              <a:buNone/>
            </a:pPr>
            <a:r>
              <a:rPr b="1" i="0" lang="en-US" sz="5200" u="none" cap="none" strike="noStrike">
                <a:solidFill>
                  <a:srgbClr val="FAF7FC"/>
                </a:solidFill>
                <a:latin typeface="Arial"/>
                <a:ea typeface="Arial"/>
                <a:cs typeface="Arial"/>
                <a:sym typeface="Arial"/>
              </a:rPr>
              <a:t>Company Profile</a:t>
            </a:r>
            <a:endParaRPr sz="900"/>
          </a:p>
        </p:txBody>
      </p:sp>
      <p:sp>
        <p:nvSpPr>
          <p:cNvPr id="1417" name="Google Shape;1417;h410af0035cb59894_0_0"/>
          <p:cNvSpPr txBox="1"/>
          <p:nvPr/>
        </p:nvSpPr>
        <p:spPr>
          <a:xfrm>
            <a:off x="685782" y="2331775"/>
            <a:ext cx="6617700" cy="861900"/>
          </a:xfrm>
          <a:prstGeom prst="rect">
            <a:avLst/>
          </a:prstGeom>
          <a:noFill/>
          <a:ln>
            <a:noFill/>
          </a:ln>
        </p:spPr>
        <p:txBody>
          <a:bodyPr anchorCtr="0" anchor="t" bIns="0" lIns="0" spcFirstLastPara="1" rIns="0" wrap="square" tIns="0">
            <a:spAutoFit/>
          </a:bodyPr>
          <a:lstStyle/>
          <a:p>
            <a:pPr indent="0" lvl="0" marL="0" marR="0" rtl="0" algn="l">
              <a:lnSpc>
                <a:spcPct val="170008"/>
              </a:lnSpc>
              <a:spcBef>
                <a:spcPts val="0"/>
              </a:spcBef>
              <a:spcAft>
                <a:spcPts val="0"/>
              </a:spcAft>
              <a:buNone/>
            </a:pPr>
            <a:r>
              <a:rPr b="1" i="0" lang="en-US" sz="5600" u="none" cap="none" strike="noStrike">
                <a:solidFill>
                  <a:srgbClr val="FFFFFF"/>
                </a:solidFill>
                <a:latin typeface="Arial"/>
                <a:ea typeface="Arial"/>
                <a:cs typeface="Arial"/>
                <a:sym typeface="Arial"/>
              </a:rPr>
              <a:t>TRAINING</a:t>
            </a:r>
            <a:endParaRPr sz="900"/>
          </a:p>
        </p:txBody>
      </p:sp>
      <p:sp>
        <p:nvSpPr>
          <p:cNvPr id="1418" name="Google Shape;1418;h410af0035cb59894_0_0"/>
          <p:cNvSpPr txBox="1"/>
          <p:nvPr/>
        </p:nvSpPr>
        <p:spPr>
          <a:xfrm>
            <a:off x="685782" y="3343464"/>
            <a:ext cx="4379100" cy="8619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i="0" lang="en-US" sz="5600" u="none" cap="none" strike="noStrike">
                <a:solidFill>
                  <a:srgbClr val="FFFFFF"/>
                </a:solidFill>
                <a:latin typeface="Arial"/>
                <a:ea typeface="Arial"/>
                <a:cs typeface="Arial"/>
                <a:sym typeface="Arial"/>
              </a:rPr>
              <a:t>PORTFOLIO</a:t>
            </a:r>
            <a:endParaRPr sz="9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92647"/>
            </a:gs>
            <a:gs pos="100000">
              <a:srgbClr val="0A396D"/>
            </a:gs>
          </a:gsLst>
          <a:lin ang="5400012" scaled="0"/>
        </a:gradFill>
      </p:bgPr>
    </p:bg>
    <p:spTree>
      <p:nvGrpSpPr>
        <p:cNvPr id="1422" name="Shape 1422"/>
        <p:cNvGrpSpPr/>
        <p:nvPr/>
      </p:nvGrpSpPr>
      <p:grpSpPr>
        <a:xfrm>
          <a:off x="0" y="0"/>
          <a:ext cx="0" cy="0"/>
          <a:chOff x="0" y="0"/>
          <a:chExt cx="0" cy="0"/>
        </a:xfrm>
      </p:grpSpPr>
      <p:sp>
        <p:nvSpPr>
          <p:cNvPr id="1423" name="Google Shape;1423;h410af0035cb59894_0_19"/>
          <p:cNvSpPr/>
          <p:nvPr/>
        </p:nvSpPr>
        <p:spPr>
          <a:xfrm>
            <a:off x="10249187" y="115697"/>
            <a:ext cx="1844594" cy="438888"/>
          </a:xfrm>
          <a:custGeom>
            <a:rect b="b" l="l" r="r" t="t"/>
            <a:pathLst>
              <a:path extrusionOk="0" h="657510" w="2763436">
                <a:moveTo>
                  <a:pt x="0" y="0"/>
                </a:moveTo>
                <a:lnTo>
                  <a:pt x="2763437" y="0"/>
                </a:lnTo>
                <a:lnTo>
                  <a:pt x="2763437" y="657510"/>
                </a:lnTo>
                <a:lnTo>
                  <a:pt x="0" y="657510"/>
                </a:lnTo>
                <a:lnTo>
                  <a:pt x="0" y="0"/>
                </a:lnTo>
                <a:close/>
              </a:path>
            </a:pathLst>
          </a:custGeom>
          <a:blipFill rotWithShape="1">
            <a:blip r:embed="rId3">
              <a:alphaModFix/>
            </a:blip>
            <a:stretch>
              <a:fillRect b="0" l="-2339" r="0" t="0"/>
            </a:stretch>
          </a:blipFill>
          <a:ln>
            <a:noFill/>
          </a:ln>
        </p:spPr>
      </p:sp>
      <p:grpSp>
        <p:nvGrpSpPr>
          <p:cNvPr id="1424" name="Google Shape;1424;h410af0035cb59894_0_19"/>
          <p:cNvGrpSpPr/>
          <p:nvPr/>
        </p:nvGrpSpPr>
        <p:grpSpPr>
          <a:xfrm>
            <a:off x="1021367" y="1226064"/>
            <a:ext cx="3280349" cy="5504973"/>
            <a:chOff x="0" y="-19050"/>
            <a:chExt cx="799500" cy="1341662"/>
          </a:xfrm>
        </p:grpSpPr>
        <p:sp>
          <p:nvSpPr>
            <p:cNvPr id="1425" name="Google Shape;1425;h410af0035cb59894_0_19"/>
            <p:cNvSpPr/>
            <p:nvPr/>
          </p:nvSpPr>
          <p:spPr>
            <a:xfrm>
              <a:off x="0" y="0"/>
              <a:ext cx="799453" cy="1322612"/>
            </a:xfrm>
            <a:custGeom>
              <a:rect b="b" l="l" r="r" t="t"/>
              <a:pathLst>
                <a:path extrusionOk="0" h="1322612" w="799453">
                  <a:moveTo>
                    <a:pt x="47204" y="0"/>
                  </a:moveTo>
                  <a:lnTo>
                    <a:pt x="752249" y="0"/>
                  </a:lnTo>
                  <a:cubicBezTo>
                    <a:pt x="778319" y="0"/>
                    <a:pt x="799453" y="21134"/>
                    <a:pt x="799453" y="47204"/>
                  </a:cubicBezTo>
                  <a:lnTo>
                    <a:pt x="799453" y="1275408"/>
                  </a:lnTo>
                  <a:cubicBezTo>
                    <a:pt x="799453" y="1287927"/>
                    <a:pt x="794480" y="1299934"/>
                    <a:pt x="785627" y="1308786"/>
                  </a:cubicBezTo>
                  <a:cubicBezTo>
                    <a:pt x="776775" y="1317639"/>
                    <a:pt x="764768" y="1322612"/>
                    <a:pt x="752249" y="1322612"/>
                  </a:cubicBezTo>
                  <a:lnTo>
                    <a:pt x="47204" y="1322612"/>
                  </a:lnTo>
                  <a:cubicBezTo>
                    <a:pt x="34685" y="1322612"/>
                    <a:pt x="22678" y="1317639"/>
                    <a:pt x="13826" y="1308786"/>
                  </a:cubicBezTo>
                  <a:cubicBezTo>
                    <a:pt x="4973" y="1299934"/>
                    <a:pt x="0" y="1287927"/>
                    <a:pt x="0" y="1275408"/>
                  </a:cubicBezTo>
                  <a:lnTo>
                    <a:pt x="0" y="47204"/>
                  </a:lnTo>
                  <a:cubicBezTo>
                    <a:pt x="0" y="34685"/>
                    <a:pt x="4973" y="22678"/>
                    <a:pt x="13826" y="13826"/>
                  </a:cubicBezTo>
                  <a:cubicBezTo>
                    <a:pt x="22678" y="4973"/>
                    <a:pt x="34685" y="0"/>
                    <a:pt x="47204" y="0"/>
                  </a:cubicBezTo>
                  <a:close/>
                </a:path>
              </a:pathLst>
            </a:custGeom>
            <a:solidFill>
              <a:srgbClr val="2F7E9D"/>
            </a:solidFill>
            <a:ln cap="rnd" cmpd="sng" w="889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26" name="Google Shape;1426;h410af0035cb59894_0_19"/>
            <p:cNvSpPr txBox="1"/>
            <p:nvPr/>
          </p:nvSpPr>
          <p:spPr>
            <a:xfrm>
              <a:off x="0" y="-19050"/>
              <a:ext cx="799500" cy="13416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427" name="Google Shape;1427;h410af0035cb59894_0_19"/>
          <p:cNvGrpSpPr/>
          <p:nvPr/>
        </p:nvGrpSpPr>
        <p:grpSpPr>
          <a:xfrm>
            <a:off x="1458150" y="931910"/>
            <a:ext cx="2335725" cy="575537"/>
            <a:chOff x="0" y="-19050"/>
            <a:chExt cx="562500" cy="138600"/>
          </a:xfrm>
        </p:grpSpPr>
        <p:sp>
          <p:nvSpPr>
            <p:cNvPr id="1428" name="Google Shape;1428;h410af0035cb59894_0_19"/>
            <p:cNvSpPr/>
            <p:nvPr/>
          </p:nvSpPr>
          <p:spPr>
            <a:xfrm>
              <a:off x="0" y="0"/>
              <a:ext cx="562413" cy="119490"/>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rnd"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29" name="Google Shape;1429;h410af0035cb59894_0_19"/>
            <p:cNvSpPr txBox="1"/>
            <p:nvPr/>
          </p:nvSpPr>
          <p:spPr>
            <a:xfrm>
              <a:off x="0" y="-19050"/>
              <a:ext cx="562500" cy="1386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430" name="Google Shape;1430;h410af0035cb59894_0_19"/>
          <p:cNvGrpSpPr/>
          <p:nvPr/>
        </p:nvGrpSpPr>
        <p:grpSpPr>
          <a:xfrm>
            <a:off x="4523737" y="1226064"/>
            <a:ext cx="3277887" cy="5504973"/>
            <a:chOff x="0" y="-19050"/>
            <a:chExt cx="798900" cy="1341662"/>
          </a:xfrm>
        </p:grpSpPr>
        <p:sp>
          <p:nvSpPr>
            <p:cNvPr id="1431" name="Google Shape;1431;h410af0035cb59894_0_19"/>
            <p:cNvSpPr/>
            <p:nvPr/>
          </p:nvSpPr>
          <p:spPr>
            <a:xfrm>
              <a:off x="0" y="0"/>
              <a:ext cx="798825" cy="1322612"/>
            </a:xfrm>
            <a:custGeom>
              <a:rect b="b" l="l" r="r" t="t"/>
              <a:pathLst>
                <a:path extrusionOk="0" h="1322612" w="798825">
                  <a:moveTo>
                    <a:pt x="47241" y="0"/>
                  </a:moveTo>
                  <a:lnTo>
                    <a:pt x="751584" y="0"/>
                  </a:lnTo>
                  <a:cubicBezTo>
                    <a:pt x="764113" y="0"/>
                    <a:pt x="776129" y="4977"/>
                    <a:pt x="784988" y="13837"/>
                  </a:cubicBezTo>
                  <a:cubicBezTo>
                    <a:pt x="793847" y="22696"/>
                    <a:pt x="798825" y="34712"/>
                    <a:pt x="798825" y="47241"/>
                  </a:cubicBezTo>
                  <a:lnTo>
                    <a:pt x="798825" y="1275371"/>
                  </a:lnTo>
                  <a:cubicBezTo>
                    <a:pt x="798825" y="1287900"/>
                    <a:pt x="793847" y="1299916"/>
                    <a:pt x="784988" y="1308775"/>
                  </a:cubicBezTo>
                  <a:cubicBezTo>
                    <a:pt x="776129" y="1317635"/>
                    <a:pt x="764113" y="1322612"/>
                    <a:pt x="751584" y="1322612"/>
                  </a:cubicBezTo>
                  <a:lnTo>
                    <a:pt x="47241" y="1322612"/>
                  </a:lnTo>
                  <a:cubicBezTo>
                    <a:pt x="21150" y="1322612"/>
                    <a:pt x="0" y="1301461"/>
                    <a:pt x="0" y="1275371"/>
                  </a:cubicBezTo>
                  <a:lnTo>
                    <a:pt x="0" y="47241"/>
                  </a:lnTo>
                  <a:cubicBezTo>
                    <a:pt x="0" y="34712"/>
                    <a:pt x="4977" y="22696"/>
                    <a:pt x="13837" y="13837"/>
                  </a:cubicBezTo>
                  <a:cubicBezTo>
                    <a:pt x="22696" y="4977"/>
                    <a:pt x="34712" y="0"/>
                    <a:pt x="47241" y="0"/>
                  </a:cubicBezTo>
                  <a:close/>
                </a:path>
              </a:pathLst>
            </a:custGeom>
            <a:solidFill>
              <a:srgbClr val="2F7E9D"/>
            </a:solidFill>
            <a:ln cap="rnd" cmpd="sng" w="889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32" name="Google Shape;1432;h410af0035cb59894_0_19"/>
            <p:cNvSpPr txBox="1"/>
            <p:nvPr/>
          </p:nvSpPr>
          <p:spPr>
            <a:xfrm>
              <a:off x="0" y="-19050"/>
              <a:ext cx="798900" cy="13416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433" name="Google Shape;1433;h410af0035cb59894_0_19"/>
          <p:cNvSpPr/>
          <p:nvPr/>
        </p:nvSpPr>
        <p:spPr>
          <a:xfrm>
            <a:off x="4727826" y="1614915"/>
            <a:ext cx="497916" cy="679539"/>
          </a:xfrm>
          <a:custGeom>
            <a:rect b="b" l="l" r="r" t="t"/>
            <a:pathLst>
              <a:path extrusionOk="0" h="1018036" w="745942">
                <a:moveTo>
                  <a:pt x="0" y="0"/>
                </a:moveTo>
                <a:lnTo>
                  <a:pt x="745943" y="0"/>
                </a:lnTo>
                <a:lnTo>
                  <a:pt x="745943" y="1018036"/>
                </a:lnTo>
                <a:lnTo>
                  <a:pt x="0" y="1018036"/>
                </a:lnTo>
                <a:lnTo>
                  <a:pt x="0" y="0"/>
                </a:lnTo>
                <a:close/>
              </a:path>
            </a:pathLst>
          </a:custGeom>
          <a:blipFill rotWithShape="1">
            <a:blip r:embed="rId4">
              <a:alphaModFix/>
            </a:blip>
            <a:stretch>
              <a:fillRect b="0" l="0" r="0" t="0"/>
            </a:stretch>
          </a:blipFill>
          <a:ln>
            <a:noFill/>
          </a:ln>
        </p:spPr>
      </p:sp>
      <p:sp>
        <p:nvSpPr>
          <p:cNvPr id="1434" name="Google Shape;1434;h410af0035cb59894_0_19"/>
          <p:cNvSpPr/>
          <p:nvPr/>
        </p:nvSpPr>
        <p:spPr>
          <a:xfrm>
            <a:off x="4746864" y="3611692"/>
            <a:ext cx="500680" cy="501592"/>
          </a:xfrm>
          <a:custGeom>
            <a:rect b="b" l="l" r="r" t="t"/>
            <a:pathLst>
              <a:path extrusionOk="0" h="751449" w="750083">
                <a:moveTo>
                  <a:pt x="0" y="0"/>
                </a:moveTo>
                <a:lnTo>
                  <a:pt x="750083" y="0"/>
                </a:lnTo>
                <a:lnTo>
                  <a:pt x="750083" y="751449"/>
                </a:lnTo>
                <a:lnTo>
                  <a:pt x="0" y="751449"/>
                </a:lnTo>
                <a:lnTo>
                  <a:pt x="0" y="0"/>
                </a:lnTo>
                <a:close/>
              </a:path>
            </a:pathLst>
          </a:custGeom>
          <a:blipFill rotWithShape="1">
            <a:blip r:embed="rId5">
              <a:alphaModFix/>
            </a:blip>
            <a:stretch>
              <a:fillRect b="0" l="0" r="0" t="0"/>
            </a:stretch>
          </a:blipFill>
          <a:ln>
            <a:noFill/>
          </a:ln>
        </p:spPr>
      </p:sp>
      <p:sp>
        <p:nvSpPr>
          <p:cNvPr id="1435" name="Google Shape;1435;h410af0035cb59894_0_19"/>
          <p:cNvSpPr/>
          <p:nvPr/>
        </p:nvSpPr>
        <p:spPr>
          <a:xfrm>
            <a:off x="4727826" y="4445596"/>
            <a:ext cx="500680" cy="270368"/>
          </a:xfrm>
          <a:custGeom>
            <a:rect b="b" l="l" r="r" t="t"/>
            <a:pathLst>
              <a:path extrusionOk="0" h="405045" w="750083">
                <a:moveTo>
                  <a:pt x="0" y="0"/>
                </a:moveTo>
                <a:lnTo>
                  <a:pt x="750083" y="0"/>
                </a:lnTo>
                <a:lnTo>
                  <a:pt x="750083" y="405045"/>
                </a:lnTo>
                <a:lnTo>
                  <a:pt x="0" y="405045"/>
                </a:lnTo>
                <a:lnTo>
                  <a:pt x="0" y="0"/>
                </a:lnTo>
                <a:close/>
              </a:path>
            </a:pathLst>
          </a:custGeom>
          <a:blipFill rotWithShape="1">
            <a:blip r:embed="rId6">
              <a:alphaModFix/>
            </a:blip>
            <a:stretch>
              <a:fillRect b="0" l="0" r="0" t="0"/>
            </a:stretch>
          </a:blipFill>
          <a:ln>
            <a:noFill/>
          </a:ln>
        </p:spPr>
      </p:sp>
      <p:sp>
        <p:nvSpPr>
          <p:cNvPr id="1436" name="Google Shape;1436;h410af0035cb59894_0_19"/>
          <p:cNvSpPr/>
          <p:nvPr/>
        </p:nvSpPr>
        <p:spPr>
          <a:xfrm>
            <a:off x="4746864" y="2896155"/>
            <a:ext cx="328074" cy="468676"/>
          </a:xfrm>
          <a:custGeom>
            <a:rect b="b" l="l" r="r" t="t"/>
            <a:pathLst>
              <a:path extrusionOk="0" h="702137" w="491496">
                <a:moveTo>
                  <a:pt x="0" y="0"/>
                </a:moveTo>
                <a:lnTo>
                  <a:pt x="491496" y="0"/>
                </a:lnTo>
                <a:lnTo>
                  <a:pt x="491496" y="702137"/>
                </a:lnTo>
                <a:lnTo>
                  <a:pt x="0" y="702137"/>
                </a:lnTo>
                <a:lnTo>
                  <a:pt x="0" y="0"/>
                </a:lnTo>
                <a:close/>
              </a:path>
            </a:pathLst>
          </a:custGeom>
          <a:blipFill rotWithShape="1">
            <a:blip r:embed="rId7">
              <a:alphaModFix/>
            </a:blip>
            <a:stretch>
              <a:fillRect b="0" l="0" r="0" t="0"/>
            </a:stretch>
          </a:blipFill>
          <a:ln>
            <a:noFill/>
          </a:ln>
        </p:spPr>
      </p:sp>
      <p:sp>
        <p:nvSpPr>
          <p:cNvPr id="1437" name="Google Shape;1437;h410af0035cb59894_0_19"/>
          <p:cNvSpPr/>
          <p:nvPr/>
        </p:nvSpPr>
        <p:spPr>
          <a:xfrm>
            <a:off x="4746864" y="5484306"/>
            <a:ext cx="500680" cy="568577"/>
          </a:xfrm>
          <a:custGeom>
            <a:rect b="b" l="l" r="r" t="t"/>
            <a:pathLst>
              <a:path extrusionOk="0" h="851801" w="750083">
                <a:moveTo>
                  <a:pt x="0" y="0"/>
                </a:moveTo>
                <a:lnTo>
                  <a:pt x="750083" y="0"/>
                </a:lnTo>
                <a:lnTo>
                  <a:pt x="750083" y="851801"/>
                </a:lnTo>
                <a:lnTo>
                  <a:pt x="0" y="851801"/>
                </a:lnTo>
                <a:lnTo>
                  <a:pt x="0" y="0"/>
                </a:lnTo>
                <a:close/>
              </a:path>
            </a:pathLst>
          </a:custGeom>
          <a:blipFill rotWithShape="1">
            <a:blip r:embed="rId8">
              <a:alphaModFix/>
            </a:blip>
            <a:stretch>
              <a:fillRect b="0" l="0" r="0" t="0"/>
            </a:stretch>
          </a:blipFill>
          <a:ln>
            <a:noFill/>
          </a:ln>
        </p:spPr>
      </p:sp>
      <p:grpSp>
        <p:nvGrpSpPr>
          <p:cNvPr id="1438" name="Google Shape;1438;h410af0035cb59894_0_19"/>
          <p:cNvGrpSpPr/>
          <p:nvPr/>
        </p:nvGrpSpPr>
        <p:grpSpPr>
          <a:xfrm>
            <a:off x="5012312" y="931910"/>
            <a:ext cx="2335725" cy="575537"/>
            <a:chOff x="0" y="-19050"/>
            <a:chExt cx="562500" cy="138600"/>
          </a:xfrm>
        </p:grpSpPr>
        <p:sp>
          <p:nvSpPr>
            <p:cNvPr id="1439" name="Google Shape;1439;h410af0035cb59894_0_19"/>
            <p:cNvSpPr/>
            <p:nvPr/>
          </p:nvSpPr>
          <p:spPr>
            <a:xfrm>
              <a:off x="0" y="0"/>
              <a:ext cx="562413" cy="119490"/>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rnd"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40" name="Google Shape;1440;h410af0035cb59894_0_19"/>
            <p:cNvSpPr txBox="1"/>
            <p:nvPr/>
          </p:nvSpPr>
          <p:spPr>
            <a:xfrm>
              <a:off x="0" y="-19050"/>
              <a:ext cx="562500" cy="1386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441" name="Google Shape;1441;h410af0035cb59894_0_19"/>
          <p:cNvSpPr/>
          <p:nvPr/>
        </p:nvSpPr>
        <p:spPr>
          <a:xfrm>
            <a:off x="1225457" y="1684996"/>
            <a:ext cx="497916" cy="679539"/>
          </a:xfrm>
          <a:custGeom>
            <a:rect b="b" l="l" r="r" t="t"/>
            <a:pathLst>
              <a:path extrusionOk="0" h="1018036" w="745942">
                <a:moveTo>
                  <a:pt x="0" y="0"/>
                </a:moveTo>
                <a:lnTo>
                  <a:pt x="745942" y="0"/>
                </a:lnTo>
                <a:lnTo>
                  <a:pt x="745942" y="1018035"/>
                </a:lnTo>
                <a:lnTo>
                  <a:pt x="0" y="1018035"/>
                </a:lnTo>
                <a:lnTo>
                  <a:pt x="0" y="0"/>
                </a:lnTo>
                <a:close/>
              </a:path>
            </a:pathLst>
          </a:custGeom>
          <a:blipFill rotWithShape="1">
            <a:blip r:embed="rId4">
              <a:alphaModFix/>
            </a:blip>
            <a:stretch>
              <a:fillRect b="0" l="0" r="0" t="0"/>
            </a:stretch>
          </a:blipFill>
          <a:ln>
            <a:noFill/>
          </a:ln>
        </p:spPr>
      </p:sp>
      <p:sp>
        <p:nvSpPr>
          <p:cNvPr id="1442" name="Google Shape;1442;h410af0035cb59894_0_19"/>
          <p:cNvSpPr/>
          <p:nvPr/>
        </p:nvSpPr>
        <p:spPr>
          <a:xfrm>
            <a:off x="1244494" y="3611692"/>
            <a:ext cx="500680" cy="501592"/>
          </a:xfrm>
          <a:custGeom>
            <a:rect b="b" l="l" r="r" t="t"/>
            <a:pathLst>
              <a:path extrusionOk="0" h="751449" w="750083">
                <a:moveTo>
                  <a:pt x="0" y="0"/>
                </a:moveTo>
                <a:lnTo>
                  <a:pt x="750083" y="0"/>
                </a:lnTo>
                <a:lnTo>
                  <a:pt x="750083" y="751449"/>
                </a:lnTo>
                <a:lnTo>
                  <a:pt x="0" y="751449"/>
                </a:lnTo>
                <a:lnTo>
                  <a:pt x="0" y="0"/>
                </a:lnTo>
                <a:close/>
              </a:path>
            </a:pathLst>
          </a:custGeom>
          <a:blipFill rotWithShape="1">
            <a:blip r:embed="rId5">
              <a:alphaModFix/>
            </a:blip>
            <a:stretch>
              <a:fillRect b="0" l="0" r="0" t="0"/>
            </a:stretch>
          </a:blipFill>
          <a:ln>
            <a:noFill/>
          </a:ln>
        </p:spPr>
      </p:sp>
      <p:sp>
        <p:nvSpPr>
          <p:cNvPr id="1443" name="Google Shape;1443;h410af0035cb59894_0_19"/>
          <p:cNvSpPr/>
          <p:nvPr/>
        </p:nvSpPr>
        <p:spPr>
          <a:xfrm>
            <a:off x="1244494" y="4445596"/>
            <a:ext cx="500680" cy="270368"/>
          </a:xfrm>
          <a:custGeom>
            <a:rect b="b" l="l" r="r" t="t"/>
            <a:pathLst>
              <a:path extrusionOk="0" h="405045" w="750083">
                <a:moveTo>
                  <a:pt x="0" y="0"/>
                </a:moveTo>
                <a:lnTo>
                  <a:pt x="750083" y="0"/>
                </a:lnTo>
                <a:lnTo>
                  <a:pt x="750083" y="405045"/>
                </a:lnTo>
                <a:lnTo>
                  <a:pt x="0" y="405045"/>
                </a:lnTo>
                <a:lnTo>
                  <a:pt x="0" y="0"/>
                </a:lnTo>
                <a:close/>
              </a:path>
            </a:pathLst>
          </a:custGeom>
          <a:blipFill rotWithShape="1">
            <a:blip r:embed="rId6">
              <a:alphaModFix/>
            </a:blip>
            <a:stretch>
              <a:fillRect b="0" l="0" r="0" t="0"/>
            </a:stretch>
          </a:blipFill>
          <a:ln>
            <a:noFill/>
          </a:ln>
        </p:spPr>
      </p:sp>
      <p:sp>
        <p:nvSpPr>
          <p:cNvPr id="1444" name="Google Shape;1444;h410af0035cb59894_0_19"/>
          <p:cNvSpPr/>
          <p:nvPr/>
        </p:nvSpPr>
        <p:spPr>
          <a:xfrm>
            <a:off x="1225457" y="2896155"/>
            <a:ext cx="329513" cy="470732"/>
          </a:xfrm>
          <a:custGeom>
            <a:rect b="b" l="l" r="r" t="t"/>
            <a:pathLst>
              <a:path extrusionOk="0" h="705217" w="493652">
                <a:moveTo>
                  <a:pt x="0" y="0"/>
                </a:moveTo>
                <a:lnTo>
                  <a:pt x="493652" y="0"/>
                </a:lnTo>
                <a:lnTo>
                  <a:pt x="493652" y="705217"/>
                </a:lnTo>
                <a:lnTo>
                  <a:pt x="0" y="705217"/>
                </a:lnTo>
                <a:lnTo>
                  <a:pt x="0" y="0"/>
                </a:lnTo>
                <a:close/>
              </a:path>
            </a:pathLst>
          </a:custGeom>
          <a:blipFill rotWithShape="1">
            <a:blip r:embed="rId7">
              <a:alphaModFix/>
            </a:blip>
            <a:stretch>
              <a:fillRect b="0" l="0" r="0" t="0"/>
            </a:stretch>
          </a:blipFill>
          <a:ln>
            <a:noFill/>
          </a:ln>
        </p:spPr>
      </p:sp>
      <p:sp>
        <p:nvSpPr>
          <p:cNvPr id="1445" name="Google Shape;1445;h410af0035cb59894_0_19"/>
          <p:cNvSpPr/>
          <p:nvPr/>
        </p:nvSpPr>
        <p:spPr>
          <a:xfrm>
            <a:off x="1244494" y="5484306"/>
            <a:ext cx="500680" cy="568577"/>
          </a:xfrm>
          <a:custGeom>
            <a:rect b="b" l="l" r="r" t="t"/>
            <a:pathLst>
              <a:path extrusionOk="0" h="851801" w="750083">
                <a:moveTo>
                  <a:pt x="0" y="0"/>
                </a:moveTo>
                <a:lnTo>
                  <a:pt x="750083" y="0"/>
                </a:lnTo>
                <a:lnTo>
                  <a:pt x="750083" y="851801"/>
                </a:lnTo>
                <a:lnTo>
                  <a:pt x="0" y="851801"/>
                </a:lnTo>
                <a:lnTo>
                  <a:pt x="0" y="0"/>
                </a:lnTo>
                <a:close/>
              </a:path>
            </a:pathLst>
          </a:custGeom>
          <a:blipFill rotWithShape="1">
            <a:blip r:embed="rId8">
              <a:alphaModFix/>
            </a:blip>
            <a:stretch>
              <a:fillRect b="0" l="0" r="0" t="0"/>
            </a:stretch>
          </a:blipFill>
          <a:ln>
            <a:noFill/>
          </a:ln>
        </p:spPr>
      </p:sp>
      <p:grpSp>
        <p:nvGrpSpPr>
          <p:cNvPr id="1446" name="Google Shape;1446;h410af0035cb59894_0_19"/>
          <p:cNvGrpSpPr/>
          <p:nvPr/>
        </p:nvGrpSpPr>
        <p:grpSpPr>
          <a:xfrm>
            <a:off x="8023529" y="1192103"/>
            <a:ext cx="3268122" cy="5539185"/>
            <a:chOff x="0" y="-19050"/>
            <a:chExt cx="796520" cy="1350000"/>
          </a:xfrm>
        </p:grpSpPr>
        <p:sp>
          <p:nvSpPr>
            <p:cNvPr id="1447" name="Google Shape;1447;h410af0035cb59894_0_19"/>
            <p:cNvSpPr/>
            <p:nvPr/>
          </p:nvSpPr>
          <p:spPr>
            <a:xfrm>
              <a:off x="0" y="0"/>
              <a:ext cx="796520" cy="1330889"/>
            </a:xfrm>
            <a:custGeom>
              <a:rect b="b" l="l" r="r" t="t"/>
              <a:pathLst>
                <a:path extrusionOk="0" h="1330889" w="796520">
                  <a:moveTo>
                    <a:pt x="47378" y="0"/>
                  </a:moveTo>
                  <a:lnTo>
                    <a:pt x="749142" y="0"/>
                  </a:lnTo>
                  <a:cubicBezTo>
                    <a:pt x="775308" y="0"/>
                    <a:pt x="796520" y="21212"/>
                    <a:pt x="796520" y="47378"/>
                  </a:cubicBezTo>
                  <a:lnTo>
                    <a:pt x="796520" y="1283511"/>
                  </a:lnTo>
                  <a:cubicBezTo>
                    <a:pt x="796520" y="1309677"/>
                    <a:pt x="775308" y="1330889"/>
                    <a:pt x="749142" y="1330889"/>
                  </a:cubicBezTo>
                  <a:lnTo>
                    <a:pt x="47378" y="1330889"/>
                  </a:lnTo>
                  <a:cubicBezTo>
                    <a:pt x="21212" y="1330889"/>
                    <a:pt x="0" y="1309677"/>
                    <a:pt x="0" y="1283511"/>
                  </a:cubicBezTo>
                  <a:lnTo>
                    <a:pt x="0" y="47378"/>
                  </a:lnTo>
                  <a:cubicBezTo>
                    <a:pt x="0" y="21212"/>
                    <a:pt x="21212" y="0"/>
                    <a:pt x="47378" y="0"/>
                  </a:cubicBezTo>
                  <a:close/>
                </a:path>
              </a:pathLst>
            </a:custGeom>
            <a:solidFill>
              <a:srgbClr val="2F7E9D"/>
            </a:solidFill>
            <a:ln cap="rnd" cmpd="sng" w="889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48" name="Google Shape;1448;h410af0035cb59894_0_19"/>
            <p:cNvSpPr txBox="1"/>
            <p:nvPr/>
          </p:nvSpPr>
          <p:spPr>
            <a:xfrm>
              <a:off x="0" y="-19050"/>
              <a:ext cx="796500" cy="13500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449" name="Google Shape;1449;h410af0035cb59894_0_19"/>
          <p:cNvGrpSpPr/>
          <p:nvPr/>
        </p:nvGrpSpPr>
        <p:grpSpPr>
          <a:xfrm>
            <a:off x="8532198" y="943072"/>
            <a:ext cx="2335725" cy="575537"/>
            <a:chOff x="0" y="-19050"/>
            <a:chExt cx="562500" cy="138600"/>
          </a:xfrm>
        </p:grpSpPr>
        <p:sp>
          <p:nvSpPr>
            <p:cNvPr id="1450" name="Google Shape;1450;h410af0035cb59894_0_19"/>
            <p:cNvSpPr/>
            <p:nvPr/>
          </p:nvSpPr>
          <p:spPr>
            <a:xfrm>
              <a:off x="0" y="0"/>
              <a:ext cx="562413" cy="119490"/>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rnd"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451" name="Google Shape;1451;h410af0035cb59894_0_19"/>
            <p:cNvSpPr txBox="1"/>
            <p:nvPr/>
          </p:nvSpPr>
          <p:spPr>
            <a:xfrm>
              <a:off x="0" y="-19050"/>
              <a:ext cx="562500" cy="1386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452" name="Google Shape;1452;h410af0035cb59894_0_19"/>
          <p:cNvSpPr/>
          <p:nvPr/>
        </p:nvSpPr>
        <p:spPr>
          <a:xfrm>
            <a:off x="8207695" y="1604401"/>
            <a:ext cx="497916" cy="679539"/>
          </a:xfrm>
          <a:custGeom>
            <a:rect b="b" l="l" r="r" t="t"/>
            <a:pathLst>
              <a:path extrusionOk="0" h="1018036" w="745942">
                <a:moveTo>
                  <a:pt x="0" y="0"/>
                </a:moveTo>
                <a:lnTo>
                  <a:pt x="745942" y="0"/>
                </a:lnTo>
                <a:lnTo>
                  <a:pt x="745942" y="1018035"/>
                </a:lnTo>
                <a:lnTo>
                  <a:pt x="0" y="1018035"/>
                </a:lnTo>
                <a:lnTo>
                  <a:pt x="0" y="0"/>
                </a:lnTo>
                <a:close/>
              </a:path>
            </a:pathLst>
          </a:custGeom>
          <a:blipFill rotWithShape="1">
            <a:blip r:embed="rId4">
              <a:alphaModFix/>
            </a:blip>
            <a:stretch>
              <a:fillRect b="0" l="0" r="0" t="0"/>
            </a:stretch>
          </a:blipFill>
          <a:ln>
            <a:noFill/>
          </a:ln>
        </p:spPr>
      </p:sp>
      <p:sp>
        <p:nvSpPr>
          <p:cNvPr id="1453" name="Google Shape;1453;h410af0035cb59894_0_19"/>
          <p:cNvSpPr/>
          <p:nvPr/>
        </p:nvSpPr>
        <p:spPr>
          <a:xfrm>
            <a:off x="8226733" y="3577731"/>
            <a:ext cx="500680" cy="501592"/>
          </a:xfrm>
          <a:custGeom>
            <a:rect b="b" l="l" r="r" t="t"/>
            <a:pathLst>
              <a:path extrusionOk="0" h="751449" w="750083">
                <a:moveTo>
                  <a:pt x="0" y="0"/>
                </a:moveTo>
                <a:lnTo>
                  <a:pt x="750083" y="0"/>
                </a:lnTo>
                <a:lnTo>
                  <a:pt x="750083" y="751450"/>
                </a:lnTo>
                <a:lnTo>
                  <a:pt x="0" y="751450"/>
                </a:lnTo>
                <a:lnTo>
                  <a:pt x="0" y="0"/>
                </a:lnTo>
                <a:close/>
              </a:path>
            </a:pathLst>
          </a:custGeom>
          <a:blipFill rotWithShape="1">
            <a:blip r:embed="rId5">
              <a:alphaModFix/>
            </a:blip>
            <a:stretch>
              <a:fillRect b="0" l="0" r="0" t="0"/>
            </a:stretch>
          </a:blipFill>
          <a:ln>
            <a:noFill/>
          </a:ln>
        </p:spPr>
      </p:sp>
      <p:sp>
        <p:nvSpPr>
          <p:cNvPr id="1454" name="Google Shape;1454;h410af0035cb59894_0_19"/>
          <p:cNvSpPr/>
          <p:nvPr/>
        </p:nvSpPr>
        <p:spPr>
          <a:xfrm>
            <a:off x="8226733" y="4411636"/>
            <a:ext cx="500680" cy="270368"/>
          </a:xfrm>
          <a:custGeom>
            <a:rect b="b" l="l" r="r" t="t"/>
            <a:pathLst>
              <a:path extrusionOk="0" h="405045" w="750083">
                <a:moveTo>
                  <a:pt x="0" y="0"/>
                </a:moveTo>
                <a:lnTo>
                  <a:pt x="750083" y="0"/>
                </a:lnTo>
                <a:lnTo>
                  <a:pt x="750083" y="405045"/>
                </a:lnTo>
                <a:lnTo>
                  <a:pt x="0" y="405045"/>
                </a:lnTo>
                <a:lnTo>
                  <a:pt x="0" y="0"/>
                </a:lnTo>
                <a:close/>
              </a:path>
            </a:pathLst>
          </a:custGeom>
          <a:blipFill rotWithShape="1">
            <a:blip r:embed="rId6">
              <a:alphaModFix/>
            </a:blip>
            <a:stretch>
              <a:fillRect b="0" l="0" r="0" t="0"/>
            </a:stretch>
          </a:blipFill>
          <a:ln>
            <a:noFill/>
          </a:ln>
        </p:spPr>
      </p:sp>
      <p:sp>
        <p:nvSpPr>
          <p:cNvPr id="1455" name="Google Shape;1455;h410af0035cb59894_0_19"/>
          <p:cNvSpPr/>
          <p:nvPr/>
        </p:nvSpPr>
        <p:spPr>
          <a:xfrm>
            <a:off x="8312208" y="2888467"/>
            <a:ext cx="329513" cy="470732"/>
          </a:xfrm>
          <a:custGeom>
            <a:rect b="b" l="l" r="r" t="t"/>
            <a:pathLst>
              <a:path extrusionOk="0" h="705217" w="493652">
                <a:moveTo>
                  <a:pt x="0" y="0"/>
                </a:moveTo>
                <a:lnTo>
                  <a:pt x="493652" y="0"/>
                </a:lnTo>
                <a:lnTo>
                  <a:pt x="493652" y="705216"/>
                </a:lnTo>
                <a:lnTo>
                  <a:pt x="0" y="705216"/>
                </a:lnTo>
                <a:lnTo>
                  <a:pt x="0" y="0"/>
                </a:lnTo>
                <a:close/>
              </a:path>
            </a:pathLst>
          </a:custGeom>
          <a:blipFill rotWithShape="1">
            <a:blip r:embed="rId7">
              <a:alphaModFix/>
            </a:blip>
            <a:stretch>
              <a:fillRect b="0" l="0" r="0" t="0"/>
            </a:stretch>
          </a:blipFill>
          <a:ln>
            <a:noFill/>
          </a:ln>
        </p:spPr>
      </p:sp>
      <p:sp>
        <p:nvSpPr>
          <p:cNvPr id="1456" name="Google Shape;1456;h410af0035cb59894_0_19"/>
          <p:cNvSpPr/>
          <p:nvPr/>
        </p:nvSpPr>
        <p:spPr>
          <a:xfrm>
            <a:off x="8252123" y="5484306"/>
            <a:ext cx="500680" cy="568577"/>
          </a:xfrm>
          <a:custGeom>
            <a:rect b="b" l="l" r="r" t="t"/>
            <a:pathLst>
              <a:path extrusionOk="0" h="851801" w="750083">
                <a:moveTo>
                  <a:pt x="0" y="0"/>
                </a:moveTo>
                <a:lnTo>
                  <a:pt x="750083" y="0"/>
                </a:lnTo>
                <a:lnTo>
                  <a:pt x="750083" y="851801"/>
                </a:lnTo>
                <a:lnTo>
                  <a:pt x="0" y="851801"/>
                </a:lnTo>
                <a:lnTo>
                  <a:pt x="0" y="0"/>
                </a:lnTo>
                <a:close/>
              </a:path>
            </a:pathLst>
          </a:custGeom>
          <a:blipFill rotWithShape="1">
            <a:blip r:embed="rId8">
              <a:alphaModFix/>
            </a:blip>
            <a:stretch>
              <a:fillRect b="0" l="0" r="0" t="0"/>
            </a:stretch>
          </a:blipFill>
          <a:ln>
            <a:noFill/>
          </a:ln>
        </p:spPr>
      </p:sp>
      <p:sp>
        <p:nvSpPr>
          <p:cNvPr id="1457" name="Google Shape;1457;h410af0035cb59894_0_19"/>
          <p:cNvSpPr txBox="1"/>
          <p:nvPr/>
        </p:nvSpPr>
        <p:spPr>
          <a:xfrm>
            <a:off x="5361471" y="1608796"/>
            <a:ext cx="1986300" cy="10158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Experts in Marketing, Customer Retention, Digital Product, Operations, Career Dev</a:t>
            </a:r>
            <a:endParaRPr sz="900"/>
          </a:p>
        </p:txBody>
      </p:sp>
      <p:sp>
        <p:nvSpPr>
          <p:cNvPr id="1458" name="Google Shape;1458;h410af0035cb59894_0_19"/>
          <p:cNvSpPr txBox="1"/>
          <p:nvPr/>
        </p:nvSpPr>
        <p:spPr>
          <a:xfrm>
            <a:off x="5383269" y="3517353"/>
            <a:ext cx="1964400" cy="7389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Academia, Government, Manufacturing, Retail, Technology</a:t>
            </a:r>
            <a:endParaRPr sz="900"/>
          </a:p>
        </p:txBody>
      </p:sp>
      <p:sp>
        <p:nvSpPr>
          <p:cNvPr id="1459" name="Google Shape;1459;h410af0035cb59894_0_19"/>
          <p:cNvSpPr txBox="1"/>
          <p:nvPr/>
        </p:nvSpPr>
        <p:spPr>
          <a:xfrm>
            <a:off x="5364231" y="4332593"/>
            <a:ext cx="1964400" cy="10158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Rey.ID, KitaBisa, Indosat Ooredoo Hutchison, Amar Bank,  Glints, UMY, Inspirasi Foundation</a:t>
            </a:r>
            <a:endParaRPr sz="900"/>
          </a:p>
        </p:txBody>
      </p:sp>
      <p:sp>
        <p:nvSpPr>
          <p:cNvPr id="1460" name="Google Shape;1460;h410af0035cb59894_0_19"/>
          <p:cNvSpPr txBox="1"/>
          <p:nvPr/>
        </p:nvSpPr>
        <p:spPr>
          <a:xfrm>
            <a:off x="5353319" y="2812267"/>
            <a:ext cx="16533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Semarang, Jakarta, Yogyakarta</a:t>
            </a:r>
            <a:endParaRPr sz="900"/>
          </a:p>
        </p:txBody>
      </p:sp>
      <p:sp>
        <p:nvSpPr>
          <p:cNvPr id="1461" name="Google Shape;1461;h410af0035cb59894_0_19"/>
          <p:cNvSpPr txBox="1"/>
          <p:nvPr/>
        </p:nvSpPr>
        <p:spPr>
          <a:xfrm>
            <a:off x="5225108" y="5425187"/>
            <a:ext cx="2411400" cy="1293000"/>
          </a:xfrm>
          <a:prstGeom prst="rect">
            <a:avLst/>
          </a:prstGeom>
          <a:noFill/>
          <a:ln>
            <a:noFill/>
          </a:ln>
        </p:spPr>
        <p:txBody>
          <a:bodyPr anchorCtr="0" anchor="t" bIns="0" lIns="0" spcFirstLastPara="1" rIns="0" wrap="square" tIns="0">
            <a:spAutoFit/>
          </a:bodyPr>
          <a:lstStyle/>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Social Media Mgt</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Customer Retention</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Digital Finance System</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Organizational Innovation</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Finance/Accounting/Tax</a:t>
            </a:r>
            <a:endParaRPr sz="900"/>
          </a:p>
        </p:txBody>
      </p:sp>
      <p:sp>
        <p:nvSpPr>
          <p:cNvPr id="1462" name="Google Shape;1462;h410af0035cb59894_0_19"/>
          <p:cNvSpPr txBox="1"/>
          <p:nvPr/>
        </p:nvSpPr>
        <p:spPr>
          <a:xfrm>
            <a:off x="1021367" y="220567"/>
            <a:ext cx="10149000" cy="569400"/>
          </a:xfrm>
          <a:prstGeom prst="rect">
            <a:avLst/>
          </a:prstGeom>
          <a:noFill/>
          <a:ln>
            <a:noFill/>
          </a:ln>
        </p:spPr>
        <p:txBody>
          <a:bodyPr anchorCtr="0" anchor="t" bIns="0" lIns="0" spcFirstLastPara="1" rIns="0" wrap="square" tIns="0">
            <a:spAutoFit/>
          </a:bodyPr>
          <a:lstStyle/>
          <a:p>
            <a:pPr indent="0" lvl="0" marL="0" marR="0" rtl="0" algn="ctr">
              <a:lnSpc>
                <a:spcPct val="114002"/>
              </a:lnSpc>
              <a:spcBef>
                <a:spcPts val="0"/>
              </a:spcBef>
              <a:spcAft>
                <a:spcPts val="0"/>
              </a:spcAft>
              <a:buNone/>
            </a:pPr>
            <a:r>
              <a:rPr b="1" i="0" lang="en-US" sz="3700" u="none" cap="none" strike="noStrike">
                <a:solidFill>
                  <a:srgbClr val="FFFFFF"/>
                </a:solidFill>
                <a:latin typeface="Arial"/>
                <a:ea typeface="Arial"/>
                <a:cs typeface="Arial"/>
                <a:sym typeface="Arial"/>
              </a:rPr>
              <a:t>What Our Experts Have Done</a:t>
            </a:r>
            <a:endParaRPr sz="900"/>
          </a:p>
        </p:txBody>
      </p:sp>
      <p:sp>
        <p:nvSpPr>
          <p:cNvPr id="1463" name="Google Shape;1463;h410af0035cb59894_0_19"/>
          <p:cNvSpPr txBox="1"/>
          <p:nvPr/>
        </p:nvSpPr>
        <p:spPr>
          <a:xfrm>
            <a:off x="1286126" y="1093357"/>
            <a:ext cx="2628000" cy="246300"/>
          </a:xfrm>
          <a:prstGeom prst="rect">
            <a:avLst/>
          </a:prstGeom>
          <a:noFill/>
          <a:ln>
            <a:noFill/>
          </a:ln>
        </p:spPr>
        <p:txBody>
          <a:bodyPr anchorCtr="0" anchor="t" bIns="0" lIns="0" spcFirstLastPara="1" rIns="0" wrap="square" tIns="0">
            <a:spAutoFit/>
          </a:bodyPr>
          <a:lstStyle/>
          <a:p>
            <a:pPr indent="0" lvl="0" marL="0" marR="0" rtl="0" algn="ctr">
              <a:lnSpc>
                <a:spcPct val="124010"/>
              </a:lnSpc>
              <a:spcBef>
                <a:spcPts val="0"/>
              </a:spcBef>
              <a:spcAft>
                <a:spcPts val="0"/>
              </a:spcAft>
              <a:buNone/>
            </a:pPr>
            <a:r>
              <a:rPr b="1" i="0" lang="en-US" sz="1600" u="none" cap="none" strike="noStrike">
                <a:solidFill>
                  <a:srgbClr val="000000"/>
                </a:solidFill>
                <a:latin typeface="Arial"/>
                <a:ea typeface="Arial"/>
                <a:cs typeface="Arial"/>
                <a:sym typeface="Arial"/>
              </a:rPr>
              <a:t>Consulting</a:t>
            </a:r>
            <a:endParaRPr sz="900"/>
          </a:p>
        </p:txBody>
      </p:sp>
      <p:sp>
        <p:nvSpPr>
          <p:cNvPr id="1464" name="Google Shape;1464;h410af0035cb59894_0_19"/>
          <p:cNvSpPr txBox="1"/>
          <p:nvPr/>
        </p:nvSpPr>
        <p:spPr>
          <a:xfrm>
            <a:off x="4865976" y="1082194"/>
            <a:ext cx="2628000" cy="246300"/>
          </a:xfrm>
          <a:prstGeom prst="rect">
            <a:avLst/>
          </a:prstGeom>
          <a:noFill/>
          <a:ln>
            <a:noFill/>
          </a:ln>
        </p:spPr>
        <p:txBody>
          <a:bodyPr anchorCtr="0" anchor="t" bIns="0" lIns="0" spcFirstLastPara="1" rIns="0" wrap="square" tIns="0">
            <a:spAutoFit/>
          </a:bodyPr>
          <a:lstStyle/>
          <a:p>
            <a:pPr indent="0" lvl="0" marL="0" marR="0" rtl="0" algn="ctr">
              <a:lnSpc>
                <a:spcPct val="124010"/>
              </a:lnSpc>
              <a:spcBef>
                <a:spcPts val="0"/>
              </a:spcBef>
              <a:spcAft>
                <a:spcPts val="0"/>
              </a:spcAft>
              <a:buNone/>
            </a:pPr>
            <a:r>
              <a:rPr b="1" i="0" lang="en-US" sz="1600" u="none" cap="none" strike="noStrike">
                <a:solidFill>
                  <a:srgbClr val="000000"/>
                </a:solidFill>
                <a:latin typeface="Arial"/>
                <a:ea typeface="Arial"/>
                <a:cs typeface="Arial"/>
                <a:sym typeface="Arial"/>
              </a:rPr>
              <a:t>Training</a:t>
            </a:r>
            <a:endParaRPr sz="900"/>
          </a:p>
        </p:txBody>
      </p:sp>
      <p:sp>
        <p:nvSpPr>
          <p:cNvPr id="1465" name="Google Shape;1465;h410af0035cb59894_0_19"/>
          <p:cNvSpPr txBox="1"/>
          <p:nvPr/>
        </p:nvSpPr>
        <p:spPr>
          <a:xfrm>
            <a:off x="1859101" y="1608796"/>
            <a:ext cx="1814700" cy="10158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Experts in Marketing, Business Roadmap, Operations, Sales Strategy, Finance/Tax</a:t>
            </a:r>
            <a:endParaRPr sz="900"/>
          </a:p>
        </p:txBody>
      </p:sp>
      <p:sp>
        <p:nvSpPr>
          <p:cNvPr id="1466" name="Google Shape;1466;h410af0035cb59894_0_19"/>
          <p:cNvSpPr txBox="1"/>
          <p:nvPr/>
        </p:nvSpPr>
        <p:spPr>
          <a:xfrm>
            <a:off x="1880899" y="3517353"/>
            <a:ext cx="1653300" cy="7389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Manufacturing, Technology, Retail, Government</a:t>
            </a:r>
            <a:endParaRPr sz="900"/>
          </a:p>
        </p:txBody>
      </p:sp>
      <p:sp>
        <p:nvSpPr>
          <p:cNvPr id="1467" name="Google Shape;1467;h410af0035cb59894_0_19"/>
          <p:cNvSpPr txBox="1"/>
          <p:nvPr/>
        </p:nvSpPr>
        <p:spPr>
          <a:xfrm>
            <a:off x="1880899" y="4361626"/>
            <a:ext cx="1793100" cy="7389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Amazon Alexa, Yakes Pertamina, Pemkot Yogyakarta, PT PIM</a:t>
            </a:r>
            <a:endParaRPr sz="900"/>
          </a:p>
        </p:txBody>
      </p:sp>
      <p:sp>
        <p:nvSpPr>
          <p:cNvPr id="1468" name="Google Shape;1468;h410af0035cb59894_0_19"/>
          <p:cNvSpPr txBox="1"/>
          <p:nvPr/>
        </p:nvSpPr>
        <p:spPr>
          <a:xfrm>
            <a:off x="1859101" y="2812267"/>
            <a:ext cx="16533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Cambridge, Jakarta, Yogyakarta, Aceh</a:t>
            </a:r>
            <a:endParaRPr sz="900"/>
          </a:p>
        </p:txBody>
      </p:sp>
      <p:sp>
        <p:nvSpPr>
          <p:cNvPr id="1469" name="Google Shape;1469;h410af0035cb59894_0_19"/>
          <p:cNvSpPr txBox="1"/>
          <p:nvPr/>
        </p:nvSpPr>
        <p:spPr>
          <a:xfrm>
            <a:off x="1722738" y="5425187"/>
            <a:ext cx="2155200" cy="1015800"/>
          </a:xfrm>
          <a:prstGeom prst="rect">
            <a:avLst/>
          </a:prstGeom>
          <a:noFill/>
          <a:ln>
            <a:noFill/>
          </a:ln>
        </p:spPr>
        <p:txBody>
          <a:bodyPr anchorCtr="0" anchor="t" bIns="0" lIns="0" spcFirstLastPara="1" rIns="0" wrap="square" tIns="0">
            <a:spAutoFit/>
          </a:bodyPr>
          <a:lstStyle/>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Customer Retention</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Operations Healthiness</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Workforce Analysis</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Business Diagnostics</a:t>
            </a:r>
            <a:endParaRPr sz="900"/>
          </a:p>
        </p:txBody>
      </p:sp>
      <p:sp>
        <p:nvSpPr>
          <p:cNvPr id="1470" name="Google Shape;1470;h410af0035cb59894_0_19"/>
          <p:cNvSpPr txBox="1"/>
          <p:nvPr/>
        </p:nvSpPr>
        <p:spPr>
          <a:xfrm>
            <a:off x="8445644" y="1093357"/>
            <a:ext cx="2628000" cy="246300"/>
          </a:xfrm>
          <a:prstGeom prst="rect">
            <a:avLst/>
          </a:prstGeom>
          <a:noFill/>
          <a:ln>
            <a:noFill/>
          </a:ln>
        </p:spPr>
        <p:txBody>
          <a:bodyPr anchorCtr="0" anchor="t" bIns="0" lIns="0" spcFirstLastPara="1" rIns="0" wrap="square" tIns="0">
            <a:spAutoFit/>
          </a:bodyPr>
          <a:lstStyle/>
          <a:p>
            <a:pPr indent="0" lvl="0" marL="0" marR="0" rtl="0" algn="ctr">
              <a:lnSpc>
                <a:spcPct val="124010"/>
              </a:lnSpc>
              <a:spcBef>
                <a:spcPts val="0"/>
              </a:spcBef>
              <a:spcAft>
                <a:spcPts val="0"/>
              </a:spcAft>
              <a:buNone/>
            </a:pPr>
            <a:r>
              <a:rPr b="1" i="0" lang="en-US" sz="1600" u="none" cap="none" strike="noStrike">
                <a:solidFill>
                  <a:srgbClr val="000000"/>
                </a:solidFill>
                <a:latin typeface="Arial"/>
                <a:ea typeface="Arial"/>
                <a:cs typeface="Arial"/>
                <a:sym typeface="Arial"/>
              </a:rPr>
              <a:t>Ops &amp; System Mgt</a:t>
            </a:r>
            <a:endParaRPr sz="900"/>
          </a:p>
        </p:txBody>
      </p:sp>
      <p:sp>
        <p:nvSpPr>
          <p:cNvPr id="1471" name="Google Shape;1471;h410af0035cb59894_0_19"/>
          <p:cNvSpPr txBox="1"/>
          <p:nvPr/>
        </p:nvSpPr>
        <p:spPr>
          <a:xfrm>
            <a:off x="8838323" y="1608796"/>
            <a:ext cx="2329500" cy="12930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Experts in Finance/Acct/Tax, HR, Operations, Customer Support, User Acquisition, Telemarketing, System Monitoring &amp; Implementation</a:t>
            </a:r>
            <a:endParaRPr sz="900"/>
          </a:p>
        </p:txBody>
      </p:sp>
      <p:sp>
        <p:nvSpPr>
          <p:cNvPr id="1472" name="Google Shape;1472;h410af0035cb59894_0_19"/>
          <p:cNvSpPr txBox="1"/>
          <p:nvPr/>
        </p:nvSpPr>
        <p:spPr>
          <a:xfrm>
            <a:off x="8863138" y="3483393"/>
            <a:ext cx="2210400" cy="7389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Manufacturing, Fashion, Technology, Retail, F&amp;B, Government, Family Office</a:t>
            </a:r>
            <a:endParaRPr sz="900"/>
          </a:p>
        </p:txBody>
      </p:sp>
      <p:sp>
        <p:nvSpPr>
          <p:cNvPr id="1473" name="Google Shape;1473;h410af0035cb59894_0_19"/>
          <p:cNvSpPr txBox="1"/>
          <p:nvPr/>
        </p:nvSpPr>
        <p:spPr>
          <a:xfrm>
            <a:off x="8863138" y="4361626"/>
            <a:ext cx="2210400" cy="10158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Supra, KitaBisa, Rey, One Click Life, Alterra, Riliv, AJS, Wiratama Institute, Freesa, Lingo Talk, Inisago, Kuncie</a:t>
            </a:r>
            <a:endParaRPr sz="900"/>
          </a:p>
        </p:txBody>
      </p:sp>
      <p:sp>
        <p:nvSpPr>
          <p:cNvPr id="1474" name="Google Shape;1474;h410af0035cb59894_0_19"/>
          <p:cNvSpPr txBox="1"/>
          <p:nvPr/>
        </p:nvSpPr>
        <p:spPr>
          <a:xfrm>
            <a:off x="8838415" y="2812267"/>
            <a:ext cx="1653300" cy="4617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US" sz="1200" u="none" cap="none" strike="noStrike">
                <a:solidFill>
                  <a:srgbClr val="FFFFFF"/>
                </a:solidFill>
                <a:latin typeface="Arial"/>
                <a:ea typeface="Arial"/>
                <a:cs typeface="Arial"/>
                <a:sym typeface="Arial"/>
              </a:rPr>
              <a:t>Cambridge, Jakarta, Yogyakarta, Aceh</a:t>
            </a:r>
            <a:endParaRPr sz="900"/>
          </a:p>
        </p:txBody>
      </p:sp>
      <p:sp>
        <p:nvSpPr>
          <p:cNvPr id="1475" name="Google Shape;1475;h410af0035cb59894_0_19"/>
          <p:cNvSpPr txBox="1"/>
          <p:nvPr/>
        </p:nvSpPr>
        <p:spPr>
          <a:xfrm>
            <a:off x="8728360" y="5408106"/>
            <a:ext cx="2439600" cy="1293000"/>
          </a:xfrm>
          <a:prstGeom prst="rect">
            <a:avLst/>
          </a:prstGeom>
          <a:noFill/>
          <a:ln>
            <a:noFill/>
          </a:ln>
        </p:spPr>
        <p:txBody>
          <a:bodyPr anchorCtr="0" anchor="t" bIns="0" lIns="0" spcFirstLastPara="1" rIns="0" wrap="square" tIns="0">
            <a:spAutoFit/>
          </a:bodyPr>
          <a:lstStyle/>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Customer Support</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HR Ops and Recruitment</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Invoicing/AR/Disbursement</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Customer Research</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Telemarketing B2C/B2B</a:t>
            </a:r>
            <a:endParaRPr sz="9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h410af0035cb59894_0_75"/>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grpSp>
        <p:nvGrpSpPr>
          <p:cNvPr id="1481" name="Google Shape;1481;h410af0035cb59894_0_75"/>
          <p:cNvGrpSpPr/>
          <p:nvPr/>
        </p:nvGrpSpPr>
        <p:grpSpPr>
          <a:xfrm>
            <a:off x="-1381848" y="0"/>
            <a:ext cx="15634681" cy="6858000"/>
            <a:chOff x="0" y="0"/>
            <a:chExt cx="31269361" cy="13716000"/>
          </a:xfrm>
        </p:grpSpPr>
        <p:sp>
          <p:nvSpPr>
            <p:cNvPr id="1482" name="Google Shape;1482;h410af0035cb59894_0_75"/>
            <p:cNvSpPr/>
            <p:nvPr/>
          </p:nvSpPr>
          <p:spPr>
            <a:xfrm>
              <a:off x="2763770" y="0"/>
              <a:ext cx="3623371" cy="6441548"/>
            </a:xfrm>
            <a:custGeom>
              <a:rect b="b" l="l" r="r" t="t"/>
              <a:pathLst>
                <a:path extrusionOk="0" h="6441548" w="3623371">
                  <a:moveTo>
                    <a:pt x="0" y="0"/>
                  </a:moveTo>
                  <a:lnTo>
                    <a:pt x="3623370" y="0"/>
                  </a:lnTo>
                  <a:lnTo>
                    <a:pt x="3623370" y="6441548"/>
                  </a:lnTo>
                  <a:lnTo>
                    <a:pt x="0" y="6441548"/>
                  </a:lnTo>
                  <a:lnTo>
                    <a:pt x="0" y="0"/>
                  </a:lnTo>
                  <a:close/>
                </a:path>
              </a:pathLst>
            </a:custGeom>
            <a:blipFill rotWithShape="1">
              <a:blip r:embed="rId4">
                <a:alphaModFix/>
              </a:blip>
              <a:stretch>
                <a:fillRect b="0" l="0" r="0" t="0"/>
              </a:stretch>
            </a:blipFill>
            <a:ln>
              <a:noFill/>
            </a:ln>
          </p:spPr>
        </p:sp>
        <p:sp>
          <p:nvSpPr>
            <p:cNvPr id="1483" name="Google Shape;1483;h410af0035cb59894_0_75"/>
            <p:cNvSpPr/>
            <p:nvPr/>
          </p:nvSpPr>
          <p:spPr>
            <a:xfrm>
              <a:off x="6387140" y="0"/>
              <a:ext cx="10637098" cy="6441548"/>
            </a:xfrm>
            <a:custGeom>
              <a:rect b="b" l="l" r="r" t="t"/>
              <a:pathLst>
                <a:path extrusionOk="0" h="6441548" w="10637098">
                  <a:moveTo>
                    <a:pt x="0" y="0"/>
                  </a:moveTo>
                  <a:lnTo>
                    <a:pt x="10637098" y="0"/>
                  </a:lnTo>
                  <a:lnTo>
                    <a:pt x="10637098" y="6441548"/>
                  </a:lnTo>
                  <a:lnTo>
                    <a:pt x="0" y="6441548"/>
                  </a:lnTo>
                  <a:lnTo>
                    <a:pt x="0" y="0"/>
                  </a:lnTo>
                  <a:close/>
                </a:path>
              </a:pathLst>
            </a:custGeom>
            <a:blipFill rotWithShape="1">
              <a:blip r:embed="rId5">
                <a:alphaModFix/>
              </a:blip>
              <a:stretch>
                <a:fillRect b="0" l="-7660" r="0" t="0"/>
              </a:stretch>
            </a:blipFill>
            <a:ln>
              <a:noFill/>
            </a:ln>
          </p:spPr>
        </p:sp>
        <p:sp>
          <p:nvSpPr>
            <p:cNvPr id="1484" name="Google Shape;1484;h410af0035cb59894_0_75"/>
            <p:cNvSpPr/>
            <p:nvPr/>
          </p:nvSpPr>
          <p:spPr>
            <a:xfrm>
              <a:off x="0" y="6441548"/>
              <a:ext cx="12932359" cy="7274452"/>
            </a:xfrm>
            <a:custGeom>
              <a:rect b="b" l="l" r="r" t="t"/>
              <a:pathLst>
                <a:path extrusionOk="0" h="7274452" w="12932359">
                  <a:moveTo>
                    <a:pt x="0" y="0"/>
                  </a:moveTo>
                  <a:lnTo>
                    <a:pt x="12932359" y="0"/>
                  </a:lnTo>
                  <a:lnTo>
                    <a:pt x="12932359" y="7274452"/>
                  </a:lnTo>
                  <a:lnTo>
                    <a:pt x="0" y="7274452"/>
                  </a:lnTo>
                  <a:lnTo>
                    <a:pt x="0" y="0"/>
                  </a:lnTo>
                  <a:close/>
                </a:path>
              </a:pathLst>
            </a:custGeom>
            <a:blipFill rotWithShape="1">
              <a:blip r:embed="rId6">
                <a:alphaModFix/>
              </a:blip>
              <a:stretch>
                <a:fillRect b="0" l="0" r="0" t="0"/>
              </a:stretch>
            </a:blipFill>
            <a:ln>
              <a:noFill/>
            </a:ln>
          </p:spPr>
        </p:sp>
        <p:sp>
          <p:nvSpPr>
            <p:cNvPr id="1485" name="Google Shape;1485;h410af0035cb59894_0_75"/>
            <p:cNvSpPr/>
            <p:nvPr/>
          </p:nvSpPr>
          <p:spPr>
            <a:xfrm>
              <a:off x="12932359" y="6441548"/>
              <a:ext cx="4091879" cy="7274452"/>
            </a:xfrm>
            <a:custGeom>
              <a:rect b="b" l="l" r="r" t="t"/>
              <a:pathLst>
                <a:path extrusionOk="0" h="7274452" w="4091879">
                  <a:moveTo>
                    <a:pt x="0" y="0"/>
                  </a:moveTo>
                  <a:lnTo>
                    <a:pt x="4091879" y="0"/>
                  </a:lnTo>
                  <a:lnTo>
                    <a:pt x="4091879" y="7274452"/>
                  </a:lnTo>
                  <a:lnTo>
                    <a:pt x="0" y="7274452"/>
                  </a:lnTo>
                  <a:lnTo>
                    <a:pt x="0" y="0"/>
                  </a:lnTo>
                  <a:close/>
                </a:path>
              </a:pathLst>
            </a:custGeom>
            <a:blipFill rotWithShape="1">
              <a:blip r:embed="rId7">
                <a:alphaModFix/>
              </a:blip>
              <a:stretch>
                <a:fillRect b="0" l="0" r="0" t="0"/>
              </a:stretch>
            </a:blipFill>
            <a:ln>
              <a:noFill/>
            </a:ln>
          </p:spPr>
        </p:sp>
        <p:sp>
          <p:nvSpPr>
            <p:cNvPr id="1486" name="Google Shape;1486;h410af0035cb59894_0_75"/>
            <p:cNvSpPr/>
            <p:nvPr/>
          </p:nvSpPr>
          <p:spPr>
            <a:xfrm>
              <a:off x="17024238" y="0"/>
              <a:ext cx="5135054" cy="6858000"/>
            </a:xfrm>
            <a:custGeom>
              <a:rect b="b" l="l" r="r" t="t"/>
              <a:pathLst>
                <a:path extrusionOk="0" h="6858000" w="5135054">
                  <a:moveTo>
                    <a:pt x="0" y="0"/>
                  </a:moveTo>
                  <a:lnTo>
                    <a:pt x="5135054" y="0"/>
                  </a:lnTo>
                  <a:lnTo>
                    <a:pt x="5135054" y="6858000"/>
                  </a:lnTo>
                  <a:lnTo>
                    <a:pt x="0" y="6858000"/>
                  </a:lnTo>
                  <a:lnTo>
                    <a:pt x="0" y="0"/>
                  </a:lnTo>
                  <a:close/>
                </a:path>
              </a:pathLst>
            </a:custGeom>
            <a:blipFill rotWithShape="1">
              <a:blip r:embed="rId8">
                <a:alphaModFix/>
              </a:blip>
              <a:stretch>
                <a:fillRect b="0" l="0" r="0" t="0"/>
              </a:stretch>
            </a:blipFill>
            <a:ln>
              <a:noFill/>
            </a:ln>
          </p:spPr>
        </p:sp>
        <p:sp>
          <p:nvSpPr>
            <p:cNvPr id="1487" name="Google Shape;1487;h410af0035cb59894_0_75"/>
            <p:cNvSpPr/>
            <p:nvPr/>
          </p:nvSpPr>
          <p:spPr>
            <a:xfrm>
              <a:off x="22159292" y="12078"/>
              <a:ext cx="9110069" cy="6845922"/>
            </a:xfrm>
            <a:custGeom>
              <a:rect b="b" l="l" r="r" t="t"/>
              <a:pathLst>
                <a:path extrusionOk="0" h="6845922" w="9110069">
                  <a:moveTo>
                    <a:pt x="0" y="0"/>
                  </a:moveTo>
                  <a:lnTo>
                    <a:pt x="9110069" y="0"/>
                  </a:lnTo>
                  <a:lnTo>
                    <a:pt x="9110069" y="6845922"/>
                  </a:lnTo>
                  <a:lnTo>
                    <a:pt x="0" y="6845922"/>
                  </a:lnTo>
                  <a:lnTo>
                    <a:pt x="0" y="0"/>
                  </a:lnTo>
                  <a:close/>
                </a:path>
              </a:pathLst>
            </a:custGeom>
            <a:blipFill rotWithShape="1">
              <a:blip r:embed="rId9">
                <a:alphaModFix/>
              </a:blip>
              <a:stretch>
                <a:fillRect b="0" l="0" r="0" t="0"/>
              </a:stretch>
            </a:blipFill>
            <a:ln>
              <a:noFill/>
            </a:ln>
          </p:spPr>
        </p:sp>
        <p:sp>
          <p:nvSpPr>
            <p:cNvPr id="1488" name="Google Shape;1488;h410af0035cb59894_0_75"/>
            <p:cNvSpPr/>
            <p:nvPr/>
          </p:nvSpPr>
          <p:spPr>
            <a:xfrm>
              <a:off x="17024238" y="6858000"/>
              <a:ext cx="9110069" cy="6845922"/>
            </a:xfrm>
            <a:custGeom>
              <a:rect b="b" l="l" r="r" t="t"/>
              <a:pathLst>
                <a:path extrusionOk="0" h="6845922" w="9110069">
                  <a:moveTo>
                    <a:pt x="0" y="0"/>
                  </a:moveTo>
                  <a:lnTo>
                    <a:pt x="9110069" y="0"/>
                  </a:lnTo>
                  <a:lnTo>
                    <a:pt x="9110069" y="6845922"/>
                  </a:lnTo>
                  <a:lnTo>
                    <a:pt x="0" y="6845922"/>
                  </a:lnTo>
                  <a:lnTo>
                    <a:pt x="0" y="0"/>
                  </a:lnTo>
                  <a:close/>
                </a:path>
              </a:pathLst>
            </a:custGeom>
            <a:blipFill rotWithShape="1">
              <a:blip r:embed="rId9">
                <a:alphaModFix/>
              </a:blip>
              <a:stretch>
                <a:fillRect b="0" l="0" r="0" t="0"/>
              </a:stretch>
            </a:blipFill>
            <a:ln>
              <a:noFill/>
            </a:ln>
          </p:spPr>
        </p:sp>
        <p:sp>
          <p:nvSpPr>
            <p:cNvPr id="1489" name="Google Shape;1489;h410af0035cb59894_0_75"/>
            <p:cNvSpPr/>
            <p:nvPr/>
          </p:nvSpPr>
          <p:spPr>
            <a:xfrm>
              <a:off x="26134307" y="6858000"/>
              <a:ext cx="5135054" cy="6858000"/>
            </a:xfrm>
            <a:custGeom>
              <a:rect b="b" l="l" r="r" t="t"/>
              <a:pathLst>
                <a:path extrusionOk="0" h="6858000" w="5135054">
                  <a:moveTo>
                    <a:pt x="0" y="0"/>
                  </a:moveTo>
                  <a:lnTo>
                    <a:pt x="5135054" y="0"/>
                  </a:lnTo>
                  <a:lnTo>
                    <a:pt x="5135054" y="6858000"/>
                  </a:lnTo>
                  <a:lnTo>
                    <a:pt x="0" y="6858000"/>
                  </a:lnTo>
                  <a:lnTo>
                    <a:pt x="0" y="0"/>
                  </a:lnTo>
                  <a:close/>
                </a:path>
              </a:pathLst>
            </a:custGeom>
            <a:blipFill rotWithShape="1">
              <a:blip r:embed="rId8">
                <a:alphaModFix/>
              </a:blip>
              <a:stretch>
                <a:fillRect b="0" l="0" r="0" t="0"/>
              </a:stretch>
            </a:blipFill>
            <a:ln>
              <a:noFill/>
            </a:ln>
          </p:spPr>
        </p:sp>
      </p:grpSp>
      <p:grpSp>
        <p:nvGrpSpPr>
          <p:cNvPr id="1490" name="Google Shape;1490;h410af0035cb59894_0_75"/>
          <p:cNvGrpSpPr/>
          <p:nvPr/>
        </p:nvGrpSpPr>
        <p:grpSpPr>
          <a:xfrm>
            <a:off x="620777" y="1115115"/>
            <a:ext cx="10949764" cy="5355870"/>
            <a:chOff x="0" y="-114300"/>
            <a:chExt cx="4326089" cy="2115941"/>
          </a:xfrm>
        </p:grpSpPr>
        <p:sp>
          <p:nvSpPr>
            <p:cNvPr id="1491" name="Google Shape;1491;h410af0035cb59894_0_75"/>
            <p:cNvSpPr/>
            <p:nvPr/>
          </p:nvSpPr>
          <p:spPr>
            <a:xfrm>
              <a:off x="0" y="0"/>
              <a:ext cx="4326089" cy="2001641"/>
            </a:xfrm>
            <a:custGeom>
              <a:rect b="b" l="l" r="r" t="t"/>
              <a:pathLst>
                <a:path extrusionOk="0" h="2001641" w="4326089">
                  <a:moveTo>
                    <a:pt x="0" y="0"/>
                  </a:moveTo>
                  <a:lnTo>
                    <a:pt x="4326089" y="0"/>
                  </a:lnTo>
                  <a:lnTo>
                    <a:pt x="4326089" y="2001641"/>
                  </a:lnTo>
                  <a:lnTo>
                    <a:pt x="0" y="2001641"/>
                  </a:lnTo>
                  <a:close/>
                </a:path>
              </a:pathLst>
            </a:custGeom>
            <a:solidFill>
              <a:srgbClr val="FFFFFF">
                <a:alpha val="89800"/>
              </a:srgbClr>
            </a:solidFill>
            <a:ln>
              <a:noFill/>
            </a:ln>
          </p:spPr>
        </p:sp>
        <p:sp>
          <p:nvSpPr>
            <p:cNvPr id="1492" name="Google Shape;1492;h410af0035cb59894_0_75"/>
            <p:cNvSpPr txBox="1"/>
            <p:nvPr/>
          </p:nvSpPr>
          <p:spPr>
            <a:xfrm>
              <a:off x="0" y="-114300"/>
              <a:ext cx="4326000" cy="21159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493" name="Google Shape;1493;h410af0035cb59894_0_75"/>
          <p:cNvSpPr txBox="1"/>
          <p:nvPr/>
        </p:nvSpPr>
        <p:spPr>
          <a:xfrm>
            <a:off x="831511" y="175375"/>
            <a:ext cx="10528500" cy="15810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4800" u="none" cap="none" strike="noStrike">
                <a:solidFill>
                  <a:srgbClr val="FFFFFF"/>
                </a:solidFill>
                <a:latin typeface="Arial"/>
                <a:ea typeface="Arial"/>
                <a:cs typeface="Arial"/>
                <a:sym typeface="Arial"/>
              </a:rPr>
              <a:t>TRUSTED BY LEADING COMPANIES</a:t>
            </a:r>
            <a:endParaRPr sz="900"/>
          </a:p>
        </p:txBody>
      </p:sp>
      <p:sp>
        <p:nvSpPr>
          <p:cNvPr id="1494" name="Google Shape;1494;h410af0035cb59894_0_75"/>
          <p:cNvSpPr txBox="1"/>
          <p:nvPr/>
        </p:nvSpPr>
        <p:spPr>
          <a:xfrm>
            <a:off x="5828435" y="6130544"/>
            <a:ext cx="5585400" cy="246300"/>
          </a:xfrm>
          <a:prstGeom prst="rect">
            <a:avLst/>
          </a:prstGeom>
          <a:noFill/>
          <a:ln>
            <a:noFill/>
          </a:ln>
        </p:spPr>
        <p:txBody>
          <a:bodyPr anchorCtr="0" anchor="t" bIns="0" lIns="0" spcFirstLastPara="1" rIns="0" wrap="square" tIns="0">
            <a:spAutoFit/>
          </a:bodyPr>
          <a:lstStyle/>
          <a:p>
            <a:pPr indent="0" lvl="0" marL="0" marR="0" rtl="0" algn="r">
              <a:lnSpc>
                <a:spcPct val="119958"/>
              </a:lnSpc>
              <a:spcBef>
                <a:spcPts val="0"/>
              </a:spcBef>
              <a:spcAft>
                <a:spcPts val="0"/>
              </a:spcAft>
              <a:buNone/>
            </a:pPr>
            <a:r>
              <a:rPr b="1" i="0" lang="en-US" sz="1600" u="none" cap="none" strike="noStrike">
                <a:solidFill>
                  <a:srgbClr val="073763"/>
                </a:solidFill>
                <a:latin typeface="Arial"/>
                <a:ea typeface="Arial"/>
                <a:cs typeface="Arial"/>
                <a:sym typeface="Arial"/>
              </a:rPr>
              <a:t>and many more training events and collaborations!</a:t>
            </a:r>
            <a:endParaRPr sz="900"/>
          </a:p>
        </p:txBody>
      </p:sp>
      <p:sp>
        <p:nvSpPr>
          <p:cNvPr id="1495" name="Google Shape;1495;h410af0035cb59894_0_75"/>
          <p:cNvSpPr/>
          <p:nvPr/>
        </p:nvSpPr>
        <p:spPr>
          <a:xfrm>
            <a:off x="5724345" y="3597438"/>
            <a:ext cx="1393184" cy="459751"/>
          </a:xfrm>
          <a:custGeom>
            <a:rect b="b" l="l" r="r" t="t"/>
            <a:pathLst>
              <a:path extrusionOk="0" h="688765" w="2087167">
                <a:moveTo>
                  <a:pt x="0" y="0"/>
                </a:moveTo>
                <a:lnTo>
                  <a:pt x="2087167" y="0"/>
                </a:lnTo>
                <a:lnTo>
                  <a:pt x="2087167" y="688765"/>
                </a:lnTo>
                <a:lnTo>
                  <a:pt x="0" y="688765"/>
                </a:lnTo>
                <a:lnTo>
                  <a:pt x="0" y="0"/>
                </a:lnTo>
                <a:close/>
              </a:path>
            </a:pathLst>
          </a:custGeom>
          <a:blipFill rotWithShape="1">
            <a:blip r:embed="rId10">
              <a:alphaModFix/>
            </a:blip>
            <a:stretch>
              <a:fillRect b="0" l="0" r="0" t="0"/>
            </a:stretch>
          </a:blipFill>
          <a:ln>
            <a:noFill/>
          </a:ln>
        </p:spPr>
      </p:sp>
      <p:sp>
        <p:nvSpPr>
          <p:cNvPr id="1496" name="Google Shape;1496;h410af0035cb59894_0_75"/>
          <p:cNvSpPr/>
          <p:nvPr/>
        </p:nvSpPr>
        <p:spPr>
          <a:xfrm>
            <a:off x="10465400" y="4395043"/>
            <a:ext cx="890324" cy="323101"/>
          </a:xfrm>
          <a:custGeom>
            <a:rect b="b" l="l" r="r" t="t"/>
            <a:pathLst>
              <a:path extrusionOk="0" h="484047" w="1333819">
                <a:moveTo>
                  <a:pt x="0" y="0"/>
                </a:moveTo>
                <a:lnTo>
                  <a:pt x="1333819" y="0"/>
                </a:lnTo>
                <a:lnTo>
                  <a:pt x="1333819" y="484047"/>
                </a:lnTo>
                <a:lnTo>
                  <a:pt x="0" y="484047"/>
                </a:lnTo>
                <a:lnTo>
                  <a:pt x="0" y="0"/>
                </a:lnTo>
                <a:close/>
              </a:path>
            </a:pathLst>
          </a:custGeom>
          <a:blipFill rotWithShape="1">
            <a:blip r:embed="rId11">
              <a:alphaModFix/>
            </a:blip>
            <a:stretch>
              <a:fillRect b="0" l="0" r="0" t="0"/>
            </a:stretch>
          </a:blipFill>
          <a:ln>
            <a:noFill/>
          </a:ln>
        </p:spPr>
      </p:sp>
      <p:sp>
        <p:nvSpPr>
          <p:cNvPr id="1497" name="Google Shape;1497;h410af0035cb59894_0_75"/>
          <p:cNvSpPr/>
          <p:nvPr/>
        </p:nvSpPr>
        <p:spPr>
          <a:xfrm>
            <a:off x="4982239" y="2829157"/>
            <a:ext cx="974739" cy="494680"/>
          </a:xfrm>
          <a:custGeom>
            <a:rect b="b" l="l" r="r" t="t"/>
            <a:pathLst>
              <a:path extrusionOk="0" h="741093" w="1460283">
                <a:moveTo>
                  <a:pt x="0" y="0"/>
                </a:moveTo>
                <a:lnTo>
                  <a:pt x="1460283" y="0"/>
                </a:lnTo>
                <a:lnTo>
                  <a:pt x="1460283" y="741093"/>
                </a:lnTo>
                <a:lnTo>
                  <a:pt x="0" y="741093"/>
                </a:lnTo>
                <a:lnTo>
                  <a:pt x="0" y="0"/>
                </a:lnTo>
                <a:close/>
              </a:path>
            </a:pathLst>
          </a:custGeom>
          <a:blipFill rotWithShape="1">
            <a:blip r:embed="rId12">
              <a:alphaModFix/>
            </a:blip>
            <a:stretch>
              <a:fillRect b="0" l="0" r="0" t="0"/>
            </a:stretch>
          </a:blipFill>
          <a:ln>
            <a:noFill/>
          </a:ln>
        </p:spPr>
      </p:sp>
      <p:sp>
        <p:nvSpPr>
          <p:cNvPr id="1498" name="Google Shape;1498;h410af0035cb59894_0_75"/>
          <p:cNvSpPr/>
          <p:nvPr/>
        </p:nvSpPr>
        <p:spPr>
          <a:xfrm>
            <a:off x="4356733" y="4919318"/>
            <a:ext cx="693840" cy="693840"/>
          </a:xfrm>
          <a:custGeom>
            <a:rect b="b" l="l" r="r" t="t"/>
            <a:pathLst>
              <a:path extrusionOk="0" h="1039460" w="1039460">
                <a:moveTo>
                  <a:pt x="0" y="0"/>
                </a:moveTo>
                <a:lnTo>
                  <a:pt x="1039460" y="0"/>
                </a:lnTo>
                <a:lnTo>
                  <a:pt x="1039460" y="1039460"/>
                </a:lnTo>
                <a:lnTo>
                  <a:pt x="0" y="1039460"/>
                </a:lnTo>
                <a:lnTo>
                  <a:pt x="0" y="0"/>
                </a:lnTo>
                <a:close/>
              </a:path>
            </a:pathLst>
          </a:custGeom>
          <a:blipFill rotWithShape="1">
            <a:blip r:embed="rId13">
              <a:alphaModFix/>
            </a:blip>
            <a:stretch>
              <a:fillRect b="0" l="0" r="0" t="0"/>
            </a:stretch>
          </a:blipFill>
          <a:ln>
            <a:noFill/>
          </a:ln>
        </p:spPr>
      </p:sp>
      <p:sp>
        <p:nvSpPr>
          <p:cNvPr id="1499" name="Google Shape;1499;h410af0035cb59894_0_75"/>
          <p:cNvSpPr/>
          <p:nvPr/>
        </p:nvSpPr>
        <p:spPr>
          <a:xfrm>
            <a:off x="8069694" y="2754201"/>
            <a:ext cx="2223334" cy="569729"/>
          </a:xfrm>
          <a:custGeom>
            <a:rect b="b" l="l" r="r" t="t"/>
            <a:pathLst>
              <a:path extrusionOk="0" h="853527" w="3330838">
                <a:moveTo>
                  <a:pt x="0" y="0"/>
                </a:moveTo>
                <a:lnTo>
                  <a:pt x="3330838" y="0"/>
                </a:lnTo>
                <a:lnTo>
                  <a:pt x="3330838" y="853527"/>
                </a:lnTo>
                <a:lnTo>
                  <a:pt x="0" y="853527"/>
                </a:lnTo>
                <a:lnTo>
                  <a:pt x="0" y="0"/>
                </a:lnTo>
                <a:close/>
              </a:path>
            </a:pathLst>
          </a:custGeom>
          <a:blipFill rotWithShape="1">
            <a:blip r:embed="rId14">
              <a:alphaModFix/>
            </a:blip>
            <a:stretch>
              <a:fillRect b="0" l="0" r="0" t="0"/>
            </a:stretch>
          </a:blipFill>
          <a:ln>
            <a:noFill/>
          </a:ln>
        </p:spPr>
      </p:sp>
      <p:sp>
        <p:nvSpPr>
          <p:cNvPr id="1500" name="Google Shape;1500;h410af0035cb59894_0_75"/>
          <p:cNvSpPr/>
          <p:nvPr/>
        </p:nvSpPr>
        <p:spPr>
          <a:xfrm>
            <a:off x="6079733" y="4202704"/>
            <a:ext cx="1392390" cy="681691"/>
          </a:xfrm>
          <a:custGeom>
            <a:rect b="b" l="l" r="r" t="t"/>
            <a:pathLst>
              <a:path extrusionOk="0" h="1021260" w="2085978">
                <a:moveTo>
                  <a:pt x="0" y="0"/>
                </a:moveTo>
                <a:lnTo>
                  <a:pt x="2085977" y="0"/>
                </a:lnTo>
                <a:lnTo>
                  <a:pt x="2085977" y="1021260"/>
                </a:lnTo>
                <a:lnTo>
                  <a:pt x="0" y="1021260"/>
                </a:lnTo>
                <a:lnTo>
                  <a:pt x="0" y="0"/>
                </a:lnTo>
                <a:close/>
              </a:path>
            </a:pathLst>
          </a:custGeom>
          <a:blipFill rotWithShape="1">
            <a:blip r:embed="rId15">
              <a:alphaModFix/>
            </a:blip>
            <a:stretch>
              <a:fillRect b="-25979" l="-11110" r="-18620" t="-23070"/>
            </a:stretch>
          </a:blipFill>
          <a:ln>
            <a:noFill/>
          </a:ln>
        </p:spPr>
      </p:sp>
      <p:sp>
        <p:nvSpPr>
          <p:cNvPr id="1501" name="Google Shape;1501;h410af0035cb59894_0_75"/>
          <p:cNvSpPr/>
          <p:nvPr/>
        </p:nvSpPr>
        <p:spPr>
          <a:xfrm>
            <a:off x="3559610" y="2754201"/>
            <a:ext cx="1377572" cy="586607"/>
          </a:xfrm>
          <a:custGeom>
            <a:rect b="b" l="l" r="r" t="t"/>
            <a:pathLst>
              <a:path extrusionOk="0" h="878812" w="2063778">
                <a:moveTo>
                  <a:pt x="0" y="0"/>
                </a:moveTo>
                <a:lnTo>
                  <a:pt x="2063777" y="0"/>
                </a:lnTo>
                <a:lnTo>
                  <a:pt x="2063777" y="878812"/>
                </a:lnTo>
                <a:lnTo>
                  <a:pt x="0" y="878812"/>
                </a:lnTo>
                <a:lnTo>
                  <a:pt x="0" y="0"/>
                </a:lnTo>
                <a:close/>
              </a:path>
            </a:pathLst>
          </a:custGeom>
          <a:blipFill rotWithShape="1">
            <a:blip r:embed="rId16">
              <a:alphaModFix/>
            </a:blip>
            <a:stretch>
              <a:fillRect b="-66632" l="0" r="-820" t="-70122"/>
            </a:stretch>
          </a:blipFill>
          <a:ln>
            <a:noFill/>
          </a:ln>
        </p:spPr>
      </p:sp>
      <p:sp>
        <p:nvSpPr>
          <p:cNvPr id="1502" name="Google Shape;1502;h410af0035cb59894_0_75"/>
          <p:cNvSpPr/>
          <p:nvPr/>
        </p:nvSpPr>
        <p:spPr>
          <a:xfrm>
            <a:off x="3988100" y="3508479"/>
            <a:ext cx="1906891" cy="586369"/>
          </a:xfrm>
          <a:custGeom>
            <a:rect b="b" l="l" r="r" t="t"/>
            <a:pathLst>
              <a:path extrusionOk="0" h="878456" w="2856766">
                <a:moveTo>
                  <a:pt x="0" y="0"/>
                </a:moveTo>
                <a:lnTo>
                  <a:pt x="2856766" y="0"/>
                </a:lnTo>
                <a:lnTo>
                  <a:pt x="2856766" y="878456"/>
                </a:lnTo>
                <a:lnTo>
                  <a:pt x="0" y="878456"/>
                </a:lnTo>
                <a:lnTo>
                  <a:pt x="0" y="0"/>
                </a:lnTo>
                <a:close/>
              </a:path>
            </a:pathLst>
          </a:custGeom>
          <a:blipFill rotWithShape="1">
            <a:blip r:embed="rId17">
              <a:alphaModFix/>
            </a:blip>
            <a:stretch>
              <a:fillRect b="0" l="0" r="0" t="0"/>
            </a:stretch>
          </a:blipFill>
          <a:ln>
            <a:noFill/>
          </a:ln>
        </p:spPr>
      </p:sp>
      <p:sp>
        <p:nvSpPr>
          <p:cNvPr id="1503" name="Google Shape;1503;h410af0035cb59894_0_75"/>
          <p:cNvSpPr/>
          <p:nvPr/>
        </p:nvSpPr>
        <p:spPr>
          <a:xfrm>
            <a:off x="10403459" y="2707967"/>
            <a:ext cx="772803" cy="601598"/>
          </a:xfrm>
          <a:custGeom>
            <a:rect b="b" l="l" r="r" t="t"/>
            <a:pathLst>
              <a:path extrusionOk="0" h="901270" w="1157758">
                <a:moveTo>
                  <a:pt x="0" y="0"/>
                </a:moveTo>
                <a:lnTo>
                  <a:pt x="1157758" y="0"/>
                </a:lnTo>
                <a:lnTo>
                  <a:pt x="1157758" y="901270"/>
                </a:lnTo>
                <a:lnTo>
                  <a:pt x="0" y="901270"/>
                </a:lnTo>
                <a:lnTo>
                  <a:pt x="0" y="0"/>
                </a:lnTo>
                <a:close/>
              </a:path>
            </a:pathLst>
          </a:custGeom>
          <a:blipFill rotWithShape="1">
            <a:blip r:embed="rId18">
              <a:alphaModFix/>
            </a:blip>
            <a:stretch>
              <a:fillRect b="0" l="0" r="0" t="0"/>
            </a:stretch>
          </a:blipFill>
          <a:ln>
            <a:noFill/>
          </a:ln>
        </p:spPr>
      </p:sp>
      <p:sp>
        <p:nvSpPr>
          <p:cNvPr id="1504" name="Google Shape;1504;h410af0035cb59894_0_75"/>
          <p:cNvSpPr/>
          <p:nvPr/>
        </p:nvSpPr>
        <p:spPr>
          <a:xfrm>
            <a:off x="9081647" y="3605764"/>
            <a:ext cx="1989898" cy="369277"/>
          </a:xfrm>
          <a:custGeom>
            <a:rect b="b" l="l" r="r" t="t"/>
            <a:pathLst>
              <a:path extrusionOk="0" h="553224" w="2981120">
                <a:moveTo>
                  <a:pt x="0" y="0"/>
                </a:moveTo>
                <a:lnTo>
                  <a:pt x="2981120" y="0"/>
                </a:lnTo>
                <a:lnTo>
                  <a:pt x="2981120" y="553224"/>
                </a:lnTo>
                <a:lnTo>
                  <a:pt x="0" y="553224"/>
                </a:lnTo>
                <a:lnTo>
                  <a:pt x="0" y="0"/>
                </a:lnTo>
                <a:close/>
              </a:path>
            </a:pathLst>
          </a:custGeom>
          <a:blipFill rotWithShape="1">
            <a:blip r:embed="rId19">
              <a:alphaModFix/>
            </a:blip>
            <a:stretch>
              <a:fillRect b="-21650" l="-1510" r="0" t="-21640"/>
            </a:stretch>
          </a:blipFill>
          <a:ln>
            <a:noFill/>
          </a:ln>
        </p:spPr>
      </p:sp>
      <p:sp>
        <p:nvSpPr>
          <p:cNvPr id="1505" name="Google Shape;1505;h410af0035cb59894_0_75"/>
          <p:cNvSpPr/>
          <p:nvPr/>
        </p:nvSpPr>
        <p:spPr>
          <a:xfrm>
            <a:off x="2264123" y="4374257"/>
            <a:ext cx="1397706" cy="317978"/>
          </a:xfrm>
          <a:custGeom>
            <a:rect b="b" l="l" r="r" t="t"/>
            <a:pathLst>
              <a:path extrusionOk="0" h="476372" w="2093941">
                <a:moveTo>
                  <a:pt x="0" y="0"/>
                </a:moveTo>
                <a:lnTo>
                  <a:pt x="2093941" y="0"/>
                </a:lnTo>
                <a:lnTo>
                  <a:pt x="2093941" y="476372"/>
                </a:lnTo>
                <a:lnTo>
                  <a:pt x="0" y="476372"/>
                </a:lnTo>
                <a:lnTo>
                  <a:pt x="0" y="0"/>
                </a:lnTo>
                <a:close/>
              </a:path>
            </a:pathLst>
          </a:custGeom>
          <a:blipFill rotWithShape="1">
            <a:blip r:embed="rId20">
              <a:alphaModFix/>
            </a:blip>
            <a:stretch>
              <a:fillRect b="0" l="0" r="0" t="0"/>
            </a:stretch>
          </a:blipFill>
          <a:ln>
            <a:noFill/>
          </a:ln>
        </p:spPr>
      </p:sp>
      <p:sp>
        <p:nvSpPr>
          <p:cNvPr id="1506" name="Google Shape;1506;h410af0035cb59894_0_75"/>
          <p:cNvSpPr/>
          <p:nvPr/>
        </p:nvSpPr>
        <p:spPr>
          <a:xfrm>
            <a:off x="8764346" y="1794395"/>
            <a:ext cx="1194451" cy="727122"/>
          </a:xfrm>
          <a:custGeom>
            <a:rect b="b" l="l" r="r" t="t"/>
            <a:pathLst>
              <a:path extrusionOk="0" h="1089321" w="1789439">
                <a:moveTo>
                  <a:pt x="0" y="0"/>
                </a:moveTo>
                <a:lnTo>
                  <a:pt x="1789440" y="0"/>
                </a:lnTo>
                <a:lnTo>
                  <a:pt x="1789440" y="1089321"/>
                </a:lnTo>
                <a:lnTo>
                  <a:pt x="0" y="1089321"/>
                </a:lnTo>
                <a:lnTo>
                  <a:pt x="0" y="0"/>
                </a:lnTo>
                <a:close/>
              </a:path>
            </a:pathLst>
          </a:custGeom>
          <a:blipFill rotWithShape="1">
            <a:blip r:embed="rId21">
              <a:alphaModFix/>
            </a:blip>
            <a:stretch>
              <a:fillRect b="0" l="0" r="0" t="0"/>
            </a:stretch>
          </a:blipFill>
          <a:ln>
            <a:noFill/>
          </a:ln>
        </p:spPr>
      </p:sp>
      <p:sp>
        <p:nvSpPr>
          <p:cNvPr id="1507" name="Google Shape;1507;h410af0035cb59894_0_75"/>
          <p:cNvSpPr/>
          <p:nvPr/>
        </p:nvSpPr>
        <p:spPr>
          <a:xfrm>
            <a:off x="8417952" y="4256788"/>
            <a:ext cx="1801550" cy="517191"/>
          </a:xfrm>
          <a:custGeom>
            <a:rect b="b" l="l" r="r" t="t"/>
            <a:pathLst>
              <a:path extrusionOk="0" h="774818" w="2698951">
                <a:moveTo>
                  <a:pt x="0" y="0"/>
                </a:moveTo>
                <a:lnTo>
                  <a:pt x="2698951" y="0"/>
                </a:lnTo>
                <a:lnTo>
                  <a:pt x="2698951" y="774819"/>
                </a:lnTo>
                <a:lnTo>
                  <a:pt x="0" y="774819"/>
                </a:lnTo>
                <a:lnTo>
                  <a:pt x="0" y="0"/>
                </a:lnTo>
                <a:close/>
              </a:path>
            </a:pathLst>
          </a:custGeom>
          <a:blipFill rotWithShape="1">
            <a:blip r:embed="rId22">
              <a:alphaModFix/>
            </a:blip>
            <a:stretch>
              <a:fillRect b="0" l="0" r="0" t="0"/>
            </a:stretch>
          </a:blipFill>
          <a:ln>
            <a:noFill/>
          </a:ln>
        </p:spPr>
      </p:sp>
      <p:sp>
        <p:nvSpPr>
          <p:cNvPr id="1508" name="Google Shape;1508;h410af0035cb59894_0_75"/>
          <p:cNvSpPr/>
          <p:nvPr/>
        </p:nvSpPr>
        <p:spPr>
          <a:xfrm>
            <a:off x="9955384" y="1735065"/>
            <a:ext cx="1617576" cy="1078384"/>
          </a:xfrm>
          <a:custGeom>
            <a:rect b="b" l="l" r="r" t="t"/>
            <a:pathLst>
              <a:path extrusionOk="0" h="1615556" w="2423335">
                <a:moveTo>
                  <a:pt x="0" y="0"/>
                </a:moveTo>
                <a:lnTo>
                  <a:pt x="2423335" y="0"/>
                </a:lnTo>
                <a:lnTo>
                  <a:pt x="2423335" y="1615557"/>
                </a:lnTo>
                <a:lnTo>
                  <a:pt x="0" y="1615557"/>
                </a:lnTo>
                <a:lnTo>
                  <a:pt x="0" y="0"/>
                </a:lnTo>
                <a:close/>
              </a:path>
            </a:pathLst>
          </a:custGeom>
          <a:blipFill rotWithShape="1">
            <a:blip r:embed="rId23">
              <a:alphaModFix/>
            </a:blip>
            <a:stretch>
              <a:fillRect b="0" l="0" r="0" t="0"/>
            </a:stretch>
          </a:blipFill>
          <a:ln>
            <a:noFill/>
          </a:ln>
        </p:spPr>
      </p:sp>
      <p:sp>
        <p:nvSpPr>
          <p:cNvPr id="1509" name="Google Shape;1509;h410af0035cb59894_0_75"/>
          <p:cNvSpPr/>
          <p:nvPr/>
        </p:nvSpPr>
        <p:spPr>
          <a:xfrm>
            <a:off x="7631201" y="1932728"/>
            <a:ext cx="1214250" cy="683015"/>
          </a:xfrm>
          <a:custGeom>
            <a:rect b="b" l="l" r="r" t="t"/>
            <a:pathLst>
              <a:path extrusionOk="0" h="1023244" w="1819101">
                <a:moveTo>
                  <a:pt x="0" y="0"/>
                </a:moveTo>
                <a:lnTo>
                  <a:pt x="1819101" y="0"/>
                </a:lnTo>
                <a:lnTo>
                  <a:pt x="1819101" y="1023245"/>
                </a:lnTo>
                <a:lnTo>
                  <a:pt x="0" y="1023245"/>
                </a:lnTo>
                <a:lnTo>
                  <a:pt x="0" y="0"/>
                </a:lnTo>
                <a:close/>
              </a:path>
            </a:pathLst>
          </a:custGeom>
          <a:blipFill rotWithShape="1">
            <a:blip r:embed="rId24">
              <a:alphaModFix/>
            </a:blip>
            <a:stretch>
              <a:fillRect b="0" l="0" r="0" t="0"/>
            </a:stretch>
          </a:blipFill>
          <a:ln>
            <a:noFill/>
          </a:ln>
        </p:spPr>
      </p:sp>
      <p:sp>
        <p:nvSpPr>
          <p:cNvPr id="1510" name="Google Shape;1510;h410af0035cb59894_0_75"/>
          <p:cNvSpPr/>
          <p:nvPr/>
        </p:nvSpPr>
        <p:spPr>
          <a:xfrm>
            <a:off x="6672535" y="2070087"/>
            <a:ext cx="959890" cy="407953"/>
          </a:xfrm>
          <a:custGeom>
            <a:rect b="b" l="l" r="r" t="t"/>
            <a:pathLst>
              <a:path extrusionOk="0" h="611166" w="1438038">
                <a:moveTo>
                  <a:pt x="0" y="0"/>
                </a:moveTo>
                <a:lnTo>
                  <a:pt x="1438038" y="0"/>
                </a:lnTo>
                <a:lnTo>
                  <a:pt x="1438038" y="611167"/>
                </a:lnTo>
                <a:lnTo>
                  <a:pt x="0" y="611167"/>
                </a:lnTo>
                <a:lnTo>
                  <a:pt x="0" y="0"/>
                </a:lnTo>
                <a:close/>
              </a:path>
            </a:pathLst>
          </a:custGeom>
          <a:blipFill rotWithShape="1">
            <a:blip r:embed="rId25">
              <a:alphaModFix/>
            </a:blip>
            <a:stretch>
              <a:fillRect b="0" l="0" r="0" t="0"/>
            </a:stretch>
          </a:blipFill>
          <a:ln>
            <a:noFill/>
          </a:ln>
        </p:spPr>
      </p:sp>
      <p:sp>
        <p:nvSpPr>
          <p:cNvPr id="1511" name="Google Shape;1511;h410af0035cb59894_0_75"/>
          <p:cNvSpPr/>
          <p:nvPr/>
        </p:nvSpPr>
        <p:spPr>
          <a:xfrm>
            <a:off x="1199049" y="3669399"/>
            <a:ext cx="1410470" cy="361433"/>
          </a:xfrm>
          <a:custGeom>
            <a:rect b="b" l="l" r="r" t="t"/>
            <a:pathLst>
              <a:path extrusionOk="0" h="541473" w="2113064">
                <a:moveTo>
                  <a:pt x="0" y="0"/>
                </a:moveTo>
                <a:lnTo>
                  <a:pt x="2113064" y="0"/>
                </a:lnTo>
                <a:lnTo>
                  <a:pt x="2113064" y="541473"/>
                </a:lnTo>
                <a:lnTo>
                  <a:pt x="0" y="541473"/>
                </a:lnTo>
                <a:lnTo>
                  <a:pt x="0" y="0"/>
                </a:lnTo>
                <a:close/>
              </a:path>
            </a:pathLst>
          </a:custGeom>
          <a:blipFill rotWithShape="1">
            <a:blip r:embed="rId26">
              <a:alphaModFix/>
            </a:blip>
            <a:stretch>
              <a:fillRect b="0" l="0" r="0" t="0"/>
            </a:stretch>
          </a:blipFill>
          <a:ln>
            <a:noFill/>
          </a:ln>
        </p:spPr>
      </p:sp>
      <p:sp>
        <p:nvSpPr>
          <p:cNvPr id="1512" name="Google Shape;1512;h410af0035cb59894_0_75"/>
          <p:cNvSpPr/>
          <p:nvPr/>
        </p:nvSpPr>
        <p:spPr>
          <a:xfrm>
            <a:off x="685782" y="4341409"/>
            <a:ext cx="1409643" cy="391158"/>
          </a:xfrm>
          <a:custGeom>
            <a:rect b="b" l="l" r="r" t="t"/>
            <a:pathLst>
              <a:path extrusionOk="0" h="586004" w="2111825">
                <a:moveTo>
                  <a:pt x="0" y="0"/>
                </a:moveTo>
                <a:lnTo>
                  <a:pt x="2111825" y="0"/>
                </a:lnTo>
                <a:lnTo>
                  <a:pt x="2111825" y="586004"/>
                </a:lnTo>
                <a:lnTo>
                  <a:pt x="0" y="586004"/>
                </a:lnTo>
                <a:lnTo>
                  <a:pt x="0" y="0"/>
                </a:lnTo>
                <a:close/>
              </a:path>
            </a:pathLst>
          </a:custGeom>
          <a:blipFill rotWithShape="1">
            <a:blip r:embed="rId27">
              <a:alphaModFix/>
            </a:blip>
            <a:stretch>
              <a:fillRect b="0" l="0" r="0" t="0"/>
            </a:stretch>
          </a:blipFill>
          <a:ln>
            <a:noFill/>
          </a:ln>
        </p:spPr>
      </p:sp>
      <p:sp>
        <p:nvSpPr>
          <p:cNvPr id="1513" name="Google Shape;1513;h410af0035cb59894_0_75"/>
          <p:cNvSpPr/>
          <p:nvPr/>
        </p:nvSpPr>
        <p:spPr>
          <a:xfrm>
            <a:off x="7292560" y="3572214"/>
            <a:ext cx="1663900" cy="458739"/>
          </a:xfrm>
          <a:custGeom>
            <a:rect b="b" l="l" r="r" t="t"/>
            <a:pathLst>
              <a:path extrusionOk="0" h="687249" w="2492734">
                <a:moveTo>
                  <a:pt x="0" y="0"/>
                </a:moveTo>
                <a:lnTo>
                  <a:pt x="2492735" y="0"/>
                </a:lnTo>
                <a:lnTo>
                  <a:pt x="2492735" y="687250"/>
                </a:lnTo>
                <a:lnTo>
                  <a:pt x="0" y="687250"/>
                </a:lnTo>
                <a:lnTo>
                  <a:pt x="0" y="0"/>
                </a:lnTo>
                <a:close/>
              </a:path>
            </a:pathLst>
          </a:custGeom>
          <a:blipFill rotWithShape="1">
            <a:blip r:embed="rId28">
              <a:alphaModFix/>
            </a:blip>
            <a:stretch>
              <a:fillRect b="0" l="0" r="0" t="0"/>
            </a:stretch>
          </a:blipFill>
          <a:ln>
            <a:noFill/>
          </a:ln>
        </p:spPr>
      </p:sp>
      <p:sp>
        <p:nvSpPr>
          <p:cNvPr id="1514" name="Google Shape;1514;h410af0035cb59894_0_75"/>
          <p:cNvSpPr/>
          <p:nvPr/>
        </p:nvSpPr>
        <p:spPr>
          <a:xfrm>
            <a:off x="2778355" y="3555142"/>
            <a:ext cx="1026929" cy="492925"/>
          </a:xfrm>
          <a:custGeom>
            <a:rect b="b" l="l" r="r" t="t"/>
            <a:pathLst>
              <a:path extrusionOk="0" h="738465" w="1538470">
                <a:moveTo>
                  <a:pt x="0" y="0"/>
                </a:moveTo>
                <a:lnTo>
                  <a:pt x="1538469" y="0"/>
                </a:lnTo>
                <a:lnTo>
                  <a:pt x="1538469" y="738466"/>
                </a:lnTo>
                <a:lnTo>
                  <a:pt x="0" y="738466"/>
                </a:lnTo>
                <a:lnTo>
                  <a:pt x="0" y="0"/>
                </a:lnTo>
                <a:close/>
              </a:path>
            </a:pathLst>
          </a:custGeom>
          <a:blipFill rotWithShape="1">
            <a:blip r:embed="rId29">
              <a:alphaModFix/>
            </a:blip>
            <a:stretch>
              <a:fillRect b="0" l="0" r="0" t="0"/>
            </a:stretch>
          </a:blipFill>
          <a:ln>
            <a:noFill/>
          </a:ln>
        </p:spPr>
      </p:sp>
      <p:sp>
        <p:nvSpPr>
          <p:cNvPr id="1515" name="Google Shape;1515;h410af0035cb59894_0_75"/>
          <p:cNvSpPr/>
          <p:nvPr/>
        </p:nvSpPr>
        <p:spPr>
          <a:xfrm>
            <a:off x="4123173" y="1860177"/>
            <a:ext cx="736717" cy="736717"/>
          </a:xfrm>
          <a:custGeom>
            <a:rect b="b" l="l" r="r" t="t"/>
            <a:pathLst>
              <a:path extrusionOk="0" h="1103696" w="1103696">
                <a:moveTo>
                  <a:pt x="0" y="0"/>
                </a:moveTo>
                <a:lnTo>
                  <a:pt x="1103697" y="0"/>
                </a:lnTo>
                <a:lnTo>
                  <a:pt x="1103697" y="1103697"/>
                </a:lnTo>
                <a:lnTo>
                  <a:pt x="0" y="1103697"/>
                </a:lnTo>
                <a:lnTo>
                  <a:pt x="0" y="0"/>
                </a:lnTo>
                <a:close/>
              </a:path>
            </a:pathLst>
          </a:custGeom>
          <a:blipFill rotWithShape="1">
            <a:blip r:embed="rId30">
              <a:alphaModFix/>
            </a:blip>
            <a:stretch>
              <a:fillRect b="0" l="0" r="0" t="0"/>
            </a:stretch>
          </a:blipFill>
          <a:ln>
            <a:noFill/>
          </a:ln>
        </p:spPr>
      </p:sp>
      <p:sp>
        <p:nvSpPr>
          <p:cNvPr id="1516" name="Google Shape;1516;h410af0035cb59894_0_75"/>
          <p:cNvSpPr/>
          <p:nvPr/>
        </p:nvSpPr>
        <p:spPr>
          <a:xfrm>
            <a:off x="3047457" y="1702091"/>
            <a:ext cx="1013133" cy="1013133"/>
          </a:xfrm>
          <a:custGeom>
            <a:rect b="b" l="l" r="r" t="t"/>
            <a:pathLst>
              <a:path extrusionOk="0" h="1517802" w="1517802">
                <a:moveTo>
                  <a:pt x="0" y="0"/>
                </a:moveTo>
                <a:lnTo>
                  <a:pt x="1517803" y="0"/>
                </a:lnTo>
                <a:lnTo>
                  <a:pt x="1517803" y="1517803"/>
                </a:lnTo>
                <a:lnTo>
                  <a:pt x="0" y="1517803"/>
                </a:lnTo>
                <a:lnTo>
                  <a:pt x="0" y="0"/>
                </a:lnTo>
                <a:close/>
              </a:path>
            </a:pathLst>
          </a:custGeom>
          <a:blipFill rotWithShape="1">
            <a:blip r:embed="rId31">
              <a:alphaModFix/>
            </a:blip>
            <a:stretch>
              <a:fillRect b="0" l="0" r="0" t="0"/>
            </a:stretch>
          </a:blipFill>
          <a:ln>
            <a:noFill/>
          </a:ln>
        </p:spPr>
      </p:sp>
      <p:sp>
        <p:nvSpPr>
          <p:cNvPr id="1517" name="Google Shape;1517;h410af0035cb59894_0_75"/>
          <p:cNvSpPr/>
          <p:nvPr/>
        </p:nvSpPr>
        <p:spPr>
          <a:xfrm>
            <a:off x="7640982" y="4264173"/>
            <a:ext cx="522290" cy="558599"/>
          </a:xfrm>
          <a:custGeom>
            <a:rect b="b" l="l" r="r" t="t"/>
            <a:pathLst>
              <a:path extrusionOk="0" h="836852" w="782457">
                <a:moveTo>
                  <a:pt x="0" y="0"/>
                </a:moveTo>
                <a:lnTo>
                  <a:pt x="782456" y="0"/>
                </a:lnTo>
                <a:lnTo>
                  <a:pt x="782456" y="836852"/>
                </a:lnTo>
                <a:lnTo>
                  <a:pt x="0" y="836852"/>
                </a:lnTo>
                <a:lnTo>
                  <a:pt x="0" y="0"/>
                </a:lnTo>
                <a:close/>
              </a:path>
            </a:pathLst>
          </a:custGeom>
          <a:blipFill rotWithShape="1">
            <a:blip r:embed="rId32">
              <a:alphaModFix/>
            </a:blip>
            <a:stretch>
              <a:fillRect b="0" l="0" r="0" t="0"/>
            </a:stretch>
          </a:blipFill>
          <a:ln>
            <a:noFill/>
          </a:ln>
        </p:spPr>
      </p:sp>
      <p:sp>
        <p:nvSpPr>
          <p:cNvPr id="1518" name="Google Shape;1518;h410af0035cb59894_0_75"/>
          <p:cNvSpPr/>
          <p:nvPr/>
        </p:nvSpPr>
        <p:spPr>
          <a:xfrm>
            <a:off x="1154911" y="2754201"/>
            <a:ext cx="651918" cy="651918"/>
          </a:xfrm>
          <a:custGeom>
            <a:rect b="b" l="l" r="r" t="t"/>
            <a:pathLst>
              <a:path extrusionOk="0" h="976656" w="976656">
                <a:moveTo>
                  <a:pt x="0" y="0"/>
                </a:moveTo>
                <a:lnTo>
                  <a:pt x="976656" y="0"/>
                </a:lnTo>
                <a:lnTo>
                  <a:pt x="976656" y="976656"/>
                </a:lnTo>
                <a:lnTo>
                  <a:pt x="0" y="976656"/>
                </a:lnTo>
                <a:lnTo>
                  <a:pt x="0" y="0"/>
                </a:lnTo>
                <a:close/>
              </a:path>
            </a:pathLst>
          </a:custGeom>
          <a:blipFill rotWithShape="1">
            <a:blip r:embed="rId33">
              <a:alphaModFix/>
            </a:blip>
            <a:stretch>
              <a:fillRect b="0" l="0" r="0" t="0"/>
            </a:stretch>
          </a:blipFill>
          <a:ln>
            <a:noFill/>
          </a:ln>
        </p:spPr>
      </p:sp>
      <p:sp>
        <p:nvSpPr>
          <p:cNvPr id="1519" name="Google Shape;1519;h410af0035cb59894_0_75"/>
          <p:cNvSpPr/>
          <p:nvPr/>
        </p:nvSpPr>
        <p:spPr>
          <a:xfrm>
            <a:off x="3830681" y="4351791"/>
            <a:ext cx="1053449" cy="347530"/>
          </a:xfrm>
          <a:custGeom>
            <a:rect b="b" l="l" r="r" t="t"/>
            <a:pathLst>
              <a:path extrusionOk="0" h="520644" w="1578201">
                <a:moveTo>
                  <a:pt x="0" y="0"/>
                </a:moveTo>
                <a:lnTo>
                  <a:pt x="1578201" y="0"/>
                </a:lnTo>
                <a:lnTo>
                  <a:pt x="1578201" y="520644"/>
                </a:lnTo>
                <a:lnTo>
                  <a:pt x="0" y="520644"/>
                </a:lnTo>
                <a:lnTo>
                  <a:pt x="0" y="0"/>
                </a:lnTo>
                <a:close/>
              </a:path>
            </a:pathLst>
          </a:custGeom>
          <a:blipFill rotWithShape="1">
            <a:blip r:embed="rId34">
              <a:alphaModFix/>
            </a:blip>
            <a:stretch>
              <a:fillRect b="-175213" l="-23710" r="-26600" t="-180430"/>
            </a:stretch>
          </a:blipFill>
          <a:ln>
            <a:noFill/>
          </a:ln>
        </p:spPr>
      </p:sp>
      <p:sp>
        <p:nvSpPr>
          <p:cNvPr id="1520" name="Google Shape;1520;h410af0035cb59894_0_75"/>
          <p:cNvSpPr/>
          <p:nvPr/>
        </p:nvSpPr>
        <p:spPr>
          <a:xfrm>
            <a:off x="5236471" y="5162771"/>
            <a:ext cx="1688676" cy="202641"/>
          </a:xfrm>
          <a:custGeom>
            <a:rect b="b" l="l" r="r" t="t"/>
            <a:pathLst>
              <a:path extrusionOk="0" h="303582" w="2529851">
                <a:moveTo>
                  <a:pt x="0" y="0"/>
                </a:moveTo>
                <a:lnTo>
                  <a:pt x="2529851" y="0"/>
                </a:lnTo>
                <a:lnTo>
                  <a:pt x="2529851" y="303582"/>
                </a:lnTo>
                <a:lnTo>
                  <a:pt x="0" y="303582"/>
                </a:lnTo>
                <a:lnTo>
                  <a:pt x="0" y="0"/>
                </a:lnTo>
                <a:close/>
              </a:path>
            </a:pathLst>
          </a:custGeom>
          <a:blipFill rotWithShape="1">
            <a:blip r:embed="rId35">
              <a:alphaModFix/>
            </a:blip>
            <a:stretch>
              <a:fillRect b="0" l="0" r="0" t="0"/>
            </a:stretch>
          </a:blipFill>
          <a:ln>
            <a:noFill/>
          </a:ln>
        </p:spPr>
      </p:sp>
      <p:sp>
        <p:nvSpPr>
          <p:cNvPr id="1521" name="Google Shape;1521;h410af0035cb59894_0_75"/>
          <p:cNvSpPr/>
          <p:nvPr/>
        </p:nvSpPr>
        <p:spPr>
          <a:xfrm>
            <a:off x="1441444" y="1884863"/>
            <a:ext cx="1780016" cy="654156"/>
          </a:xfrm>
          <a:custGeom>
            <a:rect b="b" l="l" r="r" t="t"/>
            <a:pathLst>
              <a:path extrusionOk="0" h="980009" w="2666691">
                <a:moveTo>
                  <a:pt x="0" y="0"/>
                </a:moveTo>
                <a:lnTo>
                  <a:pt x="2666691" y="0"/>
                </a:lnTo>
                <a:lnTo>
                  <a:pt x="2666691" y="980009"/>
                </a:lnTo>
                <a:lnTo>
                  <a:pt x="0" y="980009"/>
                </a:lnTo>
                <a:lnTo>
                  <a:pt x="0" y="0"/>
                </a:lnTo>
                <a:close/>
              </a:path>
            </a:pathLst>
          </a:custGeom>
          <a:blipFill rotWithShape="1">
            <a:blip r:embed="rId36">
              <a:alphaModFix/>
            </a:blip>
            <a:stretch>
              <a:fillRect b="0" l="0" r="0" t="0"/>
            </a:stretch>
          </a:blipFill>
          <a:ln>
            <a:noFill/>
          </a:ln>
        </p:spPr>
      </p:sp>
      <p:sp>
        <p:nvSpPr>
          <p:cNvPr id="1522" name="Google Shape;1522;h410af0035cb59894_0_75"/>
          <p:cNvSpPr/>
          <p:nvPr/>
        </p:nvSpPr>
        <p:spPr>
          <a:xfrm>
            <a:off x="1958917" y="2707967"/>
            <a:ext cx="1452118" cy="646192"/>
          </a:xfrm>
          <a:custGeom>
            <a:rect b="b" l="l" r="r" t="t"/>
            <a:pathLst>
              <a:path extrusionOk="0" h="968078" w="2175457">
                <a:moveTo>
                  <a:pt x="0" y="0"/>
                </a:moveTo>
                <a:lnTo>
                  <a:pt x="2175457" y="0"/>
                </a:lnTo>
                <a:lnTo>
                  <a:pt x="2175457" y="968079"/>
                </a:lnTo>
                <a:lnTo>
                  <a:pt x="0" y="968079"/>
                </a:lnTo>
                <a:lnTo>
                  <a:pt x="0" y="0"/>
                </a:lnTo>
                <a:close/>
              </a:path>
            </a:pathLst>
          </a:custGeom>
          <a:blipFill rotWithShape="1">
            <a:blip r:embed="rId37">
              <a:alphaModFix/>
            </a:blip>
            <a:stretch>
              <a:fillRect b="0" l="0" r="0" t="0"/>
            </a:stretch>
          </a:blipFill>
          <a:ln>
            <a:noFill/>
          </a:ln>
        </p:spPr>
      </p:sp>
      <p:sp>
        <p:nvSpPr>
          <p:cNvPr id="1523" name="Google Shape;1523;h410af0035cb59894_0_75"/>
          <p:cNvSpPr/>
          <p:nvPr/>
        </p:nvSpPr>
        <p:spPr>
          <a:xfrm>
            <a:off x="4882787" y="4312915"/>
            <a:ext cx="1065836" cy="460995"/>
          </a:xfrm>
          <a:custGeom>
            <a:rect b="b" l="l" r="r" t="t"/>
            <a:pathLst>
              <a:path extrusionOk="0" h="690629" w="1596758">
                <a:moveTo>
                  <a:pt x="0" y="0"/>
                </a:moveTo>
                <a:lnTo>
                  <a:pt x="1596757" y="0"/>
                </a:lnTo>
                <a:lnTo>
                  <a:pt x="1596757" y="690629"/>
                </a:lnTo>
                <a:lnTo>
                  <a:pt x="0" y="690629"/>
                </a:lnTo>
                <a:lnTo>
                  <a:pt x="0" y="0"/>
                </a:lnTo>
                <a:close/>
              </a:path>
            </a:pathLst>
          </a:custGeom>
          <a:blipFill rotWithShape="1">
            <a:blip r:embed="rId38">
              <a:alphaModFix/>
            </a:blip>
            <a:stretch>
              <a:fillRect b="-63240" l="0" r="-1310" t="-70991"/>
            </a:stretch>
          </a:blipFill>
          <a:ln>
            <a:noFill/>
          </a:ln>
        </p:spPr>
      </p:sp>
      <p:sp>
        <p:nvSpPr>
          <p:cNvPr id="1524" name="Google Shape;1524;h410af0035cb59894_0_75"/>
          <p:cNvSpPr/>
          <p:nvPr/>
        </p:nvSpPr>
        <p:spPr>
          <a:xfrm>
            <a:off x="4993116" y="1884863"/>
            <a:ext cx="1547226" cy="634363"/>
          </a:xfrm>
          <a:custGeom>
            <a:rect b="b" l="l" r="r" t="t"/>
            <a:pathLst>
              <a:path extrusionOk="0" h="950356" w="2317942">
                <a:moveTo>
                  <a:pt x="0" y="0"/>
                </a:moveTo>
                <a:lnTo>
                  <a:pt x="2317941" y="0"/>
                </a:lnTo>
                <a:lnTo>
                  <a:pt x="2317941" y="950356"/>
                </a:lnTo>
                <a:lnTo>
                  <a:pt x="0" y="950356"/>
                </a:lnTo>
                <a:lnTo>
                  <a:pt x="0" y="0"/>
                </a:lnTo>
                <a:close/>
              </a:path>
            </a:pathLst>
          </a:custGeom>
          <a:blipFill rotWithShape="1">
            <a:blip r:embed="rId39">
              <a:alphaModFix/>
            </a:blip>
            <a:stretch>
              <a:fillRect b="0" l="0" r="0" t="0"/>
            </a:stretch>
          </a:blipFill>
          <a:ln>
            <a:noFill/>
          </a:ln>
        </p:spPr>
      </p:sp>
      <p:sp>
        <p:nvSpPr>
          <p:cNvPr id="1525" name="Google Shape;1525;h410af0035cb59894_0_75"/>
          <p:cNvSpPr/>
          <p:nvPr/>
        </p:nvSpPr>
        <p:spPr>
          <a:xfrm>
            <a:off x="722297" y="1888134"/>
            <a:ext cx="794279" cy="708725"/>
          </a:xfrm>
          <a:custGeom>
            <a:rect b="b" l="l" r="r" t="t"/>
            <a:pathLst>
              <a:path extrusionOk="0" h="1061760" w="1189931">
                <a:moveTo>
                  <a:pt x="0" y="0"/>
                </a:moveTo>
                <a:lnTo>
                  <a:pt x="1189930" y="0"/>
                </a:lnTo>
                <a:lnTo>
                  <a:pt x="1189930" y="1061761"/>
                </a:lnTo>
                <a:lnTo>
                  <a:pt x="0" y="1061761"/>
                </a:lnTo>
                <a:lnTo>
                  <a:pt x="0" y="0"/>
                </a:lnTo>
                <a:close/>
              </a:path>
            </a:pathLst>
          </a:custGeom>
          <a:blipFill rotWithShape="1">
            <a:blip r:embed="rId40">
              <a:alphaModFix/>
            </a:blip>
            <a:stretch>
              <a:fillRect b="0" l="-680" r="0" t="0"/>
            </a:stretch>
          </a:blipFill>
          <a:ln>
            <a:noFill/>
          </a:ln>
        </p:spPr>
      </p:sp>
      <p:sp>
        <p:nvSpPr>
          <p:cNvPr id="1526" name="Google Shape;1526;h410af0035cb59894_0_75"/>
          <p:cNvSpPr/>
          <p:nvPr/>
        </p:nvSpPr>
        <p:spPr>
          <a:xfrm>
            <a:off x="3725544" y="5079073"/>
            <a:ext cx="631996" cy="360216"/>
          </a:xfrm>
          <a:custGeom>
            <a:rect b="b" l="l" r="r" t="t"/>
            <a:pathLst>
              <a:path extrusionOk="0" h="539650" w="946810">
                <a:moveTo>
                  <a:pt x="0" y="0"/>
                </a:moveTo>
                <a:lnTo>
                  <a:pt x="946809" y="0"/>
                </a:lnTo>
                <a:lnTo>
                  <a:pt x="946809" y="539651"/>
                </a:lnTo>
                <a:lnTo>
                  <a:pt x="0" y="539651"/>
                </a:lnTo>
                <a:lnTo>
                  <a:pt x="0" y="0"/>
                </a:lnTo>
                <a:close/>
              </a:path>
            </a:pathLst>
          </a:custGeom>
          <a:blipFill rotWithShape="1">
            <a:blip r:embed="rId41">
              <a:alphaModFix/>
            </a:blip>
            <a:stretch>
              <a:fillRect b="-54680" l="-14040" r="-9550" t="-62159"/>
            </a:stretch>
          </a:blipFill>
          <a:ln>
            <a:noFill/>
          </a:ln>
        </p:spPr>
      </p:sp>
      <p:sp>
        <p:nvSpPr>
          <p:cNvPr id="1527" name="Google Shape;1527;h410af0035cb59894_0_75"/>
          <p:cNvSpPr/>
          <p:nvPr/>
        </p:nvSpPr>
        <p:spPr>
          <a:xfrm>
            <a:off x="6146597" y="2846892"/>
            <a:ext cx="1811896" cy="431598"/>
          </a:xfrm>
          <a:custGeom>
            <a:rect b="b" l="l" r="r" t="t"/>
            <a:pathLst>
              <a:path extrusionOk="0" h="646589" w="2714451">
                <a:moveTo>
                  <a:pt x="0" y="0"/>
                </a:moveTo>
                <a:lnTo>
                  <a:pt x="2714451" y="0"/>
                </a:lnTo>
                <a:lnTo>
                  <a:pt x="2714451" y="646589"/>
                </a:lnTo>
                <a:lnTo>
                  <a:pt x="0" y="646589"/>
                </a:lnTo>
                <a:lnTo>
                  <a:pt x="0" y="0"/>
                </a:lnTo>
                <a:close/>
              </a:path>
            </a:pathLst>
          </a:custGeom>
          <a:blipFill rotWithShape="1">
            <a:blip r:embed="rId42">
              <a:alphaModFix/>
            </a:blip>
            <a:stretch>
              <a:fillRect b="0" l="0" r="0" t="-28569"/>
            </a:stretch>
          </a:blipFill>
          <a:ln>
            <a:noFill/>
          </a:ln>
        </p:spPr>
      </p:sp>
      <p:sp>
        <p:nvSpPr>
          <p:cNvPr id="1528" name="Google Shape;1528;h410af0035cb59894_0_75"/>
          <p:cNvSpPr/>
          <p:nvPr/>
        </p:nvSpPr>
        <p:spPr>
          <a:xfrm>
            <a:off x="7133942" y="4961262"/>
            <a:ext cx="936947" cy="596132"/>
          </a:xfrm>
          <a:custGeom>
            <a:rect b="b" l="l" r="r" t="t"/>
            <a:pathLst>
              <a:path extrusionOk="0" h="893082" w="1403666">
                <a:moveTo>
                  <a:pt x="0" y="0"/>
                </a:moveTo>
                <a:lnTo>
                  <a:pt x="1403666" y="0"/>
                </a:lnTo>
                <a:lnTo>
                  <a:pt x="1403666" y="893083"/>
                </a:lnTo>
                <a:lnTo>
                  <a:pt x="0" y="893083"/>
                </a:lnTo>
                <a:lnTo>
                  <a:pt x="0" y="0"/>
                </a:lnTo>
                <a:close/>
              </a:path>
            </a:pathLst>
          </a:custGeom>
          <a:blipFill rotWithShape="1">
            <a:blip r:embed="rId43">
              <a:alphaModFix/>
            </a:blip>
            <a:stretch>
              <a:fillRect b="0" l="0" r="0" t="0"/>
            </a:stretch>
          </a:blipFill>
          <a:ln>
            <a:noFill/>
          </a:ln>
        </p:spPr>
      </p:sp>
      <p:sp>
        <p:nvSpPr>
          <p:cNvPr id="1529" name="Google Shape;1529;h410af0035cb59894_0_75"/>
          <p:cNvSpPr/>
          <p:nvPr/>
        </p:nvSpPr>
        <p:spPr>
          <a:xfrm>
            <a:off x="7990439" y="4773334"/>
            <a:ext cx="1148914" cy="1148914"/>
          </a:xfrm>
          <a:custGeom>
            <a:rect b="b" l="l" r="r" t="t"/>
            <a:pathLst>
              <a:path extrusionOk="0" h="1721220" w="1721220">
                <a:moveTo>
                  <a:pt x="0" y="0"/>
                </a:moveTo>
                <a:lnTo>
                  <a:pt x="1721220" y="0"/>
                </a:lnTo>
                <a:lnTo>
                  <a:pt x="1721220" y="1721220"/>
                </a:lnTo>
                <a:lnTo>
                  <a:pt x="0" y="1721220"/>
                </a:lnTo>
                <a:lnTo>
                  <a:pt x="0" y="0"/>
                </a:lnTo>
                <a:close/>
              </a:path>
            </a:pathLst>
          </a:custGeom>
          <a:blipFill rotWithShape="1">
            <a:blip r:embed="rId44">
              <a:alphaModFix/>
            </a:blip>
            <a:stretch>
              <a:fillRect b="0" l="0" r="0" t="0"/>
            </a:stretch>
          </a:blipFill>
          <a:ln>
            <a:noFill/>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92647"/>
            </a:gs>
            <a:gs pos="100000">
              <a:srgbClr val="0A396D"/>
            </a:gs>
          </a:gsLst>
          <a:lin ang="5400012" scaled="0"/>
        </a:gradFill>
      </p:bgPr>
    </p:bg>
    <p:spTree>
      <p:nvGrpSpPr>
        <p:cNvPr id="1533" name="Shape 1533"/>
        <p:cNvGrpSpPr/>
        <p:nvPr/>
      </p:nvGrpSpPr>
      <p:grpSpPr>
        <a:xfrm>
          <a:off x="0" y="0"/>
          <a:ext cx="0" cy="0"/>
          <a:chOff x="0" y="0"/>
          <a:chExt cx="0" cy="0"/>
        </a:xfrm>
      </p:grpSpPr>
      <p:grpSp>
        <p:nvGrpSpPr>
          <p:cNvPr id="1534" name="Google Shape;1534;h410af0035cb59894_0_128"/>
          <p:cNvGrpSpPr/>
          <p:nvPr/>
        </p:nvGrpSpPr>
        <p:grpSpPr>
          <a:xfrm>
            <a:off x="596831" y="455405"/>
            <a:ext cx="3342530" cy="700740"/>
            <a:chOff x="0" y="-118659"/>
            <a:chExt cx="6685060" cy="1401480"/>
          </a:xfrm>
        </p:grpSpPr>
        <p:grpSp>
          <p:nvGrpSpPr>
            <p:cNvPr id="1535" name="Google Shape;1535;h410af0035cb59894_0_128"/>
            <p:cNvGrpSpPr/>
            <p:nvPr/>
          </p:nvGrpSpPr>
          <p:grpSpPr>
            <a:xfrm>
              <a:off x="0" y="-118659"/>
              <a:ext cx="6685060" cy="1401480"/>
              <a:chOff x="0" y="-38100"/>
              <a:chExt cx="2146500" cy="450000"/>
            </a:xfrm>
          </p:grpSpPr>
          <p:sp>
            <p:nvSpPr>
              <p:cNvPr id="1536" name="Google Shape;1536;h410af0035cb59894_0_128"/>
              <p:cNvSpPr/>
              <p:nvPr/>
            </p:nvSpPr>
            <p:spPr>
              <a:xfrm>
                <a:off x="0" y="0"/>
                <a:ext cx="2146374" cy="411881"/>
              </a:xfrm>
              <a:custGeom>
                <a:rect b="b" l="l" r="r" t="t"/>
                <a:pathLst>
                  <a:path extrusionOk="0" h="411881" w="2146374">
                    <a:moveTo>
                      <a:pt x="74130" y="0"/>
                    </a:moveTo>
                    <a:lnTo>
                      <a:pt x="2072245" y="0"/>
                    </a:lnTo>
                    <a:cubicBezTo>
                      <a:pt x="2091905" y="0"/>
                      <a:pt x="2110760" y="7810"/>
                      <a:pt x="2124662" y="21712"/>
                    </a:cubicBezTo>
                    <a:cubicBezTo>
                      <a:pt x="2138564" y="35614"/>
                      <a:pt x="2146374" y="54469"/>
                      <a:pt x="2146374" y="74130"/>
                    </a:cubicBezTo>
                    <a:lnTo>
                      <a:pt x="2146374" y="337752"/>
                    </a:lnTo>
                    <a:cubicBezTo>
                      <a:pt x="2146374" y="357412"/>
                      <a:pt x="2138564" y="376267"/>
                      <a:pt x="2124662" y="390169"/>
                    </a:cubicBezTo>
                    <a:cubicBezTo>
                      <a:pt x="2110760" y="404071"/>
                      <a:pt x="2091905" y="411881"/>
                      <a:pt x="2072245" y="411881"/>
                    </a:cubicBezTo>
                    <a:lnTo>
                      <a:pt x="74130" y="411881"/>
                    </a:lnTo>
                    <a:cubicBezTo>
                      <a:pt x="54469" y="411881"/>
                      <a:pt x="35614" y="404071"/>
                      <a:pt x="21712" y="390169"/>
                    </a:cubicBezTo>
                    <a:cubicBezTo>
                      <a:pt x="7810" y="376267"/>
                      <a:pt x="0" y="357412"/>
                      <a:pt x="0" y="337752"/>
                    </a:cubicBezTo>
                    <a:lnTo>
                      <a:pt x="0" y="74130"/>
                    </a:lnTo>
                    <a:cubicBezTo>
                      <a:pt x="0" y="54469"/>
                      <a:pt x="7810" y="35614"/>
                      <a:pt x="21712" y="21712"/>
                    </a:cubicBezTo>
                    <a:cubicBezTo>
                      <a:pt x="35614" y="7810"/>
                      <a:pt x="54469" y="0"/>
                      <a:pt x="74130" y="0"/>
                    </a:cubicBezTo>
                    <a:close/>
                  </a:path>
                </a:pathLst>
              </a:custGeom>
              <a:solidFill>
                <a:srgbClr val="2F7E9D"/>
              </a:solidFill>
              <a:ln cap="rnd" cmpd="sng" w="254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537" name="Google Shape;1537;h410af0035cb59894_0_128"/>
              <p:cNvSpPr txBox="1"/>
              <p:nvPr/>
            </p:nvSpPr>
            <p:spPr>
              <a:xfrm>
                <a:off x="0" y="-38100"/>
                <a:ext cx="2146500" cy="450000"/>
              </a:xfrm>
              <a:prstGeom prst="rect">
                <a:avLst/>
              </a:prstGeom>
              <a:noFill/>
              <a:ln>
                <a:noFill/>
              </a:ln>
            </p:spPr>
            <p:txBody>
              <a:bodyPr anchorCtr="0" anchor="ctr" bIns="22125" lIns="22125" spcFirstLastPara="1" rIns="22125" wrap="square" tIns="22125">
                <a:noAutofit/>
              </a:bodyPr>
              <a:lstStyle/>
              <a:p>
                <a:pPr indent="0" lvl="0" marL="0" marR="0" rtl="0" algn="ctr">
                  <a:lnSpc>
                    <a:spcPct val="1477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538" name="Google Shape;1538;h410af0035cb59894_0_128"/>
            <p:cNvSpPr txBox="1"/>
            <p:nvPr/>
          </p:nvSpPr>
          <p:spPr>
            <a:xfrm>
              <a:off x="680495" y="-47753"/>
              <a:ext cx="5323800" cy="1015800"/>
            </a:xfrm>
            <a:prstGeom prst="rect">
              <a:avLst/>
            </a:prstGeom>
            <a:noFill/>
            <a:ln>
              <a:noFill/>
            </a:ln>
          </p:spPr>
          <p:txBody>
            <a:bodyPr anchorCtr="0" anchor="t" bIns="0" lIns="0" spcFirstLastPara="1" rIns="0" wrap="square" tIns="0">
              <a:spAutoFit/>
            </a:bodyPr>
            <a:lstStyle/>
            <a:p>
              <a:pPr indent="0" lvl="0" marL="0" marR="0" rtl="0" algn="just">
                <a:lnSpc>
                  <a:spcPct val="150010"/>
                </a:lnSpc>
                <a:spcBef>
                  <a:spcPts val="0"/>
                </a:spcBef>
                <a:spcAft>
                  <a:spcPts val="0"/>
                </a:spcAft>
                <a:buNone/>
              </a:pPr>
              <a:r>
                <a:rPr b="1" i="0" lang="en-US" sz="3300" u="none" cap="none" strike="noStrike">
                  <a:solidFill>
                    <a:srgbClr val="FFFFFF"/>
                  </a:solidFill>
                  <a:latin typeface="Arial"/>
                  <a:ea typeface="Arial"/>
                  <a:cs typeface="Arial"/>
                  <a:sym typeface="Arial"/>
                </a:rPr>
                <a:t>Framework</a:t>
              </a:r>
              <a:endParaRPr sz="900"/>
            </a:p>
          </p:txBody>
        </p:sp>
      </p:grpSp>
      <p:sp>
        <p:nvSpPr>
          <p:cNvPr id="1539" name="Google Shape;1539;h410af0035cb59894_0_128"/>
          <p:cNvSpPr/>
          <p:nvPr/>
        </p:nvSpPr>
        <p:spPr>
          <a:xfrm>
            <a:off x="9793870" y="337130"/>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grpSp>
        <p:nvGrpSpPr>
          <p:cNvPr id="1540" name="Google Shape;1540;h410af0035cb59894_0_128"/>
          <p:cNvGrpSpPr/>
          <p:nvPr/>
        </p:nvGrpSpPr>
        <p:grpSpPr>
          <a:xfrm>
            <a:off x="0" y="1354333"/>
            <a:ext cx="5333839" cy="5600029"/>
            <a:chOff x="0" y="-57150"/>
            <a:chExt cx="3324300" cy="3490202"/>
          </a:xfrm>
        </p:grpSpPr>
        <p:sp>
          <p:nvSpPr>
            <p:cNvPr id="1541" name="Google Shape;1541;h410af0035cb59894_0_128"/>
            <p:cNvSpPr/>
            <p:nvPr/>
          </p:nvSpPr>
          <p:spPr>
            <a:xfrm>
              <a:off x="0" y="0"/>
              <a:ext cx="3324160" cy="3433052"/>
            </a:xfrm>
            <a:custGeom>
              <a:rect b="b" l="l" r="r" t="t"/>
              <a:pathLst>
                <a:path extrusionOk="0" h="3433052" w="3324160">
                  <a:moveTo>
                    <a:pt x="24191" y="0"/>
                  </a:moveTo>
                  <a:lnTo>
                    <a:pt x="3299968" y="0"/>
                  </a:lnTo>
                  <a:cubicBezTo>
                    <a:pt x="3306384" y="0"/>
                    <a:pt x="3312537" y="2549"/>
                    <a:pt x="3317074" y="7085"/>
                  </a:cubicBezTo>
                  <a:cubicBezTo>
                    <a:pt x="3321611" y="11622"/>
                    <a:pt x="3324160" y="17775"/>
                    <a:pt x="3324160" y="24191"/>
                  </a:cubicBezTo>
                  <a:lnTo>
                    <a:pt x="3324160" y="3408861"/>
                  </a:lnTo>
                  <a:cubicBezTo>
                    <a:pt x="3324160" y="3422221"/>
                    <a:pt x="3313329" y="3433052"/>
                    <a:pt x="3299968" y="3433052"/>
                  </a:cubicBezTo>
                  <a:lnTo>
                    <a:pt x="24191" y="3433052"/>
                  </a:lnTo>
                  <a:cubicBezTo>
                    <a:pt x="17775" y="3433052"/>
                    <a:pt x="11622" y="3430503"/>
                    <a:pt x="7085" y="3425966"/>
                  </a:cubicBezTo>
                  <a:cubicBezTo>
                    <a:pt x="2549" y="3421430"/>
                    <a:pt x="0" y="3415276"/>
                    <a:pt x="0" y="3408861"/>
                  </a:cubicBezTo>
                  <a:lnTo>
                    <a:pt x="0" y="24191"/>
                  </a:lnTo>
                  <a:cubicBezTo>
                    <a:pt x="0" y="17775"/>
                    <a:pt x="2549" y="11622"/>
                    <a:pt x="7085" y="7085"/>
                  </a:cubicBezTo>
                  <a:cubicBezTo>
                    <a:pt x="11622" y="2549"/>
                    <a:pt x="17775" y="0"/>
                    <a:pt x="24191" y="0"/>
                  </a:cubicBezTo>
                  <a:close/>
                </a:path>
              </a:pathLst>
            </a:custGeom>
            <a:solidFill>
              <a:srgbClr val="2F7E9D"/>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542" name="Google Shape;1542;h410af0035cb59894_0_128"/>
            <p:cNvSpPr txBox="1"/>
            <p:nvPr/>
          </p:nvSpPr>
          <p:spPr>
            <a:xfrm>
              <a:off x="0" y="-57150"/>
              <a:ext cx="3324300" cy="3490200"/>
            </a:xfrm>
            <a:prstGeom prst="rect">
              <a:avLst/>
            </a:prstGeom>
            <a:noFill/>
            <a:ln>
              <a:noFill/>
            </a:ln>
          </p:spPr>
          <p:txBody>
            <a:bodyPr anchorCtr="0" anchor="ctr" bIns="21475" lIns="21475" spcFirstLastPara="1" rIns="21475" wrap="square" tIns="21475">
              <a:noAutofit/>
            </a:bodyPr>
            <a:lstStyle/>
            <a:p>
              <a:pPr indent="0" lvl="0" marL="0" marR="0" rtl="0" algn="ctr">
                <a:lnSpc>
                  <a:spcPct val="169833"/>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543" name="Google Shape;1543;h410af0035cb59894_0_128"/>
          <p:cNvGrpSpPr/>
          <p:nvPr/>
        </p:nvGrpSpPr>
        <p:grpSpPr>
          <a:xfrm>
            <a:off x="5668588" y="835429"/>
            <a:ext cx="6089703" cy="6013582"/>
            <a:chOff x="0" y="0"/>
            <a:chExt cx="12179406" cy="12027163"/>
          </a:xfrm>
        </p:grpSpPr>
        <p:sp>
          <p:nvSpPr>
            <p:cNvPr id="1544" name="Google Shape;1544;h410af0035cb59894_0_128"/>
            <p:cNvSpPr/>
            <p:nvPr/>
          </p:nvSpPr>
          <p:spPr>
            <a:xfrm>
              <a:off x="0" y="0"/>
              <a:ext cx="12179406" cy="12027163"/>
            </a:xfrm>
            <a:custGeom>
              <a:rect b="b" l="l" r="r" t="t"/>
              <a:pathLst>
                <a:path extrusionOk="0" h="12027163" w="12179406">
                  <a:moveTo>
                    <a:pt x="0" y="0"/>
                  </a:moveTo>
                  <a:lnTo>
                    <a:pt x="12179406" y="0"/>
                  </a:lnTo>
                  <a:lnTo>
                    <a:pt x="12179406" y="12027163"/>
                  </a:lnTo>
                  <a:lnTo>
                    <a:pt x="0" y="12027163"/>
                  </a:lnTo>
                  <a:lnTo>
                    <a:pt x="0" y="0"/>
                  </a:lnTo>
                  <a:close/>
                </a:path>
              </a:pathLst>
            </a:custGeom>
            <a:blipFill rotWithShape="1">
              <a:blip r:embed="rId4">
                <a:alphaModFix/>
              </a:blip>
              <a:stretch>
                <a:fillRect b="0" l="0" r="0" t="0"/>
              </a:stretch>
            </a:blipFill>
            <a:ln>
              <a:noFill/>
            </a:ln>
          </p:spPr>
        </p:sp>
        <p:sp>
          <p:nvSpPr>
            <p:cNvPr id="1545" name="Google Shape;1545;h410af0035cb59894_0_128"/>
            <p:cNvSpPr/>
            <p:nvPr/>
          </p:nvSpPr>
          <p:spPr>
            <a:xfrm>
              <a:off x="4773392" y="4734168"/>
              <a:ext cx="2487479" cy="2205286"/>
            </a:xfrm>
            <a:custGeom>
              <a:rect b="b" l="l" r="r" t="t"/>
              <a:pathLst>
                <a:path extrusionOk="0" h="2205286" w="2487479">
                  <a:moveTo>
                    <a:pt x="0" y="0"/>
                  </a:moveTo>
                  <a:lnTo>
                    <a:pt x="2487479" y="0"/>
                  </a:lnTo>
                  <a:lnTo>
                    <a:pt x="2487479" y="2205286"/>
                  </a:lnTo>
                  <a:lnTo>
                    <a:pt x="0" y="2205286"/>
                  </a:lnTo>
                  <a:lnTo>
                    <a:pt x="0" y="0"/>
                  </a:lnTo>
                  <a:close/>
                </a:path>
              </a:pathLst>
            </a:custGeom>
            <a:blipFill rotWithShape="1">
              <a:blip r:embed="rId5">
                <a:alphaModFix/>
              </a:blip>
              <a:stretch>
                <a:fillRect b="0" l="0" r="0" t="0"/>
              </a:stretch>
            </a:blipFill>
            <a:ln>
              <a:noFill/>
            </a:ln>
          </p:spPr>
        </p:sp>
      </p:grpSp>
      <p:sp>
        <p:nvSpPr>
          <p:cNvPr id="1546" name="Google Shape;1546;h410af0035cb59894_0_128"/>
          <p:cNvSpPr txBox="1"/>
          <p:nvPr/>
        </p:nvSpPr>
        <p:spPr>
          <a:xfrm>
            <a:off x="596831" y="1761486"/>
            <a:ext cx="3941100" cy="1413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700" u="none" cap="none" strike="noStrike">
                <a:solidFill>
                  <a:srgbClr val="FFFFFF"/>
                </a:solidFill>
                <a:latin typeface="Arial"/>
                <a:ea typeface="Arial"/>
                <a:cs typeface="Arial"/>
                <a:sym typeface="Arial"/>
              </a:rPr>
              <a:t>Using Cambridge Framework for Training Development</a:t>
            </a:r>
            <a:endParaRPr sz="900"/>
          </a:p>
        </p:txBody>
      </p:sp>
      <p:sp>
        <p:nvSpPr>
          <p:cNvPr id="1547" name="Google Shape;1547;h410af0035cb59894_0_128"/>
          <p:cNvSpPr txBox="1"/>
          <p:nvPr/>
        </p:nvSpPr>
        <p:spPr>
          <a:xfrm>
            <a:off x="596831" y="3237726"/>
            <a:ext cx="4050000" cy="3025800"/>
          </a:xfrm>
          <a:prstGeom prst="rect">
            <a:avLst/>
          </a:prstGeom>
          <a:noFill/>
          <a:ln>
            <a:noFill/>
          </a:ln>
        </p:spPr>
        <p:txBody>
          <a:bodyPr anchorCtr="0" anchor="t" bIns="0" lIns="0" spcFirstLastPara="1" rIns="0" wrap="square" tIns="0">
            <a:spAutoFit/>
          </a:bodyPr>
          <a:lstStyle/>
          <a:p>
            <a:pPr indent="0" lvl="0" marL="0" marR="0" rtl="0" algn="l">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The training would be tailored with the needs of the students/audiences, while all using the ‘continuous learning’ approach:</a:t>
            </a:r>
            <a:endParaRPr sz="900"/>
          </a:p>
          <a:p>
            <a:pPr indent="0" lvl="0" marL="0" marR="0" rtl="0" algn="l">
              <a:lnSpc>
                <a:spcPct val="163665"/>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209550" lvl="1" marL="406400" marR="0" rtl="0" algn="l">
              <a:lnSpc>
                <a:spcPct val="150017"/>
              </a:lnSpc>
              <a:spcBef>
                <a:spcPts val="0"/>
              </a:spcBef>
              <a:spcAft>
                <a:spcPts val="0"/>
              </a:spcAft>
              <a:buClr>
                <a:srgbClr val="FFFFFF"/>
              </a:buClr>
              <a:buSzPts val="1900"/>
              <a:buFont typeface="Arial"/>
              <a:buChar char="•"/>
            </a:pPr>
            <a:r>
              <a:rPr b="1" i="0" lang="en-US" sz="1900" u="none" cap="none" strike="noStrike">
                <a:solidFill>
                  <a:srgbClr val="FFFFFF"/>
                </a:solidFill>
                <a:latin typeface="Arial"/>
                <a:ea typeface="Arial"/>
                <a:cs typeface="Arial"/>
                <a:sym typeface="Arial"/>
              </a:rPr>
              <a:t>Define</a:t>
            </a:r>
            <a:r>
              <a:rPr b="0" i="0" lang="en-US" sz="1900" u="none" cap="none" strike="noStrike">
                <a:solidFill>
                  <a:srgbClr val="FFFFFF"/>
                </a:solidFill>
                <a:latin typeface="Arial"/>
                <a:ea typeface="Arial"/>
                <a:cs typeface="Arial"/>
                <a:sym typeface="Arial"/>
              </a:rPr>
              <a:t> </a:t>
            </a:r>
            <a:endParaRPr sz="900"/>
          </a:p>
          <a:p>
            <a:pPr indent="-209550" lvl="1" marL="406400" marR="0" rtl="0" algn="l">
              <a:lnSpc>
                <a:spcPct val="150017"/>
              </a:lnSpc>
              <a:spcBef>
                <a:spcPts val="0"/>
              </a:spcBef>
              <a:spcAft>
                <a:spcPts val="0"/>
              </a:spcAft>
              <a:buClr>
                <a:srgbClr val="FFFFFF"/>
              </a:buClr>
              <a:buSzPts val="1900"/>
              <a:buFont typeface="Arial"/>
              <a:buChar char="•"/>
            </a:pPr>
            <a:r>
              <a:rPr b="1" i="0" lang="en-US" sz="1900" u="none" cap="none" strike="noStrike">
                <a:solidFill>
                  <a:srgbClr val="FFFFFF"/>
                </a:solidFill>
                <a:latin typeface="Arial"/>
                <a:ea typeface="Arial"/>
                <a:cs typeface="Arial"/>
                <a:sym typeface="Arial"/>
              </a:rPr>
              <a:t>Design</a:t>
            </a:r>
            <a:endParaRPr sz="900"/>
          </a:p>
          <a:p>
            <a:pPr indent="-209550" lvl="1" marL="406400" marR="0" rtl="0" algn="l">
              <a:lnSpc>
                <a:spcPct val="150017"/>
              </a:lnSpc>
              <a:spcBef>
                <a:spcPts val="0"/>
              </a:spcBef>
              <a:spcAft>
                <a:spcPts val="0"/>
              </a:spcAft>
              <a:buClr>
                <a:srgbClr val="FFFFFF"/>
              </a:buClr>
              <a:buSzPts val="1900"/>
              <a:buFont typeface="Arial"/>
              <a:buChar char="•"/>
            </a:pPr>
            <a:r>
              <a:rPr b="1" i="0" lang="en-US" sz="1900" u="none" cap="none" strike="noStrike">
                <a:solidFill>
                  <a:srgbClr val="FFFFFF"/>
                </a:solidFill>
                <a:latin typeface="Arial"/>
                <a:ea typeface="Arial"/>
                <a:cs typeface="Arial"/>
                <a:sym typeface="Arial"/>
              </a:rPr>
              <a:t>Deliver</a:t>
            </a:r>
            <a:endParaRPr sz="900"/>
          </a:p>
          <a:p>
            <a:pPr indent="-209550" lvl="1" marL="406400" marR="0" rtl="0" algn="l">
              <a:lnSpc>
                <a:spcPct val="150017"/>
              </a:lnSpc>
              <a:spcBef>
                <a:spcPts val="0"/>
              </a:spcBef>
              <a:spcAft>
                <a:spcPts val="0"/>
              </a:spcAft>
              <a:buClr>
                <a:srgbClr val="FFFFFF"/>
              </a:buClr>
              <a:buSzPts val="1900"/>
              <a:buFont typeface="Arial"/>
              <a:buChar char="•"/>
            </a:pPr>
            <a:r>
              <a:rPr b="1" i="0" lang="en-US" sz="1900" u="none" cap="none" strike="noStrike">
                <a:solidFill>
                  <a:srgbClr val="FFFFFF"/>
                </a:solidFill>
                <a:latin typeface="Arial"/>
                <a:ea typeface="Arial"/>
                <a:cs typeface="Arial"/>
                <a:sym typeface="Arial"/>
              </a:rPr>
              <a:t>Discuss</a:t>
            </a:r>
            <a:endParaRPr sz="900"/>
          </a:p>
        </p:txBody>
      </p:sp>
      <p:grpSp>
        <p:nvGrpSpPr>
          <p:cNvPr id="1548" name="Google Shape;1548;h410af0035cb59894_0_128"/>
          <p:cNvGrpSpPr/>
          <p:nvPr/>
        </p:nvGrpSpPr>
        <p:grpSpPr>
          <a:xfrm>
            <a:off x="1928812" y="4705371"/>
            <a:ext cx="3083799" cy="1294845"/>
            <a:chOff x="0" y="-28575"/>
            <a:chExt cx="6167599" cy="2589689"/>
          </a:xfrm>
        </p:grpSpPr>
        <p:sp>
          <p:nvSpPr>
            <p:cNvPr id="1549" name="Google Shape;1549;h410af0035cb59894_0_128"/>
            <p:cNvSpPr txBox="1"/>
            <p:nvPr/>
          </p:nvSpPr>
          <p:spPr>
            <a:xfrm>
              <a:off x="0" y="-28575"/>
              <a:ext cx="3807300" cy="46170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None/>
              </a:pPr>
              <a:r>
                <a:rPr b="1" i="0" lang="en-US" sz="1500" u="none" cap="none" strike="noStrike">
                  <a:solidFill>
                    <a:srgbClr val="B0C0CF"/>
                  </a:solidFill>
                  <a:latin typeface="Arial"/>
                  <a:ea typeface="Arial"/>
                  <a:cs typeface="Arial"/>
                  <a:sym typeface="Arial"/>
                </a:rPr>
                <a:t>the Knowledge Gap</a:t>
              </a:r>
              <a:endParaRPr sz="900"/>
            </a:p>
          </p:txBody>
        </p:sp>
        <p:sp>
          <p:nvSpPr>
            <p:cNvPr id="1550" name="Google Shape;1550;h410af0035cb59894_0_128"/>
            <p:cNvSpPr txBox="1"/>
            <p:nvPr/>
          </p:nvSpPr>
          <p:spPr>
            <a:xfrm>
              <a:off x="25400" y="700033"/>
              <a:ext cx="4500300" cy="46170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None/>
              </a:pPr>
              <a:r>
                <a:rPr b="1" i="0" lang="en-US" sz="1500" u="none" cap="none" strike="noStrike">
                  <a:solidFill>
                    <a:srgbClr val="B0C0CF"/>
                  </a:solidFill>
                  <a:latin typeface="Arial"/>
                  <a:ea typeface="Arial"/>
                  <a:cs typeface="Arial"/>
                  <a:sym typeface="Arial"/>
                </a:rPr>
                <a:t>the Tailored Curriculum</a:t>
              </a:r>
              <a:endParaRPr sz="900"/>
            </a:p>
          </p:txBody>
        </p:sp>
        <p:sp>
          <p:nvSpPr>
            <p:cNvPr id="1551" name="Google Shape;1551;h410af0035cb59894_0_128"/>
            <p:cNvSpPr txBox="1"/>
            <p:nvPr/>
          </p:nvSpPr>
          <p:spPr>
            <a:xfrm>
              <a:off x="88900" y="1424780"/>
              <a:ext cx="5026800" cy="46170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None/>
              </a:pPr>
              <a:r>
                <a:rPr b="1" i="0" lang="en-US" sz="1500" u="none" cap="none" strike="noStrike">
                  <a:solidFill>
                    <a:srgbClr val="B0C0CF"/>
                  </a:solidFill>
                  <a:latin typeface="Arial"/>
                  <a:ea typeface="Arial"/>
                  <a:cs typeface="Arial"/>
                  <a:sym typeface="Arial"/>
                </a:rPr>
                <a:t>the Breakthrough Training</a:t>
              </a:r>
              <a:endParaRPr sz="900"/>
            </a:p>
          </p:txBody>
        </p:sp>
        <p:sp>
          <p:nvSpPr>
            <p:cNvPr id="1552" name="Google Shape;1552;h410af0035cb59894_0_128"/>
            <p:cNvSpPr txBox="1"/>
            <p:nvPr/>
          </p:nvSpPr>
          <p:spPr>
            <a:xfrm>
              <a:off x="203299" y="2099414"/>
              <a:ext cx="5964300" cy="461700"/>
            </a:xfrm>
            <a:prstGeom prst="rect">
              <a:avLst/>
            </a:prstGeom>
            <a:noFill/>
            <a:ln>
              <a:noFill/>
            </a:ln>
          </p:spPr>
          <p:txBody>
            <a:bodyPr anchorCtr="0" anchor="t" bIns="0" lIns="0" spcFirstLastPara="1" rIns="0" wrap="square" tIns="0">
              <a:spAutoFit/>
            </a:bodyPr>
            <a:lstStyle/>
            <a:p>
              <a:pPr indent="0" lvl="0" marL="0" marR="0" rtl="0" algn="ctr">
                <a:lnSpc>
                  <a:spcPct val="130013"/>
                </a:lnSpc>
                <a:spcBef>
                  <a:spcPts val="0"/>
                </a:spcBef>
                <a:spcAft>
                  <a:spcPts val="0"/>
                </a:spcAft>
                <a:buNone/>
              </a:pPr>
              <a:r>
                <a:rPr b="1" i="0" lang="en-US" sz="1500" u="none" cap="none" strike="noStrike">
                  <a:solidFill>
                    <a:srgbClr val="B0C0CF"/>
                  </a:solidFill>
                  <a:latin typeface="Arial"/>
                  <a:ea typeface="Arial"/>
                  <a:cs typeface="Arial"/>
                  <a:sym typeface="Arial"/>
                </a:rPr>
                <a:t>the Improvement Post-Training</a:t>
              </a:r>
              <a:endParaRPr sz="900"/>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h410af0035cb59894_0_150"/>
          <p:cNvSpPr/>
          <p:nvPr/>
        </p:nvSpPr>
        <p:spPr>
          <a:xfrm>
            <a:off x="0" y="0"/>
            <a:ext cx="1813950" cy="3224800"/>
          </a:xfrm>
          <a:custGeom>
            <a:rect b="b" l="l" r="r" t="t"/>
            <a:pathLst>
              <a:path extrusionOk="0" h="4831161" w="2717528">
                <a:moveTo>
                  <a:pt x="0" y="0"/>
                </a:moveTo>
                <a:lnTo>
                  <a:pt x="2717528" y="0"/>
                </a:lnTo>
                <a:lnTo>
                  <a:pt x="2717528" y="4831161"/>
                </a:lnTo>
                <a:lnTo>
                  <a:pt x="0" y="4831161"/>
                </a:lnTo>
                <a:lnTo>
                  <a:pt x="0" y="0"/>
                </a:lnTo>
                <a:close/>
              </a:path>
            </a:pathLst>
          </a:custGeom>
          <a:blipFill rotWithShape="1">
            <a:blip r:embed="rId3">
              <a:alphaModFix/>
            </a:blip>
            <a:stretch>
              <a:fillRect b="0" l="0" r="0" t="0"/>
            </a:stretch>
          </a:blipFill>
          <a:ln>
            <a:noFill/>
          </a:ln>
        </p:spPr>
      </p:sp>
      <p:sp>
        <p:nvSpPr>
          <p:cNvPr id="1558" name="Google Shape;1558;h410af0035cb59894_0_150"/>
          <p:cNvSpPr/>
          <p:nvPr/>
        </p:nvSpPr>
        <p:spPr>
          <a:xfrm>
            <a:off x="1811637" y="0"/>
            <a:ext cx="5325197" cy="3224800"/>
          </a:xfrm>
          <a:custGeom>
            <a:rect b="b" l="l" r="r" t="t"/>
            <a:pathLst>
              <a:path extrusionOk="0" h="4831161" w="7977823">
                <a:moveTo>
                  <a:pt x="0" y="0"/>
                </a:moveTo>
                <a:lnTo>
                  <a:pt x="7977823" y="0"/>
                </a:lnTo>
                <a:lnTo>
                  <a:pt x="7977823" y="4831161"/>
                </a:lnTo>
                <a:lnTo>
                  <a:pt x="0" y="4831161"/>
                </a:lnTo>
                <a:lnTo>
                  <a:pt x="0" y="0"/>
                </a:lnTo>
                <a:close/>
              </a:path>
            </a:pathLst>
          </a:custGeom>
          <a:blipFill rotWithShape="1">
            <a:blip r:embed="rId4">
              <a:alphaModFix/>
            </a:blip>
            <a:stretch>
              <a:fillRect b="0" l="-7660" r="0" t="0"/>
            </a:stretch>
          </a:blipFill>
          <a:ln>
            <a:noFill/>
          </a:ln>
        </p:spPr>
      </p:sp>
      <p:sp>
        <p:nvSpPr>
          <p:cNvPr id="1559" name="Google Shape;1559;h410af0035cb59894_0_150"/>
          <p:cNvSpPr/>
          <p:nvPr/>
        </p:nvSpPr>
        <p:spPr>
          <a:xfrm>
            <a:off x="-1381848" y="3220774"/>
            <a:ext cx="6474262" cy="3641773"/>
          </a:xfrm>
          <a:custGeom>
            <a:rect b="b" l="l" r="r" t="t"/>
            <a:pathLst>
              <a:path extrusionOk="0" h="5455839" w="9699269">
                <a:moveTo>
                  <a:pt x="0" y="0"/>
                </a:moveTo>
                <a:lnTo>
                  <a:pt x="9699269" y="0"/>
                </a:lnTo>
                <a:lnTo>
                  <a:pt x="9699269" y="5455839"/>
                </a:lnTo>
                <a:lnTo>
                  <a:pt x="0" y="5455839"/>
                </a:lnTo>
                <a:lnTo>
                  <a:pt x="0" y="0"/>
                </a:lnTo>
                <a:close/>
              </a:path>
            </a:pathLst>
          </a:custGeom>
          <a:blipFill rotWithShape="1">
            <a:blip r:embed="rId5">
              <a:alphaModFix/>
            </a:blip>
            <a:stretch>
              <a:fillRect b="0" l="0" r="0" t="0"/>
            </a:stretch>
          </a:blipFill>
          <a:ln>
            <a:noFill/>
          </a:ln>
        </p:spPr>
      </p:sp>
      <p:sp>
        <p:nvSpPr>
          <p:cNvPr id="1560" name="Google Shape;1560;h410af0035cb59894_0_150"/>
          <p:cNvSpPr/>
          <p:nvPr/>
        </p:nvSpPr>
        <p:spPr>
          <a:xfrm>
            <a:off x="5084159" y="3220774"/>
            <a:ext cx="2048497" cy="3641773"/>
          </a:xfrm>
          <a:custGeom>
            <a:rect b="b" l="l" r="r" t="t"/>
            <a:pathLst>
              <a:path extrusionOk="0" h="5455839" w="3068909">
                <a:moveTo>
                  <a:pt x="0" y="0"/>
                </a:moveTo>
                <a:lnTo>
                  <a:pt x="3068909" y="0"/>
                </a:lnTo>
                <a:lnTo>
                  <a:pt x="3068909" y="5455839"/>
                </a:lnTo>
                <a:lnTo>
                  <a:pt x="0" y="5455839"/>
                </a:lnTo>
                <a:lnTo>
                  <a:pt x="0" y="0"/>
                </a:lnTo>
                <a:close/>
              </a:path>
            </a:pathLst>
          </a:custGeom>
          <a:blipFill rotWithShape="1">
            <a:blip r:embed="rId6">
              <a:alphaModFix/>
            </a:blip>
            <a:stretch>
              <a:fillRect b="0" l="0" r="0" t="0"/>
            </a:stretch>
          </a:blipFill>
          <a:ln>
            <a:noFill/>
          </a:ln>
        </p:spPr>
      </p:sp>
      <p:sp>
        <p:nvSpPr>
          <p:cNvPr id="1561" name="Google Shape;1561;h410af0035cb59894_0_150"/>
          <p:cNvSpPr/>
          <p:nvPr/>
        </p:nvSpPr>
        <p:spPr>
          <a:xfrm>
            <a:off x="7130044" y="15292"/>
            <a:ext cx="2465402" cy="3292609"/>
          </a:xfrm>
          <a:custGeom>
            <a:rect b="b" l="l" r="r" t="t"/>
            <a:pathLst>
              <a:path extrusionOk="0" h="4932748" w="3693486">
                <a:moveTo>
                  <a:pt x="0" y="0"/>
                </a:moveTo>
                <a:lnTo>
                  <a:pt x="3693486" y="0"/>
                </a:lnTo>
                <a:lnTo>
                  <a:pt x="3693486" y="4932747"/>
                </a:lnTo>
                <a:lnTo>
                  <a:pt x="0" y="4932747"/>
                </a:lnTo>
                <a:lnTo>
                  <a:pt x="0" y="0"/>
                </a:lnTo>
                <a:close/>
              </a:path>
            </a:pathLst>
          </a:custGeom>
          <a:blipFill rotWithShape="1">
            <a:blip r:embed="rId7">
              <a:alphaModFix/>
            </a:blip>
            <a:stretch>
              <a:fillRect b="0" l="0" r="0" t="0"/>
            </a:stretch>
          </a:blipFill>
          <a:ln>
            <a:noFill/>
          </a:ln>
        </p:spPr>
      </p:sp>
      <p:sp>
        <p:nvSpPr>
          <p:cNvPr id="1562" name="Google Shape;1562;h410af0035cb59894_0_150"/>
          <p:cNvSpPr/>
          <p:nvPr/>
        </p:nvSpPr>
        <p:spPr>
          <a:xfrm>
            <a:off x="9604881" y="15292"/>
            <a:ext cx="2829586" cy="5030375"/>
          </a:xfrm>
          <a:custGeom>
            <a:rect b="b" l="l" r="r" t="t"/>
            <a:pathLst>
              <a:path extrusionOk="0" h="7536143" w="4239080">
                <a:moveTo>
                  <a:pt x="0" y="0"/>
                </a:moveTo>
                <a:lnTo>
                  <a:pt x="4239080" y="0"/>
                </a:lnTo>
                <a:lnTo>
                  <a:pt x="4239080" y="7536143"/>
                </a:lnTo>
                <a:lnTo>
                  <a:pt x="0" y="7536143"/>
                </a:lnTo>
                <a:lnTo>
                  <a:pt x="0" y="0"/>
                </a:lnTo>
                <a:close/>
              </a:path>
            </a:pathLst>
          </a:custGeom>
          <a:blipFill rotWithShape="1">
            <a:blip r:embed="rId8">
              <a:alphaModFix/>
            </a:blip>
            <a:stretch>
              <a:fillRect b="0" l="0" r="0" t="0"/>
            </a:stretch>
          </a:blipFill>
          <a:ln>
            <a:noFill/>
          </a:ln>
        </p:spPr>
      </p:sp>
      <p:sp>
        <p:nvSpPr>
          <p:cNvPr id="1563" name="Google Shape;1563;h410af0035cb59894_0_150"/>
          <p:cNvSpPr/>
          <p:nvPr/>
        </p:nvSpPr>
        <p:spPr>
          <a:xfrm>
            <a:off x="7130044" y="3303790"/>
            <a:ext cx="5068093" cy="3808508"/>
          </a:xfrm>
          <a:custGeom>
            <a:rect b="b" l="l" r="r" t="t"/>
            <a:pathLst>
              <a:path extrusionOk="0" h="5705630" w="7592649">
                <a:moveTo>
                  <a:pt x="0" y="0"/>
                </a:moveTo>
                <a:lnTo>
                  <a:pt x="7592649" y="0"/>
                </a:lnTo>
                <a:lnTo>
                  <a:pt x="7592649" y="5705631"/>
                </a:lnTo>
                <a:lnTo>
                  <a:pt x="0" y="5705631"/>
                </a:lnTo>
                <a:lnTo>
                  <a:pt x="0" y="0"/>
                </a:lnTo>
                <a:close/>
              </a:path>
            </a:pathLst>
          </a:custGeom>
          <a:blipFill rotWithShape="1">
            <a:blip r:embed="rId9">
              <a:alphaModFix/>
            </a:blip>
            <a:stretch>
              <a:fillRect b="0" l="0" r="0" t="0"/>
            </a:stretch>
          </a:blipFill>
          <a:ln>
            <a:noFill/>
          </a:ln>
        </p:spPr>
      </p:sp>
      <p:grpSp>
        <p:nvGrpSpPr>
          <p:cNvPr id="1564" name="Google Shape;1564;h410af0035cb59894_0_150"/>
          <p:cNvGrpSpPr/>
          <p:nvPr/>
        </p:nvGrpSpPr>
        <p:grpSpPr>
          <a:xfrm>
            <a:off x="0" y="-8818"/>
            <a:ext cx="12191276" cy="6866892"/>
            <a:chOff x="0" y="-9525"/>
            <a:chExt cx="4816592" cy="2712900"/>
          </a:xfrm>
        </p:grpSpPr>
        <p:sp>
          <p:nvSpPr>
            <p:cNvPr id="1565" name="Google Shape;1565;h410af0035cb59894_0_150"/>
            <p:cNvSpPr/>
            <p:nvPr/>
          </p:nvSpPr>
          <p:spPr>
            <a:xfrm>
              <a:off x="0" y="0"/>
              <a:ext cx="4816592" cy="2703292"/>
            </a:xfrm>
            <a:custGeom>
              <a:rect b="b" l="l" r="r" t="t"/>
              <a:pathLst>
                <a:path extrusionOk="0" h="2703292" w="4816592">
                  <a:moveTo>
                    <a:pt x="0" y="0"/>
                  </a:moveTo>
                  <a:lnTo>
                    <a:pt x="4816592" y="0"/>
                  </a:lnTo>
                  <a:lnTo>
                    <a:pt x="4816592" y="2703292"/>
                  </a:lnTo>
                  <a:lnTo>
                    <a:pt x="0" y="2703292"/>
                  </a:lnTo>
                  <a:close/>
                </a:path>
              </a:pathLst>
            </a:custGeom>
            <a:solidFill>
              <a:srgbClr val="000000">
                <a:alpha val="40000"/>
              </a:srgbClr>
            </a:solidFill>
            <a:ln>
              <a:noFill/>
            </a:ln>
          </p:spPr>
        </p:sp>
        <p:sp>
          <p:nvSpPr>
            <p:cNvPr id="1566" name="Google Shape;1566;h410af0035cb59894_0_150"/>
            <p:cNvSpPr txBox="1"/>
            <p:nvPr/>
          </p:nvSpPr>
          <p:spPr>
            <a:xfrm>
              <a:off x="0" y="-9525"/>
              <a:ext cx="4816500" cy="27129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567" name="Google Shape;1567;h410af0035cb59894_0_150"/>
          <p:cNvGrpSpPr/>
          <p:nvPr/>
        </p:nvGrpSpPr>
        <p:grpSpPr>
          <a:xfrm>
            <a:off x="786194" y="1446425"/>
            <a:ext cx="3050988" cy="5024685"/>
            <a:chOff x="0" y="-114300"/>
            <a:chExt cx="1205400" cy="1985100"/>
          </a:xfrm>
        </p:grpSpPr>
        <p:sp>
          <p:nvSpPr>
            <p:cNvPr id="1568" name="Google Shape;1568;h410af0035cb59894_0_150"/>
            <p:cNvSpPr/>
            <p:nvPr/>
          </p:nvSpPr>
          <p:spPr>
            <a:xfrm>
              <a:off x="0" y="0"/>
              <a:ext cx="1205280" cy="1870753"/>
            </a:xfrm>
            <a:custGeom>
              <a:rect b="b" l="l" r="r" t="t"/>
              <a:pathLst>
                <a:path extrusionOk="0" h="1870753" w="1205280">
                  <a:moveTo>
                    <a:pt x="0" y="0"/>
                  </a:moveTo>
                  <a:lnTo>
                    <a:pt x="1205280" y="0"/>
                  </a:lnTo>
                  <a:lnTo>
                    <a:pt x="1205280" y="1870753"/>
                  </a:lnTo>
                  <a:lnTo>
                    <a:pt x="0" y="1870753"/>
                  </a:lnTo>
                  <a:close/>
                </a:path>
              </a:pathLst>
            </a:custGeom>
            <a:solidFill>
              <a:srgbClr val="0D2A4E">
                <a:alpha val="84710"/>
              </a:srgbClr>
            </a:solidFill>
            <a:ln>
              <a:noFill/>
            </a:ln>
          </p:spPr>
        </p:sp>
        <p:sp>
          <p:nvSpPr>
            <p:cNvPr id="1569" name="Google Shape;1569;h410af0035cb59894_0_150"/>
            <p:cNvSpPr txBox="1"/>
            <p:nvPr/>
          </p:nvSpPr>
          <p:spPr>
            <a:xfrm>
              <a:off x="0" y="-114300"/>
              <a:ext cx="1205400" cy="19851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570" name="Google Shape;1570;h410af0035cb59894_0_150"/>
          <p:cNvGrpSpPr/>
          <p:nvPr/>
        </p:nvGrpSpPr>
        <p:grpSpPr>
          <a:xfrm>
            <a:off x="4760541" y="1429289"/>
            <a:ext cx="3050988" cy="5024685"/>
            <a:chOff x="0" y="-114300"/>
            <a:chExt cx="1205400" cy="1985100"/>
          </a:xfrm>
        </p:grpSpPr>
        <p:sp>
          <p:nvSpPr>
            <p:cNvPr id="1571" name="Google Shape;1571;h410af0035cb59894_0_150"/>
            <p:cNvSpPr/>
            <p:nvPr/>
          </p:nvSpPr>
          <p:spPr>
            <a:xfrm>
              <a:off x="0" y="0"/>
              <a:ext cx="1205280" cy="1870753"/>
            </a:xfrm>
            <a:custGeom>
              <a:rect b="b" l="l" r="r" t="t"/>
              <a:pathLst>
                <a:path extrusionOk="0" h="1870753" w="1205280">
                  <a:moveTo>
                    <a:pt x="0" y="0"/>
                  </a:moveTo>
                  <a:lnTo>
                    <a:pt x="1205280" y="0"/>
                  </a:lnTo>
                  <a:lnTo>
                    <a:pt x="1205280" y="1870753"/>
                  </a:lnTo>
                  <a:lnTo>
                    <a:pt x="0" y="1870753"/>
                  </a:lnTo>
                  <a:close/>
                </a:path>
              </a:pathLst>
            </a:custGeom>
            <a:solidFill>
              <a:srgbClr val="0D2A4E">
                <a:alpha val="69800"/>
              </a:srgbClr>
            </a:solidFill>
            <a:ln>
              <a:noFill/>
            </a:ln>
          </p:spPr>
        </p:sp>
        <p:sp>
          <p:nvSpPr>
            <p:cNvPr id="1572" name="Google Shape;1572;h410af0035cb59894_0_150"/>
            <p:cNvSpPr txBox="1"/>
            <p:nvPr/>
          </p:nvSpPr>
          <p:spPr>
            <a:xfrm>
              <a:off x="0" y="-114300"/>
              <a:ext cx="1205400" cy="19851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573" name="Google Shape;1573;h410af0035cb59894_0_150"/>
          <p:cNvSpPr txBox="1"/>
          <p:nvPr/>
        </p:nvSpPr>
        <p:spPr>
          <a:xfrm>
            <a:off x="550281" y="-5473"/>
            <a:ext cx="11084400" cy="661800"/>
          </a:xfrm>
          <a:prstGeom prst="rect">
            <a:avLst/>
          </a:prstGeom>
          <a:noFill/>
          <a:ln>
            <a:noFill/>
          </a:ln>
        </p:spPr>
        <p:txBody>
          <a:bodyPr anchorCtr="0" anchor="t" bIns="0" lIns="0" spcFirstLastPara="1" rIns="0" wrap="square" tIns="0">
            <a:spAutoFit/>
          </a:bodyPr>
          <a:lstStyle/>
          <a:p>
            <a:pPr indent="0" lvl="0" marL="0" marR="0" rtl="0" algn="ctr">
              <a:lnSpc>
                <a:spcPct val="114002"/>
              </a:lnSpc>
              <a:spcBef>
                <a:spcPts val="0"/>
              </a:spcBef>
              <a:spcAft>
                <a:spcPts val="0"/>
              </a:spcAft>
              <a:buNone/>
            </a:pPr>
            <a:r>
              <a:rPr b="1" i="0" lang="en-US" sz="4300" u="none" cap="none" strike="noStrike">
                <a:solidFill>
                  <a:srgbClr val="FFFFFF"/>
                </a:solidFill>
                <a:latin typeface="Arial"/>
                <a:ea typeface="Arial"/>
                <a:cs typeface="Arial"/>
                <a:sym typeface="Arial"/>
              </a:rPr>
              <a:t>OUR TRAINING SPECIALITIES</a:t>
            </a:r>
            <a:endParaRPr sz="900"/>
          </a:p>
        </p:txBody>
      </p:sp>
      <p:sp>
        <p:nvSpPr>
          <p:cNvPr id="1574" name="Google Shape;1574;h410af0035cb59894_0_150"/>
          <p:cNvSpPr txBox="1"/>
          <p:nvPr/>
        </p:nvSpPr>
        <p:spPr>
          <a:xfrm>
            <a:off x="784449" y="1914317"/>
            <a:ext cx="2896200" cy="2462700"/>
          </a:xfrm>
          <a:prstGeom prst="rect">
            <a:avLst/>
          </a:prstGeom>
          <a:noFill/>
          <a:ln>
            <a:noFill/>
          </a:ln>
        </p:spPr>
        <p:txBody>
          <a:bodyPr anchorCtr="0" anchor="t" bIns="0" lIns="0" spcFirstLastPara="1" rIns="0" wrap="square" tIns="0">
            <a:spAutoFit/>
          </a:bodyPr>
          <a:lstStyle/>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Leadership</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English Communication for Sales</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Creative Problem Solving and Decision Making</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Strategic Leadership</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Creative Thinking,etc</a:t>
            </a:r>
            <a:endParaRPr sz="900"/>
          </a:p>
        </p:txBody>
      </p:sp>
      <p:grpSp>
        <p:nvGrpSpPr>
          <p:cNvPr id="1575" name="Google Shape;1575;h410af0035cb59894_0_150"/>
          <p:cNvGrpSpPr/>
          <p:nvPr/>
        </p:nvGrpSpPr>
        <p:grpSpPr>
          <a:xfrm>
            <a:off x="4772785" y="603188"/>
            <a:ext cx="3049469" cy="1039564"/>
            <a:chOff x="0" y="-114300"/>
            <a:chExt cx="1204800" cy="410700"/>
          </a:xfrm>
        </p:grpSpPr>
        <p:sp>
          <p:nvSpPr>
            <p:cNvPr id="1576" name="Google Shape;1576;h410af0035cb59894_0_150"/>
            <p:cNvSpPr/>
            <p:nvPr/>
          </p:nvSpPr>
          <p:spPr>
            <a:xfrm>
              <a:off x="0" y="0"/>
              <a:ext cx="1204715" cy="296257"/>
            </a:xfrm>
            <a:custGeom>
              <a:rect b="b" l="l" r="r" t="t"/>
              <a:pathLst>
                <a:path extrusionOk="0" h="296257" w="1204715">
                  <a:moveTo>
                    <a:pt x="0" y="0"/>
                  </a:moveTo>
                  <a:lnTo>
                    <a:pt x="1204715" y="0"/>
                  </a:lnTo>
                  <a:lnTo>
                    <a:pt x="1204715" y="296257"/>
                  </a:lnTo>
                  <a:lnTo>
                    <a:pt x="0" y="296257"/>
                  </a:lnTo>
                  <a:close/>
                </a:path>
              </a:pathLst>
            </a:custGeom>
            <a:solidFill>
              <a:srgbClr val="FFC00C">
                <a:alpha val="84710"/>
              </a:srgbClr>
            </a:solidFill>
            <a:ln>
              <a:noFill/>
            </a:ln>
          </p:spPr>
        </p:sp>
        <p:sp>
          <p:nvSpPr>
            <p:cNvPr id="1577" name="Google Shape;1577;h410af0035cb59894_0_150"/>
            <p:cNvSpPr txBox="1"/>
            <p:nvPr/>
          </p:nvSpPr>
          <p:spPr>
            <a:xfrm>
              <a:off x="0" y="-114300"/>
              <a:ext cx="1204800" cy="410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578" name="Google Shape;1578;h410af0035cb59894_0_150"/>
          <p:cNvGrpSpPr/>
          <p:nvPr/>
        </p:nvGrpSpPr>
        <p:grpSpPr>
          <a:xfrm>
            <a:off x="810141" y="603188"/>
            <a:ext cx="3049469" cy="1039564"/>
            <a:chOff x="0" y="-114300"/>
            <a:chExt cx="1204800" cy="410700"/>
          </a:xfrm>
        </p:grpSpPr>
        <p:sp>
          <p:nvSpPr>
            <p:cNvPr id="1579" name="Google Shape;1579;h410af0035cb59894_0_150"/>
            <p:cNvSpPr/>
            <p:nvPr/>
          </p:nvSpPr>
          <p:spPr>
            <a:xfrm>
              <a:off x="0" y="0"/>
              <a:ext cx="1204715" cy="296257"/>
            </a:xfrm>
            <a:custGeom>
              <a:rect b="b" l="l" r="r" t="t"/>
              <a:pathLst>
                <a:path extrusionOk="0" h="296257" w="1204715">
                  <a:moveTo>
                    <a:pt x="0" y="0"/>
                  </a:moveTo>
                  <a:lnTo>
                    <a:pt x="1204715" y="0"/>
                  </a:lnTo>
                  <a:lnTo>
                    <a:pt x="1204715" y="296257"/>
                  </a:lnTo>
                  <a:lnTo>
                    <a:pt x="0" y="296257"/>
                  </a:lnTo>
                  <a:close/>
                </a:path>
              </a:pathLst>
            </a:custGeom>
            <a:solidFill>
              <a:srgbClr val="FFC00C">
                <a:alpha val="84710"/>
              </a:srgbClr>
            </a:solidFill>
            <a:ln>
              <a:noFill/>
            </a:ln>
          </p:spPr>
        </p:sp>
        <p:sp>
          <p:nvSpPr>
            <p:cNvPr id="1580" name="Google Shape;1580;h410af0035cb59894_0_150"/>
            <p:cNvSpPr txBox="1"/>
            <p:nvPr/>
          </p:nvSpPr>
          <p:spPr>
            <a:xfrm>
              <a:off x="0" y="-114300"/>
              <a:ext cx="1204800" cy="410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581" name="Google Shape;1581;h410af0035cb59894_0_150"/>
          <p:cNvSpPr txBox="1"/>
          <p:nvPr/>
        </p:nvSpPr>
        <p:spPr>
          <a:xfrm>
            <a:off x="895025" y="1115067"/>
            <a:ext cx="2884200" cy="307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000" u="none" cap="none" strike="noStrike">
                <a:solidFill>
                  <a:srgbClr val="0D2A4E"/>
                </a:solidFill>
                <a:latin typeface="Arial"/>
                <a:ea typeface="Arial"/>
                <a:cs typeface="Arial"/>
                <a:sym typeface="Arial"/>
              </a:rPr>
              <a:t>SOFT SKILL TRAINING</a:t>
            </a:r>
            <a:endParaRPr sz="900"/>
          </a:p>
        </p:txBody>
      </p:sp>
      <p:sp>
        <p:nvSpPr>
          <p:cNvPr id="1582" name="Google Shape;1582;h410af0035cb59894_0_150"/>
          <p:cNvSpPr txBox="1"/>
          <p:nvPr/>
        </p:nvSpPr>
        <p:spPr>
          <a:xfrm>
            <a:off x="4836254" y="958389"/>
            <a:ext cx="2884200" cy="677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000" u="none" cap="none" strike="noStrike">
                <a:solidFill>
                  <a:srgbClr val="0D2A4E"/>
                </a:solidFill>
                <a:latin typeface="Arial"/>
                <a:ea typeface="Arial"/>
                <a:cs typeface="Arial"/>
                <a:sym typeface="Arial"/>
              </a:rPr>
              <a:t>PROFESSIONAL TRAINING</a:t>
            </a:r>
            <a:endParaRPr sz="900"/>
          </a:p>
        </p:txBody>
      </p:sp>
      <p:grpSp>
        <p:nvGrpSpPr>
          <p:cNvPr id="1583" name="Google Shape;1583;h410af0035cb59894_0_150"/>
          <p:cNvGrpSpPr/>
          <p:nvPr/>
        </p:nvGrpSpPr>
        <p:grpSpPr>
          <a:xfrm>
            <a:off x="8723186" y="1446425"/>
            <a:ext cx="3050988" cy="5024685"/>
            <a:chOff x="0" y="-114300"/>
            <a:chExt cx="1205400" cy="1985100"/>
          </a:xfrm>
        </p:grpSpPr>
        <p:sp>
          <p:nvSpPr>
            <p:cNvPr id="1584" name="Google Shape;1584;h410af0035cb59894_0_150"/>
            <p:cNvSpPr/>
            <p:nvPr/>
          </p:nvSpPr>
          <p:spPr>
            <a:xfrm>
              <a:off x="0" y="0"/>
              <a:ext cx="1205280" cy="1870753"/>
            </a:xfrm>
            <a:custGeom>
              <a:rect b="b" l="l" r="r" t="t"/>
              <a:pathLst>
                <a:path extrusionOk="0" h="1870753" w="1205280">
                  <a:moveTo>
                    <a:pt x="0" y="0"/>
                  </a:moveTo>
                  <a:lnTo>
                    <a:pt x="1205280" y="0"/>
                  </a:lnTo>
                  <a:lnTo>
                    <a:pt x="1205280" y="1870753"/>
                  </a:lnTo>
                  <a:lnTo>
                    <a:pt x="0" y="1870753"/>
                  </a:lnTo>
                  <a:close/>
                </a:path>
              </a:pathLst>
            </a:custGeom>
            <a:solidFill>
              <a:srgbClr val="FFC00C">
                <a:alpha val="86670"/>
              </a:srgbClr>
            </a:solidFill>
            <a:ln>
              <a:noFill/>
            </a:ln>
          </p:spPr>
        </p:sp>
        <p:sp>
          <p:nvSpPr>
            <p:cNvPr id="1585" name="Google Shape;1585;h410af0035cb59894_0_150"/>
            <p:cNvSpPr txBox="1"/>
            <p:nvPr/>
          </p:nvSpPr>
          <p:spPr>
            <a:xfrm>
              <a:off x="0" y="-114300"/>
              <a:ext cx="1205400" cy="19851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586" name="Google Shape;1586;h410af0035cb59894_0_150"/>
          <p:cNvGrpSpPr/>
          <p:nvPr/>
        </p:nvGrpSpPr>
        <p:grpSpPr>
          <a:xfrm>
            <a:off x="8724614" y="620323"/>
            <a:ext cx="3049469" cy="1039564"/>
            <a:chOff x="0" y="-114300"/>
            <a:chExt cx="1204800" cy="410700"/>
          </a:xfrm>
        </p:grpSpPr>
        <p:sp>
          <p:nvSpPr>
            <p:cNvPr id="1587" name="Google Shape;1587;h410af0035cb59894_0_150"/>
            <p:cNvSpPr/>
            <p:nvPr/>
          </p:nvSpPr>
          <p:spPr>
            <a:xfrm>
              <a:off x="0" y="0"/>
              <a:ext cx="1204715" cy="296257"/>
            </a:xfrm>
            <a:custGeom>
              <a:rect b="b" l="l" r="r" t="t"/>
              <a:pathLst>
                <a:path extrusionOk="0" h="296257" w="1204715">
                  <a:moveTo>
                    <a:pt x="0" y="0"/>
                  </a:moveTo>
                  <a:lnTo>
                    <a:pt x="1204715" y="0"/>
                  </a:lnTo>
                  <a:lnTo>
                    <a:pt x="1204715" y="296257"/>
                  </a:lnTo>
                  <a:lnTo>
                    <a:pt x="0" y="296257"/>
                  </a:lnTo>
                  <a:close/>
                </a:path>
              </a:pathLst>
            </a:custGeom>
            <a:solidFill>
              <a:srgbClr val="0D2A4E">
                <a:alpha val="69800"/>
              </a:srgbClr>
            </a:solidFill>
            <a:ln>
              <a:noFill/>
            </a:ln>
          </p:spPr>
        </p:sp>
        <p:sp>
          <p:nvSpPr>
            <p:cNvPr id="1588" name="Google Shape;1588;h410af0035cb59894_0_150"/>
            <p:cNvSpPr txBox="1"/>
            <p:nvPr/>
          </p:nvSpPr>
          <p:spPr>
            <a:xfrm>
              <a:off x="0" y="-114300"/>
              <a:ext cx="1204800" cy="410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589" name="Google Shape;1589;h410af0035cb59894_0_150"/>
          <p:cNvSpPr txBox="1"/>
          <p:nvPr/>
        </p:nvSpPr>
        <p:spPr>
          <a:xfrm>
            <a:off x="8810360" y="1925102"/>
            <a:ext cx="2896200" cy="30330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900" u="none" cap="none" strike="noStrike">
                <a:solidFill>
                  <a:srgbClr val="0D2A4E"/>
                </a:solidFill>
                <a:latin typeface="Arial"/>
                <a:ea typeface="Arial"/>
                <a:cs typeface="Arial"/>
                <a:sym typeface="Arial"/>
              </a:rPr>
              <a:t>Tailored training topics designed to meet your company's needs, powered by the proven</a:t>
            </a:r>
            <a:endParaRPr sz="900"/>
          </a:p>
          <a:p>
            <a:pPr indent="0" lvl="0" marL="0" marR="0" rtl="0" algn="ctr">
              <a:lnSpc>
                <a:spcPct val="160714"/>
              </a:lnSpc>
              <a:spcBef>
                <a:spcPts val="0"/>
              </a:spcBef>
              <a:spcAft>
                <a:spcPts val="0"/>
              </a:spcAft>
              <a:buNone/>
            </a:pPr>
            <a:r>
              <a:t/>
            </a:r>
            <a:endParaRPr b="1" i="0" sz="1900" u="none" cap="none" strike="noStrike">
              <a:solidFill>
                <a:srgbClr val="0D2A4E"/>
              </a:solidFill>
              <a:latin typeface="Arial"/>
              <a:ea typeface="Arial"/>
              <a:cs typeface="Arial"/>
              <a:sym typeface="Arial"/>
            </a:endParaRPr>
          </a:p>
          <a:p>
            <a:pPr indent="0" lvl="0" marL="0" marR="0" rtl="0" algn="ctr">
              <a:lnSpc>
                <a:spcPct val="150000"/>
              </a:lnSpc>
              <a:spcBef>
                <a:spcPts val="0"/>
              </a:spcBef>
              <a:spcAft>
                <a:spcPts val="0"/>
              </a:spcAft>
              <a:buNone/>
            </a:pPr>
            <a:r>
              <a:rPr b="0" i="0" lang="en-US" sz="2100" u="sng" cap="none" strike="noStrike">
                <a:solidFill>
                  <a:srgbClr val="073763"/>
                </a:solidFill>
                <a:latin typeface="Play"/>
                <a:ea typeface="Play"/>
                <a:cs typeface="Play"/>
                <a:sym typeface="Play"/>
              </a:rPr>
              <a:t>Cambridge Training Framework</a:t>
            </a:r>
            <a:endParaRPr sz="900"/>
          </a:p>
        </p:txBody>
      </p:sp>
      <p:sp>
        <p:nvSpPr>
          <p:cNvPr id="1590" name="Google Shape;1590;h410af0035cb59894_0_150"/>
          <p:cNvSpPr txBox="1"/>
          <p:nvPr/>
        </p:nvSpPr>
        <p:spPr>
          <a:xfrm>
            <a:off x="8822083" y="1132203"/>
            <a:ext cx="2884200" cy="307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2000" u="none" cap="none" strike="noStrike">
                <a:solidFill>
                  <a:srgbClr val="FFFFFF"/>
                </a:solidFill>
                <a:latin typeface="Arial"/>
                <a:ea typeface="Arial"/>
                <a:cs typeface="Arial"/>
                <a:sym typeface="Arial"/>
              </a:rPr>
              <a:t>CUSTOMIZE TRAINING</a:t>
            </a:r>
            <a:endParaRPr sz="900"/>
          </a:p>
        </p:txBody>
      </p:sp>
      <p:sp>
        <p:nvSpPr>
          <p:cNvPr id="1591" name="Google Shape;1591;h410af0035cb59894_0_150"/>
          <p:cNvSpPr txBox="1"/>
          <p:nvPr/>
        </p:nvSpPr>
        <p:spPr>
          <a:xfrm>
            <a:off x="4821713" y="1914317"/>
            <a:ext cx="2896200" cy="3201600"/>
          </a:xfrm>
          <a:prstGeom prst="rect">
            <a:avLst/>
          </a:prstGeom>
          <a:noFill/>
          <a:ln>
            <a:noFill/>
          </a:ln>
        </p:spPr>
        <p:txBody>
          <a:bodyPr anchorCtr="0" anchor="t" bIns="0" lIns="0" spcFirstLastPara="1" rIns="0" wrap="square" tIns="0">
            <a:spAutoFit/>
          </a:bodyPr>
          <a:lstStyle/>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How to Manage Hard Complaints</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Managing Effective CS Techniques for Gen Z </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Business Process for CS Operations</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How to optimize Digital Marketing</a:t>
            </a:r>
            <a:endParaRPr sz="900"/>
          </a:p>
          <a:p>
            <a:pPr indent="-177800" lvl="1" marL="342900" marR="0" rtl="0" algn="l">
              <a:lnSpc>
                <a:spcPct val="150000"/>
              </a:lnSpc>
              <a:spcBef>
                <a:spcPts val="0"/>
              </a:spcBef>
              <a:spcAft>
                <a:spcPts val="0"/>
              </a:spcAft>
              <a:buClr>
                <a:srgbClr val="FFFFFF"/>
              </a:buClr>
              <a:buSzPts val="1600"/>
              <a:buFont typeface="Arial"/>
              <a:buChar char="•"/>
            </a:pPr>
            <a:r>
              <a:rPr b="0" i="0" lang="en-US" sz="1600" u="none" cap="none" strike="noStrike">
                <a:solidFill>
                  <a:srgbClr val="FFFFFF"/>
                </a:solidFill>
                <a:latin typeface="Arial"/>
                <a:ea typeface="Arial"/>
                <a:cs typeface="Arial"/>
                <a:sym typeface="Arial"/>
              </a:rPr>
              <a:t>Etc</a:t>
            </a:r>
            <a:endParaRPr sz="9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595" name="Shape 1595"/>
        <p:cNvGrpSpPr/>
        <p:nvPr/>
      </p:nvGrpSpPr>
      <p:grpSpPr>
        <a:xfrm>
          <a:off x="0" y="0"/>
          <a:ext cx="0" cy="0"/>
          <a:chOff x="0" y="0"/>
          <a:chExt cx="0" cy="0"/>
        </a:xfrm>
      </p:grpSpPr>
      <p:sp>
        <p:nvSpPr>
          <p:cNvPr id="1596" name="Google Shape;1596;h410af0035cb59894_0_188"/>
          <p:cNvSpPr/>
          <p:nvPr/>
        </p:nvSpPr>
        <p:spPr>
          <a:xfrm>
            <a:off x="-152846" y="-441099"/>
            <a:ext cx="1568624" cy="7737045"/>
          </a:xfrm>
          <a:custGeom>
            <a:rect b="b" l="l" r="r" t="t"/>
            <a:pathLst>
              <a:path extrusionOk="0" h="3927434" w="796256">
                <a:moveTo>
                  <a:pt x="0" y="0"/>
                </a:moveTo>
                <a:lnTo>
                  <a:pt x="796256" y="0"/>
                </a:lnTo>
                <a:lnTo>
                  <a:pt x="796256" y="3927434"/>
                </a:lnTo>
                <a:lnTo>
                  <a:pt x="0" y="3927434"/>
                </a:lnTo>
                <a:close/>
              </a:path>
            </a:pathLst>
          </a:custGeom>
          <a:solidFill>
            <a:srgbClr val="FFFFFF"/>
          </a:solidFill>
          <a:ln>
            <a:noFill/>
          </a:ln>
        </p:spPr>
      </p:sp>
      <p:sp>
        <p:nvSpPr>
          <p:cNvPr id="1597" name="Google Shape;1597;h410af0035cb59894_0_188"/>
          <p:cNvSpPr txBox="1"/>
          <p:nvPr/>
        </p:nvSpPr>
        <p:spPr>
          <a:xfrm rot="-5400000">
            <a:off x="-1662282" y="2928004"/>
            <a:ext cx="4821900" cy="1002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100" u="none" cap="none" strike="noStrike">
                <a:solidFill>
                  <a:srgbClr val="0D2A4E"/>
                </a:solidFill>
                <a:latin typeface="Poppins"/>
                <a:ea typeface="Poppins"/>
                <a:cs typeface="Poppins"/>
                <a:sym typeface="Poppins"/>
              </a:rPr>
              <a:t>MODUL DEVELOPMENT PORTFOLIO</a:t>
            </a:r>
            <a:endParaRPr sz="900"/>
          </a:p>
        </p:txBody>
      </p:sp>
      <p:pic>
        <p:nvPicPr>
          <p:cNvPr id="1598" name="Google Shape;1598;h410af0035cb59894_0_188"/>
          <p:cNvPicPr preferRelativeResize="0"/>
          <p:nvPr/>
        </p:nvPicPr>
        <p:blipFill rotWithShape="1">
          <a:blip r:embed="rId3">
            <a:alphaModFix/>
          </a:blip>
          <a:srcRect b="0" l="0" r="0" t="0"/>
          <a:stretch/>
        </p:blipFill>
        <p:spPr>
          <a:xfrm>
            <a:off x="1395261" y="1535447"/>
            <a:ext cx="2756107" cy="3508813"/>
          </a:xfrm>
          <a:prstGeom prst="rect">
            <a:avLst/>
          </a:prstGeom>
          <a:noFill/>
          <a:ln>
            <a:noFill/>
          </a:ln>
        </p:spPr>
      </p:pic>
      <p:grpSp>
        <p:nvGrpSpPr>
          <p:cNvPr id="1599" name="Google Shape;1599;h410af0035cb59894_0_188"/>
          <p:cNvGrpSpPr/>
          <p:nvPr/>
        </p:nvGrpSpPr>
        <p:grpSpPr>
          <a:xfrm>
            <a:off x="1886348" y="1938200"/>
            <a:ext cx="1972535" cy="472467"/>
            <a:chOff x="0" y="-28575"/>
            <a:chExt cx="897137" cy="214875"/>
          </a:xfrm>
        </p:grpSpPr>
        <p:sp>
          <p:nvSpPr>
            <p:cNvPr id="1600" name="Google Shape;1600;h410af0035cb59894_0_188"/>
            <p:cNvSpPr/>
            <p:nvPr/>
          </p:nvSpPr>
          <p:spPr>
            <a:xfrm>
              <a:off x="0" y="0"/>
              <a:ext cx="897137" cy="186300"/>
            </a:xfrm>
            <a:custGeom>
              <a:rect b="b" l="l" r="r" t="t"/>
              <a:pathLst>
                <a:path extrusionOk="0" h="186300" w="897137">
                  <a:moveTo>
                    <a:pt x="93150" y="0"/>
                  </a:moveTo>
                  <a:lnTo>
                    <a:pt x="803986" y="0"/>
                  </a:lnTo>
                  <a:cubicBezTo>
                    <a:pt x="828691" y="0"/>
                    <a:pt x="852384" y="9814"/>
                    <a:pt x="869853" y="27283"/>
                  </a:cubicBezTo>
                  <a:cubicBezTo>
                    <a:pt x="887322" y="44752"/>
                    <a:pt x="897137" y="68445"/>
                    <a:pt x="897137" y="93150"/>
                  </a:cubicBezTo>
                  <a:lnTo>
                    <a:pt x="897137" y="93150"/>
                  </a:lnTo>
                  <a:cubicBezTo>
                    <a:pt x="897137" y="144596"/>
                    <a:pt x="855432" y="186300"/>
                    <a:pt x="803986" y="186300"/>
                  </a:cubicBezTo>
                  <a:lnTo>
                    <a:pt x="93150" y="186300"/>
                  </a:lnTo>
                  <a:cubicBezTo>
                    <a:pt x="41705" y="186300"/>
                    <a:pt x="0" y="144596"/>
                    <a:pt x="0" y="93150"/>
                  </a:cubicBezTo>
                  <a:lnTo>
                    <a:pt x="0" y="93150"/>
                  </a:lnTo>
                  <a:cubicBezTo>
                    <a:pt x="0" y="41705"/>
                    <a:pt x="41705" y="0"/>
                    <a:pt x="93150" y="0"/>
                  </a:cubicBezTo>
                  <a:close/>
                </a:path>
              </a:pathLst>
            </a:custGeom>
            <a:solidFill>
              <a:srgbClr val="0071CE"/>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601" name="Google Shape;1601;h410af0035cb59894_0_188"/>
            <p:cNvSpPr txBox="1"/>
            <p:nvPr/>
          </p:nvSpPr>
          <p:spPr>
            <a:xfrm>
              <a:off x="0" y="-28575"/>
              <a:ext cx="897000" cy="214800"/>
            </a:xfrm>
            <a:prstGeom prst="rect">
              <a:avLst/>
            </a:prstGeom>
            <a:noFill/>
            <a:ln>
              <a:noFill/>
            </a:ln>
          </p:spPr>
          <p:txBody>
            <a:bodyPr anchorCtr="0" anchor="ctr" bIns="33875" lIns="33875" spcFirstLastPara="1" rIns="33875" wrap="square" tIns="33875">
              <a:noAutofit/>
            </a:bodyPr>
            <a:lstStyle/>
            <a:p>
              <a:pPr indent="0" lvl="0" marL="0" marR="0" rtl="0" algn="ctr">
                <a:lnSpc>
                  <a:spcPct val="129013"/>
                </a:lnSpc>
                <a:spcBef>
                  <a:spcPts val="0"/>
                </a:spcBef>
                <a:spcAft>
                  <a:spcPts val="0"/>
                </a:spcAft>
                <a:buNone/>
              </a:pPr>
              <a:r>
                <a:rPr b="1" i="0" lang="en-US" sz="1700" u="none" cap="none" strike="noStrike">
                  <a:solidFill>
                    <a:srgbClr val="FFFFFF"/>
                  </a:solidFill>
                  <a:latin typeface="Montserrat Medium"/>
                  <a:ea typeface="Montserrat Medium"/>
                  <a:cs typeface="Montserrat Medium"/>
                  <a:sym typeface="Montserrat Medium"/>
                </a:rPr>
                <a:t>SALES MODUL </a:t>
              </a:r>
              <a:endParaRPr sz="900"/>
            </a:p>
          </p:txBody>
        </p:sp>
      </p:grpSp>
      <p:pic>
        <p:nvPicPr>
          <p:cNvPr id="1602" name="Google Shape;1602;h410af0035cb59894_0_188"/>
          <p:cNvPicPr preferRelativeResize="0"/>
          <p:nvPr/>
        </p:nvPicPr>
        <p:blipFill rotWithShape="1">
          <a:blip r:embed="rId4">
            <a:alphaModFix/>
          </a:blip>
          <a:srcRect b="0" l="0" r="0" t="0"/>
          <a:stretch/>
        </p:blipFill>
        <p:spPr>
          <a:xfrm>
            <a:off x="3742616" y="1621923"/>
            <a:ext cx="4549167" cy="3187871"/>
          </a:xfrm>
          <a:prstGeom prst="rect">
            <a:avLst/>
          </a:prstGeom>
          <a:noFill/>
          <a:ln>
            <a:noFill/>
          </a:ln>
        </p:spPr>
      </p:pic>
      <p:pic>
        <p:nvPicPr>
          <p:cNvPr id="1603" name="Google Shape;1603;h410af0035cb59894_0_188"/>
          <p:cNvPicPr preferRelativeResize="0"/>
          <p:nvPr/>
        </p:nvPicPr>
        <p:blipFill rotWithShape="1">
          <a:blip r:embed="rId5">
            <a:alphaModFix/>
          </a:blip>
          <a:srcRect b="0" l="0" r="0" t="0"/>
          <a:stretch/>
        </p:blipFill>
        <p:spPr>
          <a:xfrm>
            <a:off x="7806631" y="1621923"/>
            <a:ext cx="4549167" cy="3187871"/>
          </a:xfrm>
          <a:prstGeom prst="rect">
            <a:avLst/>
          </a:prstGeom>
          <a:noFill/>
          <a:ln>
            <a:noFill/>
          </a:ln>
        </p:spPr>
      </p:pic>
      <p:sp>
        <p:nvSpPr>
          <p:cNvPr id="1604" name="Google Shape;1604;h410af0035cb59894_0_188"/>
          <p:cNvSpPr txBox="1"/>
          <p:nvPr/>
        </p:nvSpPr>
        <p:spPr>
          <a:xfrm>
            <a:off x="1687662" y="204501"/>
            <a:ext cx="7692900" cy="1355100"/>
          </a:xfrm>
          <a:prstGeom prst="rect">
            <a:avLst/>
          </a:prstGeom>
          <a:noFill/>
          <a:ln>
            <a:noFill/>
          </a:ln>
        </p:spPr>
        <p:txBody>
          <a:bodyPr anchorCtr="0" anchor="t" bIns="0" lIns="0" spcFirstLastPara="1" rIns="0" wrap="square" tIns="0">
            <a:spAutoFit/>
          </a:bodyPr>
          <a:lstStyle/>
          <a:p>
            <a:pPr indent="0" lvl="0" marL="0" marR="0" rtl="0" algn="l">
              <a:lnSpc>
                <a:spcPct val="113003"/>
              </a:lnSpc>
              <a:spcBef>
                <a:spcPts val="0"/>
              </a:spcBef>
              <a:spcAft>
                <a:spcPts val="0"/>
              </a:spcAft>
              <a:buNone/>
            </a:pPr>
            <a:r>
              <a:rPr b="1" i="0" lang="en-US" sz="2700" u="none" cap="none" strike="noStrike">
                <a:solidFill>
                  <a:srgbClr val="FFFFFF"/>
                </a:solidFill>
                <a:latin typeface="Arial"/>
                <a:ea typeface="Arial"/>
                <a:cs typeface="Arial"/>
                <a:sym typeface="Arial"/>
              </a:rPr>
              <a:t>PORTOFOLIO</a:t>
            </a:r>
            <a:endParaRPr sz="900"/>
          </a:p>
          <a:p>
            <a:pPr indent="0" lvl="0" marL="0" marR="0" rtl="0" algn="l">
              <a:lnSpc>
                <a:spcPct val="113028"/>
              </a:lnSpc>
              <a:spcBef>
                <a:spcPts val="0"/>
              </a:spcBef>
              <a:spcAft>
                <a:spcPts val="0"/>
              </a:spcAft>
              <a:buNone/>
            </a:pPr>
            <a:r>
              <a:rPr b="0" i="0" lang="en-US" sz="2700" u="none" cap="none" strike="noStrike">
                <a:solidFill>
                  <a:srgbClr val="FFFFFF"/>
                </a:solidFill>
                <a:latin typeface="Arial"/>
                <a:ea typeface="Arial"/>
                <a:cs typeface="Arial"/>
                <a:sym typeface="Arial"/>
              </a:rPr>
              <a:t>FUTUREMAKERS YOUTH EMPLOYMENT PROGRAMME &amp; TECH PATH</a:t>
            </a:r>
            <a:endParaRPr sz="900"/>
          </a:p>
        </p:txBody>
      </p:sp>
      <p:sp>
        <p:nvSpPr>
          <p:cNvPr id="1605" name="Google Shape;1605;h410af0035cb59894_0_188"/>
          <p:cNvSpPr txBox="1"/>
          <p:nvPr/>
        </p:nvSpPr>
        <p:spPr>
          <a:xfrm>
            <a:off x="1687662" y="4911613"/>
            <a:ext cx="2733900" cy="42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300" u="sng" cap="none" strike="noStrike">
                <a:solidFill>
                  <a:schemeClr val="hlink"/>
                </a:solidFill>
                <a:latin typeface="Poppins"/>
                <a:ea typeface="Poppins"/>
                <a:cs typeface="Poppins"/>
                <a:sym typeface="Poppins"/>
                <a:hlinkClick r:id="rId6"/>
              </a:rPr>
              <a:t>AKSES FULL MODUL </a:t>
            </a:r>
            <a:endParaRPr sz="900"/>
          </a:p>
          <a:p>
            <a:pPr indent="0" lvl="0" marL="0" marR="0" rtl="0" algn="ctr">
              <a:lnSpc>
                <a:spcPct val="110000"/>
              </a:lnSpc>
              <a:spcBef>
                <a:spcPts val="0"/>
              </a:spcBef>
              <a:spcAft>
                <a:spcPts val="0"/>
              </a:spcAft>
              <a:buNone/>
            </a:pPr>
            <a:r>
              <a:rPr b="0" i="0" lang="en-US" sz="1300" u="sng" cap="none" strike="noStrike">
                <a:solidFill>
                  <a:schemeClr val="hlink"/>
                </a:solidFill>
                <a:latin typeface="Poppins"/>
                <a:ea typeface="Poppins"/>
                <a:cs typeface="Poppins"/>
                <a:sym typeface="Poppins"/>
                <a:hlinkClick r:id="rId7"/>
              </a:rPr>
              <a:t>KLIK DI SINI</a:t>
            </a:r>
            <a:endParaRPr sz="900"/>
          </a:p>
        </p:txBody>
      </p:sp>
      <p:sp>
        <p:nvSpPr>
          <p:cNvPr id="1606" name="Google Shape;1606;h410af0035cb59894_0_188"/>
          <p:cNvSpPr txBox="1"/>
          <p:nvPr/>
        </p:nvSpPr>
        <p:spPr>
          <a:xfrm>
            <a:off x="4325704" y="4818998"/>
            <a:ext cx="3383100" cy="42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300" u="sng" cap="none" strike="noStrike">
                <a:solidFill>
                  <a:schemeClr val="hlink"/>
                </a:solidFill>
                <a:latin typeface="Poppins"/>
                <a:ea typeface="Poppins"/>
                <a:cs typeface="Poppins"/>
                <a:sym typeface="Poppins"/>
                <a:hlinkClick r:id="rId8"/>
              </a:rPr>
              <a:t>AKSES FULL M</a:t>
            </a:r>
            <a:r>
              <a:rPr b="0" i="0" lang="en-US" sz="1300" u="none" cap="none" strike="noStrike">
                <a:solidFill>
                  <a:srgbClr val="FFFFFF"/>
                </a:solidFill>
                <a:latin typeface="Poppins"/>
                <a:ea typeface="Poppins"/>
                <a:cs typeface="Poppins"/>
                <a:sym typeface="Poppins"/>
              </a:rPr>
              <a:t>ATERI PRESENTASI</a:t>
            </a:r>
            <a:r>
              <a:rPr b="0" i="0" lang="en-US" sz="1300" u="sng" cap="none" strike="noStrike">
                <a:solidFill>
                  <a:schemeClr val="hlink"/>
                </a:solidFill>
                <a:latin typeface="Poppins"/>
                <a:ea typeface="Poppins"/>
                <a:cs typeface="Poppins"/>
                <a:sym typeface="Poppins"/>
                <a:hlinkClick r:id="rId9"/>
              </a:rPr>
              <a:t> </a:t>
            </a:r>
            <a:endParaRPr sz="900"/>
          </a:p>
          <a:p>
            <a:pPr indent="0" lvl="0" marL="0" marR="0" rtl="0" algn="ctr">
              <a:lnSpc>
                <a:spcPct val="110000"/>
              </a:lnSpc>
              <a:spcBef>
                <a:spcPts val="0"/>
              </a:spcBef>
              <a:spcAft>
                <a:spcPts val="0"/>
              </a:spcAft>
              <a:buNone/>
            </a:pPr>
            <a:r>
              <a:rPr b="0" i="0" lang="en-US" sz="1300" u="sng" cap="none" strike="noStrike">
                <a:solidFill>
                  <a:schemeClr val="hlink"/>
                </a:solidFill>
                <a:latin typeface="Poppins"/>
                <a:ea typeface="Poppins"/>
                <a:cs typeface="Poppins"/>
                <a:sym typeface="Poppins"/>
                <a:hlinkClick r:id="rId10"/>
              </a:rPr>
              <a:t>KLIK DI SINI</a:t>
            </a:r>
            <a:endParaRPr sz="900"/>
          </a:p>
        </p:txBody>
      </p:sp>
      <p:sp>
        <p:nvSpPr>
          <p:cNvPr id="1607" name="Google Shape;1607;h410af0035cb59894_0_188"/>
          <p:cNvSpPr txBox="1"/>
          <p:nvPr/>
        </p:nvSpPr>
        <p:spPr>
          <a:xfrm>
            <a:off x="8690186" y="4623737"/>
            <a:ext cx="2733900" cy="420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1300" u="sng" cap="none" strike="noStrike">
                <a:solidFill>
                  <a:schemeClr val="hlink"/>
                </a:solidFill>
                <a:latin typeface="Poppins"/>
                <a:ea typeface="Poppins"/>
                <a:cs typeface="Poppins"/>
                <a:sym typeface="Poppins"/>
                <a:hlinkClick r:id="rId11"/>
              </a:rPr>
              <a:t>AKSES FULL V</a:t>
            </a:r>
            <a:r>
              <a:rPr b="0" i="0" lang="en-US" sz="1300" u="none" cap="none" strike="noStrike">
                <a:solidFill>
                  <a:srgbClr val="FFFFFF"/>
                </a:solidFill>
                <a:latin typeface="Poppins"/>
                <a:ea typeface="Poppins"/>
                <a:cs typeface="Poppins"/>
                <a:sym typeface="Poppins"/>
              </a:rPr>
              <a:t>IDEO PEMBELAJARAN</a:t>
            </a:r>
            <a:r>
              <a:rPr b="0" i="0" lang="en-US" sz="1300" u="sng" cap="none" strike="noStrike">
                <a:solidFill>
                  <a:schemeClr val="hlink"/>
                </a:solidFill>
                <a:latin typeface="Poppins"/>
                <a:ea typeface="Poppins"/>
                <a:cs typeface="Poppins"/>
                <a:sym typeface="Poppins"/>
                <a:hlinkClick r:id="rId12"/>
              </a:rPr>
              <a:t> </a:t>
            </a:r>
            <a:endParaRPr sz="900"/>
          </a:p>
          <a:p>
            <a:pPr indent="0" lvl="0" marL="0" marR="0" rtl="0" algn="ctr">
              <a:lnSpc>
                <a:spcPct val="110000"/>
              </a:lnSpc>
              <a:spcBef>
                <a:spcPts val="0"/>
              </a:spcBef>
              <a:spcAft>
                <a:spcPts val="0"/>
              </a:spcAft>
              <a:buNone/>
            </a:pPr>
            <a:r>
              <a:rPr b="0" i="0" lang="en-US" sz="1300" u="sng" cap="none" strike="noStrike">
                <a:solidFill>
                  <a:schemeClr val="hlink"/>
                </a:solidFill>
                <a:latin typeface="Poppins"/>
                <a:ea typeface="Poppins"/>
                <a:cs typeface="Poppins"/>
                <a:sym typeface="Poppins"/>
                <a:hlinkClick r:id="rId13"/>
              </a:rPr>
              <a:t>KLIK DI SINI</a:t>
            </a:r>
            <a:endParaRPr sz="900"/>
          </a:p>
        </p:txBody>
      </p:sp>
      <p:sp>
        <p:nvSpPr>
          <p:cNvPr id="1608" name="Google Shape;1608;h410af0035cb59894_0_188"/>
          <p:cNvSpPr txBox="1"/>
          <p:nvPr/>
        </p:nvSpPr>
        <p:spPr>
          <a:xfrm>
            <a:off x="8725556" y="5317563"/>
            <a:ext cx="2746800" cy="541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1100" u="none" cap="none" strike="noStrike">
                <a:solidFill>
                  <a:srgbClr val="0B3360"/>
                </a:solidFill>
                <a:latin typeface="Arial"/>
                <a:ea typeface="Arial"/>
                <a:cs typeface="Arial"/>
                <a:sym typeface="Arial"/>
              </a:rPr>
              <a:t>Jumlah video pembelajaran yang telah diproduksi sebanyak 16 video pembelajaran</a:t>
            </a:r>
            <a:endParaRPr sz="9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612" name="Shape 1612"/>
        <p:cNvGrpSpPr/>
        <p:nvPr/>
      </p:nvGrpSpPr>
      <p:grpSpPr>
        <a:xfrm>
          <a:off x="0" y="0"/>
          <a:ext cx="0" cy="0"/>
          <a:chOff x="0" y="0"/>
          <a:chExt cx="0" cy="0"/>
        </a:xfrm>
      </p:grpSpPr>
      <p:sp>
        <p:nvSpPr>
          <p:cNvPr id="1613" name="Google Shape;1613;h410af0035cb59894_0_204"/>
          <p:cNvSpPr/>
          <p:nvPr/>
        </p:nvSpPr>
        <p:spPr>
          <a:xfrm>
            <a:off x="-152846" y="-441099"/>
            <a:ext cx="1568624" cy="7737045"/>
          </a:xfrm>
          <a:custGeom>
            <a:rect b="b" l="l" r="r" t="t"/>
            <a:pathLst>
              <a:path extrusionOk="0" h="3927434" w="796256">
                <a:moveTo>
                  <a:pt x="0" y="0"/>
                </a:moveTo>
                <a:lnTo>
                  <a:pt x="796256" y="0"/>
                </a:lnTo>
                <a:lnTo>
                  <a:pt x="796256" y="3927434"/>
                </a:lnTo>
                <a:lnTo>
                  <a:pt x="0" y="3927434"/>
                </a:lnTo>
                <a:close/>
              </a:path>
            </a:pathLst>
          </a:custGeom>
          <a:solidFill>
            <a:srgbClr val="FFFFFF"/>
          </a:solidFill>
          <a:ln>
            <a:noFill/>
          </a:ln>
        </p:spPr>
      </p:sp>
      <p:sp>
        <p:nvSpPr>
          <p:cNvPr id="1614" name="Google Shape;1614;h410af0035cb59894_0_204"/>
          <p:cNvSpPr txBox="1"/>
          <p:nvPr/>
        </p:nvSpPr>
        <p:spPr>
          <a:xfrm rot="-5400000">
            <a:off x="-1665055" y="2830955"/>
            <a:ext cx="4821900" cy="1196100"/>
          </a:xfrm>
          <a:prstGeom prst="rect">
            <a:avLst/>
          </a:prstGeom>
          <a:noFill/>
          <a:ln>
            <a:noFill/>
          </a:ln>
        </p:spPr>
        <p:txBody>
          <a:bodyPr anchorCtr="0" anchor="t" bIns="0" lIns="0" spcFirstLastPara="1" rIns="0" wrap="square" tIns="0">
            <a:spAutoFit/>
          </a:bodyPr>
          <a:lstStyle/>
          <a:p>
            <a:pPr indent="0" lvl="0" marL="0" marR="0" rtl="0" algn="ctr">
              <a:lnSpc>
                <a:spcPct val="110010"/>
              </a:lnSpc>
              <a:spcBef>
                <a:spcPts val="0"/>
              </a:spcBef>
              <a:spcAft>
                <a:spcPts val="0"/>
              </a:spcAft>
              <a:buNone/>
            </a:pPr>
            <a:r>
              <a:rPr b="1" i="0" lang="en-US" sz="3700" u="none" cap="none" strike="noStrike">
                <a:solidFill>
                  <a:srgbClr val="0D2A4E"/>
                </a:solidFill>
                <a:latin typeface="Poppins"/>
                <a:ea typeface="Poppins"/>
                <a:cs typeface="Poppins"/>
                <a:sym typeface="Poppins"/>
              </a:rPr>
              <a:t>DIGITAL TRAINING PROJECT</a:t>
            </a:r>
            <a:endParaRPr sz="900"/>
          </a:p>
        </p:txBody>
      </p:sp>
      <p:grpSp>
        <p:nvGrpSpPr>
          <p:cNvPr id="1615" name="Google Shape;1615;h410af0035cb59894_0_204"/>
          <p:cNvGrpSpPr/>
          <p:nvPr/>
        </p:nvGrpSpPr>
        <p:grpSpPr>
          <a:xfrm>
            <a:off x="1885900" y="1459476"/>
            <a:ext cx="9745824" cy="3939049"/>
            <a:chOff x="0" y="0"/>
            <a:chExt cx="19491647" cy="7878097"/>
          </a:xfrm>
        </p:grpSpPr>
        <p:sp>
          <p:nvSpPr>
            <p:cNvPr id="1616" name="Google Shape;1616;h410af0035cb59894_0_204"/>
            <p:cNvSpPr/>
            <p:nvPr/>
          </p:nvSpPr>
          <p:spPr>
            <a:xfrm>
              <a:off x="0" y="0"/>
              <a:ext cx="6107493" cy="7631645"/>
            </a:xfrm>
            <a:custGeom>
              <a:rect b="b" l="l" r="r" t="t"/>
              <a:pathLst>
                <a:path extrusionOk="0" h="7631645" w="6107493">
                  <a:moveTo>
                    <a:pt x="0" y="0"/>
                  </a:moveTo>
                  <a:lnTo>
                    <a:pt x="6107493" y="0"/>
                  </a:lnTo>
                  <a:lnTo>
                    <a:pt x="6107493" y="7631645"/>
                  </a:lnTo>
                  <a:lnTo>
                    <a:pt x="0" y="7631645"/>
                  </a:lnTo>
                  <a:lnTo>
                    <a:pt x="0" y="0"/>
                  </a:lnTo>
                  <a:close/>
                </a:path>
              </a:pathLst>
            </a:custGeom>
            <a:blipFill rotWithShape="1">
              <a:blip r:embed="rId3">
                <a:alphaModFix/>
              </a:blip>
              <a:stretch>
                <a:fillRect b="0" l="0" r="0" t="0"/>
              </a:stretch>
            </a:blipFill>
            <a:ln>
              <a:noFill/>
            </a:ln>
          </p:spPr>
        </p:sp>
        <p:sp>
          <p:nvSpPr>
            <p:cNvPr id="1617" name="Google Shape;1617;h410af0035cb59894_0_204"/>
            <p:cNvSpPr/>
            <p:nvPr/>
          </p:nvSpPr>
          <p:spPr>
            <a:xfrm>
              <a:off x="6856689" y="55177"/>
              <a:ext cx="6052208" cy="7576468"/>
            </a:xfrm>
            <a:custGeom>
              <a:rect b="b" l="l" r="r" t="t"/>
              <a:pathLst>
                <a:path extrusionOk="0" h="7576468" w="6052208">
                  <a:moveTo>
                    <a:pt x="0" y="0"/>
                  </a:moveTo>
                  <a:lnTo>
                    <a:pt x="6052208" y="0"/>
                  </a:lnTo>
                  <a:lnTo>
                    <a:pt x="6052208" y="7576468"/>
                  </a:lnTo>
                  <a:lnTo>
                    <a:pt x="0" y="7576468"/>
                  </a:lnTo>
                  <a:lnTo>
                    <a:pt x="0" y="0"/>
                  </a:lnTo>
                  <a:close/>
                </a:path>
              </a:pathLst>
            </a:custGeom>
            <a:blipFill rotWithShape="1">
              <a:blip r:embed="rId4">
                <a:alphaModFix/>
              </a:blip>
              <a:stretch>
                <a:fillRect b="0" l="0" r="0" t="0"/>
              </a:stretch>
            </a:blipFill>
            <a:ln>
              <a:noFill/>
            </a:ln>
          </p:spPr>
        </p:sp>
        <p:sp>
          <p:nvSpPr>
            <p:cNvPr id="1618" name="Google Shape;1618;h410af0035cb59894_0_204"/>
            <p:cNvSpPr/>
            <p:nvPr/>
          </p:nvSpPr>
          <p:spPr>
            <a:xfrm>
              <a:off x="13961820" y="55177"/>
              <a:ext cx="5529827" cy="7822920"/>
            </a:xfrm>
            <a:custGeom>
              <a:rect b="b" l="l" r="r" t="t"/>
              <a:pathLst>
                <a:path extrusionOk="0" h="7822920" w="5529827">
                  <a:moveTo>
                    <a:pt x="0" y="0"/>
                  </a:moveTo>
                  <a:lnTo>
                    <a:pt x="5529826" y="0"/>
                  </a:lnTo>
                  <a:lnTo>
                    <a:pt x="5529826" y="7822920"/>
                  </a:lnTo>
                  <a:lnTo>
                    <a:pt x="0" y="7822920"/>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622" name="Shape 1622"/>
        <p:cNvGrpSpPr/>
        <p:nvPr/>
      </p:nvGrpSpPr>
      <p:grpSpPr>
        <a:xfrm>
          <a:off x="0" y="0"/>
          <a:ext cx="0" cy="0"/>
          <a:chOff x="0" y="0"/>
          <a:chExt cx="0" cy="0"/>
        </a:xfrm>
      </p:grpSpPr>
      <p:sp>
        <p:nvSpPr>
          <p:cNvPr id="1623" name="Google Shape;1623;h410af0035cb59894_0_213"/>
          <p:cNvSpPr/>
          <p:nvPr/>
        </p:nvSpPr>
        <p:spPr>
          <a:xfrm>
            <a:off x="2553857" y="303739"/>
            <a:ext cx="4952383" cy="6258336"/>
          </a:xfrm>
          <a:custGeom>
            <a:rect b="b" l="l" r="r" t="t"/>
            <a:pathLst>
              <a:path extrusionOk="0" h="9375785" w="7419301">
                <a:moveTo>
                  <a:pt x="0" y="0"/>
                </a:moveTo>
                <a:lnTo>
                  <a:pt x="7419301" y="0"/>
                </a:lnTo>
                <a:lnTo>
                  <a:pt x="7419301" y="9375784"/>
                </a:lnTo>
                <a:lnTo>
                  <a:pt x="0" y="9375784"/>
                </a:lnTo>
                <a:lnTo>
                  <a:pt x="0" y="0"/>
                </a:lnTo>
                <a:close/>
              </a:path>
            </a:pathLst>
          </a:custGeom>
          <a:blipFill rotWithShape="1">
            <a:blip r:embed="rId3">
              <a:alphaModFix/>
            </a:blip>
            <a:stretch>
              <a:fillRect b="-39220" l="0" r="0" t="-36629"/>
            </a:stretch>
          </a:blipFill>
          <a:ln>
            <a:noFill/>
          </a:ln>
        </p:spPr>
      </p:sp>
      <p:sp>
        <p:nvSpPr>
          <p:cNvPr id="1624" name="Google Shape;1624;h410af0035cb59894_0_213"/>
          <p:cNvSpPr/>
          <p:nvPr/>
        </p:nvSpPr>
        <p:spPr>
          <a:xfrm>
            <a:off x="8114166" y="534986"/>
            <a:ext cx="2745676" cy="1647913"/>
          </a:xfrm>
          <a:custGeom>
            <a:rect b="b" l="l" r="r" t="t"/>
            <a:pathLst>
              <a:path extrusionOk="0" h="2468784" w="4113373">
                <a:moveTo>
                  <a:pt x="0" y="0"/>
                </a:moveTo>
                <a:lnTo>
                  <a:pt x="4113372" y="0"/>
                </a:lnTo>
                <a:lnTo>
                  <a:pt x="4113372" y="2468783"/>
                </a:lnTo>
                <a:lnTo>
                  <a:pt x="0" y="2468783"/>
                </a:lnTo>
                <a:lnTo>
                  <a:pt x="0" y="0"/>
                </a:lnTo>
                <a:close/>
              </a:path>
            </a:pathLst>
          </a:custGeom>
          <a:blipFill rotWithShape="1">
            <a:blip r:embed="rId4">
              <a:alphaModFix/>
            </a:blip>
            <a:stretch>
              <a:fillRect b="-137998" l="0" r="0" t="-132249"/>
            </a:stretch>
          </a:blipFill>
          <a:ln>
            <a:noFill/>
          </a:ln>
        </p:spPr>
      </p:sp>
      <p:sp>
        <p:nvSpPr>
          <p:cNvPr id="1625" name="Google Shape;1625;h410af0035cb59894_0_213"/>
          <p:cNvSpPr/>
          <p:nvPr/>
        </p:nvSpPr>
        <p:spPr>
          <a:xfrm>
            <a:off x="8114166" y="2594596"/>
            <a:ext cx="2745676" cy="1647913"/>
          </a:xfrm>
          <a:custGeom>
            <a:rect b="b" l="l" r="r" t="t"/>
            <a:pathLst>
              <a:path extrusionOk="0" h="2468784" w="4113373">
                <a:moveTo>
                  <a:pt x="0" y="0"/>
                </a:moveTo>
                <a:lnTo>
                  <a:pt x="4113372" y="0"/>
                </a:lnTo>
                <a:lnTo>
                  <a:pt x="4113372" y="2468784"/>
                </a:lnTo>
                <a:lnTo>
                  <a:pt x="0" y="2468784"/>
                </a:lnTo>
                <a:lnTo>
                  <a:pt x="0" y="0"/>
                </a:lnTo>
                <a:close/>
              </a:path>
            </a:pathLst>
          </a:custGeom>
          <a:blipFill rotWithShape="1">
            <a:blip r:embed="rId5">
              <a:alphaModFix/>
            </a:blip>
            <a:stretch>
              <a:fillRect b="-137998" l="0" r="0" t="-132249"/>
            </a:stretch>
          </a:blipFill>
          <a:ln>
            <a:noFill/>
          </a:ln>
        </p:spPr>
      </p:sp>
      <p:sp>
        <p:nvSpPr>
          <p:cNvPr id="1626" name="Google Shape;1626;h410af0035cb59894_0_213"/>
          <p:cNvSpPr/>
          <p:nvPr/>
        </p:nvSpPr>
        <p:spPr>
          <a:xfrm>
            <a:off x="8114166" y="4650554"/>
            <a:ext cx="2745676" cy="1647913"/>
          </a:xfrm>
          <a:custGeom>
            <a:rect b="b" l="l" r="r" t="t"/>
            <a:pathLst>
              <a:path extrusionOk="0" h="2468784" w="4113373">
                <a:moveTo>
                  <a:pt x="0" y="0"/>
                </a:moveTo>
                <a:lnTo>
                  <a:pt x="4113372" y="0"/>
                </a:lnTo>
                <a:lnTo>
                  <a:pt x="4113372" y="2468783"/>
                </a:lnTo>
                <a:lnTo>
                  <a:pt x="0" y="2468783"/>
                </a:lnTo>
                <a:lnTo>
                  <a:pt x="0" y="0"/>
                </a:lnTo>
                <a:close/>
              </a:path>
            </a:pathLst>
          </a:custGeom>
          <a:blipFill rotWithShape="1">
            <a:blip r:embed="rId6">
              <a:alphaModFix/>
            </a:blip>
            <a:stretch>
              <a:fillRect b="-137998" l="0" r="0" t="-132249"/>
            </a:stretch>
          </a:blipFill>
          <a:ln>
            <a:noFill/>
          </a:ln>
        </p:spPr>
      </p:sp>
      <p:sp>
        <p:nvSpPr>
          <p:cNvPr id="1627" name="Google Shape;1627;h410af0035cb59894_0_213"/>
          <p:cNvSpPr/>
          <p:nvPr/>
        </p:nvSpPr>
        <p:spPr>
          <a:xfrm>
            <a:off x="-152846" y="-441099"/>
            <a:ext cx="1568624" cy="7737045"/>
          </a:xfrm>
          <a:custGeom>
            <a:rect b="b" l="l" r="r" t="t"/>
            <a:pathLst>
              <a:path extrusionOk="0" h="3927434" w="796256">
                <a:moveTo>
                  <a:pt x="0" y="0"/>
                </a:moveTo>
                <a:lnTo>
                  <a:pt x="796256" y="0"/>
                </a:lnTo>
                <a:lnTo>
                  <a:pt x="796256" y="3927434"/>
                </a:lnTo>
                <a:lnTo>
                  <a:pt x="0" y="3927434"/>
                </a:lnTo>
                <a:close/>
              </a:path>
            </a:pathLst>
          </a:custGeom>
          <a:solidFill>
            <a:srgbClr val="FFFFFF"/>
          </a:solidFill>
          <a:ln>
            <a:noFill/>
          </a:ln>
        </p:spPr>
      </p:sp>
      <p:sp>
        <p:nvSpPr>
          <p:cNvPr id="1628" name="Google Shape;1628;h410af0035cb59894_0_213"/>
          <p:cNvSpPr txBox="1"/>
          <p:nvPr/>
        </p:nvSpPr>
        <p:spPr>
          <a:xfrm rot="-5400000">
            <a:off x="-1665055" y="2830955"/>
            <a:ext cx="4821900" cy="1196100"/>
          </a:xfrm>
          <a:prstGeom prst="rect">
            <a:avLst/>
          </a:prstGeom>
          <a:noFill/>
          <a:ln>
            <a:noFill/>
          </a:ln>
        </p:spPr>
        <p:txBody>
          <a:bodyPr anchorCtr="0" anchor="t" bIns="0" lIns="0" spcFirstLastPara="1" rIns="0" wrap="square" tIns="0">
            <a:spAutoFit/>
          </a:bodyPr>
          <a:lstStyle/>
          <a:p>
            <a:pPr indent="0" lvl="0" marL="0" marR="0" rtl="0" algn="ctr">
              <a:lnSpc>
                <a:spcPct val="110010"/>
              </a:lnSpc>
              <a:spcBef>
                <a:spcPts val="0"/>
              </a:spcBef>
              <a:spcAft>
                <a:spcPts val="0"/>
              </a:spcAft>
              <a:buNone/>
            </a:pPr>
            <a:r>
              <a:rPr b="1" i="0" lang="en-US" sz="3700" u="none" cap="none" strike="noStrike">
                <a:solidFill>
                  <a:srgbClr val="0D2A4E"/>
                </a:solidFill>
                <a:latin typeface="Poppins"/>
                <a:ea typeface="Poppins"/>
                <a:cs typeface="Poppins"/>
                <a:sym typeface="Poppins"/>
              </a:rPr>
              <a:t>DIGITAL TRAINING OUTPUT</a:t>
            </a:r>
            <a:endParaRPr sz="9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632" name="Shape 1632"/>
        <p:cNvGrpSpPr/>
        <p:nvPr/>
      </p:nvGrpSpPr>
      <p:grpSpPr>
        <a:xfrm>
          <a:off x="0" y="0"/>
          <a:ext cx="0" cy="0"/>
          <a:chOff x="0" y="0"/>
          <a:chExt cx="0" cy="0"/>
        </a:xfrm>
      </p:grpSpPr>
      <p:sp>
        <p:nvSpPr>
          <p:cNvPr id="1633" name="Google Shape;1633;h410af0035cb59894_0_222"/>
          <p:cNvSpPr/>
          <p:nvPr/>
        </p:nvSpPr>
        <p:spPr>
          <a:xfrm>
            <a:off x="-152846" y="-441099"/>
            <a:ext cx="1568624" cy="7737045"/>
          </a:xfrm>
          <a:custGeom>
            <a:rect b="b" l="l" r="r" t="t"/>
            <a:pathLst>
              <a:path extrusionOk="0" h="3927434" w="796256">
                <a:moveTo>
                  <a:pt x="0" y="0"/>
                </a:moveTo>
                <a:lnTo>
                  <a:pt x="796256" y="0"/>
                </a:lnTo>
                <a:lnTo>
                  <a:pt x="796256" y="3927434"/>
                </a:lnTo>
                <a:lnTo>
                  <a:pt x="0" y="3927434"/>
                </a:lnTo>
                <a:close/>
              </a:path>
            </a:pathLst>
          </a:custGeom>
          <a:solidFill>
            <a:srgbClr val="FFFFFF"/>
          </a:solidFill>
          <a:ln>
            <a:noFill/>
          </a:ln>
        </p:spPr>
      </p:sp>
      <p:sp>
        <p:nvSpPr>
          <p:cNvPr id="1634" name="Google Shape;1634;h410af0035cb59894_0_222"/>
          <p:cNvSpPr txBox="1"/>
          <p:nvPr/>
        </p:nvSpPr>
        <p:spPr>
          <a:xfrm rot="-5400000">
            <a:off x="-1662282" y="2928004"/>
            <a:ext cx="4821900" cy="1002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100" u="none" cap="none" strike="noStrike">
                <a:solidFill>
                  <a:srgbClr val="0D2A4E"/>
                </a:solidFill>
                <a:latin typeface="Poppins"/>
                <a:ea typeface="Poppins"/>
                <a:cs typeface="Poppins"/>
                <a:sym typeface="Poppins"/>
              </a:rPr>
              <a:t>MODUL DEVELOPMENT PORTFOLIO</a:t>
            </a:r>
            <a:endParaRPr sz="900"/>
          </a:p>
        </p:txBody>
      </p:sp>
      <p:sp>
        <p:nvSpPr>
          <p:cNvPr id="1635" name="Google Shape;1635;h410af0035cb59894_0_222"/>
          <p:cNvSpPr txBox="1"/>
          <p:nvPr/>
        </p:nvSpPr>
        <p:spPr>
          <a:xfrm>
            <a:off x="1866302" y="496473"/>
            <a:ext cx="4739100" cy="1824600"/>
          </a:xfrm>
          <a:prstGeom prst="rect">
            <a:avLst/>
          </a:prstGeom>
          <a:noFill/>
          <a:ln>
            <a:noFill/>
          </a:ln>
        </p:spPr>
        <p:txBody>
          <a:bodyPr anchorCtr="0" anchor="t" bIns="0" lIns="0" spcFirstLastPara="1" rIns="0" wrap="square" tIns="0">
            <a:spAutoFit/>
          </a:bodyPr>
          <a:lstStyle/>
          <a:p>
            <a:pPr indent="0" lvl="0" marL="0" marR="0" rtl="0" algn="l">
              <a:lnSpc>
                <a:spcPct val="113003"/>
              </a:lnSpc>
              <a:spcBef>
                <a:spcPts val="0"/>
              </a:spcBef>
              <a:spcAft>
                <a:spcPts val="0"/>
              </a:spcAft>
              <a:buNone/>
            </a:pPr>
            <a:r>
              <a:rPr b="1" i="0" lang="en-US" sz="2700" u="none" cap="none" strike="noStrike">
                <a:solidFill>
                  <a:srgbClr val="FFFFFF"/>
                </a:solidFill>
                <a:latin typeface="Arial"/>
                <a:ea typeface="Arial"/>
                <a:cs typeface="Arial"/>
                <a:sym typeface="Arial"/>
              </a:rPr>
              <a:t>PORTOFOLIO</a:t>
            </a:r>
            <a:endParaRPr sz="900"/>
          </a:p>
          <a:p>
            <a:pPr indent="0" lvl="0" marL="0" marR="0" rtl="0" algn="l">
              <a:lnSpc>
                <a:spcPct val="113028"/>
              </a:lnSpc>
              <a:spcBef>
                <a:spcPts val="0"/>
              </a:spcBef>
              <a:spcAft>
                <a:spcPts val="0"/>
              </a:spcAft>
              <a:buNone/>
            </a:pPr>
            <a:r>
              <a:rPr b="0" i="0" lang="en-US" sz="2700" u="none" cap="none" strike="noStrike">
                <a:solidFill>
                  <a:srgbClr val="FFFFFF"/>
                </a:solidFill>
                <a:latin typeface="Arial"/>
                <a:ea typeface="Arial"/>
                <a:cs typeface="Arial"/>
                <a:sym typeface="Arial"/>
              </a:rPr>
              <a:t>PROGRAM PELATIHAN LEADERSHIP FOR FIRST TIME MANAGER</a:t>
            </a:r>
            <a:endParaRPr sz="900"/>
          </a:p>
        </p:txBody>
      </p:sp>
      <p:pic>
        <p:nvPicPr>
          <p:cNvPr id="1636" name="Google Shape;1636;h410af0035cb59894_0_222"/>
          <p:cNvPicPr preferRelativeResize="0"/>
          <p:nvPr/>
        </p:nvPicPr>
        <p:blipFill rotWithShape="1">
          <a:blip r:embed="rId3">
            <a:alphaModFix/>
          </a:blip>
          <a:srcRect b="0" l="0" r="0" t="0"/>
          <a:stretch/>
        </p:blipFill>
        <p:spPr>
          <a:xfrm>
            <a:off x="1544432" y="1966419"/>
            <a:ext cx="3013345" cy="3862439"/>
          </a:xfrm>
          <a:prstGeom prst="rect">
            <a:avLst/>
          </a:prstGeom>
          <a:noFill/>
          <a:ln>
            <a:noFill/>
          </a:ln>
        </p:spPr>
      </p:pic>
      <p:sp>
        <p:nvSpPr>
          <p:cNvPr id="1637" name="Google Shape;1637;h410af0035cb59894_0_222"/>
          <p:cNvSpPr txBox="1"/>
          <p:nvPr/>
        </p:nvSpPr>
        <p:spPr>
          <a:xfrm>
            <a:off x="1772533" y="5688377"/>
            <a:ext cx="2557200" cy="646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000" u="none" cap="none" strike="noStrike">
                <a:solidFill>
                  <a:srgbClr val="FFFFFF"/>
                </a:solidFill>
                <a:latin typeface="Poppins"/>
                <a:ea typeface="Poppins"/>
                <a:cs typeface="Poppins"/>
                <a:sym typeface="Poppins"/>
              </a:rPr>
              <a:t>AKSES FULL MODUL</a:t>
            </a:r>
            <a:endParaRPr sz="900"/>
          </a:p>
          <a:p>
            <a:pPr indent="0" lvl="0" marL="0" marR="0" rtl="0" algn="ctr">
              <a:lnSpc>
                <a:spcPct val="110000"/>
              </a:lnSpc>
              <a:spcBef>
                <a:spcPts val="0"/>
              </a:spcBef>
              <a:spcAft>
                <a:spcPts val="0"/>
              </a:spcAft>
              <a:buNone/>
            </a:pPr>
            <a:r>
              <a:rPr b="0" i="0" lang="en-US" sz="2000" u="none" cap="none" strike="noStrike">
                <a:solidFill>
                  <a:srgbClr val="FFFFFF"/>
                </a:solidFill>
                <a:latin typeface="Poppins"/>
                <a:ea typeface="Poppins"/>
                <a:cs typeface="Poppins"/>
                <a:sym typeface="Poppins"/>
              </a:rPr>
              <a:t> KLIK DI </a:t>
            </a:r>
            <a:r>
              <a:rPr b="0" i="0" lang="en-US" sz="2000" u="sng" cap="none" strike="noStrike">
                <a:solidFill>
                  <a:schemeClr val="hlink"/>
                </a:solidFill>
                <a:latin typeface="Poppins"/>
                <a:ea typeface="Poppins"/>
                <a:cs typeface="Poppins"/>
                <a:sym typeface="Poppins"/>
                <a:hlinkClick r:id="rId4"/>
              </a:rPr>
              <a:t>SINI</a:t>
            </a:r>
            <a:endParaRPr sz="900"/>
          </a:p>
        </p:txBody>
      </p:sp>
      <p:sp>
        <p:nvSpPr>
          <p:cNvPr id="1638" name="Google Shape;1638;h410af0035cb59894_0_222"/>
          <p:cNvSpPr txBox="1"/>
          <p:nvPr/>
        </p:nvSpPr>
        <p:spPr>
          <a:xfrm>
            <a:off x="7536734" y="496473"/>
            <a:ext cx="4419000" cy="1824600"/>
          </a:xfrm>
          <a:prstGeom prst="rect">
            <a:avLst/>
          </a:prstGeom>
          <a:noFill/>
          <a:ln>
            <a:noFill/>
          </a:ln>
        </p:spPr>
        <p:txBody>
          <a:bodyPr anchorCtr="0" anchor="t" bIns="0" lIns="0" spcFirstLastPara="1" rIns="0" wrap="square" tIns="0">
            <a:spAutoFit/>
          </a:bodyPr>
          <a:lstStyle/>
          <a:p>
            <a:pPr indent="0" lvl="0" marL="0" marR="0" rtl="0" algn="l">
              <a:lnSpc>
                <a:spcPct val="113003"/>
              </a:lnSpc>
              <a:spcBef>
                <a:spcPts val="0"/>
              </a:spcBef>
              <a:spcAft>
                <a:spcPts val="0"/>
              </a:spcAft>
              <a:buNone/>
            </a:pPr>
            <a:r>
              <a:rPr b="1" i="0" lang="en-US" sz="2700" u="none" cap="none" strike="noStrike">
                <a:solidFill>
                  <a:srgbClr val="FFFFFF"/>
                </a:solidFill>
                <a:latin typeface="Arial"/>
                <a:ea typeface="Arial"/>
                <a:cs typeface="Arial"/>
                <a:sym typeface="Arial"/>
              </a:rPr>
              <a:t>PORTOFOLIO</a:t>
            </a:r>
            <a:endParaRPr sz="900"/>
          </a:p>
          <a:p>
            <a:pPr indent="0" lvl="0" marL="0" marR="0" rtl="0" algn="l">
              <a:lnSpc>
                <a:spcPct val="113028"/>
              </a:lnSpc>
              <a:spcBef>
                <a:spcPts val="0"/>
              </a:spcBef>
              <a:spcAft>
                <a:spcPts val="0"/>
              </a:spcAft>
              <a:buNone/>
            </a:pPr>
            <a:r>
              <a:rPr b="0" i="0" lang="en-US" sz="2700" u="none" cap="none" strike="noStrike">
                <a:solidFill>
                  <a:srgbClr val="FFFFFF"/>
                </a:solidFill>
                <a:latin typeface="Arial"/>
                <a:ea typeface="Arial"/>
                <a:cs typeface="Arial"/>
                <a:sym typeface="Arial"/>
              </a:rPr>
              <a:t>PROGRAM PELATIHAN DAN PENYUSUNAN MODUL STEM </a:t>
            </a:r>
            <a:endParaRPr sz="900"/>
          </a:p>
        </p:txBody>
      </p:sp>
      <p:pic>
        <p:nvPicPr>
          <p:cNvPr id="1639" name="Google Shape;1639;h410af0035cb59894_0_222"/>
          <p:cNvPicPr preferRelativeResize="0"/>
          <p:nvPr/>
        </p:nvPicPr>
        <p:blipFill rotWithShape="1">
          <a:blip r:embed="rId5">
            <a:alphaModFix/>
          </a:blip>
          <a:srcRect b="0" l="0" r="0" t="0"/>
          <a:stretch/>
        </p:blipFill>
        <p:spPr>
          <a:xfrm>
            <a:off x="7217791" y="1969346"/>
            <a:ext cx="2985942" cy="3827312"/>
          </a:xfrm>
          <a:prstGeom prst="rect">
            <a:avLst/>
          </a:prstGeom>
          <a:noFill/>
          <a:ln>
            <a:noFill/>
          </a:ln>
        </p:spPr>
      </p:pic>
      <p:sp>
        <p:nvSpPr>
          <p:cNvPr id="1640" name="Google Shape;1640;h410af0035cb59894_0_222"/>
          <p:cNvSpPr txBox="1"/>
          <p:nvPr/>
        </p:nvSpPr>
        <p:spPr>
          <a:xfrm>
            <a:off x="7043652" y="5688377"/>
            <a:ext cx="3334200" cy="646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000" u="none" cap="none" strike="noStrike">
                <a:solidFill>
                  <a:srgbClr val="FFFFFF"/>
                </a:solidFill>
                <a:latin typeface="Poppins"/>
                <a:ea typeface="Poppins"/>
                <a:cs typeface="Poppins"/>
                <a:sym typeface="Poppins"/>
              </a:rPr>
              <a:t>AKSES FULL MODUL </a:t>
            </a:r>
            <a:endParaRPr sz="900"/>
          </a:p>
          <a:p>
            <a:pPr indent="0" lvl="0" marL="0" marR="0" rtl="0" algn="ctr">
              <a:lnSpc>
                <a:spcPct val="110000"/>
              </a:lnSpc>
              <a:spcBef>
                <a:spcPts val="0"/>
              </a:spcBef>
              <a:spcAft>
                <a:spcPts val="0"/>
              </a:spcAft>
              <a:buNone/>
            </a:pPr>
            <a:r>
              <a:rPr b="0" i="0" lang="en-US" sz="2000" u="none" cap="none" strike="noStrike">
                <a:solidFill>
                  <a:srgbClr val="FFFFFF"/>
                </a:solidFill>
                <a:latin typeface="Poppins"/>
                <a:ea typeface="Poppins"/>
                <a:cs typeface="Poppins"/>
                <a:sym typeface="Poppins"/>
              </a:rPr>
              <a:t>KLIK DI </a:t>
            </a:r>
            <a:r>
              <a:rPr b="0" i="0" lang="en-US" sz="2000" u="sng" cap="none" strike="noStrike">
                <a:solidFill>
                  <a:schemeClr val="hlink"/>
                </a:solidFill>
                <a:latin typeface="Poppins"/>
                <a:ea typeface="Poppins"/>
                <a:cs typeface="Poppins"/>
                <a:sym typeface="Poppins"/>
                <a:hlinkClick r:id="rId6"/>
              </a:rPr>
              <a:t>SINI</a:t>
            </a:r>
            <a:endParaRPr sz="9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644" name="Shape 1644"/>
        <p:cNvGrpSpPr/>
        <p:nvPr/>
      </p:nvGrpSpPr>
      <p:grpSpPr>
        <a:xfrm>
          <a:off x="0" y="0"/>
          <a:ext cx="0" cy="0"/>
          <a:chOff x="0" y="0"/>
          <a:chExt cx="0" cy="0"/>
        </a:xfrm>
      </p:grpSpPr>
      <p:sp>
        <p:nvSpPr>
          <p:cNvPr id="1645" name="Google Shape;1645;h410af0035cb59894_0_233"/>
          <p:cNvSpPr/>
          <p:nvPr/>
        </p:nvSpPr>
        <p:spPr>
          <a:xfrm>
            <a:off x="-152846" y="-441099"/>
            <a:ext cx="1568624" cy="7737045"/>
          </a:xfrm>
          <a:custGeom>
            <a:rect b="b" l="l" r="r" t="t"/>
            <a:pathLst>
              <a:path extrusionOk="0" h="3927434" w="796256">
                <a:moveTo>
                  <a:pt x="0" y="0"/>
                </a:moveTo>
                <a:lnTo>
                  <a:pt x="796256" y="0"/>
                </a:lnTo>
                <a:lnTo>
                  <a:pt x="796256" y="3927434"/>
                </a:lnTo>
                <a:lnTo>
                  <a:pt x="0" y="3927434"/>
                </a:lnTo>
                <a:close/>
              </a:path>
            </a:pathLst>
          </a:custGeom>
          <a:solidFill>
            <a:srgbClr val="FFFFFF"/>
          </a:solidFill>
          <a:ln>
            <a:noFill/>
          </a:ln>
        </p:spPr>
      </p:sp>
      <p:sp>
        <p:nvSpPr>
          <p:cNvPr id="1646" name="Google Shape;1646;h410af0035cb59894_0_233"/>
          <p:cNvSpPr/>
          <p:nvPr/>
        </p:nvSpPr>
        <p:spPr>
          <a:xfrm>
            <a:off x="1855003" y="2306589"/>
            <a:ext cx="9296362" cy="3537782"/>
          </a:xfrm>
          <a:custGeom>
            <a:rect b="b" l="l" r="r" t="t"/>
            <a:pathLst>
              <a:path extrusionOk="0" h="5300048" w="13927134">
                <a:moveTo>
                  <a:pt x="0" y="0"/>
                </a:moveTo>
                <a:lnTo>
                  <a:pt x="13927133" y="0"/>
                </a:lnTo>
                <a:lnTo>
                  <a:pt x="13927133" y="5300048"/>
                </a:lnTo>
                <a:lnTo>
                  <a:pt x="0" y="5300048"/>
                </a:lnTo>
                <a:lnTo>
                  <a:pt x="0" y="0"/>
                </a:lnTo>
                <a:close/>
              </a:path>
            </a:pathLst>
          </a:custGeom>
          <a:blipFill rotWithShape="1">
            <a:blip r:embed="rId3">
              <a:alphaModFix/>
            </a:blip>
            <a:stretch>
              <a:fillRect b="0" l="0" r="0" t="0"/>
            </a:stretch>
          </a:blipFill>
          <a:ln>
            <a:noFill/>
          </a:ln>
        </p:spPr>
      </p:sp>
      <p:sp>
        <p:nvSpPr>
          <p:cNvPr id="1647" name="Google Shape;1647;h410af0035cb59894_0_233"/>
          <p:cNvSpPr/>
          <p:nvPr/>
        </p:nvSpPr>
        <p:spPr>
          <a:xfrm>
            <a:off x="8389976" y="465854"/>
            <a:ext cx="3306488" cy="1006707"/>
          </a:xfrm>
          <a:custGeom>
            <a:rect b="b" l="l" r="r" t="t"/>
            <a:pathLst>
              <a:path extrusionOk="0" h="1508176" w="4953540">
                <a:moveTo>
                  <a:pt x="0" y="0"/>
                </a:moveTo>
                <a:lnTo>
                  <a:pt x="4953541" y="0"/>
                </a:lnTo>
                <a:lnTo>
                  <a:pt x="4953541" y="1508175"/>
                </a:lnTo>
                <a:lnTo>
                  <a:pt x="0" y="1508175"/>
                </a:lnTo>
                <a:lnTo>
                  <a:pt x="0" y="0"/>
                </a:lnTo>
                <a:close/>
              </a:path>
            </a:pathLst>
          </a:custGeom>
          <a:blipFill rotWithShape="1">
            <a:blip r:embed="rId4">
              <a:alphaModFix/>
            </a:blip>
            <a:stretch>
              <a:fillRect b="-113069" l="0" r="0" t="-115381"/>
            </a:stretch>
          </a:blipFill>
          <a:ln>
            <a:noFill/>
          </a:ln>
        </p:spPr>
      </p:sp>
      <p:sp>
        <p:nvSpPr>
          <p:cNvPr id="1648" name="Google Shape;1648;h410af0035cb59894_0_233"/>
          <p:cNvSpPr txBox="1"/>
          <p:nvPr/>
        </p:nvSpPr>
        <p:spPr>
          <a:xfrm rot="-5400000">
            <a:off x="-1665055" y="2830955"/>
            <a:ext cx="4821900" cy="1196100"/>
          </a:xfrm>
          <a:prstGeom prst="rect">
            <a:avLst/>
          </a:prstGeom>
          <a:noFill/>
          <a:ln>
            <a:noFill/>
          </a:ln>
        </p:spPr>
        <p:txBody>
          <a:bodyPr anchorCtr="0" anchor="t" bIns="0" lIns="0" spcFirstLastPara="1" rIns="0" wrap="square" tIns="0">
            <a:spAutoFit/>
          </a:bodyPr>
          <a:lstStyle/>
          <a:p>
            <a:pPr indent="0" lvl="0" marL="0" marR="0" rtl="0" algn="ctr">
              <a:lnSpc>
                <a:spcPct val="110010"/>
              </a:lnSpc>
              <a:spcBef>
                <a:spcPts val="0"/>
              </a:spcBef>
              <a:spcAft>
                <a:spcPts val="0"/>
              </a:spcAft>
              <a:buNone/>
            </a:pPr>
            <a:r>
              <a:rPr b="1" i="0" lang="en-US" sz="3700" u="none" cap="none" strike="noStrike">
                <a:solidFill>
                  <a:srgbClr val="0D2A4E"/>
                </a:solidFill>
                <a:latin typeface="Poppins"/>
                <a:ea typeface="Poppins"/>
                <a:cs typeface="Poppins"/>
                <a:sym typeface="Poppins"/>
              </a:rPr>
              <a:t>OUR ONGOING PROJECT</a:t>
            </a:r>
            <a:endParaRPr sz="900"/>
          </a:p>
        </p:txBody>
      </p:sp>
      <p:sp>
        <p:nvSpPr>
          <p:cNvPr id="1649" name="Google Shape;1649;h410af0035cb59894_0_233"/>
          <p:cNvSpPr txBox="1"/>
          <p:nvPr/>
        </p:nvSpPr>
        <p:spPr>
          <a:xfrm>
            <a:off x="1844101" y="393925"/>
            <a:ext cx="6429000" cy="10818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3300" u="none" cap="none" strike="noStrike">
                <a:solidFill>
                  <a:srgbClr val="FFFFFF"/>
                </a:solidFill>
                <a:latin typeface="Arial"/>
                <a:ea typeface="Arial"/>
                <a:cs typeface="Arial"/>
                <a:sym typeface="Arial"/>
              </a:rPr>
              <a:t>DEVELOPMENT CLASS</a:t>
            </a:r>
            <a:endParaRPr sz="900"/>
          </a:p>
          <a:p>
            <a:pPr indent="0" lvl="0" marL="0" marR="0" rtl="0" algn="l">
              <a:lnSpc>
                <a:spcPct val="113000"/>
              </a:lnSpc>
              <a:spcBef>
                <a:spcPts val="0"/>
              </a:spcBef>
              <a:spcAft>
                <a:spcPts val="0"/>
              </a:spcAft>
              <a:buNone/>
            </a:pPr>
            <a:r>
              <a:rPr b="1" i="0" lang="en-US" sz="3300" u="none" cap="none" strike="noStrike">
                <a:solidFill>
                  <a:srgbClr val="FFFFFF"/>
                </a:solidFill>
                <a:latin typeface="Arial"/>
                <a:ea typeface="Arial"/>
                <a:cs typeface="Arial"/>
                <a:sym typeface="Arial"/>
              </a:rPr>
              <a:t>AMARTHA CENDEKIA</a:t>
            </a:r>
            <a:endParaRPr sz="900"/>
          </a:p>
        </p:txBody>
      </p:sp>
      <p:sp>
        <p:nvSpPr>
          <p:cNvPr id="1650" name="Google Shape;1650;h410af0035cb59894_0_233"/>
          <p:cNvSpPr txBox="1"/>
          <p:nvPr/>
        </p:nvSpPr>
        <p:spPr>
          <a:xfrm>
            <a:off x="1844101" y="1382404"/>
            <a:ext cx="6429000" cy="415500"/>
          </a:xfrm>
          <a:prstGeom prst="rect">
            <a:avLst/>
          </a:prstGeom>
          <a:noFill/>
          <a:ln>
            <a:noFill/>
          </a:ln>
        </p:spPr>
        <p:txBody>
          <a:bodyPr anchorCtr="0" anchor="t" bIns="0" lIns="0" spcFirstLastPara="1" rIns="0" wrap="square" tIns="0">
            <a:spAutoFit/>
          </a:bodyPr>
          <a:lstStyle/>
          <a:p>
            <a:pPr indent="0" lvl="0" marL="0" marR="0" rtl="0" algn="l">
              <a:lnSpc>
                <a:spcPct val="113028"/>
              </a:lnSpc>
              <a:spcBef>
                <a:spcPts val="0"/>
              </a:spcBef>
              <a:spcAft>
                <a:spcPts val="0"/>
              </a:spcAft>
              <a:buNone/>
            </a:pPr>
            <a:r>
              <a:rPr b="0" i="0" lang="en-US" sz="2700" u="none" cap="none" strike="noStrike">
                <a:solidFill>
                  <a:srgbClr val="FFFFFF"/>
                </a:solidFill>
                <a:latin typeface="Arial"/>
                <a:ea typeface="Arial"/>
                <a:cs typeface="Arial"/>
                <a:sym typeface="Arial"/>
              </a:rPr>
              <a:t>End-to-End Class Management</a:t>
            </a:r>
            <a:endParaRPr sz="9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654" name="Shape 1654"/>
        <p:cNvGrpSpPr/>
        <p:nvPr/>
      </p:nvGrpSpPr>
      <p:grpSpPr>
        <a:xfrm>
          <a:off x="0" y="0"/>
          <a:ext cx="0" cy="0"/>
          <a:chOff x="0" y="0"/>
          <a:chExt cx="0" cy="0"/>
        </a:xfrm>
      </p:grpSpPr>
      <p:sp>
        <p:nvSpPr>
          <p:cNvPr id="1655" name="Google Shape;1655;h410af0035cb59894_0_242"/>
          <p:cNvSpPr/>
          <p:nvPr/>
        </p:nvSpPr>
        <p:spPr>
          <a:xfrm>
            <a:off x="-152846" y="-441099"/>
            <a:ext cx="1568624" cy="7737045"/>
          </a:xfrm>
          <a:custGeom>
            <a:rect b="b" l="l" r="r" t="t"/>
            <a:pathLst>
              <a:path extrusionOk="0" h="3927434" w="796256">
                <a:moveTo>
                  <a:pt x="0" y="0"/>
                </a:moveTo>
                <a:lnTo>
                  <a:pt x="796256" y="0"/>
                </a:lnTo>
                <a:lnTo>
                  <a:pt x="796256" y="3927434"/>
                </a:lnTo>
                <a:lnTo>
                  <a:pt x="0" y="3927434"/>
                </a:lnTo>
                <a:close/>
              </a:path>
            </a:pathLst>
          </a:custGeom>
          <a:solidFill>
            <a:srgbClr val="FFFFFF"/>
          </a:solidFill>
          <a:ln>
            <a:noFill/>
          </a:ln>
        </p:spPr>
      </p:sp>
      <p:sp>
        <p:nvSpPr>
          <p:cNvPr id="1656" name="Google Shape;1656;h410af0035cb59894_0_242"/>
          <p:cNvSpPr txBox="1"/>
          <p:nvPr/>
        </p:nvSpPr>
        <p:spPr>
          <a:xfrm rot="-5400000">
            <a:off x="-1665055" y="2830955"/>
            <a:ext cx="4821900" cy="1196100"/>
          </a:xfrm>
          <a:prstGeom prst="rect">
            <a:avLst/>
          </a:prstGeom>
          <a:noFill/>
          <a:ln>
            <a:noFill/>
          </a:ln>
        </p:spPr>
        <p:txBody>
          <a:bodyPr anchorCtr="0" anchor="t" bIns="0" lIns="0" spcFirstLastPara="1" rIns="0" wrap="square" tIns="0">
            <a:spAutoFit/>
          </a:bodyPr>
          <a:lstStyle/>
          <a:p>
            <a:pPr indent="0" lvl="0" marL="0" marR="0" rtl="0" algn="ctr">
              <a:lnSpc>
                <a:spcPct val="110010"/>
              </a:lnSpc>
              <a:spcBef>
                <a:spcPts val="0"/>
              </a:spcBef>
              <a:spcAft>
                <a:spcPts val="0"/>
              </a:spcAft>
              <a:buNone/>
            </a:pPr>
            <a:r>
              <a:rPr b="1" i="0" lang="en-US" sz="3700" u="none" cap="none" strike="noStrike">
                <a:solidFill>
                  <a:srgbClr val="0D2A4E"/>
                </a:solidFill>
                <a:latin typeface="Poppins"/>
                <a:ea typeface="Poppins"/>
                <a:cs typeface="Poppins"/>
                <a:sym typeface="Poppins"/>
              </a:rPr>
              <a:t>OUR ONGOING PROJECT</a:t>
            </a:r>
            <a:endParaRPr sz="900"/>
          </a:p>
        </p:txBody>
      </p:sp>
      <p:sp>
        <p:nvSpPr>
          <p:cNvPr id="1657" name="Google Shape;1657;h410af0035cb59894_0_242"/>
          <p:cNvSpPr/>
          <p:nvPr/>
        </p:nvSpPr>
        <p:spPr>
          <a:xfrm>
            <a:off x="9351629" y="336123"/>
            <a:ext cx="2452613" cy="873274"/>
          </a:xfrm>
          <a:custGeom>
            <a:rect b="b" l="l" r="r" t="t"/>
            <a:pathLst>
              <a:path extrusionOk="0" h="1308276" w="3674326">
                <a:moveTo>
                  <a:pt x="0" y="0"/>
                </a:moveTo>
                <a:lnTo>
                  <a:pt x="3674326" y="0"/>
                </a:lnTo>
                <a:lnTo>
                  <a:pt x="3674326" y="1308276"/>
                </a:lnTo>
                <a:lnTo>
                  <a:pt x="0" y="1308276"/>
                </a:lnTo>
                <a:lnTo>
                  <a:pt x="0" y="0"/>
                </a:lnTo>
                <a:close/>
              </a:path>
            </a:pathLst>
          </a:custGeom>
          <a:blipFill rotWithShape="1">
            <a:blip r:embed="rId3">
              <a:alphaModFix/>
            </a:blip>
            <a:stretch>
              <a:fillRect b="-14810" l="-71609" r="0" t="-32800"/>
            </a:stretch>
          </a:blipFill>
          <a:ln>
            <a:noFill/>
          </a:ln>
        </p:spPr>
      </p:sp>
      <p:sp>
        <p:nvSpPr>
          <p:cNvPr id="1658" name="Google Shape;1658;h410af0035cb59894_0_242"/>
          <p:cNvSpPr txBox="1"/>
          <p:nvPr/>
        </p:nvSpPr>
        <p:spPr>
          <a:xfrm>
            <a:off x="1957289" y="2846339"/>
            <a:ext cx="9614400" cy="923400"/>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6000" u="none" cap="none" strike="noStrike">
                <a:solidFill>
                  <a:srgbClr val="FFC00C"/>
                </a:solidFill>
                <a:latin typeface="Oswald"/>
                <a:ea typeface="Oswald"/>
                <a:cs typeface="Oswald"/>
                <a:sym typeface="Oswald"/>
              </a:rPr>
              <a:t>P     -     L     -     A     -     N</a:t>
            </a:r>
            <a:endParaRPr sz="900"/>
          </a:p>
        </p:txBody>
      </p:sp>
      <p:sp>
        <p:nvSpPr>
          <p:cNvPr id="1659" name="Google Shape;1659;h410af0035cb59894_0_242"/>
          <p:cNvSpPr txBox="1"/>
          <p:nvPr/>
        </p:nvSpPr>
        <p:spPr>
          <a:xfrm>
            <a:off x="1844101" y="3887074"/>
            <a:ext cx="19956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Nunito"/>
                <a:ea typeface="Nunito"/>
                <a:cs typeface="Nunito"/>
                <a:sym typeface="Nunito"/>
              </a:rPr>
              <a:t>Prepare for Work</a:t>
            </a:r>
            <a:endParaRPr sz="900"/>
          </a:p>
        </p:txBody>
      </p:sp>
      <p:sp>
        <p:nvSpPr>
          <p:cNvPr id="1660" name="Google Shape;1660;h410af0035cb59894_0_242"/>
          <p:cNvSpPr txBox="1"/>
          <p:nvPr/>
        </p:nvSpPr>
        <p:spPr>
          <a:xfrm>
            <a:off x="1855003" y="4387298"/>
            <a:ext cx="2118600" cy="643200"/>
          </a:xfrm>
          <a:prstGeom prst="rect">
            <a:avLst/>
          </a:prstGeom>
          <a:noFill/>
          <a:ln>
            <a:noFill/>
          </a:ln>
        </p:spPr>
        <p:txBody>
          <a:bodyPr anchorCtr="0" anchor="t" bIns="0" lIns="0" spcFirstLastPara="1" rIns="0" wrap="square" tIns="0">
            <a:spAutoFit/>
          </a:bodyPr>
          <a:lstStyle/>
          <a:p>
            <a:pPr indent="0" lvl="0" marL="0" marR="0" rtl="0" algn="ctr">
              <a:lnSpc>
                <a:spcPct val="139951"/>
              </a:lnSpc>
              <a:spcBef>
                <a:spcPts val="0"/>
              </a:spcBef>
              <a:spcAft>
                <a:spcPts val="0"/>
              </a:spcAft>
              <a:buNone/>
            </a:pPr>
            <a:r>
              <a:rPr b="0" i="0" lang="en-US" sz="1100" u="none" cap="none" strike="noStrike">
                <a:solidFill>
                  <a:srgbClr val="FFFFFF"/>
                </a:solidFill>
                <a:latin typeface="Nunito"/>
                <a:ea typeface="Nunito"/>
                <a:cs typeface="Nunito"/>
                <a:sym typeface="Nunito"/>
              </a:rPr>
              <a:t>Soft skill bootcamp:</a:t>
            </a:r>
            <a:endParaRPr sz="900"/>
          </a:p>
          <a:p>
            <a:pPr indent="0" lvl="0" marL="0" marR="0" rtl="0" algn="ctr">
              <a:lnSpc>
                <a:spcPct val="139951"/>
              </a:lnSpc>
              <a:spcBef>
                <a:spcPts val="0"/>
              </a:spcBef>
              <a:spcAft>
                <a:spcPts val="0"/>
              </a:spcAft>
              <a:buNone/>
            </a:pPr>
            <a:r>
              <a:rPr b="0" i="0" lang="en-US" sz="1100" u="none" cap="none" strike="noStrike">
                <a:solidFill>
                  <a:srgbClr val="FFFFFF"/>
                </a:solidFill>
                <a:latin typeface="Nunito"/>
                <a:ea typeface="Nunito"/>
                <a:cs typeface="Nunito"/>
                <a:sym typeface="Nunito"/>
              </a:rPr>
              <a:t>mindset, teamwork, komuniasi, dan lain - lain</a:t>
            </a:r>
            <a:endParaRPr sz="900"/>
          </a:p>
        </p:txBody>
      </p:sp>
      <p:sp>
        <p:nvSpPr>
          <p:cNvPr id="1661" name="Google Shape;1661;h410af0035cb59894_0_242"/>
          <p:cNvSpPr txBox="1"/>
          <p:nvPr/>
        </p:nvSpPr>
        <p:spPr>
          <a:xfrm>
            <a:off x="4503431" y="3887074"/>
            <a:ext cx="19956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Nunito"/>
                <a:ea typeface="Nunito"/>
                <a:cs typeface="Nunito"/>
                <a:sym typeface="Nunito"/>
              </a:rPr>
              <a:t>Learn Technical Skill</a:t>
            </a:r>
            <a:endParaRPr sz="900"/>
          </a:p>
        </p:txBody>
      </p:sp>
      <p:sp>
        <p:nvSpPr>
          <p:cNvPr id="1662" name="Google Shape;1662;h410af0035cb59894_0_242"/>
          <p:cNvSpPr txBox="1"/>
          <p:nvPr/>
        </p:nvSpPr>
        <p:spPr>
          <a:xfrm>
            <a:off x="4411032" y="4387298"/>
            <a:ext cx="2180400" cy="406200"/>
          </a:xfrm>
          <a:prstGeom prst="rect">
            <a:avLst/>
          </a:prstGeom>
          <a:noFill/>
          <a:ln>
            <a:noFill/>
          </a:ln>
        </p:spPr>
        <p:txBody>
          <a:bodyPr anchorCtr="0" anchor="t" bIns="0" lIns="0" spcFirstLastPara="1" rIns="0" wrap="square" tIns="0">
            <a:spAutoFit/>
          </a:bodyPr>
          <a:lstStyle/>
          <a:p>
            <a:pPr indent="0" lvl="0" marL="0" marR="0" rtl="0" algn="ctr">
              <a:lnSpc>
                <a:spcPct val="139951"/>
              </a:lnSpc>
              <a:spcBef>
                <a:spcPts val="0"/>
              </a:spcBef>
              <a:spcAft>
                <a:spcPts val="0"/>
              </a:spcAft>
              <a:buNone/>
            </a:pPr>
            <a:r>
              <a:rPr b="0" i="0" lang="en-US" sz="1100" u="none" cap="none" strike="noStrike">
                <a:solidFill>
                  <a:srgbClr val="FFFFFF"/>
                </a:solidFill>
                <a:latin typeface="Nunito"/>
                <a:ea typeface="Nunito"/>
                <a:cs typeface="Nunito"/>
                <a:sym typeface="Nunito"/>
              </a:rPr>
              <a:t>Sales, social media, CRM via e-learning dan live zoom</a:t>
            </a:r>
            <a:endParaRPr sz="900"/>
          </a:p>
        </p:txBody>
      </p:sp>
      <p:sp>
        <p:nvSpPr>
          <p:cNvPr id="1663" name="Google Shape;1663;h410af0035cb59894_0_242"/>
          <p:cNvSpPr txBox="1"/>
          <p:nvPr/>
        </p:nvSpPr>
        <p:spPr>
          <a:xfrm>
            <a:off x="7092058" y="3887074"/>
            <a:ext cx="1995600" cy="231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Nunito"/>
                <a:ea typeface="Nunito"/>
                <a:cs typeface="Nunito"/>
                <a:sym typeface="Nunito"/>
              </a:rPr>
              <a:t>Apply in Real Projects</a:t>
            </a:r>
            <a:endParaRPr sz="900"/>
          </a:p>
        </p:txBody>
      </p:sp>
      <p:sp>
        <p:nvSpPr>
          <p:cNvPr id="1664" name="Google Shape;1664;h410af0035cb59894_0_242"/>
          <p:cNvSpPr txBox="1"/>
          <p:nvPr/>
        </p:nvSpPr>
        <p:spPr>
          <a:xfrm>
            <a:off x="6937900" y="4387298"/>
            <a:ext cx="2304000" cy="406200"/>
          </a:xfrm>
          <a:prstGeom prst="rect">
            <a:avLst/>
          </a:prstGeom>
          <a:noFill/>
          <a:ln>
            <a:noFill/>
          </a:ln>
        </p:spPr>
        <p:txBody>
          <a:bodyPr anchorCtr="0" anchor="t" bIns="0" lIns="0" spcFirstLastPara="1" rIns="0" wrap="square" tIns="0">
            <a:spAutoFit/>
          </a:bodyPr>
          <a:lstStyle/>
          <a:p>
            <a:pPr indent="0" lvl="0" marL="0" marR="0" rtl="0" algn="ctr">
              <a:lnSpc>
                <a:spcPct val="139951"/>
              </a:lnSpc>
              <a:spcBef>
                <a:spcPts val="0"/>
              </a:spcBef>
              <a:spcAft>
                <a:spcPts val="0"/>
              </a:spcAft>
              <a:buNone/>
            </a:pPr>
            <a:r>
              <a:rPr b="0" i="0" lang="en-US" sz="1100" u="none" cap="none" strike="noStrike">
                <a:solidFill>
                  <a:srgbClr val="FFFFFF"/>
                </a:solidFill>
                <a:latin typeface="Nunito"/>
                <a:ea typeface="Nunito"/>
                <a:cs typeface="Nunito"/>
                <a:sym typeface="Nunito"/>
              </a:rPr>
              <a:t>Capstone project bersama UMKM dan retail partner</a:t>
            </a:r>
            <a:endParaRPr sz="900"/>
          </a:p>
        </p:txBody>
      </p:sp>
      <p:sp>
        <p:nvSpPr>
          <p:cNvPr id="1665" name="Google Shape;1665;h410af0035cb59894_0_242"/>
          <p:cNvSpPr txBox="1"/>
          <p:nvPr/>
        </p:nvSpPr>
        <p:spPr>
          <a:xfrm>
            <a:off x="9678851" y="3887074"/>
            <a:ext cx="1995600" cy="461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FFFFFF"/>
                </a:solidFill>
                <a:latin typeface="Nunito"/>
                <a:ea typeface="Nunito"/>
                <a:cs typeface="Nunito"/>
                <a:sym typeface="Nunito"/>
              </a:rPr>
              <a:t>Navigate Career Journey</a:t>
            </a:r>
            <a:endParaRPr sz="900"/>
          </a:p>
        </p:txBody>
      </p:sp>
      <p:sp>
        <p:nvSpPr>
          <p:cNvPr id="1666" name="Google Shape;1666;h410af0035cb59894_0_242"/>
          <p:cNvSpPr txBox="1"/>
          <p:nvPr/>
        </p:nvSpPr>
        <p:spPr>
          <a:xfrm>
            <a:off x="9432311" y="4387298"/>
            <a:ext cx="2488800" cy="406200"/>
          </a:xfrm>
          <a:prstGeom prst="rect">
            <a:avLst/>
          </a:prstGeom>
          <a:noFill/>
          <a:ln>
            <a:noFill/>
          </a:ln>
        </p:spPr>
        <p:txBody>
          <a:bodyPr anchorCtr="0" anchor="t" bIns="0" lIns="0" spcFirstLastPara="1" rIns="0" wrap="square" tIns="0">
            <a:spAutoFit/>
          </a:bodyPr>
          <a:lstStyle/>
          <a:p>
            <a:pPr indent="0" lvl="0" marL="0" marR="0" rtl="0" algn="ctr">
              <a:lnSpc>
                <a:spcPct val="139951"/>
              </a:lnSpc>
              <a:spcBef>
                <a:spcPts val="0"/>
              </a:spcBef>
              <a:spcAft>
                <a:spcPts val="0"/>
              </a:spcAft>
              <a:buNone/>
            </a:pPr>
            <a:r>
              <a:rPr b="0" i="0" lang="en-US" sz="1100" u="none" cap="none" strike="noStrike">
                <a:solidFill>
                  <a:srgbClr val="FFFFFF"/>
                </a:solidFill>
                <a:latin typeface="Nunito"/>
                <a:ea typeface="Nunito"/>
                <a:cs typeface="Nunito"/>
                <a:sym typeface="Nunito"/>
              </a:rPr>
              <a:t>Job matching, CV clinic, career mentoring</a:t>
            </a:r>
            <a:endParaRPr sz="900"/>
          </a:p>
        </p:txBody>
      </p:sp>
      <p:sp>
        <p:nvSpPr>
          <p:cNvPr id="1667" name="Google Shape;1667;h410af0035cb59894_0_242"/>
          <p:cNvSpPr txBox="1"/>
          <p:nvPr/>
        </p:nvSpPr>
        <p:spPr>
          <a:xfrm>
            <a:off x="1844101" y="393925"/>
            <a:ext cx="6429000" cy="10818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3300" u="none" cap="none" strike="noStrike">
                <a:solidFill>
                  <a:srgbClr val="FFFFFF"/>
                </a:solidFill>
                <a:latin typeface="Arial"/>
                <a:ea typeface="Arial"/>
                <a:cs typeface="Arial"/>
                <a:sym typeface="Arial"/>
              </a:rPr>
              <a:t>FUTUREMAKERS YOUTH EMPLOYMENT PROGRAMME</a:t>
            </a:r>
            <a:endParaRPr sz="900"/>
          </a:p>
        </p:txBody>
      </p:sp>
      <p:sp>
        <p:nvSpPr>
          <p:cNvPr id="1668" name="Google Shape;1668;h410af0035cb59894_0_242"/>
          <p:cNvSpPr txBox="1"/>
          <p:nvPr/>
        </p:nvSpPr>
        <p:spPr>
          <a:xfrm>
            <a:off x="1855003" y="1597089"/>
            <a:ext cx="6429000" cy="885300"/>
          </a:xfrm>
          <a:prstGeom prst="rect">
            <a:avLst/>
          </a:prstGeom>
          <a:noFill/>
          <a:ln>
            <a:noFill/>
          </a:ln>
        </p:spPr>
        <p:txBody>
          <a:bodyPr anchorCtr="0" anchor="t" bIns="0" lIns="0" spcFirstLastPara="1" rIns="0" wrap="square" tIns="0">
            <a:spAutoFit/>
          </a:bodyPr>
          <a:lstStyle/>
          <a:p>
            <a:pPr indent="0" lvl="0" marL="0" marR="0" rtl="0" algn="l">
              <a:lnSpc>
                <a:spcPct val="113028"/>
              </a:lnSpc>
              <a:spcBef>
                <a:spcPts val="0"/>
              </a:spcBef>
              <a:spcAft>
                <a:spcPts val="0"/>
              </a:spcAft>
              <a:buNone/>
            </a:pPr>
            <a:r>
              <a:rPr b="0" i="0" lang="en-US" sz="2700" u="none" cap="none" strike="noStrike">
                <a:solidFill>
                  <a:srgbClr val="FFFFFF"/>
                </a:solidFill>
                <a:latin typeface="Arial"/>
                <a:ea typeface="Arial"/>
                <a:cs typeface="Arial"/>
                <a:sym typeface="Arial"/>
              </a:rPr>
              <a:t>Retail Skills for Youth Empowerment &amp; TechPath Bojonegoro</a:t>
            </a:r>
            <a:endParaRPr sz="900"/>
          </a:p>
        </p:txBody>
      </p:sp>
      <p:grpSp>
        <p:nvGrpSpPr>
          <p:cNvPr id="1669" name="Google Shape;1669;h410af0035cb59894_0_242"/>
          <p:cNvGrpSpPr/>
          <p:nvPr/>
        </p:nvGrpSpPr>
        <p:grpSpPr>
          <a:xfrm>
            <a:off x="4742210" y="5264972"/>
            <a:ext cx="4761150" cy="1261056"/>
            <a:chOff x="0" y="-28575"/>
            <a:chExt cx="1690209" cy="447675"/>
          </a:xfrm>
        </p:grpSpPr>
        <p:sp>
          <p:nvSpPr>
            <p:cNvPr id="1670" name="Google Shape;1670;h410af0035cb59894_0_242"/>
            <p:cNvSpPr/>
            <p:nvPr/>
          </p:nvSpPr>
          <p:spPr>
            <a:xfrm>
              <a:off x="0" y="0"/>
              <a:ext cx="1690209" cy="419100"/>
            </a:xfrm>
            <a:custGeom>
              <a:rect b="b" l="l" r="r" t="t"/>
              <a:pathLst>
                <a:path extrusionOk="0" h="419100" w="1690209">
                  <a:moveTo>
                    <a:pt x="21173" y="0"/>
                  </a:moveTo>
                  <a:lnTo>
                    <a:pt x="1669036" y="0"/>
                  </a:lnTo>
                  <a:cubicBezTo>
                    <a:pt x="1680729" y="0"/>
                    <a:pt x="1690209" y="9479"/>
                    <a:pt x="1690209" y="21173"/>
                  </a:cubicBezTo>
                  <a:lnTo>
                    <a:pt x="1690209" y="397927"/>
                  </a:lnTo>
                  <a:cubicBezTo>
                    <a:pt x="1690209" y="409621"/>
                    <a:pt x="1680729" y="419100"/>
                    <a:pt x="1669036" y="419100"/>
                  </a:cubicBezTo>
                  <a:lnTo>
                    <a:pt x="21173" y="419100"/>
                  </a:lnTo>
                  <a:cubicBezTo>
                    <a:pt x="9479" y="419100"/>
                    <a:pt x="0" y="409621"/>
                    <a:pt x="0" y="397927"/>
                  </a:cubicBezTo>
                  <a:lnTo>
                    <a:pt x="0" y="21173"/>
                  </a:lnTo>
                  <a:cubicBezTo>
                    <a:pt x="0" y="9479"/>
                    <a:pt x="9479" y="0"/>
                    <a:pt x="21173" y="0"/>
                  </a:cubicBezTo>
                  <a:close/>
                </a:path>
              </a:pathLst>
            </a:custGeom>
            <a:solidFill>
              <a:srgbClr val="2446B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671" name="Google Shape;1671;h410af0035cb59894_0_242"/>
            <p:cNvSpPr txBox="1"/>
            <p:nvPr/>
          </p:nvSpPr>
          <p:spPr>
            <a:xfrm>
              <a:off x="0" y="-28575"/>
              <a:ext cx="1690200" cy="447600"/>
            </a:xfrm>
            <a:prstGeom prst="rect">
              <a:avLst/>
            </a:prstGeom>
            <a:noFill/>
            <a:ln>
              <a:noFill/>
            </a:ln>
          </p:spPr>
          <p:txBody>
            <a:bodyPr anchorCtr="0" anchor="ctr" bIns="33875" lIns="33875" spcFirstLastPara="1" rIns="33875" wrap="square" tIns="33875">
              <a:noAutofit/>
            </a:bodyPr>
            <a:lstStyle/>
            <a:p>
              <a:pPr indent="0" lvl="0" marL="0" marR="0" rtl="0" algn="ctr">
                <a:lnSpc>
                  <a:spcPct val="127277"/>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672" name="Google Shape;1672;h410af0035cb59894_0_242"/>
          <p:cNvGrpSpPr/>
          <p:nvPr/>
        </p:nvGrpSpPr>
        <p:grpSpPr>
          <a:xfrm>
            <a:off x="4372545" y="4975790"/>
            <a:ext cx="739323" cy="739323"/>
            <a:chOff x="0" y="0"/>
            <a:chExt cx="812800" cy="812800"/>
          </a:xfrm>
        </p:grpSpPr>
        <p:sp>
          <p:nvSpPr>
            <p:cNvPr id="1673" name="Google Shape;1673;h410af0035cb59894_0_2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00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1674" name="Google Shape;1674;h410af0035cb59894_0_242"/>
            <p:cNvSpPr txBox="1"/>
            <p:nvPr/>
          </p:nvSpPr>
          <p:spPr>
            <a:xfrm>
              <a:off x="76200" y="9525"/>
              <a:ext cx="660300" cy="727200"/>
            </a:xfrm>
            <a:prstGeom prst="rect">
              <a:avLst/>
            </a:prstGeom>
            <a:noFill/>
            <a:ln>
              <a:noFill/>
            </a:ln>
          </p:spPr>
          <p:txBody>
            <a:bodyPr anchorCtr="0" anchor="ctr" bIns="33875" lIns="33875" spcFirstLastPara="1" rIns="33875" wrap="square" tIns="33875">
              <a:noAutofit/>
            </a:bodyPr>
            <a:lstStyle/>
            <a:p>
              <a:pPr indent="0" lvl="0" marL="0" marR="0" rtl="0" algn="ctr">
                <a:lnSpc>
                  <a:spcPct val="311055"/>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675" name="Google Shape;1675;h410af0035cb59894_0_242"/>
          <p:cNvSpPr txBox="1"/>
          <p:nvPr/>
        </p:nvSpPr>
        <p:spPr>
          <a:xfrm>
            <a:off x="5195787" y="5677040"/>
            <a:ext cx="3602400" cy="5247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None/>
            </a:pPr>
            <a:r>
              <a:rPr b="1" i="0" lang="en-US" sz="1600" u="none" cap="none" strike="noStrike">
                <a:solidFill>
                  <a:srgbClr val="FFFFFF"/>
                </a:solidFill>
                <a:latin typeface="Arial"/>
                <a:ea typeface="Arial"/>
                <a:cs typeface="Arial"/>
                <a:sym typeface="Arial"/>
              </a:rPr>
              <a:t>FUTUREMAKERS YOUTH EMPLOYMENT PROGRAMME (FYEP)</a:t>
            </a:r>
            <a:endParaRPr sz="9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679" name="Shape 1679"/>
        <p:cNvGrpSpPr/>
        <p:nvPr/>
      </p:nvGrpSpPr>
      <p:grpSpPr>
        <a:xfrm>
          <a:off x="0" y="0"/>
          <a:ext cx="0" cy="0"/>
          <a:chOff x="0" y="0"/>
          <a:chExt cx="0" cy="0"/>
        </a:xfrm>
      </p:grpSpPr>
      <p:sp>
        <p:nvSpPr>
          <p:cNvPr id="1680" name="Google Shape;1680;h410af0035cb59894_0_266"/>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681" name="Google Shape;1681;h410af0035cb59894_0_266"/>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grpSp>
        <p:nvGrpSpPr>
          <p:cNvPr id="1682" name="Google Shape;1682;h410af0035cb59894_0_266"/>
          <p:cNvGrpSpPr/>
          <p:nvPr/>
        </p:nvGrpSpPr>
        <p:grpSpPr>
          <a:xfrm>
            <a:off x="10564666" y="146138"/>
            <a:ext cx="1293174" cy="1162023"/>
            <a:chOff x="0" y="-9525"/>
            <a:chExt cx="510914" cy="459080"/>
          </a:xfrm>
        </p:grpSpPr>
        <p:sp>
          <p:nvSpPr>
            <p:cNvPr id="1683" name="Google Shape;1683;h410af0035cb59894_0_266"/>
            <p:cNvSpPr/>
            <p:nvPr/>
          </p:nvSpPr>
          <p:spPr>
            <a:xfrm>
              <a:off x="0" y="0"/>
              <a:ext cx="510914" cy="449555"/>
            </a:xfrm>
            <a:custGeom>
              <a:rect b="b" l="l" r="r" t="t"/>
              <a:pathLst>
                <a:path extrusionOk="0" h="449555" w="510914">
                  <a:moveTo>
                    <a:pt x="0" y="0"/>
                  </a:moveTo>
                  <a:lnTo>
                    <a:pt x="510914" y="0"/>
                  </a:lnTo>
                  <a:lnTo>
                    <a:pt x="510914" y="449555"/>
                  </a:lnTo>
                  <a:lnTo>
                    <a:pt x="0" y="449555"/>
                  </a:lnTo>
                  <a:close/>
                </a:path>
              </a:pathLst>
            </a:custGeom>
            <a:solidFill>
              <a:srgbClr val="FFFFFF"/>
            </a:solidFill>
            <a:ln>
              <a:noFill/>
            </a:ln>
          </p:spPr>
        </p:sp>
        <p:sp>
          <p:nvSpPr>
            <p:cNvPr id="1684" name="Google Shape;1684;h410af0035cb59894_0_266"/>
            <p:cNvSpPr txBox="1"/>
            <p:nvPr/>
          </p:nvSpPr>
          <p:spPr>
            <a:xfrm>
              <a:off x="0" y="-9525"/>
              <a:ext cx="510900" cy="4590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685" name="Google Shape;1685;h410af0035cb59894_0_266"/>
          <p:cNvSpPr/>
          <p:nvPr/>
        </p:nvSpPr>
        <p:spPr>
          <a:xfrm>
            <a:off x="10564666" y="14933"/>
            <a:ext cx="1294867" cy="1294867"/>
          </a:xfrm>
          <a:custGeom>
            <a:rect b="b" l="l" r="r" t="t"/>
            <a:pathLst>
              <a:path extrusionOk="0" h="1939876" w="1939876">
                <a:moveTo>
                  <a:pt x="0" y="0"/>
                </a:moveTo>
                <a:lnTo>
                  <a:pt x="1939876" y="0"/>
                </a:lnTo>
                <a:lnTo>
                  <a:pt x="1939876" y="1939876"/>
                </a:lnTo>
                <a:lnTo>
                  <a:pt x="0" y="1939876"/>
                </a:lnTo>
                <a:lnTo>
                  <a:pt x="0" y="0"/>
                </a:lnTo>
                <a:close/>
              </a:path>
            </a:pathLst>
          </a:custGeom>
          <a:blipFill rotWithShape="1">
            <a:blip r:embed="rId4">
              <a:alphaModFix/>
            </a:blip>
            <a:stretch>
              <a:fillRect b="0" l="0" r="0" t="0"/>
            </a:stretch>
          </a:blipFill>
          <a:ln>
            <a:noFill/>
          </a:ln>
        </p:spPr>
      </p:sp>
      <p:sp>
        <p:nvSpPr>
          <p:cNvPr id="1686" name="Google Shape;1686;h410af0035cb59894_0_266"/>
          <p:cNvSpPr/>
          <p:nvPr/>
        </p:nvSpPr>
        <p:spPr>
          <a:xfrm>
            <a:off x="0" y="-768007"/>
            <a:ext cx="3816941" cy="2862706"/>
          </a:xfrm>
          <a:custGeom>
            <a:rect b="b" l="l" r="r" t="t"/>
            <a:pathLst>
              <a:path extrusionOk="0" h="4288698" w="5718264">
                <a:moveTo>
                  <a:pt x="0" y="0"/>
                </a:moveTo>
                <a:lnTo>
                  <a:pt x="5718264" y="0"/>
                </a:lnTo>
                <a:lnTo>
                  <a:pt x="5718264" y="4288698"/>
                </a:lnTo>
                <a:lnTo>
                  <a:pt x="0" y="4288698"/>
                </a:lnTo>
                <a:lnTo>
                  <a:pt x="0" y="0"/>
                </a:lnTo>
                <a:close/>
              </a:path>
            </a:pathLst>
          </a:custGeom>
          <a:blipFill rotWithShape="1">
            <a:blip r:embed="rId5">
              <a:alphaModFix/>
            </a:blip>
            <a:stretch>
              <a:fillRect b="0" l="0" r="0" t="0"/>
            </a:stretch>
          </a:blipFill>
          <a:ln>
            <a:noFill/>
          </a:ln>
        </p:spPr>
      </p:sp>
      <p:sp>
        <p:nvSpPr>
          <p:cNvPr id="1687" name="Google Shape;1687;h410af0035cb59894_0_266"/>
          <p:cNvSpPr/>
          <p:nvPr/>
        </p:nvSpPr>
        <p:spPr>
          <a:xfrm>
            <a:off x="4539585" y="-218311"/>
            <a:ext cx="2768465" cy="2862706"/>
          </a:xfrm>
          <a:custGeom>
            <a:rect b="b" l="l" r="r" t="t"/>
            <a:pathLst>
              <a:path extrusionOk="0" h="4288698" w="4147513">
                <a:moveTo>
                  <a:pt x="0" y="0"/>
                </a:moveTo>
                <a:lnTo>
                  <a:pt x="4147513" y="0"/>
                </a:lnTo>
                <a:lnTo>
                  <a:pt x="4147513" y="4288698"/>
                </a:lnTo>
                <a:lnTo>
                  <a:pt x="0" y="4288698"/>
                </a:lnTo>
                <a:lnTo>
                  <a:pt x="0" y="0"/>
                </a:lnTo>
                <a:close/>
              </a:path>
            </a:pathLst>
          </a:custGeom>
          <a:blipFill rotWithShape="1">
            <a:blip r:embed="rId6">
              <a:alphaModFix/>
            </a:blip>
            <a:stretch>
              <a:fillRect b="0" l="-19790" r="-18080" t="0"/>
            </a:stretch>
          </a:blipFill>
          <a:ln>
            <a:noFill/>
          </a:ln>
        </p:spPr>
      </p:sp>
      <p:sp>
        <p:nvSpPr>
          <p:cNvPr id="1688" name="Google Shape;1688;h410af0035cb59894_0_266"/>
          <p:cNvSpPr/>
          <p:nvPr/>
        </p:nvSpPr>
        <p:spPr>
          <a:xfrm>
            <a:off x="-18636" y="1915945"/>
            <a:ext cx="2897413" cy="2173060"/>
          </a:xfrm>
          <a:custGeom>
            <a:rect b="b" l="l" r="r" t="t"/>
            <a:pathLst>
              <a:path extrusionOk="0" h="3255520" w="4340693">
                <a:moveTo>
                  <a:pt x="0" y="0"/>
                </a:moveTo>
                <a:lnTo>
                  <a:pt x="4340693" y="0"/>
                </a:lnTo>
                <a:lnTo>
                  <a:pt x="4340693" y="3255520"/>
                </a:lnTo>
                <a:lnTo>
                  <a:pt x="0" y="3255520"/>
                </a:lnTo>
                <a:lnTo>
                  <a:pt x="0" y="0"/>
                </a:lnTo>
                <a:close/>
              </a:path>
            </a:pathLst>
          </a:custGeom>
          <a:blipFill rotWithShape="1">
            <a:blip r:embed="rId7">
              <a:alphaModFix/>
            </a:blip>
            <a:stretch>
              <a:fillRect b="0" l="0" r="0" t="0"/>
            </a:stretch>
          </a:blipFill>
          <a:ln>
            <a:noFill/>
          </a:ln>
        </p:spPr>
      </p:sp>
      <p:sp>
        <p:nvSpPr>
          <p:cNvPr id="1689" name="Google Shape;1689;h410af0035cb59894_0_266"/>
          <p:cNvSpPr/>
          <p:nvPr/>
        </p:nvSpPr>
        <p:spPr>
          <a:xfrm>
            <a:off x="2670093" y="1427955"/>
            <a:ext cx="3036307" cy="3264721"/>
          </a:xfrm>
          <a:custGeom>
            <a:rect b="b" l="l" r="r" t="t"/>
            <a:pathLst>
              <a:path extrusionOk="0" h="4890968" w="4548775">
                <a:moveTo>
                  <a:pt x="0" y="0"/>
                </a:moveTo>
                <a:lnTo>
                  <a:pt x="4548775" y="0"/>
                </a:lnTo>
                <a:lnTo>
                  <a:pt x="4548775" y="4890968"/>
                </a:lnTo>
                <a:lnTo>
                  <a:pt x="0" y="4890968"/>
                </a:lnTo>
                <a:lnTo>
                  <a:pt x="0" y="0"/>
                </a:lnTo>
                <a:close/>
              </a:path>
            </a:pathLst>
          </a:custGeom>
          <a:blipFill rotWithShape="1">
            <a:blip r:embed="rId8">
              <a:alphaModFix/>
            </a:blip>
            <a:stretch>
              <a:fillRect b="0" l="0" r="0" t="-24000"/>
            </a:stretch>
          </a:blipFill>
          <a:ln>
            <a:noFill/>
          </a:ln>
        </p:spPr>
      </p:sp>
      <p:sp>
        <p:nvSpPr>
          <p:cNvPr id="1690" name="Google Shape;1690;h410af0035cb59894_0_266"/>
          <p:cNvSpPr/>
          <p:nvPr/>
        </p:nvSpPr>
        <p:spPr>
          <a:xfrm>
            <a:off x="4445931" y="1842041"/>
            <a:ext cx="2862239" cy="2321053"/>
          </a:xfrm>
          <a:custGeom>
            <a:rect b="b" l="l" r="r" t="t"/>
            <a:pathLst>
              <a:path extrusionOk="0" h="3477233" w="4287998">
                <a:moveTo>
                  <a:pt x="0" y="0"/>
                </a:moveTo>
                <a:lnTo>
                  <a:pt x="4287997" y="0"/>
                </a:lnTo>
                <a:lnTo>
                  <a:pt x="4287997" y="3477233"/>
                </a:lnTo>
                <a:lnTo>
                  <a:pt x="0" y="3477233"/>
                </a:lnTo>
                <a:lnTo>
                  <a:pt x="0" y="0"/>
                </a:lnTo>
                <a:close/>
              </a:path>
            </a:pathLst>
          </a:custGeom>
          <a:blipFill rotWithShape="1">
            <a:blip r:embed="rId9">
              <a:alphaModFix/>
            </a:blip>
            <a:stretch>
              <a:fillRect b="0" l="0" r="-7699" t="0"/>
            </a:stretch>
          </a:blipFill>
          <a:ln>
            <a:noFill/>
          </a:ln>
        </p:spPr>
      </p:sp>
      <p:sp>
        <p:nvSpPr>
          <p:cNvPr id="1691" name="Google Shape;1691;h410af0035cb59894_0_266"/>
          <p:cNvSpPr/>
          <p:nvPr/>
        </p:nvSpPr>
        <p:spPr>
          <a:xfrm>
            <a:off x="2277322" y="-750431"/>
            <a:ext cx="3545822" cy="2669709"/>
          </a:xfrm>
          <a:custGeom>
            <a:rect b="b" l="l" r="r" t="t"/>
            <a:pathLst>
              <a:path extrusionOk="0" h="3999564" w="5312093">
                <a:moveTo>
                  <a:pt x="0" y="0"/>
                </a:moveTo>
                <a:lnTo>
                  <a:pt x="5312093" y="0"/>
                </a:lnTo>
                <a:lnTo>
                  <a:pt x="5312093" y="3999563"/>
                </a:lnTo>
                <a:lnTo>
                  <a:pt x="0" y="3999563"/>
                </a:lnTo>
                <a:lnTo>
                  <a:pt x="0" y="0"/>
                </a:lnTo>
                <a:close/>
              </a:path>
            </a:pathLst>
          </a:custGeom>
          <a:blipFill rotWithShape="1">
            <a:blip r:embed="rId10">
              <a:alphaModFix/>
            </a:blip>
            <a:stretch>
              <a:fillRect b="0" l="0" r="0" t="0"/>
            </a:stretch>
          </a:blipFill>
          <a:ln>
            <a:noFill/>
          </a:ln>
        </p:spPr>
      </p:sp>
      <p:sp>
        <p:nvSpPr>
          <p:cNvPr id="1692" name="Google Shape;1692;h410af0035cb59894_0_266"/>
          <p:cNvSpPr txBox="1"/>
          <p:nvPr/>
        </p:nvSpPr>
        <p:spPr>
          <a:xfrm>
            <a:off x="7555929" y="1388110"/>
            <a:ext cx="4415100" cy="49332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33350" lvl="1" marL="266700" marR="0" rtl="0" algn="just">
              <a:lnSpc>
                <a:spcPct val="150000"/>
              </a:lnSpc>
              <a:spcBef>
                <a:spcPts val="0"/>
              </a:spcBef>
              <a:spcAft>
                <a:spcPts val="0"/>
              </a:spcAft>
              <a:buClr>
                <a:srgbClr val="FFFFFF"/>
              </a:buClr>
              <a:buSzPts val="1300"/>
              <a:buFont typeface="Arial"/>
              <a:buChar char="•"/>
            </a:pPr>
            <a:r>
              <a:rPr b="1" i="0" lang="en-US" sz="1300" u="none" cap="none" strike="noStrike">
                <a:solidFill>
                  <a:srgbClr val="FFFFFF"/>
                </a:solidFill>
                <a:latin typeface="Arial"/>
                <a:ea typeface="Arial"/>
                <a:cs typeface="Arial"/>
                <a:sym typeface="Arial"/>
              </a:rPr>
              <a:t>Financial Acumen &amp; P&amp;L Awareness, </a:t>
            </a:r>
            <a:r>
              <a:rPr b="0" i="0" lang="en-US" sz="1300" u="none" cap="none" strike="noStrike">
                <a:solidFill>
                  <a:srgbClr val="FFFFFF"/>
                </a:solidFill>
                <a:latin typeface="Arial"/>
                <a:ea typeface="Arial"/>
                <a:cs typeface="Arial"/>
                <a:sym typeface="Arial"/>
              </a:rPr>
              <a:t>Understanding P&amp;L structure and driving responsible, profit-oriented growth aligned with bonus performance. </a:t>
            </a:r>
            <a:endParaRPr sz="900"/>
          </a:p>
          <a:p>
            <a:pPr indent="-133350" lvl="1" marL="266700" marR="0" rtl="0" algn="just">
              <a:lnSpc>
                <a:spcPct val="150000"/>
              </a:lnSpc>
              <a:spcBef>
                <a:spcPts val="0"/>
              </a:spcBef>
              <a:spcAft>
                <a:spcPts val="0"/>
              </a:spcAft>
              <a:buClr>
                <a:srgbClr val="FFFFFF"/>
              </a:buClr>
              <a:buSzPts val="1300"/>
              <a:buFont typeface="Arial"/>
              <a:buChar char="•"/>
            </a:pPr>
            <a:r>
              <a:rPr b="1" i="0" lang="en-US" sz="1300" u="none" cap="none" strike="noStrike">
                <a:solidFill>
                  <a:srgbClr val="FFFFFF"/>
                </a:solidFill>
                <a:latin typeface="Arial"/>
                <a:ea typeface="Arial"/>
                <a:cs typeface="Arial"/>
                <a:sym typeface="Arial"/>
              </a:rPr>
              <a:t>Product Mix &amp; Trade Investment Control, </a:t>
            </a:r>
            <a:r>
              <a:rPr b="0" i="0" lang="en-US" sz="1300" u="none" cap="none" strike="noStrike">
                <a:solidFill>
                  <a:srgbClr val="FFFFFF"/>
                </a:solidFill>
                <a:latin typeface="Arial"/>
                <a:ea typeface="Arial"/>
                <a:cs typeface="Arial"/>
                <a:sym typeface="Arial"/>
              </a:rPr>
              <a:t>Managing profit vs. subsidized products, controlling promo cost ratios, and eliminating cross-brand profit erosion.</a:t>
            </a:r>
            <a:r>
              <a:rPr b="1" i="0" lang="en-US" sz="1300" u="none" cap="none" strike="noStrike">
                <a:solidFill>
                  <a:srgbClr val="FFFFFF"/>
                </a:solidFill>
                <a:latin typeface="Arial"/>
                <a:ea typeface="Arial"/>
                <a:cs typeface="Arial"/>
                <a:sym typeface="Arial"/>
              </a:rPr>
              <a:t> </a:t>
            </a:r>
            <a:endParaRPr sz="900"/>
          </a:p>
          <a:p>
            <a:pPr indent="-133350" lvl="1" marL="266700" marR="0" rtl="0" algn="just">
              <a:lnSpc>
                <a:spcPct val="150000"/>
              </a:lnSpc>
              <a:spcBef>
                <a:spcPts val="0"/>
              </a:spcBef>
              <a:spcAft>
                <a:spcPts val="0"/>
              </a:spcAft>
              <a:buClr>
                <a:srgbClr val="FFFFFF"/>
              </a:buClr>
              <a:buSzPts val="1300"/>
              <a:buFont typeface="Arial"/>
              <a:buChar char="•"/>
            </a:pPr>
            <a:r>
              <a:rPr b="1" i="0" lang="en-US" sz="1300" u="none" cap="none" strike="noStrike">
                <a:solidFill>
                  <a:srgbClr val="FFFFFF"/>
                </a:solidFill>
                <a:latin typeface="Arial"/>
                <a:ea typeface="Arial"/>
                <a:cs typeface="Arial"/>
                <a:sym typeface="Arial"/>
              </a:rPr>
              <a:t>Contextual Market Analytics, </a:t>
            </a:r>
            <a:r>
              <a:rPr b="0" i="0" lang="en-US" sz="1300" u="none" cap="none" strike="noStrike">
                <a:solidFill>
                  <a:srgbClr val="FFFFFF"/>
                </a:solidFill>
                <a:latin typeface="Arial"/>
                <a:ea typeface="Arial"/>
                <a:cs typeface="Arial"/>
                <a:sym typeface="Arial"/>
              </a:rPr>
              <a:t>Transforming internal data (Scan, SFA, Nielsen) and market signals into data-driven commercial decisions. </a:t>
            </a:r>
            <a:endParaRPr sz="900"/>
          </a:p>
          <a:p>
            <a:pPr indent="-133350" lvl="1" marL="266700" marR="0" rtl="0" algn="just">
              <a:lnSpc>
                <a:spcPct val="150000"/>
              </a:lnSpc>
              <a:spcBef>
                <a:spcPts val="0"/>
              </a:spcBef>
              <a:spcAft>
                <a:spcPts val="0"/>
              </a:spcAft>
              <a:buClr>
                <a:srgbClr val="FFFFFF"/>
              </a:buClr>
              <a:buSzPts val="1300"/>
              <a:buFont typeface="Arial"/>
              <a:buChar char="•"/>
            </a:pPr>
            <a:r>
              <a:rPr b="1" i="0" lang="en-US" sz="1300" u="none" cap="none" strike="noStrike">
                <a:solidFill>
                  <a:srgbClr val="FFFFFF"/>
                </a:solidFill>
                <a:latin typeface="Arial"/>
                <a:ea typeface="Arial"/>
                <a:cs typeface="Arial"/>
                <a:sym typeface="Arial"/>
              </a:rPr>
              <a:t>Gamified P&amp;L Simulation,</a:t>
            </a:r>
            <a:r>
              <a:rPr b="0" i="0" lang="en-US" sz="1300" u="none" cap="none" strike="noStrike">
                <a:solidFill>
                  <a:srgbClr val="FFFFFF"/>
                </a:solidFill>
                <a:latin typeface="Arial"/>
                <a:ea typeface="Arial"/>
                <a:cs typeface="Arial"/>
                <a:sym typeface="Arial"/>
              </a:rPr>
              <a:t> Executing commercial trade-offs (Pricing, Volume, Credit Terms) on a real-time simulator engine to balance growth and profit. </a:t>
            </a:r>
            <a:endParaRPr sz="900"/>
          </a:p>
          <a:p>
            <a:pPr indent="-133350" lvl="1" marL="266700" marR="0" rtl="0" algn="just">
              <a:lnSpc>
                <a:spcPct val="150000"/>
              </a:lnSpc>
              <a:spcBef>
                <a:spcPts val="0"/>
              </a:spcBef>
              <a:spcAft>
                <a:spcPts val="0"/>
              </a:spcAft>
              <a:buClr>
                <a:srgbClr val="FFFFFF"/>
              </a:buClr>
              <a:buSzPts val="1300"/>
              <a:buFont typeface="Arial"/>
              <a:buChar char="•"/>
            </a:pPr>
            <a:r>
              <a:rPr b="1" i="0" lang="en-US" sz="1300" u="none" cap="none" strike="noStrike">
                <a:solidFill>
                  <a:srgbClr val="FFFFFF"/>
                </a:solidFill>
                <a:latin typeface="Arial"/>
                <a:ea typeface="Arial"/>
                <a:cs typeface="Arial"/>
                <a:sym typeface="Arial"/>
              </a:rPr>
              <a:t>Strategic Sales Action Plan, </a:t>
            </a:r>
            <a:r>
              <a:rPr b="0" i="0" lang="en-US" sz="1300" u="none" cap="none" strike="noStrike">
                <a:solidFill>
                  <a:srgbClr val="FFFFFF"/>
                </a:solidFill>
                <a:latin typeface="Arial"/>
                <a:ea typeface="Arial"/>
                <a:cs typeface="Arial"/>
                <a:sym typeface="Arial"/>
              </a:rPr>
              <a:t>Translating market dynamics and P&amp;L results into 1 Decisive Move and actionable quarterly sales plans. </a:t>
            </a:r>
            <a:endParaRPr sz="900"/>
          </a:p>
        </p:txBody>
      </p:sp>
      <p:sp>
        <p:nvSpPr>
          <p:cNvPr id="1693" name="Google Shape;1693;h410af0035cb59894_0_266"/>
          <p:cNvSpPr/>
          <p:nvPr/>
        </p:nvSpPr>
        <p:spPr>
          <a:xfrm>
            <a:off x="0" y="3900411"/>
            <a:ext cx="7313846" cy="4549258"/>
          </a:xfrm>
          <a:custGeom>
            <a:rect b="b" l="l" r="r" t="t"/>
            <a:pathLst>
              <a:path extrusionOk="0" h="6815368" w="10957072">
                <a:moveTo>
                  <a:pt x="0" y="0"/>
                </a:moveTo>
                <a:lnTo>
                  <a:pt x="10957072" y="0"/>
                </a:lnTo>
                <a:lnTo>
                  <a:pt x="10957072" y="6815368"/>
                </a:lnTo>
                <a:lnTo>
                  <a:pt x="0" y="6815368"/>
                </a:lnTo>
                <a:lnTo>
                  <a:pt x="0" y="0"/>
                </a:lnTo>
                <a:close/>
              </a:path>
            </a:pathLst>
          </a:custGeom>
          <a:blipFill rotWithShape="1">
            <a:blip r:embed="rId11">
              <a:alphaModFix/>
            </a:blip>
            <a:stretch>
              <a:fillRect b="0" l="-10760" r="-7650" t="-42780"/>
            </a:stretch>
          </a:blipFill>
          <a:ln>
            <a:noFill/>
          </a:ln>
        </p:spPr>
      </p:sp>
      <p:grpSp>
        <p:nvGrpSpPr>
          <p:cNvPr id="1694" name="Google Shape;1694;h410af0035cb59894_0_266"/>
          <p:cNvGrpSpPr/>
          <p:nvPr/>
        </p:nvGrpSpPr>
        <p:grpSpPr>
          <a:xfrm>
            <a:off x="-151579" y="-122244"/>
            <a:ext cx="7455861" cy="6980108"/>
            <a:chOff x="0" y="-9525"/>
            <a:chExt cx="2945700" cy="2757628"/>
          </a:xfrm>
        </p:grpSpPr>
        <p:sp>
          <p:nvSpPr>
            <p:cNvPr id="1695" name="Google Shape;1695;h410af0035cb59894_0_266"/>
            <p:cNvSpPr/>
            <p:nvPr/>
          </p:nvSpPr>
          <p:spPr>
            <a:xfrm>
              <a:off x="0" y="0"/>
              <a:ext cx="2945698" cy="2748103"/>
            </a:xfrm>
            <a:custGeom>
              <a:rect b="b" l="l" r="r" t="t"/>
              <a:pathLst>
                <a:path extrusionOk="0" h="2748103" w="2945698">
                  <a:moveTo>
                    <a:pt x="0" y="0"/>
                  </a:moveTo>
                  <a:lnTo>
                    <a:pt x="2945698" y="0"/>
                  </a:lnTo>
                  <a:lnTo>
                    <a:pt x="2945698" y="2748103"/>
                  </a:lnTo>
                  <a:lnTo>
                    <a:pt x="0" y="2748103"/>
                  </a:lnTo>
                  <a:close/>
                </a:path>
              </a:pathLst>
            </a:custGeom>
            <a:solidFill>
              <a:srgbClr val="000000">
                <a:alpha val="40000"/>
              </a:srgbClr>
            </a:solidFill>
            <a:ln>
              <a:noFill/>
            </a:ln>
          </p:spPr>
        </p:sp>
        <p:sp>
          <p:nvSpPr>
            <p:cNvPr id="1696" name="Google Shape;1696;h410af0035cb59894_0_266"/>
            <p:cNvSpPr txBox="1"/>
            <p:nvPr/>
          </p:nvSpPr>
          <p:spPr>
            <a:xfrm>
              <a:off x="0" y="-9525"/>
              <a:ext cx="29457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697" name="Google Shape;1697;h410af0035cb59894_0_266"/>
          <p:cNvGrpSpPr/>
          <p:nvPr/>
        </p:nvGrpSpPr>
        <p:grpSpPr>
          <a:xfrm>
            <a:off x="734357" y="306203"/>
            <a:ext cx="6155550" cy="5942898"/>
            <a:chOff x="0" y="-152400"/>
            <a:chExt cx="12311100" cy="11885795"/>
          </a:xfrm>
        </p:grpSpPr>
        <p:grpSp>
          <p:nvGrpSpPr>
            <p:cNvPr id="1698" name="Google Shape;1698;h410af0035cb59894_0_266"/>
            <p:cNvGrpSpPr/>
            <p:nvPr/>
          </p:nvGrpSpPr>
          <p:grpSpPr>
            <a:xfrm>
              <a:off x="136940" y="2090851"/>
              <a:ext cx="12037613" cy="9642544"/>
              <a:chOff x="0" y="-114300"/>
              <a:chExt cx="2377800" cy="1904700"/>
            </a:xfrm>
          </p:grpSpPr>
          <p:sp>
            <p:nvSpPr>
              <p:cNvPr id="1699" name="Google Shape;1699;h410af0035cb59894_0_266"/>
              <p:cNvSpPr/>
              <p:nvPr/>
            </p:nvSpPr>
            <p:spPr>
              <a:xfrm>
                <a:off x="0" y="0"/>
                <a:ext cx="2377741" cy="1790398"/>
              </a:xfrm>
              <a:custGeom>
                <a:rect b="b" l="l" r="r" t="t"/>
                <a:pathLst>
                  <a:path extrusionOk="0" h="1790398" w="2377741">
                    <a:moveTo>
                      <a:pt x="0" y="0"/>
                    </a:moveTo>
                    <a:lnTo>
                      <a:pt x="2377741" y="0"/>
                    </a:lnTo>
                    <a:lnTo>
                      <a:pt x="2377741" y="1790398"/>
                    </a:lnTo>
                    <a:lnTo>
                      <a:pt x="0" y="1790398"/>
                    </a:lnTo>
                    <a:close/>
                  </a:path>
                </a:pathLst>
              </a:custGeom>
              <a:solidFill>
                <a:srgbClr val="0D2A4E">
                  <a:alpha val="80000"/>
                </a:srgbClr>
              </a:solidFill>
              <a:ln>
                <a:noFill/>
              </a:ln>
            </p:spPr>
          </p:sp>
          <p:sp>
            <p:nvSpPr>
              <p:cNvPr id="1700" name="Google Shape;1700;h410af0035cb59894_0_266"/>
              <p:cNvSpPr txBox="1"/>
              <p:nvPr/>
            </p:nvSpPr>
            <p:spPr>
              <a:xfrm>
                <a:off x="0" y="-114300"/>
                <a:ext cx="2377800" cy="1904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01" name="Google Shape;1701;h410af0035cb59894_0_266"/>
            <p:cNvSpPr/>
            <p:nvPr/>
          </p:nvSpPr>
          <p:spPr>
            <a:xfrm>
              <a:off x="594523" y="3156796"/>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12">
                <a:alphaModFix/>
              </a:blip>
              <a:stretch>
                <a:fillRect b="0" l="0" r="0" t="0"/>
              </a:stretch>
            </a:blipFill>
            <a:ln>
              <a:noFill/>
            </a:ln>
          </p:spPr>
        </p:sp>
        <p:sp>
          <p:nvSpPr>
            <p:cNvPr id="1702" name="Google Shape;1702;h410af0035cb59894_0_266"/>
            <p:cNvSpPr/>
            <p:nvPr/>
          </p:nvSpPr>
          <p:spPr>
            <a:xfrm>
              <a:off x="594523" y="5369556"/>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13">
                <a:alphaModFix/>
              </a:blip>
              <a:stretch>
                <a:fillRect b="0" l="0" r="0" t="0"/>
              </a:stretch>
            </a:blipFill>
            <a:ln>
              <a:noFill/>
            </a:ln>
          </p:spPr>
        </p:sp>
        <p:sp>
          <p:nvSpPr>
            <p:cNvPr id="1703" name="Google Shape;1703;h410af0035cb59894_0_266"/>
            <p:cNvSpPr/>
            <p:nvPr/>
          </p:nvSpPr>
          <p:spPr>
            <a:xfrm>
              <a:off x="594523" y="7257714"/>
              <a:ext cx="1492968" cy="1689573"/>
            </a:xfrm>
            <a:custGeom>
              <a:rect b="b" l="l" r="r" t="t"/>
              <a:pathLst>
                <a:path extrusionOk="0" h="1689573" w="1492968">
                  <a:moveTo>
                    <a:pt x="0" y="0"/>
                  </a:moveTo>
                  <a:lnTo>
                    <a:pt x="1492968" y="0"/>
                  </a:lnTo>
                  <a:lnTo>
                    <a:pt x="1492968" y="1689572"/>
                  </a:lnTo>
                  <a:lnTo>
                    <a:pt x="0" y="1689572"/>
                  </a:lnTo>
                  <a:lnTo>
                    <a:pt x="0" y="0"/>
                  </a:lnTo>
                  <a:close/>
                </a:path>
              </a:pathLst>
            </a:custGeom>
            <a:blipFill rotWithShape="1">
              <a:blip r:embed="rId14">
                <a:alphaModFix/>
              </a:blip>
              <a:stretch>
                <a:fillRect b="0" l="0" r="0" t="0"/>
              </a:stretch>
            </a:blipFill>
            <a:ln>
              <a:noFill/>
            </a:ln>
          </p:spPr>
        </p:sp>
        <p:sp>
          <p:nvSpPr>
            <p:cNvPr id="1704" name="Google Shape;1704;h410af0035cb59894_0_266"/>
            <p:cNvSpPr/>
            <p:nvPr/>
          </p:nvSpPr>
          <p:spPr>
            <a:xfrm>
              <a:off x="594523" y="9506086"/>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5">
                <a:alphaModFix/>
              </a:blip>
              <a:stretch>
                <a:fillRect b="0" l="0" r="0" t="0"/>
              </a:stretch>
            </a:blipFill>
            <a:ln>
              <a:noFill/>
            </a:ln>
          </p:spPr>
        </p:sp>
        <p:sp>
          <p:nvSpPr>
            <p:cNvPr id="1705" name="Google Shape;1705;h410af0035cb59894_0_266"/>
            <p:cNvSpPr txBox="1"/>
            <p:nvPr/>
          </p:nvSpPr>
          <p:spPr>
            <a:xfrm>
              <a:off x="3017478" y="5360031"/>
              <a:ext cx="7763400" cy="15579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Area Sales Manager, Area Marketing Manager</a:t>
              </a:r>
              <a:endParaRPr sz="900"/>
            </a:p>
          </p:txBody>
        </p:sp>
        <p:sp>
          <p:nvSpPr>
            <p:cNvPr id="1706" name="Google Shape;1706;h410af0035cb59894_0_266"/>
            <p:cNvSpPr txBox="1"/>
            <p:nvPr/>
          </p:nvSpPr>
          <p:spPr>
            <a:xfrm>
              <a:off x="3017478" y="3568719"/>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2300" u="none" cap="none" strike="noStrike">
                  <a:solidFill>
                    <a:srgbClr val="FFFFFF"/>
                  </a:solidFill>
                  <a:latin typeface="Arial"/>
                  <a:ea typeface="Arial"/>
                  <a:cs typeface="Arial"/>
                  <a:sym typeface="Arial"/>
                </a:rPr>
                <a:t>August 2026</a:t>
              </a:r>
              <a:endParaRPr sz="900"/>
            </a:p>
          </p:txBody>
        </p:sp>
        <p:sp>
          <p:nvSpPr>
            <p:cNvPr id="1707" name="Google Shape;1707;h410af0035cb59894_0_266"/>
            <p:cNvSpPr txBox="1"/>
            <p:nvPr/>
          </p:nvSpPr>
          <p:spPr>
            <a:xfrm>
              <a:off x="3017478" y="7692875"/>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40 Participants</a:t>
              </a:r>
              <a:endParaRPr sz="900"/>
            </a:p>
          </p:txBody>
        </p:sp>
        <p:sp>
          <p:nvSpPr>
            <p:cNvPr id="1708" name="Google Shape;1708;h410af0035cb59894_0_266"/>
            <p:cNvSpPr txBox="1"/>
            <p:nvPr/>
          </p:nvSpPr>
          <p:spPr>
            <a:xfrm>
              <a:off x="3017478" y="9960274"/>
              <a:ext cx="91569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Finance</a:t>
              </a:r>
              <a:endParaRPr sz="900"/>
            </a:p>
          </p:txBody>
        </p:sp>
        <p:sp>
          <p:nvSpPr>
            <p:cNvPr id="1709" name="Google Shape;1709;h410af0035cb59894_0_266"/>
            <p:cNvSpPr txBox="1"/>
            <p:nvPr/>
          </p:nvSpPr>
          <p:spPr>
            <a:xfrm>
              <a:off x="0" y="-152400"/>
              <a:ext cx="12311100" cy="21741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PT Gawih Jaya</a:t>
              </a:r>
              <a:endParaRPr sz="900"/>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713" name="Shape 1713"/>
        <p:cNvGrpSpPr/>
        <p:nvPr/>
      </p:nvGrpSpPr>
      <p:grpSpPr>
        <a:xfrm>
          <a:off x="0" y="0"/>
          <a:ext cx="0" cy="0"/>
          <a:chOff x="0" y="0"/>
          <a:chExt cx="0" cy="0"/>
        </a:xfrm>
      </p:grpSpPr>
      <p:sp>
        <p:nvSpPr>
          <p:cNvPr id="1714" name="Google Shape;1714;h410af0035cb59894_0_299"/>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715" name="Google Shape;1715;h410af0035cb59894_0_299"/>
          <p:cNvSpPr/>
          <p:nvPr/>
        </p:nvSpPr>
        <p:spPr>
          <a:xfrm>
            <a:off x="0" y="4013403"/>
            <a:ext cx="7313846" cy="2873766"/>
          </a:xfrm>
          <a:custGeom>
            <a:rect b="b" l="l" r="r" t="t"/>
            <a:pathLst>
              <a:path extrusionOk="0" h="4305267" w="10957072">
                <a:moveTo>
                  <a:pt x="0" y="0"/>
                </a:moveTo>
                <a:lnTo>
                  <a:pt x="10957072" y="0"/>
                </a:lnTo>
                <a:lnTo>
                  <a:pt x="10957072" y="4305267"/>
                </a:lnTo>
                <a:lnTo>
                  <a:pt x="0" y="4305267"/>
                </a:lnTo>
                <a:lnTo>
                  <a:pt x="0" y="0"/>
                </a:lnTo>
                <a:close/>
              </a:path>
            </a:pathLst>
          </a:custGeom>
          <a:blipFill rotWithShape="1">
            <a:blip r:embed="rId4">
              <a:alphaModFix/>
            </a:blip>
            <a:stretch>
              <a:fillRect b="0" l="0" r="0" t="-90880"/>
            </a:stretch>
          </a:blipFill>
          <a:ln>
            <a:noFill/>
          </a:ln>
        </p:spPr>
      </p:sp>
      <p:sp>
        <p:nvSpPr>
          <p:cNvPr id="1716" name="Google Shape;1716;h410af0035cb59894_0_299"/>
          <p:cNvSpPr/>
          <p:nvPr/>
        </p:nvSpPr>
        <p:spPr>
          <a:xfrm>
            <a:off x="0" y="0"/>
            <a:ext cx="3201478" cy="4268637"/>
          </a:xfrm>
          <a:custGeom>
            <a:rect b="b" l="l" r="r" t="t"/>
            <a:pathLst>
              <a:path extrusionOk="0" h="6394962" w="4796222">
                <a:moveTo>
                  <a:pt x="0" y="0"/>
                </a:moveTo>
                <a:lnTo>
                  <a:pt x="4796222" y="0"/>
                </a:lnTo>
                <a:lnTo>
                  <a:pt x="4796222" y="6394962"/>
                </a:lnTo>
                <a:lnTo>
                  <a:pt x="0" y="6394962"/>
                </a:lnTo>
                <a:lnTo>
                  <a:pt x="0" y="0"/>
                </a:lnTo>
                <a:close/>
              </a:path>
            </a:pathLst>
          </a:custGeom>
          <a:blipFill rotWithShape="1">
            <a:blip r:embed="rId5">
              <a:alphaModFix/>
            </a:blip>
            <a:stretch>
              <a:fillRect b="0" l="0" r="0" t="0"/>
            </a:stretch>
          </a:blipFill>
          <a:ln>
            <a:noFill/>
          </a:ln>
        </p:spPr>
      </p:sp>
      <p:sp>
        <p:nvSpPr>
          <p:cNvPr id="1717" name="Google Shape;1717;h410af0035cb59894_0_299"/>
          <p:cNvSpPr/>
          <p:nvPr/>
        </p:nvSpPr>
        <p:spPr>
          <a:xfrm>
            <a:off x="2491021" y="-1474323"/>
            <a:ext cx="3006814" cy="5744803"/>
          </a:xfrm>
          <a:custGeom>
            <a:rect b="b" l="l" r="r" t="t"/>
            <a:pathLst>
              <a:path extrusionOk="0" h="8606446" w="4504591">
                <a:moveTo>
                  <a:pt x="0" y="0"/>
                </a:moveTo>
                <a:lnTo>
                  <a:pt x="4504591" y="0"/>
                </a:lnTo>
                <a:lnTo>
                  <a:pt x="4504591" y="8606446"/>
                </a:lnTo>
                <a:lnTo>
                  <a:pt x="0" y="8606446"/>
                </a:lnTo>
                <a:lnTo>
                  <a:pt x="0" y="0"/>
                </a:lnTo>
                <a:close/>
              </a:path>
            </a:pathLst>
          </a:custGeom>
          <a:blipFill rotWithShape="1">
            <a:blip r:embed="rId6">
              <a:alphaModFix/>
            </a:blip>
            <a:stretch>
              <a:fillRect b="0" l="-21650" r="-21650" t="0"/>
            </a:stretch>
          </a:blipFill>
          <a:ln>
            <a:noFill/>
          </a:ln>
        </p:spPr>
      </p:sp>
      <p:grpSp>
        <p:nvGrpSpPr>
          <p:cNvPr id="1718" name="Google Shape;1718;h410af0035cb59894_0_299"/>
          <p:cNvGrpSpPr/>
          <p:nvPr/>
        </p:nvGrpSpPr>
        <p:grpSpPr>
          <a:xfrm>
            <a:off x="-1733504" y="1723321"/>
            <a:ext cx="7227303" cy="6980108"/>
            <a:chOff x="0" y="-9525"/>
            <a:chExt cx="2855400" cy="2757628"/>
          </a:xfrm>
        </p:grpSpPr>
        <p:sp>
          <p:nvSpPr>
            <p:cNvPr id="1719" name="Google Shape;1719;h410af0035cb59894_0_299"/>
            <p:cNvSpPr/>
            <p:nvPr/>
          </p:nvSpPr>
          <p:spPr>
            <a:xfrm>
              <a:off x="0" y="0"/>
              <a:ext cx="2855387" cy="2748103"/>
            </a:xfrm>
            <a:custGeom>
              <a:rect b="b" l="l" r="r" t="t"/>
              <a:pathLst>
                <a:path extrusionOk="0" h="2748103" w="2855387">
                  <a:moveTo>
                    <a:pt x="0" y="0"/>
                  </a:moveTo>
                  <a:lnTo>
                    <a:pt x="2855387" y="0"/>
                  </a:lnTo>
                  <a:lnTo>
                    <a:pt x="2855387" y="2748103"/>
                  </a:lnTo>
                  <a:lnTo>
                    <a:pt x="0" y="2748103"/>
                  </a:lnTo>
                  <a:close/>
                </a:path>
              </a:pathLst>
            </a:custGeom>
            <a:solidFill>
              <a:srgbClr val="000000">
                <a:alpha val="40000"/>
              </a:srgbClr>
            </a:solidFill>
            <a:ln>
              <a:noFill/>
            </a:ln>
          </p:spPr>
        </p:sp>
        <p:sp>
          <p:nvSpPr>
            <p:cNvPr id="1720" name="Google Shape;1720;h410af0035cb59894_0_299"/>
            <p:cNvSpPr txBox="1"/>
            <p:nvPr/>
          </p:nvSpPr>
          <p:spPr>
            <a:xfrm>
              <a:off x="0" y="-9525"/>
              <a:ext cx="28554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21" name="Google Shape;1721;h410af0035cb59894_0_299"/>
          <p:cNvSpPr/>
          <p:nvPr/>
        </p:nvSpPr>
        <p:spPr>
          <a:xfrm>
            <a:off x="4672881" y="-54343"/>
            <a:ext cx="2634999" cy="4072831"/>
          </a:xfrm>
          <a:custGeom>
            <a:rect b="b" l="l" r="r" t="t"/>
            <a:pathLst>
              <a:path extrusionOk="0" h="6101619" w="3947564">
                <a:moveTo>
                  <a:pt x="0" y="0"/>
                </a:moveTo>
                <a:lnTo>
                  <a:pt x="3947564" y="0"/>
                </a:lnTo>
                <a:lnTo>
                  <a:pt x="3947564" y="6101619"/>
                </a:lnTo>
                <a:lnTo>
                  <a:pt x="0" y="6101619"/>
                </a:lnTo>
                <a:lnTo>
                  <a:pt x="0" y="0"/>
                </a:lnTo>
                <a:close/>
              </a:path>
            </a:pathLst>
          </a:custGeom>
          <a:blipFill rotWithShape="1">
            <a:blip r:embed="rId7">
              <a:alphaModFix/>
            </a:blip>
            <a:stretch>
              <a:fillRect b="0" l="-15921" r="0" t="0"/>
            </a:stretch>
          </a:blipFill>
          <a:ln>
            <a:noFill/>
          </a:ln>
        </p:spPr>
      </p:sp>
      <p:grpSp>
        <p:nvGrpSpPr>
          <p:cNvPr id="1722" name="Google Shape;1722;h410af0035cb59894_0_299"/>
          <p:cNvGrpSpPr/>
          <p:nvPr/>
        </p:nvGrpSpPr>
        <p:grpSpPr>
          <a:xfrm>
            <a:off x="-151579" y="-122244"/>
            <a:ext cx="7455861" cy="6980108"/>
            <a:chOff x="0" y="-9525"/>
            <a:chExt cx="2945700" cy="2757628"/>
          </a:xfrm>
        </p:grpSpPr>
        <p:sp>
          <p:nvSpPr>
            <p:cNvPr id="1723" name="Google Shape;1723;h410af0035cb59894_0_299"/>
            <p:cNvSpPr/>
            <p:nvPr/>
          </p:nvSpPr>
          <p:spPr>
            <a:xfrm>
              <a:off x="0" y="0"/>
              <a:ext cx="2945698" cy="2748103"/>
            </a:xfrm>
            <a:custGeom>
              <a:rect b="b" l="l" r="r" t="t"/>
              <a:pathLst>
                <a:path extrusionOk="0" h="2748103" w="2945698">
                  <a:moveTo>
                    <a:pt x="0" y="0"/>
                  </a:moveTo>
                  <a:lnTo>
                    <a:pt x="2945698" y="0"/>
                  </a:lnTo>
                  <a:lnTo>
                    <a:pt x="2945698" y="2748103"/>
                  </a:lnTo>
                  <a:lnTo>
                    <a:pt x="0" y="2748103"/>
                  </a:lnTo>
                  <a:close/>
                </a:path>
              </a:pathLst>
            </a:custGeom>
            <a:solidFill>
              <a:srgbClr val="000000">
                <a:alpha val="40000"/>
              </a:srgbClr>
            </a:solidFill>
            <a:ln>
              <a:noFill/>
            </a:ln>
          </p:spPr>
        </p:sp>
        <p:sp>
          <p:nvSpPr>
            <p:cNvPr id="1724" name="Google Shape;1724;h410af0035cb59894_0_299"/>
            <p:cNvSpPr txBox="1"/>
            <p:nvPr/>
          </p:nvSpPr>
          <p:spPr>
            <a:xfrm>
              <a:off x="0" y="-9525"/>
              <a:ext cx="29457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725" name="Google Shape;1725;h410af0035cb59894_0_299"/>
          <p:cNvGrpSpPr/>
          <p:nvPr/>
        </p:nvGrpSpPr>
        <p:grpSpPr>
          <a:xfrm>
            <a:off x="754250" y="1458109"/>
            <a:ext cx="6018806" cy="4821272"/>
            <a:chOff x="0" y="-578644"/>
            <a:chExt cx="12037613" cy="9642544"/>
          </a:xfrm>
        </p:grpSpPr>
        <p:grpSp>
          <p:nvGrpSpPr>
            <p:cNvPr id="1726" name="Google Shape;1726;h410af0035cb59894_0_299"/>
            <p:cNvGrpSpPr/>
            <p:nvPr/>
          </p:nvGrpSpPr>
          <p:grpSpPr>
            <a:xfrm>
              <a:off x="0" y="-578644"/>
              <a:ext cx="12037613" cy="9642544"/>
              <a:chOff x="0" y="-114300"/>
              <a:chExt cx="2377800" cy="1904700"/>
            </a:xfrm>
          </p:grpSpPr>
          <p:sp>
            <p:nvSpPr>
              <p:cNvPr id="1727" name="Google Shape;1727;h410af0035cb59894_0_299"/>
              <p:cNvSpPr/>
              <p:nvPr/>
            </p:nvSpPr>
            <p:spPr>
              <a:xfrm>
                <a:off x="0" y="0"/>
                <a:ext cx="2377741" cy="1790398"/>
              </a:xfrm>
              <a:custGeom>
                <a:rect b="b" l="l" r="r" t="t"/>
                <a:pathLst>
                  <a:path extrusionOk="0" h="1790398" w="2377741">
                    <a:moveTo>
                      <a:pt x="0" y="0"/>
                    </a:moveTo>
                    <a:lnTo>
                      <a:pt x="2377741" y="0"/>
                    </a:lnTo>
                    <a:lnTo>
                      <a:pt x="2377741" y="1790398"/>
                    </a:lnTo>
                    <a:lnTo>
                      <a:pt x="0" y="1790398"/>
                    </a:lnTo>
                    <a:close/>
                  </a:path>
                </a:pathLst>
              </a:custGeom>
              <a:solidFill>
                <a:srgbClr val="0D2A4E">
                  <a:alpha val="80000"/>
                </a:srgbClr>
              </a:solidFill>
              <a:ln>
                <a:noFill/>
              </a:ln>
            </p:spPr>
          </p:sp>
          <p:sp>
            <p:nvSpPr>
              <p:cNvPr id="1728" name="Google Shape;1728;h410af0035cb59894_0_299"/>
              <p:cNvSpPr txBox="1"/>
              <p:nvPr/>
            </p:nvSpPr>
            <p:spPr>
              <a:xfrm>
                <a:off x="0" y="-114300"/>
                <a:ext cx="2377800" cy="1904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29" name="Google Shape;1729;h410af0035cb59894_0_299"/>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8">
                <a:alphaModFix/>
              </a:blip>
              <a:stretch>
                <a:fillRect b="0" l="0" r="0" t="0"/>
              </a:stretch>
            </a:blipFill>
            <a:ln>
              <a:noFill/>
            </a:ln>
          </p:spPr>
        </p:sp>
        <p:sp>
          <p:nvSpPr>
            <p:cNvPr id="1730" name="Google Shape;1730;h410af0035cb59894_0_299"/>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9">
                <a:alphaModFix/>
              </a:blip>
              <a:stretch>
                <a:fillRect b="0" l="0" r="0" t="0"/>
              </a:stretch>
            </a:blipFill>
            <a:ln>
              <a:noFill/>
            </a:ln>
          </p:spPr>
        </p:sp>
        <p:sp>
          <p:nvSpPr>
            <p:cNvPr id="1731" name="Google Shape;1731;h410af0035cb59894_0_299"/>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10">
                <a:alphaModFix/>
              </a:blip>
              <a:stretch>
                <a:fillRect b="0" l="0" r="0" t="0"/>
              </a:stretch>
            </a:blipFill>
            <a:ln>
              <a:noFill/>
            </a:ln>
          </p:spPr>
        </p:sp>
        <p:sp>
          <p:nvSpPr>
            <p:cNvPr id="1732" name="Google Shape;1732;h410af0035cb59894_0_299"/>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1">
                <a:alphaModFix/>
              </a:blip>
              <a:stretch>
                <a:fillRect b="0" l="0" r="0" t="0"/>
              </a:stretch>
            </a:blipFill>
            <a:ln>
              <a:noFill/>
            </a:ln>
          </p:spPr>
        </p:sp>
        <p:sp>
          <p:nvSpPr>
            <p:cNvPr id="1733" name="Google Shape;1733;h410af0035cb59894_0_299"/>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Individual from SME</a:t>
              </a:r>
              <a:endParaRPr sz="900"/>
            </a:p>
          </p:txBody>
        </p:sp>
        <p:sp>
          <p:nvSpPr>
            <p:cNvPr id="1734" name="Google Shape;1734;h410af0035cb59894_0_299"/>
            <p:cNvSpPr txBox="1"/>
            <p:nvPr/>
          </p:nvSpPr>
          <p:spPr>
            <a:xfrm>
              <a:off x="2880538" y="89922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2300" u="none" cap="none" strike="noStrike">
                  <a:solidFill>
                    <a:srgbClr val="FFFFFF"/>
                  </a:solidFill>
                  <a:latin typeface="Arial"/>
                  <a:ea typeface="Arial"/>
                  <a:cs typeface="Arial"/>
                  <a:sym typeface="Arial"/>
                </a:rPr>
                <a:t>April 2026</a:t>
              </a:r>
              <a:endParaRPr sz="900"/>
            </a:p>
          </p:txBody>
        </p:sp>
        <p:sp>
          <p:nvSpPr>
            <p:cNvPr id="1735" name="Google Shape;1735;h410af0035cb59894_0_299"/>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110 Participants</a:t>
              </a:r>
              <a:endParaRPr sz="900"/>
            </a:p>
          </p:txBody>
        </p:sp>
        <p:sp>
          <p:nvSpPr>
            <p:cNvPr id="1736" name="Google Shape;1736;h410af0035cb59894_0_299"/>
            <p:cNvSpPr txBox="1"/>
            <p:nvPr/>
          </p:nvSpPr>
          <p:spPr>
            <a:xfrm>
              <a:off x="2880538" y="7290779"/>
              <a:ext cx="91569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Financial</a:t>
              </a:r>
              <a:endParaRPr sz="900"/>
            </a:p>
          </p:txBody>
        </p:sp>
      </p:grpSp>
      <p:sp>
        <p:nvSpPr>
          <p:cNvPr id="1737" name="Google Shape;1737;h410af0035cb59894_0_299"/>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738" name="Google Shape;1738;h410af0035cb59894_0_299"/>
          <p:cNvSpPr/>
          <p:nvPr/>
        </p:nvSpPr>
        <p:spPr>
          <a:xfrm>
            <a:off x="9670354" y="315698"/>
            <a:ext cx="2123018" cy="557612"/>
          </a:xfrm>
          <a:custGeom>
            <a:rect b="b" l="l" r="r" t="t"/>
            <a:pathLst>
              <a:path extrusionOk="0" h="835374" w="3180551">
                <a:moveTo>
                  <a:pt x="0" y="0"/>
                </a:moveTo>
                <a:lnTo>
                  <a:pt x="3180551" y="0"/>
                </a:lnTo>
                <a:lnTo>
                  <a:pt x="3180551" y="835374"/>
                </a:lnTo>
                <a:lnTo>
                  <a:pt x="0" y="835374"/>
                </a:lnTo>
                <a:lnTo>
                  <a:pt x="0" y="0"/>
                </a:lnTo>
                <a:close/>
              </a:path>
            </a:pathLst>
          </a:custGeom>
          <a:blipFill rotWithShape="1">
            <a:blip r:embed="rId12">
              <a:alphaModFix/>
            </a:blip>
            <a:stretch>
              <a:fillRect b="0" l="0" r="0" t="0"/>
            </a:stretch>
          </a:blipFill>
          <a:ln>
            <a:noFill/>
          </a:ln>
        </p:spPr>
      </p:sp>
      <p:sp>
        <p:nvSpPr>
          <p:cNvPr id="1739" name="Google Shape;1739;h410af0035cb59894_0_299"/>
          <p:cNvSpPr txBox="1"/>
          <p:nvPr/>
        </p:nvSpPr>
        <p:spPr>
          <a:xfrm>
            <a:off x="7462751" y="1135055"/>
            <a:ext cx="4415100" cy="56112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Fundamental Financial Literacy and Management, </a:t>
            </a:r>
            <a:r>
              <a:rPr b="0" i="0" lang="en-US" sz="1500" u="none" cap="none" strike="noStrike">
                <a:solidFill>
                  <a:srgbClr val="FFFFFF"/>
                </a:solidFill>
                <a:latin typeface="Arial"/>
                <a:ea typeface="Arial"/>
                <a:cs typeface="Arial"/>
                <a:sym typeface="Arial"/>
              </a:rPr>
              <a:t>Understanding essential accounting principles and the importance of disciplined financial recording to prevent business bankruptcy.</a:t>
            </a:r>
            <a:endParaRPr sz="900"/>
          </a:p>
          <a:p>
            <a:pPr indent="0" lvl="0" marL="0" marR="0" rtl="0" algn="just">
              <a:lnSpc>
                <a:spcPct val="150022"/>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Digital Point of Sales Integration , </a:t>
            </a:r>
            <a:r>
              <a:rPr b="0" i="0" lang="en-US" sz="1500" u="none" cap="none" strike="noStrike">
                <a:solidFill>
                  <a:srgbClr val="FFFFFF"/>
                </a:solidFill>
                <a:latin typeface="Arial"/>
                <a:ea typeface="Arial"/>
                <a:cs typeface="Arial"/>
                <a:sym typeface="Arial"/>
              </a:rPr>
              <a:t>Implementing digital cashier systems to automate sales transactions, stock management, and real-time financial reporting.</a:t>
            </a:r>
            <a:endParaRPr sz="900"/>
          </a:p>
          <a:p>
            <a:pPr indent="0" lvl="0" marL="0" marR="0" rtl="0" algn="just">
              <a:lnSpc>
                <a:spcPct val="150022"/>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Strategic Business Cash Flow Separation</a:t>
            </a:r>
            <a:r>
              <a:rPr b="0" i="0" lang="en-US" sz="1500" u="none" cap="none" strike="noStrike">
                <a:solidFill>
                  <a:srgbClr val="FFFFFF"/>
                </a:solidFill>
                <a:latin typeface="Arial"/>
                <a:ea typeface="Arial"/>
                <a:cs typeface="Arial"/>
                <a:sym typeface="Arial"/>
              </a:rPr>
              <a:t>, Mastering techniques to separate personal and business finances for better capital control and sustainability.</a:t>
            </a:r>
            <a:endParaRPr sz="900"/>
          </a:p>
        </p:txBody>
      </p:sp>
      <p:sp>
        <p:nvSpPr>
          <p:cNvPr id="1740" name="Google Shape;1740;h410af0035cb59894_0_299"/>
          <p:cNvSpPr txBox="1"/>
          <p:nvPr/>
        </p:nvSpPr>
        <p:spPr>
          <a:xfrm>
            <a:off x="685782" y="311083"/>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PT Kasir Pintar International</a:t>
            </a:r>
            <a:endParaRPr sz="9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744" name="Shape 1744"/>
        <p:cNvGrpSpPr/>
        <p:nvPr/>
      </p:nvGrpSpPr>
      <p:grpSpPr>
        <a:xfrm>
          <a:off x="0" y="0"/>
          <a:ext cx="0" cy="0"/>
          <a:chOff x="0" y="0"/>
          <a:chExt cx="0" cy="0"/>
        </a:xfrm>
      </p:grpSpPr>
      <p:sp>
        <p:nvSpPr>
          <p:cNvPr id="1745" name="Google Shape;1745;h410af0035cb59894_0_329"/>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746" name="Google Shape;1746;h410af0035cb59894_0_329"/>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747" name="Google Shape;1747;h410af0035cb59894_0_329"/>
          <p:cNvSpPr/>
          <p:nvPr/>
        </p:nvSpPr>
        <p:spPr>
          <a:xfrm>
            <a:off x="0" y="0"/>
            <a:ext cx="2742946" cy="1828631"/>
          </a:xfrm>
          <a:custGeom>
            <a:rect b="b" l="l" r="r" t="t"/>
            <a:pathLst>
              <a:path extrusionOk="0" h="2739522" w="4109283">
                <a:moveTo>
                  <a:pt x="0" y="0"/>
                </a:moveTo>
                <a:lnTo>
                  <a:pt x="4109283" y="0"/>
                </a:lnTo>
                <a:lnTo>
                  <a:pt x="4109283" y="2739522"/>
                </a:lnTo>
                <a:lnTo>
                  <a:pt x="0" y="2739522"/>
                </a:lnTo>
                <a:lnTo>
                  <a:pt x="0" y="0"/>
                </a:lnTo>
                <a:close/>
              </a:path>
            </a:pathLst>
          </a:custGeom>
          <a:blipFill rotWithShape="1">
            <a:blip r:embed="rId4">
              <a:alphaModFix/>
            </a:blip>
            <a:stretch>
              <a:fillRect b="0" l="0" r="0" t="0"/>
            </a:stretch>
          </a:blipFill>
          <a:ln>
            <a:noFill/>
          </a:ln>
        </p:spPr>
      </p:sp>
      <p:sp>
        <p:nvSpPr>
          <p:cNvPr id="1748" name="Google Shape;1748;h410af0035cb59894_0_329"/>
          <p:cNvSpPr/>
          <p:nvPr/>
        </p:nvSpPr>
        <p:spPr>
          <a:xfrm>
            <a:off x="2739449" y="0"/>
            <a:ext cx="3250899" cy="1828631"/>
          </a:xfrm>
          <a:custGeom>
            <a:rect b="b" l="l" r="r" t="t"/>
            <a:pathLst>
              <a:path extrusionOk="0" h="2739522" w="4870261">
                <a:moveTo>
                  <a:pt x="0" y="0"/>
                </a:moveTo>
                <a:lnTo>
                  <a:pt x="4870260" y="0"/>
                </a:lnTo>
                <a:lnTo>
                  <a:pt x="4870260" y="2739522"/>
                </a:lnTo>
                <a:lnTo>
                  <a:pt x="0" y="2739522"/>
                </a:lnTo>
                <a:lnTo>
                  <a:pt x="0" y="0"/>
                </a:lnTo>
                <a:close/>
              </a:path>
            </a:pathLst>
          </a:custGeom>
          <a:blipFill rotWithShape="1">
            <a:blip r:embed="rId5">
              <a:alphaModFix/>
            </a:blip>
            <a:stretch>
              <a:fillRect b="0" l="0" r="0" t="0"/>
            </a:stretch>
          </a:blipFill>
          <a:ln>
            <a:noFill/>
          </a:ln>
        </p:spPr>
      </p:sp>
      <p:sp>
        <p:nvSpPr>
          <p:cNvPr id="1749" name="Google Shape;1749;h410af0035cb59894_0_329"/>
          <p:cNvSpPr/>
          <p:nvPr/>
        </p:nvSpPr>
        <p:spPr>
          <a:xfrm>
            <a:off x="5817508" y="-10381"/>
            <a:ext cx="1379269" cy="1839025"/>
          </a:xfrm>
          <a:custGeom>
            <a:rect b="b" l="l" r="r" t="t"/>
            <a:pathLst>
              <a:path extrusionOk="0" h="2755094" w="2066321">
                <a:moveTo>
                  <a:pt x="0" y="0"/>
                </a:moveTo>
                <a:lnTo>
                  <a:pt x="2066321" y="0"/>
                </a:lnTo>
                <a:lnTo>
                  <a:pt x="2066321" y="2755094"/>
                </a:lnTo>
                <a:lnTo>
                  <a:pt x="0" y="2755094"/>
                </a:lnTo>
                <a:lnTo>
                  <a:pt x="0" y="0"/>
                </a:lnTo>
                <a:close/>
              </a:path>
            </a:pathLst>
          </a:custGeom>
          <a:blipFill rotWithShape="1">
            <a:blip r:embed="rId6">
              <a:alphaModFix/>
            </a:blip>
            <a:stretch>
              <a:fillRect b="0" l="0" r="0" t="0"/>
            </a:stretch>
          </a:blipFill>
          <a:ln>
            <a:noFill/>
          </a:ln>
        </p:spPr>
      </p:sp>
      <p:sp>
        <p:nvSpPr>
          <p:cNvPr id="1750" name="Google Shape;1750;h410af0035cb59894_0_329"/>
          <p:cNvSpPr/>
          <p:nvPr/>
        </p:nvSpPr>
        <p:spPr>
          <a:xfrm>
            <a:off x="-43169" y="1810263"/>
            <a:ext cx="4411620" cy="1828184"/>
          </a:xfrm>
          <a:custGeom>
            <a:rect b="b" l="l" r="r" t="t"/>
            <a:pathLst>
              <a:path extrusionOk="0" h="2738852" w="6609168">
                <a:moveTo>
                  <a:pt x="0" y="0"/>
                </a:moveTo>
                <a:lnTo>
                  <a:pt x="6609168" y="0"/>
                </a:lnTo>
                <a:lnTo>
                  <a:pt x="6609168" y="2738851"/>
                </a:lnTo>
                <a:lnTo>
                  <a:pt x="0" y="2738851"/>
                </a:lnTo>
                <a:lnTo>
                  <a:pt x="0" y="0"/>
                </a:lnTo>
                <a:close/>
              </a:path>
            </a:pathLst>
          </a:custGeom>
          <a:blipFill rotWithShape="1">
            <a:blip r:embed="rId7">
              <a:alphaModFix/>
            </a:blip>
            <a:stretch>
              <a:fillRect b="0" l="0" r="0" t="-80979"/>
            </a:stretch>
          </a:blipFill>
          <a:ln>
            <a:noFill/>
          </a:ln>
        </p:spPr>
      </p:sp>
      <p:sp>
        <p:nvSpPr>
          <p:cNvPr id="1751" name="Google Shape;1751;h410af0035cb59894_0_329"/>
          <p:cNvSpPr/>
          <p:nvPr/>
        </p:nvSpPr>
        <p:spPr>
          <a:xfrm>
            <a:off x="4362826" y="1714276"/>
            <a:ext cx="2835808" cy="2126856"/>
          </a:xfrm>
          <a:custGeom>
            <a:rect b="b" l="l" r="r" t="t"/>
            <a:pathLst>
              <a:path extrusionOk="0" h="3186301" w="4248402">
                <a:moveTo>
                  <a:pt x="0" y="0"/>
                </a:moveTo>
                <a:lnTo>
                  <a:pt x="4248402" y="0"/>
                </a:lnTo>
                <a:lnTo>
                  <a:pt x="4248402" y="3186301"/>
                </a:lnTo>
                <a:lnTo>
                  <a:pt x="0" y="3186301"/>
                </a:lnTo>
                <a:lnTo>
                  <a:pt x="0" y="0"/>
                </a:lnTo>
                <a:close/>
              </a:path>
            </a:pathLst>
          </a:custGeom>
          <a:blipFill rotWithShape="1">
            <a:blip r:embed="rId8">
              <a:alphaModFix/>
            </a:blip>
            <a:stretch>
              <a:fillRect b="0" l="0" r="0" t="0"/>
            </a:stretch>
          </a:blipFill>
          <a:ln>
            <a:noFill/>
          </a:ln>
        </p:spPr>
      </p:sp>
      <p:sp>
        <p:nvSpPr>
          <p:cNvPr id="1752" name="Google Shape;1752;h410af0035cb59894_0_329"/>
          <p:cNvSpPr/>
          <p:nvPr/>
        </p:nvSpPr>
        <p:spPr>
          <a:xfrm>
            <a:off x="-43169" y="3636163"/>
            <a:ext cx="4368396" cy="2172112"/>
          </a:xfrm>
          <a:custGeom>
            <a:rect b="b" l="l" r="r" t="t"/>
            <a:pathLst>
              <a:path extrusionOk="0" h="3254100" w="6544413">
                <a:moveTo>
                  <a:pt x="0" y="0"/>
                </a:moveTo>
                <a:lnTo>
                  <a:pt x="6544413" y="0"/>
                </a:lnTo>
                <a:lnTo>
                  <a:pt x="6544413" y="3254101"/>
                </a:lnTo>
                <a:lnTo>
                  <a:pt x="0" y="3254101"/>
                </a:lnTo>
                <a:lnTo>
                  <a:pt x="0" y="0"/>
                </a:lnTo>
                <a:close/>
              </a:path>
            </a:pathLst>
          </a:custGeom>
          <a:blipFill rotWithShape="1">
            <a:blip r:embed="rId9">
              <a:alphaModFix/>
            </a:blip>
            <a:stretch>
              <a:fillRect b="0" l="0" r="-12130" t="-26841"/>
            </a:stretch>
          </a:blipFill>
          <a:ln>
            <a:noFill/>
          </a:ln>
        </p:spPr>
      </p:sp>
      <p:sp>
        <p:nvSpPr>
          <p:cNvPr id="1753" name="Google Shape;1753;h410af0035cb59894_0_329"/>
          <p:cNvSpPr/>
          <p:nvPr/>
        </p:nvSpPr>
        <p:spPr>
          <a:xfrm>
            <a:off x="4362826" y="3838477"/>
            <a:ext cx="2803280" cy="3116318"/>
          </a:xfrm>
          <a:custGeom>
            <a:rect b="b" l="l" r="r" t="t"/>
            <a:pathLst>
              <a:path extrusionOk="0" h="4668641" w="4199670">
                <a:moveTo>
                  <a:pt x="0" y="0"/>
                </a:moveTo>
                <a:lnTo>
                  <a:pt x="4199670" y="0"/>
                </a:lnTo>
                <a:lnTo>
                  <a:pt x="4199670" y="4668641"/>
                </a:lnTo>
                <a:lnTo>
                  <a:pt x="0" y="4668641"/>
                </a:lnTo>
                <a:lnTo>
                  <a:pt x="0" y="0"/>
                </a:lnTo>
                <a:close/>
              </a:path>
            </a:pathLst>
          </a:custGeom>
          <a:blipFill rotWithShape="1">
            <a:blip r:embed="rId10">
              <a:alphaModFix/>
            </a:blip>
            <a:stretch>
              <a:fillRect b="0" l="-28780" r="-8931" t="-65161"/>
            </a:stretch>
          </a:blipFill>
          <a:ln>
            <a:noFill/>
          </a:ln>
        </p:spPr>
      </p:sp>
      <p:sp>
        <p:nvSpPr>
          <p:cNvPr id="1754" name="Google Shape;1754;h410af0035cb59894_0_329"/>
          <p:cNvSpPr/>
          <p:nvPr/>
        </p:nvSpPr>
        <p:spPr>
          <a:xfrm>
            <a:off x="-197152" y="5757828"/>
            <a:ext cx="7369079" cy="1310302"/>
          </a:xfrm>
          <a:custGeom>
            <a:rect b="b" l="l" r="r" t="t"/>
            <a:pathLst>
              <a:path extrusionOk="0" h="1963000" w="11039819">
                <a:moveTo>
                  <a:pt x="0" y="0"/>
                </a:moveTo>
                <a:lnTo>
                  <a:pt x="11039819" y="0"/>
                </a:lnTo>
                <a:lnTo>
                  <a:pt x="11039819" y="1963001"/>
                </a:lnTo>
                <a:lnTo>
                  <a:pt x="0" y="1963001"/>
                </a:lnTo>
                <a:lnTo>
                  <a:pt x="0" y="0"/>
                </a:lnTo>
                <a:close/>
              </a:path>
            </a:pathLst>
          </a:custGeom>
          <a:blipFill rotWithShape="1">
            <a:blip r:embed="rId11">
              <a:alphaModFix/>
            </a:blip>
            <a:stretch>
              <a:fillRect b="-97533" l="0" r="0" t="-177406"/>
            </a:stretch>
          </a:blipFill>
          <a:ln>
            <a:noFill/>
          </a:ln>
        </p:spPr>
      </p:sp>
      <p:grpSp>
        <p:nvGrpSpPr>
          <p:cNvPr id="1755" name="Google Shape;1755;h410af0035cb59894_0_329"/>
          <p:cNvGrpSpPr/>
          <p:nvPr/>
        </p:nvGrpSpPr>
        <p:grpSpPr>
          <a:xfrm>
            <a:off x="-32487" y="-122244"/>
            <a:ext cx="7227303" cy="6980108"/>
            <a:chOff x="0" y="-9525"/>
            <a:chExt cx="2855400" cy="2757628"/>
          </a:xfrm>
        </p:grpSpPr>
        <p:sp>
          <p:nvSpPr>
            <p:cNvPr id="1756" name="Google Shape;1756;h410af0035cb59894_0_329"/>
            <p:cNvSpPr/>
            <p:nvPr/>
          </p:nvSpPr>
          <p:spPr>
            <a:xfrm>
              <a:off x="0" y="0"/>
              <a:ext cx="2855387" cy="2748103"/>
            </a:xfrm>
            <a:custGeom>
              <a:rect b="b" l="l" r="r" t="t"/>
              <a:pathLst>
                <a:path extrusionOk="0" h="2748103" w="2855387">
                  <a:moveTo>
                    <a:pt x="0" y="0"/>
                  </a:moveTo>
                  <a:lnTo>
                    <a:pt x="2855387" y="0"/>
                  </a:lnTo>
                  <a:lnTo>
                    <a:pt x="2855387" y="2748103"/>
                  </a:lnTo>
                  <a:lnTo>
                    <a:pt x="0" y="2748103"/>
                  </a:lnTo>
                  <a:close/>
                </a:path>
              </a:pathLst>
            </a:custGeom>
            <a:solidFill>
              <a:srgbClr val="000000">
                <a:alpha val="40000"/>
              </a:srgbClr>
            </a:solidFill>
            <a:ln>
              <a:noFill/>
            </a:ln>
          </p:spPr>
        </p:sp>
        <p:sp>
          <p:nvSpPr>
            <p:cNvPr id="1757" name="Google Shape;1757;h410af0035cb59894_0_329"/>
            <p:cNvSpPr txBox="1"/>
            <p:nvPr/>
          </p:nvSpPr>
          <p:spPr>
            <a:xfrm>
              <a:off x="0" y="-9525"/>
              <a:ext cx="28554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58" name="Google Shape;1758;h410af0035cb59894_0_329"/>
          <p:cNvSpPr txBox="1"/>
          <p:nvPr/>
        </p:nvSpPr>
        <p:spPr>
          <a:xfrm>
            <a:off x="7419021" y="1207770"/>
            <a:ext cx="4415100" cy="57960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End to End Program Training</a:t>
            </a:r>
            <a:endParaRPr sz="900"/>
          </a:p>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Strategic Digital Marketing &amp; Performance, </a:t>
            </a:r>
            <a:r>
              <a:rPr b="0" i="0" lang="en-US" sz="1500" u="none" cap="none" strike="noStrike">
                <a:solidFill>
                  <a:srgbClr val="FFFFFF"/>
                </a:solidFill>
                <a:latin typeface="Arial"/>
                <a:ea typeface="Arial"/>
                <a:cs typeface="Arial"/>
                <a:sym typeface="Arial"/>
              </a:rPr>
              <a:t>Mastering data-driven marketing strategies, SEO, and advertising to effectively scale business growth and visibility.</a:t>
            </a:r>
            <a:endParaRPr sz="900"/>
          </a:p>
          <a:p>
            <a:pPr indent="0" lvl="0" marL="0" marR="0" rtl="0" algn="just">
              <a:lnSpc>
                <a:spcPct val="150022"/>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Creative Content Production &amp; Branding , </a:t>
            </a:r>
            <a:r>
              <a:rPr b="0" i="0" lang="en-US" sz="1500" u="none" cap="none" strike="noStrike">
                <a:solidFill>
                  <a:srgbClr val="FFFFFF"/>
                </a:solidFill>
                <a:latin typeface="Arial"/>
                <a:ea typeface="Arial"/>
                <a:cs typeface="Arial"/>
                <a:sym typeface="Arial"/>
              </a:rPr>
              <a:t>Developing high-quality visual assets and storytelling techniques to build strong, engaging digital brand identities.</a:t>
            </a:r>
            <a:endParaRPr sz="900"/>
          </a:p>
          <a:p>
            <a:pPr indent="0" lvl="0" marL="0" marR="0" rtl="0" algn="just">
              <a:lnSpc>
                <a:spcPct val="150022"/>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Professional Career &amp; Job Readiness, </a:t>
            </a:r>
            <a:r>
              <a:rPr b="0" i="0" lang="en-US" sz="1500" u="none" cap="none" strike="noStrike">
                <a:solidFill>
                  <a:srgbClr val="FFFFFF"/>
                </a:solidFill>
                <a:latin typeface="Arial"/>
                <a:ea typeface="Arial"/>
                <a:cs typeface="Arial"/>
                <a:sym typeface="Arial"/>
              </a:rPr>
              <a:t>Equipping participants with essential soft skills, professional ethics, and tools for successful workforce integration.</a:t>
            </a:r>
            <a:endParaRPr sz="900"/>
          </a:p>
        </p:txBody>
      </p:sp>
      <p:sp>
        <p:nvSpPr>
          <p:cNvPr id="1759" name="Google Shape;1759;h410af0035cb59894_0_329"/>
          <p:cNvSpPr txBox="1"/>
          <p:nvPr/>
        </p:nvSpPr>
        <p:spPr>
          <a:xfrm>
            <a:off x="685782" y="311083"/>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TechPath Bojonegoro</a:t>
            </a:r>
            <a:endParaRPr sz="900"/>
          </a:p>
        </p:txBody>
      </p:sp>
      <p:grpSp>
        <p:nvGrpSpPr>
          <p:cNvPr id="1760" name="Google Shape;1760;h410af0035cb59894_0_329"/>
          <p:cNvGrpSpPr/>
          <p:nvPr/>
        </p:nvGrpSpPr>
        <p:grpSpPr>
          <a:xfrm>
            <a:off x="685782" y="1350933"/>
            <a:ext cx="6018806" cy="4821272"/>
            <a:chOff x="0" y="-578644"/>
            <a:chExt cx="12037613" cy="9642544"/>
          </a:xfrm>
        </p:grpSpPr>
        <p:grpSp>
          <p:nvGrpSpPr>
            <p:cNvPr id="1761" name="Google Shape;1761;h410af0035cb59894_0_329"/>
            <p:cNvGrpSpPr/>
            <p:nvPr/>
          </p:nvGrpSpPr>
          <p:grpSpPr>
            <a:xfrm>
              <a:off x="0" y="-578644"/>
              <a:ext cx="12037613" cy="9642544"/>
              <a:chOff x="0" y="-114300"/>
              <a:chExt cx="2377800" cy="1904700"/>
            </a:xfrm>
          </p:grpSpPr>
          <p:sp>
            <p:nvSpPr>
              <p:cNvPr id="1762" name="Google Shape;1762;h410af0035cb59894_0_329"/>
              <p:cNvSpPr/>
              <p:nvPr/>
            </p:nvSpPr>
            <p:spPr>
              <a:xfrm>
                <a:off x="0" y="0"/>
                <a:ext cx="2377741" cy="1790398"/>
              </a:xfrm>
              <a:custGeom>
                <a:rect b="b" l="l" r="r" t="t"/>
                <a:pathLst>
                  <a:path extrusionOk="0" h="1790398" w="2377741">
                    <a:moveTo>
                      <a:pt x="0" y="0"/>
                    </a:moveTo>
                    <a:lnTo>
                      <a:pt x="2377741" y="0"/>
                    </a:lnTo>
                    <a:lnTo>
                      <a:pt x="2377741" y="1790398"/>
                    </a:lnTo>
                    <a:lnTo>
                      <a:pt x="0" y="1790398"/>
                    </a:lnTo>
                    <a:close/>
                  </a:path>
                </a:pathLst>
              </a:custGeom>
              <a:solidFill>
                <a:srgbClr val="0D2A4E">
                  <a:alpha val="80000"/>
                </a:srgbClr>
              </a:solidFill>
              <a:ln>
                <a:noFill/>
              </a:ln>
            </p:spPr>
          </p:sp>
          <p:sp>
            <p:nvSpPr>
              <p:cNvPr id="1763" name="Google Shape;1763;h410af0035cb59894_0_329"/>
              <p:cNvSpPr txBox="1"/>
              <p:nvPr/>
            </p:nvSpPr>
            <p:spPr>
              <a:xfrm>
                <a:off x="0" y="-114300"/>
                <a:ext cx="2377800" cy="1904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64" name="Google Shape;1764;h410af0035cb59894_0_329"/>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12">
                <a:alphaModFix/>
              </a:blip>
              <a:stretch>
                <a:fillRect b="0" l="0" r="0" t="0"/>
              </a:stretch>
            </a:blipFill>
            <a:ln>
              <a:noFill/>
            </a:ln>
          </p:spPr>
        </p:sp>
        <p:sp>
          <p:nvSpPr>
            <p:cNvPr id="1765" name="Google Shape;1765;h410af0035cb59894_0_329"/>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13">
                <a:alphaModFix/>
              </a:blip>
              <a:stretch>
                <a:fillRect b="0" l="0" r="0" t="0"/>
              </a:stretch>
            </a:blipFill>
            <a:ln>
              <a:noFill/>
            </a:ln>
          </p:spPr>
        </p:sp>
        <p:sp>
          <p:nvSpPr>
            <p:cNvPr id="1766" name="Google Shape;1766;h410af0035cb59894_0_329"/>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14">
                <a:alphaModFix/>
              </a:blip>
              <a:stretch>
                <a:fillRect b="0" l="0" r="0" t="0"/>
              </a:stretch>
            </a:blipFill>
            <a:ln>
              <a:noFill/>
            </a:ln>
          </p:spPr>
        </p:sp>
        <p:sp>
          <p:nvSpPr>
            <p:cNvPr id="1767" name="Google Shape;1767;h410af0035cb59894_0_329"/>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5">
                <a:alphaModFix/>
              </a:blip>
              <a:stretch>
                <a:fillRect b="0" l="0" r="0" t="0"/>
              </a:stretch>
            </a:blipFill>
            <a:ln>
              <a:noFill/>
            </a:ln>
          </p:spPr>
        </p:sp>
        <p:sp>
          <p:nvSpPr>
            <p:cNvPr id="1768" name="Google Shape;1768;h410af0035cb59894_0_329"/>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Individual</a:t>
              </a:r>
              <a:endParaRPr sz="900"/>
            </a:p>
          </p:txBody>
        </p:sp>
        <p:sp>
          <p:nvSpPr>
            <p:cNvPr id="1769" name="Google Shape;1769;h410af0035cb59894_0_329"/>
            <p:cNvSpPr txBox="1"/>
            <p:nvPr/>
          </p:nvSpPr>
          <p:spPr>
            <a:xfrm>
              <a:off x="2880538" y="899223"/>
              <a:ext cx="6682500" cy="15579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2300" u="none" cap="none" strike="noStrike">
                  <a:solidFill>
                    <a:srgbClr val="FFFFFF"/>
                  </a:solidFill>
                  <a:latin typeface="Arial"/>
                  <a:ea typeface="Arial"/>
                  <a:cs typeface="Arial"/>
                  <a:sym typeface="Arial"/>
                </a:rPr>
                <a:t>December 2025 - Maret 2026</a:t>
              </a:r>
              <a:endParaRPr sz="900"/>
            </a:p>
          </p:txBody>
        </p:sp>
        <p:sp>
          <p:nvSpPr>
            <p:cNvPr id="1770" name="Google Shape;1770;h410af0035cb59894_0_329"/>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69 Participants</a:t>
              </a:r>
              <a:endParaRPr sz="900"/>
            </a:p>
          </p:txBody>
        </p:sp>
        <p:sp>
          <p:nvSpPr>
            <p:cNvPr id="1771" name="Google Shape;1771;h410af0035cb59894_0_329"/>
            <p:cNvSpPr txBox="1"/>
            <p:nvPr/>
          </p:nvSpPr>
          <p:spPr>
            <a:xfrm>
              <a:off x="2880538" y="6495126"/>
              <a:ext cx="8566500" cy="24075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Digital Marketing</a:t>
              </a:r>
              <a:endParaRPr sz="900"/>
            </a:p>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Content Creation</a:t>
              </a:r>
              <a:endParaRPr sz="900"/>
            </a:p>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Soft Skills &amp; Job Readiness</a:t>
              </a:r>
              <a:endParaRPr sz="900"/>
            </a:p>
          </p:txBody>
        </p:sp>
      </p:grpSp>
      <p:sp>
        <p:nvSpPr>
          <p:cNvPr id="1772" name="Google Shape;1772;h410af0035cb59894_0_329"/>
          <p:cNvSpPr/>
          <p:nvPr/>
        </p:nvSpPr>
        <p:spPr>
          <a:xfrm>
            <a:off x="9970915" y="249708"/>
            <a:ext cx="1865690" cy="664295"/>
          </a:xfrm>
          <a:custGeom>
            <a:rect b="b" l="l" r="r" t="t"/>
            <a:pathLst>
              <a:path extrusionOk="0" h="995199" w="2795041">
                <a:moveTo>
                  <a:pt x="0" y="0"/>
                </a:moveTo>
                <a:lnTo>
                  <a:pt x="2795041" y="0"/>
                </a:lnTo>
                <a:lnTo>
                  <a:pt x="2795041" y="995199"/>
                </a:lnTo>
                <a:lnTo>
                  <a:pt x="0" y="995199"/>
                </a:lnTo>
                <a:lnTo>
                  <a:pt x="0" y="0"/>
                </a:lnTo>
                <a:close/>
              </a:path>
            </a:pathLst>
          </a:custGeom>
          <a:blipFill rotWithShape="1">
            <a:blip r:embed="rId16">
              <a:alphaModFix/>
            </a:blip>
            <a:stretch>
              <a:fillRect b="-14810" l="-71609" r="0" t="-32800"/>
            </a:stretch>
          </a:blipFill>
          <a:ln>
            <a:noFill/>
          </a:ln>
        </p:spPr>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776" name="Shape 1776"/>
        <p:cNvGrpSpPr/>
        <p:nvPr/>
      </p:nvGrpSpPr>
      <p:grpSpPr>
        <a:xfrm>
          <a:off x="0" y="0"/>
          <a:ext cx="0" cy="0"/>
          <a:chOff x="0" y="0"/>
          <a:chExt cx="0" cy="0"/>
        </a:xfrm>
      </p:grpSpPr>
      <p:sp>
        <p:nvSpPr>
          <p:cNvPr id="1777" name="Google Shape;1777;h410af0035cb59894_0_360"/>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778" name="Google Shape;1778;h410af0035cb59894_0_360"/>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grpSp>
        <p:nvGrpSpPr>
          <p:cNvPr id="1779" name="Google Shape;1779;h410af0035cb59894_0_360"/>
          <p:cNvGrpSpPr/>
          <p:nvPr/>
        </p:nvGrpSpPr>
        <p:grpSpPr>
          <a:xfrm>
            <a:off x="0" y="0"/>
            <a:ext cx="7020674" cy="7488577"/>
            <a:chOff x="0" y="0"/>
            <a:chExt cx="14041348" cy="14977153"/>
          </a:xfrm>
        </p:grpSpPr>
        <p:sp>
          <p:nvSpPr>
            <p:cNvPr id="1780" name="Google Shape;1780;h410af0035cb59894_0_360"/>
            <p:cNvSpPr/>
            <p:nvPr/>
          </p:nvSpPr>
          <p:spPr>
            <a:xfrm>
              <a:off x="0" y="0"/>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4">
                <a:alphaModFix/>
              </a:blip>
              <a:stretch>
                <a:fillRect b="0" l="0" r="0" t="0"/>
              </a:stretch>
            </a:blipFill>
            <a:ln>
              <a:noFill/>
            </a:ln>
          </p:spPr>
        </p:sp>
        <p:sp>
          <p:nvSpPr>
            <p:cNvPr id="1781" name="Google Shape;1781;h410af0035cb59894_0_360"/>
            <p:cNvSpPr/>
            <p:nvPr/>
          </p:nvSpPr>
          <p:spPr>
            <a:xfrm>
              <a:off x="7020674" y="0"/>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5">
                <a:alphaModFix/>
              </a:blip>
              <a:stretch>
                <a:fillRect b="0" l="0" r="0" t="0"/>
              </a:stretch>
            </a:blipFill>
            <a:ln>
              <a:noFill/>
            </a:ln>
          </p:spPr>
        </p:sp>
        <p:sp>
          <p:nvSpPr>
            <p:cNvPr id="1782" name="Google Shape;1782;h410af0035cb59894_0_360"/>
            <p:cNvSpPr/>
            <p:nvPr/>
          </p:nvSpPr>
          <p:spPr>
            <a:xfrm>
              <a:off x="0" y="5265506"/>
              <a:ext cx="7020674" cy="5265506"/>
            </a:xfrm>
            <a:custGeom>
              <a:rect b="b" l="l" r="r" t="t"/>
              <a:pathLst>
                <a:path extrusionOk="0" h="5265506" w="7020674">
                  <a:moveTo>
                    <a:pt x="0" y="0"/>
                  </a:moveTo>
                  <a:lnTo>
                    <a:pt x="7020674" y="0"/>
                  </a:lnTo>
                  <a:lnTo>
                    <a:pt x="7020674" y="5265505"/>
                  </a:lnTo>
                  <a:lnTo>
                    <a:pt x="0" y="5265505"/>
                  </a:lnTo>
                  <a:lnTo>
                    <a:pt x="0" y="0"/>
                  </a:lnTo>
                  <a:close/>
                </a:path>
              </a:pathLst>
            </a:custGeom>
            <a:blipFill rotWithShape="1">
              <a:blip r:embed="rId6">
                <a:alphaModFix/>
              </a:blip>
              <a:stretch>
                <a:fillRect b="0" l="0" r="0" t="0"/>
              </a:stretch>
            </a:blipFill>
            <a:ln>
              <a:noFill/>
            </a:ln>
          </p:spPr>
        </p:sp>
        <p:sp>
          <p:nvSpPr>
            <p:cNvPr id="1783" name="Google Shape;1783;h410af0035cb59894_0_360"/>
            <p:cNvSpPr/>
            <p:nvPr/>
          </p:nvSpPr>
          <p:spPr>
            <a:xfrm>
              <a:off x="7020674" y="5265506"/>
              <a:ext cx="7020674" cy="5265506"/>
            </a:xfrm>
            <a:custGeom>
              <a:rect b="b" l="l" r="r" t="t"/>
              <a:pathLst>
                <a:path extrusionOk="0" h="5265506" w="7020674">
                  <a:moveTo>
                    <a:pt x="0" y="0"/>
                  </a:moveTo>
                  <a:lnTo>
                    <a:pt x="7020674" y="0"/>
                  </a:lnTo>
                  <a:lnTo>
                    <a:pt x="7020674" y="5265505"/>
                  </a:lnTo>
                  <a:lnTo>
                    <a:pt x="0" y="5265505"/>
                  </a:lnTo>
                  <a:lnTo>
                    <a:pt x="0" y="0"/>
                  </a:lnTo>
                  <a:close/>
                </a:path>
              </a:pathLst>
            </a:custGeom>
            <a:blipFill rotWithShape="1">
              <a:blip r:embed="rId7">
                <a:alphaModFix/>
              </a:blip>
              <a:stretch>
                <a:fillRect b="0" l="0" r="0" t="0"/>
              </a:stretch>
            </a:blipFill>
            <a:ln>
              <a:noFill/>
            </a:ln>
          </p:spPr>
        </p:sp>
        <p:sp>
          <p:nvSpPr>
            <p:cNvPr id="1784" name="Google Shape;1784;h410af0035cb59894_0_360"/>
            <p:cNvSpPr/>
            <p:nvPr/>
          </p:nvSpPr>
          <p:spPr>
            <a:xfrm>
              <a:off x="0" y="9711647"/>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5">
                <a:alphaModFix/>
              </a:blip>
              <a:stretch>
                <a:fillRect b="0" l="0" r="0" t="0"/>
              </a:stretch>
            </a:blipFill>
            <a:ln>
              <a:noFill/>
            </a:ln>
          </p:spPr>
        </p:sp>
        <p:sp>
          <p:nvSpPr>
            <p:cNvPr id="1785" name="Google Shape;1785;h410af0035cb59894_0_360"/>
            <p:cNvSpPr/>
            <p:nvPr/>
          </p:nvSpPr>
          <p:spPr>
            <a:xfrm>
              <a:off x="7020674" y="9711647"/>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5">
                <a:alphaModFix/>
              </a:blip>
              <a:stretch>
                <a:fillRect b="0" l="0" r="0" t="0"/>
              </a:stretch>
            </a:blipFill>
            <a:ln>
              <a:noFill/>
            </a:ln>
          </p:spPr>
        </p:sp>
      </p:grpSp>
      <p:grpSp>
        <p:nvGrpSpPr>
          <p:cNvPr id="1786" name="Google Shape;1786;h410af0035cb59894_0_360"/>
          <p:cNvGrpSpPr/>
          <p:nvPr/>
        </p:nvGrpSpPr>
        <p:grpSpPr>
          <a:xfrm>
            <a:off x="0" y="-24110"/>
            <a:ext cx="7020259" cy="6882080"/>
            <a:chOff x="0" y="-9525"/>
            <a:chExt cx="2773600" cy="2718900"/>
          </a:xfrm>
        </p:grpSpPr>
        <p:sp>
          <p:nvSpPr>
            <p:cNvPr id="1787" name="Google Shape;1787;h410af0035cb59894_0_360"/>
            <p:cNvSpPr/>
            <p:nvPr/>
          </p:nvSpPr>
          <p:spPr>
            <a:xfrm>
              <a:off x="0" y="0"/>
              <a:ext cx="2773600" cy="2709333"/>
            </a:xfrm>
            <a:custGeom>
              <a:rect b="b" l="l" r="r" t="t"/>
              <a:pathLst>
                <a:path extrusionOk="0" h="2709333" w="2773600">
                  <a:moveTo>
                    <a:pt x="0" y="0"/>
                  </a:moveTo>
                  <a:lnTo>
                    <a:pt x="2773600" y="0"/>
                  </a:lnTo>
                  <a:lnTo>
                    <a:pt x="2773600" y="2709333"/>
                  </a:lnTo>
                  <a:lnTo>
                    <a:pt x="0" y="2709333"/>
                  </a:lnTo>
                  <a:close/>
                </a:path>
              </a:pathLst>
            </a:custGeom>
            <a:solidFill>
              <a:srgbClr val="000000">
                <a:alpha val="40000"/>
              </a:srgbClr>
            </a:solidFill>
            <a:ln>
              <a:noFill/>
            </a:ln>
          </p:spPr>
        </p:sp>
        <p:sp>
          <p:nvSpPr>
            <p:cNvPr id="1788" name="Google Shape;1788;h410af0035cb59894_0_360"/>
            <p:cNvSpPr txBox="1"/>
            <p:nvPr/>
          </p:nvSpPr>
          <p:spPr>
            <a:xfrm>
              <a:off x="0" y="-9525"/>
              <a:ext cx="2773500" cy="27189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789" name="Google Shape;1789;h410af0035cb59894_0_360"/>
          <p:cNvGrpSpPr/>
          <p:nvPr/>
        </p:nvGrpSpPr>
        <p:grpSpPr>
          <a:xfrm>
            <a:off x="343156" y="1366029"/>
            <a:ext cx="6018806" cy="4821272"/>
            <a:chOff x="0" y="-578644"/>
            <a:chExt cx="12037613" cy="9642544"/>
          </a:xfrm>
        </p:grpSpPr>
        <p:grpSp>
          <p:nvGrpSpPr>
            <p:cNvPr id="1790" name="Google Shape;1790;h410af0035cb59894_0_360"/>
            <p:cNvGrpSpPr/>
            <p:nvPr/>
          </p:nvGrpSpPr>
          <p:grpSpPr>
            <a:xfrm>
              <a:off x="0" y="-578644"/>
              <a:ext cx="12037613" cy="9642544"/>
              <a:chOff x="0" y="-114300"/>
              <a:chExt cx="2377800" cy="1904700"/>
            </a:xfrm>
          </p:grpSpPr>
          <p:sp>
            <p:nvSpPr>
              <p:cNvPr id="1791" name="Google Shape;1791;h410af0035cb59894_0_360"/>
              <p:cNvSpPr/>
              <p:nvPr/>
            </p:nvSpPr>
            <p:spPr>
              <a:xfrm>
                <a:off x="0" y="0"/>
                <a:ext cx="2377741" cy="1790398"/>
              </a:xfrm>
              <a:custGeom>
                <a:rect b="b" l="l" r="r" t="t"/>
                <a:pathLst>
                  <a:path extrusionOk="0" h="1790398" w="2377741">
                    <a:moveTo>
                      <a:pt x="0" y="0"/>
                    </a:moveTo>
                    <a:lnTo>
                      <a:pt x="2377741" y="0"/>
                    </a:lnTo>
                    <a:lnTo>
                      <a:pt x="2377741" y="1790398"/>
                    </a:lnTo>
                    <a:lnTo>
                      <a:pt x="0" y="1790398"/>
                    </a:lnTo>
                    <a:close/>
                  </a:path>
                </a:pathLst>
              </a:custGeom>
              <a:solidFill>
                <a:srgbClr val="0D2A4E">
                  <a:alpha val="80000"/>
                </a:srgbClr>
              </a:solidFill>
              <a:ln>
                <a:noFill/>
              </a:ln>
            </p:spPr>
          </p:sp>
          <p:sp>
            <p:nvSpPr>
              <p:cNvPr id="1792" name="Google Shape;1792;h410af0035cb59894_0_360"/>
              <p:cNvSpPr txBox="1"/>
              <p:nvPr/>
            </p:nvSpPr>
            <p:spPr>
              <a:xfrm>
                <a:off x="0" y="-114300"/>
                <a:ext cx="2377800" cy="1904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793" name="Google Shape;1793;h410af0035cb59894_0_360"/>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8">
                <a:alphaModFix/>
              </a:blip>
              <a:stretch>
                <a:fillRect b="0" l="0" r="0" t="0"/>
              </a:stretch>
            </a:blipFill>
            <a:ln>
              <a:noFill/>
            </a:ln>
          </p:spPr>
        </p:sp>
        <p:sp>
          <p:nvSpPr>
            <p:cNvPr id="1794" name="Google Shape;1794;h410af0035cb59894_0_360"/>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9">
                <a:alphaModFix/>
              </a:blip>
              <a:stretch>
                <a:fillRect b="0" l="0" r="0" t="0"/>
              </a:stretch>
            </a:blipFill>
            <a:ln>
              <a:noFill/>
            </a:ln>
          </p:spPr>
        </p:sp>
        <p:sp>
          <p:nvSpPr>
            <p:cNvPr id="1795" name="Google Shape;1795;h410af0035cb59894_0_360"/>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10">
                <a:alphaModFix/>
              </a:blip>
              <a:stretch>
                <a:fillRect b="0" l="0" r="0" t="0"/>
              </a:stretch>
            </a:blipFill>
            <a:ln>
              <a:noFill/>
            </a:ln>
          </p:spPr>
        </p:sp>
        <p:sp>
          <p:nvSpPr>
            <p:cNvPr id="1796" name="Google Shape;1796;h410af0035cb59894_0_360"/>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1">
                <a:alphaModFix/>
              </a:blip>
              <a:stretch>
                <a:fillRect b="0" l="0" r="0" t="0"/>
              </a:stretch>
            </a:blipFill>
            <a:ln>
              <a:noFill/>
            </a:ln>
          </p:spPr>
        </p:sp>
        <p:sp>
          <p:nvSpPr>
            <p:cNvPr id="1797" name="Google Shape;1797;h410af0035cb59894_0_360"/>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1798" name="Google Shape;1798;h410af0035cb59894_0_360"/>
            <p:cNvSpPr txBox="1"/>
            <p:nvPr/>
          </p:nvSpPr>
          <p:spPr>
            <a:xfrm>
              <a:off x="2880538" y="89922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April 2026</a:t>
              </a:r>
              <a:endParaRPr sz="900"/>
            </a:p>
          </p:txBody>
        </p:sp>
        <p:sp>
          <p:nvSpPr>
            <p:cNvPr id="1799" name="Google Shape;1799;h410af0035cb59894_0_360"/>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19 Participants</a:t>
              </a:r>
              <a:endParaRPr sz="900"/>
            </a:p>
          </p:txBody>
        </p:sp>
        <p:sp>
          <p:nvSpPr>
            <p:cNvPr id="1800" name="Google Shape;1800;h410af0035cb59894_0_360"/>
            <p:cNvSpPr txBox="1"/>
            <p:nvPr/>
          </p:nvSpPr>
          <p:spPr>
            <a:xfrm>
              <a:off x="2880538" y="6495126"/>
              <a:ext cx="8566500" cy="15579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BNSP Training &amp; Certification and ISO Training</a:t>
              </a:r>
              <a:endParaRPr sz="900"/>
            </a:p>
          </p:txBody>
        </p:sp>
      </p:grpSp>
      <p:sp>
        <p:nvSpPr>
          <p:cNvPr id="1801" name="Google Shape;1801;h410af0035cb59894_0_360"/>
          <p:cNvSpPr/>
          <p:nvPr/>
        </p:nvSpPr>
        <p:spPr>
          <a:xfrm>
            <a:off x="10498193" y="390175"/>
            <a:ext cx="1217850" cy="1217850"/>
          </a:xfrm>
          <a:custGeom>
            <a:rect b="b" l="l" r="r" t="t"/>
            <a:pathLst>
              <a:path extrusionOk="0" h="1824495" w="1824495">
                <a:moveTo>
                  <a:pt x="0" y="0"/>
                </a:moveTo>
                <a:lnTo>
                  <a:pt x="1824495" y="0"/>
                </a:lnTo>
                <a:lnTo>
                  <a:pt x="1824495" y="1824495"/>
                </a:lnTo>
                <a:lnTo>
                  <a:pt x="0" y="1824495"/>
                </a:lnTo>
                <a:lnTo>
                  <a:pt x="0" y="0"/>
                </a:lnTo>
                <a:close/>
              </a:path>
            </a:pathLst>
          </a:custGeom>
          <a:blipFill rotWithShape="1">
            <a:blip r:embed="rId12">
              <a:alphaModFix/>
            </a:blip>
            <a:stretch>
              <a:fillRect b="0" l="0" r="0" t="0"/>
            </a:stretch>
          </a:blipFill>
          <a:ln>
            <a:noFill/>
          </a:ln>
        </p:spPr>
      </p:sp>
      <p:sp>
        <p:nvSpPr>
          <p:cNvPr id="1802" name="Google Shape;1802;h410af0035cb59894_0_360"/>
          <p:cNvSpPr txBox="1"/>
          <p:nvPr/>
        </p:nvSpPr>
        <p:spPr>
          <a:xfrm>
            <a:off x="511934" y="288575"/>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PT Riau Petroleum Rokan</a:t>
            </a:r>
            <a:endParaRPr sz="900"/>
          </a:p>
        </p:txBody>
      </p:sp>
      <p:sp>
        <p:nvSpPr>
          <p:cNvPr id="1803" name="Google Shape;1803;h410af0035cb59894_0_360"/>
          <p:cNvSpPr txBox="1"/>
          <p:nvPr/>
        </p:nvSpPr>
        <p:spPr>
          <a:xfrm>
            <a:off x="7419021" y="1564632"/>
            <a:ext cx="4415100" cy="31866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BNSP Public Relation</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BNSP Legal Audit</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BNSP Asset Management</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BNSP Internal Auditor</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ISO Risk Management</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ISO 14001 &amp; 26000</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ISO 30414</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ISO 19011</a:t>
            </a:r>
            <a:endParaRPr sz="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807" name="Shape 1807"/>
        <p:cNvGrpSpPr/>
        <p:nvPr/>
      </p:nvGrpSpPr>
      <p:grpSpPr>
        <a:xfrm>
          <a:off x="0" y="0"/>
          <a:ext cx="0" cy="0"/>
          <a:chOff x="0" y="0"/>
          <a:chExt cx="0" cy="0"/>
        </a:xfrm>
      </p:grpSpPr>
      <p:sp>
        <p:nvSpPr>
          <p:cNvPr id="1808" name="Google Shape;1808;h410af0035cb59894_0_390"/>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809" name="Google Shape;1809;h410af0035cb59894_0_390"/>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grpSp>
        <p:nvGrpSpPr>
          <p:cNvPr id="1810" name="Google Shape;1810;h410af0035cb59894_0_390"/>
          <p:cNvGrpSpPr/>
          <p:nvPr/>
        </p:nvGrpSpPr>
        <p:grpSpPr>
          <a:xfrm>
            <a:off x="0" y="0"/>
            <a:ext cx="6982586" cy="7015277"/>
            <a:chOff x="0" y="0"/>
            <a:chExt cx="13965173" cy="14030553"/>
          </a:xfrm>
        </p:grpSpPr>
        <p:sp>
          <p:nvSpPr>
            <p:cNvPr id="1811" name="Google Shape;1811;h410af0035cb59894_0_390"/>
            <p:cNvSpPr/>
            <p:nvPr/>
          </p:nvSpPr>
          <p:spPr>
            <a:xfrm>
              <a:off x="0" y="0"/>
              <a:ext cx="6981734" cy="4654490"/>
            </a:xfrm>
            <a:custGeom>
              <a:rect b="b" l="l" r="r" t="t"/>
              <a:pathLst>
                <a:path extrusionOk="0" h="4654490" w="6981734">
                  <a:moveTo>
                    <a:pt x="0" y="0"/>
                  </a:moveTo>
                  <a:lnTo>
                    <a:pt x="6981734" y="0"/>
                  </a:lnTo>
                  <a:lnTo>
                    <a:pt x="6981734" y="4654490"/>
                  </a:lnTo>
                  <a:lnTo>
                    <a:pt x="0" y="4654490"/>
                  </a:lnTo>
                  <a:lnTo>
                    <a:pt x="0" y="0"/>
                  </a:lnTo>
                  <a:close/>
                </a:path>
              </a:pathLst>
            </a:custGeom>
            <a:blipFill rotWithShape="1">
              <a:blip r:embed="rId4">
                <a:alphaModFix/>
              </a:blip>
              <a:stretch>
                <a:fillRect b="0" l="0" r="0" t="0"/>
              </a:stretch>
            </a:blipFill>
            <a:ln>
              <a:noFill/>
            </a:ln>
          </p:spPr>
        </p:sp>
        <p:sp>
          <p:nvSpPr>
            <p:cNvPr id="1812" name="Google Shape;1812;h410af0035cb59894_0_390"/>
            <p:cNvSpPr/>
            <p:nvPr/>
          </p:nvSpPr>
          <p:spPr>
            <a:xfrm>
              <a:off x="6981734" y="0"/>
              <a:ext cx="6983439" cy="4654490"/>
            </a:xfrm>
            <a:custGeom>
              <a:rect b="b" l="l" r="r" t="t"/>
              <a:pathLst>
                <a:path extrusionOk="0" h="4654490" w="6983439">
                  <a:moveTo>
                    <a:pt x="0" y="0"/>
                  </a:moveTo>
                  <a:lnTo>
                    <a:pt x="6983439" y="0"/>
                  </a:lnTo>
                  <a:lnTo>
                    <a:pt x="6983439" y="4654490"/>
                  </a:lnTo>
                  <a:lnTo>
                    <a:pt x="0" y="4654490"/>
                  </a:lnTo>
                  <a:lnTo>
                    <a:pt x="0" y="0"/>
                  </a:lnTo>
                  <a:close/>
                </a:path>
              </a:pathLst>
            </a:custGeom>
            <a:blipFill rotWithShape="1">
              <a:blip r:embed="rId5">
                <a:alphaModFix/>
              </a:blip>
              <a:stretch>
                <a:fillRect b="0" l="0" r="0" t="0"/>
              </a:stretch>
            </a:blipFill>
            <a:ln>
              <a:noFill/>
            </a:ln>
          </p:spPr>
        </p:sp>
        <p:sp>
          <p:nvSpPr>
            <p:cNvPr id="1813" name="Google Shape;1813;h410af0035cb59894_0_390"/>
            <p:cNvSpPr/>
            <p:nvPr/>
          </p:nvSpPr>
          <p:spPr>
            <a:xfrm>
              <a:off x="0" y="4654490"/>
              <a:ext cx="6981734" cy="4653353"/>
            </a:xfrm>
            <a:custGeom>
              <a:rect b="b" l="l" r="r" t="t"/>
              <a:pathLst>
                <a:path extrusionOk="0" h="4653353" w="6981734">
                  <a:moveTo>
                    <a:pt x="0" y="0"/>
                  </a:moveTo>
                  <a:lnTo>
                    <a:pt x="6981734" y="0"/>
                  </a:lnTo>
                  <a:lnTo>
                    <a:pt x="6981734" y="4653353"/>
                  </a:lnTo>
                  <a:lnTo>
                    <a:pt x="0" y="4653353"/>
                  </a:lnTo>
                  <a:lnTo>
                    <a:pt x="0" y="0"/>
                  </a:lnTo>
                  <a:close/>
                </a:path>
              </a:pathLst>
            </a:custGeom>
            <a:blipFill rotWithShape="1">
              <a:blip r:embed="rId6">
                <a:alphaModFix/>
              </a:blip>
              <a:stretch>
                <a:fillRect b="0" l="0" r="0" t="0"/>
              </a:stretch>
            </a:blipFill>
            <a:ln>
              <a:noFill/>
            </a:ln>
          </p:spPr>
        </p:sp>
        <p:sp>
          <p:nvSpPr>
            <p:cNvPr id="1814" name="Google Shape;1814;h410af0035cb59894_0_390"/>
            <p:cNvSpPr/>
            <p:nvPr/>
          </p:nvSpPr>
          <p:spPr>
            <a:xfrm>
              <a:off x="6981734" y="4654490"/>
              <a:ext cx="6981734" cy="4653353"/>
            </a:xfrm>
            <a:custGeom>
              <a:rect b="b" l="l" r="r" t="t"/>
              <a:pathLst>
                <a:path extrusionOk="0" h="4653353" w="6981734">
                  <a:moveTo>
                    <a:pt x="0" y="0"/>
                  </a:moveTo>
                  <a:lnTo>
                    <a:pt x="6981735" y="0"/>
                  </a:lnTo>
                  <a:lnTo>
                    <a:pt x="6981735" y="4653353"/>
                  </a:lnTo>
                  <a:lnTo>
                    <a:pt x="0" y="4653353"/>
                  </a:lnTo>
                  <a:lnTo>
                    <a:pt x="0" y="0"/>
                  </a:lnTo>
                  <a:close/>
                </a:path>
              </a:pathLst>
            </a:custGeom>
            <a:blipFill rotWithShape="1">
              <a:blip r:embed="rId7">
                <a:alphaModFix/>
              </a:blip>
              <a:stretch>
                <a:fillRect b="0" l="0" r="0" t="0"/>
              </a:stretch>
            </a:blipFill>
            <a:ln>
              <a:noFill/>
            </a:ln>
          </p:spPr>
        </p:sp>
        <p:sp>
          <p:nvSpPr>
            <p:cNvPr id="1815" name="Google Shape;1815;h410af0035cb59894_0_390"/>
            <p:cNvSpPr/>
            <p:nvPr/>
          </p:nvSpPr>
          <p:spPr>
            <a:xfrm>
              <a:off x="6981734" y="9307843"/>
              <a:ext cx="6981734" cy="4653353"/>
            </a:xfrm>
            <a:custGeom>
              <a:rect b="b" l="l" r="r" t="t"/>
              <a:pathLst>
                <a:path extrusionOk="0" h="4653353" w="6981734">
                  <a:moveTo>
                    <a:pt x="0" y="0"/>
                  </a:moveTo>
                  <a:lnTo>
                    <a:pt x="6981735" y="0"/>
                  </a:lnTo>
                  <a:lnTo>
                    <a:pt x="6981735" y="4653353"/>
                  </a:lnTo>
                  <a:lnTo>
                    <a:pt x="0" y="4653353"/>
                  </a:lnTo>
                  <a:lnTo>
                    <a:pt x="0" y="0"/>
                  </a:lnTo>
                  <a:close/>
                </a:path>
              </a:pathLst>
            </a:custGeom>
            <a:blipFill rotWithShape="1">
              <a:blip r:embed="rId8">
                <a:alphaModFix/>
              </a:blip>
              <a:stretch>
                <a:fillRect b="0" l="0" r="0" t="0"/>
              </a:stretch>
            </a:blipFill>
            <a:ln>
              <a:noFill/>
            </a:ln>
          </p:spPr>
        </p:sp>
        <p:sp>
          <p:nvSpPr>
            <p:cNvPr id="1816" name="Google Shape;1816;h410af0035cb59894_0_390"/>
            <p:cNvSpPr/>
            <p:nvPr/>
          </p:nvSpPr>
          <p:spPr>
            <a:xfrm>
              <a:off x="0" y="9307843"/>
              <a:ext cx="7085795" cy="4722710"/>
            </a:xfrm>
            <a:custGeom>
              <a:rect b="b" l="l" r="r" t="t"/>
              <a:pathLst>
                <a:path extrusionOk="0" h="4722710" w="7085795">
                  <a:moveTo>
                    <a:pt x="0" y="0"/>
                  </a:moveTo>
                  <a:lnTo>
                    <a:pt x="7085795" y="0"/>
                  </a:lnTo>
                  <a:lnTo>
                    <a:pt x="7085795" y="4722710"/>
                  </a:lnTo>
                  <a:lnTo>
                    <a:pt x="0" y="4722710"/>
                  </a:lnTo>
                  <a:lnTo>
                    <a:pt x="0" y="0"/>
                  </a:lnTo>
                  <a:close/>
                </a:path>
              </a:pathLst>
            </a:custGeom>
            <a:blipFill rotWithShape="1">
              <a:blip r:embed="rId9">
                <a:alphaModFix/>
              </a:blip>
              <a:stretch>
                <a:fillRect b="0" l="0" r="0" t="0"/>
              </a:stretch>
            </a:blipFill>
            <a:ln>
              <a:noFill/>
            </a:ln>
          </p:spPr>
        </p:sp>
      </p:grpSp>
      <p:grpSp>
        <p:nvGrpSpPr>
          <p:cNvPr id="1817" name="Google Shape;1817;h410af0035cb59894_0_390"/>
          <p:cNvGrpSpPr/>
          <p:nvPr/>
        </p:nvGrpSpPr>
        <p:grpSpPr>
          <a:xfrm>
            <a:off x="-212618" y="-24110"/>
            <a:ext cx="7194783" cy="6980108"/>
            <a:chOff x="0" y="-9525"/>
            <a:chExt cx="2842552" cy="2757628"/>
          </a:xfrm>
        </p:grpSpPr>
        <p:sp>
          <p:nvSpPr>
            <p:cNvPr id="1818" name="Google Shape;1818;h410af0035cb59894_0_390"/>
            <p:cNvSpPr/>
            <p:nvPr/>
          </p:nvSpPr>
          <p:spPr>
            <a:xfrm>
              <a:off x="0" y="0"/>
              <a:ext cx="2842552" cy="2748103"/>
            </a:xfrm>
            <a:custGeom>
              <a:rect b="b" l="l" r="r" t="t"/>
              <a:pathLst>
                <a:path extrusionOk="0" h="2748103" w="2842552">
                  <a:moveTo>
                    <a:pt x="0" y="0"/>
                  </a:moveTo>
                  <a:lnTo>
                    <a:pt x="2842552" y="0"/>
                  </a:lnTo>
                  <a:lnTo>
                    <a:pt x="2842552" y="2748103"/>
                  </a:lnTo>
                  <a:lnTo>
                    <a:pt x="0" y="2748103"/>
                  </a:lnTo>
                  <a:close/>
                </a:path>
              </a:pathLst>
            </a:custGeom>
            <a:solidFill>
              <a:srgbClr val="000000">
                <a:alpha val="40000"/>
              </a:srgbClr>
            </a:solidFill>
            <a:ln>
              <a:noFill/>
            </a:ln>
          </p:spPr>
        </p:sp>
        <p:sp>
          <p:nvSpPr>
            <p:cNvPr id="1819" name="Google Shape;1819;h410af0035cb59894_0_390"/>
            <p:cNvSpPr txBox="1"/>
            <p:nvPr/>
          </p:nvSpPr>
          <p:spPr>
            <a:xfrm>
              <a:off x="0" y="-9525"/>
              <a:ext cx="28425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820" name="Google Shape;1820;h410af0035cb59894_0_390"/>
          <p:cNvGrpSpPr/>
          <p:nvPr/>
        </p:nvGrpSpPr>
        <p:grpSpPr>
          <a:xfrm>
            <a:off x="343156" y="1366029"/>
            <a:ext cx="6018806" cy="4821272"/>
            <a:chOff x="0" y="-578644"/>
            <a:chExt cx="12037613" cy="9642544"/>
          </a:xfrm>
        </p:grpSpPr>
        <p:grpSp>
          <p:nvGrpSpPr>
            <p:cNvPr id="1821" name="Google Shape;1821;h410af0035cb59894_0_390"/>
            <p:cNvGrpSpPr/>
            <p:nvPr/>
          </p:nvGrpSpPr>
          <p:grpSpPr>
            <a:xfrm>
              <a:off x="0" y="-578644"/>
              <a:ext cx="12037613" cy="9642544"/>
              <a:chOff x="0" y="-114300"/>
              <a:chExt cx="2377800" cy="1904700"/>
            </a:xfrm>
          </p:grpSpPr>
          <p:sp>
            <p:nvSpPr>
              <p:cNvPr id="1822" name="Google Shape;1822;h410af0035cb59894_0_390"/>
              <p:cNvSpPr/>
              <p:nvPr/>
            </p:nvSpPr>
            <p:spPr>
              <a:xfrm>
                <a:off x="0" y="0"/>
                <a:ext cx="2377741" cy="1790398"/>
              </a:xfrm>
              <a:custGeom>
                <a:rect b="b" l="l" r="r" t="t"/>
                <a:pathLst>
                  <a:path extrusionOk="0" h="1790398" w="2377741">
                    <a:moveTo>
                      <a:pt x="0" y="0"/>
                    </a:moveTo>
                    <a:lnTo>
                      <a:pt x="2377741" y="0"/>
                    </a:lnTo>
                    <a:lnTo>
                      <a:pt x="2377741" y="1790398"/>
                    </a:lnTo>
                    <a:lnTo>
                      <a:pt x="0" y="1790398"/>
                    </a:lnTo>
                    <a:close/>
                  </a:path>
                </a:pathLst>
              </a:custGeom>
              <a:solidFill>
                <a:srgbClr val="0D2A4E">
                  <a:alpha val="80000"/>
                </a:srgbClr>
              </a:solidFill>
              <a:ln>
                <a:noFill/>
              </a:ln>
            </p:spPr>
          </p:sp>
          <p:sp>
            <p:nvSpPr>
              <p:cNvPr id="1823" name="Google Shape;1823;h410af0035cb59894_0_390"/>
              <p:cNvSpPr txBox="1"/>
              <p:nvPr/>
            </p:nvSpPr>
            <p:spPr>
              <a:xfrm>
                <a:off x="0" y="-114300"/>
                <a:ext cx="2377800" cy="19047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24" name="Google Shape;1824;h410af0035cb59894_0_390"/>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10">
                <a:alphaModFix/>
              </a:blip>
              <a:stretch>
                <a:fillRect b="0" l="0" r="0" t="0"/>
              </a:stretch>
            </a:blipFill>
            <a:ln>
              <a:noFill/>
            </a:ln>
          </p:spPr>
        </p:sp>
        <p:sp>
          <p:nvSpPr>
            <p:cNvPr id="1825" name="Google Shape;1825;h410af0035cb59894_0_390"/>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11">
                <a:alphaModFix/>
              </a:blip>
              <a:stretch>
                <a:fillRect b="0" l="0" r="0" t="0"/>
              </a:stretch>
            </a:blipFill>
            <a:ln>
              <a:noFill/>
            </a:ln>
          </p:spPr>
        </p:sp>
        <p:sp>
          <p:nvSpPr>
            <p:cNvPr id="1826" name="Google Shape;1826;h410af0035cb59894_0_390"/>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12">
                <a:alphaModFix/>
              </a:blip>
              <a:stretch>
                <a:fillRect b="0" l="0" r="0" t="0"/>
              </a:stretch>
            </a:blipFill>
            <a:ln>
              <a:noFill/>
            </a:ln>
          </p:spPr>
        </p:sp>
        <p:sp>
          <p:nvSpPr>
            <p:cNvPr id="1827" name="Google Shape;1827;h410af0035cb59894_0_390"/>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3">
                <a:alphaModFix/>
              </a:blip>
              <a:stretch>
                <a:fillRect b="0" l="0" r="0" t="0"/>
              </a:stretch>
            </a:blipFill>
            <a:ln>
              <a:noFill/>
            </a:ln>
          </p:spPr>
        </p:sp>
        <p:sp>
          <p:nvSpPr>
            <p:cNvPr id="1828" name="Google Shape;1828;h410af0035cb59894_0_390"/>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1829" name="Google Shape;1829;h410af0035cb59894_0_390"/>
            <p:cNvSpPr txBox="1"/>
            <p:nvPr/>
          </p:nvSpPr>
          <p:spPr>
            <a:xfrm>
              <a:off x="2880538" y="89922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April 2026</a:t>
              </a:r>
              <a:endParaRPr sz="900"/>
            </a:p>
          </p:txBody>
        </p:sp>
        <p:sp>
          <p:nvSpPr>
            <p:cNvPr id="1830" name="Google Shape;1830;h410af0035cb59894_0_390"/>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30 Participants</a:t>
              </a:r>
              <a:endParaRPr sz="900"/>
            </a:p>
          </p:txBody>
        </p:sp>
        <p:sp>
          <p:nvSpPr>
            <p:cNvPr id="1831" name="Google Shape;1831;h410af0035cb59894_0_390"/>
            <p:cNvSpPr txBox="1"/>
            <p:nvPr/>
          </p:nvSpPr>
          <p:spPr>
            <a:xfrm>
              <a:off x="2880538" y="6495126"/>
              <a:ext cx="8566500" cy="15579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Integrated Oil &amp; Gas Business Management Training</a:t>
              </a:r>
              <a:endParaRPr sz="900"/>
            </a:p>
          </p:txBody>
        </p:sp>
      </p:grpSp>
      <p:sp>
        <p:nvSpPr>
          <p:cNvPr id="1832" name="Google Shape;1832;h410af0035cb59894_0_390"/>
          <p:cNvSpPr txBox="1"/>
          <p:nvPr/>
        </p:nvSpPr>
        <p:spPr>
          <a:xfrm>
            <a:off x="299316" y="131488"/>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PT Riau Petroleum Rokan</a:t>
            </a:r>
            <a:endParaRPr sz="900"/>
          </a:p>
        </p:txBody>
      </p:sp>
      <p:sp>
        <p:nvSpPr>
          <p:cNvPr id="1833" name="Google Shape;1833;h410af0035cb59894_0_390"/>
          <p:cNvSpPr txBox="1"/>
          <p:nvPr/>
        </p:nvSpPr>
        <p:spPr>
          <a:xfrm>
            <a:off x="7419021" y="2402377"/>
            <a:ext cx="4415100" cy="24939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Modul 1: </a:t>
            </a:r>
            <a:r>
              <a:rPr b="0" i="0" lang="en-US" sz="1500" u="none" cap="none" strike="noStrike">
                <a:solidFill>
                  <a:srgbClr val="FFFFFF"/>
                </a:solidFill>
                <a:latin typeface="Arial"/>
                <a:ea typeface="Arial"/>
                <a:cs typeface="Arial"/>
                <a:sym typeface="Arial"/>
              </a:rPr>
              <a:t>Oil &amp; Gas Industry Fundamentals and Regulatory Overview</a:t>
            </a:r>
            <a:endParaRPr sz="900"/>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Modul 2: </a:t>
            </a:r>
            <a:r>
              <a:rPr b="0" i="0" lang="en-US" sz="1500" u="none" cap="none" strike="noStrike">
                <a:solidFill>
                  <a:srgbClr val="FFFFFF"/>
                </a:solidFill>
                <a:latin typeface="Arial"/>
                <a:ea typeface="Arial"/>
                <a:cs typeface="Arial"/>
                <a:sym typeface="Arial"/>
              </a:rPr>
              <a:t>Upstream Operations &amp; Production Management</a:t>
            </a:r>
            <a:endParaRPr sz="900"/>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Modul 3: </a:t>
            </a:r>
            <a:r>
              <a:rPr b="0" i="0" lang="en-US" sz="1500" u="none" cap="none" strike="noStrike">
                <a:solidFill>
                  <a:srgbClr val="FFFFFF"/>
                </a:solidFill>
                <a:latin typeface="Arial"/>
                <a:ea typeface="Arial"/>
                <a:cs typeface="Arial"/>
                <a:sym typeface="Arial"/>
              </a:rPr>
              <a:t>Tax Management and Fiscal Compliance in Oil &amp; Gas Operations</a:t>
            </a:r>
            <a:endParaRPr sz="900"/>
          </a:p>
        </p:txBody>
      </p:sp>
      <p:sp>
        <p:nvSpPr>
          <p:cNvPr id="1834" name="Google Shape;1834;h410af0035cb59894_0_390"/>
          <p:cNvSpPr/>
          <p:nvPr/>
        </p:nvSpPr>
        <p:spPr>
          <a:xfrm>
            <a:off x="10498193" y="390175"/>
            <a:ext cx="1217850" cy="1217850"/>
          </a:xfrm>
          <a:custGeom>
            <a:rect b="b" l="l" r="r" t="t"/>
            <a:pathLst>
              <a:path extrusionOk="0" h="1824495" w="1824495">
                <a:moveTo>
                  <a:pt x="0" y="0"/>
                </a:moveTo>
                <a:lnTo>
                  <a:pt x="1824495" y="0"/>
                </a:lnTo>
                <a:lnTo>
                  <a:pt x="1824495" y="1824495"/>
                </a:lnTo>
                <a:lnTo>
                  <a:pt x="0" y="1824495"/>
                </a:lnTo>
                <a:lnTo>
                  <a:pt x="0" y="0"/>
                </a:lnTo>
                <a:close/>
              </a:path>
            </a:pathLst>
          </a:custGeom>
          <a:blipFill rotWithShape="1">
            <a:blip r:embed="rId14">
              <a:alphaModFix/>
            </a:blip>
            <a:stretch>
              <a:fillRect b="0" l="0" r="0" t="0"/>
            </a:stretch>
          </a:blipFill>
          <a:ln>
            <a:noFill/>
          </a:ln>
        </p:spPr>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838" name="Shape 1838"/>
        <p:cNvGrpSpPr/>
        <p:nvPr/>
      </p:nvGrpSpPr>
      <p:grpSpPr>
        <a:xfrm>
          <a:off x="0" y="0"/>
          <a:ext cx="0" cy="0"/>
          <a:chOff x="0" y="0"/>
          <a:chExt cx="0" cy="0"/>
        </a:xfrm>
      </p:grpSpPr>
      <p:sp>
        <p:nvSpPr>
          <p:cNvPr id="1839" name="Google Shape;1839;h410af0035cb59894_0_420"/>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840" name="Google Shape;1840;h410af0035cb59894_0_420"/>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841" name="Google Shape;1841;h410af0035cb59894_0_420"/>
          <p:cNvSpPr txBox="1"/>
          <p:nvPr/>
        </p:nvSpPr>
        <p:spPr>
          <a:xfrm>
            <a:off x="7246361" y="2463864"/>
            <a:ext cx="4415100" cy="28401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Module 1: Overview of the Oil &amp; Gas Industry and Business Cycle</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Module 2: Oil &amp; Gas Project Cost Structure and Cost Recovery</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Module 3: Accounting and Financial Reporting</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Module 4: Strategic Financial Planning</a:t>
            </a:r>
            <a:endParaRPr sz="900"/>
          </a:p>
          <a:p>
            <a:pPr indent="-158750" lvl="1" marL="317500" marR="0" rtl="0" algn="just">
              <a:lnSpc>
                <a:spcPct val="150022"/>
              </a:lnSpc>
              <a:spcBef>
                <a:spcPts val="0"/>
              </a:spcBef>
              <a:spcAft>
                <a:spcPts val="0"/>
              </a:spcAft>
              <a:buClr>
                <a:srgbClr val="FFFFFF"/>
              </a:buClr>
              <a:buSzPts val="1500"/>
              <a:buFont typeface="Arial"/>
              <a:buChar char="•"/>
            </a:pPr>
            <a:r>
              <a:rPr b="0" i="0" lang="en-US" sz="1500" u="none" cap="none" strike="noStrike">
                <a:solidFill>
                  <a:srgbClr val="FFFFFF"/>
                </a:solidFill>
                <a:latin typeface="Arial"/>
                <a:ea typeface="Arial"/>
                <a:cs typeface="Arial"/>
                <a:sym typeface="Arial"/>
              </a:rPr>
              <a:t>Module 5: Efficiency and Compliance Strategies</a:t>
            </a:r>
            <a:endParaRPr sz="900"/>
          </a:p>
        </p:txBody>
      </p:sp>
      <p:grpSp>
        <p:nvGrpSpPr>
          <p:cNvPr id="1842" name="Google Shape;1842;h410af0035cb59894_0_420"/>
          <p:cNvGrpSpPr/>
          <p:nvPr/>
        </p:nvGrpSpPr>
        <p:grpSpPr>
          <a:xfrm>
            <a:off x="0" y="0"/>
            <a:ext cx="7020674" cy="7488577"/>
            <a:chOff x="0" y="0"/>
            <a:chExt cx="14041348" cy="14977153"/>
          </a:xfrm>
        </p:grpSpPr>
        <p:sp>
          <p:nvSpPr>
            <p:cNvPr id="1843" name="Google Shape;1843;h410af0035cb59894_0_420"/>
            <p:cNvSpPr/>
            <p:nvPr/>
          </p:nvSpPr>
          <p:spPr>
            <a:xfrm>
              <a:off x="0" y="0"/>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4">
                <a:alphaModFix/>
              </a:blip>
              <a:stretch>
                <a:fillRect b="0" l="0" r="0" t="0"/>
              </a:stretch>
            </a:blipFill>
            <a:ln>
              <a:noFill/>
            </a:ln>
          </p:spPr>
        </p:sp>
        <p:sp>
          <p:nvSpPr>
            <p:cNvPr id="1844" name="Google Shape;1844;h410af0035cb59894_0_420"/>
            <p:cNvSpPr/>
            <p:nvPr/>
          </p:nvSpPr>
          <p:spPr>
            <a:xfrm>
              <a:off x="7020674" y="0"/>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5">
                <a:alphaModFix/>
              </a:blip>
              <a:stretch>
                <a:fillRect b="0" l="0" r="0" t="0"/>
              </a:stretch>
            </a:blipFill>
            <a:ln>
              <a:noFill/>
            </a:ln>
          </p:spPr>
        </p:sp>
        <p:sp>
          <p:nvSpPr>
            <p:cNvPr id="1845" name="Google Shape;1845;h410af0035cb59894_0_420"/>
            <p:cNvSpPr/>
            <p:nvPr/>
          </p:nvSpPr>
          <p:spPr>
            <a:xfrm>
              <a:off x="0" y="5265506"/>
              <a:ext cx="7020674" cy="5265506"/>
            </a:xfrm>
            <a:custGeom>
              <a:rect b="b" l="l" r="r" t="t"/>
              <a:pathLst>
                <a:path extrusionOk="0" h="5265506" w="7020674">
                  <a:moveTo>
                    <a:pt x="0" y="0"/>
                  </a:moveTo>
                  <a:lnTo>
                    <a:pt x="7020674" y="0"/>
                  </a:lnTo>
                  <a:lnTo>
                    <a:pt x="7020674" y="5265505"/>
                  </a:lnTo>
                  <a:lnTo>
                    <a:pt x="0" y="5265505"/>
                  </a:lnTo>
                  <a:lnTo>
                    <a:pt x="0" y="0"/>
                  </a:lnTo>
                  <a:close/>
                </a:path>
              </a:pathLst>
            </a:custGeom>
            <a:blipFill rotWithShape="1">
              <a:blip r:embed="rId6">
                <a:alphaModFix/>
              </a:blip>
              <a:stretch>
                <a:fillRect b="0" l="0" r="0" t="0"/>
              </a:stretch>
            </a:blipFill>
            <a:ln>
              <a:noFill/>
            </a:ln>
          </p:spPr>
        </p:sp>
        <p:sp>
          <p:nvSpPr>
            <p:cNvPr id="1846" name="Google Shape;1846;h410af0035cb59894_0_420"/>
            <p:cNvSpPr/>
            <p:nvPr/>
          </p:nvSpPr>
          <p:spPr>
            <a:xfrm>
              <a:off x="7020674" y="5265506"/>
              <a:ext cx="7020674" cy="5265506"/>
            </a:xfrm>
            <a:custGeom>
              <a:rect b="b" l="l" r="r" t="t"/>
              <a:pathLst>
                <a:path extrusionOk="0" h="5265506" w="7020674">
                  <a:moveTo>
                    <a:pt x="0" y="0"/>
                  </a:moveTo>
                  <a:lnTo>
                    <a:pt x="7020674" y="0"/>
                  </a:lnTo>
                  <a:lnTo>
                    <a:pt x="7020674" y="5265505"/>
                  </a:lnTo>
                  <a:lnTo>
                    <a:pt x="0" y="5265505"/>
                  </a:lnTo>
                  <a:lnTo>
                    <a:pt x="0" y="0"/>
                  </a:lnTo>
                  <a:close/>
                </a:path>
              </a:pathLst>
            </a:custGeom>
            <a:blipFill rotWithShape="1">
              <a:blip r:embed="rId7">
                <a:alphaModFix/>
              </a:blip>
              <a:stretch>
                <a:fillRect b="0" l="0" r="0" t="0"/>
              </a:stretch>
            </a:blipFill>
            <a:ln>
              <a:noFill/>
            </a:ln>
          </p:spPr>
        </p:sp>
        <p:sp>
          <p:nvSpPr>
            <p:cNvPr id="1847" name="Google Shape;1847;h410af0035cb59894_0_420"/>
            <p:cNvSpPr/>
            <p:nvPr/>
          </p:nvSpPr>
          <p:spPr>
            <a:xfrm>
              <a:off x="0" y="9711647"/>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5">
                <a:alphaModFix/>
              </a:blip>
              <a:stretch>
                <a:fillRect b="0" l="0" r="0" t="0"/>
              </a:stretch>
            </a:blipFill>
            <a:ln>
              <a:noFill/>
            </a:ln>
          </p:spPr>
        </p:sp>
        <p:sp>
          <p:nvSpPr>
            <p:cNvPr id="1848" name="Google Shape;1848;h410af0035cb59894_0_420"/>
            <p:cNvSpPr/>
            <p:nvPr/>
          </p:nvSpPr>
          <p:spPr>
            <a:xfrm>
              <a:off x="7020674" y="9711647"/>
              <a:ext cx="7020674" cy="5265506"/>
            </a:xfrm>
            <a:custGeom>
              <a:rect b="b" l="l" r="r" t="t"/>
              <a:pathLst>
                <a:path extrusionOk="0" h="5265506" w="7020674">
                  <a:moveTo>
                    <a:pt x="0" y="0"/>
                  </a:moveTo>
                  <a:lnTo>
                    <a:pt x="7020674" y="0"/>
                  </a:lnTo>
                  <a:lnTo>
                    <a:pt x="7020674" y="5265506"/>
                  </a:lnTo>
                  <a:lnTo>
                    <a:pt x="0" y="5265506"/>
                  </a:lnTo>
                  <a:lnTo>
                    <a:pt x="0" y="0"/>
                  </a:lnTo>
                  <a:close/>
                </a:path>
              </a:pathLst>
            </a:custGeom>
            <a:blipFill rotWithShape="1">
              <a:blip r:embed="rId5">
                <a:alphaModFix/>
              </a:blip>
              <a:stretch>
                <a:fillRect b="0" l="0" r="0" t="0"/>
              </a:stretch>
            </a:blipFill>
            <a:ln>
              <a:noFill/>
            </a:ln>
          </p:spPr>
        </p:sp>
      </p:grpSp>
      <p:grpSp>
        <p:nvGrpSpPr>
          <p:cNvPr id="1849" name="Google Shape;1849;h410af0035cb59894_0_420"/>
          <p:cNvGrpSpPr/>
          <p:nvPr/>
        </p:nvGrpSpPr>
        <p:grpSpPr>
          <a:xfrm>
            <a:off x="0" y="234887"/>
            <a:ext cx="7020259" cy="6882080"/>
            <a:chOff x="0" y="-9525"/>
            <a:chExt cx="2773600" cy="2718900"/>
          </a:xfrm>
        </p:grpSpPr>
        <p:sp>
          <p:nvSpPr>
            <p:cNvPr id="1850" name="Google Shape;1850;h410af0035cb59894_0_420"/>
            <p:cNvSpPr/>
            <p:nvPr/>
          </p:nvSpPr>
          <p:spPr>
            <a:xfrm>
              <a:off x="0" y="0"/>
              <a:ext cx="2773600" cy="2709333"/>
            </a:xfrm>
            <a:custGeom>
              <a:rect b="b" l="l" r="r" t="t"/>
              <a:pathLst>
                <a:path extrusionOk="0" h="2709333" w="2773600">
                  <a:moveTo>
                    <a:pt x="0" y="0"/>
                  </a:moveTo>
                  <a:lnTo>
                    <a:pt x="2773600" y="0"/>
                  </a:lnTo>
                  <a:lnTo>
                    <a:pt x="2773600" y="2709333"/>
                  </a:lnTo>
                  <a:lnTo>
                    <a:pt x="0" y="2709333"/>
                  </a:lnTo>
                  <a:close/>
                </a:path>
              </a:pathLst>
            </a:custGeom>
            <a:solidFill>
              <a:srgbClr val="000000">
                <a:alpha val="40000"/>
              </a:srgbClr>
            </a:solidFill>
            <a:ln>
              <a:noFill/>
            </a:ln>
          </p:spPr>
        </p:sp>
        <p:sp>
          <p:nvSpPr>
            <p:cNvPr id="1851" name="Google Shape;1851;h410af0035cb59894_0_420"/>
            <p:cNvSpPr txBox="1"/>
            <p:nvPr/>
          </p:nvSpPr>
          <p:spPr>
            <a:xfrm>
              <a:off x="0" y="-9525"/>
              <a:ext cx="2773500" cy="27189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852" name="Google Shape;1852;h410af0035cb59894_0_420"/>
          <p:cNvGrpSpPr/>
          <p:nvPr/>
        </p:nvGrpSpPr>
        <p:grpSpPr>
          <a:xfrm>
            <a:off x="588260" y="1662535"/>
            <a:ext cx="6018806" cy="4987575"/>
            <a:chOff x="0" y="-578644"/>
            <a:chExt cx="12037613" cy="9975150"/>
          </a:xfrm>
        </p:grpSpPr>
        <p:grpSp>
          <p:nvGrpSpPr>
            <p:cNvPr id="1853" name="Google Shape;1853;h410af0035cb59894_0_420"/>
            <p:cNvGrpSpPr/>
            <p:nvPr/>
          </p:nvGrpSpPr>
          <p:grpSpPr>
            <a:xfrm>
              <a:off x="0" y="-578644"/>
              <a:ext cx="12037613" cy="9975150"/>
              <a:chOff x="0" y="-114300"/>
              <a:chExt cx="2377800" cy="1970400"/>
            </a:xfrm>
          </p:grpSpPr>
          <p:sp>
            <p:nvSpPr>
              <p:cNvPr id="1854" name="Google Shape;1854;h410af0035cb59894_0_420"/>
              <p:cNvSpPr/>
              <p:nvPr/>
            </p:nvSpPr>
            <p:spPr>
              <a:xfrm>
                <a:off x="0" y="0"/>
                <a:ext cx="2377741" cy="1855967"/>
              </a:xfrm>
              <a:custGeom>
                <a:rect b="b" l="l" r="r" t="t"/>
                <a:pathLst>
                  <a:path extrusionOk="0" h="1855967" w="2377741">
                    <a:moveTo>
                      <a:pt x="0" y="0"/>
                    </a:moveTo>
                    <a:lnTo>
                      <a:pt x="2377741" y="0"/>
                    </a:lnTo>
                    <a:lnTo>
                      <a:pt x="2377741" y="1855967"/>
                    </a:lnTo>
                    <a:lnTo>
                      <a:pt x="0" y="1855967"/>
                    </a:lnTo>
                    <a:close/>
                  </a:path>
                </a:pathLst>
              </a:custGeom>
              <a:solidFill>
                <a:srgbClr val="0D2A4E">
                  <a:alpha val="80000"/>
                </a:srgbClr>
              </a:solidFill>
              <a:ln>
                <a:noFill/>
              </a:ln>
            </p:spPr>
          </p:sp>
          <p:sp>
            <p:nvSpPr>
              <p:cNvPr id="1855" name="Google Shape;1855;h410af0035cb59894_0_420"/>
              <p:cNvSpPr txBox="1"/>
              <p:nvPr/>
            </p:nvSpPr>
            <p:spPr>
              <a:xfrm>
                <a:off x="0" y="-114300"/>
                <a:ext cx="2377800" cy="19704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56" name="Google Shape;1856;h410af0035cb59894_0_420"/>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8">
                <a:alphaModFix/>
              </a:blip>
              <a:stretch>
                <a:fillRect b="0" l="0" r="0" t="0"/>
              </a:stretch>
            </a:blipFill>
            <a:ln>
              <a:noFill/>
            </a:ln>
          </p:spPr>
        </p:sp>
        <p:sp>
          <p:nvSpPr>
            <p:cNvPr id="1857" name="Google Shape;1857;h410af0035cb59894_0_420"/>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9">
                <a:alphaModFix/>
              </a:blip>
              <a:stretch>
                <a:fillRect b="0" l="0" r="0" t="0"/>
              </a:stretch>
            </a:blipFill>
            <a:ln>
              <a:noFill/>
            </a:ln>
          </p:spPr>
        </p:sp>
        <p:sp>
          <p:nvSpPr>
            <p:cNvPr id="1858" name="Google Shape;1858;h410af0035cb59894_0_420"/>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10">
                <a:alphaModFix/>
              </a:blip>
              <a:stretch>
                <a:fillRect b="0" l="0" r="0" t="0"/>
              </a:stretch>
            </a:blipFill>
            <a:ln>
              <a:noFill/>
            </a:ln>
          </p:spPr>
        </p:sp>
        <p:sp>
          <p:nvSpPr>
            <p:cNvPr id="1859" name="Google Shape;1859;h410af0035cb59894_0_420"/>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1">
                <a:alphaModFix/>
              </a:blip>
              <a:stretch>
                <a:fillRect b="0" l="0" r="0" t="0"/>
              </a:stretch>
            </a:blipFill>
            <a:ln>
              <a:noFill/>
            </a:ln>
          </p:spPr>
        </p:sp>
        <p:sp>
          <p:nvSpPr>
            <p:cNvPr id="1860" name="Google Shape;1860;h410af0035cb59894_0_420"/>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1861" name="Google Shape;1861;h410af0035cb59894_0_420"/>
            <p:cNvSpPr txBox="1"/>
            <p:nvPr/>
          </p:nvSpPr>
          <p:spPr>
            <a:xfrm>
              <a:off x="2880538" y="89922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November 2025</a:t>
              </a:r>
              <a:endParaRPr sz="900"/>
            </a:p>
          </p:txBody>
        </p:sp>
        <p:sp>
          <p:nvSpPr>
            <p:cNvPr id="1862" name="Google Shape;1862;h410af0035cb59894_0_420"/>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8 Participants</a:t>
              </a:r>
              <a:endParaRPr sz="900"/>
            </a:p>
          </p:txBody>
        </p:sp>
        <p:sp>
          <p:nvSpPr>
            <p:cNvPr id="1863" name="Google Shape;1863;h410af0035cb59894_0_420"/>
            <p:cNvSpPr txBox="1"/>
            <p:nvPr/>
          </p:nvSpPr>
          <p:spPr>
            <a:xfrm>
              <a:off x="2880538" y="6604979"/>
              <a:ext cx="8566500" cy="24075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Oil &amp; Gas Industry Fundamentals and Fiscal Compliance</a:t>
              </a:r>
              <a:endParaRPr sz="900"/>
            </a:p>
          </p:txBody>
        </p:sp>
      </p:grpSp>
      <p:sp>
        <p:nvSpPr>
          <p:cNvPr id="1864" name="Google Shape;1864;h410af0035cb59894_0_420"/>
          <p:cNvSpPr txBox="1"/>
          <p:nvPr/>
        </p:nvSpPr>
        <p:spPr>
          <a:xfrm>
            <a:off x="511934" y="288575"/>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PT Riau Petroleum Rokan</a:t>
            </a:r>
            <a:endParaRPr sz="900"/>
          </a:p>
        </p:txBody>
      </p:sp>
      <p:sp>
        <p:nvSpPr>
          <p:cNvPr id="1865" name="Google Shape;1865;h410af0035cb59894_0_420"/>
          <p:cNvSpPr/>
          <p:nvPr/>
        </p:nvSpPr>
        <p:spPr>
          <a:xfrm>
            <a:off x="10498193" y="390175"/>
            <a:ext cx="1217850" cy="1217850"/>
          </a:xfrm>
          <a:custGeom>
            <a:rect b="b" l="l" r="r" t="t"/>
            <a:pathLst>
              <a:path extrusionOk="0" h="1824495" w="1824495">
                <a:moveTo>
                  <a:pt x="0" y="0"/>
                </a:moveTo>
                <a:lnTo>
                  <a:pt x="1824495" y="0"/>
                </a:lnTo>
                <a:lnTo>
                  <a:pt x="1824495" y="1824495"/>
                </a:lnTo>
                <a:lnTo>
                  <a:pt x="0" y="1824495"/>
                </a:lnTo>
                <a:lnTo>
                  <a:pt x="0" y="0"/>
                </a:lnTo>
                <a:close/>
              </a:path>
            </a:pathLst>
          </a:custGeom>
          <a:blipFill rotWithShape="1">
            <a:blip r:embed="rId12">
              <a:alphaModFix/>
            </a:blip>
            <a:stretch>
              <a:fillRect b="0" l="0" r="0" t="0"/>
            </a:stretch>
          </a:blipFill>
          <a:ln>
            <a:noFill/>
          </a:ln>
        </p:spPr>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869" name="Shape 1869"/>
        <p:cNvGrpSpPr/>
        <p:nvPr/>
      </p:nvGrpSpPr>
      <p:grpSpPr>
        <a:xfrm>
          <a:off x="0" y="0"/>
          <a:ext cx="0" cy="0"/>
          <a:chOff x="0" y="0"/>
          <a:chExt cx="0" cy="0"/>
        </a:xfrm>
      </p:grpSpPr>
      <p:sp>
        <p:nvSpPr>
          <p:cNvPr id="1870" name="Google Shape;1870;h410af0035cb59894_0_450"/>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871" name="Google Shape;1871;h410af0035cb59894_0_450"/>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872" name="Google Shape;1872;h410af0035cb59894_0_450"/>
          <p:cNvSpPr/>
          <p:nvPr/>
        </p:nvSpPr>
        <p:spPr>
          <a:xfrm>
            <a:off x="5329959" y="0"/>
            <a:ext cx="1867441" cy="3319895"/>
          </a:xfrm>
          <a:custGeom>
            <a:rect b="b" l="l" r="r" t="t"/>
            <a:pathLst>
              <a:path extrusionOk="0" h="4973625" w="2797664">
                <a:moveTo>
                  <a:pt x="0" y="0"/>
                </a:moveTo>
                <a:lnTo>
                  <a:pt x="2797664" y="0"/>
                </a:lnTo>
                <a:lnTo>
                  <a:pt x="2797664" y="4973625"/>
                </a:lnTo>
                <a:lnTo>
                  <a:pt x="0" y="4973625"/>
                </a:lnTo>
                <a:lnTo>
                  <a:pt x="0" y="0"/>
                </a:lnTo>
                <a:close/>
              </a:path>
            </a:pathLst>
          </a:custGeom>
          <a:blipFill rotWithShape="1">
            <a:blip r:embed="rId4">
              <a:alphaModFix/>
            </a:blip>
            <a:stretch>
              <a:fillRect b="0" l="0" r="0" t="0"/>
            </a:stretch>
          </a:blipFill>
          <a:ln>
            <a:noFill/>
          </a:ln>
        </p:spPr>
      </p:sp>
      <p:grpSp>
        <p:nvGrpSpPr>
          <p:cNvPr id="1873" name="Google Shape;1873;h410af0035cb59894_0_450"/>
          <p:cNvGrpSpPr/>
          <p:nvPr/>
        </p:nvGrpSpPr>
        <p:grpSpPr>
          <a:xfrm>
            <a:off x="-578551" y="0"/>
            <a:ext cx="7773776" cy="6858000"/>
            <a:chOff x="0" y="0"/>
            <a:chExt cx="15547552" cy="13716000"/>
          </a:xfrm>
        </p:grpSpPr>
        <p:sp>
          <p:nvSpPr>
            <p:cNvPr id="1874" name="Google Shape;1874;h410af0035cb59894_0_450"/>
            <p:cNvSpPr/>
            <p:nvPr/>
          </p:nvSpPr>
          <p:spPr>
            <a:xfrm>
              <a:off x="0" y="0"/>
              <a:ext cx="11789333" cy="6631500"/>
            </a:xfrm>
            <a:custGeom>
              <a:rect b="b" l="l" r="r" t="t"/>
              <a:pathLst>
                <a:path extrusionOk="0" h="6631500" w="11789333">
                  <a:moveTo>
                    <a:pt x="0" y="0"/>
                  </a:moveTo>
                  <a:lnTo>
                    <a:pt x="11789333" y="0"/>
                  </a:lnTo>
                  <a:lnTo>
                    <a:pt x="11789333" y="6631500"/>
                  </a:lnTo>
                  <a:lnTo>
                    <a:pt x="0" y="6631500"/>
                  </a:lnTo>
                  <a:lnTo>
                    <a:pt x="0" y="0"/>
                  </a:lnTo>
                  <a:close/>
                </a:path>
              </a:pathLst>
            </a:custGeom>
            <a:blipFill rotWithShape="1">
              <a:blip r:embed="rId5">
                <a:alphaModFix/>
              </a:blip>
              <a:stretch>
                <a:fillRect b="0" l="0" r="0" t="0"/>
              </a:stretch>
            </a:blipFill>
            <a:ln>
              <a:noFill/>
            </a:ln>
          </p:spPr>
        </p:sp>
        <p:sp>
          <p:nvSpPr>
            <p:cNvPr id="1875" name="Google Shape;1875;h410af0035cb59894_0_450"/>
            <p:cNvSpPr/>
            <p:nvPr/>
          </p:nvSpPr>
          <p:spPr>
            <a:xfrm>
              <a:off x="2952885" y="6631500"/>
              <a:ext cx="12594667" cy="7084500"/>
            </a:xfrm>
            <a:custGeom>
              <a:rect b="b" l="l" r="r" t="t"/>
              <a:pathLst>
                <a:path extrusionOk="0" h="7084500" w="12594667">
                  <a:moveTo>
                    <a:pt x="0" y="0"/>
                  </a:moveTo>
                  <a:lnTo>
                    <a:pt x="12594667" y="0"/>
                  </a:lnTo>
                  <a:lnTo>
                    <a:pt x="12594667" y="7084500"/>
                  </a:lnTo>
                  <a:lnTo>
                    <a:pt x="0" y="7084500"/>
                  </a:lnTo>
                  <a:lnTo>
                    <a:pt x="0" y="0"/>
                  </a:lnTo>
                  <a:close/>
                </a:path>
              </a:pathLst>
            </a:custGeom>
            <a:blipFill rotWithShape="1">
              <a:blip r:embed="rId6">
                <a:alphaModFix/>
              </a:blip>
              <a:stretch>
                <a:fillRect b="0" l="0" r="0" t="0"/>
              </a:stretch>
            </a:blipFill>
            <a:ln>
              <a:noFill/>
            </a:ln>
          </p:spPr>
        </p:sp>
        <p:sp>
          <p:nvSpPr>
            <p:cNvPr id="1876" name="Google Shape;1876;h410af0035cb59894_0_450"/>
            <p:cNvSpPr/>
            <p:nvPr/>
          </p:nvSpPr>
          <p:spPr>
            <a:xfrm>
              <a:off x="1157132" y="6631500"/>
              <a:ext cx="3985031" cy="7084500"/>
            </a:xfrm>
            <a:custGeom>
              <a:rect b="b" l="l" r="r" t="t"/>
              <a:pathLst>
                <a:path extrusionOk="0" h="7084500" w="3985031">
                  <a:moveTo>
                    <a:pt x="0" y="0"/>
                  </a:moveTo>
                  <a:lnTo>
                    <a:pt x="3985031" y="0"/>
                  </a:lnTo>
                  <a:lnTo>
                    <a:pt x="3985031" y="7084500"/>
                  </a:lnTo>
                  <a:lnTo>
                    <a:pt x="0" y="7084500"/>
                  </a:lnTo>
                  <a:lnTo>
                    <a:pt x="0" y="0"/>
                  </a:lnTo>
                  <a:close/>
                </a:path>
              </a:pathLst>
            </a:custGeom>
            <a:blipFill rotWithShape="1">
              <a:blip r:embed="rId4">
                <a:alphaModFix/>
              </a:blip>
              <a:stretch>
                <a:fillRect b="0" l="0" r="0" t="0"/>
              </a:stretch>
            </a:blipFill>
            <a:ln>
              <a:noFill/>
            </a:ln>
          </p:spPr>
        </p:sp>
      </p:grpSp>
      <p:grpSp>
        <p:nvGrpSpPr>
          <p:cNvPr id="1877" name="Google Shape;1877;h410af0035cb59894_0_450"/>
          <p:cNvGrpSpPr/>
          <p:nvPr/>
        </p:nvGrpSpPr>
        <p:grpSpPr>
          <a:xfrm>
            <a:off x="0" y="-24110"/>
            <a:ext cx="7194783" cy="6980108"/>
            <a:chOff x="0" y="-9525"/>
            <a:chExt cx="2842552" cy="2757628"/>
          </a:xfrm>
        </p:grpSpPr>
        <p:sp>
          <p:nvSpPr>
            <p:cNvPr id="1878" name="Google Shape;1878;h410af0035cb59894_0_450"/>
            <p:cNvSpPr/>
            <p:nvPr/>
          </p:nvSpPr>
          <p:spPr>
            <a:xfrm>
              <a:off x="0" y="0"/>
              <a:ext cx="2842552" cy="2748103"/>
            </a:xfrm>
            <a:custGeom>
              <a:rect b="b" l="l" r="r" t="t"/>
              <a:pathLst>
                <a:path extrusionOk="0" h="2748103" w="2842552">
                  <a:moveTo>
                    <a:pt x="0" y="0"/>
                  </a:moveTo>
                  <a:lnTo>
                    <a:pt x="2842552" y="0"/>
                  </a:lnTo>
                  <a:lnTo>
                    <a:pt x="2842552" y="2748103"/>
                  </a:lnTo>
                  <a:lnTo>
                    <a:pt x="0" y="2748103"/>
                  </a:lnTo>
                  <a:close/>
                </a:path>
              </a:pathLst>
            </a:custGeom>
            <a:solidFill>
              <a:srgbClr val="000000">
                <a:alpha val="40000"/>
              </a:srgbClr>
            </a:solidFill>
            <a:ln>
              <a:noFill/>
            </a:ln>
          </p:spPr>
        </p:sp>
        <p:sp>
          <p:nvSpPr>
            <p:cNvPr id="1879" name="Google Shape;1879;h410af0035cb59894_0_450"/>
            <p:cNvSpPr txBox="1"/>
            <p:nvPr/>
          </p:nvSpPr>
          <p:spPr>
            <a:xfrm>
              <a:off x="0" y="-9525"/>
              <a:ext cx="28425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880" name="Google Shape;1880;h410af0035cb59894_0_450"/>
          <p:cNvGrpSpPr/>
          <p:nvPr/>
        </p:nvGrpSpPr>
        <p:grpSpPr>
          <a:xfrm>
            <a:off x="555773" y="1366029"/>
            <a:ext cx="6018806" cy="4765152"/>
            <a:chOff x="0" y="-578644"/>
            <a:chExt cx="12037613" cy="9530303"/>
          </a:xfrm>
        </p:grpSpPr>
        <p:grpSp>
          <p:nvGrpSpPr>
            <p:cNvPr id="1881" name="Google Shape;1881;h410af0035cb59894_0_450"/>
            <p:cNvGrpSpPr/>
            <p:nvPr/>
          </p:nvGrpSpPr>
          <p:grpSpPr>
            <a:xfrm>
              <a:off x="0" y="-578644"/>
              <a:ext cx="12037613" cy="9530303"/>
              <a:chOff x="0" y="-114300"/>
              <a:chExt cx="2377800" cy="1882529"/>
            </a:xfrm>
          </p:grpSpPr>
          <p:sp>
            <p:nvSpPr>
              <p:cNvPr id="1882" name="Google Shape;1882;h410af0035cb59894_0_450"/>
              <p:cNvSpPr/>
              <p:nvPr/>
            </p:nvSpPr>
            <p:spPr>
              <a:xfrm>
                <a:off x="0" y="0"/>
                <a:ext cx="2377741" cy="1768229"/>
              </a:xfrm>
              <a:custGeom>
                <a:rect b="b" l="l" r="r" t="t"/>
                <a:pathLst>
                  <a:path extrusionOk="0" h="1768229" w="2377741">
                    <a:moveTo>
                      <a:pt x="0" y="0"/>
                    </a:moveTo>
                    <a:lnTo>
                      <a:pt x="2377741" y="0"/>
                    </a:lnTo>
                    <a:lnTo>
                      <a:pt x="2377741" y="1768229"/>
                    </a:lnTo>
                    <a:lnTo>
                      <a:pt x="0" y="1768229"/>
                    </a:lnTo>
                    <a:close/>
                  </a:path>
                </a:pathLst>
              </a:custGeom>
              <a:solidFill>
                <a:srgbClr val="0D2A4E">
                  <a:alpha val="80000"/>
                </a:srgbClr>
              </a:solidFill>
              <a:ln>
                <a:noFill/>
              </a:ln>
            </p:spPr>
          </p:sp>
          <p:sp>
            <p:nvSpPr>
              <p:cNvPr id="1883" name="Google Shape;1883;h410af0035cb59894_0_450"/>
              <p:cNvSpPr txBox="1"/>
              <p:nvPr/>
            </p:nvSpPr>
            <p:spPr>
              <a:xfrm>
                <a:off x="0" y="-114300"/>
                <a:ext cx="2377800" cy="18825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884" name="Google Shape;1884;h410af0035cb59894_0_450"/>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7">
                <a:alphaModFix/>
              </a:blip>
              <a:stretch>
                <a:fillRect b="0" l="0" r="0" t="0"/>
              </a:stretch>
            </a:blipFill>
            <a:ln>
              <a:noFill/>
            </a:ln>
          </p:spPr>
        </p:sp>
        <p:sp>
          <p:nvSpPr>
            <p:cNvPr id="1885" name="Google Shape;1885;h410af0035cb59894_0_450"/>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8">
                <a:alphaModFix/>
              </a:blip>
              <a:stretch>
                <a:fillRect b="0" l="0" r="0" t="0"/>
              </a:stretch>
            </a:blipFill>
            <a:ln>
              <a:noFill/>
            </a:ln>
          </p:spPr>
        </p:sp>
        <p:sp>
          <p:nvSpPr>
            <p:cNvPr id="1886" name="Google Shape;1886;h410af0035cb59894_0_450"/>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9">
                <a:alphaModFix/>
              </a:blip>
              <a:stretch>
                <a:fillRect b="0" l="0" r="0" t="0"/>
              </a:stretch>
            </a:blipFill>
            <a:ln>
              <a:noFill/>
            </a:ln>
          </p:spPr>
        </p:sp>
        <p:sp>
          <p:nvSpPr>
            <p:cNvPr id="1887" name="Google Shape;1887;h410af0035cb59894_0_450"/>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0">
                <a:alphaModFix/>
              </a:blip>
              <a:stretch>
                <a:fillRect b="0" l="0" r="0" t="0"/>
              </a:stretch>
            </a:blipFill>
            <a:ln>
              <a:noFill/>
            </a:ln>
          </p:spPr>
        </p:sp>
        <p:sp>
          <p:nvSpPr>
            <p:cNvPr id="1888" name="Google Shape;1888;h410af0035cb59894_0_450"/>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Individual/Corporate</a:t>
              </a:r>
              <a:endParaRPr sz="900"/>
            </a:p>
          </p:txBody>
        </p:sp>
        <p:sp>
          <p:nvSpPr>
            <p:cNvPr id="1889" name="Google Shape;1889;h410af0035cb59894_0_450"/>
            <p:cNvSpPr txBox="1"/>
            <p:nvPr/>
          </p:nvSpPr>
          <p:spPr>
            <a:xfrm>
              <a:off x="2880538" y="89922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June 2025</a:t>
              </a:r>
              <a:endParaRPr sz="900"/>
            </a:p>
          </p:txBody>
        </p:sp>
        <p:sp>
          <p:nvSpPr>
            <p:cNvPr id="1890" name="Google Shape;1890;h410af0035cb59894_0_450"/>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20 Participants</a:t>
              </a:r>
              <a:endParaRPr sz="900"/>
            </a:p>
          </p:txBody>
        </p:sp>
        <p:sp>
          <p:nvSpPr>
            <p:cNvPr id="1891" name="Google Shape;1891;h410af0035cb59894_0_450"/>
            <p:cNvSpPr txBox="1"/>
            <p:nvPr/>
          </p:nvSpPr>
          <p:spPr>
            <a:xfrm>
              <a:off x="2880538" y="6495126"/>
              <a:ext cx="8566500" cy="15579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Leadership for First Time Leaders and Managers</a:t>
              </a:r>
              <a:endParaRPr sz="900"/>
            </a:p>
          </p:txBody>
        </p:sp>
      </p:grpSp>
      <p:sp>
        <p:nvSpPr>
          <p:cNvPr id="1892" name="Google Shape;1892;h410af0035cb59894_0_450"/>
          <p:cNvSpPr txBox="1"/>
          <p:nvPr/>
        </p:nvSpPr>
        <p:spPr>
          <a:xfrm>
            <a:off x="7419021" y="1147488"/>
            <a:ext cx="4415100" cy="56112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Managing Task</a:t>
            </a:r>
            <a:endParaRPr sz="900"/>
          </a:p>
          <a:p>
            <a:pPr indent="0" lvl="0" marL="0" marR="0" rtl="0" algn="just">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Using the framework of Project Charter, Eisenhower Matrix, and Gantt Chart.</a:t>
            </a:r>
            <a:endParaRPr sz="900"/>
          </a:p>
          <a:p>
            <a:pPr indent="0" lvl="0" marL="0" marR="0" rtl="0" algn="just">
              <a:lnSpc>
                <a:spcPct val="150022"/>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Managing People - Team Member</a:t>
            </a:r>
            <a:endParaRPr sz="900"/>
          </a:p>
          <a:p>
            <a:pPr indent="0" lvl="0" marL="0" marR="0" rtl="0" algn="just">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The importance of increasing the relationship with the team members so that they are able to open up and having psychological safety, along with how we could disagree by design. </a:t>
            </a:r>
            <a:endParaRPr sz="900"/>
          </a:p>
          <a:p>
            <a:pPr indent="0" lvl="0" marL="0" marR="0" rtl="0" algn="just">
              <a:lnSpc>
                <a:spcPct val="150022"/>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158750" lvl="1" marL="317500" marR="0" rtl="0" algn="just">
              <a:lnSpc>
                <a:spcPct val="150022"/>
              </a:lnSpc>
              <a:spcBef>
                <a:spcPts val="0"/>
              </a:spcBef>
              <a:spcAft>
                <a:spcPts val="0"/>
              </a:spcAft>
              <a:buClr>
                <a:srgbClr val="FFFFFF"/>
              </a:buClr>
              <a:buSzPts val="1500"/>
              <a:buFont typeface="Arial"/>
              <a:buChar char="•"/>
            </a:pPr>
            <a:r>
              <a:rPr b="1" i="0" lang="en-US" sz="1500" u="none" cap="none" strike="noStrike">
                <a:solidFill>
                  <a:srgbClr val="FFFFFF"/>
                </a:solidFill>
                <a:latin typeface="Arial"/>
                <a:ea typeface="Arial"/>
                <a:cs typeface="Arial"/>
                <a:sym typeface="Arial"/>
              </a:rPr>
              <a:t>Managing people - Other Stakeholder</a:t>
            </a:r>
            <a:endParaRPr sz="900"/>
          </a:p>
          <a:p>
            <a:pPr indent="0" lvl="0" marL="0" marR="0" rtl="0" algn="just">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How as a Leader, we need to be able to influence the horizontal lines, other Leaders, and also balancing the roles with managing upper management's expectations.</a:t>
            </a:r>
            <a:endParaRPr sz="900"/>
          </a:p>
        </p:txBody>
      </p:sp>
      <p:sp>
        <p:nvSpPr>
          <p:cNvPr id="1893" name="Google Shape;1893;h410af0035cb59894_0_450"/>
          <p:cNvSpPr txBox="1"/>
          <p:nvPr/>
        </p:nvSpPr>
        <p:spPr>
          <a:xfrm>
            <a:off x="511934" y="29578"/>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Online Webinar Training</a:t>
            </a:r>
            <a:endParaRPr sz="9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897" name="Shape 1897"/>
        <p:cNvGrpSpPr/>
        <p:nvPr/>
      </p:nvGrpSpPr>
      <p:grpSpPr>
        <a:xfrm>
          <a:off x="0" y="0"/>
          <a:ext cx="0" cy="0"/>
          <a:chOff x="0" y="0"/>
          <a:chExt cx="0" cy="0"/>
        </a:xfrm>
      </p:grpSpPr>
      <p:sp>
        <p:nvSpPr>
          <p:cNvPr id="1898" name="Google Shape;1898;h410af0035cb59894_0_477"/>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899" name="Google Shape;1899;h410af0035cb59894_0_477"/>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900" name="Google Shape;1900;h410af0035cb59894_0_477"/>
          <p:cNvSpPr/>
          <p:nvPr/>
        </p:nvSpPr>
        <p:spPr>
          <a:xfrm>
            <a:off x="5329959" y="0"/>
            <a:ext cx="1867441" cy="3319895"/>
          </a:xfrm>
          <a:custGeom>
            <a:rect b="b" l="l" r="r" t="t"/>
            <a:pathLst>
              <a:path extrusionOk="0" h="4973625" w="2797664">
                <a:moveTo>
                  <a:pt x="0" y="0"/>
                </a:moveTo>
                <a:lnTo>
                  <a:pt x="2797664" y="0"/>
                </a:lnTo>
                <a:lnTo>
                  <a:pt x="2797664" y="4973625"/>
                </a:lnTo>
                <a:lnTo>
                  <a:pt x="0" y="4973625"/>
                </a:lnTo>
                <a:lnTo>
                  <a:pt x="0" y="0"/>
                </a:lnTo>
                <a:close/>
              </a:path>
            </a:pathLst>
          </a:custGeom>
          <a:blipFill rotWithShape="1">
            <a:blip r:embed="rId4">
              <a:alphaModFix/>
            </a:blip>
            <a:stretch>
              <a:fillRect b="0" l="0" r="0" t="0"/>
            </a:stretch>
          </a:blipFill>
          <a:ln>
            <a:noFill/>
          </a:ln>
        </p:spPr>
      </p:sp>
      <p:grpSp>
        <p:nvGrpSpPr>
          <p:cNvPr id="1901" name="Google Shape;1901;h410af0035cb59894_0_477"/>
          <p:cNvGrpSpPr/>
          <p:nvPr/>
        </p:nvGrpSpPr>
        <p:grpSpPr>
          <a:xfrm>
            <a:off x="-578551" y="0"/>
            <a:ext cx="7773776" cy="6858000"/>
            <a:chOff x="0" y="0"/>
            <a:chExt cx="15547552" cy="13716000"/>
          </a:xfrm>
        </p:grpSpPr>
        <p:sp>
          <p:nvSpPr>
            <p:cNvPr id="1902" name="Google Shape;1902;h410af0035cb59894_0_477"/>
            <p:cNvSpPr/>
            <p:nvPr/>
          </p:nvSpPr>
          <p:spPr>
            <a:xfrm>
              <a:off x="0" y="0"/>
              <a:ext cx="11789333" cy="6631500"/>
            </a:xfrm>
            <a:custGeom>
              <a:rect b="b" l="l" r="r" t="t"/>
              <a:pathLst>
                <a:path extrusionOk="0" h="6631500" w="11789333">
                  <a:moveTo>
                    <a:pt x="0" y="0"/>
                  </a:moveTo>
                  <a:lnTo>
                    <a:pt x="11789333" y="0"/>
                  </a:lnTo>
                  <a:lnTo>
                    <a:pt x="11789333" y="6631500"/>
                  </a:lnTo>
                  <a:lnTo>
                    <a:pt x="0" y="6631500"/>
                  </a:lnTo>
                  <a:lnTo>
                    <a:pt x="0" y="0"/>
                  </a:lnTo>
                  <a:close/>
                </a:path>
              </a:pathLst>
            </a:custGeom>
            <a:blipFill rotWithShape="1">
              <a:blip r:embed="rId5">
                <a:alphaModFix/>
              </a:blip>
              <a:stretch>
                <a:fillRect b="0" l="0" r="0" t="0"/>
              </a:stretch>
            </a:blipFill>
            <a:ln>
              <a:noFill/>
            </a:ln>
          </p:spPr>
        </p:sp>
        <p:sp>
          <p:nvSpPr>
            <p:cNvPr id="1903" name="Google Shape;1903;h410af0035cb59894_0_477"/>
            <p:cNvSpPr/>
            <p:nvPr/>
          </p:nvSpPr>
          <p:spPr>
            <a:xfrm>
              <a:off x="2952885" y="6631500"/>
              <a:ext cx="12594667" cy="7084500"/>
            </a:xfrm>
            <a:custGeom>
              <a:rect b="b" l="l" r="r" t="t"/>
              <a:pathLst>
                <a:path extrusionOk="0" h="7084500" w="12594667">
                  <a:moveTo>
                    <a:pt x="0" y="0"/>
                  </a:moveTo>
                  <a:lnTo>
                    <a:pt x="12594667" y="0"/>
                  </a:lnTo>
                  <a:lnTo>
                    <a:pt x="12594667" y="7084500"/>
                  </a:lnTo>
                  <a:lnTo>
                    <a:pt x="0" y="7084500"/>
                  </a:lnTo>
                  <a:lnTo>
                    <a:pt x="0" y="0"/>
                  </a:lnTo>
                  <a:close/>
                </a:path>
              </a:pathLst>
            </a:custGeom>
            <a:blipFill rotWithShape="1">
              <a:blip r:embed="rId6">
                <a:alphaModFix/>
              </a:blip>
              <a:stretch>
                <a:fillRect b="0" l="0" r="0" t="0"/>
              </a:stretch>
            </a:blipFill>
            <a:ln>
              <a:noFill/>
            </a:ln>
          </p:spPr>
        </p:sp>
        <p:sp>
          <p:nvSpPr>
            <p:cNvPr id="1904" name="Google Shape;1904;h410af0035cb59894_0_477"/>
            <p:cNvSpPr/>
            <p:nvPr/>
          </p:nvSpPr>
          <p:spPr>
            <a:xfrm>
              <a:off x="1157132" y="6631500"/>
              <a:ext cx="3985031" cy="7084500"/>
            </a:xfrm>
            <a:custGeom>
              <a:rect b="b" l="l" r="r" t="t"/>
              <a:pathLst>
                <a:path extrusionOk="0" h="7084500" w="3985031">
                  <a:moveTo>
                    <a:pt x="0" y="0"/>
                  </a:moveTo>
                  <a:lnTo>
                    <a:pt x="3985031" y="0"/>
                  </a:lnTo>
                  <a:lnTo>
                    <a:pt x="3985031" y="7084500"/>
                  </a:lnTo>
                  <a:lnTo>
                    <a:pt x="0" y="7084500"/>
                  </a:lnTo>
                  <a:lnTo>
                    <a:pt x="0" y="0"/>
                  </a:lnTo>
                  <a:close/>
                </a:path>
              </a:pathLst>
            </a:custGeom>
            <a:blipFill rotWithShape="1">
              <a:blip r:embed="rId4">
                <a:alphaModFix/>
              </a:blip>
              <a:stretch>
                <a:fillRect b="0" l="0" r="0" t="0"/>
              </a:stretch>
            </a:blipFill>
            <a:ln>
              <a:noFill/>
            </a:ln>
          </p:spPr>
        </p:sp>
      </p:grpSp>
      <p:grpSp>
        <p:nvGrpSpPr>
          <p:cNvPr id="1905" name="Google Shape;1905;h410af0035cb59894_0_477"/>
          <p:cNvGrpSpPr/>
          <p:nvPr/>
        </p:nvGrpSpPr>
        <p:grpSpPr>
          <a:xfrm>
            <a:off x="0" y="-24110"/>
            <a:ext cx="7194783" cy="6980108"/>
            <a:chOff x="0" y="-9525"/>
            <a:chExt cx="2842552" cy="2757628"/>
          </a:xfrm>
        </p:grpSpPr>
        <p:sp>
          <p:nvSpPr>
            <p:cNvPr id="1906" name="Google Shape;1906;h410af0035cb59894_0_477"/>
            <p:cNvSpPr/>
            <p:nvPr/>
          </p:nvSpPr>
          <p:spPr>
            <a:xfrm>
              <a:off x="0" y="0"/>
              <a:ext cx="2842552" cy="2748103"/>
            </a:xfrm>
            <a:custGeom>
              <a:rect b="b" l="l" r="r" t="t"/>
              <a:pathLst>
                <a:path extrusionOk="0" h="2748103" w="2842552">
                  <a:moveTo>
                    <a:pt x="0" y="0"/>
                  </a:moveTo>
                  <a:lnTo>
                    <a:pt x="2842552" y="0"/>
                  </a:lnTo>
                  <a:lnTo>
                    <a:pt x="2842552" y="2748103"/>
                  </a:lnTo>
                  <a:lnTo>
                    <a:pt x="0" y="2748103"/>
                  </a:lnTo>
                  <a:close/>
                </a:path>
              </a:pathLst>
            </a:custGeom>
            <a:solidFill>
              <a:srgbClr val="000000">
                <a:alpha val="40000"/>
              </a:srgbClr>
            </a:solidFill>
            <a:ln>
              <a:noFill/>
            </a:ln>
          </p:spPr>
        </p:sp>
        <p:sp>
          <p:nvSpPr>
            <p:cNvPr id="1907" name="Google Shape;1907;h410af0035cb59894_0_477"/>
            <p:cNvSpPr txBox="1"/>
            <p:nvPr/>
          </p:nvSpPr>
          <p:spPr>
            <a:xfrm>
              <a:off x="0" y="-9525"/>
              <a:ext cx="2842500" cy="2757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908" name="Google Shape;1908;h410af0035cb59894_0_477"/>
          <p:cNvGrpSpPr/>
          <p:nvPr/>
        </p:nvGrpSpPr>
        <p:grpSpPr>
          <a:xfrm>
            <a:off x="555773" y="1366029"/>
            <a:ext cx="6018806" cy="5165435"/>
            <a:chOff x="0" y="-578644"/>
            <a:chExt cx="12037613" cy="10330870"/>
          </a:xfrm>
        </p:grpSpPr>
        <p:grpSp>
          <p:nvGrpSpPr>
            <p:cNvPr id="1909" name="Google Shape;1909;h410af0035cb59894_0_477"/>
            <p:cNvGrpSpPr/>
            <p:nvPr/>
          </p:nvGrpSpPr>
          <p:grpSpPr>
            <a:xfrm>
              <a:off x="0" y="-578644"/>
              <a:ext cx="12037613" cy="10329019"/>
              <a:chOff x="0" y="-114300"/>
              <a:chExt cx="2377800" cy="2040300"/>
            </a:xfrm>
          </p:grpSpPr>
          <p:sp>
            <p:nvSpPr>
              <p:cNvPr id="1910" name="Google Shape;1910;h410af0035cb59894_0_477"/>
              <p:cNvSpPr/>
              <p:nvPr/>
            </p:nvSpPr>
            <p:spPr>
              <a:xfrm>
                <a:off x="0" y="0"/>
                <a:ext cx="2377741" cy="1925904"/>
              </a:xfrm>
              <a:custGeom>
                <a:rect b="b" l="l" r="r" t="t"/>
                <a:pathLst>
                  <a:path extrusionOk="0" h="1925904" w="2377741">
                    <a:moveTo>
                      <a:pt x="0" y="0"/>
                    </a:moveTo>
                    <a:lnTo>
                      <a:pt x="2377741" y="0"/>
                    </a:lnTo>
                    <a:lnTo>
                      <a:pt x="2377741" y="1925904"/>
                    </a:lnTo>
                    <a:lnTo>
                      <a:pt x="0" y="1925904"/>
                    </a:lnTo>
                    <a:close/>
                  </a:path>
                </a:pathLst>
              </a:custGeom>
              <a:solidFill>
                <a:srgbClr val="0D2A4E">
                  <a:alpha val="80000"/>
                </a:srgbClr>
              </a:solidFill>
              <a:ln>
                <a:noFill/>
              </a:ln>
            </p:spPr>
          </p:sp>
          <p:sp>
            <p:nvSpPr>
              <p:cNvPr id="1911" name="Google Shape;1911;h410af0035cb59894_0_477"/>
              <p:cNvSpPr txBox="1"/>
              <p:nvPr/>
            </p:nvSpPr>
            <p:spPr>
              <a:xfrm>
                <a:off x="0" y="-114300"/>
                <a:ext cx="2377800" cy="20403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912" name="Google Shape;1912;h410af0035cb59894_0_477"/>
            <p:cNvSpPr/>
            <p:nvPr/>
          </p:nvSpPr>
          <p:spPr>
            <a:xfrm>
              <a:off x="457583" y="487300"/>
              <a:ext cx="1492968" cy="1658853"/>
            </a:xfrm>
            <a:custGeom>
              <a:rect b="b" l="l" r="r" t="t"/>
              <a:pathLst>
                <a:path extrusionOk="0" h="1658853" w="1492968">
                  <a:moveTo>
                    <a:pt x="0" y="0"/>
                  </a:moveTo>
                  <a:lnTo>
                    <a:pt x="1492968" y="0"/>
                  </a:lnTo>
                  <a:lnTo>
                    <a:pt x="1492968" y="1658853"/>
                  </a:lnTo>
                  <a:lnTo>
                    <a:pt x="0" y="1658853"/>
                  </a:lnTo>
                  <a:lnTo>
                    <a:pt x="0" y="0"/>
                  </a:lnTo>
                  <a:close/>
                </a:path>
              </a:pathLst>
            </a:custGeom>
            <a:blipFill rotWithShape="1">
              <a:blip r:embed="rId7">
                <a:alphaModFix/>
              </a:blip>
              <a:stretch>
                <a:fillRect b="0" l="0" r="0" t="0"/>
              </a:stretch>
            </a:blipFill>
            <a:ln>
              <a:noFill/>
            </a:ln>
          </p:spPr>
        </p:sp>
        <p:sp>
          <p:nvSpPr>
            <p:cNvPr id="1913" name="Google Shape;1913;h410af0035cb59894_0_477"/>
            <p:cNvSpPr/>
            <p:nvPr/>
          </p:nvSpPr>
          <p:spPr>
            <a:xfrm>
              <a:off x="457583" y="2700061"/>
              <a:ext cx="1492968" cy="1331132"/>
            </a:xfrm>
            <a:custGeom>
              <a:rect b="b" l="l" r="r" t="t"/>
              <a:pathLst>
                <a:path extrusionOk="0" h="1331132" w="1492968">
                  <a:moveTo>
                    <a:pt x="0" y="0"/>
                  </a:moveTo>
                  <a:lnTo>
                    <a:pt x="1492968" y="0"/>
                  </a:lnTo>
                  <a:lnTo>
                    <a:pt x="1492968" y="1331132"/>
                  </a:lnTo>
                  <a:lnTo>
                    <a:pt x="0" y="1331132"/>
                  </a:lnTo>
                  <a:lnTo>
                    <a:pt x="0" y="0"/>
                  </a:lnTo>
                  <a:close/>
                </a:path>
              </a:pathLst>
            </a:custGeom>
            <a:blipFill rotWithShape="1">
              <a:blip r:embed="rId8">
                <a:alphaModFix/>
              </a:blip>
              <a:stretch>
                <a:fillRect b="0" l="0" r="0" t="0"/>
              </a:stretch>
            </a:blipFill>
            <a:ln>
              <a:noFill/>
            </a:ln>
          </p:spPr>
        </p:sp>
        <p:sp>
          <p:nvSpPr>
            <p:cNvPr id="1914" name="Google Shape;1914;h410af0035cb59894_0_477"/>
            <p:cNvSpPr/>
            <p:nvPr/>
          </p:nvSpPr>
          <p:spPr>
            <a:xfrm>
              <a:off x="457583" y="4588218"/>
              <a:ext cx="1492968" cy="1689573"/>
            </a:xfrm>
            <a:custGeom>
              <a:rect b="b" l="l" r="r" t="t"/>
              <a:pathLst>
                <a:path extrusionOk="0" h="1689573" w="1492968">
                  <a:moveTo>
                    <a:pt x="0" y="0"/>
                  </a:moveTo>
                  <a:lnTo>
                    <a:pt x="1492968" y="0"/>
                  </a:lnTo>
                  <a:lnTo>
                    <a:pt x="1492968" y="1689573"/>
                  </a:lnTo>
                  <a:lnTo>
                    <a:pt x="0" y="1689573"/>
                  </a:lnTo>
                  <a:lnTo>
                    <a:pt x="0" y="0"/>
                  </a:lnTo>
                  <a:close/>
                </a:path>
              </a:pathLst>
            </a:custGeom>
            <a:blipFill rotWithShape="1">
              <a:blip r:embed="rId9">
                <a:alphaModFix/>
              </a:blip>
              <a:stretch>
                <a:fillRect b="0" l="0" r="0" t="0"/>
              </a:stretch>
            </a:blipFill>
            <a:ln>
              <a:noFill/>
            </a:ln>
          </p:spPr>
        </p:sp>
        <p:sp>
          <p:nvSpPr>
            <p:cNvPr id="1915" name="Google Shape;1915;h410af0035cb59894_0_477"/>
            <p:cNvSpPr/>
            <p:nvPr/>
          </p:nvSpPr>
          <p:spPr>
            <a:xfrm>
              <a:off x="457583" y="6836591"/>
              <a:ext cx="1492968" cy="1613226"/>
            </a:xfrm>
            <a:custGeom>
              <a:rect b="b" l="l" r="r" t="t"/>
              <a:pathLst>
                <a:path extrusionOk="0" h="1613226" w="1492968">
                  <a:moveTo>
                    <a:pt x="0" y="0"/>
                  </a:moveTo>
                  <a:lnTo>
                    <a:pt x="1492968" y="0"/>
                  </a:lnTo>
                  <a:lnTo>
                    <a:pt x="1492968" y="1613227"/>
                  </a:lnTo>
                  <a:lnTo>
                    <a:pt x="0" y="1613227"/>
                  </a:lnTo>
                  <a:lnTo>
                    <a:pt x="0" y="0"/>
                  </a:lnTo>
                  <a:close/>
                </a:path>
              </a:pathLst>
            </a:custGeom>
            <a:blipFill rotWithShape="1">
              <a:blip r:embed="rId10">
                <a:alphaModFix/>
              </a:blip>
              <a:stretch>
                <a:fillRect b="0" l="0" r="0" t="0"/>
              </a:stretch>
            </a:blipFill>
            <a:ln>
              <a:noFill/>
            </a:ln>
          </p:spPr>
        </p:sp>
        <p:sp>
          <p:nvSpPr>
            <p:cNvPr id="1916" name="Google Shape;1916;h410af0035cb59894_0_477"/>
            <p:cNvSpPr txBox="1"/>
            <p:nvPr/>
          </p:nvSpPr>
          <p:spPr>
            <a:xfrm>
              <a:off x="2880538" y="310334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1917" name="Google Shape;1917;h410af0035cb59894_0_477"/>
            <p:cNvSpPr txBox="1"/>
            <p:nvPr/>
          </p:nvSpPr>
          <p:spPr>
            <a:xfrm>
              <a:off x="2880538" y="899223"/>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April 2025</a:t>
              </a:r>
              <a:endParaRPr sz="900"/>
            </a:p>
          </p:txBody>
        </p:sp>
        <p:sp>
          <p:nvSpPr>
            <p:cNvPr id="1918" name="Google Shape;1918;h410af0035cb59894_0_477"/>
            <p:cNvSpPr txBox="1"/>
            <p:nvPr/>
          </p:nvSpPr>
          <p:spPr>
            <a:xfrm>
              <a:off x="2880538" y="5023380"/>
              <a:ext cx="6682500" cy="708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50 Participants</a:t>
              </a:r>
              <a:endParaRPr sz="900"/>
            </a:p>
          </p:txBody>
        </p:sp>
        <p:sp>
          <p:nvSpPr>
            <p:cNvPr id="1919" name="Google Shape;1919;h410af0035cb59894_0_477"/>
            <p:cNvSpPr txBox="1"/>
            <p:nvPr/>
          </p:nvSpPr>
          <p:spPr>
            <a:xfrm>
              <a:off x="2880538" y="6495126"/>
              <a:ext cx="8566500" cy="32571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Tumbuh di Era Digital: </a:t>
              </a:r>
              <a:endParaRPr sz="900"/>
            </a:p>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Strategi Marketing Lembaga Keuangan yang Patuh Regulasi OJK</a:t>
              </a:r>
              <a:endParaRPr sz="900"/>
            </a:p>
          </p:txBody>
        </p:sp>
      </p:grpSp>
      <p:sp>
        <p:nvSpPr>
          <p:cNvPr id="1920" name="Google Shape;1920;h410af0035cb59894_0_477"/>
          <p:cNvSpPr/>
          <p:nvPr/>
        </p:nvSpPr>
        <p:spPr>
          <a:xfrm>
            <a:off x="9840066" y="245917"/>
            <a:ext cx="2148454" cy="880866"/>
          </a:xfrm>
          <a:custGeom>
            <a:rect b="b" l="l" r="r" t="t"/>
            <a:pathLst>
              <a:path extrusionOk="0" h="1319650" w="3218658">
                <a:moveTo>
                  <a:pt x="0" y="0"/>
                </a:moveTo>
                <a:lnTo>
                  <a:pt x="3218658" y="0"/>
                </a:lnTo>
                <a:lnTo>
                  <a:pt x="3218658" y="1319650"/>
                </a:lnTo>
                <a:lnTo>
                  <a:pt x="0" y="1319650"/>
                </a:lnTo>
                <a:lnTo>
                  <a:pt x="0" y="0"/>
                </a:lnTo>
                <a:close/>
              </a:path>
            </a:pathLst>
          </a:custGeom>
          <a:blipFill rotWithShape="1">
            <a:blip r:embed="rId11">
              <a:alphaModFix/>
            </a:blip>
            <a:stretch>
              <a:fillRect b="0" l="0" r="0" t="0"/>
            </a:stretch>
          </a:blipFill>
          <a:ln>
            <a:noFill/>
          </a:ln>
        </p:spPr>
      </p:sp>
      <p:sp>
        <p:nvSpPr>
          <p:cNvPr id="1921" name="Google Shape;1921;h410af0035cb59894_0_477"/>
          <p:cNvSpPr txBox="1"/>
          <p:nvPr/>
        </p:nvSpPr>
        <p:spPr>
          <a:xfrm>
            <a:off x="7419021" y="1328231"/>
            <a:ext cx="4415100" cy="4918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Understanding the Landscape of Digital Marketing in the Banking Industry</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The Importance of Digital Marketing for the Banking Sector</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Key Components of Digital Marketing and Their Application in the Banking Industry</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Growing Through the “DIGITAL” Approach</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Simulation: Defining Target Market, Product Offerings, and Digital Communication Strategies</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Interactive Case Study: Selecting Advertisements in Compliance with OJK Regulations</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Compliant Content Checklist</a:t>
            </a:r>
            <a:endParaRPr sz="900"/>
          </a:p>
        </p:txBody>
      </p:sp>
      <p:sp>
        <p:nvSpPr>
          <p:cNvPr id="1922" name="Google Shape;1922;h410af0035cb59894_0_477"/>
          <p:cNvSpPr txBox="1"/>
          <p:nvPr/>
        </p:nvSpPr>
        <p:spPr>
          <a:xfrm>
            <a:off x="511934" y="29578"/>
            <a:ext cx="6155400" cy="16662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Otoritas Jasa Keuangan (OJK) Yogyakarta</a:t>
            </a:r>
            <a:endParaRPr sz="9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926" name="Shape 1926"/>
        <p:cNvGrpSpPr/>
        <p:nvPr/>
      </p:nvGrpSpPr>
      <p:grpSpPr>
        <a:xfrm>
          <a:off x="0" y="0"/>
          <a:ext cx="0" cy="0"/>
          <a:chOff x="0" y="0"/>
          <a:chExt cx="0" cy="0"/>
        </a:xfrm>
      </p:grpSpPr>
      <p:sp>
        <p:nvSpPr>
          <p:cNvPr id="1927" name="Google Shape;1927;h410af0035cb59894_0_505"/>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928" name="Google Shape;1928;h410af0035cb59894_0_505"/>
          <p:cNvSpPr/>
          <p:nvPr/>
        </p:nvSpPr>
        <p:spPr>
          <a:xfrm>
            <a:off x="7419021"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929" name="Google Shape;1929;h410af0035cb59894_0_505"/>
          <p:cNvSpPr/>
          <p:nvPr/>
        </p:nvSpPr>
        <p:spPr>
          <a:xfrm>
            <a:off x="8340018" y="263666"/>
            <a:ext cx="3632408" cy="726482"/>
          </a:xfrm>
          <a:custGeom>
            <a:rect b="b" l="l" r="r" t="t"/>
            <a:pathLst>
              <a:path extrusionOk="0" h="1088362" w="5441809">
                <a:moveTo>
                  <a:pt x="0" y="0"/>
                </a:moveTo>
                <a:lnTo>
                  <a:pt x="5441810" y="0"/>
                </a:lnTo>
                <a:lnTo>
                  <a:pt x="5441810" y="1088362"/>
                </a:lnTo>
                <a:lnTo>
                  <a:pt x="0" y="1088362"/>
                </a:lnTo>
                <a:lnTo>
                  <a:pt x="0" y="0"/>
                </a:lnTo>
                <a:close/>
              </a:path>
            </a:pathLst>
          </a:custGeom>
          <a:blipFill rotWithShape="1">
            <a:blip r:embed="rId4">
              <a:alphaModFix/>
            </a:blip>
            <a:stretch>
              <a:fillRect b="0" l="0" r="0" t="0"/>
            </a:stretch>
          </a:blipFill>
          <a:ln>
            <a:noFill/>
          </a:ln>
        </p:spPr>
      </p:sp>
      <p:grpSp>
        <p:nvGrpSpPr>
          <p:cNvPr id="1930" name="Google Shape;1930;h410af0035cb59894_0_505"/>
          <p:cNvGrpSpPr/>
          <p:nvPr/>
        </p:nvGrpSpPr>
        <p:grpSpPr>
          <a:xfrm>
            <a:off x="0" y="0"/>
            <a:ext cx="7247588" cy="6858000"/>
            <a:chOff x="0" y="0"/>
            <a:chExt cx="14495176" cy="13716000"/>
          </a:xfrm>
        </p:grpSpPr>
        <p:sp>
          <p:nvSpPr>
            <p:cNvPr id="1931" name="Google Shape;1931;h410af0035cb59894_0_505"/>
            <p:cNvSpPr/>
            <p:nvPr/>
          </p:nvSpPr>
          <p:spPr>
            <a:xfrm>
              <a:off x="0" y="0"/>
              <a:ext cx="3730219" cy="6631500"/>
            </a:xfrm>
            <a:custGeom>
              <a:rect b="b" l="l" r="r" t="t"/>
              <a:pathLst>
                <a:path extrusionOk="0" h="6631500" w="3730219">
                  <a:moveTo>
                    <a:pt x="0" y="0"/>
                  </a:moveTo>
                  <a:lnTo>
                    <a:pt x="3730219" y="0"/>
                  </a:lnTo>
                  <a:lnTo>
                    <a:pt x="3730219" y="6631500"/>
                  </a:lnTo>
                  <a:lnTo>
                    <a:pt x="0" y="6631500"/>
                  </a:lnTo>
                  <a:lnTo>
                    <a:pt x="0" y="0"/>
                  </a:lnTo>
                  <a:close/>
                </a:path>
              </a:pathLst>
            </a:custGeom>
            <a:blipFill rotWithShape="1">
              <a:blip r:embed="rId5">
                <a:alphaModFix/>
              </a:blip>
              <a:stretch>
                <a:fillRect b="0" l="0" r="0" t="0"/>
              </a:stretch>
            </a:blipFill>
            <a:ln>
              <a:noFill/>
            </a:ln>
          </p:spPr>
        </p:sp>
        <p:sp>
          <p:nvSpPr>
            <p:cNvPr id="1932" name="Google Shape;1932;h410af0035cb59894_0_505"/>
            <p:cNvSpPr/>
            <p:nvPr/>
          </p:nvSpPr>
          <p:spPr>
            <a:xfrm>
              <a:off x="2705843" y="0"/>
              <a:ext cx="11789333" cy="6631500"/>
            </a:xfrm>
            <a:custGeom>
              <a:rect b="b" l="l" r="r" t="t"/>
              <a:pathLst>
                <a:path extrusionOk="0" h="6631500" w="11789333">
                  <a:moveTo>
                    <a:pt x="0" y="0"/>
                  </a:moveTo>
                  <a:lnTo>
                    <a:pt x="11789333" y="0"/>
                  </a:lnTo>
                  <a:lnTo>
                    <a:pt x="11789333" y="6631500"/>
                  </a:lnTo>
                  <a:lnTo>
                    <a:pt x="0" y="6631500"/>
                  </a:lnTo>
                  <a:lnTo>
                    <a:pt x="0" y="0"/>
                  </a:lnTo>
                  <a:close/>
                </a:path>
              </a:pathLst>
            </a:custGeom>
            <a:blipFill rotWithShape="1">
              <a:blip r:embed="rId6">
                <a:alphaModFix/>
              </a:blip>
              <a:stretch>
                <a:fillRect b="0" l="0" r="0" t="0"/>
              </a:stretch>
            </a:blipFill>
            <a:ln>
              <a:noFill/>
            </a:ln>
          </p:spPr>
        </p:sp>
        <p:sp>
          <p:nvSpPr>
            <p:cNvPr id="1933" name="Google Shape;1933;h410af0035cb59894_0_505"/>
            <p:cNvSpPr/>
            <p:nvPr/>
          </p:nvSpPr>
          <p:spPr>
            <a:xfrm>
              <a:off x="0" y="6631500"/>
              <a:ext cx="3985031" cy="7084500"/>
            </a:xfrm>
            <a:custGeom>
              <a:rect b="b" l="l" r="r" t="t"/>
              <a:pathLst>
                <a:path extrusionOk="0" h="7084500" w="3985031">
                  <a:moveTo>
                    <a:pt x="0" y="0"/>
                  </a:moveTo>
                  <a:lnTo>
                    <a:pt x="3985031" y="0"/>
                  </a:lnTo>
                  <a:lnTo>
                    <a:pt x="3985031" y="7084500"/>
                  </a:lnTo>
                  <a:lnTo>
                    <a:pt x="0" y="7084500"/>
                  </a:lnTo>
                  <a:lnTo>
                    <a:pt x="0" y="0"/>
                  </a:lnTo>
                  <a:close/>
                </a:path>
              </a:pathLst>
            </a:custGeom>
            <a:blipFill rotWithShape="1">
              <a:blip r:embed="rId7">
                <a:alphaModFix/>
              </a:blip>
              <a:stretch>
                <a:fillRect b="0" l="0" r="0" t="0"/>
              </a:stretch>
            </a:blipFill>
            <a:ln>
              <a:noFill/>
            </a:ln>
          </p:spPr>
        </p:sp>
        <p:sp>
          <p:nvSpPr>
            <p:cNvPr id="1934" name="Google Shape;1934;h410af0035cb59894_0_505"/>
            <p:cNvSpPr/>
            <p:nvPr/>
          </p:nvSpPr>
          <p:spPr>
            <a:xfrm>
              <a:off x="3985031" y="6631500"/>
              <a:ext cx="3985031" cy="7084500"/>
            </a:xfrm>
            <a:custGeom>
              <a:rect b="b" l="l" r="r" t="t"/>
              <a:pathLst>
                <a:path extrusionOk="0" h="7084500" w="3985031">
                  <a:moveTo>
                    <a:pt x="0" y="0"/>
                  </a:moveTo>
                  <a:lnTo>
                    <a:pt x="3985032" y="0"/>
                  </a:lnTo>
                  <a:lnTo>
                    <a:pt x="3985032" y="7084500"/>
                  </a:lnTo>
                  <a:lnTo>
                    <a:pt x="0" y="7084500"/>
                  </a:lnTo>
                  <a:lnTo>
                    <a:pt x="0" y="0"/>
                  </a:lnTo>
                  <a:close/>
                </a:path>
              </a:pathLst>
            </a:custGeom>
            <a:blipFill rotWithShape="1">
              <a:blip r:embed="rId8">
                <a:alphaModFix/>
              </a:blip>
              <a:stretch>
                <a:fillRect b="0" l="0" r="0" t="0"/>
              </a:stretch>
            </a:blipFill>
            <a:ln>
              <a:noFill/>
            </a:ln>
          </p:spPr>
        </p:sp>
        <p:sp>
          <p:nvSpPr>
            <p:cNvPr id="1935" name="Google Shape;1935;h410af0035cb59894_0_505"/>
            <p:cNvSpPr/>
            <p:nvPr/>
          </p:nvSpPr>
          <p:spPr>
            <a:xfrm>
              <a:off x="7449363" y="6631500"/>
              <a:ext cx="3985031" cy="7084500"/>
            </a:xfrm>
            <a:custGeom>
              <a:rect b="b" l="l" r="r" t="t"/>
              <a:pathLst>
                <a:path extrusionOk="0" h="7084500" w="3985031">
                  <a:moveTo>
                    <a:pt x="0" y="0"/>
                  </a:moveTo>
                  <a:lnTo>
                    <a:pt x="3985031" y="0"/>
                  </a:lnTo>
                  <a:lnTo>
                    <a:pt x="3985031" y="7084500"/>
                  </a:lnTo>
                  <a:lnTo>
                    <a:pt x="0" y="7084500"/>
                  </a:lnTo>
                  <a:lnTo>
                    <a:pt x="0" y="0"/>
                  </a:lnTo>
                  <a:close/>
                </a:path>
              </a:pathLst>
            </a:custGeom>
            <a:blipFill rotWithShape="1">
              <a:blip r:embed="rId9">
                <a:alphaModFix/>
              </a:blip>
              <a:stretch>
                <a:fillRect b="0" l="0" r="0" t="0"/>
              </a:stretch>
            </a:blipFill>
            <a:ln>
              <a:noFill/>
            </a:ln>
          </p:spPr>
        </p:sp>
        <p:sp>
          <p:nvSpPr>
            <p:cNvPr id="1936" name="Google Shape;1936;h410af0035cb59894_0_505"/>
            <p:cNvSpPr/>
            <p:nvPr/>
          </p:nvSpPr>
          <p:spPr>
            <a:xfrm>
              <a:off x="10510145" y="6631500"/>
              <a:ext cx="3985031" cy="7084500"/>
            </a:xfrm>
            <a:custGeom>
              <a:rect b="b" l="l" r="r" t="t"/>
              <a:pathLst>
                <a:path extrusionOk="0" h="7084500" w="3985031">
                  <a:moveTo>
                    <a:pt x="0" y="0"/>
                  </a:moveTo>
                  <a:lnTo>
                    <a:pt x="3985031" y="0"/>
                  </a:lnTo>
                  <a:lnTo>
                    <a:pt x="3985031" y="7084500"/>
                  </a:lnTo>
                  <a:lnTo>
                    <a:pt x="0" y="7084500"/>
                  </a:lnTo>
                  <a:lnTo>
                    <a:pt x="0" y="0"/>
                  </a:lnTo>
                  <a:close/>
                </a:path>
              </a:pathLst>
            </a:custGeom>
            <a:blipFill rotWithShape="1">
              <a:blip r:embed="rId10">
                <a:alphaModFix/>
              </a:blip>
              <a:stretch>
                <a:fillRect b="0" l="0" r="0" t="0"/>
              </a:stretch>
            </a:blipFill>
            <a:ln>
              <a:noFill/>
            </a:ln>
          </p:spPr>
        </p:sp>
      </p:grpSp>
      <p:sp>
        <p:nvSpPr>
          <p:cNvPr id="1937" name="Google Shape;1937;h410af0035cb59894_0_505"/>
          <p:cNvSpPr txBox="1"/>
          <p:nvPr/>
        </p:nvSpPr>
        <p:spPr>
          <a:xfrm>
            <a:off x="7419021" y="1328231"/>
            <a:ext cx="4548600" cy="3533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Leadership Mindfulness</a:t>
            </a:r>
            <a:endParaRPr sz="900"/>
          </a:p>
          <a:p>
            <a:pPr indent="-158750" lvl="1" marL="317500" marR="0" rtl="0" algn="l">
              <a:lnSpc>
                <a:spcPct val="150022"/>
              </a:lnSpc>
              <a:spcBef>
                <a:spcPts val="0"/>
              </a:spcBef>
              <a:spcAft>
                <a:spcPts val="0"/>
              </a:spcAft>
              <a:buClr>
                <a:srgbClr val="FFFFFF"/>
              </a:buClr>
              <a:buSzPts val="1500"/>
              <a:buFont typeface="Arial"/>
              <a:buAutoNum type="arabicPeriod"/>
            </a:pPr>
            <a:r>
              <a:rPr b="0" i="0" lang="en-US" sz="1500" u="none" cap="none" strike="noStrike">
                <a:solidFill>
                  <a:srgbClr val="FFFFFF"/>
                </a:solidFill>
                <a:latin typeface="Arial"/>
                <a:ea typeface="Arial"/>
                <a:cs typeface="Arial"/>
                <a:sym typeface="Arial"/>
              </a:rPr>
              <a:t>Lead Yourself</a:t>
            </a:r>
            <a:endParaRPr sz="900"/>
          </a:p>
          <a:p>
            <a:pPr indent="0" lvl="0" marL="0" marR="0" rtl="0" algn="just">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 Problem Solving &amp; Critical Thinking</a:t>
            </a:r>
            <a:endParaRPr sz="900"/>
          </a:p>
          <a:p>
            <a:pPr indent="0" lvl="0" marL="0" marR="0" rtl="0" algn="just">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 Time Management &amp; Productivity</a:t>
            </a:r>
            <a:endParaRPr sz="900"/>
          </a:p>
          <a:p>
            <a:pPr indent="0" lvl="0" marL="0" marR="0" rtl="0" algn="l">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3. Lead Others (and the Society)</a:t>
            </a:r>
            <a:endParaRPr sz="900"/>
          </a:p>
          <a:p>
            <a:pPr indent="0" lvl="0" marL="0" marR="0" rtl="0" algn="l">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 Teamwork &amp; Collaboration</a:t>
            </a:r>
            <a:endParaRPr sz="900"/>
          </a:p>
          <a:p>
            <a:pPr indent="0" lvl="0" marL="0" marR="0" rtl="0" algn="l">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 Ownership Mindset</a:t>
            </a:r>
            <a:endParaRPr sz="900"/>
          </a:p>
          <a:p>
            <a:pPr indent="0" lvl="0" marL="0" marR="0" rtl="0" algn="l">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 Customer Service Excellence (Hospitality)</a:t>
            </a:r>
            <a:endParaRPr sz="900"/>
          </a:p>
          <a:p>
            <a:pPr indent="0" lvl="0" marL="0" marR="0" rtl="0" algn="l">
              <a:lnSpc>
                <a:spcPct val="150022"/>
              </a:lnSpc>
              <a:spcBef>
                <a:spcPts val="0"/>
              </a:spcBef>
              <a:spcAft>
                <a:spcPts val="0"/>
              </a:spcAft>
              <a:buNone/>
            </a:pPr>
            <a:r>
              <a:rPr b="0" i="0" lang="en-US" sz="1500" u="none" cap="none" strike="noStrike">
                <a:solidFill>
                  <a:srgbClr val="FFFFFF"/>
                </a:solidFill>
                <a:latin typeface="Arial"/>
                <a:ea typeface="Arial"/>
                <a:cs typeface="Arial"/>
                <a:sym typeface="Arial"/>
              </a:rPr>
              <a:t>   4. Grow Another Leader</a:t>
            </a:r>
            <a:endParaRPr sz="900"/>
          </a:p>
        </p:txBody>
      </p:sp>
      <p:grpSp>
        <p:nvGrpSpPr>
          <p:cNvPr id="1938" name="Google Shape;1938;h410af0035cb59894_0_505"/>
          <p:cNvGrpSpPr/>
          <p:nvPr/>
        </p:nvGrpSpPr>
        <p:grpSpPr>
          <a:xfrm>
            <a:off x="0" y="-24110"/>
            <a:ext cx="7247159" cy="7018005"/>
            <a:chOff x="0" y="-9525"/>
            <a:chExt cx="2863245" cy="2772600"/>
          </a:xfrm>
        </p:grpSpPr>
        <p:sp>
          <p:nvSpPr>
            <p:cNvPr id="1939" name="Google Shape;1939;h410af0035cb59894_0_505"/>
            <p:cNvSpPr/>
            <p:nvPr/>
          </p:nvSpPr>
          <p:spPr>
            <a:xfrm>
              <a:off x="0" y="0"/>
              <a:ext cx="2863245" cy="2763009"/>
            </a:xfrm>
            <a:custGeom>
              <a:rect b="b" l="l" r="r" t="t"/>
              <a:pathLst>
                <a:path extrusionOk="0" h="2763009" w="2863245">
                  <a:moveTo>
                    <a:pt x="0" y="0"/>
                  </a:moveTo>
                  <a:lnTo>
                    <a:pt x="2863245" y="0"/>
                  </a:lnTo>
                  <a:lnTo>
                    <a:pt x="2863245" y="2763009"/>
                  </a:lnTo>
                  <a:lnTo>
                    <a:pt x="0" y="2763009"/>
                  </a:lnTo>
                  <a:close/>
                </a:path>
              </a:pathLst>
            </a:custGeom>
            <a:solidFill>
              <a:srgbClr val="000000">
                <a:alpha val="40000"/>
              </a:srgbClr>
            </a:solidFill>
            <a:ln>
              <a:noFill/>
            </a:ln>
          </p:spPr>
        </p:sp>
        <p:sp>
          <p:nvSpPr>
            <p:cNvPr id="1940" name="Google Shape;1940;h410af0035cb59894_0_505"/>
            <p:cNvSpPr txBox="1"/>
            <p:nvPr/>
          </p:nvSpPr>
          <p:spPr>
            <a:xfrm>
              <a:off x="0" y="-9525"/>
              <a:ext cx="2863200" cy="27726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941" name="Google Shape;1941;h410af0035cb59894_0_505"/>
          <p:cNvGrpSpPr/>
          <p:nvPr/>
        </p:nvGrpSpPr>
        <p:grpSpPr>
          <a:xfrm>
            <a:off x="555773" y="1366035"/>
            <a:ext cx="6018450" cy="5164407"/>
            <a:chOff x="0" y="-114300"/>
            <a:chExt cx="2377800" cy="2040300"/>
          </a:xfrm>
        </p:grpSpPr>
        <p:sp>
          <p:nvSpPr>
            <p:cNvPr id="1942" name="Google Shape;1942;h410af0035cb59894_0_505"/>
            <p:cNvSpPr/>
            <p:nvPr/>
          </p:nvSpPr>
          <p:spPr>
            <a:xfrm>
              <a:off x="0" y="0"/>
              <a:ext cx="2377741" cy="1925904"/>
            </a:xfrm>
            <a:custGeom>
              <a:rect b="b" l="l" r="r" t="t"/>
              <a:pathLst>
                <a:path extrusionOk="0" h="1925904" w="2377741">
                  <a:moveTo>
                    <a:pt x="0" y="0"/>
                  </a:moveTo>
                  <a:lnTo>
                    <a:pt x="2377741" y="0"/>
                  </a:lnTo>
                  <a:lnTo>
                    <a:pt x="2377741" y="1925904"/>
                  </a:lnTo>
                  <a:lnTo>
                    <a:pt x="0" y="1925904"/>
                  </a:lnTo>
                  <a:close/>
                </a:path>
              </a:pathLst>
            </a:custGeom>
            <a:solidFill>
              <a:srgbClr val="0D2A4E">
                <a:alpha val="80000"/>
              </a:srgbClr>
            </a:solidFill>
            <a:ln>
              <a:noFill/>
            </a:ln>
          </p:spPr>
        </p:sp>
        <p:sp>
          <p:nvSpPr>
            <p:cNvPr id="1943" name="Google Shape;1943;h410af0035cb59894_0_505"/>
            <p:cNvSpPr txBox="1"/>
            <p:nvPr/>
          </p:nvSpPr>
          <p:spPr>
            <a:xfrm>
              <a:off x="0" y="-114300"/>
              <a:ext cx="2377800" cy="20403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944" name="Google Shape;1944;h410af0035cb59894_0_505"/>
          <p:cNvSpPr/>
          <p:nvPr/>
        </p:nvSpPr>
        <p:spPr>
          <a:xfrm>
            <a:off x="784558" y="1899001"/>
            <a:ext cx="747417" cy="830463"/>
          </a:xfrm>
          <a:custGeom>
            <a:rect b="b" l="l" r="r" t="t"/>
            <a:pathLst>
              <a:path extrusionOk="0" h="1244140" w="1119726">
                <a:moveTo>
                  <a:pt x="0" y="0"/>
                </a:moveTo>
                <a:lnTo>
                  <a:pt x="1119726" y="0"/>
                </a:lnTo>
                <a:lnTo>
                  <a:pt x="1119726" y="1244140"/>
                </a:lnTo>
                <a:lnTo>
                  <a:pt x="0" y="1244140"/>
                </a:lnTo>
                <a:lnTo>
                  <a:pt x="0" y="0"/>
                </a:lnTo>
                <a:close/>
              </a:path>
            </a:pathLst>
          </a:custGeom>
          <a:blipFill rotWithShape="1">
            <a:blip r:embed="rId11">
              <a:alphaModFix/>
            </a:blip>
            <a:stretch>
              <a:fillRect b="0" l="0" r="0" t="0"/>
            </a:stretch>
          </a:blipFill>
          <a:ln>
            <a:noFill/>
          </a:ln>
        </p:spPr>
      </p:sp>
      <p:sp>
        <p:nvSpPr>
          <p:cNvPr id="1945" name="Google Shape;1945;h410af0035cb59894_0_505"/>
          <p:cNvSpPr/>
          <p:nvPr/>
        </p:nvSpPr>
        <p:spPr>
          <a:xfrm>
            <a:off x="784558" y="3005382"/>
            <a:ext cx="747417" cy="666398"/>
          </a:xfrm>
          <a:custGeom>
            <a:rect b="b" l="l" r="r" t="t"/>
            <a:pathLst>
              <a:path extrusionOk="0" h="998349" w="1119726">
                <a:moveTo>
                  <a:pt x="0" y="0"/>
                </a:moveTo>
                <a:lnTo>
                  <a:pt x="1119726" y="0"/>
                </a:lnTo>
                <a:lnTo>
                  <a:pt x="1119726" y="998349"/>
                </a:lnTo>
                <a:lnTo>
                  <a:pt x="0" y="998349"/>
                </a:lnTo>
                <a:lnTo>
                  <a:pt x="0" y="0"/>
                </a:lnTo>
                <a:close/>
              </a:path>
            </a:pathLst>
          </a:custGeom>
          <a:blipFill rotWithShape="1">
            <a:blip r:embed="rId12">
              <a:alphaModFix/>
            </a:blip>
            <a:stretch>
              <a:fillRect b="0" l="0" r="0" t="0"/>
            </a:stretch>
          </a:blipFill>
          <a:ln>
            <a:noFill/>
          </a:ln>
        </p:spPr>
      </p:sp>
      <p:sp>
        <p:nvSpPr>
          <p:cNvPr id="1946" name="Google Shape;1946;h410af0035cb59894_0_505"/>
          <p:cNvSpPr/>
          <p:nvPr/>
        </p:nvSpPr>
        <p:spPr>
          <a:xfrm>
            <a:off x="784558" y="3949461"/>
            <a:ext cx="747417" cy="845842"/>
          </a:xfrm>
          <a:custGeom>
            <a:rect b="b" l="l" r="r" t="t"/>
            <a:pathLst>
              <a:path extrusionOk="0" h="1267179" w="1119726">
                <a:moveTo>
                  <a:pt x="0" y="0"/>
                </a:moveTo>
                <a:lnTo>
                  <a:pt x="1119726" y="0"/>
                </a:lnTo>
                <a:lnTo>
                  <a:pt x="1119726" y="1267179"/>
                </a:lnTo>
                <a:lnTo>
                  <a:pt x="0" y="1267179"/>
                </a:lnTo>
                <a:lnTo>
                  <a:pt x="0" y="0"/>
                </a:lnTo>
                <a:close/>
              </a:path>
            </a:pathLst>
          </a:custGeom>
          <a:blipFill rotWithShape="1">
            <a:blip r:embed="rId13">
              <a:alphaModFix/>
            </a:blip>
            <a:stretch>
              <a:fillRect b="0" l="0" r="0" t="0"/>
            </a:stretch>
          </a:blipFill>
          <a:ln>
            <a:noFill/>
          </a:ln>
        </p:spPr>
      </p:sp>
      <p:sp>
        <p:nvSpPr>
          <p:cNvPr id="1947" name="Google Shape;1947;h410af0035cb59894_0_505"/>
          <p:cNvSpPr/>
          <p:nvPr/>
        </p:nvSpPr>
        <p:spPr>
          <a:xfrm>
            <a:off x="784558" y="5073647"/>
            <a:ext cx="747417" cy="807622"/>
          </a:xfrm>
          <a:custGeom>
            <a:rect b="b" l="l" r="r" t="t"/>
            <a:pathLst>
              <a:path extrusionOk="0" h="1209920" w="1119726">
                <a:moveTo>
                  <a:pt x="0" y="0"/>
                </a:moveTo>
                <a:lnTo>
                  <a:pt x="1119726" y="0"/>
                </a:lnTo>
                <a:lnTo>
                  <a:pt x="1119726" y="1209920"/>
                </a:lnTo>
                <a:lnTo>
                  <a:pt x="0" y="1209920"/>
                </a:lnTo>
                <a:lnTo>
                  <a:pt x="0" y="0"/>
                </a:lnTo>
                <a:close/>
              </a:path>
            </a:pathLst>
          </a:custGeom>
          <a:blipFill rotWithShape="1">
            <a:blip r:embed="rId14">
              <a:alphaModFix/>
            </a:blip>
            <a:stretch>
              <a:fillRect b="0" l="0" r="0" t="0"/>
            </a:stretch>
          </a:blipFill>
          <a:ln>
            <a:noFill/>
          </a:ln>
        </p:spPr>
      </p:sp>
      <p:sp>
        <p:nvSpPr>
          <p:cNvPr id="1948" name="Google Shape;1948;h410af0035cb59894_0_505"/>
          <p:cNvSpPr txBox="1"/>
          <p:nvPr/>
        </p:nvSpPr>
        <p:spPr>
          <a:xfrm>
            <a:off x="487305" y="283801"/>
            <a:ext cx="61554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Alex AC Mobil Semarang</a:t>
            </a:r>
            <a:endParaRPr sz="900"/>
          </a:p>
        </p:txBody>
      </p:sp>
      <p:sp>
        <p:nvSpPr>
          <p:cNvPr id="1949" name="Google Shape;1949;h410af0035cb59894_0_505"/>
          <p:cNvSpPr txBox="1"/>
          <p:nvPr/>
        </p:nvSpPr>
        <p:spPr>
          <a:xfrm>
            <a:off x="1996004" y="3205435"/>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1950" name="Google Shape;1950;h410af0035cb59894_0_505"/>
          <p:cNvSpPr txBox="1"/>
          <p:nvPr/>
        </p:nvSpPr>
        <p:spPr>
          <a:xfrm>
            <a:off x="1996004" y="2103375"/>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Mei 2025</a:t>
            </a:r>
            <a:endParaRPr sz="900"/>
          </a:p>
        </p:txBody>
      </p:sp>
      <p:sp>
        <p:nvSpPr>
          <p:cNvPr id="1951" name="Google Shape;1951;h410af0035cb59894_0_505"/>
          <p:cNvSpPr txBox="1"/>
          <p:nvPr/>
        </p:nvSpPr>
        <p:spPr>
          <a:xfrm>
            <a:off x="1996004" y="4165454"/>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25 Participants</a:t>
            </a:r>
            <a:endParaRPr sz="900"/>
          </a:p>
        </p:txBody>
      </p:sp>
      <p:sp>
        <p:nvSpPr>
          <p:cNvPr id="1952" name="Google Shape;1952;h410af0035cb59894_0_505"/>
          <p:cNvSpPr txBox="1"/>
          <p:nvPr/>
        </p:nvSpPr>
        <p:spPr>
          <a:xfrm>
            <a:off x="1996004" y="4901327"/>
            <a:ext cx="4283100" cy="1203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Naik Level di Tempat Kerja:</a:t>
            </a:r>
            <a:endParaRPr sz="900"/>
          </a:p>
          <a:p>
            <a:pPr indent="0" lvl="0" marL="0" marR="0" rtl="0" algn="l">
              <a:lnSpc>
                <a:spcPct val="120005"/>
              </a:lnSpc>
              <a:spcBef>
                <a:spcPts val="0"/>
              </a:spcBef>
              <a:spcAft>
                <a:spcPts val="0"/>
              </a:spcAft>
              <a:buNone/>
            </a:pPr>
            <a:r>
              <a:rPr b="0" i="0" lang="en-US" sz="2300" u="none" cap="none" strike="noStrike">
                <a:solidFill>
                  <a:srgbClr val="FFFFFF"/>
                </a:solidFill>
                <a:latin typeface="Arial"/>
                <a:ea typeface="Arial"/>
                <a:cs typeface="Arial"/>
                <a:sym typeface="Arial"/>
              </a:rPr>
              <a:t>Ownership, Customer Excellence &amp; Productivity</a:t>
            </a:r>
            <a:endParaRPr sz="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956" name="Shape 1956"/>
        <p:cNvGrpSpPr/>
        <p:nvPr/>
      </p:nvGrpSpPr>
      <p:grpSpPr>
        <a:xfrm>
          <a:off x="0" y="0"/>
          <a:ext cx="0" cy="0"/>
          <a:chOff x="0" y="0"/>
          <a:chExt cx="0" cy="0"/>
        </a:xfrm>
      </p:grpSpPr>
      <p:sp>
        <p:nvSpPr>
          <p:cNvPr id="1957" name="Google Shape;1957;h410af0035cb59894_0_534"/>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1958" name="Google Shape;1958;h410af0035cb59894_0_534"/>
          <p:cNvSpPr/>
          <p:nvPr/>
        </p:nvSpPr>
        <p:spPr>
          <a:xfrm>
            <a:off x="7247395"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959" name="Google Shape;1959;h410af0035cb59894_0_534"/>
          <p:cNvSpPr/>
          <p:nvPr/>
        </p:nvSpPr>
        <p:spPr>
          <a:xfrm>
            <a:off x="0" y="0"/>
            <a:ext cx="1813950" cy="3224800"/>
          </a:xfrm>
          <a:custGeom>
            <a:rect b="b" l="l" r="r" t="t"/>
            <a:pathLst>
              <a:path extrusionOk="0" h="4831161" w="2717528">
                <a:moveTo>
                  <a:pt x="0" y="0"/>
                </a:moveTo>
                <a:lnTo>
                  <a:pt x="2717528" y="0"/>
                </a:lnTo>
                <a:lnTo>
                  <a:pt x="2717528" y="4831161"/>
                </a:lnTo>
                <a:lnTo>
                  <a:pt x="0" y="4831161"/>
                </a:lnTo>
                <a:lnTo>
                  <a:pt x="0" y="0"/>
                </a:lnTo>
                <a:close/>
              </a:path>
            </a:pathLst>
          </a:custGeom>
          <a:blipFill rotWithShape="1">
            <a:blip r:embed="rId4">
              <a:alphaModFix/>
            </a:blip>
            <a:stretch>
              <a:fillRect b="0" l="0" r="0" t="0"/>
            </a:stretch>
          </a:blipFill>
          <a:ln>
            <a:noFill/>
          </a:ln>
        </p:spPr>
      </p:sp>
      <p:sp>
        <p:nvSpPr>
          <p:cNvPr id="1960" name="Google Shape;1960;h410af0035cb59894_0_534"/>
          <p:cNvSpPr/>
          <p:nvPr/>
        </p:nvSpPr>
        <p:spPr>
          <a:xfrm>
            <a:off x="1811637" y="0"/>
            <a:ext cx="5325197" cy="3224800"/>
          </a:xfrm>
          <a:custGeom>
            <a:rect b="b" l="l" r="r" t="t"/>
            <a:pathLst>
              <a:path extrusionOk="0" h="4831161" w="7977823">
                <a:moveTo>
                  <a:pt x="0" y="0"/>
                </a:moveTo>
                <a:lnTo>
                  <a:pt x="7977823" y="0"/>
                </a:lnTo>
                <a:lnTo>
                  <a:pt x="7977823" y="4831161"/>
                </a:lnTo>
                <a:lnTo>
                  <a:pt x="0" y="4831161"/>
                </a:lnTo>
                <a:lnTo>
                  <a:pt x="0" y="0"/>
                </a:lnTo>
                <a:close/>
              </a:path>
            </a:pathLst>
          </a:custGeom>
          <a:blipFill rotWithShape="1">
            <a:blip r:embed="rId5">
              <a:alphaModFix/>
            </a:blip>
            <a:stretch>
              <a:fillRect b="0" l="-7660" r="0" t="0"/>
            </a:stretch>
          </a:blipFill>
          <a:ln>
            <a:noFill/>
          </a:ln>
        </p:spPr>
      </p:sp>
      <p:sp>
        <p:nvSpPr>
          <p:cNvPr id="1961" name="Google Shape;1961;h410af0035cb59894_0_534"/>
          <p:cNvSpPr/>
          <p:nvPr/>
        </p:nvSpPr>
        <p:spPr>
          <a:xfrm>
            <a:off x="-1381848" y="3220774"/>
            <a:ext cx="6474262" cy="3641773"/>
          </a:xfrm>
          <a:custGeom>
            <a:rect b="b" l="l" r="r" t="t"/>
            <a:pathLst>
              <a:path extrusionOk="0" h="5455839" w="9699269">
                <a:moveTo>
                  <a:pt x="0" y="0"/>
                </a:moveTo>
                <a:lnTo>
                  <a:pt x="9699269" y="0"/>
                </a:lnTo>
                <a:lnTo>
                  <a:pt x="9699269" y="5455839"/>
                </a:lnTo>
                <a:lnTo>
                  <a:pt x="0" y="5455839"/>
                </a:lnTo>
                <a:lnTo>
                  <a:pt x="0" y="0"/>
                </a:lnTo>
                <a:close/>
              </a:path>
            </a:pathLst>
          </a:custGeom>
          <a:blipFill rotWithShape="1">
            <a:blip r:embed="rId6">
              <a:alphaModFix/>
            </a:blip>
            <a:stretch>
              <a:fillRect b="0" l="0" r="0" t="0"/>
            </a:stretch>
          </a:blipFill>
          <a:ln>
            <a:noFill/>
          </a:ln>
        </p:spPr>
      </p:sp>
      <p:sp>
        <p:nvSpPr>
          <p:cNvPr id="1962" name="Google Shape;1962;h410af0035cb59894_0_534"/>
          <p:cNvSpPr/>
          <p:nvPr/>
        </p:nvSpPr>
        <p:spPr>
          <a:xfrm>
            <a:off x="5084159" y="3220774"/>
            <a:ext cx="2048497" cy="3641773"/>
          </a:xfrm>
          <a:custGeom>
            <a:rect b="b" l="l" r="r" t="t"/>
            <a:pathLst>
              <a:path extrusionOk="0" h="5455839" w="3068909">
                <a:moveTo>
                  <a:pt x="0" y="0"/>
                </a:moveTo>
                <a:lnTo>
                  <a:pt x="3068909" y="0"/>
                </a:lnTo>
                <a:lnTo>
                  <a:pt x="3068909" y="5455839"/>
                </a:lnTo>
                <a:lnTo>
                  <a:pt x="0" y="5455839"/>
                </a:lnTo>
                <a:lnTo>
                  <a:pt x="0" y="0"/>
                </a:lnTo>
                <a:close/>
              </a:path>
            </a:pathLst>
          </a:custGeom>
          <a:blipFill rotWithShape="1">
            <a:blip r:embed="rId7">
              <a:alphaModFix/>
            </a:blip>
            <a:stretch>
              <a:fillRect b="0" l="0" r="0" t="0"/>
            </a:stretch>
          </a:blipFill>
          <a:ln>
            <a:noFill/>
          </a:ln>
        </p:spPr>
      </p:sp>
      <p:grpSp>
        <p:nvGrpSpPr>
          <p:cNvPr id="1963" name="Google Shape;1963;h410af0035cb59894_0_534"/>
          <p:cNvGrpSpPr/>
          <p:nvPr/>
        </p:nvGrpSpPr>
        <p:grpSpPr>
          <a:xfrm>
            <a:off x="0" y="-24110"/>
            <a:ext cx="7130109" cy="6943170"/>
            <a:chOff x="0" y="-9525"/>
            <a:chExt cx="2817000" cy="2743035"/>
          </a:xfrm>
        </p:grpSpPr>
        <p:sp>
          <p:nvSpPr>
            <p:cNvPr id="1964" name="Google Shape;1964;h410af0035cb59894_0_534"/>
            <p:cNvSpPr/>
            <p:nvPr/>
          </p:nvSpPr>
          <p:spPr>
            <a:xfrm>
              <a:off x="0" y="0"/>
              <a:ext cx="2816883" cy="2733510"/>
            </a:xfrm>
            <a:custGeom>
              <a:rect b="b" l="l" r="r" t="t"/>
              <a:pathLst>
                <a:path extrusionOk="0" h="2733510" w="2816883">
                  <a:moveTo>
                    <a:pt x="0" y="0"/>
                  </a:moveTo>
                  <a:lnTo>
                    <a:pt x="2816883" y="0"/>
                  </a:lnTo>
                  <a:lnTo>
                    <a:pt x="2816883" y="2733510"/>
                  </a:lnTo>
                  <a:lnTo>
                    <a:pt x="0" y="2733510"/>
                  </a:lnTo>
                  <a:close/>
                </a:path>
              </a:pathLst>
            </a:custGeom>
            <a:solidFill>
              <a:srgbClr val="000000">
                <a:alpha val="40000"/>
              </a:srgbClr>
            </a:solidFill>
            <a:ln>
              <a:noFill/>
            </a:ln>
          </p:spPr>
        </p:sp>
        <p:sp>
          <p:nvSpPr>
            <p:cNvPr id="1965" name="Google Shape;1965;h410af0035cb59894_0_534"/>
            <p:cNvSpPr txBox="1"/>
            <p:nvPr/>
          </p:nvSpPr>
          <p:spPr>
            <a:xfrm>
              <a:off x="0" y="-9525"/>
              <a:ext cx="2817000" cy="27429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966" name="Google Shape;1966;h410af0035cb59894_0_534"/>
          <p:cNvGrpSpPr/>
          <p:nvPr/>
        </p:nvGrpSpPr>
        <p:grpSpPr>
          <a:xfrm>
            <a:off x="555773" y="1115115"/>
            <a:ext cx="6018450" cy="5164407"/>
            <a:chOff x="0" y="-114300"/>
            <a:chExt cx="2377800" cy="2040300"/>
          </a:xfrm>
        </p:grpSpPr>
        <p:sp>
          <p:nvSpPr>
            <p:cNvPr id="1967" name="Google Shape;1967;h410af0035cb59894_0_534"/>
            <p:cNvSpPr/>
            <p:nvPr/>
          </p:nvSpPr>
          <p:spPr>
            <a:xfrm>
              <a:off x="0" y="0"/>
              <a:ext cx="2377741" cy="1925904"/>
            </a:xfrm>
            <a:custGeom>
              <a:rect b="b" l="l" r="r" t="t"/>
              <a:pathLst>
                <a:path extrusionOk="0" h="1925904" w="2377741">
                  <a:moveTo>
                    <a:pt x="0" y="0"/>
                  </a:moveTo>
                  <a:lnTo>
                    <a:pt x="2377741" y="0"/>
                  </a:lnTo>
                  <a:lnTo>
                    <a:pt x="2377741" y="1925904"/>
                  </a:lnTo>
                  <a:lnTo>
                    <a:pt x="0" y="1925904"/>
                  </a:lnTo>
                  <a:close/>
                </a:path>
              </a:pathLst>
            </a:custGeom>
            <a:solidFill>
              <a:srgbClr val="0D2A4E">
                <a:alpha val="60000"/>
              </a:srgbClr>
            </a:solidFill>
            <a:ln>
              <a:noFill/>
            </a:ln>
          </p:spPr>
        </p:sp>
        <p:sp>
          <p:nvSpPr>
            <p:cNvPr id="1968" name="Google Shape;1968;h410af0035cb59894_0_534"/>
            <p:cNvSpPr txBox="1"/>
            <p:nvPr/>
          </p:nvSpPr>
          <p:spPr>
            <a:xfrm>
              <a:off x="0" y="-114300"/>
              <a:ext cx="2377800" cy="20403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969" name="Google Shape;1969;h410af0035cb59894_0_534"/>
          <p:cNvSpPr/>
          <p:nvPr/>
        </p:nvSpPr>
        <p:spPr>
          <a:xfrm>
            <a:off x="784558" y="1648081"/>
            <a:ext cx="747417" cy="830463"/>
          </a:xfrm>
          <a:custGeom>
            <a:rect b="b" l="l" r="r" t="t"/>
            <a:pathLst>
              <a:path extrusionOk="0" h="1244140" w="1119726">
                <a:moveTo>
                  <a:pt x="0" y="0"/>
                </a:moveTo>
                <a:lnTo>
                  <a:pt x="1119726" y="0"/>
                </a:lnTo>
                <a:lnTo>
                  <a:pt x="1119726" y="1244140"/>
                </a:lnTo>
                <a:lnTo>
                  <a:pt x="0" y="1244140"/>
                </a:lnTo>
                <a:lnTo>
                  <a:pt x="0" y="0"/>
                </a:lnTo>
                <a:close/>
              </a:path>
            </a:pathLst>
          </a:custGeom>
          <a:blipFill rotWithShape="1">
            <a:blip r:embed="rId8">
              <a:alphaModFix/>
            </a:blip>
            <a:stretch>
              <a:fillRect b="0" l="0" r="0" t="0"/>
            </a:stretch>
          </a:blipFill>
          <a:ln>
            <a:noFill/>
          </a:ln>
        </p:spPr>
      </p:sp>
      <p:sp>
        <p:nvSpPr>
          <p:cNvPr id="1970" name="Google Shape;1970;h410af0035cb59894_0_534"/>
          <p:cNvSpPr txBox="1"/>
          <p:nvPr/>
        </p:nvSpPr>
        <p:spPr>
          <a:xfrm>
            <a:off x="511934" y="29578"/>
            <a:ext cx="5569800" cy="10869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3300" u="none" cap="none" strike="noStrike">
                <a:solidFill>
                  <a:srgbClr val="FFFFFF"/>
                </a:solidFill>
                <a:latin typeface="Arial"/>
                <a:ea typeface="Arial"/>
                <a:cs typeface="Arial"/>
                <a:sym typeface="Arial"/>
              </a:rPr>
              <a:t>Indosat Ooredoo Hutchison</a:t>
            </a:r>
            <a:endParaRPr sz="900"/>
          </a:p>
        </p:txBody>
      </p:sp>
      <p:sp>
        <p:nvSpPr>
          <p:cNvPr id="1971" name="Google Shape;1971;h410af0035cb59894_0_534"/>
          <p:cNvSpPr txBox="1"/>
          <p:nvPr/>
        </p:nvSpPr>
        <p:spPr>
          <a:xfrm>
            <a:off x="1996004" y="2954515"/>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1972" name="Google Shape;1972;h410af0035cb59894_0_534"/>
          <p:cNvSpPr/>
          <p:nvPr/>
        </p:nvSpPr>
        <p:spPr>
          <a:xfrm>
            <a:off x="784558" y="2754462"/>
            <a:ext cx="747417" cy="666398"/>
          </a:xfrm>
          <a:custGeom>
            <a:rect b="b" l="l" r="r" t="t"/>
            <a:pathLst>
              <a:path extrusionOk="0" h="998349" w="1119726">
                <a:moveTo>
                  <a:pt x="0" y="0"/>
                </a:moveTo>
                <a:lnTo>
                  <a:pt x="1119726" y="0"/>
                </a:lnTo>
                <a:lnTo>
                  <a:pt x="1119726" y="998349"/>
                </a:lnTo>
                <a:lnTo>
                  <a:pt x="0" y="998349"/>
                </a:lnTo>
                <a:lnTo>
                  <a:pt x="0" y="0"/>
                </a:lnTo>
                <a:close/>
              </a:path>
            </a:pathLst>
          </a:custGeom>
          <a:blipFill rotWithShape="1">
            <a:blip r:embed="rId9">
              <a:alphaModFix/>
            </a:blip>
            <a:stretch>
              <a:fillRect b="0" l="0" r="0" t="0"/>
            </a:stretch>
          </a:blipFill>
          <a:ln>
            <a:noFill/>
          </a:ln>
        </p:spPr>
      </p:sp>
      <p:sp>
        <p:nvSpPr>
          <p:cNvPr id="1973" name="Google Shape;1973;h410af0035cb59894_0_534"/>
          <p:cNvSpPr txBox="1"/>
          <p:nvPr/>
        </p:nvSpPr>
        <p:spPr>
          <a:xfrm>
            <a:off x="1996004" y="1852455"/>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July 2024</a:t>
            </a:r>
            <a:endParaRPr sz="900"/>
          </a:p>
        </p:txBody>
      </p:sp>
      <p:sp>
        <p:nvSpPr>
          <p:cNvPr id="1974" name="Google Shape;1974;h410af0035cb59894_0_534"/>
          <p:cNvSpPr/>
          <p:nvPr/>
        </p:nvSpPr>
        <p:spPr>
          <a:xfrm>
            <a:off x="784558" y="3698541"/>
            <a:ext cx="747417" cy="845842"/>
          </a:xfrm>
          <a:custGeom>
            <a:rect b="b" l="l" r="r" t="t"/>
            <a:pathLst>
              <a:path extrusionOk="0" h="1267179" w="1119726">
                <a:moveTo>
                  <a:pt x="0" y="0"/>
                </a:moveTo>
                <a:lnTo>
                  <a:pt x="1119726" y="0"/>
                </a:lnTo>
                <a:lnTo>
                  <a:pt x="1119726" y="1267179"/>
                </a:lnTo>
                <a:lnTo>
                  <a:pt x="0" y="1267179"/>
                </a:lnTo>
                <a:lnTo>
                  <a:pt x="0" y="0"/>
                </a:lnTo>
                <a:close/>
              </a:path>
            </a:pathLst>
          </a:custGeom>
          <a:blipFill rotWithShape="1">
            <a:blip r:embed="rId10">
              <a:alphaModFix/>
            </a:blip>
            <a:stretch>
              <a:fillRect b="0" l="0" r="0" t="0"/>
            </a:stretch>
          </a:blipFill>
          <a:ln>
            <a:noFill/>
          </a:ln>
        </p:spPr>
      </p:sp>
      <p:sp>
        <p:nvSpPr>
          <p:cNvPr id="1975" name="Google Shape;1975;h410af0035cb59894_0_534"/>
          <p:cNvSpPr txBox="1"/>
          <p:nvPr/>
        </p:nvSpPr>
        <p:spPr>
          <a:xfrm>
            <a:off x="1996004" y="3914534"/>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30 Participants</a:t>
            </a:r>
            <a:endParaRPr sz="900"/>
          </a:p>
        </p:txBody>
      </p:sp>
      <p:sp>
        <p:nvSpPr>
          <p:cNvPr id="1976" name="Google Shape;1976;h410af0035cb59894_0_534"/>
          <p:cNvSpPr/>
          <p:nvPr/>
        </p:nvSpPr>
        <p:spPr>
          <a:xfrm>
            <a:off x="784558" y="4822727"/>
            <a:ext cx="747417" cy="807622"/>
          </a:xfrm>
          <a:custGeom>
            <a:rect b="b" l="l" r="r" t="t"/>
            <a:pathLst>
              <a:path extrusionOk="0" h="1209920" w="1119726">
                <a:moveTo>
                  <a:pt x="0" y="0"/>
                </a:moveTo>
                <a:lnTo>
                  <a:pt x="1119726" y="0"/>
                </a:lnTo>
                <a:lnTo>
                  <a:pt x="1119726" y="1209920"/>
                </a:lnTo>
                <a:lnTo>
                  <a:pt x="0" y="1209920"/>
                </a:lnTo>
                <a:lnTo>
                  <a:pt x="0" y="0"/>
                </a:lnTo>
                <a:close/>
              </a:path>
            </a:pathLst>
          </a:custGeom>
          <a:blipFill rotWithShape="1">
            <a:blip r:embed="rId11">
              <a:alphaModFix/>
            </a:blip>
            <a:stretch>
              <a:fillRect b="0" l="0" r="0" t="0"/>
            </a:stretch>
          </a:blipFill>
          <a:ln>
            <a:noFill/>
          </a:ln>
        </p:spPr>
      </p:sp>
      <p:sp>
        <p:nvSpPr>
          <p:cNvPr id="1977" name="Google Shape;1977;h410af0035cb59894_0_534"/>
          <p:cNvSpPr txBox="1"/>
          <p:nvPr/>
        </p:nvSpPr>
        <p:spPr>
          <a:xfrm>
            <a:off x="1996004" y="4816377"/>
            <a:ext cx="4283100" cy="1203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Effective CS Techniques for Gen Z on Indosat Ooredoo’s Socmed</a:t>
            </a:r>
            <a:endParaRPr sz="900"/>
          </a:p>
        </p:txBody>
      </p:sp>
      <p:sp>
        <p:nvSpPr>
          <p:cNvPr id="1978" name="Google Shape;1978;h410af0035cb59894_0_534"/>
          <p:cNvSpPr txBox="1"/>
          <p:nvPr/>
        </p:nvSpPr>
        <p:spPr>
          <a:xfrm>
            <a:off x="7419021" y="1328231"/>
            <a:ext cx="4415100" cy="2624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300" u="none" cap="none" strike="noStrike">
                <a:solidFill>
                  <a:srgbClr val="FFFFFF"/>
                </a:solidFill>
                <a:latin typeface="Arial"/>
                <a:ea typeface="Arial"/>
                <a:cs typeface="Arial"/>
                <a:sym typeface="Arial"/>
              </a:rPr>
              <a:t>LIST OF MATERIALS:</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Understanding Gen Z</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Main Metrics in Socmed Measurement</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Crafting Effective Responses</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Engaging Content for CS</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Dealing with Difficult Situations</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Interactive Session and Role-Play</a:t>
            </a:r>
            <a:endParaRPr sz="900"/>
          </a:p>
        </p:txBody>
      </p:sp>
      <p:sp>
        <p:nvSpPr>
          <p:cNvPr id="1979" name="Google Shape;1979;h410af0035cb59894_0_534"/>
          <p:cNvSpPr/>
          <p:nvPr/>
        </p:nvSpPr>
        <p:spPr>
          <a:xfrm>
            <a:off x="9427099" y="190525"/>
            <a:ext cx="2545938" cy="885821"/>
          </a:xfrm>
          <a:custGeom>
            <a:rect b="b" l="l" r="r" t="t"/>
            <a:pathLst>
              <a:path extrusionOk="0" h="1327072" w="3814139">
                <a:moveTo>
                  <a:pt x="0" y="0"/>
                </a:moveTo>
                <a:lnTo>
                  <a:pt x="3814139" y="0"/>
                </a:lnTo>
                <a:lnTo>
                  <a:pt x="3814139" y="1327072"/>
                </a:lnTo>
                <a:lnTo>
                  <a:pt x="0" y="1327072"/>
                </a:lnTo>
                <a:lnTo>
                  <a:pt x="0" y="0"/>
                </a:lnTo>
                <a:close/>
              </a:path>
            </a:pathLst>
          </a:custGeom>
          <a:blipFill rotWithShape="1">
            <a:blip r:embed="rId12">
              <a:alphaModFix/>
            </a:blip>
            <a:stretch>
              <a:fillRect b="0" l="0" r="0" t="0"/>
            </a:stretch>
          </a:blipFill>
          <a:ln>
            <a:noFill/>
          </a:ln>
        </p:spPr>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1983" name="Shape 1983"/>
        <p:cNvGrpSpPr/>
        <p:nvPr/>
      </p:nvGrpSpPr>
      <p:grpSpPr>
        <a:xfrm>
          <a:off x="0" y="0"/>
          <a:ext cx="0" cy="0"/>
          <a:chOff x="0" y="0"/>
          <a:chExt cx="0" cy="0"/>
        </a:xfrm>
      </p:grpSpPr>
      <p:sp>
        <p:nvSpPr>
          <p:cNvPr id="1984" name="Google Shape;1984;h410af0035cb59894_0_560"/>
          <p:cNvSpPr/>
          <p:nvPr/>
        </p:nvSpPr>
        <p:spPr>
          <a:xfrm>
            <a:off x="7247395"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1985" name="Google Shape;1985;h410af0035cb59894_0_560"/>
          <p:cNvSpPr/>
          <p:nvPr/>
        </p:nvSpPr>
        <p:spPr>
          <a:xfrm>
            <a:off x="0" y="0"/>
            <a:ext cx="2570737" cy="3433286"/>
          </a:xfrm>
          <a:custGeom>
            <a:rect b="b" l="l" r="r" t="t"/>
            <a:pathLst>
              <a:path extrusionOk="0" h="5143500" w="3851291">
                <a:moveTo>
                  <a:pt x="0" y="0"/>
                </a:moveTo>
                <a:lnTo>
                  <a:pt x="3851291" y="0"/>
                </a:lnTo>
                <a:lnTo>
                  <a:pt x="3851291" y="5143500"/>
                </a:lnTo>
                <a:lnTo>
                  <a:pt x="0" y="5143500"/>
                </a:lnTo>
                <a:lnTo>
                  <a:pt x="0" y="0"/>
                </a:lnTo>
                <a:close/>
              </a:path>
            </a:pathLst>
          </a:custGeom>
          <a:blipFill rotWithShape="1">
            <a:blip r:embed="rId4">
              <a:alphaModFix/>
            </a:blip>
            <a:stretch>
              <a:fillRect b="0" l="0" r="0" t="0"/>
            </a:stretch>
          </a:blipFill>
          <a:ln>
            <a:noFill/>
          </a:ln>
        </p:spPr>
      </p:sp>
      <p:sp>
        <p:nvSpPr>
          <p:cNvPr id="1986" name="Google Shape;1986;h410af0035cb59894_0_560"/>
          <p:cNvSpPr/>
          <p:nvPr/>
        </p:nvSpPr>
        <p:spPr>
          <a:xfrm>
            <a:off x="2567459" y="6039"/>
            <a:ext cx="4560728" cy="3427240"/>
          </a:xfrm>
          <a:custGeom>
            <a:rect b="b" l="l" r="r" t="t"/>
            <a:pathLst>
              <a:path extrusionOk="0" h="5134442" w="6832551">
                <a:moveTo>
                  <a:pt x="0" y="0"/>
                </a:moveTo>
                <a:lnTo>
                  <a:pt x="6832551" y="0"/>
                </a:lnTo>
                <a:lnTo>
                  <a:pt x="6832551" y="5134442"/>
                </a:lnTo>
                <a:lnTo>
                  <a:pt x="0" y="5134442"/>
                </a:lnTo>
                <a:lnTo>
                  <a:pt x="0" y="0"/>
                </a:lnTo>
                <a:close/>
              </a:path>
            </a:pathLst>
          </a:custGeom>
          <a:blipFill rotWithShape="1">
            <a:blip r:embed="rId5">
              <a:alphaModFix/>
            </a:blip>
            <a:stretch>
              <a:fillRect b="0" l="0" r="0" t="0"/>
            </a:stretch>
          </a:blipFill>
          <a:ln>
            <a:noFill/>
          </a:ln>
        </p:spPr>
      </p:sp>
      <p:sp>
        <p:nvSpPr>
          <p:cNvPr id="1987" name="Google Shape;1987;h410af0035cb59894_0_560"/>
          <p:cNvSpPr txBox="1"/>
          <p:nvPr/>
        </p:nvSpPr>
        <p:spPr>
          <a:xfrm>
            <a:off x="7419021" y="1340931"/>
            <a:ext cx="4415100" cy="403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000" u="none" cap="none" strike="noStrike">
                <a:solidFill>
                  <a:srgbClr val="FFFFFF"/>
                </a:solidFill>
                <a:latin typeface="Arial"/>
                <a:ea typeface="Arial"/>
                <a:cs typeface="Arial"/>
                <a:sym typeface="Arial"/>
              </a:rPr>
              <a:t>LIST OF MATERIALS:</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Classifying Customers and Spot The Main Problem</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Building the Through Solutions for The Main Problems</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Communicating the Solutions in an Attentive Way</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Learning the Difference in Communication</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Implementing the Knowledge in Real-Case Experience</a:t>
            </a:r>
            <a:endParaRPr sz="900"/>
          </a:p>
          <a:p>
            <a:pPr indent="-177800" lvl="1" marL="342900" marR="0" rtl="0" algn="l">
              <a:lnSpc>
                <a:spcPct val="150000"/>
              </a:lnSpc>
              <a:spcBef>
                <a:spcPts val="0"/>
              </a:spcBef>
              <a:spcAft>
                <a:spcPts val="0"/>
              </a:spcAft>
              <a:buClr>
                <a:srgbClr val="FFFFFF"/>
              </a:buClr>
              <a:buSzPts val="1600"/>
              <a:buFont typeface="Arial"/>
              <a:buAutoNum type="arabicPeriod"/>
            </a:pPr>
            <a:r>
              <a:rPr b="0" i="0" lang="en-US" sz="1600" u="none" cap="none" strike="noStrike">
                <a:solidFill>
                  <a:srgbClr val="FFFFFF"/>
                </a:solidFill>
                <a:latin typeface="Arial"/>
                <a:ea typeface="Arial"/>
                <a:cs typeface="Arial"/>
                <a:sym typeface="Arial"/>
              </a:rPr>
              <a:t>Retrospective Team Meeting</a:t>
            </a:r>
            <a:endParaRPr sz="900"/>
          </a:p>
        </p:txBody>
      </p:sp>
      <p:sp>
        <p:nvSpPr>
          <p:cNvPr id="1988" name="Google Shape;1988;h410af0035cb59894_0_560"/>
          <p:cNvSpPr/>
          <p:nvPr/>
        </p:nvSpPr>
        <p:spPr>
          <a:xfrm>
            <a:off x="0" y="3429000"/>
            <a:ext cx="4560728" cy="3427240"/>
          </a:xfrm>
          <a:custGeom>
            <a:rect b="b" l="l" r="r" t="t"/>
            <a:pathLst>
              <a:path extrusionOk="0" h="5134442" w="6832551">
                <a:moveTo>
                  <a:pt x="0" y="0"/>
                </a:moveTo>
                <a:lnTo>
                  <a:pt x="6832551" y="0"/>
                </a:lnTo>
                <a:lnTo>
                  <a:pt x="6832551" y="5134442"/>
                </a:lnTo>
                <a:lnTo>
                  <a:pt x="0" y="5134442"/>
                </a:lnTo>
                <a:lnTo>
                  <a:pt x="0" y="0"/>
                </a:lnTo>
                <a:close/>
              </a:path>
            </a:pathLst>
          </a:custGeom>
          <a:blipFill rotWithShape="1">
            <a:blip r:embed="rId5">
              <a:alphaModFix/>
            </a:blip>
            <a:stretch>
              <a:fillRect b="0" l="0" r="0" t="0"/>
            </a:stretch>
          </a:blipFill>
          <a:ln>
            <a:noFill/>
          </a:ln>
        </p:spPr>
      </p:sp>
      <p:sp>
        <p:nvSpPr>
          <p:cNvPr id="1989" name="Google Shape;1989;h410af0035cb59894_0_560"/>
          <p:cNvSpPr/>
          <p:nvPr/>
        </p:nvSpPr>
        <p:spPr>
          <a:xfrm>
            <a:off x="4554913" y="3429000"/>
            <a:ext cx="2570737" cy="3433286"/>
          </a:xfrm>
          <a:custGeom>
            <a:rect b="b" l="l" r="r" t="t"/>
            <a:pathLst>
              <a:path extrusionOk="0" h="5143500" w="3851291">
                <a:moveTo>
                  <a:pt x="0" y="0"/>
                </a:moveTo>
                <a:lnTo>
                  <a:pt x="3851291" y="0"/>
                </a:lnTo>
                <a:lnTo>
                  <a:pt x="3851291" y="5143500"/>
                </a:lnTo>
                <a:lnTo>
                  <a:pt x="0" y="5143500"/>
                </a:lnTo>
                <a:lnTo>
                  <a:pt x="0" y="0"/>
                </a:lnTo>
                <a:close/>
              </a:path>
            </a:pathLst>
          </a:custGeom>
          <a:blipFill rotWithShape="1">
            <a:blip r:embed="rId4">
              <a:alphaModFix/>
            </a:blip>
            <a:stretch>
              <a:fillRect b="0" l="0" r="0" t="0"/>
            </a:stretch>
          </a:blipFill>
          <a:ln>
            <a:noFill/>
          </a:ln>
        </p:spPr>
      </p:sp>
      <p:grpSp>
        <p:nvGrpSpPr>
          <p:cNvPr id="1990" name="Google Shape;1990;h410af0035cb59894_0_560"/>
          <p:cNvGrpSpPr/>
          <p:nvPr/>
        </p:nvGrpSpPr>
        <p:grpSpPr>
          <a:xfrm>
            <a:off x="0" y="-24110"/>
            <a:ext cx="7130109" cy="6943170"/>
            <a:chOff x="0" y="-9525"/>
            <a:chExt cx="2817000" cy="2743035"/>
          </a:xfrm>
        </p:grpSpPr>
        <p:sp>
          <p:nvSpPr>
            <p:cNvPr id="1991" name="Google Shape;1991;h410af0035cb59894_0_560"/>
            <p:cNvSpPr/>
            <p:nvPr/>
          </p:nvSpPr>
          <p:spPr>
            <a:xfrm>
              <a:off x="0" y="0"/>
              <a:ext cx="2816883" cy="2733510"/>
            </a:xfrm>
            <a:custGeom>
              <a:rect b="b" l="l" r="r" t="t"/>
              <a:pathLst>
                <a:path extrusionOk="0" h="2733510" w="2816883">
                  <a:moveTo>
                    <a:pt x="0" y="0"/>
                  </a:moveTo>
                  <a:lnTo>
                    <a:pt x="2816883" y="0"/>
                  </a:lnTo>
                  <a:lnTo>
                    <a:pt x="2816883" y="2733510"/>
                  </a:lnTo>
                  <a:lnTo>
                    <a:pt x="0" y="2733510"/>
                  </a:lnTo>
                  <a:close/>
                </a:path>
              </a:pathLst>
            </a:custGeom>
            <a:solidFill>
              <a:srgbClr val="000000">
                <a:alpha val="40000"/>
              </a:srgbClr>
            </a:solidFill>
            <a:ln>
              <a:noFill/>
            </a:ln>
          </p:spPr>
        </p:sp>
        <p:sp>
          <p:nvSpPr>
            <p:cNvPr id="1992" name="Google Shape;1992;h410af0035cb59894_0_560"/>
            <p:cNvSpPr txBox="1"/>
            <p:nvPr/>
          </p:nvSpPr>
          <p:spPr>
            <a:xfrm>
              <a:off x="0" y="-9525"/>
              <a:ext cx="2817000" cy="27429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1993" name="Google Shape;1993;h410af0035cb59894_0_560"/>
          <p:cNvGrpSpPr/>
          <p:nvPr/>
        </p:nvGrpSpPr>
        <p:grpSpPr>
          <a:xfrm>
            <a:off x="555773" y="1115115"/>
            <a:ext cx="6018450" cy="5164407"/>
            <a:chOff x="0" y="-114300"/>
            <a:chExt cx="2377800" cy="2040300"/>
          </a:xfrm>
        </p:grpSpPr>
        <p:sp>
          <p:nvSpPr>
            <p:cNvPr id="1994" name="Google Shape;1994;h410af0035cb59894_0_560"/>
            <p:cNvSpPr/>
            <p:nvPr/>
          </p:nvSpPr>
          <p:spPr>
            <a:xfrm>
              <a:off x="0" y="0"/>
              <a:ext cx="2377741" cy="1925904"/>
            </a:xfrm>
            <a:custGeom>
              <a:rect b="b" l="l" r="r" t="t"/>
              <a:pathLst>
                <a:path extrusionOk="0" h="1925904" w="2377741">
                  <a:moveTo>
                    <a:pt x="0" y="0"/>
                  </a:moveTo>
                  <a:lnTo>
                    <a:pt x="2377741" y="0"/>
                  </a:lnTo>
                  <a:lnTo>
                    <a:pt x="2377741" y="1925904"/>
                  </a:lnTo>
                  <a:lnTo>
                    <a:pt x="0" y="1925904"/>
                  </a:lnTo>
                  <a:close/>
                </a:path>
              </a:pathLst>
            </a:custGeom>
            <a:solidFill>
              <a:srgbClr val="0D2A4E">
                <a:alpha val="60000"/>
              </a:srgbClr>
            </a:solidFill>
            <a:ln>
              <a:noFill/>
            </a:ln>
          </p:spPr>
        </p:sp>
        <p:sp>
          <p:nvSpPr>
            <p:cNvPr id="1995" name="Google Shape;1995;h410af0035cb59894_0_560"/>
            <p:cNvSpPr txBox="1"/>
            <p:nvPr/>
          </p:nvSpPr>
          <p:spPr>
            <a:xfrm>
              <a:off x="0" y="-114300"/>
              <a:ext cx="2377800" cy="20403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1996" name="Google Shape;1996;h410af0035cb59894_0_560"/>
          <p:cNvSpPr/>
          <p:nvPr/>
        </p:nvSpPr>
        <p:spPr>
          <a:xfrm>
            <a:off x="784558" y="1648081"/>
            <a:ext cx="747417" cy="830463"/>
          </a:xfrm>
          <a:custGeom>
            <a:rect b="b" l="l" r="r" t="t"/>
            <a:pathLst>
              <a:path extrusionOk="0" h="1244140" w="1119726">
                <a:moveTo>
                  <a:pt x="0" y="0"/>
                </a:moveTo>
                <a:lnTo>
                  <a:pt x="1119726" y="0"/>
                </a:lnTo>
                <a:lnTo>
                  <a:pt x="1119726" y="1244140"/>
                </a:lnTo>
                <a:lnTo>
                  <a:pt x="0" y="1244140"/>
                </a:lnTo>
                <a:lnTo>
                  <a:pt x="0" y="0"/>
                </a:lnTo>
                <a:close/>
              </a:path>
            </a:pathLst>
          </a:custGeom>
          <a:blipFill rotWithShape="1">
            <a:blip r:embed="rId6">
              <a:alphaModFix/>
            </a:blip>
            <a:stretch>
              <a:fillRect b="0" l="0" r="0" t="0"/>
            </a:stretch>
          </a:blipFill>
          <a:ln>
            <a:noFill/>
          </a:ln>
        </p:spPr>
      </p:sp>
      <p:sp>
        <p:nvSpPr>
          <p:cNvPr id="1997" name="Google Shape;1997;h410af0035cb59894_0_560"/>
          <p:cNvSpPr/>
          <p:nvPr/>
        </p:nvSpPr>
        <p:spPr>
          <a:xfrm>
            <a:off x="784558" y="2754462"/>
            <a:ext cx="747417" cy="666398"/>
          </a:xfrm>
          <a:custGeom>
            <a:rect b="b" l="l" r="r" t="t"/>
            <a:pathLst>
              <a:path extrusionOk="0" h="998349" w="1119726">
                <a:moveTo>
                  <a:pt x="0" y="0"/>
                </a:moveTo>
                <a:lnTo>
                  <a:pt x="1119726" y="0"/>
                </a:lnTo>
                <a:lnTo>
                  <a:pt x="1119726" y="998349"/>
                </a:lnTo>
                <a:lnTo>
                  <a:pt x="0" y="998349"/>
                </a:lnTo>
                <a:lnTo>
                  <a:pt x="0" y="0"/>
                </a:lnTo>
                <a:close/>
              </a:path>
            </a:pathLst>
          </a:custGeom>
          <a:blipFill rotWithShape="1">
            <a:blip r:embed="rId7">
              <a:alphaModFix/>
            </a:blip>
            <a:stretch>
              <a:fillRect b="0" l="0" r="0" t="0"/>
            </a:stretch>
          </a:blipFill>
          <a:ln>
            <a:noFill/>
          </a:ln>
        </p:spPr>
      </p:sp>
      <p:sp>
        <p:nvSpPr>
          <p:cNvPr id="1998" name="Google Shape;1998;h410af0035cb59894_0_560"/>
          <p:cNvSpPr/>
          <p:nvPr/>
        </p:nvSpPr>
        <p:spPr>
          <a:xfrm>
            <a:off x="784558" y="3698541"/>
            <a:ext cx="747417" cy="845842"/>
          </a:xfrm>
          <a:custGeom>
            <a:rect b="b" l="l" r="r" t="t"/>
            <a:pathLst>
              <a:path extrusionOk="0" h="1267179" w="1119726">
                <a:moveTo>
                  <a:pt x="0" y="0"/>
                </a:moveTo>
                <a:lnTo>
                  <a:pt x="1119726" y="0"/>
                </a:lnTo>
                <a:lnTo>
                  <a:pt x="1119726" y="1267179"/>
                </a:lnTo>
                <a:lnTo>
                  <a:pt x="0" y="1267179"/>
                </a:lnTo>
                <a:lnTo>
                  <a:pt x="0" y="0"/>
                </a:lnTo>
                <a:close/>
              </a:path>
            </a:pathLst>
          </a:custGeom>
          <a:blipFill rotWithShape="1">
            <a:blip r:embed="rId8">
              <a:alphaModFix/>
            </a:blip>
            <a:stretch>
              <a:fillRect b="0" l="0" r="0" t="0"/>
            </a:stretch>
          </a:blipFill>
          <a:ln>
            <a:noFill/>
          </a:ln>
        </p:spPr>
      </p:sp>
      <p:sp>
        <p:nvSpPr>
          <p:cNvPr id="1999" name="Google Shape;1999;h410af0035cb59894_0_560"/>
          <p:cNvSpPr/>
          <p:nvPr/>
        </p:nvSpPr>
        <p:spPr>
          <a:xfrm>
            <a:off x="784558" y="4822727"/>
            <a:ext cx="747417" cy="807622"/>
          </a:xfrm>
          <a:custGeom>
            <a:rect b="b" l="l" r="r" t="t"/>
            <a:pathLst>
              <a:path extrusionOk="0" h="1209920" w="1119726">
                <a:moveTo>
                  <a:pt x="0" y="0"/>
                </a:moveTo>
                <a:lnTo>
                  <a:pt x="1119726" y="0"/>
                </a:lnTo>
                <a:lnTo>
                  <a:pt x="1119726" y="1209920"/>
                </a:lnTo>
                <a:lnTo>
                  <a:pt x="0" y="1209920"/>
                </a:lnTo>
                <a:lnTo>
                  <a:pt x="0" y="0"/>
                </a:lnTo>
                <a:close/>
              </a:path>
            </a:pathLst>
          </a:custGeom>
          <a:blipFill rotWithShape="1">
            <a:blip r:embed="rId9">
              <a:alphaModFix/>
            </a:blip>
            <a:stretch>
              <a:fillRect b="0" l="0" r="0" t="0"/>
            </a:stretch>
          </a:blipFill>
          <a:ln>
            <a:noFill/>
          </a:ln>
        </p:spPr>
      </p:sp>
      <p:sp>
        <p:nvSpPr>
          <p:cNvPr id="2000" name="Google Shape;2000;h410af0035cb59894_0_560"/>
          <p:cNvSpPr txBox="1"/>
          <p:nvPr/>
        </p:nvSpPr>
        <p:spPr>
          <a:xfrm>
            <a:off x="511934" y="29578"/>
            <a:ext cx="5569800" cy="9024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2100" u="none" cap="none" strike="noStrike">
                <a:solidFill>
                  <a:srgbClr val="FFFFFF"/>
                </a:solidFill>
                <a:latin typeface="Arial"/>
                <a:ea typeface="Arial"/>
                <a:cs typeface="Arial"/>
                <a:sym typeface="Arial"/>
              </a:rPr>
              <a:t>PT Vertika Technologies Nusantara (Rey.ID)</a:t>
            </a:r>
            <a:endParaRPr sz="900"/>
          </a:p>
        </p:txBody>
      </p:sp>
      <p:sp>
        <p:nvSpPr>
          <p:cNvPr id="2001" name="Google Shape;2001;h410af0035cb59894_0_560"/>
          <p:cNvSpPr txBox="1"/>
          <p:nvPr/>
        </p:nvSpPr>
        <p:spPr>
          <a:xfrm>
            <a:off x="1996004" y="2954515"/>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Corporate</a:t>
            </a:r>
            <a:endParaRPr sz="900"/>
          </a:p>
        </p:txBody>
      </p:sp>
      <p:sp>
        <p:nvSpPr>
          <p:cNvPr id="2002" name="Google Shape;2002;h410af0035cb59894_0_560"/>
          <p:cNvSpPr txBox="1"/>
          <p:nvPr/>
        </p:nvSpPr>
        <p:spPr>
          <a:xfrm>
            <a:off x="1996004" y="1852455"/>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November 2022</a:t>
            </a:r>
            <a:endParaRPr sz="900"/>
          </a:p>
        </p:txBody>
      </p:sp>
      <p:sp>
        <p:nvSpPr>
          <p:cNvPr id="2003" name="Google Shape;2003;h410af0035cb59894_0_560"/>
          <p:cNvSpPr txBox="1"/>
          <p:nvPr/>
        </p:nvSpPr>
        <p:spPr>
          <a:xfrm>
            <a:off x="1996004" y="3914534"/>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+/- 20 Participants</a:t>
            </a:r>
            <a:endParaRPr sz="900"/>
          </a:p>
        </p:txBody>
      </p:sp>
      <p:sp>
        <p:nvSpPr>
          <p:cNvPr id="2004" name="Google Shape;2004;h410af0035cb59894_0_560"/>
          <p:cNvSpPr txBox="1"/>
          <p:nvPr/>
        </p:nvSpPr>
        <p:spPr>
          <a:xfrm>
            <a:off x="1996004" y="4816377"/>
            <a:ext cx="4283100" cy="12036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Managing Hard Complaints:</a:t>
            </a:r>
            <a:endParaRPr sz="900"/>
          </a:p>
          <a:p>
            <a:pPr indent="0" lvl="0" marL="0" marR="0" rtl="0" algn="l">
              <a:lnSpc>
                <a:spcPct val="120005"/>
              </a:lnSpc>
              <a:spcBef>
                <a:spcPts val="0"/>
              </a:spcBef>
              <a:spcAft>
                <a:spcPts val="0"/>
              </a:spcAft>
              <a:buNone/>
            </a:pPr>
            <a:r>
              <a:rPr b="0" i="0" lang="en-US" sz="2300" u="none" cap="none" strike="noStrike">
                <a:solidFill>
                  <a:srgbClr val="FFFFFF"/>
                </a:solidFill>
                <a:latin typeface="Arial"/>
                <a:ea typeface="Arial"/>
                <a:cs typeface="Arial"/>
                <a:sym typeface="Arial"/>
              </a:rPr>
              <a:t>Turning Your Angry Customers into Your Loyal Ones</a:t>
            </a:r>
            <a:endParaRPr sz="900"/>
          </a:p>
        </p:txBody>
      </p:sp>
      <p:sp>
        <p:nvSpPr>
          <p:cNvPr id="2005" name="Google Shape;2005;h410af0035cb59894_0_560"/>
          <p:cNvSpPr/>
          <p:nvPr/>
        </p:nvSpPr>
        <p:spPr>
          <a:xfrm>
            <a:off x="10805557" y="201708"/>
            <a:ext cx="1029982" cy="969395"/>
          </a:xfrm>
          <a:custGeom>
            <a:rect b="b" l="l" r="r" t="t"/>
            <a:pathLst>
              <a:path extrusionOk="0" h="1452277" w="1543044">
                <a:moveTo>
                  <a:pt x="0" y="0"/>
                </a:moveTo>
                <a:lnTo>
                  <a:pt x="1543044" y="0"/>
                </a:lnTo>
                <a:lnTo>
                  <a:pt x="1543044" y="1452276"/>
                </a:lnTo>
                <a:lnTo>
                  <a:pt x="0" y="1452276"/>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A396D"/>
            </a:gs>
            <a:gs pos="100000">
              <a:srgbClr val="092647"/>
            </a:gs>
          </a:gsLst>
          <a:lin ang="5400012" scaled="0"/>
        </a:gradFill>
      </p:bgPr>
    </p:bg>
    <p:spTree>
      <p:nvGrpSpPr>
        <p:cNvPr id="2009" name="Shape 2009"/>
        <p:cNvGrpSpPr/>
        <p:nvPr/>
      </p:nvGrpSpPr>
      <p:grpSpPr>
        <a:xfrm>
          <a:off x="0" y="0"/>
          <a:ext cx="0" cy="0"/>
          <a:chOff x="0" y="0"/>
          <a:chExt cx="0" cy="0"/>
        </a:xfrm>
      </p:grpSpPr>
      <p:sp>
        <p:nvSpPr>
          <p:cNvPr id="2010" name="Google Shape;2010;h410af0035cb59894_0_585"/>
          <p:cNvSpPr/>
          <p:nvPr/>
        </p:nvSpPr>
        <p:spPr>
          <a:xfrm>
            <a:off x="7247395"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011" name="Google Shape;2011;h410af0035cb59894_0_585"/>
          <p:cNvSpPr/>
          <p:nvPr/>
        </p:nvSpPr>
        <p:spPr>
          <a:xfrm>
            <a:off x="0" y="0"/>
            <a:ext cx="6420954" cy="3433286"/>
          </a:xfrm>
          <a:custGeom>
            <a:rect b="b" l="l" r="r" t="t"/>
            <a:pathLst>
              <a:path extrusionOk="0" h="5143500" w="9619407">
                <a:moveTo>
                  <a:pt x="0" y="0"/>
                </a:moveTo>
                <a:lnTo>
                  <a:pt x="9619407" y="0"/>
                </a:lnTo>
                <a:lnTo>
                  <a:pt x="9619407" y="5143500"/>
                </a:lnTo>
                <a:lnTo>
                  <a:pt x="0" y="5143500"/>
                </a:lnTo>
                <a:lnTo>
                  <a:pt x="0" y="0"/>
                </a:lnTo>
                <a:close/>
              </a:path>
            </a:pathLst>
          </a:custGeom>
          <a:blipFill rotWithShape="1">
            <a:blip r:embed="rId4">
              <a:alphaModFix/>
            </a:blip>
            <a:stretch>
              <a:fillRect b="0" l="0" r="0" t="0"/>
            </a:stretch>
          </a:blipFill>
          <a:ln>
            <a:noFill/>
          </a:ln>
        </p:spPr>
      </p:sp>
      <p:sp>
        <p:nvSpPr>
          <p:cNvPr id="2012" name="Google Shape;2012;h410af0035cb59894_0_585"/>
          <p:cNvSpPr txBox="1"/>
          <p:nvPr/>
        </p:nvSpPr>
        <p:spPr>
          <a:xfrm>
            <a:off x="6645890" y="1078728"/>
            <a:ext cx="5227800" cy="572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200" u="none" cap="none" strike="noStrike">
                <a:solidFill>
                  <a:srgbClr val="FFFFFF"/>
                </a:solidFill>
                <a:latin typeface="Arial"/>
                <a:ea typeface="Arial"/>
                <a:cs typeface="Arial"/>
                <a:sym typeface="Arial"/>
              </a:rPr>
              <a:t>LIST OF MATERIALS:</a:t>
            </a:r>
            <a:endParaRPr sz="900"/>
          </a:p>
          <a:p>
            <a:pPr indent="0" lvl="0" marL="0" marR="0" rtl="0" algn="l">
              <a:lnSpc>
                <a:spcPct val="150000"/>
              </a:lnSpc>
              <a:spcBef>
                <a:spcPts val="0"/>
              </a:spcBef>
              <a:spcAft>
                <a:spcPts val="0"/>
              </a:spcAft>
              <a:buNone/>
            </a:pPr>
            <a:r>
              <a:rPr b="1" i="0" lang="en-US" sz="1200" u="none" cap="none" strike="noStrike">
                <a:solidFill>
                  <a:srgbClr val="FFFFFF"/>
                </a:solidFill>
                <a:latin typeface="Arial"/>
                <a:ea typeface="Arial"/>
                <a:cs typeface="Arial"/>
                <a:sym typeface="Arial"/>
              </a:rPr>
              <a:t>Customer Services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What is Customer Service?</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Customer Service Values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Customer Loyalty Building Methods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Customer Channel Type</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Type of Ticket &amp; Basic Ticketing Workflow and Escalations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Type of CRM System, etc</a:t>
            </a:r>
            <a:endParaRPr sz="900"/>
          </a:p>
          <a:p>
            <a:pPr indent="0" lvl="0" marL="0" marR="0" rtl="0" algn="l">
              <a:lnSpc>
                <a:spcPct val="150000"/>
              </a:lnSpc>
              <a:spcBef>
                <a:spcPts val="0"/>
              </a:spcBef>
              <a:spcAft>
                <a:spcPts val="0"/>
              </a:spcAft>
              <a:buNone/>
            </a:pPr>
            <a:r>
              <a:t/>
            </a:r>
            <a:endParaRPr b="0" i="0" sz="1200" u="none" cap="none" strike="noStrike">
              <a:solidFill>
                <a:srgbClr val="FFFFFF"/>
              </a:solidFill>
              <a:latin typeface="Arial"/>
              <a:ea typeface="Arial"/>
              <a:cs typeface="Arial"/>
              <a:sym typeface="Arial"/>
            </a:endParaRPr>
          </a:p>
          <a:p>
            <a:pPr indent="0" lvl="0" marL="0" marR="0" rtl="0" algn="l">
              <a:lnSpc>
                <a:spcPct val="150000"/>
              </a:lnSpc>
              <a:spcBef>
                <a:spcPts val="0"/>
              </a:spcBef>
              <a:spcAft>
                <a:spcPts val="0"/>
              </a:spcAft>
              <a:buNone/>
            </a:pPr>
            <a:r>
              <a:rPr b="1" i="0" lang="en-US" sz="1200" u="none" cap="none" strike="noStrike">
                <a:solidFill>
                  <a:srgbClr val="FFFFFF"/>
                </a:solidFill>
                <a:latin typeface="Arial"/>
                <a:ea typeface="Arial"/>
                <a:cs typeface="Arial"/>
                <a:sym typeface="Arial"/>
              </a:rPr>
              <a:t>SME Accounting</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Introduction to Accounting and Finance Functions for Startups and SMEs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Application of Accounting Concepts and Cycles in Business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Recording and Bookkeeping of Transactions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Accounting Reports and Simple Analysis</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Cash Flow Management</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Technical Tax Calculation and Reporting, etc</a:t>
            </a:r>
            <a:endParaRPr sz="900"/>
          </a:p>
          <a:p>
            <a:pPr indent="0" lvl="0" marL="0" marR="0" rtl="0" algn="l">
              <a:lnSpc>
                <a:spcPct val="150000"/>
              </a:lnSpc>
              <a:spcBef>
                <a:spcPts val="0"/>
              </a:spcBef>
              <a:spcAft>
                <a:spcPts val="0"/>
              </a:spcAft>
              <a:buNone/>
            </a:pPr>
            <a:r>
              <a:t/>
            </a:r>
            <a:endParaRPr b="0" i="0" sz="1200" u="none" cap="none" strike="noStrike">
              <a:solidFill>
                <a:srgbClr val="FFFFFF"/>
              </a:solidFill>
              <a:latin typeface="Arial"/>
              <a:ea typeface="Arial"/>
              <a:cs typeface="Arial"/>
              <a:sym typeface="Arial"/>
            </a:endParaRPr>
          </a:p>
          <a:p>
            <a:pPr indent="0" lvl="0" marL="0" marR="0" rtl="0" algn="l">
              <a:lnSpc>
                <a:spcPct val="150000"/>
              </a:lnSpc>
              <a:spcBef>
                <a:spcPts val="0"/>
              </a:spcBef>
              <a:spcAft>
                <a:spcPts val="0"/>
              </a:spcAft>
              <a:buNone/>
            </a:pPr>
            <a:r>
              <a:rPr b="1" i="0" lang="en-US" sz="1200" u="none" cap="none" strike="noStrike">
                <a:solidFill>
                  <a:srgbClr val="FFFFFF"/>
                </a:solidFill>
                <a:latin typeface="Arial"/>
                <a:ea typeface="Arial"/>
                <a:cs typeface="Arial"/>
                <a:sym typeface="Arial"/>
              </a:rPr>
              <a:t>Entrepreneurship</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Sustainable Agriculture with Permaculture Method</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Crafting Healthy Menus with Local Crop Diversity</a:t>
            </a:r>
            <a:endParaRPr sz="900"/>
          </a:p>
          <a:p>
            <a:pPr indent="-127000" lvl="1" marL="254000" marR="0" rtl="0" algn="l">
              <a:lnSpc>
                <a:spcPct val="150000"/>
              </a:lnSpc>
              <a:spcBef>
                <a:spcPts val="0"/>
              </a:spcBef>
              <a:spcAft>
                <a:spcPts val="0"/>
              </a:spcAft>
              <a:buClr>
                <a:srgbClr val="FFFFFF"/>
              </a:buClr>
              <a:buSzPts val="1200"/>
              <a:buFont typeface="Arial"/>
              <a:buAutoNum type="arabicPeriod"/>
            </a:pPr>
            <a:r>
              <a:rPr b="0" i="0" lang="en-US" sz="1200" u="none" cap="none" strike="noStrike">
                <a:solidFill>
                  <a:srgbClr val="FFFFFF"/>
                </a:solidFill>
                <a:latin typeface="Arial"/>
                <a:ea typeface="Arial"/>
                <a:cs typeface="Arial"/>
                <a:sym typeface="Arial"/>
              </a:rPr>
              <a:t>Organic and Healthy Menu Management for Restaurants, etc</a:t>
            </a:r>
            <a:endParaRPr sz="900"/>
          </a:p>
        </p:txBody>
      </p:sp>
      <p:sp>
        <p:nvSpPr>
          <p:cNvPr id="2013" name="Google Shape;2013;h410af0035cb59894_0_585"/>
          <p:cNvSpPr/>
          <p:nvPr/>
        </p:nvSpPr>
        <p:spPr>
          <a:xfrm>
            <a:off x="0" y="3429000"/>
            <a:ext cx="6420954" cy="3433286"/>
          </a:xfrm>
          <a:custGeom>
            <a:rect b="b" l="l" r="r" t="t"/>
            <a:pathLst>
              <a:path extrusionOk="0" h="5143500" w="9619407">
                <a:moveTo>
                  <a:pt x="0" y="0"/>
                </a:moveTo>
                <a:lnTo>
                  <a:pt x="9619407" y="0"/>
                </a:lnTo>
                <a:lnTo>
                  <a:pt x="9619407" y="5143500"/>
                </a:lnTo>
                <a:lnTo>
                  <a:pt x="0" y="5143500"/>
                </a:lnTo>
                <a:lnTo>
                  <a:pt x="0" y="0"/>
                </a:lnTo>
                <a:close/>
              </a:path>
            </a:pathLst>
          </a:custGeom>
          <a:blipFill rotWithShape="1">
            <a:blip r:embed="rId4">
              <a:alphaModFix/>
            </a:blip>
            <a:stretch>
              <a:fillRect b="0" l="0" r="0" t="0"/>
            </a:stretch>
          </a:blipFill>
          <a:ln>
            <a:noFill/>
          </a:ln>
        </p:spPr>
      </p:sp>
      <p:grpSp>
        <p:nvGrpSpPr>
          <p:cNvPr id="2014" name="Google Shape;2014;h410af0035cb59894_0_585"/>
          <p:cNvGrpSpPr/>
          <p:nvPr/>
        </p:nvGrpSpPr>
        <p:grpSpPr>
          <a:xfrm>
            <a:off x="0" y="-24110"/>
            <a:ext cx="6412557" cy="6882080"/>
            <a:chOff x="0" y="-9525"/>
            <a:chExt cx="2533506" cy="2718900"/>
          </a:xfrm>
        </p:grpSpPr>
        <p:sp>
          <p:nvSpPr>
            <p:cNvPr id="2015" name="Google Shape;2015;h410af0035cb59894_0_585"/>
            <p:cNvSpPr/>
            <p:nvPr/>
          </p:nvSpPr>
          <p:spPr>
            <a:xfrm>
              <a:off x="0" y="0"/>
              <a:ext cx="2533506" cy="2709333"/>
            </a:xfrm>
            <a:custGeom>
              <a:rect b="b" l="l" r="r" t="t"/>
              <a:pathLst>
                <a:path extrusionOk="0" h="2709333" w="2533506">
                  <a:moveTo>
                    <a:pt x="0" y="0"/>
                  </a:moveTo>
                  <a:lnTo>
                    <a:pt x="2533506" y="0"/>
                  </a:lnTo>
                  <a:lnTo>
                    <a:pt x="2533506" y="2709333"/>
                  </a:lnTo>
                  <a:lnTo>
                    <a:pt x="0" y="2709333"/>
                  </a:lnTo>
                  <a:close/>
                </a:path>
              </a:pathLst>
            </a:custGeom>
            <a:solidFill>
              <a:srgbClr val="000000">
                <a:alpha val="40000"/>
              </a:srgbClr>
            </a:solidFill>
            <a:ln>
              <a:noFill/>
            </a:ln>
          </p:spPr>
        </p:sp>
        <p:sp>
          <p:nvSpPr>
            <p:cNvPr id="2016" name="Google Shape;2016;h410af0035cb59894_0_585"/>
            <p:cNvSpPr txBox="1"/>
            <p:nvPr/>
          </p:nvSpPr>
          <p:spPr>
            <a:xfrm>
              <a:off x="0" y="-9525"/>
              <a:ext cx="2533500" cy="2718900"/>
            </a:xfrm>
            <a:prstGeom prst="rect">
              <a:avLst/>
            </a:prstGeom>
            <a:noFill/>
            <a:ln>
              <a:noFill/>
            </a:ln>
          </p:spPr>
          <p:txBody>
            <a:bodyPr anchorCtr="0" anchor="ctr" bIns="33875" lIns="33875" spcFirstLastPara="1" rIns="33875" wrap="square" tIns="33875">
              <a:noAutofit/>
            </a:bodyPr>
            <a:lstStyle/>
            <a:p>
              <a:pPr indent="0" lvl="0" marL="0" marR="0" rtl="0" algn="ctr">
                <a:lnSpc>
                  <a:spcPct val="141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grpSp>
        <p:nvGrpSpPr>
          <p:cNvPr id="2017" name="Google Shape;2017;h410af0035cb59894_0_585"/>
          <p:cNvGrpSpPr/>
          <p:nvPr/>
        </p:nvGrpSpPr>
        <p:grpSpPr>
          <a:xfrm>
            <a:off x="344666" y="833862"/>
            <a:ext cx="5723250" cy="5164407"/>
            <a:chOff x="0" y="-114300"/>
            <a:chExt cx="2261171" cy="2040300"/>
          </a:xfrm>
        </p:grpSpPr>
        <p:sp>
          <p:nvSpPr>
            <p:cNvPr id="2018" name="Google Shape;2018;h410af0035cb59894_0_585"/>
            <p:cNvSpPr/>
            <p:nvPr/>
          </p:nvSpPr>
          <p:spPr>
            <a:xfrm>
              <a:off x="0" y="0"/>
              <a:ext cx="2261171" cy="1925904"/>
            </a:xfrm>
            <a:custGeom>
              <a:rect b="b" l="l" r="r" t="t"/>
              <a:pathLst>
                <a:path extrusionOk="0" h="1925904" w="2261171">
                  <a:moveTo>
                    <a:pt x="0" y="0"/>
                  </a:moveTo>
                  <a:lnTo>
                    <a:pt x="2261171" y="0"/>
                  </a:lnTo>
                  <a:lnTo>
                    <a:pt x="2261171" y="1925904"/>
                  </a:lnTo>
                  <a:lnTo>
                    <a:pt x="0" y="1925904"/>
                  </a:lnTo>
                  <a:close/>
                </a:path>
              </a:pathLst>
            </a:custGeom>
            <a:solidFill>
              <a:srgbClr val="0D2A4E">
                <a:alpha val="60000"/>
              </a:srgbClr>
            </a:solidFill>
            <a:ln>
              <a:noFill/>
            </a:ln>
          </p:spPr>
        </p:sp>
        <p:sp>
          <p:nvSpPr>
            <p:cNvPr id="2019" name="Google Shape;2019;h410af0035cb59894_0_585"/>
            <p:cNvSpPr txBox="1"/>
            <p:nvPr/>
          </p:nvSpPr>
          <p:spPr>
            <a:xfrm>
              <a:off x="0" y="-114300"/>
              <a:ext cx="2261100" cy="2040300"/>
            </a:xfrm>
            <a:prstGeom prst="rect">
              <a:avLst/>
            </a:prstGeom>
            <a:noFill/>
            <a:ln>
              <a:noFill/>
            </a:ln>
          </p:spPr>
          <p:txBody>
            <a:bodyPr anchorCtr="0" anchor="ctr" bIns="33875" lIns="33875" spcFirstLastPara="1" rIns="33875" wrap="square" tIns="33875">
              <a:noAutofit/>
            </a:bodyPr>
            <a:lstStyle/>
            <a:p>
              <a:pPr indent="0" lvl="0" marL="0" marR="0" rtl="0" algn="ctr">
                <a:lnSpc>
                  <a:spcPct val="15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grpSp>
      <p:sp>
        <p:nvSpPr>
          <p:cNvPr id="2020" name="Google Shape;2020;h410af0035cb59894_0_585"/>
          <p:cNvSpPr/>
          <p:nvPr/>
        </p:nvSpPr>
        <p:spPr>
          <a:xfrm>
            <a:off x="573451" y="1366828"/>
            <a:ext cx="747417" cy="830463"/>
          </a:xfrm>
          <a:custGeom>
            <a:rect b="b" l="l" r="r" t="t"/>
            <a:pathLst>
              <a:path extrusionOk="0" h="1244140" w="1119726">
                <a:moveTo>
                  <a:pt x="0" y="0"/>
                </a:moveTo>
                <a:lnTo>
                  <a:pt x="1119726" y="0"/>
                </a:lnTo>
                <a:lnTo>
                  <a:pt x="1119726" y="1244140"/>
                </a:lnTo>
                <a:lnTo>
                  <a:pt x="0" y="1244140"/>
                </a:lnTo>
                <a:lnTo>
                  <a:pt x="0" y="0"/>
                </a:lnTo>
                <a:close/>
              </a:path>
            </a:pathLst>
          </a:custGeom>
          <a:blipFill rotWithShape="1">
            <a:blip r:embed="rId5">
              <a:alphaModFix/>
            </a:blip>
            <a:stretch>
              <a:fillRect b="0" l="0" r="0" t="0"/>
            </a:stretch>
          </a:blipFill>
          <a:ln>
            <a:noFill/>
          </a:ln>
        </p:spPr>
      </p:sp>
      <p:sp>
        <p:nvSpPr>
          <p:cNvPr id="2021" name="Google Shape;2021;h410af0035cb59894_0_585"/>
          <p:cNvSpPr/>
          <p:nvPr/>
        </p:nvSpPr>
        <p:spPr>
          <a:xfrm>
            <a:off x="573451" y="2473209"/>
            <a:ext cx="747417" cy="666398"/>
          </a:xfrm>
          <a:custGeom>
            <a:rect b="b" l="l" r="r" t="t"/>
            <a:pathLst>
              <a:path extrusionOk="0" h="998349" w="1119726">
                <a:moveTo>
                  <a:pt x="0" y="0"/>
                </a:moveTo>
                <a:lnTo>
                  <a:pt x="1119726" y="0"/>
                </a:lnTo>
                <a:lnTo>
                  <a:pt x="1119726" y="998349"/>
                </a:lnTo>
                <a:lnTo>
                  <a:pt x="0" y="998349"/>
                </a:lnTo>
                <a:lnTo>
                  <a:pt x="0" y="0"/>
                </a:lnTo>
                <a:close/>
              </a:path>
            </a:pathLst>
          </a:custGeom>
          <a:blipFill rotWithShape="1">
            <a:blip r:embed="rId6">
              <a:alphaModFix/>
            </a:blip>
            <a:stretch>
              <a:fillRect b="0" l="0" r="0" t="0"/>
            </a:stretch>
          </a:blipFill>
          <a:ln>
            <a:noFill/>
          </a:ln>
        </p:spPr>
      </p:sp>
      <p:sp>
        <p:nvSpPr>
          <p:cNvPr id="2022" name="Google Shape;2022;h410af0035cb59894_0_585"/>
          <p:cNvSpPr/>
          <p:nvPr/>
        </p:nvSpPr>
        <p:spPr>
          <a:xfrm>
            <a:off x="573451" y="3417287"/>
            <a:ext cx="747417" cy="845842"/>
          </a:xfrm>
          <a:custGeom>
            <a:rect b="b" l="l" r="r" t="t"/>
            <a:pathLst>
              <a:path extrusionOk="0" h="1267179" w="1119726">
                <a:moveTo>
                  <a:pt x="0" y="0"/>
                </a:moveTo>
                <a:lnTo>
                  <a:pt x="1119726" y="0"/>
                </a:lnTo>
                <a:lnTo>
                  <a:pt x="1119726" y="1267179"/>
                </a:lnTo>
                <a:lnTo>
                  <a:pt x="0" y="1267179"/>
                </a:lnTo>
                <a:lnTo>
                  <a:pt x="0" y="0"/>
                </a:lnTo>
                <a:close/>
              </a:path>
            </a:pathLst>
          </a:custGeom>
          <a:blipFill rotWithShape="1">
            <a:blip r:embed="rId7">
              <a:alphaModFix/>
            </a:blip>
            <a:stretch>
              <a:fillRect b="0" l="0" r="0" t="0"/>
            </a:stretch>
          </a:blipFill>
          <a:ln>
            <a:noFill/>
          </a:ln>
        </p:spPr>
      </p:sp>
      <p:sp>
        <p:nvSpPr>
          <p:cNvPr id="2023" name="Google Shape;2023;h410af0035cb59894_0_585"/>
          <p:cNvSpPr/>
          <p:nvPr/>
        </p:nvSpPr>
        <p:spPr>
          <a:xfrm>
            <a:off x="573451" y="4541473"/>
            <a:ext cx="747417" cy="807622"/>
          </a:xfrm>
          <a:custGeom>
            <a:rect b="b" l="l" r="r" t="t"/>
            <a:pathLst>
              <a:path extrusionOk="0" h="1209920" w="1119726">
                <a:moveTo>
                  <a:pt x="0" y="0"/>
                </a:moveTo>
                <a:lnTo>
                  <a:pt x="1119726" y="0"/>
                </a:lnTo>
                <a:lnTo>
                  <a:pt x="1119726" y="1209920"/>
                </a:lnTo>
                <a:lnTo>
                  <a:pt x="0" y="1209920"/>
                </a:lnTo>
                <a:lnTo>
                  <a:pt x="0" y="0"/>
                </a:lnTo>
                <a:close/>
              </a:path>
            </a:pathLst>
          </a:custGeom>
          <a:blipFill rotWithShape="1">
            <a:blip r:embed="rId8">
              <a:alphaModFix/>
            </a:blip>
            <a:stretch>
              <a:fillRect b="0" l="0" r="0" t="0"/>
            </a:stretch>
          </a:blipFill>
          <a:ln>
            <a:noFill/>
          </a:ln>
        </p:spPr>
      </p:sp>
      <p:sp>
        <p:nvSpPr>
          <p:cNvPr id="2024" name="Google Shape;2024;h410af0035cb59894_0_585"/>
          <p:cNvSpPr txBox="1"/>
          <p:nvPr/>
        </p:nvSpPr>
        <p:spPr>
          <a:xfrm>
            <a:off x="421404" y="78432"/>
            <a:ext cx="5569800" cy="90240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3300" u="none" cap="none" strike="noStrike">
                <a:solidFill>
                  <a:srgbClr val="FFFFFF"/>
                </a:solidFill>
                <a:latin typeface="Arial"/>
                <a:ea typeface="Arial"/>
                <a:cs typeface="Arial"/>
                <a:sym typeface="Arial"/>
              </a:rPr>
              <a:t>Our Training Portfolio</a:t>
            </a:r>
            <a:endParaRPr sz="900"/>
          </a:p>
          <a:p>
            <a:pPr indent="0" lvl="0" marL="0" marR="0" rtl="0" algn="ctr">
              <a:lnSpc>
                <a:spcPct val="114000"/>
              </a:lnSpc>
              <a:spcBef>
                <a:spcPts val="0"/>
              </a:spcBef>
              <a:spcAft>
                <a:spcPts val="0"/>
              </a:spcAft>
              <a:buNone/>
            </a:pPr>
            <a:r>
              <a:rPr b="0" i="0" lang="en-US" sz="2100" u="none" cap="none" strike="noStrike">
                <a:solidFill>
                  <a:srgbClr val="FFFFFF"/>
                </a:solidFill>
                <a:latin typeface="Arial"/>
                <a:ea typeface="Arial"/>
                <a:cs typeface="Arial"/>
                <a:sym typeface="Arial"/>
              </a:rPr>
              <a:t>Program Pra Kerja</a:t>
            </a:r>
            <a:endParaRPr sz="900"/>
          </a:p>
        </p:txBody>
      </p:sp>
      <p:sp>
        <p:nvSpPr>
          <p:cNvPr id="2025" name="Google Shape;2025;h410af0035cb59894_0_585"/>
          <p:cNvSpPr txBox="1"/>
          <p:nvPr/>
        </p:nvSpPr>
        <p:spPr>
          <a:xfrm>
            <a:off x="1784896" y="2673262"/>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Public Training</a:t>
            </a:r>
            <a:endParaRPr sz="900"/>
          </a:p>
        </p:txBody>
      </p:sp>
      <p:sp>
        <p:nvSpPr>
          <p:cNvPr id="2026" name="Google Shape;2026;h410af0035cb59894_0_585"/>
          <p:cNvSpPr txBox="1"/>
          <p:nvPr/>
        </p:nvSpPr>
        <p:spPr>
          <a:xfrm>
            <a:off x="1784896" y="1428613"/>
            <a:ext cx="3341100" cy="7788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July - November 2023</a:t>
            </a:r>
            <a:endParaRPr sz="900"/>
          </a:p>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July - November 2024</a:t>
            </a:r>
            <a:endParaRPr sz="900"/>
          </a:p>
        </p:txBody>
      </p:sp>
      <p:sp>
        <p:nvSpPr>
          <p:cNvPr id="2027" name="Google Shape;2027;h410af0035cb59894_0_585"/>
          <p:cNvSpPr txBox="1"/>
          <p:nvPr/>
        </p:nvSpPr>
        <p:spPr>
          <a:xfrm>
            <a:off x="1784896" y="3633281"/>
            <a:ext cx="3341100" cy="3540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2300" u="none" cap="none" strike="noStrike">
                <a:solidFill>
                  <a:srgbClr val="FFFFFF"/>
                </a:solidFill>
                <a:latin typeface="Arial"/>
                <a:ea typeface="Arial"/>
                <a:cs typeface="Arial"/>
                <a:sym typeface="Arial"/>
              </a:rPr>
              <a:t>+/- 4000 Participants</a:t>
            </a:r>
            <a:endParaRPr sz="900"/>
          </a:p>
        </p:txBody>
      </p:sp>
      <p:sp>
        <p:nvSpPr>
          <p:cNvPr id="2028" name="Google Shape;2028;h410af0035cb59894_0_585"/>
          <p:cNvSpPr txBox="1"/>
          <p:nvPr/>
        </p:nvSpPr>
        <p:spPr>
          <a:xfrm>
            <a:off x="1784896" y="4312963"/>
            <a:ext cx="4283100" cy="1203600"/>
          </a:xfrm>
          <a:prstGeom prst="rect">
            <a:avLst/>
          </a:prstGeom>
          <a:noFill/>
          <a:ln>
            <a:noFill/>
          </a:ln>
        </p:spPr>
        <p:txBody>
          <a:bodyPr anchorCtr="0" anchor="t" bIns="0" lIns="0" spcFirstLastPara="1" rIns="0" wrap="square" tIns="0">
            <a:spAutoFit/>
          </a:bodyPr>
          <a:lstStyle/>
          <a:p>
            <a:pPr indent="-247650" lvl="1" marL="495300" marR="0" rtl="0" algn="l">
              <a:lnSpc>
                <a:spcPct val="120005"/>
              </a:lnSpc>
              <a:spcBef>
                <a:spcPts val="0"/>
              </a:spcBef>
              <a:spcAft>
                <a:spcPts val="0"/>
              </a:spcAft>
              <a:buClr>
                <a:srgbClr val="FFFFFF"/>
              </a:buClr>
              <a:buSzPts val="2300"/>
              <a:buFont typeface="Arial"/>
              <a:buChar char="•"/>
            </a:pPr>
            <a:r>
              <a:rPr b="1" i="0" lang="en-US" sz="2300" u="none" cap="none" strike="noStrike">
                <a:solidFill>
                  <a:srgbClr val="FFFFFF"/>
                </a:solidFill>
                <a:latin typeface="Arial"/>
                <a:ea typeface="Arial"/>
                <a:cs typeface="Arial"/>
                <a:sym typeface="Arial"/>
              </a:rPr>
              <a:t>Customer Service</a:t>
            </a:r>
            <a:endParaRPr sz="900"/>
          </a:p>
          <a:p>
            <a:pPr indent="-247650" lvl="1" marL="495300" marR="0" rtl="0" algn="l">
              <a:lnSpc>
                <a:spcPct val="120005"/>
              </a:lnSpc>
              <a:spcBef>
                <a:spcPts val="0"/>
              </a:spcBef>
              <a:spcAft>
                <a:spcPts val="0"/>
              </a:spcAft>
              <a:buClr>
                <a:srgbClr val="FFFFFF"/>
              </a:buClr>
              <a:buSzPts val="2300"/>
              <a:buFont typeface="Arial"/>
              <a:buChar char="•"/>
            </a:pPr>
            <a:r>
              <a:rPr b="1" i="0" lang="en-US" sz="2300" u="none" cap="none" strike="noStrike">
                <a:solidFill>
                  <a:srgbClr val="FFFFFF"/>
                </a:solidFill>
                <a:latin typeface="Arial"/>
                <a:ea typeface="Arial"/>
                <a:cs typeface="Arial"/>
                <a:sym typeface="Arial"/>
              </a:rPr>
              <a:t>SME Accounting</a:t>
            </a:r>
            <a:endParaRPr sz="900"/>
          </a:p>
          <a:p>
            <a:pPr indent="-247650" lvl="1" marL="495300" marR="0" rtl="0" algn="l">
              <a:lnSpc>
                <a:spcPct val="120005"/>
              </a:lnSpc>
              <a:spcBef>
                <a:spcPts val="0"/>
              </a:spcBef>
              <a:spcAft>
                <a:spcPts val="0"/>
              </a:spcAft>
              <a:buClr>
                <a:srgbClr val="FFFFFF"/>
              </a:buClr>
              <a:buSzPts val="2300"/>
              <a:buFont typeface="Arial"/>
              <a:buChar char="•"/>
            </a:pPr>
            <a:r>
              <a:rPr b="1" i="0" lang="en-US" sz="2300" u="none" cap="none" strike="noStrike">
                <a:solidFill>
                  <a:srgbClr val="FFFFFF"/>
                </a:solidFill>
                <a:latin typeface="Arial"/>
                <a:ea typeface="Arial"/>
                <a:cs typeface="Arial"/>
                <a:sym typeface="Arial"/>
              </a:rPr>
              <a:t>Entrepreneurship</a:t>
            </a:r>
            <a:endParaRPr sz="900"/>
          </a:p>
        </p:txBody>
      </p:sp>
      <p:sp>
        <p:nvSpPr>
          <p:cNvPr id="2029" name="Google Shape;2029;h410af0035cb59894_0_585"/>
          <p:cNvSpPr/>
          <p:nvPr/>
        </p:nvSpPr>
        <p:spPr>
          <a:xfrm>
            <a:off x="9089636" y="134893"/>
            <a:ext cx="2935537" cy="989521"/>
          </a:xfrm>
          <a:custGeom>
            <a:rect b="b" l="l" r="r" t="t"/>
            <a:pathLst>
              <a:path extrusionOk="0" h="1482428" w="4397808">
                <a:moveTo>
                  <a:pt x="0" y="0"/>
                </a:moveTo>
                <a:lnTo>
                  <a:pt x="4397808" y="0"/>
                </a:lnTo>
                <a:lnTo>
                  <a:pt x="4397808" y="1482428"/>
                </a:lnTo>
                <a:lnTo>
                  <a:pt x="0" y="1482428"/>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034" name="Shape 2034"/>
        <p:cNvGrpSpPr/>
        <p:nvPr/>
      </p:nvGrpSpPr>
      <p:grpSpPr>
        <a:xfrm>
          <a:off x="0" y="0"/>
          <a:ext cx="0" cy="0"/>
          <a:chOff x="0" y="0"/>
          <a:chExt cx="0" cy="0"/>
        </a:xfrm>
      </p:grpSpPr>
      <p:sp>
        <p:nvSpPr>
          <p:cNvPr id="2035" name="Google Shape;2035;h65eb7c06466a6d01_2_281"/>
          <p:cNvSpPr/>
          <p:nvPr/>
        </p:nvSpPr>
        <p:spPr>
          <a:xfrm rot="1547762">
            <a:off x="7501222" y="1889589"/>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3">
              <a:alphaModFix amt="5000"/>
            </a:blip>
            <a:stretch>
              <a:fillRect b="0" l="0" r="-364404" t="0"/>
            </a:stretch>
          </a:blipFill>
          <a:ln>
            <a:noFill/>
          </a:ln>
        </p:spPr>
      </p:sp>
      <p:sp>
        <p:nvSpPr>
          <p:cNvPr id="2036" name="Google Shape;2036;h65eb7c06466a6d01_2_281"/>
          <p:cNvSpPr/>
          <p:nvPr/>
        </p:nvSpPr>
        <p:spPr>
          <a:xfrm rot="1547762">
            <a:off x="-2748832" y="-1715240"/>
            <a:ext cx="5979976" cy="6456767"/>
          </a:xfrm>
          <a:custGeom>
            <a:rect b="b" l="l" r="r" t="t"/>
            <a:pathLst>
              <a:path extrusionOk="0" h="9688906" w="8973442">
                <a:moveTo>
                  <a:pt x="0" y="0"/>
                </a:moveTo>
                <a:lnTo>
                  <a:pt x="8973442" y="0"/>
                </a:lnTo>
                <a:lnTo>
                  <a:pt x="8973442" y="9688905"/>
                </a:lnTo>
                <a:lnTo>
                  <a:pt x="0" y="9688905"/>
                </a:lnTo>
                <a:lnTo>
                  <a:pt x="0" y="0"/>
                </a:lnTo>
                <a:close/>
              </a:path>
            </a:pathLst>
          </a:custGeom>
          <a:blipFill rotWithShape="1">
            <a:blip r:embed="rId3">
              <a:alphaModFix amt="5000"/>
            </a:blip>
            <a:stretch>
              <a:fillRect b="0" l="0" r="-364404" t="0"/>
            </a:stretch>
          </a:blipFill>
          <a:ln>
            <a:noFill/>
          </a:ln>
        </p:spPr>
      </p:sp>
      <p:sp>
        <p:nvSpPr>
          <p:cNvPr id="2037" name="Google Shape;2037;h65eb7c06466a6d01_2_281"/>
          <p:cNvSpPr/>
          <p:nvPr/>
        </p:nvSpPr>
        <p:spPr>
          <a:xfrm>
            <a:off x="-1749211" y="-2255855"/>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4">
              <a:alphaModFix amt="9000"/>
            </a:blip>
            <a:stretch>
              <a:fillRect b="0" l="0" r="0" t="0"/>
            </a:stretch>
          </a:blipFill>
          <a:ln>
            <a:noFill/>
          </a:ln>
        </p:spPr>
      </p:sp>
      <p:sp>
        <p:nvSpPr>
          <p:cNvPr id="2038" name="Google Shape;2038;h65eb7c06466a6d01_2_281"/>
          <p:cNvSpPr/>
          <p:nvPr/>
        </p:nvSpPr>
        <p:spPr>
          <a:xfrm>
            <a:off x="558785" y="488261"/>
            <a:ext cx="2991301" cy="711726"/>
          </a:xfrm>
          <a:custGeom>
            <a:rect b="b" l="l" r="r" t="t"/>
            <a:pathLst>
              <a:path extrusionOk="0" h="1066256" w="4481350">
                <a:moveTo>
                  <a:pt x="0" y="0"/>
                </a:moveTo>
                <a:lnTo>
                  <a:pt x="4481350" y="0"/>
                </a:lnTo>
                <a:lnTo>
                  <a:pt x="4481350" y="1066257"/>
                </a:lnTo>
                <a:lnTo>
                  <a:pt x="0" y="1066257"/>
                </a:lnTo>
                <a:lnTo>
                  <a:pt x="0" y="0"/>
                </a:lnTo>
                <a:close/>
              </a:path>
            </a:pathLst>
          </a:custGeom>
          <a:blipFill rotWithShape="1">
            <a:blip r:embed="rId3">
              <a:alphaModFix/>
            </a:blip>
            <a:stretch>
              <a:fillRect b="0" l="-2339" r="0" t="0"/>
            </a:stretch>
          </a:blipFill>
          <a:ln>
            <a:noFill/>
          </a:ln>
        </p:spPr>
      </p:sp>
      <p:sp>
        <p:nvSpPr>
          <p:cNvPr id="2039" name="Google Shape;2039;h65eb7c06466a6d01_2_281"/>
          <p:cNvSpPr/>
          <p:nvPr/>
        </p:nvSpPr>
        <p:spPr>
          <a:xfrm>
            <a:off x="850909" y="5954001"/>
            <a:ext cx="3066181" cy="325781"/>
          </a:xfrm>
          <a:custGeom>
            <a:rect b="b" l="l" r="r" t="t"/>
            <a:pathLst>
              <a:path extrusionOk="0" h="488062" w="4593529">
                <a:moveTo>
                  <a:pt x="0" y="0"/>
                </a:moveTo>
                <a:lnTo>
                  <a:pt x="4593529" y="0"/>
                </a:lnTo>
                <a:lnTo>
                  <a:pt x="4593529" y="488062"/>
                </a:lnTo>
                <a:lnTo>
                  <a:pt x="0" y="488062"/>
                </a:lnTo>
                <a:lnTo>
                  <a:pt x="0" y="0"/>
                </a:lnTo>
                <a:close/>
              </a:path>
            </a:pathLst>
          </a:custGeom>
          <a:blipFill rotWithShape="1">
            <a:blip r:embed="rId5">
              <a:alphaModFix/>
            </a:blip>
            <a:stretch>
              <a:fillRect b="0" l="0" r="0" t="0"/>
            </a:stretch>
          </a:blipFill>
          <a:ln>
            <a:noFill/>
          </a:ln>
        </p:spPr>
      </p:sp>
      <p:sp>
        <p:nvSpPr>
          <p:cNvPr id="2040" name="Google Shape;2040;h65eb7c06466a6d01_2_281"/>
          <p:cNvSpPr/>
          <p:nvPr/>
        </p:nvSpPr>
        <p:spPr>
          <a:xfrm>
            <a:off x="685782" y="5686717"/>
            <a:ext cx="3402883" cy="424654"/>
          </a:xfrm>
          <a:custGeom>
            <a:rect b="b" l="l" r="r" t="t"/>
            <a:pathLst>
              <a:path extrusionOk="0" h="216660" w="1736165">
                <a:moveTo>
                  <a:pt x="77414" y="0"/>
                </a:moveTo>
                <a:lnTo>
                  <a:pt x="1658751" y="0"/>
                </a:lnTo>
                <a:cubicBezTo>
                  <a:pt x="1679283" y="0"/>
                  <a:pt x="1698973" y="8156"/>
                  <a:pt x="1713491" y="22674"/>
                </a:cubicBezTo>
                <a:cubicBezTo>
                  <a:pt x="1728009" y="37192"/>
                  <a:pt x="1736165" y="56882"/>
                  <a:pt x="1736165" y="77414"/>
                </a:cubicBezTo>
                <a:lnTo>
                  <a:pt x="1736165" y="139246"/>
                </a:lnTo>
                <a:cubicBezTo>
                  <a:pt x="1736165" y="182001"/>
                  <a:pt x="1701506" y="216660"/>
                  <a:pt x="1658751" y="216660"/>
                </a:cubicBezTo>
                <a:lnTo>
                  <a:pt x="77414" y="216660"/>
                </a:lnTo>
                <a:cubicBezTo>
                  <a:pt x="56882" y="216660"/>
                  <a:pt x="37192" y="208504"/>
                  <a:pt x="22674" y="193986"/>
                </a:cubicBezTo>
                <a:cubicBezTo>
                  <a:pt x="8156" y="179468"/>
                  <a:pt x="0" y="159778"/>
                  <a:pt x="0" y="139246"/>
                </a:cubicBezTo>
                <a:lnTo>
                  <a:pt x="0" y="77414"/>
                </a:lnTo>
                <a:cubicBezTo>
                  <a:pt x="0" y="56882"/>
                  <a:pt x="8156" y="37192"/>
                  <a:pt x="22674" y="22674"/>
                </a:cubicBezTo>
                <a:cubicBezTo>
                  <a:pt x="37192" y="8156"/>
                  <a:pt x="56882" y="0"/>
                  <a:pt x="77414" y="0"/>
                </a:cubicBezTo>
                <a:close/>
              </a:path>
            </a:pathLst>
          </a:custGeom>
          <a:solidFill>
            <a:srgbClr val="0B3360"/>
          </a:soli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1" name="Google Shape;2041;h65eb7c06466a6d01_2_281"/>
          <p:cNvSpPr/>
          <p:nvPr/>
        </p:nvSpPr>
        <p:spPr>
          <a:xfrm>
            <a:off x="685782" y="5612099"/>
            <a:ext cx="3400200" cy="498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042" name="Google Shape;2042;h65eb7c06466a6d01_2_281"/>
          <p:cNvSpPr/>
          <p:nvPr/>
        </p:nvSpPr>
        <p:spPr>
          <a:xfrm>
            <a:off x="558785" y="3262243"/>
            <a:ext cx="6884700" cy="432300"/>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FAF7FC"/>
              </a:buClr>
              <a:buSzPts val="2900"/>
              <a:buFont typeface="Arial"/>
              <a:buNone/>
            </a:pPr>
            <a:r>
              <a:rPr b="1" lang="en-US" sz="2900">
                <a:solidFill>
                  <a:srgbClr val="FAF7FC"/>
                </a:solidFill>
                <a:latin typeface="Arial"/>
                <a:ea typeface="Arial"/>
                <a:cs typeface="Arial"/>
                <a:sym typeface="Arial"/>
              </a:rPr>
              <a:t>PORTOFOLIO KONSULTASI</a:t>
            </a:r>
            <a:endParaRPr sz="900"/>
          </a:p>
        </p:txBody>
      </p:sp>
      <p:sp>
        <p:nvSpPr>
          <p:cNvPr id="2043" name="Google Shape;2043;h65eb7c06466a6d01_2_281"/>
          <p:cNvSpPr/>
          <p:nvPr/>
        </p:nvSpPr>
        <p:spPr>
          <a:xfrm>
            <a:off x="8142607" y="-2506343"/>
            <a:ext cx="2270125" cy="3405188"/>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6">
              <a:alphaModFix/>
            </a:blip>
            <a:stretch>
              <a:fillRect b="0" l="-62572" r="-62572" t="0"/>
            </a:stretch>
          </a:blip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4" name="Google Shape;2044;h65eb7c06466a6d01_2_281"/>
          <p:cNvSpPr/>
          <p:nvPr/>
        </p:nvSpPr>
        <p:spPr>
          <a:xfrm>
            <a:off x="7424592" y="1107456"/>
            <a:ext cx="2270125" cy="3405188"/>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7">
              <a:alphaModFix/>
            </a:blip>
            <a:stretch>
              <a:fillRect b="0" l="-60" r="-60" t="0"/>
            </a:stretch>
          </a:blip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5" name="Google Shape;2045;h65eb7c06466a6d01_2_281"/>
          <p:cNvSpPr/>
          <p:nvPr/>
        </p:nvSpPr>
        <p:spPr>
          <a:xfrm>
            <a:off x="6706578" y="4721255"/>
            <a:ext cx="2270125" cy="3405188"/>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8">
              <a:alphaModFix/>
            </a:blip>
            <a:stretch>
              <a:fillRect b="-30" l="0" r="0" t="-30"/>
            </a:stretch>
          </a:blip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6" name="Google Shape;2046;h65eb7c06466a6d01_2_281"/>
          <p:cNvSpPr/>
          <p:nvPr/>
        </p:nvSpPr>
        <p:spPr>
          <a:xfrm>
            <a:off x="10288372" y="83101"/>
            <a:ext cx="2270125" cy="3405188"/>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9">
              <a:alphaModFix/>
            </a:blip>
            <a:stretch>
              <a:fillRect b="-30" l="0" r="0" t="-30"/>
            </a:stretch>
          </a:blip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7" name="Google Shape;2047;h65eb7c06466a6d01_2_281"/>
          <p:cNvSpPr/>
          <p:nvPr/>
        </p:nvSpPr>
        <p:spPr>
          <a:xfrm>
            <a:off x="9570358" y="3696899"/>
            <a:ext cx="2270125" cy="3405188"/>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10">
              <a:alphaModFix/>
            </a:blip>
            <a:stretch>
              <a:fillRect b="0" l="-50" r="-40" t="0"/>
            </a:stretch>
          </a:blip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8" name="Google Shape;2048;h65eb7c06466a6d01_2_281"/>
          <p:cNvSpPr/>
          <p:nvPr/>
        </p:nvSpPr>
        <p:spPr>
          <a:xfrm>
            <a:off x="11823475" y="5737970"/>
            <a:ext cx="2270125" cy="3405188"/>
          </a:xfrm>
          <a:custGeom>
            <a:rect b="b" l="l" r="r" t="t"/>
            <a:pathLst>
              <a:path extrusionOk="0" h="9525000" w="6350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rotWithShape="1">
            <a:blip r:embed="rId11">
              <a:alphaModFix/>
            </a:blip>
            <a:stretch>
              <a:fillRect b="0" l="-62572" r="-62572" t="0"/>
            </a:stretch>
          </a:blip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49" name="Google Shape;2049;h65eb7c06466a6d01_2_281"/>
          <p:cNvSpPr/>
          <p:nvPr/>
        </p:nvSpPr>
        <p:spPr>
          <a:xfrm>
            <a:off x="558785" y="2332387"/>
            <a:ext cx="6429000" cy="723300"/>
          </a:xfrm>
          <a:prstGeom prst="rect">
            <a:avLst/>
          </a:prstGeom>
          <a:noFill/>
          <a:ln>
            <a:noFill/>
          </a:ln>
        </p:spPr>
        <p:txBody>
          <a:bodyPr anchorCtr="0" anchor="t" bIns="0" lIns="0" spcFirstLastPara="1" rIns="0" wrap="square" tIns="0">
            <a:noAutofit/>
          </a:bodyPr>
          <a:lstStyle/>
          <a:p>
            <a:pPr indent="0" lvl="0" marL="0" marR="0" rtl="0" algn="l">
              <a:lnSpc>
                <a:spcPct val="112988"/>
              </a:lnSpc>
              <a:spcBef>
                <a:spcPts val="0"/>
              </a:spcBef>
              <a:spcAft>
                <a:spcPts val="0"/>
              </a:spcAft>
              <a:buClr>
                <a:srgbClr val="FAF7FC"/>
              </a:buClr>
              <a:buSzPts val="4900"/>
              <a:buFont typeface="Arial"/>
              <a:buNone/>
            </a:pPr>
            <a:r>
              <a:rPr b="1" lang="en-US" sz="4900">
                <a:solidFill>
                  <a:srgbClr val="FAF7FC"/>
                </a:solidFill>
                <a:latin typeface="Arial"/>
                <a:ea typeface="Arial"/>
                <a:cs typeface="Arial"/>
                <a:sym typeface="Arial"/>
              </a:rPr>
              <a:t>Sanggabiz </a:t>
            </a:r>
            <a:endParaRPr sz="900"/>
          </a:p>
        </p:txBody>
      </p:sp>
      <p:sp>
        <p:nvSpPr>
          <p:cNvPr id="2050" name="Google Shape;2050;h65eb7c06466a6d01_2_281"/>
          <p:cNvSpPr/>
          <p:nvPr/>
        </p:nvSpPr>
        <p:spPr>
          <a:xfrm>
            <a:off x="832332" y="5667803"/>
            <a:ext cx="1084500" cy="405300"/>
          </a:xfrm>
          <a:prstGeom prst="rect">
            <a:avLst/>
          </a:prstGeom>
          <a:noFill/>
          <a:ln>
            <a:noFill/>
          </a:ln>
        </p:spPr>
        <p:txBody>
          <a:bodyPr anchorCtr="0" anchor="t" bIns="0" lIns="0" spcFirstLastPara="1" rIns="0" wrap="square" tIns="0">
            <a:noAutofit/>
          </a:bodyPr>
          <a:lstStyle/>
          <a:p>
            <a:pPr indent="0" lvl="0" marL="0" marR="0" rtl="0" algn="l">
              <a:lnSpc>
                <a:spcPct val="140017"/>
              </a:lnSpc>
              <a:spcBef>
                <a:spcPts val="0"/>
              </a:spcBef>
              <a:spcAft>
                <a:spcPts val="0"/>
              </a:spcAft>
              <a:buClr>
                <a:srgbClr val="FAF7FC"/>
              </a:buClr>
              <a:buSzPts val="2300"/>
              <a:buFont typeface="Arial"/>
              <a:buNone/>
            </a:pPr>
            <a:r>
              <a:rPr b="1" lang="en-US" sz="2300">
                <a:solidFill>
                  <a:srgbClr val="FAF7FC"/>
                </a:solidFill>
                <a:latin typeface="Arial"/>
                <a:ea typeface="Arial"/>
                <a:cs typeface="Arial"/>
                <a:sym typeface="Arial"/>
              </a:rPr>
              <a:t>100++</a:t>
            </a:r>
            <a:endParaRPr sz="900"/>
          </a:p>
        </p:txBody>
      </p:sp>
      <p:sp>
        <p:nvSpPr>
          <p:cNvPr id="2051" name="Google Shape;2051;h65eb7c06466a6d01_2_281"/>
          <p:cNvSpPr/>
          <p:nvPr/>
        </p:nvSpPr>
        <p:spPr>
          <a:xfrm>
            <a:off x="1789555" y="5733778"/>
            <a:ext cx="2123400" cy="324900"/>
          </a:xfrm>
          <a:prstGeom prst="rect">
            <a:avLst/>
          </a:prstGeom>
          <a:noFill/>
          <a:ln>
            <a:noFill/>
          </a:ln>
        </p:spPr>
        <p:txBody>
          <a:bodyPr anchorCtr="0" anchor="t" bIns="0" lIns="0" spcFirstLastPara="1" rIns="0" wrap="square" tIns="0">
            <a:noAutofit/>
          </a:bodyPr>
          <a:lstStyle/>
          <a:p>
            <a:pPr indent="0" lvl="0" marL="0" marR="0" rtl="0" algn="l">
              <a:lnSpc>
                <a:spcPct val="120012"/>
              </a:lnSpc>
              <a:spcBef>
                <a:spcPts val="0"/>
              </a:spcBef>
              <a:spcAft>
                <a:spcPts val="0"/>
              </a:spcAft>
              <a:buClr>
                <a:srgbClr val="FAF7FC"/>
              </a:buClr>
              <a:buSzPts val="1100"/>
              <a:buFont typeface="Arial"/>
              <a:buNone/>
            </a:pPr>
            <a:r>
              <a:rPr lang="en-US" sz="1100">
                <a:solidFill>
                  <a:srgbClr val="FAF7FC"/>
                </a:solidFill>
                <a:latin typeface="Arial"/>
                <a:ea typeface="Arial"/>
                <a:cs typeface="Arial"/>
                <a:sym typeface="Arial"/>
              </a:rPr>
              <a:t>Perusahaan Transformatif</a:t>
            </a:r>
            <a:endParaRPr sz="900"/>
          </a:p>
          <a:p>
            <a:pPr indent="0" lvl="0" marL="0" marR="0" rtl="0" algn="l">
              <a:lnSpc>
                <a:spcPct val="120012"/>
              </a:lnSpc>
              <a:spcBef>
                <a:spcPts val="0"/>
              </a:spcBef>
              <a:spcAft>
                <a:spcPts val="0"/>
              </a:spcAft>
              <a:buClr>
                <a:srgbClr val="FAF7FC"/>
              </a:buClr>
              <a:buSzPts val="1100"/>
              <a:buFont typeface="Arial"/>
              <a:buNone/>
            </a:pPr>
            <a:r>
              <a:rPr lang="en-US" sz="1100">
                <a:solidFill>
                  <a:srgbClr val="FAF7FC"/>
                </a:solidFill>
                <a:latin typeface="Arial"/>
                <a:ea typeface="Arial"/>
                <a:cs typeface="Arial"/>
                <a:sym typeface="Arial"/>
              </a:rPr>
              <a:t>Menggunakan Layanan Kami</a:t>
            </a:r>
            <a:endParaRPr sz="9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056" name="Shape 2056"/>
        <p:cNvGrpSpPr/>
        <p:nvPr/>
      </p:nvGrpSpPr>
      <p:grpSpPr>
        <a:xfrm>
          <a:off x="0" y="0"/>
          <a:ext cx="0" cy="0"/>
          <a:chOff x="0" y="0"/>
          <a:chExt cx="0" cy="0"/>
        </a:xfrm>
      </p:grpSpPr>
      <p:sp>
        <p:nvSpPr>
          <p:cNvPr id="2057" name="Google Shape;2057;h65eb7c06466a6d01_2_302"/>
          <p:cNvSpPr/>
          <p:nvPr/>
        </p:nvSpPr>
        <p:spPr>
          <a:xfrm>
            <a:off x="-1749211" y="-2255855"/>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3">
              <a:alphaModFix amt="9000"/>
            </a:blip>
            <a:stretch>
              <a:fillRect b="0" l="0" r="0" t="0"/>
            </a:stretch>
          </a:blipFill>
          <a:ln>
            <a:noFill/>
          </a:ln>
        </p:spPr>
      </p:sp>
      <p:sp>
        <p:nvSpPr>
          <p:cNvPr id="2058" name="Google Shape;2058;h65eb7c06466a6d01_2_302"/>
          <p:cNvSpPr/>
          <p:nvPr/>
        </p:nvSpPr>
        <p:spPr>
          <a:xfrm>
            <a:off x="450445" y="337130"/>
            <a:ext cx="2313172" cy="1085570"/>
          </a:xfrm>
          <a:custGeom>
            <a:rect b="b" l="l" r="r" t="t"/>
            <a:pathLst>
              <a:path extrusionOk="0" h="553862" w="1180190">
                <a:moveTo>
                  <a:pt x="113883" y="0"/>
                </a:moveTo>
                <a:lnTo>
                  <a:pt x="1066307" y="0"/>
                </a:lnTo>
                <a:cubicBezTo>
                  <a:pt x="1096510" y="0"/>
                  <a:pt x="1125477" y="11998"/>
                  <a:pt x="1146834" y="33356"/>
                </a:cubicBezTo>
                <a:cubicBezTo>
                  <a:pt x="1168191" y="54713"/>
                  <a:pt x="1180190" y="83679"/>
                  <a:pt x="1180190" y="113883"/>
                </a:cubicBezTo>
                <a:lnTo>
                  <a:pt x="1180190" y="439979"/>
                </a:lnTo>
                <a:cubicBezTo>
                  <a:pt x="1180190" y="470182"/>
                  <a:pt x="1168191" y="499149"/>
                  <a:pt x="1146834" y="520506"/>
                </a:cubicBezTo>
                <a:cubicBezTo>
                  <a:pt x="1125477" y="541863"/>
                  <a:pt x="1096510" y="553862"/>
                  <a:pt x="1066307" y="553862"/>
                </a:cubicBezTo>
                <a:lnTo>
                  <a:pt x="113883" y="553862"/>
                </a:lnTo>
                <a:cubicBezTo>
                  <a:pt x="83679" y="553862"/>
                  <a:pt x="54713" y="541863"/>
                  <a:pt x="33356" y="520506"/>
                </a:cubicBezTo>
                <a:cubicBezTo>
                  <a:pt x="11998" y="499149"/>
                  <a:pt x="0" y="470182"/>
                  <a:pt x="0" y="439979"/>
                </a:cubicBezTo>
                <a:lnTo>
                  <a:pt x="0" y="113883"/>
                </a:lnTo>
                <a:cubicBezTo>
                  <a:pt x="0" y="83679"/>
                  <a:pt x="11998" y="54713"/>
                  <a:pt x="33356" y="33356"/>
                </a:cubicBezTo>
                <a:cubicBezTo>
                  <a:pt x="54713" y="11998"/>
                  <a:pt x="83679" y="0"/>
                  <a:pt x="113883"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59" name="Google Shape;2059;h65eb7c06466a6d01_2_302"/>
          <p:cNvSpPr/>
          <p:nvPr/>
        </p:nvSpPr>
        <p:spPr>
          <a:xfrm>
            <a:off x="450445" y="262513"/>
            <a:ext cx="2311200" cy="11592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060" name="Google Shape;2060;h65eb7c06466a6d01_2_302"/>
          <p:cNvSpPr/>
          <p:nvPr/>
        </p:nvSpPr>
        <p:spPr>
          <a:xfrm rot="1547762">
            <a:off x="7501222" y="1889589"/>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4">
              <a:alphaModFix amt="5000"/>
            </a:blip>
            <a:stretch>
              <a:fillRect b="0" l="0" r="-364404" t="0"/>
            </a:stretch>
          </a:blipFill>
          <a:ln>
            <a:noFill/>
          </a:ln>
        </p:spPr>
      </p:sp>
      <p:sp>
        <p:nvSpPr>
          <p:cNvPr id="2061" name="Google Shape;2061;h65eb7c06466a6d01_2_302"/>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4">
              <a:alphaModFix amt="5000"/>
            </a:blip>
            <a:stretch>
              <a:fillRect b="0" l="0" r="-408725" t="0"/>
            </a:stretch>
          </a:blipFill>
          <a:ln>
            <a:noFill/>
          </a:ln>
        </p:spPr>
      </p:sp>
      <p:sp>
        <p:nvSpPr>
          <p:cNvPr id="2062" name="Google Shape;2062;h65eb7c06466a6d01_2_302"/>
          <p:cNvSpPr/>
          <p:nvPr/>
        </p:nvSpPr>
        <p:spPr>
          <a:xfrm rot="3210947">
            <a:off x="-1189725" y="4596262"/>
            <a:ext cx="4890322" cy="2445161"/>
          </a:xfrm>
          <a:custGeom>
            <a:rect b="b" l="l" r="r" t="t"/>
            <a:pathLst>
              <a:path extrusionOk="0" h="3657600" w="7315200">
                <a:moveTo>
                  <a:pt x="0" y="0"/>
                </a:moveTo>
                <a:lnTo>
                  <a:pt x="7315200" y="0"/>
                </a:lnTo>
                <a:lnTo>
                  <a:pt x="7315200" y="3657600"/>
                </a:lnTo>
                <a:lnTo>
                  <a:pt x="0" y="3657600"/>
                </a:lnTo>
                <a:lnTo>
                  <a:pt x="0" y="0"/>
                </a:lnTo>
                <a:close/>
              </a:path>
            </a:pathLst>
          </a:custGeom>
          <a:blipFill rotWithShape="1">
            <a:blip r:embed="rId3">
              <a:alphaModFix amt="13000"/>
            </a:blip>
            <a:stretch>
              <a:fillRect b="0" l="0" r="0" t="0"/>
            </a:stretch>
          </a:blipFill>
          <a:ln>
            <a:noFill/>
          </a:ln>
        </p:spPr>
      </p:sp>
      <p:sp>
        <p:nvSpPr>
          <p:cNvPr id="2063" name="Google Shape;2063;h65eb7c06466a6d01_2_302"/>
          <p:cNvSpPr/>
          <p:nvPr/>
        </p:nvSpPr>
        <p:spPr>
          <a:xfrm>
            <a:off x="435832" y="775470"/>
            <a:ext cx="7075985" cy="5363980"/>
          </a:xfrm>
          <a:custGeom>
            <a:rect b="b" l="l" r="r" t="t"/>
            <a:pathLst>
              <a:path extrusionOk="0" h="2480453" w="3272132">
                <a:moveTo>
                  <a:pt x="26966" y="0"/>
                </a:moveTo>
                <a:lnTo>
                  <a:pt x="3245166" y="0"/>
                </a:lnTo>
                <a:cubicBezTo>
                  <a:pt x="3252317" y="0"/>
                  <a:pt x="3259176" y="2841"/>
                  <a:pt x="3264234" y="7898"/>
                </a:cubicBezTo>
                <a:cubicBezTo>
                  <a:pt x="3269291" y="12955"/>
                  <a:pt x="3272132" y="19814"/>
                  <a:pt x="3272132" y="26966"/>
                </a:cubicBezTo>
                <a:lnTo>
                  <a:pt x="3272132" y="2453487"/>
                </a:lnTo>
                <a:cubicBezTo>
                  <a:pt x="3272132" y="2460639"/>
                  <a:pt x="3269291" y="2467497"/>
                  <a:pt x="3264234" y="2472555"/>
                </a:cubicBezTo>
                <a:cubicBezTo>
                  <a:pt x="3259176" y="2477612"/>
                  <a:pt x="3252317" y="2480453"/>
                  <a:pt x="3245166" y="2480453"/>
                </a:cubicBezTo>
                <a:lnTo>
                  <a:pt x="26966" y="2480453"/>
                </a:lnTo>
                <a:cubicBezTo>
                  <a:pt x="19814" y="2480453"/>
                  <a:pt x="12955" y="2477612"/>
                  <a:pt x="7898" y="2472555"/>
                </a:cubicBezTo>
                <a:cubicBezTo>
                  <a:pt x="2841" y="2467497"/>
                  <a:pt x="0" y="2460639"/>
                  <a:pt x="0" y="2453487"/>
                </a:cubicBezTo>
                <a:lnTo>
                  <a:pt x="0" y="26966"/>
                </a:lnTo>
                <a:cubicBezTo>
                  <a:pt x="0" y="19814"/>
                  <a:pt x="2841" y="12955"/>
                  <a:pt x="7898" y="7898"/>
                </a:cubicBezTo>
                <a:cubicBezTo>
                  <a:pt x="12955" y="2841"/>
                  <a:pt x="19814" y="0"/>
                  <a:pt x="26966" y="0"/>
                </a:cubicBezTo>
                <a:close/>
              </a:path>
            </a:pathLst>
          </a:custGeom>
          <a:solidFill>
            <a:srgbClr val="FFFFFF"/>
          </a:solidFill>
          <a:ln cap="flat" cmpd="sng" w="1397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64" name="Google Shape;2064;h65eb7c06466a6d01_2_302"/>
          <p:cNvSpPr/>
          <p:nvPr/>
        </p:nvSpPr>
        <p:spPr>
          <a:xfrm>
            <a:off x="435832" y="651782"/>
            <a:ext cx="7081500" cy="5492100"/>
          </a:xfrm>
          <a:prstGeom prst="rect">
            <a:avLst/>
          </a:prstGeom>
          <a:noFill/>
          <a:ln>
            <a:noFill/>
          </a:ln>
        </p:spPr>
        <p:txBody>
          <a:bodyPr anchorCtr="0" anchor="ctr" bIns="33625" lIns="33625" spcFirstLastPara="1" rIns="33625" wrap="square" tIns="33625">
            <a:noAutofit/>
          </a:bodyPr>
          <a:lstStyle/>
          <a:p>
            <a:pPr indent="0" lvl="0" marL="0" marR="0" rtl="0" algn="ctr">
              <a:lnSpc>
                <a:spcPct val="111500"/>
              </a:lnSpc>
              <a:spcBef>
                <a:spcPts val="0"/>
              </a:spcBef>
              <a:spcAft>
                <a:spcPts val="0"/>
              </a:spcAft>
              <a:buSzPts val="1200"/>
              <a:buFont typeface="Arial"/>
              <a:buNone/>
            </a:pPr>
            <a:r>
              <a:t/>
            </a:r>
            <a:endParaRPr sz="1200"/>
          </a:p>
        </p:txBody>
      </p:sp>
      <p:sp>
        <p:nvSpPr>
          <p:cNvPr id="2065" name="Google Shape;2065;h65eb7c06466a6d01_2_302"/>
          <p:cNvSpPr/>
          <p:nvPr/>
        </p:nvSpPr>
        <p:spPr>
          <a:xfrm>
            <a:off x="3065788" y="3371050"/>
            <a:ext cx="1824023" cy="339254"/>
          </a:xfrm>
          <a:custGeom>
            <a:rect b="b" l="l" r="r" t="t"/>
            <a:pathLst>
              <a:path extrusionOk="0" h="508246" w="2732618">
                <a:moveTo>
                  <a:pt x="0" y="0"/>
                </a:moveTo>
                <a:lnTo>
                  <a:pt x="2732618" y="0"/>
                </a:lnTo>
                <a:lnTo>
                  <a:pt x="2732618" y="508246"/>
                </a:lnTo>
                <a:lnTo>
                  <a:pt x="0" y="508246"/>
                </a:lnTo>
                <a:lnTo>
                  <a:pt x="0" y="0"/>
                </a:lnTo>
                <a:close/>
              </a:path>
            </a:pathLst>
          </a:custGeom>
          <a:blipFill rotWithShape="1">
            <a:blip r:embed="rId5">
              <a:alphaModFix/>
            </a:blip>
            <a:stretch>
              <a:fillRect b="-14271" l="-1720" r="-1730" t="-13660"/>
            </a:stretch>
          </a:blipFill>
          <a:ln>
            <a:noFill/>
          </a:ln>
        </p:spPr>
      </p:sp>
      <p:sp>
        <p:nvSpPr>
          <p:cNvPr id="2066" name="Google Shape;2066;h65eb7c06466a6d01_2_302"/>
          <p:cNvSpPr/>
          <p:nvPr/>
        </p:nvSpPr>
        <p:spPr>
          <a:xfrm>
            <a:off x="8046989" y="6074223"/>
            <a:ext cx="2313172" cy="424654"/>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67" name="Google Shape;2067;h65eb7c06466a6d01_2_302"/>
          <p:cNvSpPr/>
          <p:nvPr/>
        </p:nvSpPr>
        <p:spPr>
          <a:xfrm>
            <a:off x="8046989" y="5999606"/>
            <a:ext cx="2311200" cy="4989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068" name="Google Shape;2068;h65eb7c06466a6d01_2_302"/>
          <p:cNvSpPr/>
          <p:nvPr/>
        </p:nvSpPr>
        <p:spPr>
          <a:xfrm>
            <a:off x="8267778" y="6092521"/>
            <a:ext cx="1869600" cy="3477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2000"/>
              <a:buFont typeface="Arial"/>
              <a:buNone/>
            </a:pPr>
            <a:r>
              <a:rPr b="1" lang="en-US" sz="2000">
                <a:solidFill>
                  <a:srgbClr val="FFFFFF"/>
                </a:solidFill>
                <a:latin typeface="Arial"/>
                <a:ea typeface="Arial"/>
                <a:cs typeface="Arial"/>
                <a:sym typeface="Arial"/>
              </a:rPr>
              <a:t>#TerimaBeres</a:t>
            </a:r>
            <a:endParaRPr sz="900"/>
          </a:p>
        </p:txBody>
      </p:sp>
      <p:sp>
        <p:nvSpPr>
          <p:cNvPr id="2069" name="Google Shape;2069;h65eb7c06466a6d01_2_302"/>
          <p:cNvSpPr/>
          <p:nvPr/>
        </p:nvSpPr>
        <p:spPr>
          <a:xfrm>
            <a:off x="3439385" y="2459829"/>
            <a:ext cx="840000" cy="609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1600"/>
              <a:buFont typeface="Arial"/>
              <a:buNone/>
            </a:pPr>
            <a:r>
              <a:rPr b="1" lang="en-US" sz="1600">
                <a:solidFill>
                  <a:srgbClr val="FFFFFF"/>
                </a:solidFill>
                <a:latin typeface="Arial"/>
                <a:ea typeface="Arial"/>
                <a:cs typeface="Arial"/>
                <a:sym typeface="Arial"/>
              </a:rPr>
              <a:t>Keuangan</a:t>
            </a:r>
            <a:endParaRPr sz="900"/>
          </a:p>
        </p:txBody>
      </p:sp>
      <p:sp>
        <p:nvSpPr>
          <p:cNvPr id="2070" name="Google Shape;2070;h65eb7c06466a6d01_2_302"/>
          <p:cNvSpPr/>
          <p:nvPr/>
        </p:nvSpPr>
        <p:spPr>
          <a:xfrm>
            <a:off x="1442706" y="1805267"/>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1" name="Google Shape;2071;h65eb7c06466a6d01_2_302"/>
          <p:cNvSpPr/>
          <p:nvPr/>
        </p:nvSpPr>
        <p:spPr>
          <a:xfrm>
            <a:off x="1311602" y="1801571"/>
            <a:ext cx="1356931"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2" name="Google Shape;2072;h65eb7c06466a6d01_2_302"/>
          <p:cNvSpPr/>
          <p:nvPr/>
        </p:nvSpPr>
        <p:spPr>
          <a:xfrm>
            <a:off x="1904071" y="2546253"/>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3" name="Google Shape;2073;h65eb7c06466a6d01_2_302"/>
          <p:cNvSpPr/>
          <p:nvPr/>
        </p:nvSpPr>
        <p:spPr>
          <a:xfrm>
            <a:off x="1339648" y="2579302"/>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4" name="Google Shape;2074;h65eb7c06466a6d01_2_302"/>
          <p:cNvSpPr/>
          <p:nvPr/>
        </p:nvSpPr>
        <p:spPr>
          <a:xfrm>
            <a:off x="1476405" y="1848969"/>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6">
              <a:alphaModFix/>
            </a:blip>
            <a:stretch>
              <a:fillRect b="0" l="-8759" r="-8770" t="0"/>
            </a:stretch>
          </a:blipFill>
          <a:ln>
            <a:noFill/>
          </a:ln>
        </p:spPr>
      </p:sp>
      <p:sp>
        <p:nvSpPr>
          <p:cNvPr id="2075" name="Google Shape;2075;h65eb7c06466a6d01_2_302"/>
          <p:cNvSpPr/>
          <p:nvPr/>
        </p:nvSpPr>
        <p:spPr>
          <a:xfrm>
            <a:off x="1046408" y="3071680"/>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6" name="Google Shape;2076;h65eb7c06466a6d01_2_302"/>
          <p:cNvSpPr/>
          <p:nvPr/>
        </p:nvSpPr>
        <p:spPr>
          <a:xfrm>
            <a:off x="915304" y="3067984"/>
            <a:ext cx="1356931"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7" name="Google Shape;2077;h65eb7c06466a6d01_2_302"/>
          <p:cNvSpPr/>
          <p:nvPr/>
        </p:nvSpPr>
        <p:spPr>
          <a:xfrm>
            <a:off x="1507773" y="3812667"/>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8" name="Google Shape;2078;h65eb7c06466a6d01_2_302"/>
          <p:cNvSpPr/>
          <p:nvPr/>
        </p:nvSpPr>
        <p:spPr>
          <a:xfrm>
            <a:off x="943351" y="3845715"/>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79" name="Google Shape;2079;h65eb7c06466a6d01_2_302"/>
          <p:cNvSpPr/>
          <p:nvPr/>
        </p:nvSpPr>
        <p:spPr>
          <a:xfrm>
            <a:off x="1080108" y="3115383"/>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7">
              <a:alphaModFix/>
            </a:blip>
            <a:stretch>
              <a:fillRect b="-3230" l="0" r="0" t="-3230"/>
            </a:stretch>
          </a:blipFill>
          <a:ln>
            <a:noFill/>
          </a:ln>
        </p:spPr>
      </p:sp>
      <p:sp>
        <p:nvSpPr>
          <p:cNvPr id="2080" name="Google Shape;2080;h65eb7c06466a6d01_2_302"/>
          <p:cNvSpPr/>
          <p:nvPr/>
        </p:nvSpPr>
        <p:spPr>
          <a:xfrm>
            <a:off x="3424367" y="4377676"/>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1" name="Google Shape;2081;h65eb7c06466a6d01_2_302"/>
          <p:cNvSpPr/>
          <p:nvPr/>
        </p:nvSpPr>
        <p:spPr>
          <a:xfrm>
            <a:off x="3293263" y="4373980"/>
            <a:ext cx="1356931"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2" name="Google Shape;2082;h65eb7c06466a6d01_2_302"/>
          <p:cNvSpPr/>
          <p:nvPr/>
        </p:nvSpPr>
        <p:spPr>
          <a:xfrm>
            <a:off x="3885732" y="5118663"/>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3" name="Google Shape;2083;h65eb7c06466a6d01_2_302"/>
          <p:cNvSpPr/>
          <p:nvPr/>
        </p:nvSpPr>
        <p:spPr>
          <a:xfrm>
            <a:off x="3321309" y="5151711"/>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4" name="Google Shape;2084;h65eb7c06466a6d01_2_302"/>
          <p:cNvSpPr/>
          <p:nvPr/>
        </p:nvSpPr>
        <p:spPr>
          <a:xfrm>
            <a:off x="3458066" y="4421379"/>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8">
              <a:alphaModFix/>
            </a:blip>
            <a:stretch>
              <a:fillRect b="-3330" l="0" r="0" t="-3330"/>
            </a:stretch>
          </a:blipFill>
          <a:ln>
            <a:noFill/>
          </a:ln>
        </p:spPr>
      </p:sp>
      <p:sp>
        <p:nvSpPr>
          <p:cNvPr id="2085" name="Google Shape;2085;h65eb7c06466a6d01_2_302"/>
          <p:cNvSpPr/>
          <p:nvPr/>
        </p:nvSpPr>
        <p:spPr>
          <a:xfrm>
            <a:off x="3424604" y="1755379"/>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D2A4E"/>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6" name="Google Shape;2086;h65eb7c06466a6d01_2_302"/>
          <p:cNvSpPr/>
          <p:nvPr/>
        </p:nvSpPr>
        <p:spPr>
          <a:xfrm>
            <a:off x="3293526" y="1751683"/>
            <a:ext cx="1356931"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7" name="Google Shape;2087;h65eb7c06466a6d01_2_302"/>
          <p:cNvSpPr/>
          <p:nvPr/>
        </p:nvSpPr>
        <p:spPr>
          <a:xfrm>
            <a:off x="3885880" y="2496223"/>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8" name="Google Shape;2088;h65eb7c06466a6d01_2_302"/>
          <p:cNvSpPr/>
          <p:nvPr/>
        </p:nvSpPr>
        <p:spPr>
          <a:xfrm>
            <a:off x="3321567" y="2529265"/>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89" name="Google Shape;2089;h65eb7c06466a6d01_2_302"/>
          <p:cNvSpPr/>
          <p:nvPr/>
        </p:nvSpPr>
        <p:spPr>
          <a:xfrm>
            <a:off x="3458298" y="1799073"/>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9">
              <a:alphaModFix/>
            </a:blip>
            <a:stretch>
              <a:fillRect b="-3330" l="0" r="0" t="-3330"/>
            </a:stretch>
          </a:blipFill>
          <a:ln>
            <a:noFill/>
          </a:ln>
        </p:spPr>
      </p:sp>
      <p:sp>
        <p:nvSpPr>
          <p:cNvPr id="2090" name="Google Shape;2090;h65eb7c06466a6d01_2_302"/>
          <p:cNvSpPr/>
          <p:nvPr/>
        </p:nvSpPr>
        <p:spPr>
          <a:xfrm>
            <a:off x="5564053" y="2135459"/>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1" name="Google Shape;2091;h65eb7c06466a6d01_2_302"/>
          <p:cNvSpPr/>
          <p:nvPr/>
        </p:nvSpPr>
        <p:spPr>
          <a:xfrm>
            <a:off x="5432949" y="2131763"/>
            <a:ext cx="1356932"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2" name="Google Shape;2092;h65eb7c06466a6d01_2_302"/>
          <p:cNvSpPr/>
          <p:nvPr/>
        </p:nvSpPr>
        <p:spPr>
          <a:xfrm>
            <a:off x="6025418" y="2876445"/>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3" name="Google Shape;2093;h65eb7c06466a6d01_2_302"/>
          <p:cNvSpPr/>
          <p:nvPr/>
        </p:nvSpPr>
        <p:spPr>
          <a:xfrm>
            <a:off x="5460996" y="2909494"/>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4" name="Google Shape;2094;h65eb7c06466a6d01_2_302"/>
          <p:cNvSpPr/>
          <p:nvPr/>
        </p:nvSpPr>
        <p:spPr>
          <a:xfrm>
            <a:off x="5597753" y="2179161"/>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10">
              <a:alphaModFix/>
            </a:blip>
            <a:stretch>
              <a:fillRect b="-3230" l="0" r="0" t="-3230"/>
            </a:stretch>
          </a:blipFill>
          <a:ln>
            <a:noFill/>
          </a:ln>
        </p:spPr>
      </p:sp>
      <p:sp>
        <p:nvSpPr>
          <p:cNvPr id="2095" name="Google Shape;2095;h65eb7c06466a6d01_2_302"/>
          <p:cNvSpPr/>
          <p:nvPr/>
        </p:nvSpPr>
        <p:spPr>
          <a:xfrm>
            <a:off x="5564053" y="3945540"/>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6" name="Google Shape;2096;h65eb7c06466a6d01_2_302"/>
          <p:cNvSpPr/>
          <p:nvPr/>
        </p:nvSpPr>
        <p:spPr>
          <a:xfrm>
            <a:off x="5432949" y="3941844"/>
            <a:ext cx="1356932"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7" name="Google Shape;2097;h65eb7c06466a6d01_2_302"/>
          <p:cNvSpPr/>
          <p:nvPr/>
        </p:nvSpPr>
        <p:spPr>
          <a:xfrm>
            <a:off x="6025418" y="4686527"/>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8" name="Google Shape;2098;h65eb7c06466a6d01_2_302"/>
          <p:cNvSpPr/>
          <p:nvPr/>
        </p:nvSpPr>
        <p:spPr>
          <a:xfrm>
            <a:off x="5460996" y="4719575"/>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099" name="Google Shape;2099;h65eb7c06466a6d01_2_302"/>
          <p:cNvSpPr/>
          <p:nvPr/>
        </p:nvSpPr>
        <p:spPr>
          <a:xfrm>
            <a:off x="5597753" y="3989243"/>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11">
              <a:alphaModFix/>
            </a:blip>
            <a:stretch>
              <a:fillRect b="-3230" l="0" r="0" t="-3230"/>
            </a:stretch>
          </a:blipFill>
          <a:ln>
            <a:noFill/>
          </a:ln>
        </p:spPr>
      </p:sp>
      <p:sp>
        <p:nvSpPr>
          <p:cNvPr id="2100" name="Google Shape;2100;h65eb7c06466a6d01_2_302"/>
          <p:cNvSpPr/>
          <p:nvPr/>
        </p:nvSpPr>
        <p:spPr>
          <a:xfrm>
            <a:off x="3976636" y="2535352"/>
            <a:ext cx="0" cy="418371"/>
          </a:xfrm>
          <a:custGeom>
            <a:rect b="b" l="l" r="r" t="t"/>
            <a:pathLst>
              <a:path extrusionOk="0" h="626773" w="120000">
                <a:moveTo>
                  <a:pt x="0" y="626774"/>
                </a:moveTo>
                <a:lnTo>
                  <a:pt x="0" y="0"/>
                </a:lnTo>
              </a:path>
            </a:pathLst>
          </a:custGeom>
          <a:noFill/>
          <a:ln cap="flat" cmpd="sng" w="25400">
            <a:solidFill>
              <a:srgbClr val="092647"/>
            </a:solidFill>
            <a:prstDash val="solid"/>
            <a:round/>
            <a:headEnd len="sm" w="sm" type="none"/>
            <a:tailEnd len="sm" w="sm" type="none"/>
          </a:ln>
        </p:spPr>
      </p:sp>
      <p:sp>
        <p:nvSpPr>
          <p:cNvPr id="2101" name="Google Shape;2101;h65eb7c06466a6d01_2_302"/>
          <p:cNvSpPr/>
          <p:nvPr/>
        </p:nvSpPr>
        <p:spPr>
          <a:xfrm>
            <a:off x="4887484" y="2948453"/>
            <a:ext cx="489244" cy="592753"/>
          </a:xfrm>
          <a:custGeom>
            <a:rect b="b" l="l" r="r" t="t"/>
            <a:pathLst>
              <a:path extrusionOk="0" h="888019" w="732950">
                <a:moveTo>
                  <a:pt x="0" y="888019"/>
                </a:moveTo>
                <a:lnTo>
                  <a:pt x="0" y="666015"/>
                </a:lnTo>
                <a:cubicBezTo>
                  <a:pt x="0" y="607135"/>
                  <a:pt x="23390" y="550667"/>
                  <a:pt x="65024" y="509033"/>
                </a:cubicBezTo>
                <a:cubicBezTo>
                  <a:pt x="106658" y="467399"/>
                  <a:pt x="163126" y="444010"/>
                  <a:pt x="222005" y="444010"/>
                </a:cubicBezTo>
                <a:lnTo>
                  <a:pt x="510946" y="444010"/>
                </a:lnTo>
                <a:cubicBezTo>
                  <a:pt x="569824" y="444010"/>
                  <a:pt x="626292" y="420620"/>
                  <a:pt x="667926" y="378986"/>
                </a:cubicBezTo>
                <a:cubicBezTo>
                  <a:pt x="709560" y="337352"/>
                  <a:pt x="732950" y="280884"/>
                  <a:pt x="732950" y="222005"/>
                </a:cubicBezTo>
                <a:lnTo>
                  <a:pt x="732950" y="0"/>
                </a:lnTo>
              </a:path>
            </a:pathLst>
          </a:custGeom>
          <a:noFill/>
          <a:ln cap="flat"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02" name="Google Shape;2102;h65eb7c06466a6d01_2_302"/>
          <p:cNvSpPr/>
          <p:nvPr/>
        </p:nvSpPr>
        <p:spPr>
          <a:xfrm>
            <a:off x="4887484" y="3540465"/>
            <a:ext cx="515138" cy="1186679"/>
          </a:xfrm>
          <a:custGeom>
            <a:rect b="b" l="l" r="r" t="t"/>
            <a:pathLst>
              <a:path extrusionOk="0" h="1777797" w="771743">
                <a:moveTo>
                  <a:pt x="0" y="0"/>
                </a:moveTo>
                <a:lnTo>
                  <a:pt x="0" y="660299"/>
                </a:lnTo>
                <a:cubicBezTo>
                  <a:pt x="0" y="786551"/>
                  <a:pt x="102348" y="888899"/>
                  <a:pt x="228600" y="888899"/>
                </a:cubicBezTo>
                <a:lnTo>
                  <a:pt x="543143" y="888899"/>
                </a:lnTo>
                <a:cubicBezTo>
                  <a:pt x="669395" y="888899"/>
                  <a:pt x="771743" y="991246"/>
                  <a:pt x="771743" y="1117499"/>
                </a:cubicBezTo>
                <a:lnTo>
                  <a:pt x="771743" y="1777797"/>
                </a:lnTo>
              </a:path>
            </a:pathLst>
          </a:custGeom>
          <a:noFill/>
          <a:ln cap="flat"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03" name="Google Shape;2103;h65eb7c06466a6d01_2_302"/>
          <p:cNvSpPr/>
          <p:nvPr/>
        </p:nvSpPr>
        <p:spPr>
          <a:xfrm>
            <a:off x="2714576" y="2611108"/>
            <a:ext cx="351660" cy="930519"/>
          </a:xfrm>
          <a:custGeom>
            <a:rect b="b" l="l" r="r" t="t"/>
            <a:pathLst>
              <a:path extrusionOk="0" h="1394036" w="526831">
                <a:moveTo>
                  <a:pt x="526831" y="1394036"/>
                </a:moveTo>
                <a:lnTo>
                  <a:pt x="526831" y="925618"/>
                </a:lnTo>
                <a:cubicBezTo>
                  <a:pt x="526831" y="799366"/>
                  <a:pt x="424484" y="697018"/>
                  <a:pt x="298231" y="697018"/>
                </a:cubicBezTo>
                <a:lnTo>
                  <a:pt x="228600" y="697018"/>
                </a:lnTo>
                <a:cubicBezTo>
                  <a:pt x="102347" y="697018"/>
                  <a:pt x="0" y="594671"/>
                  <a:pt x="0" y="468418"/>
                </a:cubicBezTo>
                <a:lnTo>
                  <a:pt x="0" y="0"/>
                </a:lnTo>
              </a:path>
            </a:pathLst>
          </a:custGeom>
          <a:noFill/>
          <a:ln cap="flat"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04" name="Google Shape;2104;h65eb7c06466a6d01_2_302"/>
          <p:cNvSpPr/>
          <p:nvPr/>
        </p:nvSpPr>
        <p:spPr>
          <a:xfrm>
            <a:off x="2420428" y="3540465"/>
            <a:ext cx="646183" cy="326345"/>
          </a:xfrm>
          <a:custGeom>
            <a:rect b="b" l="l" r="r" t="t"/>
            <a:pathLst>
              <a:path extrusionOk="0" h="488906" w="968065">
                <a:moveTo>
                  <a:pt x="968065" y="0"/>
                </a:moveTo>
                <a:lnTo>
                  <a:pt x="853765" y="0"/>
                </a:lnTo>
                <a:cubicBezTo>
                  <a:pt x="790639" y="0"/>
                  <a:pt x="739465" y="51174"/>
                  <a:pt x="739465" y="114300"/>
                </a:cubicBezTo>
                <a:lnTo>
                  <a:pt x="739465" y="260307"/>
                </a:lnTo>
                <a:cubicBezTo>
                  <a:pt x="739465" y="386559"/>
                  <a:pt x="637118" y="488907"/>
                  <a:pt x="510865" y="488907"/>
                </a:cubicBezTo>
                <a:lnTo>
                  <a:pt x="0" y="488907"/>
                </a:lnTo>
              </a:path>
            </a:pathLst>
          </a:custGeom>
          <a:noFill/>
          <a:ln cap="flat"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05" name="Google Shape;2105;h65eb7c06466a6d01_2_302"/>
          <p:cNvSpPr/>
          <p:nvPr/>
        </p:nvSpPr>
        <p:spPr>
          <a:xfrm>
            <a:off x="3976505" y="3709881"/>
            <a:ext cx="131" cy="664929"/>
          </a:xfrm>
          <a:custGeom>
            <a:rect b="b" l="l" r="r" t="t"/>
            <a:pathLst>
              <a:path extrusionOk="0" h="996149" w="196">
                <a:moveTo>
                  <a:pt x="196" y="0"/>
                </a:moveTo>
                <a:lnTo>
                  <a:pt x="196" y="497977"/>
                </a:lnTo>
                <a:cubicBezTo>
                  <a:pt x="196" y="498031"/>
                  <a:pt x="152" y="498075"/>
                  <a:pt x="98" y="498075"/>
                </a:cubicBezTo>
                <a:lnTo>
                  <a:pt x="98" y="498075"/>
                </a:lnTo>
                <a:cubicBezTo>
                  <a:pt x="44" y="498075"/>
                  <a:pt x="0" y="498119"/>
                  <a:pt x="0" y="498173"/>
                </a:cubicBezTo>
                <a:lnTo>
                  <a:pt x="0" y="996149"/>
                </a:lnTo>
              </a:path>
            </a:pathLst>
          </a:custGeom>
          <a:noFill/>
          <a:ln cap="flat"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06" name="Google Shape;2106;h65eb7c06466a6d01_2_302"/>
          <p:cNvSpPr/>
          <p:nvPr/>
        </p:nvSpPr>
        <p:spPr>
          <a:xfrm>
            <a:off x="3256903" y="2440509"/>
            <a:ext cx="1439832" cy="264325"/>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07" name="Google Shape;2107;h65eb7c06466a6d01_2_302"/>
          <p:cNvSpPr/>
          <p:nvPr/>
        </p:nvSpPr>
        <p:spPr>
          <a:xfrm>
            <a:off x="3256903" y="2394037"/>
            <a:ext cx="1439700" cy="3108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08" name="Google Shape;2108;h65eb7c06466a6d01_2_302"/>
          <p:cNvSpPr/>
          <p:nvPr/>
        </p:nvSpPr>
        <p:spPr>
          <a:xfrm>
            <a:off x="3394408" y="2440499"/>
            <a:ext cx="1164300" cy="237600"/>
          </a:xfrm>
          <a:prstGeom prst="rect">
            <a:avLst/>
          </a:prstGeom>
          <a:noFill/>
          <a:ln>
            <a:noFill/>
          </a:ln>
        </p:spPr>
        <p:txBody>
          <a:bodyPr anchorCtr="0" anchor="t" bIns="0" lIns="0" spcFirstLastPara="1" rIns="0" wrap="square" tIns="0">
            <a:noAutofit/>
          </a:bodyPr>
          <a:lstStyle/>
          <a:p>
            <a:pPr indent="0" lvl="0" marL="0" marR="0" rtl="0" algn="ctr">
              <a:lnSpc>
                <a:spcPct val="150026"/>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KEUANGAN</a:t>
            </a:r>
            <a:endParaRPr sz="900"/>
          </a:p>
        </p:txBody>
      </p:sp>
      <p:sp>
        <p:nvSpPr>
          <p:cNvPr id="2109" name="Google Shape;2109;h65eb7c06466a6d01_2_302"/>
          <p:cNvSpPr/>
          <p:nvPr/>
        </p:nvSpPr>
        <p:spPr>
          <a:xfrm>
            <a:off x="5376105" y="2817498"/>
            <a:ext cx="1439832" cy="261968"/>
          </a:xfrm>
          <a:custGeom>
            <a:rect b="b" l="l" r="r" t="t"/>
            <a:pathLst>
              <a:path extrusionOk="0" h="214728" w="1180190">
                <a:moveTo>
                  <a:pt x="107364" y="0"/>
                </a:moveTo>
                <a:lnTo>
                  <a:pt x="1072825" y="0"/>
                </a:lnTo>
                <a:cubicBezTo>
                  <a:pt x="1101300" y="0"/>
                  <a:pt x="1128609" y="11312"/>
                  <a:pt x="1148743" y="31446"/>
                </a:cubicBezTo>
                <a:cubicBezTo>
                  <a:pt x="1168878" y="51581"/>
                  <a:pt x="1180190" y="78889"/>
                  <a:pt x="1180190" y="107364"/>
                </a:cubicBezTo>
                <a:lnTo>
                  <a:pt x="1180190" y="107364"/>
                </a:lnTo>
                <a:cubicBezTo>
                  <a:pt x="1180190" y="166660"/>
                  <a:pt x="1132121" y="214728"/>
                  <a:pt x="1072825" y="214728"/>
                </a:cubicBezTo>
                <a:lnTo>
                  <a:pt x="107364" y="214728"/>
                </a:lnTo>
                <a:cubicBezTo>
                  <a:pt x="78889" y="214728"/>
                  <a:pt x="51581" y="203417"/>
                  <a:pt x="31446" y="183282"/>
                </a:cubicBezTo>
                <a:cubicBezTo>
                  <a:pt x="11312" y="163147"/>
                  <a:pt x="0" y="135839"/>
                  <a:pt x="0" y="107364"/>
                </a:cubicBezTo>
                <a:lnTo>
                  <a:pt x="0" y="107364"/>
                </a:lnTo>
                <a:cubicBezTo>
                  <a:pt x="0" y="78889"/>
                  <a:pt x="11312" y="51581"/>
                  <a:pt x="31446" y="31446"/>
                </a:cubicBezTo>
                <a:cubicBezTo>
                  <a:pt x="51581" y="11312"/>
                  <a:pt x="78889" y="0"/>
                  <a:pt x="107364"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10" name="Google Shape;2110;h65eb7c06466a6d01_2_302"/>
          <p:cNvSpPr/>
          <p:nvPr/>
        </p:nvSpPr>
        <p:spPr>
          <a:xfrm>
            <a:off x="5376105" y="2771027"/>
            <a:ext cx="1439700" cy="3084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11" name="Google Shape;2111;h65eb7c06466a6d01_2_302"/>
          <p:cNvSpPr/>
          <p:nvPr/>
        </p:nvSpPr>
        <p:spPr>
          <a:xfrm>
            <a:off x="5513610" y="2817488"/>
            <a:ext cx="1164300" cy="237600"/>
          </a:xfrm>
          <a:prstGeom prst="rect">
            <a:avLst/>
          </a:prstGeom>
          <a:noFill/>
          <a:ln>
            <a:noFill/>
          </a:ln>
        </p:spPr>
        <p:txBody>
          <a:bodyPr anchorCtr="0" anchor="t" bIns="0" lIns="0" spcFirstLastPara="1" rIns="0" wrap="square" tIns="0">
            <a:noAutofit/>
          </a:bodyPr>
          <a:lstStyle/>
          <a:p>
            <a:pPr indent="0" lvl="0" marL="0" marR="0" rtl="0" algn="ctr">
              <a:lnSpc>
                <a:spcPct val="150026"/>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PEMASARAN</a:t>
            </a:r>
            <a:endParaRPr sz="900"/>
          </a:p>
        </p:txBody>
      </p:sp>
      <p:sp>
        <p:nvSpPr>
          <p:cNvPr id="2112" name="Google Shape;2112;h65eb7c06466a6d01_2_302"/>
          <p:cNvSpPr/>
          <p:nvPr/>
        </p:nvSpPr>
        <p:spPr>
          <a:xfrm>
            <a:off x="5401966" y="4593531"/>
            <a:ext cx="1439832" cy="264325"/>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13" name="Google Shape;2113;h65eb7c06466a6d01_2_302"/>
          <p:cNvSpPr/>
          <p:nvPr/>
        </p:nvSpPr>
        <p:spPr>
          <a:xfrm>
            <a:off x="5401966" y="4547060"/>
            <a:ext cx="1439700" cy="3108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14" name="Google Shape;2114;h65eb7c06466a6d01_2_302"/>
          <p:cNvSpPr/>
          <p:nvPr/>
        </p:nvSpPr>
        <p:spPr>
          <a:xfrm>
            <a:off x="5539471" y="4593521"/>
            <a:ext cx="1164300" cy="237600"/>
          </a:xfrm>
          <a:prstGeom prst="rect">
            <a:avLst/>
          </a:prstGeom>
          <a:noFill/>
          <a:ln>
            <a:noFill/>
          </a:ln>
        </p:spPr>
        <p:txBody>
          <a:bodyPr anchorCtr="0" anchor="t" bIns="0" lIns="0" spcFirstLastPara="1" rIns="0" wrap="square" tIns="0">
            <a:noAutofit/>
          </a:bodyPr>
          <a:lstStyle/>
          <a:p>
            <a:pPr indent="0" lvl="0" marL="0" marR="0" rtl="0" algn="ctr">
              <a:lnSpc>
                <a:spcPct val="150026"/>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SDM</a:t>
            </a:r>
            <a:endParaRPr sz="900"/>
          </a:p>
        </p:txBody>
      </p:sp>
      <p:sp>
        <p:nvSpPr>
          <p:cNvPr id="2115" name="Google Shape;2115;h65eb7c06466a6d01_2_302"/>
          <p:cNvSpPr/>
          <p:nvPr/>
        </p:nvSpPr>
        <p:spPr>
          <a:xfrm>
            <a:off x="3256903" y="5025667"/>
            <a:ext cx="1439832" cy="264325"/>
          </a:xfrm>
          <a:custGeom>
            <a:rect b="b" l="l" r="r" t="t"/>
            <a:pathLst>
              <a:path extrusionOk="0" h="216660" w="1180190">
                <a:moveTo>
                  <a:pt x="108330" y="0"/>
                </a:moveTo>
                <a:lnTo>
                  <a:pt x="1071860" y="0"/>
                </a:lnTo>
                <a:cubicBezTo>
                  <a:pt x="1100590" y="0"/>
                  <a:pt x="1128145" y="11413"/>
                  <a:pt x="1148460" y="31729"/>
                </a:cubicBezTo>
                <a:cubicBezTo>
                  <a:pt x="1168776" y="52045"/>
                  <a:pt x="1180190" y="79599"/>
                  <a:pt x="1180190" y="108330"/>
                </a:cubicBezTo>
                <a:lnTo>
                  <a:pt x="1180190" y="108330"/>
                </a:lnTo>
                <a:cubicBezTo>
                  <a:pt x="1180190" y="168159"/>
                  <a:pt x="1131689" y="216660"/>
                  <a:pt x="1071860" y="216660"/>
                </a:cubicBezTo>
                <a:lnTo>
                  <a:pt x="108330" y="216660"/>
                </a:lnTo>
                <a:cubicBezTo>
                  <a:pt x="79599" y="216660"/>
                  <a:pt x="52045" y="205247"/>
                  <a:pt x="31729" y="184931"/>
                </a:cubicBezTo>
                <a:cubicBezTo>
                  <a:pt x="11413" y="164615"/>
                  <a:pt x="0" y="137061"/>
                  <a:pt x="0" y="108330"/>
                </a:cubicBezTo>
                <a:lnTo>
                  <a:pt x="0" y="108330"/>
                </a:lnTo>
                <a:cubicBezTo>
                  <a:pt x="0" y="79599"/>
                  <a:pt x="11413" y="52045"/>
                  <a:pt x="31729" y="31729"/>
                </a:cubicBezTo>
                <a:cubicBezTo>
                  <a:pt x="52045" y="11413"/>
                  <a:pt x="79599" y="0"/>
                  <a:pt x="108330"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16" name="Google Shape;2116;h65eb7c06466a6d01_2_302"/>
          <p:cNvSpPr/>
          <p:nvPr/>
        </p:nvSpPr>
        <p:spPr>
          <a:xfrm>
            <a:off x="3256903" y="4979195"/>
            <a:ext cx="1439700" cy="3108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17" name="Google Shape;2117;h65eb7c06466a6d01_2_302"/>
          <p:cNvSpPr/>
          <p:nvPr/>
        </p:nvSpPr>
        <p:spPr>
          <a:xfrm>
            <a:off x="3394408" y="5025657"/>
            <a:ext cx="1164300" cy="474900"/>
          </a:xfrm>
          <a:prstGeom prst="rect">
            <a:avLst/>
          </a:prstGeom>
          <a:noFill/>
          <a:ln>
            <a:noFill/>
          </a:ln>
        </p:spPr>
        <p:txBody>
          <a:bodyPr anchorCtr="0" anchor="t" bIns="0" lIns="0" spcFirstLastPara="1" rIns="0" wrap="square" tIns="0">
            <a:noAutofit/>
          </a:bodyPr>
          <a:lstStyle/>
          <a:p>
            <a:pPr indent="0" lvl="0" marL="0" marR="0" rtl="0" algn="ctr">
              <a:lnSpc>
                <a:spcPct val="150026"/>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LAYANAN PELANGGAN</a:t>
            </a:r>
            <a:endParaRPr sz="900"/>
          </a:p>
        </p:txBody>
      </p:sp>
      <p:sp>
        <p:nvSpPr>
          <p:cNvPr id="2118" name="Google Shape;2118;h65eb7c06466a6d01_2_302"/>
          <p:cNvSpPr/>
          <p:nvPr/>
        </p:nvSpPr>
        <p:spPr>
          <a:xfrm>
            <a:off x="776664" y="3763296"/>
            <a:ext cx="1643415" cy="206165"/>
          </a:xfrm>
          <a:custGeom>
            <a:rect b="b" l="l" r="r" t="t"/>
            <a:pathLst>
              <a:path extrusionOk="0" h="148054" w="1180190">
                <a:moveTo>
                  <a:pt x="74027" y="0"/>
                </a:moveTo>
                <a:lnTo>
                  <a:pt x="1106163" y="0"/>
                </a:lnTo>
                <a:cubicBezTo>
                  <a:pt x="1125796" y="0"/>
                  <a:pt x="1144625" y="7799"/>
                  <a:pt x="1158508" y="21682"/>
                </a:cubicBezTo>
                <a:cubicBezTo>
                  <a:pt x="1172390" y="35565"/>
                  <a:pt x="1180190" y="54394"/>
                  <a:pt x="1180190" y="74027"/>
                </a:cubicBezTo>
                <a:lnTo>
                  <a:pt x="1180190" y="74027"/>
                </a:lnTo>
                <a:cubicBezTo>
                  <a:pt x="1180190" y="114911"/>
                  <a:pt x="1147047" y="148054"/>
                  <a:pt x="1106163" y="148054"/>
                </a:cubicBezTo>
                <a:lnTo>
                  <a:pt x="74027" y="148054"/>
                </a:lnTo>
                <a:cubicBezTo>
                  <a:pt x="54394" y="148054"/>
                  <a:pt x="35565" y="140254"/>
                  <a:pt x="21682" y="126372"/>
                </a:cubicBezTo>
                <a:cubicBezTo>
                  <a:pt x="7799" y="112489"/>
                  <a:pt x="0" y="93660"/>
                  <a:pt x="0" y="74027"/>
                </a:cubicBezTo>
                <a:lnTo>
                  <a:pt x="0" y="74027"/>
                </a:lnTo>
                <a:cubicBezTo>
                  <a:pt x="0" y="54394"/>
                  <a:pt x="7799" y="35565"/>
                  <a:pt x="21682" y="21682"/>
                </a:cubicBezTo>
                <a:cubicBezTo>
                  <a:pt x="35565" y="7799"/>
                  <a:pt x="54394" y="0"/>
                  <a:pt x="74027"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19" name="Google Shape;2119;h65eb7c06466a6d01_2_302"/>
          <p:cNvSpPr/>
          <p:nvPr/>
        </p:nvSpPr>
        <p:spPr>
          <a:xfrm>
            <a:off x="776664" y="3710229"/>
            <a:ext cx="1644000" cy="2592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20" name="Google Shape;2120;h65eb7c06466a6d01_2_302"/>
          <p:cNvSpPr/>
          <p:nvPr/>
        </p:nvSpPr>
        <p:spPr>
          <a:xfrm>
            <a:off x="933685" y="3782979"/>
            <a:ext cx="1329600" cy="155100"/>
          </a:xfrm>
          <a:prstGeom prst="rect">
            <a:avLst/>
          </a:prstGeom>
          <a:noFill/>
          <a:ln>
            <a:noFill/>
          </a:ln>
        </p:spPr>
        <p:txBody>
          <a:bodyPr anchorCtr="0" anchor="t" bIns="0" lIns="0" spcFirstLastPara="1" rIns="0" wrap="square" tIns="0">
            <a:noAutofit/>
          </a:bodyPr>
          <a:lstStyle/>
          <a:p>
            <a:pPr indent="0" lvl="0" marL="0" marR="0" rtl="0" algn="ctr">
              <a:lnSpc>
                <a:spcPct val="150041"/>
              </a:lnSpc>
              <a:spcBef>
                <a:spcPts val="0"/>
              </a:spcBef>
              <a:spcAft>
                <a:spcPts val="0"/>
              </a:spcAft>
              <a:buClr>
                <a:srgbClr val="FFFFFF"/>
              </a:buClr>
              <a:buSzPts val="800"/>
              <a:buFont typeface="Arial"/>
              <a:buNone/>
            </a:pPr>
            <a:r>
              <a:rPr b="1" lang="en-US" sz="800">
                <a:solidFill>
                  <a:srgbClr val="FFFFFF"/>
                </a:solidFill>
                <a:latin typeface="Arial"/>
                <a:ea typeface="Arial"/>
                <a:cs typeface="Arial"/>
                <a:sym typeface="Arial"/>
              </a:rPr>
              <a:t>MANAJEMEN PROYEK</a:t>
            </a:r>
            <a:endParaRPr sz="900"/>
          </a:p>
        </p:txBody>
      </p:sp>
      <p:sp>
        <p:nvSpPr>
          <p:cNvPr id="2121" name="Google Shape;2121;h65eb7c06466a6d01_2_302"/>
          <p:cNvSpPr/>
          <p:nvPr/>
        </p:nvSpPr>
        <p:spPr>
          <a:xfrm>
            <a:off x="1275111" y="2480154"/>
            <a:ext cx="1439832" cy="261968"/>
          </a:xfrm>
          <a:custGeom>
            <a:rect b="b" l="l" r="r" t="t"/>
            <a:pathLst>
              <a:path extrusionOk="0" h="214728" w="1180190">
                <a:moveTo>
                  <a:pt x="107364" y="0"/>
                </a:moveTo>
                <a:lnTo>
                  <a:pt x="1072825" y="0"/>
                </a:lnTo>
                <a:cubicBezTo>
                  <a:pt x="1101300" y="0"/>
                  <a:pt x="1128609" y="11312"/>
                  <a:pt x="1148743" y="31446"/>
                </a:cubicBezTo>
                <a:cubicBezTo>
                  <a:pt x="1168878" y="51581"/>
                  <a:pt x="1180190" y="78889"/>
                  <a:pt x="1180190" y="107364"/>
                </a:cubicBezTo>
                <a:lnTo>
                  <a:pt x="1180190" y="107364"/>
                </a:lnTo>
                <a:cubicBezTo>
                  <a:pt x="1180190" y="166660"/>
                  <a:pt x="1132121" y="214728"/>
                  <a:pt x="1072825" y="214728"/>
                </a:cubicBezTo>
                <a:lnTo>
                  <a:pt x="107364" y="214728"/>
                </a:lnTo>
                <a:cubicBezTo>
                  <a:pt x="78889" y="214728"/>
                  <a:pt x="51581" y="203417"/>
                  <a:pt x="31446" y="183282"/>
                </a:cubicBezTo>
                <a:cubicBezTo>
                  <a:pt x="11312" y="163147"/>
                  <a:pt x="0" y="135839"/>
                  <a:pt x="0" y="107364"/>
                </a:cubicBezTo>
                <a:lnTo>
                  <a:pt x="0" y="107364"/>
                </a:lnTo>
                <a:cubicBezTo>
                  <a:pt x="0" y="78889"/>
                  <a:pt x="11312" y="51581"/>
                  <a:pt x="31446" y="31446"/>
                </a:cubicBezTo>
                <a:cubicBezTo>
                  <a:pt x="51581" y="11312"/>
                  <a:pt x="78889" y="0"/>
                  <a:pt x="107364"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22" name="Google Shape;2122;h65eb7c06466a6d01_2_302"/>
          <p:cNvSpPr/>
          <p:nvPr/>
        </p:nvSpPr>
        <p:spPr>
          <a:xfrm>
            <a:off x="1275111" y="2433683"/>
            <a:ext cx="1439700" cy="3084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23" name="Google Shape;2123;h65eb7c06466a6d01_2_302"/>
          <p:cNvSpPr/>
          <p:nvPr/>
        </p:nvSpPr>
        <p:spPr>
          <a:xfrm>
            <a:off x="1412616" y="2480144"/>
            <a:ext cx="1164300" cy="237600"/>
          </a:xfrm>
          <a:prstGeom prst="rect">
            <a:avLst/>
          </a:prstGeom>
          <a:noFill/>
          <a:ln>
            <a:noFill/>
          </a:ln>
        </p:spPr>
        <p:txBody>
          <a:bodyPr anchorCtr="0" anchor="t" bIns="0" lIns="0" spcFirstLastPara="1" rIns="0" wrap="square" tIns="0">
            <a:noAutofit/>
          </a:bodyPr>
          <a:lstStyle/>
          <a:p>
            <a:pPr indent="0" lvl="0" marL="0" marR="0" rtl="0" algn="ctr">
              <a:lnSpc>
                <a:spcPct val="150026"/>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OPERASIONAL</a:t>
            </a:r>
            <a:endParaRPr sz="900"/>
          </a:p>
        </p:txBody>
      </p:sp>
      <p:sp>
        <p:nvSpPr>
          <p:cNvPr id="2124" name="Google Shape;2124;h65eb7c06466a6d01_2_302"/>
          <p:cNvSpPr/>
          <p:nvPr/>
        </p:nvSpPr>
        <p:spPr>
          <a:xfrm>
            <a:off x="645258" y="346776"/>
            <a:ext cx="1869600" cy="3813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2000"/>
              <a:buFont typeface="Arial"/>
              <a:buNone/>
            </a:pPr>
            <a:r>
              <a:rPr b="1" lang="en-US" sz="2000">
                <a:solidFill>
                  <a:srgbClr val="FFFFFF"/>
                </a:solidFill>
                <a:latin typeface="Arial"/>
                <a:ea typeface="Arial"/>
                <a:cs typeface="Arial"/>
                <a:sym typeface="Arial"/>
              </a:rPr>
              <a:t>Layanan Kami</a:t>
            </a:r>
            <a:endParaRPr sz="900"/>
          </a:p>
        </p:txBody>
      </p:sp>
      <p:sp>
        <p:nvSpPr>
          <p:cNvPr id="2125" name="Google Shape;2125;h65eb7c06466a6d01_2_302"/>
          <p:cNvSpPr/>
          <p:nvPr/>
        </p:nvSpPr>
        <p:spPr>
          <a:xfrm>
            <a:off x="450445" y="6279376"/>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sp>
        <p:nvSpPr>
          <p:cNvPr id="2126" name="Google Shape;2126;h65eb7c06466a6d01_2_302"/>
          <p:cNvSpPr/>
          <p:nvPr/>
        </p:nvSpPr>
        <p:spPr>
          <a:xfrm>
            <a:off x="2709122" y="3367132"/>
            <a:ext cx="2475449" cy="488374"/>
          </a:xfrm>
          <a:custGeom>
            <a:rect b="b" l="l" r="r" t="t"/>
            <a:pathLst>
              <a:path extrusionOk="0" h="232836" w="1180190">
                <a:moveTo>
                  <a:pt x="106317" y="0"/>
                </a:moveTo>
                <a:lnTo>
                  <a:pt x="1073872" y="0"/>
                </a:lnTo>
                <a:cubicBezTo>
                  <a:pt x="1132590" y="0"/>
                  <a:pt x="1180190" y="47600"/>
                  <a:pt x="1180190" y="106317"/>
                </a:cubicBezTo>
                <a:lnTo>
                  <a:pt x="1180190" y="126519"/>
                </a:lnTo>
                <a:cubicBezTo>
                  <a:pt x="1180190" y="185236"/>
                  <a:pt x="1132590" y="232836"/>
                  <a:pt x="1073872" y="232836"/>
                </a:cubicBezTo>
                <a:lnTo>
                  <a:pt x="106317" y="232836"/>
                </a:lnTo>
                <a:cubicBezTo>
                  <a:pt x="47600" y="232836"/>
                  <a:pt x="0" y="185236"/>
                  <a:pt x="0" y="126519"/>
                </a:cubicBezTo>
                <a:lnTo>
                  <a:pt x="0" y="106317"/>
                </a:lnTo>
                <a:cubicBezTo>
                  <a:pt x="0" y="47600"/>
                  <a:pt x="47600" y="0"/>
                  <a:pt x="106317"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27" name="Google Shape;2127;h65eb7c06466a6d01_2_302"/>
          <p:cNvSpPr/>
          <p:nvPr/>
        </p:nvSpPr>
        <p:spPr>
          <a:xfrm>
            <a:off x="2709122" y="3287205"/>
            <a:ext cx="2475900" cy="568500"/>
          </a:xfrm>
          <a:prstGeom prst="rect">
            <a:avLst/>
          </a:prstGeom>
          <a:noFill/>
          <a:ln>
            <a:noFill/>
          </a:ln>
        </p:spPr>
        <p:txBody>
          <a:bodyPr anchorCtr="0" anchor="ctr" bIns="28075" lIns="28075" spcFirstLastPara="1" rIns="28075" wrap="square" tIns="28075">
            <a:noAutofit/>
          </a:bodyPr>
          <a:lstStyle/>
          <a:p>
            <a:pPr indent="0" lvl="0" marL="0" marR="0" rtl="0" algn="ctr">
              <a:lnSpc>
                <a:spcPct val="147722"/>
              </a:lnSpc>
              <a:spcBef>
                <a:spcPts val="0"/>
              </a:spcBef>
              <a:spcAft>
                <a:spcPts val="0"/>
              </a:spcAft>
              <a:buSzPts val="1200"/>
              <a:buFont typeface="Arial"/>
              <a:buNone/>
            </a:pPr>
            <a:r>
              <a:t/>
            </a:r>
            <a:endParaRPr sz="1200"/>
          </a:p>
        </p:txBody>
      </p:sp>
      <p:sp>
        <p:nvSpPr>
          <p:cNvPr id="2128" name="Google Shape;2128;h65eb7c06466a6d01_2_302"/>
          <p:cNvSpPr/>
          <p:nvPr/>
        </p:nvSpPr>
        <p:spPr>
          <a:xfrm>
            <a:off x="3146706" y="3400943"/>
            <a:ext cx="1661979" cy="395438"/>
          </a:xfrm>
          <a:custGeom>
            <a:rect b="b" l="l" r="r" t="t"/>
            <a:pathLst>
              <a:path extrusionOk="0" h="592416" w="2489856">
                <a:moveTo>
                  <a:pt x="0" y="0"/>
                </a:moveTo>
                <a:lnTo>
                  <a:pt x="2489856" y="0"/>
                </a:lnTo>
                <a:lnTo>
                  <a:pt x="2489856" y="592416"/>
                </a:lnTo>
                <a:lnTo>
                  <a:pt x="0" y="592416"/>
                </a:lnTo>
                <a:lnTo>
                  <a:pt x="0" y="0"/>
                </a:lnTo>
                <a:close/>
              </a:path>
            </a:pathLst>
          </a:custGeom>
          <a:blipFill rotWithShape="1">
            <a:blip r:embed="rId4">
              <a:alphaModFix/>
            </a:blip>
            <a:stretch>
              <a:fillRect b="0" l="-2339" r="0" t="0"/>
            </a:stretch>
          </a:blipFill>
          <a:ln>
            <a:noFill/>
          </a:ln>
        </p:spPr>
      </p:sp>
      <p:sp>
        <p:nvSpPr>
          <p:cNvPr id="2129" name="Google Shape;2129;h65eb7c06466a6d01_2_302"/>
          <p:cNvSpPr/>
          <p:nvPr/>
        </p:nvSpPr>
        <p:spPr>
          <a:xfrm>
            <a:off x="8046989" y="2258985"/>
            <a:ext cx="3458700" cy="3223200"/>
          </a:xfrm>
          <a:prstGeom prst="rect">
            <a:avLst/>
          </a:prstGeom>
          <a:noFill/>
          <a:ln>
            <a:noFill/>
          </a:ln>
        </p:spPr>
        <p:txBody>
          <a:bodyPr anchorCtr="0" anchor="t" bIns="0" lIns="0" spcFirstLastPara="1" rIns="0" wrap="square" tIns="0">
            <a:noAutofit/>
          </a:bodyPr>
          <a:lstStyle/>
          <a:p>
            <a:pPr indent="0" lvl="0" marL="0" marR="0" rtl="0" algn="l">
              <a:lnSpc>
                <a:spcPct val="150019"/>
              </a:lnSpc>
              <a:spcBef>
                <a:spcPts val="0"/>
              </a:spcBef>
              <a:spcAft>
                <a:spcPts val="0"/>
              </a:spcAft>
              <a:buClr>
                <a:srgbClr val="FFFFFF"/>
              </a:buClr>
              <a:buSzPts val="1700"/>
              <a:buFont typeface="Arial"/>
              <a:buNone/>
            </a:pPr>
            <a:r>
              <a:rPr b="1" lang="en-US" sz="1700">
                <a:solidFill>
                  <a:srgbClr val="FFFFFF"/>
                </a:solidFill>
                <a:latin typeface="Arial"/>
                <a:ea typeface="Arial"/>
                <a:cs typeface="Arial"/>
                <a:sym typeface="Arial"/>
              </a:rPr>
              <a:t>Sanggabiz adalah mitra solusi bisnis yang menyediakan Department-as-a-Service, meliputi Keuangan, SDM, Layanan Pelanggan, Pemasaran, Manajemen Proyek, Administrasi, dan Operasional. Kami membantu Anda menghemat biaya tenaga kerja hingga 80%.</a:t>
            </a:r>
            <a:endParaRPr sz="900"/>
          </a:p>
        </p:txBody>
      </p:sp>
      <p:sp>
        <p:nvSpPr>
          <p:cNvPr id="2130" name="Google Shape;2130;h65eb7c06466a6d01_2_302"/>
          <p:cNvSpPr/>
          <p:nvPr/>
        </p:nvSpPr>
        <p:spPr>
          <a:xfrm>
            <a:off x="8046989" y="794239"/>
            <a:ext cx="3341100" cy="1290300"/>
          </a:xfrm>
          <a:prstGeom prst="rect">
            <a:avLst/>
          </a:prstGeom>
          <a:noFill/>
          <a:ln>
            <a:noFill/>
          </a:ln>
        </p:spPr>
        <p:txBody>
          <a:bodyPr anchorCtr="0" anchor="t" bIns="0" lIns="0" spcFirstLastPara="1" rIns="0" wrap="square" tIns="0">
            <a:noAutofit/>
          </a:bodyPr>
          <a:lstStyle/>
          <a:p>
            <a:pPr indent="0" lvl="0" marL="0" marR="0" rtl="0" algn="l">
              <a:lnSpc>
                <a:spcPct val="119984"/>
              </a:lnSpc>
              <a:spcBef>
                <a:spcPts val="0"/>
              </a:spcBef>
              <a:spcAft>
                <a:spcPts val="0"/>
              </a:spcAft>
              <a:buClr>
                <a:srgbClr val="FFFFFF"/>
              </a:buClr>
              <a:buSzPts val="4100"/>
              <a:buFont typeface="Arial"/>
              <a:buNone/>
            </a:pPr>
            <a:r>
              <a:rPr b="1" lang="en-US" sz="4100">
                <a:solidFill>
                  <a:srgbClr val="FFFFFF"/>
                </a:solidFill>
                <a:latin typeface="Arial"/>
                <a:ea typeface="Arial"/>
                <a:cs typeface="Arial"/>
                <a:sym typeface="Arial"/>
              </a:rPr>
              <a:t>Apa itu Sanggabiz?</a:t>
            </a:r>
            <a:endParaRPr sz="900"/>
          </a:p>
        </p:txBody>
      </p:sp>
      <p:sp>
        <p:nvSpPr>
          <p:cNvPr id="2131" name="Google Shape;2131;h65eb7c06466a6d01_2_302"/>
          <p:cNvSpPr/>
          <p:nvPr/>
        </p:nvSpPr>
        <p:spPr>
          <a:xfrm>
            <a:off x="878333" y="1271389"/>
            <a:ext cx="1800000" cy="4293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Keunggulan Operasional</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SOP</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Administrasi Operasional</a:t>
            </a:r>
            <a:endParaRPr sz="900"/>
          </a:p>
        </p:txBody>
      </p:sp>
      <p:sp>
        <p:nvSpPr>
          <p:cNvPr id="2132" name="Google Shape;2132;h65eb7c06466a6d01_2_302"/>
          <p:cNvSpPr/>
          <p:nvPr/>
        </p:nvSpPr>
        <p:spPr>
          <a:xfrm>
            <a:off x="3385645" y="974539"/>
            <a:ext cx="1432800" cy="7152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Pengelolaan Tagihan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Perbankan/Pembayaran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Faktur Penjualan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Akuntansi</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Dukungan Perpajakan</a:t>
            </a:r>
            <a:endParaRPr sz="900"/>
          </a:p>
        </p:txBody>
      </p:sp>
      <p:sp>
        <p:nvSpPr>
          <p:cNvPr id="2133" name="Google Shape;2133;h65eb7c06466a6d01_2_302"/>
          <p:cNvSpPr/>
          <p:nvPr/>
        </p:nvSpPr>
        <p:spPr>
          <a:xfrm>
            <a:off x="5333652" y="1395292"/>
            <a:ext cx="2039400" cy="7152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Pengelolaan Konten Media Sosial</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Pengelolaan Iklan Media Sosial</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Kinerja Pemasaran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SEO/SEM</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Personal Branding</a:t>
            </a:r>
            <a:endParaRPr sz="900"/>
          </a:p>
        </p:txBody>
      </p:sp>
      <p:sp>
        <p:nvSpPr>
          <p:cNvPr id="2134" name="Google Shape;2134;h65eb7c06466a6d01_2_302"/>
          <p:cNvSpPr/>
          <p:nvPr/>
        </p:nvSpPr>
        <p:spPr>
          <a:xfrm>
            <a:off x="5333652" y="4991105"/>
            <a:ext cx="2039400" cy="5721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Penggajian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Administrasi SDM</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Pajak Penghasilan Pribadi</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Rekrutmen</a:t>
            </a:r>
            <a:endParaRPr sz="900"/>
          </a:p>
        </p:txBody>
      </p:sp>
      <p:sp>
        <p:nvSpPr>
          <p:cNvPr id="2135" name="Google Shape;2135;h65eb7c06466a6d01_2_302"/>
          <p:cNvSpPr/>
          <p:nvPr/>
        </p:nvSpPr>
        <p:spPr>
          <a:xfrm>
            <a:off x="3336672" y="5391532"/>
            <a:ext cx="1848300" cy="4293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Layanan Pelanggan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Manajemen Pengetahuan</a:t>
            </a:r>
            <a:endParaRPr sz="900"/>
          </a:p>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Pelatihan</a:t>
            </a:r>
            <a:endParaRPr sz="900"/>
          </a:p>
        </p:txBody>
      </p:sp>
      <p:sp>
        <p:nvSpPr>
          <p:cNvPr id="2136" name="Google Shape;2136;h65eb7c06466a6d01_2_302"/>
          <p:cNvSpPr/>
          <p:nvPr/>
        </p:nvSpPr>
        <p:spPr>
          <a:xfrm>
            <a:off x="685782" y="4064760"/>
            <a:ext cx="2039400" cy="1431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Manajemen Proyek</a:t>
            </a:r>
            <a:endParaRPr sz="900"/>
          </a:p>
        </p:txBody>
      </p:sp>
      <p:sp>
        <p:nvSpPr>
          <p:cNvPr id="2137" name="Google Shape;2137;h65eb7c06466a6d01_2_302"/>
          <p:cNvSpPr/>
          <p:nvPr/>
        </p:nvSpPr>
        <p:spPr>
          <a:xfrm>
            <a:off x="1148005" y="4438427"/>
            <a:ext cx="1096772" cy="735571"/>
          </a:xfrm>
          <a:custGeom>
            <a:rect b="b" l="l" r="r" t="t"/>
            <a:pathLst>
              <a:path extrusionOk="0"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38" name="Google Shape;2138;h65eb7c06466a6d01_2_302"/>
          <p:cNvSpPr/>
          <p:nvPr/>
        </p:nvSpPr>
        <p:spPr>
          <a:xfrm>
            <a:off x="1016902" y="4434731"/>
            <a:ext cx="1356932" cy="772274"/>
          </a:xfrm>
          <a:custGeom>
            <a:rect b="b" l="l" r="r" t="t"/>
            <a:pathLst>
              <a:path extrusionOk="0"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39" name="Google Shape;2139;h65eb7c06466a6d01_2_302"/>
          <p:cNvSpPr/>
          <p:nvPr/>
        </p:nvSpPr>
        <p:spPr>
          <a:xfrm>
            <a:off x="1609370" y="5179414"/>
            <a:ext cx="180061" cy="16408"/>
          </a:xfrm>
          <a:custGeom>
            <a:rect b="b" l="l" r="r" t="t"/>
            <a:pathLst>
              <a:path extrusionOk="0"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40" name="Google Shape;2140;h65eb7c06466a6d01_2_302"/>
          <p:cNvSpPr/>
          <p:nvPr/>
        </p:nvSpPr>
        <p:spPr>
          <a:xfrm>
            <a:off x="1044948" y="5212463"/>
            <a:ext cx="1301229" cy="6045"/>
          </a:xfrm>
          <a:custGeom>
            <a:rect b="b" l="l" r="r" t="t"/>
            <a:pathLst>
              <a:path extrusionOk="0"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41" name="Google Shape;2141;h65eb7c06466a6d01_2_302"/>
          <p:cNvSpPr/>
          <p:nvPr/>
        </p:nvSpPr>
        <p:spPr>
          <a:xfrm>
            <a:off x="1181705" y="4482130"/>
            <a:ext cx="1029411" cy="644246"/>
          </a:xfrm>
          <a:custGeom>
            <a:rect b="b" l="l" r="r" t="t"/>
            <a:pathLst>
              <a:path extrusionOk="0" h="3789680" w="6055360">
                <a:moveTo>
                  <a:pt x="0" y="0"/>
                </a:moveTo>
                <a:lnTo>
                  <a:pt x="6055360" y="0"/>
                </a:lnTo>
                <a:lnTo>
                  <a:pt x="6055360" y="3789680"/>
                </a:lnTo>
                <a:lnTo>
                  <a:pt x="0" y="3789680"/>
                </a:lnTo>
                <a:close/>
              </a:path>
            </a:pathLst>
          </a:custGeom>
          <a:blipFill rotWithShape="1">
            <a:blip r:embed="rId7">
              <a:alphaModFix/>
            </a:blip>
            <a:stretch>
              <a:fillRect b="-3230" l="0" r="0" t="-3230"/>
            </a:stretch>
          </a:blipFill>
          <a:ln>
            <a:noFill/>
          </a:ln>
        </p:spPr>
      </p:sp>
      <p:sp>
        <p:nvSpPr>
          <p:cNvPr id="2142" name="Google Shape;2142;h65eb7c06466a6d01_2_302"/>
          <p:cNvSpPr/>
          <p:nvPr/>
        </p:nvSpPr>
        <p:spPr>
          <a:xfrm>
            <a:off x="2522025" y="3598415"/>
            <a:ext cx="625478" cy="1636795"/>
          </a:xfrm>
          <a:custGeom>
            <a:rect b="b" l="l" r="r" t="t"/>
            <a:pathLst>
              <a:path extrusionOk="0" h="2452128" w="937046">
                <a:moveTo>
                  <a:pt x="937046" y="0"/>
                </a:moveTo>
                <a:lnTo>
                  <a:pt x="822746" y="0"/>
                </a:lnTo>
                <a:cubicBezTo>
                  <a:pt x="792431" y="0"/>
                  <a:pt x="763359" y="12043"/>
                  <a:pt x="741924" y="33478"/>
                </a:cubicBezTo>
                <a:cubicBezTo>
                  <a:pt x="720488" y="54913"/>
                  <a:pt x="708446" y="83986"/>
                  <a:pt x="708446" y="114300"/>
                </a:cubicBezTo>
                <a:lnTo>
                  <a:pt x="708446" y="2223528"/>
                </a:lnTo>
                <a:cubicBezTo>
                  <a:pt x="708446" y="2284157"/>
                  <a:pt x="684361" y="2342302"/>
                  <a:pt x="641491" y="2385172"/>
                </a:cubicBezTo>
                <a:cubicBezTo>
                  <a:pt x="598620" y="2428044"/>
                  <a:pt x="540474" y="2452128"/>
                  <a:pt x="479846" y="2452128"/>
                </a:cubicBezTo>
                <a:lnTo>
                  <a:pt x="0" y="2452128"/>
                </a:lnTo>
              </a:path>
            </a:pathLst>
          </a:custGeom>
          <a:noFill/>
          <a:ln cap="flat" cmpd="sng" w="25400">
            <a:solidFill>
              <a:srgbClr val="092647"/>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43" name="Google Shape;2143;h65eb7c06466a6d01_2_302"/>
          <p:cNvSpPr/>
          <p:nvPr/>
        </p:nvSpPr>
        <p:spPr>
          <a:xfrm>
            <a:off x="878261" y="5130043"/>
            <a:ext cx="1643415" cy="206199"/>
          </a:xfrm>
          <a:custGeom>
            <a:rect b="b" l="l" r="r" t="t"/>
            <a:pathLst>
              <a:path extrusionOk="0" h="148078" w="1180190">
                <a:moveTo>
                  <a:pt x="74039" y="0"/>
                </a:moveTo>
                <a:lnTo>
                  <a:pt x="1106150" y="0"/>
                </a:lnTo>
                <a:cubicBezTo>
                  <a:pt x="1147041" y="0"/>
                  <a:pt x="1180190" y="33148"/>
                  <a:pt x="1180190" y="74039"/>
                </a:cubicBezTo>
                <a:lnTo>
                  <a:pt x="1180190" y="74039"/>
                </a:lnTo>
                <a:cubicBezTo>
                  <a:pt x="1180190" y="114930"/>
                  <a:pt x="1147041" y="148078"/>
                  <a:pt x="1106150" y="148078"/>
                </a:cubicBezTo>
                <a:lnTo>
                  <a:pt x="74039" y="148078"/>
                </a:lnTo>
                <a:cubicBezTo>
                  <a:pt x="33148" y="148078"/>
                  <a:pt x="0" y="114930"/>
                  <a:pt x="0" y="74039"/>
                </a:cubicBezTo>
                <a:lnTo>
                  <a:pt x="0" y="74039"/>
                </a:lnTo>
                <a:cubicBezTo>
                  <a:pt x="0" y="33148"/>
                  <a:pt x="33148" y="0"/>
                  <a:pt x="74039" y="0"/>
                </a:cubicBezTo>
                <a:close/>
              </a:path>
            </a:pathLst>
          </a:custGeom>
          <a:gradFill>
            <a:gsLst>
              <a:gs pos="0">
                <a:srgbClr val="0A396D"/>
              </a:gs>
              <a:gs pos="100000">
                <a:srgbClr val="092647"/>
              </a:gs>
            </a:gsLst>
            <a:lin ang="5400012" scaled="0"/>
          </a:gradFill>
          <a:ln cap="flat" cmpd="sng" w="12700">
            <a:solidFill>
              <a:srgbClr val="FAF7FC"/>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44" name="Google Shape;2144;h65eb7c06466a6d01_2_302"/>
          <p:cNvSpPr/>
          <p:nvPr/>
        </p:nvSpPr>
        <p:spPr>
          <a:xfrm>
            <a:off x="878261" y="5076977"/>
            <a:ext cx="1644000" cy="259200"/>
          </a:xfrm>
          <a:prstGeom prst="rect">
            <a:avLst/>
          </a:prstGeom>
          <a:noFill/>
          <a:ln>
            <a:noFill/>
          </a:ln>
        </p:spPr>
        <p:txBody>
          <a:bodyPr anchorCtr="0" anchor="ctr" bIns="26200" lIns="26200" spcFirstLastPara="1" rIns="26200" wrap="square" tIns="26200">
            <a:noAutofit/>
          </a:bodyPr>
          <a:lstStyle/>
          <a:p>
            <a:pPr indent="0" lvl="0" marL="0" marR="0" rtl="0" algn="ctr">
              <a:lnSpc>
                <a:spcPct val="147777"/>
              </a:lnSpc>
              <a:spcBef>
                <a:spcPts val="0"/>
              </a:spcBef>
              <a:spcAft>
                <a:spcPts val="0"/>
              </a:spcAft>
              <a:buSzPts val="1200"/>
              <a:buFont typeface="Arial"/>
              <a:buNone/>
            </a:pPr>
            <a:r>
              <a:t/>
            </a:r>
            <a:endParaRPr sz="1200"/>
          </a:p>
        </p:txBody>
      </p:sp>
      <p:sp>
        <p:nvSpPr>
          <p:cNvPr id="2145" name="Google Shape;2145;h65eb7c06466a6d01_2_302"/>
          <p:cNvSpPr/>
          <p:nvPr/>
        </p:nvSpPr>
        <p:spPr>
          <a:xfrm>
            <a:off x="1035282" y="5149727"/>
            <a:ext cx="1329600" cy="145200"/>
          </a:xfrm>
          <a:prstGeom prst="rect">
            <a:avLst/>
          </a:prstGeom>
          <a:noFill/>
          <a:ln>
            <a:noFill/>
          </a:ln>
        </p:spPr>
        <p:txBody>
          <a:bodyPr anchorCtr="0" anchor="t" bIns="0" lIns="0" spcFirstLastPara="1" rIns="0" wrap="square" tIns="0">
            <a:noAutofit/>
          </a:bodyPr>
          <a:lstStyle/>
          <a:p>
            <a:pPr indent="0" lvl="0" marL="0" marR="0" rtl="0" algn="ctr">
              <a:lnSpc>
                <a:spcPct val="150041"/>
              </a:lnSpc>
              <a:spcBef>
                <a:spcPts val="0"/>
              </a:spcBef>
              <a:spcAft>
                <a:spcPts val="0"/>
              </a:spcAft>
              <a:buClr>
                <a:srgbClr val="FFFFFF"/>
              </a:buClr>
              <a:buSzPts val="800"/>
              <a:buFont typeface="Arial"/>
              <a:buNone/>
            </a:pPr>
            <a:r>
              <a:rPr b="1" lang="en-US" sz="800">
                <a:solidFill>
                  <a:srgbClr val="FFFFFF"/>
                </a:solidFill>
                <a:latin typeface="Arial"/>
                <a:ea typeface="Arial"/>
                <a:cs typeface="Arial"/>
                <a:sym typeface="Arial"/>
              </a:rPr>
              <a:t>TELEMARKETING</a:t>
            </a:r>
            <a:endParaRPr sz="900"/>
          </a:p>
        </p:txBody>
      </p:sp>
      <p:sp>
        <p:nvSpPr>
          <p:cNvPr id="2146" name="Google Shape;2146;h65eb7c06466a6d01_2_302"/>
          <p:cNvSpPr/>
          <p:nvPr/>
        </p:nvSpPr>
        <p:spPr>
          <a:xfrm>
            <a:off x="787379" y="5431507"/>
            <a:ext cx="2039400" cy="141300"/>
          </a:xfrm>
          <a:prstGeom prst="rect">
            <a:avLst/>
          </a:prstGeom>
          <a:noFill/>
          <a:ln>
            <a:noFill/>
          </a:ln>
        </p:spPr>
        <p:txBody>
          <a:bodyPr anchorCtr="0" anchor="t" bIns="0" lIns="0" spcFirstLastPara="1" rIns="0" wrap="square" tIns="0">
            <a:noAutofit/>
          </a:bodyPr>
          <a:lstStyle/>
          <a:p>
            <a:pPr indent="-88900" lvl="1" marL="190500" marR="0" rtl="0" algn="just">
              <a:lnSpc>
                <a:spcPct val="130023"/>
              </a:lnSpc>
              <a:spcBef>
                <a:spcPts val="0"/>
              </a:spcBef>
              <a:spcAft>
                <a:spcPts val="0"/>
              </a:spcAft>
              <a:buClr>
                <a:srgbClr val="0D2A4E"/>
              </a:buClr>
              <a:buSzPts val="800"/>
              <a:buFont typeface="Arial"/>
              <a:buChar char="•"/>
            </a:pPr>
            <a:r>
              <a:rPr b="1" i="0" lang="en-US" sz="800" u="none" cap="none" strike="noStrike">
                <a:solidFill>
                  <a:srgbClr val="0D2A4E"/>
                </a:solidFill>
                <a:latin typeface="Arial"/>
                <a:ea typeface="Arial"/>
                <a:cs typeface="Arial"/>
                <a:sym typeface="Arial"/>
              </a:rPr>
              <a:t>Telemarketing</a:t>
            </a:r>
            <a:endParaRPr sz="9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151" name="Shape 2151"/>
        <p:cNvGrpSpPr/>
        <p:nvPr/>
      </p:nvGrpSpPr>
      <p:grpSpPr>
        <a:xfrm>
          <a:off x="0" y="0"/>
          <a:ext cx="0" cy="0"/>
          <a:chOff x="0" y="0"/>
          <a:chExt cx="0" cy="0"/>
        </a:xfrm>
      </p:grpSpPr>
      <p:sp>
        <p:nvSpPr>
          <p:cNvPr id="2152" name="Google Shape;2152;h65eb7c06466a6d01_2_396"/>
          <p:cNvSpPr/>
          <p:nvPr/>
        </p:nvSpPr>
        <p:spPr>
          <a:xfrm>
            <a:off x="551480" y="1346813"/>
            <a:ext cx="3279756" cy="5426016"/>
          </a:xfrm>
          <a:custGeom>
            <a:rect b="b" l="l" r="r" t="t"/>
            <a:pathLst>
              <a:path extrusionOk="0" h="1322612" w="799453">
                <a:moveTo>
                  <a:pt x="47204" y="0"/>
                </a:moveTo>
                <a:lnTo>
                  <a:pt x="752249" y="0"/>
                </a:lnTo>
                <a:cubicBezTo>
                  <a:pt x="778319" y="0"/>
                  <a:pt x="799453" y="21134"/>
                  <a:pt x="799453" y="47204"/>
                </a:cubicBezTo>
                <a:lnTo>
                  <a:pt x="799453" y="1275408"/>
                </a:lnTo>
                <a:cubicBezTo>
                  <a:pt x="799453" y="1287927"/>
                  <a:pt x="794480" y="1299934"/>
                  <a:pt x="785627" y="1308786"/>
                </a:cubicBezTo>
                <a:cubicBezTo>
                  <a:pt x="776775" y="1317639"/>
                  <a:pt x="764768" y="1322612"/>
                  <a:pt x="752249" y="1322612"/>
                </a:cubicBezTo>
                <a:lnTo>
                  <a:pt x="47204" y="1322612"/>
                </a:lnTo>
                <a:cubicBezTo>
                  <a:pt x="34685" y="1322612"/>
                  <a:pt x="22678" y="1317639"/>
                  <a:pt x="13826" y="1308786"/>
                </a:cubicBezTo>
                <a:cubicBezTo>
                  <a:pt x="4973" y="1299934"/>
                  <a:pt x="0" y="1287927"/>
                  <a:pt x="0" y="1275408"/>
                </a:cubicBezTo>
                <a:lnTo>
                  <a:pt x="0" y="47204"/>
                </a:lnTo>
                <a:cubicBezTo>
                  <a:pt x="0" y="34685"/>
                  <a:pt x="4973" y="22678"/>
                  <a:pt x="13826" y="13826"/>
                </a:cubicBezTo>
                <a:cubicBezTo>
                  <a:pt x="22678" y="4973"/>
                  <a:pt x="34685" y="0"/>
                  <a:pt x="47204" y="0"/>
                </a:cubicBezTo>
                <a:close/>
              </a:path>
            </a:pathLst>
          </a:custGeom>
          <a:solidFill>
            <a:srgbClr val="0B3360"/>
          </a:solidFill>
          <a:ln cap="flat" cmpd="sng" w="889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53" name="Google Shape;2153;h65eb7c06466a6d01_2_396"/>
          <p:cNvSpPr/>
          <p:nvPr/>
        </p:nvSpPr>
        <p:spPr>
          <a:xfrm>
            <a:off x="551480" y="1268650"/>
            <a:ext cx="3280200" cy="55047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154" name="Google Shape;2154;h65eb7c06466a6d01_2_396"/>
          <p:cNvSpPr/>
          <p:nvPr/>
        </p:nvSpPr>
        <p:spPr>
          <a:xfrm>
            <a:off x="988263" y="1053601"/>
            <a:ext cx="2335420" cy="496182"/>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55" name="Google Shape;2155;h65eb7c06466a6d01_2_396"/>
          <p:cNvSpPr/>
          <p:nvPr/>
        </p:nvSpPr>
        <p:spPr>
          <a:xfrm>
            <a:off x="988263" y="974496"/>
            <a:ext cx="2335500" cy="5751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156" name="Google Shape;2156;h65eb7c06466a6d01_2_396"/>
          <p:cNvSpPr/>
          <p:nvPr/>
        </p:nvSpPr>
        <p:spPr>
          <a:xfrm>
            <a:off x="4345941" y="1304228"/>
            <a:ext cx="3277180" cy="5426016"/>
          </a:xfrm>
          <a:custGeom>
            <a:rect b="b" l="l" r="r" t="t"/>
            <a:pathLst>
              <a:path extrusionOk="0" h="1322612" w="798825">
                <a:moveTo>
                  <a:pt x="47241" y="0"/>
                </a:moveTo>
                <a:lnTo>
                  <a:pt x="751584" y="0"/>
                </a:lnTo>
                <a:cubicBezTo>
                  <a:pt x="764113" y="0"/>
                  <a:pt x="776129" y="4977"/>
                  <a:pt x="784988" y="13837"/>
                </a:cubicBezTo>
                <a:cubicBezTo>
                  <a:pt x="793847" y="22696"/>
                  <a:pt x="798825" y="34712"/>
                  <a:pt x="798825" y="47241"/>
                </a:cubicBezTo>
                <a:lnTo>
                  <a:pt x="798825" y="1275371"/>
                </a:lnTo>
                <a:cubicBezTo>
                  <a:pt x="798825" y="1287900"/>
                  <a:pt x="793847" y="1299916"/>
                  <a:pt x="784988" y="1308775"/>
                </a:cubicBezTo>
                <a:cubicBezTo>
                  <a:pt x="776129" y="1317635"/>
                  <a:pt x="764113" y="1322612"/>
                  <a:pt x="751584" y="1322612"/>
                </a:cubicBezTo>
                <a:lnTo>
                  <a:pt x="47241" y="1322612"/>
                </a:lnTo>
                <a:cubicBezTo>
                  <a:pt x="21150" y="1322612"/>
                  <a:pt x="0" y="1301461"/>
                  <a:pt x="0" y="1275371"/>
                </a:cubicBezTo>
                <a:lnTo>
                  <a:pt x="0" y="47241"/>
                </a:lnTo>
                <a:cubicBezTo>
                  <a:pt x="0" y="34712"/>
                  <a:pt x="4977" y="22696"/>
                  <a:pt x="13837" y="13837"/>
                </a:cubicBezTo>
                <a:cubicBezTo>
                  <a:pt x="22696" y="4977"/>
                  <a:pt x="34712" y="0"/>
                  <a:pt x="47241" y="0"/>
                </a:cubicBezTo>
                <a:close/>
              </a:path>
            </a:pathLst>
          </a:custGeom>
          <a:solidFill>
            <a:srgbClr val="0B3360"/>
          </a:solidFill>
          <a:ln cap="flat" cmpd="sng" w="889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57" name="Google Shape;2157;h65eb7c06466a6d01_2_396"/>
          <p:cNvSpPr/>
          <p:nvPr/>
        </p:nvSpPr>
        <p:spPr>
          <a:xfrm>
            <a:off x="4345941" y="1226065"/>
            <a:ext cx="3277500" cy="55047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158" name="Google Shape;2158;h65eb7c06466a6d01_2_396"/>
          <p:cNvSpPr/>
          <p:nvPr/>
        </p:nvSpPr>
        <p:spPr>
          <a:xfrm>
            <a:off x="4550031" y="1614915"/>
            <a:ext cx="497916" cy="679539"/>
          </a:xfrm>
          <a:custGeom>
            <a:rect b="b" l="l" r="r" t="t"/>
            <a:pathLst>
              <a:path extrusionOk="0" h="1018036" w="745942">
                <a:moveTo>
                  <a:pt x="0" y="0"/>
                </a:moveTo>
                <a:lnTo>
                  <a:pt x="745943" y="0"/>
                </a:lnTo>
                <a:lnTo>
                  <a:pt x="745943" y="1018036"/>
                </a:lnTo>
                <a:lnTo>
                  <a:pt x="0" y="1018036"/>
                </a:lnTo>
                <a:lnTo>
                  <a:pt x="0" y="0"/>
                </a:lnTo>
                <a:close/>
              </a:path>
            </a:pathLst>
          </a:custGeom>
          <a:blipFill rotWithShape="1">
            <a:blip r:embed="rId3">
              <a:alphaModFix/>
            </a:blip>
            <a:stretch>
              <a:fillRect b="0" l="0" r="0" t="0"/>
            </a:stretch>
          </a:blipFill>
          <a:ln>
            <a:noFill/>
          </a:ln>
        </p:spPr>
      </p:sp>
      <p:sp>
        <p:nvSpPr>
          <p:cNvPr id="2159" name="Google Shape;2159;h65eb7c06466a6d01_2_396"/>
          <p:cNvSpPr/>
          <p:nvPr/>
        </p:nvSpPr>
        <p:spPr>
          <a:xfrm>
            <a:off x="4569069" y="3611692"/>
            <a:ext cx="500680" cy="501592"/>
          </a:xfrm>
          <a:custGeom>
            <a:rect b="b" l="l" r="r" t="t"/>
            <a:pathLst>
              <a:path extrusionOk="0" h="751449" w="750083">
                <a:moveTo>
                  <a:pt x="0" y="0"/>
                </a:moveTo>
                <a:lnTo>
                  <a:pt x="750083" y="0"/>
                </a:lnTo>
                <a:lnTo>
                  <a:pt x="750083" y="751449"/>
                </a:lnTo>
                <a:lnTo>
                  <a:pt x="0" y="751449"/>
                </a:lnTo>
                <a:lnTo>
                  <a:pt x="0" y="0"/>
                </a:lnTo>
                <a:close/>
              </a:path>
            </a:pathLst>
          </a:custGeom>
          <a:blipFill rotWithShape="1">
            <a:blip r:embed="rId3">
              <a:alphaModFix/>
            </a:blip>
            <a:stretch>
              <a:fillRect b="0" l="0" r="0" t="0"/>
            </a:stretch>
          </a:blipFill>
          <a:ln>
            <a:noFill/>
          </a:ln>
        </p:spPr>
      </p:sp>
      <p:sp>
        <p:nvSpPr>
          <p:cNvPr id="2160" name="Google Shape;2160;h65eb7c06466a6d01_2_396"/>
          <p:cNvSpPr/>
          <p:nvPr/>
        </p:nvSpPr>
        <p:spPr>
          <a:xfrm>
            <a:off x="4550031" y="4445596"/>
            <a:ext cx="500680" cy="270368"/>
          </a:xfrm>
          <a:custGeom>
            <a:rect b="b" l="l" r="r" t="t"/>
            <a:pathLst>
              <a:path extrusionOk="0" h="405045" w="750083">
                <a:moveTo>
                  <a:pt x="0" y="0"/>
                </a:moveTo>
                <a:lnTo>
                  <a:pt x="750083" y="0"/>
                </a:lnTo>
                <a:lnTo>
                  <a:pt x="750083" y="405045"/>
                </a:lnTo>
                <a:lnTo>
                  <a:pt x="0" y="405045"/>
                </a:lnTo>
                <a:lnTo>
                  <a:pt x="0" y="0"/>
                </a:lnTo>
                <a:close/>
              </a:path>
            </a:pathLst>
          </a:custGeom>
          <a:blipFill rotWithShape="1">
            <a:blip r:embed="rId3">
              <a:alphaModFix/>
            </a:blip>
            <a:stretch>
              <a:fillRect b="0" l="0" r="0" t="0"/>
            </a:stretch>
          </a:blipFill>
          <a:ln>
            <a:noFill/>
          </a:ln>
        </p:spPr>
      </p:sp>
      <p:sp>
        <p:nvSpPr>
          <p:cNvPr id="2161" name="Google Shape;2161;h65eb7c06466a6d01_2_396"/>
          <p:cNvSpPr/>
          <p:nvPr/>
        </p:nvSpPr>
        <p:spPr>
          <a:xfrm>
            <a:off x="4569069" y="2896155"/>
            <a:ext cx="328074" cy="468676"/>
          </a:xfrm>
          <a:custGeom>
            <a:rect b="b" l="l" r="r" t="t"/>
            <a:pathLst>
              <a:path extrusionOk="0" h="702137" w="491496">
                <a:moveTo>
                  <a:pt x="0" y="0"/>
                </a:moveTo>
                <a:lnTo>
                  <a:pt x="491496" y="0"/>
                </a:lnTo>
                <a:lnTo>
                  <a:pt x="491496" y="702137"/>
                </a:lnTo>
                <a:lnTo>
                  <a:pt x="0" y="702137"/>
                </a:lnTo>
                <a:lnTo>
                  <a:pt x="0" y="0"/>
                </a:lnTo>
                <a:close/>
              </a:path>
            </a:pathLst>
          </a:custGeom>
          <a:blipFill rotWithShape="1">
            <a:blip r:embed="rId3">
              <a:alphaModFix/>
            </a:blip>
            <a:stretch>
              <a:fillRect b="0" l="0" r="0" t="0"/>
            </a:stretch>
          </a:blipFill>
          <a:ln>
            <a:noFill/>
          </a:ln>
        </p:spPr>
      </p:sp>
      <p:sp>
        <p:nvSpPr>
          <p:cNvPr id="2162" name="Google Shape;2162;h65eb7c06466a6d01_2_396"/>
          <p:cNvSpPr/>
          <p:nvPr/>
        </p:nvSpPr>
        <p:spPr>
          <a:xfrm>
            <a:off x="4569069" y="5484306"/>
            <a:ext cx="500680" cy="568577"/>
          </a:xfrm>
          <a:custGeom>
            <a:rect b="b" l="l" r="r" t="t"/>
            <a:pathLst>
              <a:path extrusionOk="0" h="851801" w="750083">
                <a:moveTo>
                  <a:pt x="0" y="0"/>
                </a:moveTo>
                <a:lnTo>
                  <a:pt x="750083" y="0"/>
                </a:lnTo>
                <a:lnTo>
                  <a:pt x="750083" y="851801"/>
                </a:lnTo>
                <a:lnTo>
                  <a:pt x="0" y="851801"/>
                </a:lnTo>
                <a:lnTo>
                  <a:pt x="0" y="0"/>
                </a:lnTo>
                <a:close/>
              </a:path>
            </a:pathLst>
          </a:custGeom>
          <a:blipFill rotWithShape="1">
            <a:blip r:embed="rId3">
              <a:alphaModFix/>
            </a:blip>
            <a:stretch>
              <a:fillRect b="0" l="0" r="0" t="0"/>
            </a:stretch>
          </a:blipFill>
          <a:ln>
            <a:noFill/>
          </a:ln>
        </p:spPr>
      </p:sp>
      <p:sp>
        <p:nvSpPr>
          <p:cNvPr id="2163" name="Google Shape;2163;h65eb7c06466a6d01_2_396"/>
          <p:cNvSpPr/>
          <p:nvPr/>
        </p:nvSpPr>
        <p:spPr>
          <a:xfrm>
            <a:off x="4834516" y="1011015"/>
            <a:ext cx="2335420" cy="496182"/>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64" name="Google Shape;2164;h65eb7c06466a6d01_2_396"/>
          <p:cNvSpPr/>
          <p:nvPr/>
        </p:nvSpPr>
        <p:spPr>
          <a:xfrm>
            <a:off x="4834516" y="931910"/>
            <a:ext cx="2335500" cy="5751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165" name="Google Shape;2165;h65eb7c06466a6d01_2_396"/>
          <p:cNvSpPr/>
          <p:nvPr/>
        </p:nvSpPr>
        <p:spPr>
          <a:xfrm>
            <a:off x="755569" y="1727581"/>
            <a:ext cx="497916" cy="679539"/>
          </a:xfrm>
          <a:custGeom>
            <a:rect b="b" l="l" r="r" t="t"/>
            <a:pathLst>
              <a:path extrusionOk="0" h="1018036" w="745942">
                <a:moveTo>
                  <a:pt x="0" y="0"/>
                </a:moveTo>
                <a:lnTo>
                  <a:pt x="745942" y="0"/>
                </a:lnTo>
                <a:lnTo>
                  <a:pt x="745942" y="1018035"/>
                </a:lnTo>
                <a:lnTo>
                  <a:pt x="0" y="1018035"/>
                </a:lnTo>
                <a:lnTo>
                  <a:pt x="0" y="0"/>
                </a:lnTo>
                <a:close/>
              </a:path>
            </a:pathLst>
          </a:custGeom>
          <a:blipFill rotWithShape="1">
            <a:blip r:embed="rId3">
              <a:alphaModFix/>
            </a:blip>
            <a:stretch>
              <a:fillRect b="0" l="0" r="0" t="0"/>
            </a:stretch>
          </a:blipFill>
          <a:ln>
            <a:noFill/>
          </a:ln>
        </p:spPr>
      </p:sp>
      <p:sp>
        <p:nvSpPr>
          <p:cNvPr id="2166" name="Google Shape;2166;h65eb7c06466a6d01_2_396"/>
          <p:cNvSpPr/>
          <p:nvPr/>
        </p:nvSpPr>
        <p:spPr>
          <a:xfrm>
            <a:off x="774607" y="3654277"/>
            <a:ext cx="500680" cy="501592"/>
          </a:xfrm>
          <a:custGeom>
            <a:rect b="b" l="l" r="r" t="t"/>
            <a:pathLst>
              <a:path extrusionOk="0" h="751449" w="750083">
                <a:moveTo>
                  <a:pt x="0" y="0"/>
                </a:moveTo>
                <a:lnTo>
                  <a:pt x="750083" y="0"/>
                </a:lnTo>
                <a:lnTo>
                  <a:pt x="750083" y="751450"/>
                </a:lnTo>
                <a:lnTo>
                  <a:pt x="0" y="751450"/>
                </a:lnTo>
                <a:lnTo>
                  <a:pt x="0" y="0"/>
                </a:lnTo>
                <a:close/>
              </a:path>
            </a:pathLst>
          </a:custGeom>
          <a:blipFill rotWithShape="1">
            <a:blip r:embed="rId3">
              <a:alphaModFix/>
            </a:blip>
            <a:stretch>
              <a:fillRect b="0" l="0" r="0" t="0"/>
            </a:stretch>
          </a:blipFill>
          <a:ln>
            <a:noFill/>
          </a:ln>
        </p:spPr>
      </p:sp>
      <p:sp>
        <p:nvSpPr>
          <p:cNvPr id="2167" name="Google Shape;2167;h65eb7c06466a6d01_2_396"/>
          <p:cNvSpPr/>
          <p:nvPr/>
        </p:nvSpPr>
        <p:spPr>
          <a:xfrm>
            <a:off x="774607" y="4488182"/>
            <a:ext cx="500680" cy="270368"/>
          </a:xfrm>
          <a:custGeom>
            <a:rect b="b" l="l" r="r" t="t"/>
            <a:pathLst>
              <a:path extrusionOk="0" h="405045" w="750083">
                <a:moveTo>
                  <a:pt x="0" y="0"/>
                </a:moveTo>
                <a:lnTo>
                  <a:pt x="750083" y="0"/>
                </a:lnTo>
                <a:lnTo>
                  <a:pt x="750083" y="405044"/>
                </a:lnTo>
                <a:lnTo>
                  <a:pt x="0" y="405044"/>
                </a:lnTo>
                <a:lnTo>
                  <a:pt x="0" y="0"/>
                </a:lnTo>
                <a:close/>
              </a:path>
            </a:pathLst>
          </a:custGeom>
          <a:blipFill rotWithShape="1">
            <a:blip r:embed="rId3">
              <a:alphaModFix/>
            </a:blip>
            <a:stretch>
              <a:fillRect b="0" l="0" r="0" t="0"/>
            </a:stretch>
          </a:blipFill>
          <a:ln>
            <a:noFill/>
          </a:ln>
        </p:spPr>
      </p:sp>
      <p:sp>
        <p:nvSpPr>
          <p:cNvPr id="2168" name="Google Shape;2168;h65eb7c06466a6d01_2_396"/>
          <p:cNvSpPr/>
          <p:nvPr/>
        </p:nvSpPr>
        <p:spPr>
          <a:xfrm>
            <a:off x="755569" y="2938741"/>
            <a:ext cx="329513" cy="470732"/>
          </a:xfrm>
          <a:custGeom>
            <a:rect b="b" l="l" r="r" t="t"/>
            <a:pathLst>
              <a:path extrusionOk="0" h="705217" w="493652">
                <a:moveTo>
                  <a:pt x="0" y="0"/>
                </a:moveTo>
                <a:lnTo>
                  <a:pt x="493652" y="0"/>
                </a:lnTo>
                <a:lnTo>
                  <a:pt x="493652" y="705217"/>
                </a:lnTo>
                <a:lnTo>
                  <a:pt x="0" y="705217"/>
                </a:lnTo>
                <a:lnTo>
                  <a:pt x="0" y="0"/>
                </a:lnTo>
                <a:close/>
              </a:path>
            </a:pathLst>
          </a:custGeom>
          <a:blipFill rotWithShape="1">
            <a:blip r:embed="rId3">
              <a:alphaModFix/>
            </a:blip>
            <a:stretch>
              <a:fillRect b="0" l="0" r="0" t="0"/>
            </a:stretch>
          </a:blipFill>
          <a:ln>
            <a:noFill/>
          </a:ln>
        </p:spPr>
      </p:sp>
      <p:sp>
        <p:nvSpPr>
          <p:cNvPr id="2169" name="Google Shape;2169;h65eb7c06466a6d01_2_396"/>
          <p:cNvSpPr/>
          <p:nvPr/>
        </p:nvSpPr>
        <p:spPr>
          <a:xfrm>
            <a:off x="774607" y="5526891"/>
            <a:ext cx="500680" cy="568577"/>
          </a:xfrm>
          <a:custGeom>
            <a:rect b="b" l="l" r="r" t="t"/>
            <a:pathLst>
              <a:path extrusionOk="0" h="851801" w="750083">
                <a:moveTo>
                  <a:pt x="0" y="0"/>
                </a:moveTo>
                <a:lnTo>
                  <a:pt x="750083" y="0"/>
                </a:lnTo>
                <a:lnTo>
                  <a:pt x="750083" y="851801"/>
                </a:lnTo>
                <a:lnTo>
                  <a:pt x="0" y="851801"/>
                </a:lnTo>
                <a:lnTo>
                  <a:pt x="0" y="0"/>
                </a:lnTo>
                <a:close/>
              </a:path>
            </a:pathLst>
          </a:custGeom>
          <a:blipFill rotWithShape="1">
            <a:blip r:embed="rId3">
              <a:alphaModFix/>
            </a:blip>
            <a:stretch>
              <a:fillRect b="0" l="0" r="0" t="0"/>
            </a:stretch>
          </a:blipFill>
          <a:ln>
            <a:noFill/>
          </a:ln>
        </p:spPr>
      </p:sp>
      <p:sp>
        <p:nvSpPr>
          <p:cNvPr id="2170" name="Google Shape;2170;h65eb7c06466a6d01_2_396"/>
          <p:cNvSpPr/>
          <p:nvPr/>
        </p:nvSpPr>
        <p:spPr>
          <a:xfrm>
            <a:off x="8226723" y="1312853"/>
            <a:ext cx="3267723" cy="5459972"/>
          </a:xfrm>
          <a:custGeom>
            <a:rect b="b" l="l" r="r" t="t"/>
            <a:pathLst>
              <a:path extrusionOk="0" h="1330889" w="796520">
                <a:moveTo>
                  <a:pt x="47378" y="0"/>
                </a:moveTo>
                <a:lnTo>
                  <a:pt x="749142" y="0"/>
                </a:lnTo>
                <a:cubicBezTo>
                  <a:pt x="775308" y="0"/>
                  <a:pt x="796520" y="21212"/>
                  <a:pt x="796520" y="47378"/>
                </a:cubicBezTo>
                <a:lnTo>
                  <a:pt x="796520" y="1283511"/>
                </a:lnTo>
                <a:cubicBezTo>
                  <a:pt x="796520" y="1309677"/>
                  <a:pt x="775308" y="1330889"/>
                  <a:pt x="749142" y="1330889"/>
                </a:cubicBezTo>
                <a:lnTo>
                  <a:pt x="47378" y="1330889"/>
                </a:lnTo>
                <a:cubicBezTo>
                  <a:pt x="21212" y="1330889"/>
                  <a:pt x="0" y="1309677"/>
                  <a:pt x="0" y="1283511"/>
                </a:cubicBezTo>
                <a:lnTo>
                  <a:pt x="0" y="47378"/>
                </a:lnTo>
                <a:cubicBezTo>
                  <a:pt x="0" y="21212"/>
                  <a:pt x="21212" y="0"/>
                  <a:pt x="47378" y="0"/>
                </a:cubicBezTo>
                <a:close/>
              </a:path>
            </a:pathLst>
          </a:custGeom>
          <a:solidFill>
            <a:srgbClr val="0B3360"/>
          </a:solidFill>
          <a:ln cap="flat" cmpd="sng" w="889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71" name="Google Shape;2171;h65eb7c06466a6d01_2_396"/>
          <p:cNvSpPr/>
          <p:nvPr/>
        </p:nvSpPr>
        <p:spPr>
          <a:xfrm>
            <a:off x="8226723" y="1234689"/>
            <a:ext cx="3267900" cy="55389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172" name="Google Shape;2172;h65eb7c06466a6d01_2_396"/>
          <p:cNvSpPr/>
          <p:nvPr/>
        </p:nvSpPr>
        <p:spPr>
          <a:xfrm>
            <a:off x="8735392" y="1064763"/>
            <a:ext cx="2335420" cy="496182"/>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173" name="Google Shape;2173;h65eb7c06466a6d01_2_396"/>
          <p:cNvSpPr/>
          <p:nvPr/>
        </p:nvSpPr>
        <p:spPr>
          <a:xfrm>
            <a:off x="8735392" y="985658"/>
            <a:ext cx="2335500" cy="5751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174" name="Google Shape;2174;h65eb7c06466a6d01_2_396"/>
          <p:cNvSpPr/>
          <p:nvPr/>
        </p:nvSpPr>
        <p:spPr>
          <a:xfrm>
            <a:off x="8410890" y="1646986"/>
            <a:ext cx="497916" cy="679539"/>
          </a:xfrm>
          <a:custGeom>
            <a:rect b="b" l="l" r="r" t="t"/>
            <a:pathLst>
              <a:path extrusionOk="0" h="1018036" w="745942">
                <a:moveTo>
                  <a:pt x="0" y="0"/>
                </a:moveTo>
                <a:lnTo>
                  <a:pt x="745942" y="0"/>
                </a:lnTo>
                <a:lnTo>
                  <a:pt x="745942" y="1018035"/>
                </a:lnTo>
                <a:lnTo>
                  <a:pt x="0" y="1018035"/>
                </a:lnTo>
                <a:lnTo>
                  <a:pt x="0" y="0"/>
                </a:lnTo>
                <a:close/>
              </a:path>
            </a:pathLst>
          </a:custGeom>
          <a:blipFill rotWithShape="1">
            <a:blip r:embed="rId3">
              <a:alphaModFix/>
            </a:blip>
            <a:stretch>
              <a:fillRect b="0" l="0" r="0" t="0"/>
            </a:stretch>
          </a:blipFill>
          <a:ln>
            <a:noFill/>
          </a:ln>
        </p:spPr>
      </p:sp>
      <p:sp>
        <p:nvSpPr>
          <p:cNvPr id="2175" name="Google Shape;2175;h65eb7c06466a6d01_2_396"/>
          <p:cNvSpPr/>
          <p:nvPr/>
        </p:nvSpPr>
        <p:spPr>
          <a:xfrm>
            <a:off x="8429927" y="3620317"/>
            <a:ext cx="500680" cy="501592"/>
          </a:xfrm>
          <a:custGeom>
            <a:rect b="b" l="l" r="r" t="t"/>
            <a:pathLst>
              <a:path extrusionOk="0" h="751449" w="750083">
                <a:moveTo>
                  <a:pt x="0" y="0"/>
                </a:moveTo>
                <a:lnTo>
                  <a:pt x="750083" y="0"/>
                </a:lnTo>
                <a:lnTo>
                  <a:pt x="750083" y="751449"/>
                </a:lnTo>
                <a:lnTo>
                  <a:pt x="0" y="751449"/>
                </a:lnTo>
                <a:lnTo>
                  <a:pt x="0" y="0"/>
                </a:lnTo>
                <a:close/>
              </a:path>
            </a:pathLst>
          </a:custGeom>
          <a:blipFill rotWithShape="1">
            <a:blip r:embed="rId3">
              <a:alphaModFix/>
            </a:blip>
            <a:stretch>
              <a:fillRect b="0" l="0" r="0" t="0"/>
            </a:stretch>
          </a:blipFill>
          <a:ln>
            <a:noFill/>
          </a:ln>
        </p:spPr>
      </p:sp>
      <p:sp>
        <p:nvSpPr>
          <p:cNvPr id="2176" name="Google Shape;2176;h65eb7c06466a6d01_2_396"/>
          <p:cNvSpPr/>
          <p:nvPr/>
        </p:nvSpPr>
        <p:spPr>
          <a:xfrm>
            <a:off x="8429927" y="4454221"/>
            <a:ext cx="500680" cy="270368"/>
          </a:xfrm>
          <a:custGeom>
            <a:rect b="b" l="l" r="r" t="t"/>
            <a:pathLst>
              <a:path extrusionOk="0" h="405045" w="750083">
                <a:moveTo>
                  <a:pt x="0" y="0"/>
                </a:moveTo>
                <a:lnTo>
                  <a:pt x="750083" y="0"/>
                </a:lnTo>
                <a:lnTo>
                  <a:pt x="750083" y="405045"/>
                </a:lnTo>
                <a:lnTo>
                  <a:pt x="0" y="405045"/>
                </a:lnTo>
                <a:lnTo>
                  <a:pt x="0" y="0"/>
                </a:lnTo>
                <a:close/>
              </a:path>
            </a:pathLst>
          </a:custGeom>
          <a:blipFill rotWithShape="1">
            <a:blip r:embed="rId3">
              <a:alphaModFix/>
            </a:blip>
            <a:stretch>
              <a:fillRect b="0" l="0" r="0" t="0"/>
            </a:stretch>
          </a:blipFill>
          <a:ln>
            <a:noFill/>
          </a:ln>
        </p:spPr>
      </p:sp>
      <p:sp>
        <p:nvSpPr>
          <p:cNvPr id="2177" name="Google Shape;2177;h65eb7c06466a6d01_2_396"/>
          <p:cNvSpPr/>
          <p:nvPr/>
        </p:nvSpPr>
        <p:spPr>
          <a:xfrm>
            <a:off x="8515402" y="2931053"/>
            <a:ext cx="329513" cy="470732"/>
          </a:xfrm>
          <a:custGeom>
            <a:rect b="b" l="l" r="r" t="t"/>
            <a:pathLst>
              <a:path extrusionOk="0" h="705217" w="493652">
                <a:moveTo>
                  <a:pt x="0" y="0"/>
                </a:moveTo>
                <a:lnTo>
                  <a:pt x="493652" y="0"/>
                </a:lnTo>
                <a:lnTo>
                  <a:pt x="493652" y="705217"/>
                </a:lnTo>
                <a:lnTo>
                  <a:pt x="0" y="705217"/>
                </a:lnTo>
                <a:lnTo>
                  <a:pt x="0" y="0"/>
                </a:lnTo>
                <a:close/>
              </a:path>
            </a:pathLst>
          </a:custGeom>
          <a:blipFill rotWithShape="1">
            <a:blip r:embed="rId3">
              <a:alphaModFix/>
            </a:blip>
            <a:stretch>
              <a:fillRect b="0" l="0" r="0" t="0"/>
            </a:stretch>
          </a:blipFill>
          <a:ln>
            <a:noFill/>
          </a:ln>
        </p:spPr>
      </p:sp>
      <p:sp>
        <p:nvSpPr>
          <p:cNvPr id="2178" name="Google Shape;2178;h65eb7c06466a6d01_2_396"/>
          <p:cNvSpPr/>
          <p:nvPr/>
        </p:nvSpPr>
        <p:spPr>
          <a:xfrm>
            <a:off x="8455317" y="5526891"/>
            <a:ext cx="500680" cy="568577"/>
          </a:xfrm>
          <a:custGeom>
            <a:rect b="b" l="l" r="r" t="t"/>
            <a:pathLst>
              <a:path extrusionOk="0" h="851801" w="750083">
                <a:moveTo>
                  <a:pt x="0" y="0"/>
                </a:moveTo>
                <a:lnTo>
                  <a:pt x="750083" y="0"/>
                </a:lnTo>
                <a:lnTo>
                  <a:pt x="750083" y="851801"/>
                </a:lnTo>
                <a:lnTo>
                  <a:pt x="0" y="851801"/>
                </a:lnTo>
                <a:lnTo>
                  <a:pt x="0" y="0"/>
                </a:lnTo>
                <a:close/>
              </a:path>
            </a:pathLst>
          </a:custGeom>
          <a:blipFill rotWithShape="1">
            <a:blip r:embed="rId3">
              <a:alphaModFix/>
            </a:blip>
            <a:stretch>
              <a:fillRect b="0" l="0" r="0" t="0"/>
            </a:stretch>
          </a:blipFill>
          <a:ln>
            <a:noFill/>
          </a:ln>
        </p:spPr>
      </p:sp>
      <p:sp>
        <p:nvSpPr>
          <p:cNvPr id="2179" name="Google Shape;2179;h65eb7c06466a6d01_2_396"/>
          <p:cNvSpPr/>
          <p:nvPr/>
        </p:nvSpPr>
        <p:spPr>
          <a:xfrm>
            <a:off x="5183676" y="1608796"/>
            <a:ext cx="1986300" cy="9447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Ahli Pemasaran, Retensi Pelanggan, Produk Digital, Operasional, dan Pengembangan Karier</a:t>
            </a:r>
            <a:endParaRPr sz="900"/>
          </a:p>
        </p:txBody>
      </p:sp>
      <p:sp>
        <p:nvSpPr>
          <p:cNvPr id="2180" name="Google Shape;2180;h65eb7c06466a6d01_2_396"/>
          <p:cNvSpPr/>
          <p:nvPr/>
        </p:nvSpPr>
        <p:spPr>
          <a:xfrm>
            <a:off x="5205474" y="3517353"/>
            <a:ext cx="1964400" cy="7164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Akademisi, Pemerintah, Manufaktur, Ritel, Teknologi</a:t>
            </a:r>
            <a:endParaRPr sz="900"/>
          </a:p>
        </p:txBody>
      </p:sp>
      <p:sp>
        <p:nvSpPr>
          <p:cNvPr id="2181" name="Google Shape;2181;h65eb7c06466a6d01_2_396"/>
          <p:cNvSpPr/>
          <p:nvPr/>
        </p:nvSpPr>
        <p:spPr>
          <a:xfrm>
            <a:off x="5186436" y="4332593"/>
            <a:ext cx="1964400" cy="9447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Rey.ID, KitaBisa, Indosat Ooredoo Hutchison, Amar Bank,  Glints, UMY, Inspirasi Foundation</a:t>
            </a:r>
            <a:endParaRPr sz="900"/>
          </a:p>
        </p:txBody>
      </p:sp>
      <p:sp>
        <p:nvSpPr>
          <p:cNvPr id="2182" name="Google Shape;2182;h65eb7c06466a6d01_2_396"/>
          <p:cNvSpPr/>
          <p:nvPr/>
        </p:nvSpPr>
        <p:spPr>
          <a:xfrm>
            <a:off x="5175524" y="2812267"/>
            <a:ext cx="1653300" cy="4875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Semarang, Jakarta, Yogyakarta</a:t>
            </a:r>
            <a:endParaRPr sz="900"/>
          </a:p>
        </p:txBody>
      </p:sp>
      <p:sp>
        <p:nvSpPr>
          <p:cNvPr id="2183" name="Google Shape;2183;h65eb7c06466a6d01_2_396"/>
          <p:cNvSpPr/>
          <p:nvPr/>
        </p:nvSpPr>
        <p:spPr>
          <a:xfrm>
            <a:off x="5047313" y="5425187"/>
            <a:ext cx="2411400" cy="1173600"/>
          </a:xfrm>
          <a:prstGeom prst="rect">
            <a:avLst/>
          </a:prstGeom>
          <a:noFill/>
          <a:ln>
            <a:noFill/>
          </a:ln>
        </p:spPr>
        <p:txBody>
          <a:bodyPr anchorCtr="0" anchor="t" bIns="0" lIns="0" spcFirstLastPara="1" rIns="0" wrap="square" tIns="0">
            <a:noAutofit/>
          </a:bodyPr>
          <a:lstStyle/>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Pengelolaan Media Sosial</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Retensi Pelanggan</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Sistem Keuangan Digital</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Inovasi Organisasi</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Keuangan/Akuntansi/Pajak</a:t>
            </a:r>
            <a:endParaRPr sz="900"/>
          </a:p>
        </p:txBody>
      </p:sp>
      <p:sp>
        <p:nvSpPr>
          <p:cNvPr id="2184" name="Google Shape;2184;h65eb7c06466a6d01_2_396"/>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Pengalaman Para Ahli Kami</a:t>
            </a:r>
            <a:endParaRPr sz="900"/>
          </a:p>
        </p:txBody>
      </p:sp>
      <p:sp>
        <p:nvSpPr>
          <p:cNvPr id="2185" name="Google Shape;2185;h65eb7c06466a6d01_2_396"/>
          <p:cNvSpPr/>
          <p:nvPr/>
        </p:nvSpPr>
        <p:spPr>
          <a:xfrm>
            <a:off x="816239" y="1135942"/>
            <a:ext cx="2628000" cy="296700"/>
          </a:xfrm>
          <a:prstGeom prst="rect">
            <a:avLst/>
          </a:prstGeom>
          <a:noFill/>
          <a:ln>
            <a:noFill/>
          </a:ln>
        </p:spPr>
        <p:txBody>
          <a:bodyPr anchorCtr="0" anchor="t" bIns="0" lIns="0" spcFirstLastPara="1" rIns="0" wrap="square" tIns="0">
            <a:noAutofit/>
          </a:bodyPr>
          <a:lstStyle/>
          <a:p>
            <a:pPr indent="0" lvl="0" marL="0" marR="0" rtl="0" algn="ctr">
              <a:lnSpc>
                <a:spcPct val="124010"/>
              </a:lnSpc>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Konsultasi</a:t>
            </a:r>
            <a:endParaRPr sz="900"/>
          </a:p>
        </p:txBody>
      </p:sp>
      <p:sp>
        <p:nvSpPr>
          <p:cNvPr id="2186" name="Google Shape;2186;h65eb7c06466a6d01_2_396"/>
          <p:cNvSpPr/>
          <p:nvPr/>
        </p:nvSpPr>
        <p:spPr>
          <a:xfrm>
            <a:off x="4688181" y="1082194"/>
            <a:ext cx="2628000" cy="296700"/>
          </a:xfrm>
          <a:prstGeom prst="rect">
            <a:avLst/>
          </a:prstGeom>
          <a:noFill/>
          <a:ln>
            <a:noFill/>
          </a:ln>
        </p:spPr>
        <p:txBody>
          <a:bodyPr anchorCtr="0" anchor="t" bIns="0" lIns="0" spcFirstLastPara="1" rIns="0" wrap="square" tIns="0">
            <a:noAutofit/>
          </a:bodyPr>
          <a:lstStyle/>
          <a:p>
            <a:pPr indent="0" lvl="0" marL="0" marR="0" rtl="0" algn="ctr">
              <a:lnSpc>
                <a:spcPct val="124010"/>
              </a:lnSpc>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Pelatihan</a:t>
            </a:r>
            <a:endParaRPr sz="900"/>
          </a:p>
        </p:txBody>
      </p:sp>
      <p:sp>
        <p:nvSpPr>
          <p:cNvPr id="2187" name="Google Shape;2187;h65eb7c06466a6d01_2_396"/>
          <p:cNvSpPr/>
          <p:nvPr/>
        </p:nvSpPr>
        <p:spPr>
          <a:xfrm>
            <a:off x="1389214" y="1651381"/>
            <a:ext cx="1814700" cy="11433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Ahli Pemasaran, Peta Jalan Bisnis, Operasional, Strategi Penjualan, dan Keuangan/Pajak</a:t>
            </a:r>
            <a:endParaRPr sz="900"/>
          </a:p>
        </p:txBody>
      </p:sp>
      <p:sp>
        <p:nvSpPr>
          <p:cNvPr id="2188" name="Google Shape;2188;h65eb7c06466a6d01_2_396"/>
          <p:cNvSpPr/>
          <p:nvPr/>
        </p:nvSpPr>
        <p:spPr>
          <a:xfrm>
            <a:off x="1411012" y="3559939"/>
            <a:ext cx="1653300" cy="7164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Manufaktur, Teknologi, Ritel, Pemerintah</a:t>
            </a:r>
            <a:endParaRPr sz="900"/>
          </a:p>
        </p:txBody>
      </p:sp>
      <p:sp>
        <p:nvSpPr>
          <p:cNvPr id="2189" name="Google Shape;2189;h65eb7c06466a6d01_2_396"/>
          <p:cNvSpPr/>
          <p:nvPr/>
        </p:nvSpPr>
        <p:spPr>
          <a:xfrm>
            <a:off x="1411012" y="4404211"/>
            <a:ext cx="1793100" cy="7164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Amazon Alexa, Yakes Pertamina, Pemkot Yogyakarta, PT PIM</a:t>
            </a:r>
            <a:endParaRPr sz="900"/>
          </a:p>
        </p:txBody>
      </p:sp>
      <p:sp>
        <p:nvSpPr>
          <p:cNvPr id="2190" name="Google Shape;2190;h65eb7c06466a6d01_2_396"/>
          <p:cNvSpPr/>
          <p:nvPr/>
        </p:nvSpPr>
        <p:spPr>
          <a:xfrm>
            <a:off x="1389214" y="2854853"/>
            <a:ext cx="1653300" cy="4875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Cambridge, Jakarta, Yogyakarta, Aceh</a:t>
            </a:r>
            <a:endParaRPr sz="900"/>
          </a:p>
        </p:txBody>
      </p:sp>
      <p:sp>
        <p:nvSpPr>
          <p:cNvPr id="2191" name="Google Shape;2191;h65eb7c06466a6d01_2_396"/>
          <p:cNvSpPr/>
          <p:nvPr/>
        </p:nvSpPr>
        <p:spPr>
          <a:xfrm>
            <a:off x="1252851" y="5467773"/>
            <a:ext cx="2155200" cy="944700"/>
          </a:xfrm>
          <a:prstGeom prst="rect">
            <a:avLst/>
          </a:prstGeom>
          <a:noFill/>
          <a:ln>
            <a:noFill/>
          </a:ln>
        </p:spPr>
        <p:txBody>
          <a:bodyPr anchorCtr="0" anchor="t" bIns="0" lIns="0" spcFirstLastPara="1" rIns="0" wrap="square" tIns="0">
            <a:noAutofit/>
          </a:bodyPr>
          <a:lstStyle/>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Retensi Pelanggan</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Kesehatan Operasional</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Analisis Tenaga Kerja</a:t>
            </a:r>
            <a:endParaRPr sz="900"/>
          </a:p>
          <a:p>
            <a:pPr indent="-127000" lvl="1" marL="254000" marR="0" rtl="0" algn="just">
              <a:lnSpc>
                <a:spcPct val="15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Diagnostik Bisnis</a:t>
            </a:r>
            <a:endParaRPr sz="900"/>
          </a:p>
        </p:txBody>
      </p:sp>
      <p:sp>
        <p:nvSpPr>
          <p:cNvPr id="2192" name="Google Shape;2192;h65eb7c06466a6d01_2_396"/>
          <p:cNvSpPr/>
          <p:nvPr/>
        </p:nvSpPr>
        <p:spPr>
          <a:xfrm>
            <a:off x="8648838" y="1135942"/>
            <a:ext cx="2628000" cy="503700"/>
          </a:xfrm>
          <a:prstGeom prst="rect">
            <a:avLst/>
          </a:prstGeom>
          <a:noFill/>
          <a:ln>
            <a:noFill/>
          </a:ln>
        </p:spPr>
        <p:txBody>
          <a:bodyPr anchorCtr="0" anchor="t" bIns="0" lIns="0" spcFirstLastPara="1" rIns="0" wrap="square" tIns="0">
            <a:noAutofit/>
          </a:bodyPr>
          <a:lstStyle/>
          <a:p>
            <a:pPr indent="0" lvl="0" marL="0" marR="0" rtl="0" algn="ctr">
              <a:lnSpc>
                <a:spcPct val="124010"/>
              </a:lnSpc>
              <a:spcBef>
                <a:spcPts val="0"/>
              </a:spcBef>
              <a:spcAft>
                <a:spcPts val="0"/>
              </a:spcAft>
              <a:buClr>
                <a:srgbClr val="000000"/>
              </a:buClr>
              <a:buSzPts val="1600"/>
              <a:buFont typeface="Arial"/>
              <a:buNone/>
            </a:pPr>
            <a:r>
              <a:rPr b="1" lang="en-US" sz="1600">
                <a:solidFill>
                  <a:srgbClr val="000000"/>
                </a:solidFill>
                <a:latin typeface="Arial"/>
                <a:ea typeface="Arial"/>
                <a:cs typeface="Arial"/>
                <a:sym typeface="Arial"/>
              </a:rPr>
              <a:t>Manajemen Operasional &amp; Sistem</a:t>
            </a:r>
            <a:endParaRPr sz="900"/>
          </a:p>
        </p:txBody>
      </p:sp>
      <p:sp>
        <p:nvSpPr>
          <p:cNvPr id="2193" name="Google Shape;2193;h65eb7c06466a6d01_2_396"/>
          <p:cNvSpPr/>
          <p:nvPr/>
        </p:nvSpPr>
        <p:spPr>
          <a:xfrm>
            <a:off x="9041518" y="1651381"/>
            <a:ext cx="2329500" cy="1371600"/>
          </a:xfrm>
          <a:prstGeom prst="rect">
            <a:avLst/>
          </a:prstGeom>
          <a:noFill/>
          <a:ln>
            <a:noFill/>
          </a:ln>
        </p:spPr>
        <p:txBody>
          <a:bodyPr anchorCtr="0" anchor="t" bIns="0" lIns="0" spcFirstLastPara="1" rIns="0" wrap="square" tIns="0">
            <a:noAutofit/>
          </a:bodyPr>
          <a:lstStyle/>
          <a:p>
            <a:pPr indent="0" lvl="0" marL="0" marR="0" rtl="0" algn="just">
              <a:lnSpc>
                <a:spcPct val="205636"/>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Ahli Keuangan/Akuntansi/Pajak, SDM, Operasional, Layanan Pelanggan, Akuisisi Pengguna, Telemarketing, dan Implementasi Sistem</a:t>
            </a:r>
            <a:endParaRPr sz="900"/>
          </a:p>
        </p:txBody>
      </p:sp>
      <p:sp>
        <p:nvSpPr>
          <p:cNvPr id="2194" name="Google Shape;2194;h65eb7c06466a6d01_2_396"/>
          <p:cNvSpPr/>
          <p:nvPr/>
        </p:nvSpPr>
        <p:spPr>
          <a:xfrm>
            <a:off x="9066332" y="3525978"/>
            <a:ext cx="2210400" cy="7164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Manufaktur, Fesyen, Teknologi, Ritel, F&amp;B, Pemerintah, Family Office</a:t>
            </a:r>
            <a:endParaRPr sz="900"/>
          </a:p>
        </p:txBody>
      </p:sp>
      <p:sp>
        <p:nvSpPr>
          <p:cNvPr id="2195" name="Google Shape;2195;h65eb7c06466a6d01_2_396"/>
          <p:cNvSpPr/>
          <p:nvPr/>
        </p:nvSpPr>
        <p:spPr>
          <a:xfrm>
            <a:off x="9066332" y="4404211"/>
            <a:ext cx="2210400" cy="9447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Supra, KitaBisa, Rey, One Click Life, Alterra, Riliv, AJS, Wiratama Institute, Freesa, Lingo Talk, Inisago, Kuncie</a:t>
            </a:r>
            <a:endParaRPr sz="900"/>
          </a:p>
        </p:txBody>
      </p:sp>
      <p:sp>
        <p:nvSpPr>
          <p:cNvPr id="2196" name="Google Shape;2196;h65eb7c06466a6d01_2_396"/>
          <p:cNvSpPr/>
          <p:nvPr/>
        </p:nvSpPr>
        <p:spPr>
          <a:xfrm>
            <a:off x="9041610" y="2854853"/>
            <a:ext cx="1653300" cy="4875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Cambridge, Jakarta, Yogyakarta, Aceh</a:t>
            </a:r>
            <a:endParaRPr sz="900"/>
          </a:p>
        </p:txBody>
      </p:sp>
      <p:sp>
        <p:nvSpPr>
          <p:cNvPr id="2197" name="Google Shape;2197;h65eb7c06466a6d01_2_396"/>
          <p:cNvSpPr/>
          <p:nvPr/>
        </p:nvSpPr>
        <p:spPr>
          <a:xfrm>
            <a:off x="8931555" y="5450691"/>
            <a:ext cx="2439600" cy="1828800"/>
          </a:xfrm>
          <a:prstGeom prst="rect">
            <a:avLst/>
          </a:prstGeom>
          <a:noFill/>
          <a:ln>
            <a:noFill/>
          </a:ln>
        </p:spPr>
        <p:txBody>
          <a:bodyPr anchorCtr="0" anchor="t" bIns="0" lIns="0" spcFirstLastPara="1" rIns="0" wrap="square" tIns="0">
            <a:noAutofit/>
          </a:bodyPr>
          <a:lstStyle/>
          <a:p>
            <a:pPr indent="-120650" lvl="1" marL="254000" marR="0" rtl="0" algn="just">
              <a:lnSpc>
                <a:spcPct val="200000"/>
              </a:lnSpc>
              <a:spcBef>
                <a:spcPts val="0"/>
              </a:spcBef>
              <a:spcAft>
                <a:spcPts val="0"/>
              </a:spcAft>
              <a:buClr>
                <a:srgbClr val="FFFFFF"/>
              </a:buClr>
              <a:buSzPts val="900"/>
              <a:buFont typeface="Arial"/>
              <a:buChar char="•"/>
            </a:pPr>
            <a:r>
              <a:rPr b="0" i="0" lang="en-US" sz="900" u="none" cap="none" strike="noStrike">
                <a:solidFill>
                  <a:srgbClr val="FFFFFF"/>
                </a:solidFill>
                <a:latin typeface="Arial"/>
                <a:ea typeface="Arial"/>
                <a:cs typeface="Arial"/>
                <a:sym typeface="Arial"/>
              </a:rPr>
              <a:t>Layanan Pelanggan</a:t>
            </a:r>
            <a:endParaRPr sz="900"/>
          </a:p>
          <a:p>
            <a:pPr indent="-120650" lvl="1" marL="254000" marR="0" rtl="0" algn="just">
              <a:lnSpc>
                <a:spcPct val="200000"/>
              </a:lnSpc>
              <a:spcBef>
                <a:spcPts val="0"/>
              </a:spcBef>
              <a:spcAft>
                <a:spcPts val="0"/>
              </a:spcAft>
              <a:buClr>
                <a:srgbClr val="FFFFFF"/>
              </a:buClr>
              <a:buSzPts val="900"/>
              <a:buFont typeface="Arial"/>
              <a:buChar char="•"/>
            </a:pPr>
            <a:r>
              <a:rPr b="0" i="0" lang="en-US" sz="900" u="none" cap="none" strike="noStrike">
                <a:solidFill>
                  <a:srgbClr val="FFFFFF"/>
                </a:solidFill>
                <a:latin typeface="Arial"/>
                <a:ea typeface="Arial"/>
                <a:cs typeface="Arial"/>
                <a:sym typeface="Arial"/>
              </a:rPr>
              <a:t>Operasional SDM &amp; Rekrutmen</a:t>
            </a:r>
            <a:endParaRPr sz="900"/>
          </a:p>
          <a:p>
            <a:pPr indent="-120650" lvl="1" marL="254000" marR="0" rtl="0" algn="just">
              <a:lnSpc>
                <a:spcPct val="200000"/>
              </a:lnSpc>
              <a:spcBef>
                <a:spcPts val="0"/>
              </a:spcBef>
              <a:spcAft>
                <a:spcPts val="0"/>
              </a:spcAft>
              <a:buClr>
                <a:srgbClr val="FFFFFF"/>
              </a:buClr>
              <a:buSzPts val="900"/>
              <a:buFont typeface="Arial"/>
              <a:buChar char="•"/>
            </a:pPr>
            <a:r>
              <a:rPr b="0" i="0" lang="en-US" sz="900" u="none" cap="none" strike="noStrike">
                <a:solidFill>
                  <a:srgbClr val="FFFFFF"/>
                </a:solidFill>
                <a:latin typeface="Arial"/>
                <a:ea typeface="Arial"/>
                <a:cs typeface="Arial"/>
                <a:sym typeface="Arial"/>
              </a:rPr>
              <a:t>Penagihan/Piutang/Pencairan</a:t>
            </a:r>
            <a:endParaRPr sz="900"/>
          </a:p>
          <a:p>
            <a:pPr indent="-120650" lvl="1" marL="254000" marR="0" rtl="0" algn="just">
              <a:lnSpc>
                <a:spcPct val="200000"/>
              </a:lnSpc>
              <a:spcBef>
                <a:spcPts val="0"/>
              </a:spcBef>
              <a:spcAft>
                <a:spcPts val="0"/>
              </a:spcAft>
              <a:buClr>
                <a:srgbClr val="FFFFFF"/>
              </a:buClr>
              <a:buSzPts val="900"/>
              <a:buFont typeface="Arial"/>
              <a:buChar char="•"/>
            </a:pPr>
            <a:r>
              <a:rPr b="0" i="0" lang="en-US" sz="900" u="none" cap="none" strike="noStrike">
                <a:solidFill>
                  <a:srgbClr val="FFFFFF"/>
                </a:solidFill>
                <a:latin typeface="Arial"/>
                <a:ea typeface="Arial"/>
                <a:cs typeface="Arial"/>
                <a:sym typeface="Arial"/>
              </a:rPr>
              <a:t>Riset Pelanggan</a:t>
            </a:r>
            <a:endParaRPr sz="900"/>
          </a:p>
          <a:p>
            <a:pPr indent="-120650" lvl="1" marL="254000" marR="0" rtl="0" algn="just">
              <a:lnSpc>
                <a:spcPct val="200000"/>
              </a:lnSpc>
              <a:spcBef>
                <a:spcPts val="0"/>
              </a:spcBef>
              <a:spcAft>
                <a:spcPts val="0"/>
              </a:spcAft>
              <a:buClr>
                <a:srgbClr val="FFFFFF"/>
              </a:buClr>
              <a:buSzPts val="900"/>
              <a:buFont typeface="Arial"/>
              <a:buChar char="•"/>
            </a:pPr>
            <a:r>
              <a:rPr b="0" i="0" lang="en-US" sz="900" u="none" cap="none" strike="noStrike">
                <a:solidFill>
                  <a:srgbClr val="FFFFFF"/>
                </a:solidFill>
                <a:latin typeface="Arial"/>
                <a:ea typeface="Arial"/>
                <a:cs typeface="Arial"/>
                <a:sym typeface="Arial"/>
              </a:rPr>
              <a:t>Telemarketing B2C/B2B</a:t>
            </a:r>
            <a:endParaRPr sz="900"/>
          </a:p>
        </p:txBody>
      </p:sp>
      <p:sp>
        <p:nvSpPr>
          <p:cNvPr id="2198" name="Google Shape;2198;h65eb7c06466a6d01_2_396"/>
          <p:cNvSpPr/>
          <p:nvPr/>
        </p:nvSpPr>
        <p:spPr>
          <a:xfrm>
            <a:off x="6311414" y="557925"/>
            <a:ext cx="7192482" cy="116878"/>
          </a:xfrm>
          <a:custGeom>
            <a:rect b="b" l="l" r="r" t="t"/>
            <a:pathLst>
              <a:path extrusionOk="0" h="175098" w="10775254">
                <a:moveTo>
                  <a:pt x="0" y="0"/>
                </a:moveTo>
                <a:lnTo>
                  <a:pt x="10775254" y="0"/>
                </a:lnTo>
                <a:lnTo>
                  <a:pt x="10775254" y="175098"/>
                </a:lnTo>
                <a:lnTo>
                  <a:pt x="0" y="175098"/>
                </a:lnTo>
                <a:lnTo>
                  <a:pt x="0" y="0"/>
                </a:lnTo>
                <a:close/>
              </a:path>
            </a:pathLst>
          </a:custGeom>
          <a:blipFill rotWithShape="1">
            <a:blip r:embed="rId3">
              <a:alphaModFix/>
            </a:blip>
            <a:stretch>
              <a:fillRect b="0" l="0" r="0" t="0"/>
            </a:stretch>
          </a:blipFill>
          <a:ln>
            <a:noFill/>
          </a:ln>
        </p:spPr>
      </p:sp>
      <p:sp>
        <p:nvSpPr>
          <p:cNvPr id="2199" name="Google Shape;2199;h65eb7c06466a6d01_2_396"/>
          <p:cNvSpPr/>
          <p:nvPr/>
        </p:nvSpPr>
        <p:spPr>
          <a:xfrm>
            <a:off x="10171599" y="56085"/>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4" name="Shape 2204"/>
        <p:cNvGrpSpPr/>
        <p:nvPr/>
      </p:nvGrpSpPr>
      <p:grpSpPr>
        <a:xfrm>
          <a:off x="0" y="0"/>
          <a:ext cx="0" cy="0"/>
          <a:chOff x="0" y="0"/>
          <a:chExt cx="0" cy="0"/>
        </a:xfrm>
      </p:grpSpPr>
      <p:sp>
        <p:nvSpPr>
          <p:cNvPr id="2205" name="Google Shape;2205;h65eb7c06466a6d01_2_448"/>
          <p:cNvSpPr/>
          <p:nvPr/>
        </p:nvSpPr>
        <p:spPr>
          <a:xfrm>
            <a:off x="-1749211" y="-2249505"/>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3">
              <a:alphaModFix amt="9000"/>
            </a:blip>
            <a:stretch>
              <a:fillRect b="0" l="0" r="0" t="0"/>
            </a:stretch>
          </a:blipFill>
          <a:ln>
            <a:noFill/>
          </a:ln>
        </p:spPr>
      </p:sp>
      <p:sp>
        <p:nvSpPr>
          <p:cNvPr id="2206" name="Google Shape;2206;h65eb7c06466a6d01_2_448"/>
          <p:cNvSpPr/>
          <p:nvPr/>
        </p:nvSpPr>
        <p:spPr>
          <a:xfrm>
            <a:off x="1722467" y="963483"/>
            <a:ext cx="4277875" cy="937514"/>
          </a:xfrm>
          <a:custGeom>
            <a:rect b="b" l="l" r="r" t="t"/>
            <a:pathLst>
              <a:path extrusionOk="0" h="1875028" w="8555749">
                <a:moveTo>
                  <a:pt x="0" y="0"/>
                </a:moveTo>
                <a:lnTo>
                  <a:pt x="8555749" y="0"/>
                </a:lnTo>
                <a:lnTo>
                  <a:pt x="8555749" y="1875028"/>
                </a:lnTo>
                <a:lnTo>
                  <a:pt x="0" y="1875028"/>
                </a:lnTo>
                <a:close/>
              </a:path>
            </a:pathLst>
          </a:custGeom>
          <a:solidFill>
            <a:srgbClr val="0B3360"/>
          </a:solidFill>
          <a:ln>
            <a:noFill/>
          </a:ln>
        </p:spPr>
      </p:sp>
      <p:sp>
        <p:nvSpPr>
          <p:cNvPr id="2207" name="Google Shape;2207;h65eb7c06466a6d01_2_448"/>
          <p:cNvSpPr/>
          <p:nvPr/>
        </p:nvSpPr>
        <p:spPr>
          <a:xfrm>
            <a:off x="1722467" y="958721"/>
            <a:ext cx="4278000" cy="9423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Utama</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Dwi Andi Rohmatika</a:t>
            </a:r>
            <a:endParaRPr sz="900"/>
          </a:p>
        </p:txBody>
      </p:sp>
      <p:sp>
        <p:nvSpPr>
          <p:cNvPr id="2208" name="Google Shape;2208;h65eb7c06466a6d01_2_448"/>
          <p:cNvSpPr/>
          <p:nvPr/>
        </p:nvSpPr>
        <p:spPr>
          <a:xfrm>
            <a:off x="715948" y="1906693"/>
            <a:ext cx="5283581" cy="1446911"/>
          </a:xfrm>
          <a:custGeom>
            <a:rect b="b" l="l" r="r" t="t"/>
            <a:pathLst>
              <a:path extrusionOk="0" h="2893822" w="10567162">
                <a:moveTo>
                  <a:pt x="0" y="0"/>
                </a:moveTo>
                <a:lnTo>
                  <a:pt x="10567162" y="0"/>
                </a:lnTo>
                <a:lnTo>
                  <a:pt x="10567162" y="2893822"/>
                </a:lnTo>
                <a:lnTo>
                  <a:pt x="0" y="2893822"/>
                </a:lnTo>
                <a:close/>
              </a:path>
            </a:pathLst>
          </a:custGeom>
          <a:solidFill>
            <a:srgbClr val="FFFFFF"/>
          </a:solidFill>
          <a:ln>
            <a:noFill/>
          </a:ln>
        </p:spPr>
      </p:sp>
      <p:sp>
        <p:nvSpPr>
          <p:cNvPr id="2209" name="Google Shape;2209;h65eb7c06466a6d01_2_448"/>
          <p:cNvSpPr/>
          <p:nvPr/>
        </p:nvSpPr>
        <p:spPr>
          <a:xfrm>
            <a:off x="711186" y="1901931"/>
            <a:ext cx="5293106" cy="1456436"/>
          </a:xfrm>
          <a:custGeom>
            <a:rect b="b" l="l" r="r" t="t"/>
            <a:pathLst>
              <a:path extrusionOk="0" h="2912872" w="10586212">
                <a:moveTo>
                  <a:pt x="9525" y="0"/>
                </a:moveTo>
                <a:lnTo>
                  <a:pt x="10576687" y="0"/>
                </a:lnTo>
                <a:cubicBezTo>
                  <a:pt x="10581894" y="0"/>
                  <a:pt x="10586212" y="4318"/>
                  <a:pt x="10586212" y="9525"/>
                </a:cubicBezTo>
                <a:lnTo>
                  <a:pt x="10586212" y="2903347"/>
                </a:lnTo>
                <a:cubicBezTo>
                  <a:pt x="10586212" y="2908554"/>
                  <a:pt x="10581894" y="2912872"/>
                  <a:pt x="10576687" y="2912872"/>
                </a:cubicBezTo>
                <a:lnTo>
                  <a:pt x="9525" y="2912872"/>
                </a:lnTo>
                <a:cubicBezTo>
                  <a:pt x="4318" y="2912872"/>
                  <a:pt x="0" y="2908554"/>
                  <a:pt x="0" y="2903347"/>
                </a:cubicBezTo>
                <a:lnTo>
                  <a:pt x="0" y="9525"/>
                </a:lnTo>
                <a:cubicBezTo>
                  <a:pt x="0" y="4318"/>
                  <a:pt x="4318" y="0"/>
                  <a:pt x="9525" y="0"/>
                </a:cubicBezTo>
                <a:moveTo>
                  <a:pt x="9525" y="19050"/>
                </a:moveTo>
                <a:lnTo>
                  <a:pt x="9525" y="9525"/>
                </a:lnTo>
                <a:lnTo>
                  <a:pt x="19050" y="9525"/>
                </a:lnTo>
                <a:lnTo>
                  <a:pt x="19050" y="2903347"/>
                </a:lnTo>
                <a:lnTo>
                  <a:pt x="9525" y="2903347"/>
                </a:lnTo>
                <a:lnTo>
                  <a:pt x="9525" y="2893822"/>
                </a:lnTo>
                <a:lnTo>
                  <a:pt x="10576687" y="2893822"/>
                </a:lnTo>
                <a:lnTo>
                  <a:pt x="10576687" y="2903347"/>
                </a:lnTo>
                <a:lnTo>
                  <a:pt x="10567162" y="2903347"/>
                </a:lnTo>
                <a:lnTo>
                  <a:pt x="10567162" y="9525"/>
                </a:lnTo>
                <a:lnTo>
                  <a:pt x="10576687" y="9525"/>
                </a:lnTo>
                <a:lnTo>
                  <a:pt x="10576687" y="19050"/>
                </a:lnTo>
                <a:lnTo>
                  <a:pt x="9525" y="19050"/>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10" name="Google Shape;2210;h65eb7c06466a6d01_2_448"/>
          <p:cNvSpPr/>
          <p:nvPr/>
        </p:nvSpPr>
        <p:spPr>
          <a:xfrm>
            <a:off x="711186" y="1897169"/>
            <a:ext cx="5293200" cy="14613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900">
                <a:solidFill>
                  <a:srgbClr val="025086"/>
                </a:solidFill>
                <a:latin typeface="Quattrocento"/>
                <a:ea typeface="Quattrocento"/>
                <a:cs typeface="Quattrocento"/>
                <a:sym typeface="Quattrocento"/>
              </a:rPr>
              <a:t>PENDIDIKAN</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S2 – Administrasi Bisnis (MBA)</a:t>
            </a:r>
            <a:endParaRPr sz="800"/>
          </a:p>
          <a:p>
            <a:pPr indent="0" lvl="0" marL="0" marR="0" rtl="0" algn="l">
              <a:lnSpc>
                <a:spcPct val="120000"/>
              </a:lnSpc>
              <a:spcBef>
                <a:spcPts val="0"/>
              </a:spcBef>
              <a:spcAft>
                <a:spcPts val="0"/>
              </a:spcAft>
              <a:buClr>
                <a:srgbClr val="000000"/>
              </a:buClr>
              <a:buSzPts val="1100"/>
              <a:buFont typeface="Quattrocento"/>
              <a:buNone/>
            </a:pPr>
            <a:r>
              <a:rPr lang="en-US" sz="900">
                <a:solidFill>
                  <a:srgbClr val="000000"/>
                </a:solidFill>
                <a:latin typeface="Quattrocento"/>
                <a:ea typeface="Quattrocento"/>
                <a:cs typeface="Quattrocento"/>
                <a:sym typeface="Quattrocento"/>
              </a:rPr>
              <a:t>Judge Business School, University of Cambridge, Inggris (2023-2024)</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S1 – Ekonomi</a:t>
            </a:r>
            <a:endParaRPr sz="800"/>
          </a:p>
          <a:p>
            <a:pPr indent="0" lvl="0" marL="0" marR="0" rtl="0" algn="l">
              <a:lnSpc>
                <a:spcPct val="120000"/>
              </a:lnSpc>
              <a:spcBef>
                <a:spcPts val="0"/>
              </a:spcBef>
              <a:spcAft>
                <a:spcPts val="0"/>
              </a:spcAft>
              <a:buClr>
                <a:srgbClr val="000000"/>
              </a:buClr>
              <a:buSzPts val="1100"/>
              <a:buFont typeface="Quattrocento"/>
              <a:buNone/>
            </a:pPr>
            <a:r>
              <a:rPr lang="en-US" sz="900">
                <a:solidFill>
                  <a:srgbClr val="000000"/>
                </a:solidFill>
                <a:latin typeface="Quattrocento"/>
                <a:ea typeface="Quattrocento"/>
                <a:cs typeface="Quattrocento"/>
                <a:sym typeface="Quattrocento"/>
              </a:rPr>
              <a:t>Universitas Gadjah Mada, Yogyakarta, Indonesia (2007-2012)</a:t>
            </a:r>
            <a:endParaRPr sz="800"/>
          </a:p>
          <a:p>
            <a:pPr indent="0" lvl="0" marL="0" marR="0" rtl="0" algn="l">
              <a:lnSpc>
                <a:spcPct val="120000"/>
              </a:lnSpc>
              <a:spcBef>
                <a:spcPts val="0"/>
              </a:spcBef>
              <a:spcAft>
                <a:spcPts val="0"/>
              </a:spcAft>
              <a:buClr>
                <a:srgbClr val="025086"/>
              </a:buClr>
              <a:buSzPts val="1100"/>
              <a:buFont typeface="Quattrocento"/>
              <a:buNone/>
            </a:pPr>
            <a:r>
              <a:rPr b="1" lang="en-US" sz="900">
                <a:solidFill>
                  <a:srgbClr val="025086"/>
                </a:solidFill>
                <a:latin typeface="Quattrocento"/>
                <a:ea typeface="Quattrocento"/>
                <a:cs typeface="Quattrocento"/>
                <a:sym typeface="Quattrocento"/>
              </a:rPr>
              <a:t>SERTIFIKASI</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Green Belt Six Sigma, Bootcamp Manajemen Produk, Sertifikasi Bootcamp Strategi dan Operasional, CS50 Pengantar Ilmu Komputer</a:t>
            </a:r>
            <a:endParaRPr sz="800"/>
          </a:p>
        </p:txBody>
      </p:sp>
      <p:graphicFrame>
        <p:nvGraphicFramePr>
          <p:cNvPr id="2211" name="Google Shape;2211;h65eb7c06466a6d01_2_448"/>
          <p:cNvGraphicFramePr/>
          <p:nvPr/>
        </p:nvGraphicFramePr>
        <p:xfrm>
          <a:off x="703449" y="5511499"/>
          <a:ext cx="3000000" cy="3000000"/>
        </p:xfrm>
        <a:graphic>
          <a:graphicData uri="http://schemas.openxmlformats.org/drawingml/2006/table">
            <a:tbl>
              <a:tblPr>
                <a:noFill/>
                <a:tableStyleId>{4C0A8FE5-9777-497B-A676-DF5488A54864}</a:tableStyleId>
              </a:tblPr>
              <a:tblGrid>
                <a:gridCol w="5308450"/>
              </a:tblGrid>
              <a:tr h="4467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8105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Zetlin, Ltd. (Inggris)</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Meneliti sekitar 20 peluang hibah dan mengajukan aplikasi untuk empat di antaranya. Pekerjaan ini memerlukan koordinasi yang cermat karena setiap hibah memiliki tenggat, nilai pendanaan, dan relevansi strategis yang berbeda.</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212" name="Google Shape;2212;h65eb7c06466a6d01_2_448"/>
          <p:cNvGraphicFramePr/>
          <p:nvPr/>
        </p:nvGraphicFramePr>
        <p:xfrm>
          <a:off x="6103753" y="966606"/>
          <a:ext cx="3000000" cy="3000000"/>
        </p:xfrm>
        <a:graphic>
          <a:graphicData uri="http://schemas.openxmlformats.org/drawingml/2006/table">
            <a:tbl>
              <a:tblPr>
                <a:noFill/>
                <a:tableStyleId>{4C0A8FE5-9777-497B-A676-DF5488A54864}</a:tableStyleId>
              </a:tblPr>
              <a:tblGrid>
                <a:gridCol w="5346550"/>
              </a:tblGrid>
              <a:tr h="6039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Amazon (AS)</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Menyusun riset pelanggan untuk memetakan faktor churn dan retensi serta mengusulkan solusi untuk Amazon Alexa.</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F2F2F2"/>
                    </a:solidFill>
                  </a:tcPr>
                </a:tc>
              </a:tr>
              <a:tr h="7564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LHH (Inggris)</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Melakukan riset konsumen dan validasi produk untuk sistem web dan aplikasi mobilitas internal serta retensi karyawan. Memberikan rekomendasi untuk meningkatkan keterikatan pengguna melalui elemen gamifikasi.</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7564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Sanggabiz (Indonesia)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Sebagai Co-Founder dan CEO Sanggabiz, memimpin seluruh tim hingga mencapai nilai kontrak tahunan USD 214.000, mengelola lebih dari 70 karyawan, dan menangani bisnis secara menyeluruh untuk memberikan layanan berkualitas tinggi kepada klien.</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7564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Schoters (Indonesia)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Mengelola operasional dengan tingkat kepuasan siswa 99% dan Net Promoter Score yang terus meningkat. Waktu penanganan layanan berkurang 30% melalui pengelolaan 40 anggota tim dan sekitar 300 pengajar/tutor.</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10616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Payfazz (Indonesia)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Meningkatkan efisiensi operasional menyeluruh untuk lima produk aplikasi seluler dengan lebih dari 300.000 tiket per bulan, serta melibatkan lebih dari 90 staf di tiga kantor di Indonesia dan Singapura. Dipromosikan menjadi Product Manager pada divisi utama. Penggunaan aplikasi meningkat hingga 500% dibandingkan 2020 dan pengguna aktif bulanan naik 30% melalui pinjaman mikro pertama tanpa bunga dan peluncuran kredit otomotif.</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7564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eFishery (Indonesia)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Mendirikan “Kampung Digital” sebagai pusat teknologi dan pengetahuan bagi komunitas pembudidaya ikan tradisional. Menjalankan proyek percontohan Fishbiz, platform investasi P2P, yang meningkatkan pencairan dana sebesar 24%.</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7564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ConocoPhillips Indonesia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Mengelola anggaran pemeliharaan lapangan sebesar USD 100 juta untuk OPEX/CAPEX, menganalisis selisih realisasi terhadap anggaran, dan menjaga kepatuhan Financial Authority 100% dari Presiden BU Indonesia hingga tingkat Supervisor.</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298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Lebih dari 10 pengalaman kerja lainnya</a:t>
                      </a:r>
                      <a:endParaRPr sz="7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213" name="Google Shape;2213;h65eb7c06466a6d01_2_448"/>
          <p:cNvGraphicFramePr/>
          <p:nvPr/>
        </p:nvGraphicFramePr>
        <p:xfrm>
          <a:off x="715297" y="3396949"/>
          <a:ext cx="3000000" cy="3000000"/>
        </p:xfrm>
        <a:graphic>
          <a:graphicData uri="http://schemas.openxmlformats.org/drawingml/2006/table">
            <a:tbl>
              <a:tblPr>
                <a:noFill/>
                <a:tableStyleId>{4C0A8FE5-9777-497B-A676-DF5488A54864}</a:tableStyleId>
              </a:tblPr>
              <a:tblGrid>
                <a:gridCol w="5283050"/>
              </a:tblGrid>
              <a:tr h="643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Gerakan Ekonomi Kreatif Eropa dan Britania Raya – Head of Entrepreneurship Division. Mendukung podcast “Inside the UK Business” yang disaksikan ratusan peserta luring dan daring di Gekrafs.</a:t>
                      </a:r>
                      <a:endParaRPr sz="7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5E5E5"/>
                    </a:solidFill>
                  </a:tcPr>
                </a:tc>
              </a:tr>
              <a:tr h="643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Indosat Ooredoo Hutchison (IOH), Indonesia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Sebagai Project Manager, memastikan pelatihan dan playbook terlaksana dengan lancar.</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4777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One Click Life (OCL), Australia</a:t>
                      </a:r>
                      <a:endParaRPr sz="7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Memimpin proyek untuk memastikan seluruh operasional Tax Assistant kepada pengguna berjalan dengan baik.</a:t>
                      </a:r>
                      <a:endParaRPr sz="8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3121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Lebih dari 20 proyek lain di India, Inggris, Australia, Timor-Leste, dan Indonesia</a:t>
                      </a:r>
                      <a:endParaRPr sz="7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214" name="Google Shape;2214;h65eb7c06466a6d01_2_448"/>
          <p:cNvSpPr/>
          <p:nvPr/>
        </p:nvSpPr>
        <p:spPr>
          <a:xfrm>
            <a:off x="715297" y="969741"/>
            <a:ext cx="915135" cy="931846"/>
          </a:xfrm>
          <a:custGeom>
            <a:rect b="b" l="l" r="r" t="t"/>
            <a:pathLst>
              <a:path extrusionOk="0" h="1827149" w="1794383">
                <a:moveTo>
                  <a:pt x="0" y="0"/>
                </a:moveTo>
                <a:lnTo>
                  <a:pt x="1794383" y="0"/>
                </a:lnTo>
                <a:lnTo>
                  <a:pt x="1794383" y="1827149"/>
                </a:lnTo>
                <a:lnTo>
                  <a:pt x="0" y="1827149"/>
                </a:lnTo>
                <a:lnTo>
                  <a:pt x="0" y="0"/>
                </a:lnTo>
                <a:close/>
              </a:path>
            </a:pathLst>
          </a:custGeom>
          <a:blipFill rotWithShape="1">
            <a:blip r:embed="rId4">
              <a:alphaModFix/>
            </a:blip>
            <a:stretch>
              <a:fillRect b="-183945" l="-62259" r="-84320" t="-79453"/>
            </a:stretch>
          </a:blipFill>
          <a:ln>
            <a:noFill/>
          </a:ln>
        </p:spPr>
      </p:sp>
      <p:sp>
        <p:nvSpPr>
          <p:cNvPr id="2215" name="Google Shape;2215;h65eb7c06466a6d01_2_448"/>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Konsultan Kami</a:t>
            </a:r>
            <a:endParaRPr sz="900"/>
          </a:p>
        </p:txBody>
      </p:sp>
      <p:sp>
        <p:nvSpPr>
          <p:cNvPr id="2216" name="Google Shape;2216;h65eb7c06466a6d01_2_448"/>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5">
              <a:alphaModFix/>
            </a:blip>
            <a:stretch>
              <a:fillRect b="0" l="-2339" r="0" t="0"/>
            </a:stretch>
          </a:blipFill>
          <a:ln>
            <a:noFill/>
          </a:ln>
        </p:spPr>
      </p:sp>
      <p:sp>
        <p:nvSpPr>
          <p:cNvPr id="2217" name="Google Shape;2217;h65eb7c06466a6d01_2_448"/>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sp>
        <p:nvSpPr>
          <p:cNvPr id="2223" name="Google Shape;2223;h65eb7c06466a6d01_2_465"/>
          <p:cNvSpPr/>
          <p:nvPr/>
        </p:nvSpPr>
        <p:spPr>
          <a:xfrm>
            <a:off x="-1705927" y="-2347241"/>
            <a:ext cx="4876203" cy="4876203"/>
          </a:xfrm>
          <a:custGeom>
            <a:rect b="b" l="l" r="r" t="t"/>
            <a:pathLst>
              <a:path extrusionOk="0" h="7305173" w="7305173">
                <a:moveTo>
                  <a:pt x="0" y="0"/>
                </a:moveTo>
                <a:lnTo>
                  <a:pt x="7305173" y="0"/>
                </a:lnTo>
                <a:lnTo>
                  <a:pt x="7305173" y="7305174"/>
                </a:lnTo>
                <a:lnTo>
                  <a:pt x="0" y="7305174"/>
                </a:lnTo>
                <a:lnTo>
                  <a:pt x="0" y="0"/>
                </a:lnTo>
                <a:close/>
              </a:path>
            </a:pathLst>
          </a:custGeom>
          <a:blipFill rotWithShape="1">
            <a:blip r:embed="rId3">
              <a:alphaModFix amt="9000"/>
            </a:blip>
            <a:stretch>
              <a:fillRect b="0" l="0" r="0" t="0"/>
            </a:stretch>
          </a:blipFill>
          <a:ln>
            <a:noFill/>
          </a:ln>
        </p:spPr>
      </p:sp>
      <p:sp>
        <p:nvSpPr>
          <p:cNvPr id="2224" name="Google Shape;2224;h65eb7c06466a6d01_2_465"/>
          <p:cNvSpPr/>
          <p:nvPr/>
        </p:nvSpPr>
        <p:spPr>
          <a:xfrm>
            <a:off x="1691493" y="1026357"/>
            <a:ext cx="4315866" cy="937514"/>
          </a:xfrm>
          <a:custGeom>
            <a:rect b="b" l="l" r="r" t="t"/>
            <a:pathLst>
              <a:path extrusionOk="0" h="1875028" w="8631732">
                <a:moveTo>
                  <a:pt x="0" y="0"/>
                </a:moveTo>
                <a:lnTo>
                  <a:pt x="8631732" y="0"/>
                </a:lnTo>
                <a:lnTo>
                  <a:pt x="8631732" y="1875028"/>
                </a:lnTo>
                <a:lnTo>
                  <a:pt x="0" y="1875028"/>
                </a:lnTo>
                <a:close/>
              </a:path>
            </a:pathLst>
          </a:custGeom>
          <a:solidFill>
            <a:srgbClr val="0B3360"/>
          </a:solidFill>
          <a:ln>
            <a:noFill/>
          </a:ln>
        </p:spPr>
      </p:sp>
      <p:sp>
        <p:nvSpPr>
          <p:cNvPr id="2225" name="Google Shape;2225;h65eb7c06466a6d01_2_465"/>
          <p:cNvSpPr/>
          <p:nvPr/>
        </p:nvSpPr>
        <p:spPr>
          <a:xfrm>
            <a:off x="1691493" y="1021595"/>
            <a:ext cx="4315800" cy="9423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Strategi Penjualan serta Riset Konsumen &amp; Pasar</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Yoga Samsugiharja</a:t>
            </a:r>
            <a:endParaRPr sz="900"/>
          </a:p>
        </p:txBody>
      </p:sp>
      <p:sp>
        <p:nvSpPr>
          <p:cNvPr id="2226" name="Google Shape;2226;h65eb7c06466a6d01_2_465"/>
          <p:cNvSpPr/>
          <p:nvPr/>
        </p:nvSpPr>
        <p:spPr>
          <a:xfrm>
            <a:off x="736248" y="2013803"/>
            <a:ext cx="5283581" cy="1871626"/>
          </a:xfrm>
          <a:custGeom>
            <a:rect b="b" l="l" r="r" t="t"/>
            <a:pathLst>
              <a:path extrusionOk="0" h="3743252" w="10567162">
                <a:moveTo>
                  <a:pt x="0" y="0"/>
                </a:moveTo>
                <a:lnTo>
                  <a:pt x="10567162" y="0"/>
                </a:lnTo>
                <a:lnTo>
                  <a:pt x="10567162" y="3743252"/>
                </a:lnTo>
                <a:lnTo>
                  <a:pt x="0" y="3743252"/>
                </a:lnTo>
                <a:close/>
              </a:path>
            </a:pathLst>
          </a:custGeom>
          <a:solidFill>
            <a:srgbClr val="FFFFFF"/>
          </a:solidFill>
          <a:ln>
            <a:noFill/>
          </a:ln>
        </p:spPr>
      </p:sp>
      <p:sp>
        <p:nvSpPr>
          <p:cNvPr id="2227" name="Google Shape;2227;h65eb7c06466a6d01_2_465"/>
          <p:cNvSpPr/>
          <p:nvPr/>
        </p:nvSpPr>
        <p:spPr>
          <a:xfrm>
            <a:off x="731486" y="2008288"/>
            <a:ext cx="5293106" cy="1882657"/>
          </a:xfrm>
          <a:custGeom>
            <a:rect b="b" l="l" r="r" t="t"/>
            <a:pathLst>
              <a:path extrusionOk="0" h="3765314" w="10586212">
                <a:moveTo>
                  <a:pt x="9525" y="0"/>
                </a:moveTo>
                <a:lnTo>
                  <a:pt x="10576687" y="0"/>
                </a:lnTo>
                <a:cubicBezTo>
                  <a:pt x="10581894" y="0"/>
                  <a:pt x="10586212" y="5001"/>
                  <a:pt x="10586212" y="11031"/>
                </a:cubicBezTo>
                <a:lnTo>
                  <a:pt x="10586212" y="3754283"/>
                </a:lnTo>
                <a:cubicBezTo>
                  <a:pt x="10586212" y="3760313"/>
                  <a:pt x="10581894" y="3765314"/>
                  <a:pt x="10576687" y="3765314"/>
                </a:cubicBezTo>
                <a:lnTo>
                  <a:pt x="9525" y="3765314"/>
                </a:lnTo>
                <a:cubicBezTo>
                  <a:pt x="4318" y="3765314"/>
                  <a:pt x="0" y="3760313"/>
                  <a:pt x="0" y="3754283"/>
                </a:cubicBezTo>
                <a:lnTo>
                  <a:pt x="0" y="11031"/>
                </a:lnTo>
                <a:cubicBezTo>
                  <a:pt x="0" y="5001"/>
                  <a:pt x="4318" y="0"/>
                  <a:pt x="9525" y="0"/>
                </a:cubicBezTo>
                <a:moveTo>
                  <a:pt x="9525" y="22062"/>
                </a:moveTo>
                <a:lnTo>
                  <a:pt x="9525" y="11031"/>
                </a:lnTo>
                <a:lnTo>
                  <a:pt x="19050" y="11031"/>
                </a:lnTo>
                <a:lnTo>
                  <a:pt x="19050" y="3754283"/>
                </a:lnTo>
                <a:lnTo>
                  <a:pt x="9525" y="3754283"/>
                </a:lnTo>
                <a:lnTo>
                  <a:pt x="9525" y="3743252"/>
                </a:lnTo>
                <a:lnTo>
                  <a:pt x="10576687" y="3743252"/>
                </a:lnTo>
                <a:lnTo>
                  <a:pt x="10576687" y="3754283"/>
                </a:lnTo>
                <a:lnTo>
                  <a:pt x="10567162" y="3754283"/>
                </a:lnTo>
                <a:lnTo>
                  <a:pt x="10567162" y="11031"/>
                </a:lnTo>
                <a:lnTo>
                  <a:pt x="10576687" y="11031"/>
                </a:lnTo>
                <a:lnTo>
                  <a:pt x="10576687" y="22062"/>
                </a:lnTo>
                <a:lnTo>
                  <a:pt x="9525" y="22062"/>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28" name="Google Shape;2228;h65eb7c06466a6d01_2_465"/>
          <p:cNvSpPr/>
          <p:nvPr/>
        </p:nvSpPr>
        <p:spPr>
          <a:xfrm>
            <a:off x="731486" y="2003526"/>
            <a:ext cx="5293200" cy="18876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900">
                <a:solidFill>
                  <a:srgbClr val="025086"/>
                </a:solidFill>
                <a:latin typeface="Quattrocento"/>
                <a:ea typeface="Quattrocento"/>
                <a:cs typeface="Quattrocento"/>
                <a:sym typeface="Quattrocento"/>
              </a:rPr>
              <a:t>PENDIDIKAN</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S1 – Manajemen</a:t>
            </a:r>
            <a:endParaRPr sz="800"/>
          </a:p>
          <a:p>
            <a:pPr indent="0" lvl="0" marL="0" marR="0" rtl="0" algn="l">
              <a:lnSpc>
                <a:spcPct val="120000"/>
              </a:lnSpc>
              <a:spcBef>
                <a:spcPts val="0"/>
              </a:spcBef>
              <a:spcAft>
                <a:spcPts val="0"/>
              </a:spcAft>
              <a:buClr>
                <a:srgbClr val="000000"/>
              </a:buClr>
              <a:buSzPts val="1100"/>
              <a:buFont typeface="Quattrocento"/>
              <a:buNone/>
            </a:pPr>
            <a:r>
              <a:rPr lang="en-US" sz="900">
                <a:solidFill>
                  <a:srgbClr val="000000"/>
                </a:solidFill>
                <a:latin typeface="Quattrocento"/>
                <a:ea typeface="Quattrocento"/>
                <a:cs typeface="Quattrocento"/>
                <a:sym typeface="Quattrocento"/>
              </a:rPr>
              <a:t>Universitas Gadjah Mada, Yogyakarta (2004-2011)</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S2 – Manajemen</a:t>
            </a:r>
            <a:endParaRPr sz="800"/>
          </a:p>
          <a:p>
            <a:pPr indent="0" lvl="0" marL="0" marR="0" rtl="0" algn="l">
              <a:lnSpc>
                <a:spcPct val="120000"/>
              </a:lnSpc>
              <a:spcBef>
                <a:spcPts val="0"/>
              </a:spcBef>
              <a:spcAft>
                <a:spcPts val="0"/>
              </a:spcAft>
              <a:buClr>
                <a:srgbClr val="000000"/>
              </a:buClr>
              <a:buSzPts val="1100"/>
              <a:buFont typeface="Quattrocento"/>
              <a:buNone/>
            </a:pPr>
            <a:r>
              <a:rPr lang="en-US" sz="900">
                <a:solidFill>
                  <a:srgbClr val="000000"/>
                </a:solidFill>
                <a:latin typeface="Quattrocento"/>
                <a:ea typeface="Quattrocento"/>
                <a:cs typeface="Quattrocento"/>
                <a:sym typeface="Quattrocento"/>
              </a:rPr>
              <a:t>Universitas Negeri Yogyakarta (Kandidat)</a:t>
            </a:r>
            <a:endParaRPr sz="800"/>
          </a:p>
          <a:p>
            <a:pPr indent="0" lvl="0" marL="0" marR="0" rtl="0" algn="l">
              <a:lnSpc>
                <a:spcPct val="120000"/>
              </a:lnSpc>
              <a:spcBef>
                <a:spcPts val="0"/>
              </a:spcBef>
              <a:spcAft>
                <a:spcPts val="0"/>
              </a:spcAft>
              <a:buClr>
                <a:srgbClr val="025086"/>
              </a:buClr>
              <a:buSzPts val="1100"/>
              <a:buFont typeface="Quattrocento"/>
              <a:buNone/>
            </a:pPr>
            <a:r>
              <a:rPr b="1" lang="en-US" sz="900">
                <a:solidFill>
                  <a:srgbClr val="025086"/>
                </a:solidFill>
                <a:latin typeface="Quattrocento"/>
                <a:ea typeface="Quattrocento"/>
                <a:cs typeface="Quattrocento"/>
                <a:sym typeface="Quattrocento"/>
              </a:rPr>
              <a:t>PUBLIKASI</a:t>
            </a:r>
            <a:endParaRPr sz="800"/>
          </a:p>
          <a:p>
            <a:pPr indent="0" lvl="0" marL="0" marR="0" rtl="0" algn="l">
              <a:lnSpc>
                <a:spcPct val="120000"/>
              </a:lnSpc>
              <a:spcBef>
                <a:spcPts val="0"/>
              </a:spcBef>
              <a:spcAft>
                <a:spcPts val="0"/>
              </a:spcAft>
              <a:buClr>
                <a:srgbClr val="333333"/>
              </a:buClr>
              <a:buSzPts val="1100"/>
              <a:buFont typeface="Quattrocento"/>
              <a:buNone/>
            </a:pPr>
            <a:r>
              <a:rPr lang="en-US" sz="900">
                <a:solidFill>
                  <a:srgbClr val="333333"/>
                </a:solidFill>
                <a:latin typeface="Quattrocento"/>
                <a:ea typeface="Quattrocento"/>
                <a:cs typeface="Quattrocento"/>
                <a:sym typeface="Quattrocento"/>
              </a:rPr>
              <a:t>Yoga P. Samsugiharja. (2018). Kenapa kita harus bertanya kenapa? / Yoga P. Samsugiharja. Yogyakarta: Absolute Media.</a:t>
            </a:r>
            <a:endParaRPr sz="800"/>
          </a:p>
          <a:p>
            <a:pPr indent="0" lvl="0" marL="0" marR="0" rtl="0" algn="l">
              <a:lnSpc>
                <a:spcPct val="120000"/>
              </a:lnSpc>
              <a:spcBef>
                <a:spcPts val="0"/>
              </a:spcBef>
              <a:spcAft>
                <a:spcPts val="0"/>
              </a:spcAft>
              <a:buClr>
                <a:srgbClr val="025086"/>
              </a:buClr>
              <a:buSzPts val="1100"/>
              <a:buFont typeface="Quattrocento"/>
              <a:buNone/>
            </a:pPr>
            <a:r>
              <a:rPr b="1" lang="en-US" sz="900">
                <a:solidFill>
                  <a:srgbClr val="025086"/>
                </a:solidFill>
                <a:latin typeface="Quattrocento"/>
                <a:ea typeface="Quattrocento"/>
                <a:cs typeface="Quattrocento"/>
                <a:sym typeface="Quattrocento"/>
              </a:rPr>
              <a:t>SERTIFIKASI</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Green Belt Six Sigma, Sertifikasi Google Ads, Pemasaran Digital, Search Engine Optimisation (SEO), CS50 Pengantar Ilmu Komputer</a:t>
            </a:r>
            <a:endParaRPr sz="800"/>
          </a:p>
        </p:txBody>
      </p:sp>
      <p:graphicFrame>
        <p:nvGraphicFramePr>
          <p:cNvPr id="2229" name="Google Shape;2229;h65eb7c06466a6d01_2_465"/>
          <p:cNvGraphicFramePr/>
          <p:nvPr/>
        </p:nvGraphicFramePr>
        <p:xfrm>
          <a:off x="724153" y="3919609"/>
          <a:ext cx="3000000" cy="3000000"/>
        </p:xfrm>
        <a:graphic>
          <a:graphicData uri="http://schemas.openxmlformats.org/drawingml/2006/table">
            <a:tbl>
              <a:tblPr>
                <a:noFill/>
                <a:tableStyleId>{4C0A8FE5-9777-497B-A676-DF5488A54864}</a:tableStyleId>
              </a:tblPr>
              <a:tblGrid>
                <a:gridCol w="5283050"/>
              </a:tblGrid>
              <a:tr h="3649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Proyek dan Pencapaian Sebelumnya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2462975">
                <a:tc>
                  <a:txBody>
                    <a:bodyPr/>
                    <a:lstStyle/>
                    <a:p>
                      <a:pPr indent="-107950" lvl="1" marL="2032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RishRight UK, Ltd. (Inggris)</a:t>
                      </a:r>
                      <a:endParaRPr sz="800" u="none" cap="none" strike="noStrike"/>
                    </a:p>
                    <a:p>
                      <a:pPr indent="-101600" lvl="1" marL="2032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Mendukung strategi pemasaran 360 dan merumuskan strategi iklan Meta yang meningkatkan penjualan sebesar 128%.</a:t>
                      </a:r>
                      <a:endParaRPr sz="900"/>
                    </a:p>
                    <a:p>
                      <a:pPr indent="-107950" lvl="1" marL="2032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Indosat Ooredoo Hutchison</a:t>
                      </a:r>
                      <a:endParaRPr sz="900"/>
                    </a:p>
                    <a:p>
                      <a:pPr indent="-101600" lvl="1" marL="2032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Mengembangkan prinsip pelatihan dan engagement untuk layanan pelanggan di seluruh merek dan platform media digital IOH.</a:t>
                      </a:r>
                      <a:endParaRPr sz="900"/>
                    </a:p>
                    <a:p>
                      <a:pPr indent="-107950" lvl="1" marL="2032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Yayasan Kesehatan Pertamina</a:t>
                      </a:r>
                      <a:endParaRPr sz="900"/>
                    </a:p>
                    <a:p>
                      <a:pPr indent="-101600" lvl="1" marL="2032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Membantu menyusun laporan tahunan hanya dalam waktu dua minggu.</a:t>
                      </a:r>
                      <a:endParaRPr sz="900"/>
                    </a:p>
                    <a:p>
                      <a:pPr indent="-107950" lvl="1" marL="2032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Cambridge Muslim Society</a:t>
                      </a:r>
                      <a:endParaRPr sz="900"/>
                    </a:p>
                    <a:p>
                      <a:pPr indent="-101600" lvl="1" marL="2032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konten media sosial dan strategi engagement untuk acara Ramadan Tent Project di Cambridge.</a:t>
                      </a:r>
                      <a:endParaRPr sz="900"/>
                    </a:p>
                    <a:p>
                      <a:pPr indent="-107950" lvl="1" marL="2032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YEC (Yureka Education Center), Yogyakarta</a:t>
                      </a:r>
                      <a:endParaRPr sz="900"/>
                    </a:p>
                    <a:p>
                      <a:pPr indent="-101600" lvl="1" marL="2032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strategi penjualan dan pemasaran 360 untuk kanal daring dan luring.</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230" name="Google Shape;2230;h65eb7c06466a6d01_2_465"/>
          <p:cNvGraphicFramePr/>
          <p:nvPr/>
        </p:nvGraphicFramePr>
        <p:xfrm>
          <a:off x="6142546" y="2066931"/>
          <a:ext cx="3000000" cy="3000000"/>
        </p:xfrm>
        <a:graphic>
          <a:graphicData uri="http://schemas.openxmlformats.org/drawingml/2006/table">
            <a:tbl>
              <a:tblPr>
                <a:noFill/>
                <a:tableStyleId>{4C0A8FE5-9777-497B-A676-DF5488A54864}</a:tableStyleId>
              </a:tblPr>
              <a:tblGrid>
                <a:gridCol w="5156075"/>
              </a:tblGrid>
              <a:tr h="445100">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4279300">
                <a:tc>
                  <a:txBody>
                    <a:bodyPr/>
                    <a:lstStyle/>
                    <a:p>
                      <a:pPr indent="-69850" lvl="1" marL="1397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CEO Freesa, Ltd. (Inggris)</a:t>
                      </a:r>
                      <a:endParaRPr sz="800" u="none" cap="none" strike="noStrike"/>
                    </a:p>
                    <a:p>
                      <a:pPr indent="-76200" lvl="1" marL="1397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Mendukung proses otorisasi perjalanan bagi orang yang bepergian ke Uni Eropa, Inggris, dan negara lain.</a:t>
                      </a:r>
                      <a:endParaRPr sz="900"/>
                    </a:p>
                    <a:p>
                      <a:pPr indent="-69850" lvl="1" marL="1397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Regional Marketing Manager Gojek (GoTo), Indonesia</a:t>
                      </a:r>
                      <a:endParaRPr sz="900"/>
                    </a:p>
                    <a:p>
                      <a:pPr indent="-76200" lvl="1" marL="1397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Mengembangkan promosi yang memperoleh 500 ribu pengguna baru GoFood di kota Tier 2, meningkatkan GMV UMKM 12%, dan menjalankan strategi media hiperlokal dengan anggaran iklan USD 1 juta di 16 kota. Sebagai Senior Customer Engagement Manager, meningkatkan transaksi 23% dibandingkan kelompok kontrol melalui segmentasi berbasis machine learning.</a:t>
                      </a:r>
                      <a:endParaRPr sz="900"/>
                    </a:p>
                    <a:p>
                      <a:pPr indent="-69850" lvl="1" marL="1397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Regional Marketing Manager, AirAsia, Asia Tenggara</a:t>
                      </a:r>
                      <a:endParaRPr sz="900"/>
                    </a:p>
                    <a:p>
                      <a:pPr indent="-76200" lvl="1" marL="1397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kampanye “Buy Domestic, Get International Flight” yang meningkatkan penjualan kursi dan pencarian penerbangan 24%. Mengelola anggaran iklan USD 30 juta pada Meta, Google, premium placement, dan programmatic ads. Menginisiasi program “Hot Boarding Pass” dengan 20 mitra dan 5.000 penukaran.</a:t>
                      </a:r>
                      <a:endParaRPr sz="900"/>
                    </a:p>
                    <a:p>
                      <a:pPr indent="-69850" lvl="1" marL="139700" marR="0" rtl="0" algn="l">
                        <a:lnSpc>
                          <a:spcPct val="120000"/>
                        </a:lnSpc>
                        <a:spcBef>
                          <a:spcPts val="0"/>
                        </a:spcBef>
                        <a:spcAft>
                          <a:spcPts val="0"/>
                        </a:spcAft>
                        <a:buClr>
                          <a:srgbClr val="000000"/>
                        </a:buClr>
                        <a:buSzPts val="1100"/>
                        <a:buFont typeface="Arial"/>
                        <a:buChar char="•"/>
                      </a:pPr>
                      <a:r>
                        <a:rPr b="1" lang="en-US" sz="1100" u="none" cap="none" strike="noStrike">
                          <a:solidFill>
                            <a:srgbClr val="000000"/>
                          </a:solidFill>
                          <a:latin typeface="Quattrocento"/>
                          <a:ea typeface="Quattrocento"/>
                          <a:cs typeface="Quattrocento"/>
                          <a:sym typeface="Quattrocento"/>
                        </a:rPr>
                        <a:t>Media Planner, Mindshare, Indonesia</a:t>
                      </a:r>
                      <a:endParaRPr sz="900"/>
                    </a:p>
                    <a:p>
                      <a:pPr indent="-76200" lvl="1" marL="13970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perencanaan dan strategi media Indofood untuk merek Indomie, serta mengoptimalkan efektivitas kampanye sebagai Strategic Planner di Havas Indonesia. Menginisiasi kampanye Sunsilk “Click the Car” dengan 100 ribu peserta dan mengelola lebih dari 100 juta impresi untuk BP Castrol dan Unilever. Mengawasi anggaran media USD 10 juta dengan fokus pada strategi digital inovatif dan televisi yang berdampak.</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231" name="Google Shape;2231;h65eb7c06466a6d01_2_465"/>
          <p:cNvSpPr/>
          <p:nvPr/>
        </p:nvSpPr>
        <p:spPr>
          <a:xfrm rot="-113469">
            <a:off x="729158" y="1039357"/>
            <a:ext cx="931227" cy="936824"/>
          </a:xfrm>
          <a:custGeom>
            <a:rect b="b" l="l" r="r" t="t"/>
            <a:pathLst>
              <a:path extrusionOk="0" h="1766630" w="1756076">
                <a:moveTo>
                  <a:pt x="56735" y="0"/>
                </a:moveTo>
                <a:lnTo>
                  <a:pt x="1756076" y="56373"/>
                </a:lnTo>
                <a:lnTo>
                  <a:pt x="1699341" y="1766630"/>
                </a:lnTo>
                <a:lnTo>
                  <a:pt x="0" y="1710257"/>
                </a:lnTo>
                <a:lnTo>
                  <a:pt x="56735" y="0"/>
                </a:lnTo>
                <a:close/>
              </a:path>
            </a:pathLst>
          </a:custGeom>
          <a:blipFill rotWithShape="1">
            <a:blip r:embed="rId4">
              <a:alphaModFix/>
            </a:blip>
            <a:stretch>
              <a:fillRect b="-23320" l="-869" r="0" t="0"/>
            </a:stretch>
          </a:blipFill>
          <a:ln>
            <a:noFill/>
          </a:ln>
        </p:spPr>
      </p:sp>
      <p:sp>
        <p:nvSpPr>
          <p:cNvPr id="2232" name="Google Shape;2232;h65eb7c06466a6d01_2_465"/>
          <p:cNvSpPr/>
          <p:nvPr/>
        </p:nvSpPr>
        <p:spPr>
          <a:xfrm>
            <a:off x="6141137" y="1071957"/>
            <a:ext cx="5174107" cy="600329"/>
          </a:xfrm>
          <a:custGeom>
            <a:rect b="b" l="l" r="r" t="t"/>
            <a:pathLst>
              <a:path extrusionOk="0" h="1200658" w="10348214">
                <a:moveTo>
                  <a:pt x="0" y="0"/>
                </a:moveTo>
                <a:lnTo>
                  <a:pt x="10348214" y="0"/>
                </a:lnTo>
                <a:lnTo>
                  <a:pt x="10348214" y="1200658"/>
                </a:lnTo>
                <a:lnTo>
                  <a:pt x="0" y="1200658"/>
                </a:lnTo>
                <a:close/>
              </a:path>
            </a:pathLst>
          </a:custGeom>
          <a:solidFill>
            <a:srgbClr val="FFFFFF"/>
          </a:solidFill>
          <a:ln>
            <a:noFill/>
          </a:ln>
        </p:spPr>
      </p:sp>
      <p:sp>
        <p:nvSpPr>
          <p:cNvPr id="2233" name="Google Shape;2233;h65eb7c06466a6d01_2_465"/>
          <p:cNvSpPr/>
          <p:nvPr/>
        </p:nvSpPr>
        <p:spPr>
          <a:xfrm>
            <a:off x="6136375" y="1067195"/>
            <a:ext cx="5183632" cy="609854"/>
          </a:xfrm>
          <a:custGeom>
            <a:rect b="b" l="l" r="r" t="t"/>
            <a:pathLst>
              <a:path extrusionOk="0" h="1219708" w="10367264">
                <a:moveTo>
                  <a:pt x="9525" y="0"/>
                </a:moveTo>
                <a:lnTo>
                  <a:pt x="10357739" y="0"/>
                </a:lnTo>
                <a:cubicBezTo>
                  <a:pt x="10362946" y="0"/>
                  <a:pt x="10367264" y="4318"/>
                  <a:pt x="10367264" y="9525"/>
                </a:cubicBezTo>
                <a:lnTo>
                  <a:pt x="10367264" y="1210183"/>
                </a:lnTo>
                <a:cubicBezTo>
                  <a:pt x="10367264" y="1215390"/>
                  <a:pt x="10362946" y="1219708"/>
                  <a:pt x="10357739" y="1219708"/>
                </a:cubicBezTo>
                <a:lnTo>
                  <a:pt x="9525" y="1219708"/>
                </a:lnTo>
                <a:cubicBezTo>
                  <a:pt x="4318" y="1219708"/>
                  <a:pt x="0" y="1215390"/>
                  <a:pt x="0" y="1210183"/>
                </a:cubicBezTo>
                <a:lnTo>
                  <a:pt x="0" y="9525"/>
                </a:lnTo>
                <a:cubicBezTo>
                  <a:pt x="0" y="4318"/>
                  <a:pt x="4318" y="0"/>
                  <a:pt x="9525" y="0"/>
                </a:cubicBezTo>
                <a:moveTo>
                  <a:pt x="9525" y="19050"/>
                </a:moveTo>
                <a:lnTo>
                  <a:pt x="9525" y="9525"/>
                </a:lnTo>
                <a:lnTo>
                  <a:pt x="19050" y="9525"/>
                </a:lnTo>
                <a:lnTo>
                  <a:pt x="19050" y="1210183"/>
                </a:lnTo>
                <a:lnTo>
                  <a:pt x="9525" y="1210183"/>
                </a:lnTo>
                <a:lnTo>
                  <a:pt x="9525" y="1200658"/>
                </a:lnTo>
                <a:lnTo>
                  <a:pt x="10357739" y="1200658"/>
                </a:lnTo>
                <a:lnTo>
                  <a:pt x="10357739" y="1210183"/>
                </a:lnTo>
                <a:lnTo>
                  <a:pt x="10348214" y="1210183"/>
                </a:lnTo>
                <a:lnTo>
                  <a:pt x="10348214" y="9525"/>
                </a:lnTo>
                <a:lnTo>
                  <a:pt x="10357739" y="9525"/>
                </a:lnTo>
                <a:lnTo>
                  <a:pt x="10357739" y="19050"/>
                </a:lnTo>
                <a:lnTo>
                  <a:pt x="9525" y="19050"/>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34" name="Google Shape;2234;h65eb7c06466a6d01_2_465"/>
          <p:cNvSpPr/>
          <p:nvPr/>
        </p:nvSpPr>
        <p:spPr>
          <a:xfrm>
            <a:off x="6136375" y="1062433"/>
            <a:ext cx="5183400" cy="614400"/>
          </a:xfrm>
          <a:prstGeom prst="rect">
            <a:avLst/>
          </a:prstGeom>
          <a:noFill/>
          <a:ln>
            <a:noFill/>
          </a:ln>
        </p:spPr>
        <p:txBody>
          <a:bodyPr anchorCtr="0" anchor="t" bIns="33875" lIns="33875" spcFirstLastPara="1" rIns="33875" wrap="square" tIns="33875">
            <a:noAutofit/>
          </a:bodyPr>
          <a:lstStyle/>
          <a:p>
            <a:pPr indent="-107950" lvl="1" marL="2032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Sanggabiz</a:t>
            </a:r>
            <a:endParaRPr sz="900"/>
          </a:p>
          <a:p>
            <a:pPr indent="-101600" lvl="1" marL="203200" marR="0" rtl="0" algn="l">
              <a:lnSpc>
                <a:spcPct val="120000"/>
              </a:lnSpc>
              <a:spcBef>
                <a:spcPts val="0"/>
              </a:spcBef>
              <a:spcAft>
                <a:spcPts val="0"/>
              </a:spcAft>
              <a:buClr>
                <a:srgbClr val="000000"/>
              </a:buClr>
              <a:buSzPts val="1100"/>
              <a:buFont typeface="Quattrocento"/>
              <a:buNone/>
            </a:pPr>
            <a:r>
              <a:rPr b="0" i="0" lang="en-US" sz="1100" u="none" cap="none" strike="noStrike">
                <a:solidFill>
                  <a:srgbClr val="000000"/>
                </a:solidFill>
                <a:latin typeface="Quattrocento"/>
                <a:ea typeface="Quattrocento"/>
                <a:cs typeface="Quattrocento"/>
                <a:sym typeface="Quattrocento"/>
              </a:rPr>
              <a:t>Menjalankan strategi pemasaran menyeluruh yang meningkatkan penjualan 250% dan menghasilkan prospek dengan Cost per Lead USD 1,5 di Sanggabiz.</a:t>
            </a:r>
            <a:endParaRPr sz="900"/>
          </a:p>
        </p:txBody>
      </p:sp>
      <p:sp>
        <p:nvSpPr>
          <p:cNvPr id="2235" name="Google Shape;2235;h65eb7c06466a6d01_2_465"/>
          <p:cNvSpPr/>
          <p:nvPr/>
        </p:nvSpPr>
        <p:spPr>
          <a:xfrm>
            <a:off x="6141136" y="1672515"/>
            <a:ext cx="5174107" cy="261620"/>
          </a:xfrm>
          <a:custGeom>
            <a:rect b="b" l="l" r="r" t="t"/>
            <a:pathLst>
              <a:path extrusionOk="0" h="523240" w="10348214">
                <a:moveTo>
                  <a:pt x="0" y="0"/>
                </a:moveTo>
                <a:lnTo>
                  <a:pt x="10348214" y="0"/>
                </a:lnTo>
                <a:lnTo>
                  <a:pt x="10348214" y="523240"/>
                </a:lnTo>
                <a:lnTo>
                  <a:pt x="0" y="523240"/>
                </a:lnTo>
                <a:close/>
              </a:path>
            </a:pathLst>
          </a:custGeom>
          <a:solidFill>
            <a:srgbClr val="FFFFFF"/>
          </a:solidFill>
          <a:ln>
            <a:noFill/>
          </a:ln>
        </p:spPr>
      </p:sp>
      <p:sp>
        <p:nvSpPr>
          <p:cNvPr id="2236" name="Google Shape;2236;h65eb7c06466a6d01_2_465"/>
          <p:cNvSpPr/>
          <p:nvPr/>
        </p:nvSpPr>
        <p:spPr>
          <a:xfrm>
            <a:off x="6136374" y="1667753"/>
            <a:ext cx="5183632" cy="271145"/>
          </a:xfrm>
          <a:custGeom>
            <a:rect b="b" l="l" r="r" t="t"/>
            <a:pathLst>
              <a:path extrusionOk="0" h="542290" w="10367264">
                <a:moveTo>
                  <a:pt x="9525" y="0"/>
                </a:moveTo>
                <a:lnTo>
                  <a:pt x="10357739" y="0"/>
                </a:lnTo>
                <a:cubicBezTo>
                  <a:pt x="10362946" y="0"/>
                  <a:pt x="10367264" y="4318"/>
                  <a:pt x="10367264" y="9525"/>
                </a:cubicBezTo>
                <a:lnTo>
                  <a:pt x="10367264" y="532765"/>
                </a:lnTo>
                <a:cubicBezTo>
                  <a:pt x="10367264" y="537972"/>
                  <a:pt x="10362946" y="542290"/>
                  <a:pt x="10357739" y="542290"/>
                </a:cubicBezTo>
                <a:lnTo>
                  <a:pt x="9525" y="542290"/>
                </a:lnTo>
                <a:cubicBezTo>
                  <a:pt x="4318" y="542290"/>
                  <a:pt x="0" y="537972"/>
                  <a:pt x="0" y="532765"/>
                </a:cubicBezTo>
                <a:lnTo>
                  <a:pt x="0" y="9525"/>
                </a:lnTo>
                <a:cubicBezTo>
                  <a:pt x="0" y="4318"/>
                  <a:pt x="4318" y="0"/>
                  <a:pt x="9525" y="0"/>
                </a:cubicBezTo>
                <a:moveTo>
                  <a:pt x="9525" y="19050"/>
                </a:moveTo>
                <a:lnTo>
                  <a:pt x="9525" y="9525"/>
                </a:lnTo>
                <a:lnTo>
                  <a:pt x="19050" y="9525"/>
                </a:lnTo>
                <a:lnTo>
                  <a:pt x="19050" y="532765"/>
                </a:lnTo>
                <a:lnTo>
                  <a:pt x="9525" y="532765"/>
                </a:lnTo>
                <a:lnTo>
                  <a:pt x="9525" y="523240"/>
                </a:lnTo>
                <a:lnTo>
                  <a:pt x="10357739" y="523240"/>
                </a:lnTo>
                <a:lnTo>
                  <a:pt x="10357739" y="532765"/>
                </a:lnTo>
                <a:lnTo>
                  <a:pt x="10348214" y="532765"/>
                </a:lnTo>
                <a:lnTo>
                  <a:pt x="10348214" y="9525"/>
                </a:lnTo>
                <a:lnTo>
                  <a:pt x="10357739" y="9525"/>
                </a:lnTo>
                <a:lnTo>
                  <a:pt x="10357739" y="19050"/>
                </a:lnTo>
                <a:lnTo>
                  <a:pt x="9525" y="19050"/>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37" name="Google Shape;2237;h65eb7c06466a6d01_2_465"/>
          <p:cNvSpPr/>
          <p:nvPr/>
        </p:nvSpPr>
        <p:spPr>
          <a:xfrm>
            <a:off x="6136374" y="1662991"/>
            <a:ext cx="5183400" cy="2760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Lebih dari 20 proyek lainnya di Inggris dan Indonesia</a:t>
            </a:r>
            <a:endParaRPr sz="900"/>
          </a:p>
        </p:txBody>
      </p:sp>
      <p:sp>
        <p:nvSpPr>
          <p:cNvPr id="2238" name="Google Shape;2238;h65eb7c06466a6d01_2_465"/>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FFFFFF"/>
              </a:buClr>
              <a:buSzPts val="3200"/>
              <a:buFont typeface="Arial"/>
              <a:buNone/>
            </a:pPr>
            <a:r>
              <a:rPr b="1" lang="en-US" sz="3200">
                <a:solidFill>
                  <a:srgbClr val="FFFFFF"/>
                </a:solidFill>
                <a:latin typeface="Arial"/>
                <a:ea typeface="Arial"/>
                <a:cs typeface="Arial"/>
                <a:sym typeface="Arial"/>
              </a:rPr>
              <a:t>Konsultan Kami</a:t>
            </a:r>
            <a:endParaRPr sz="900"/>
          </a:p>
        </p:txBody>
      </p:sp>
      <p:sp>
        <p:nvSpPr>
          <p:cNvPr id="2239" name="Google Shape;2239;h65eb7c06466a6d01_2_465"/>
          <p:cNvSpPr/>
          <p:nvPr/>
        </p:nvSpPr>
        <p:spPr>
          <a:xfrm rot="1547762">
            <a:off x="7544506" y="1767386"/>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5">
              <a:alphaModFix amt="5000"/>
            </a:blip>
            <a:stretch>
              <a:fillRect b="0" l="0" r="-364404" t="0"/>
            </a:stretch>
          </a:blipFill>
          <a:ln>
            <a:noFill/>
          </a:ln>
        </p:spPr>
      </p:sp>
      <p:sp>
        <p:nvSpPr>
          <p:cNvPr id="2240" name="Google Shape;2240;h65eb7c06466a6d01_2_465"/>
          <p:cNvSpPr/>
          <p:nvPr/>
        </p:nvSpPr>
        <p:spPr>
          <a:xfrm>
            <a:off x="9422114" y="4185585"/>
            <a:ext cx="4876203" cy="4876203"/>
          </a:xfrm>
          <a:custGeom>
            <a:rect b="b" l="l" r="r" t="t"/>
            <a:pathLst>
              <a:path extrusionOk="0" h="7305173" w="7305173">
                <a:moveTo>
                  <a:pt x="0" y="0"/>
                </a:moveTo>
                <a:lnTo>
                  <a:pt x="7305173" y="0"/>
                </a:lnTo>
                <a:lnTo>
                  <a:pt x="7305173" y="7305173"/>
                </a:lnTo>
                <a:lnTo>
                  <a:pt x="0" y="7305173"/>
                </a:lnTo>
                <a:lnTo>
                  <a:pt x="0" y="0"/>
                </a:lnTo>
                <a:close/>
              </a:path>
            </a:pathLst>
          </a:custGeom>
          <a:blipFill rotWithShape="1">
            <a:blip r:embed="rId3">
              <a:alphaModFix amt="9000"/>
            </a:blip>
            <a:stretch>
              <a:fillRect b="0" l="0" r="0" t="0"/>
            </a:stretch>
          </a:blipFill>
          <a:ln>
            <a:noFill/>
          </a:ln>
        </p:spPr>
      </p:sp>
      <p:sp>
        <p:nvSpPr>
          <p:cNvPr id="2241" name="Google Shape;2241;h65eb7c06466a6d01_2_465"/>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6">
              <a:alphaModFix/>
            </a:blip>
            <a:stretch>
              <a:fillRect b="0" l="-2339" r="0" t="0"/>
            </a:stretch>
          </a:blipFill>
          <a:ln>
            <a:noFill/>
          </a:ln>
        </p:spPr>
      </p:sp>
      <p:sp>
        <p:nvSpPr>
          <p:cNvPr id="2242" name="Google Shape;2242;h65eb7c06466a6d01_2_465"/>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7" name="Shape 2247"/>
        <p:cNvGrpSpPr/>
        <p:nvPr/>
      </p:nvGrpSpPr>
      <p:grpSpPr>
        <a:xfrm>
          <a:off x="0" y="0"/>
          <a:ext cx="0" cy="0"/>
          <a:chOff x="0" y="0"/>
          <a:chExt cx="0" cy="0"/>
        </a:xfrm>
      </p:grpSpPr>
      <p:sp>
        <p:nvSpPr>
          <p:cNvPr id="2248" name="Google Shape;2248;h65eb7c06466a6d01_2_489"/>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249" name="Google Shape;2249;h65eb7c06466a6d01_2_489"/>
          <p:cNvSpPr/>
          <p:nvPr/>
        </p:nvSpPr>
        <p:spPr>
          <a:xfrm>
            <a:off x="1590265" y="1124099"/>
            <a:ext cx="4340890" cy="944372"/>
          </a:xfrm>
          <a:custGeom>
            <a:rect b="b" l="l" r="r" t="t"/>
            <a:pathLst>
              <a:path extrusionOk="0" h="1888744" w="8681780">
                <a:moveTo>
                  <a:pt x="0" y="0"/>
                </a:moveTo>
                <a:lnTo>
                  <a:pt x="8681780" y="0"/>
                </a:lnTo>
                <a:lnTo>
                  <a:pt x="8681780" y="1888744"/>
                </a:lnTo>
                <a:lnTo>
                  <a:pt x="0" y="1888744"/>
                </a:lnTo>
                <a:close/>
              </a:path>
            </a:pathLst>
          </a:custGeom>
          <a:solidFill>
            <a:srgbClr val="0B3360"/>
          </a:solidFill>
          <a:ln>
            <a:noFill/>
          </a:ln>
        </p:spPr>
      </p:sp>
      <p:sp>
        <p:nvSpPr>
          <p:cNvPr id="2250" name="Google Shape;2250;h65eb7c06466a6d01_2_489"/>
          <p:cNvSpPr/>
          <p:nvPr/>
        </p:nvSpPr>
        <p:spPr>
          <a:xfrm>
            <a:off x="1590265" y="1119337"/>
            <a:ext cx="4340700" cy="949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Keuangan/Akuntansi/Pajak</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Priyo Pamungkas</a:t>
            </a:r>
            <a:endParaRPr sz="900"/>
          </a:p>
        </p:txBody>
      </p:sp>
      <p:sp>
        <p:nvSpPr>
          <p:cNvPr id="2251" name="Google Shape;2251;h65eb7c06466a6d01_2_489"/>
          <p:cNvSpPr/>
          <p:nvPr/>
        </p:nvSpPr>
        <p:spPr>
          <a:xfrm>
            <a:off x="648640" y="2147113"/>
            <a:ext cx="5283581" cy="938975"/>
          </a:xfrm>
          <a:custGeom>
            <a:rect b="b" l="l" r="r" t="t"/>
            <a:pathLst>
              <a:path extrusionOk="0" h="1877949" w="10567162">
                <a:moveTo>
                  <a:pt x="0" y="0"/>
                </a:moveTo>
                <a:lnTo>
                  <a:pt x="10567162" y="0"/>
                </a:lnTo>
                <a:lnTo>
                  <a:pt x="10567162" y="1877949"/>
                </a:lnTo>
                <a:lnTo>
                  <a:pt x="0" y="1877949"/>
                </a:lnTo>
                <a:close/>
              </a:path>
            </a:pathLst>
          </a:custGeom>
          <a:solidFill>
            <a:srgbClr val="FFFFFF"/>
          </a:solidFill>
          <a:ln>
            <a:noFill/>
          </a:ln>
        </p:spPr>
      </p:sp>
      <p:sp>
        <p:nvSpPr>
          <p:cNvPr id="2252" name="Google Shape;2252;h65eb7c06466a6d01_2_489"/>
          <p:cNvSpPr/>
          <p:nvPr/>
        </p:nvSpPr>
        <p:spPr>
          <a:xfrm>
            <a:off x="643878" y="2142351"/>
            <a:ext cx="5293106" cy="948500"/>
          </a:xfrm>
          <a:custGeom>
            <a:rect b="b" l="l" r="r" t="t"/>
            <a:pathLst>
              <a:path extrusionOk="0" h="1896999" w="10586212">
                <a:moveTo>
                  <a:pt x="9525" y="0"/>
                </a:moveTo>
                <a:lnTo>
                  <a:pt x="10576687" y="0"/>
                </a:lnTo>
                <a:cubicBezTo>
                  <a:pt x="10581894" y="0"/>
                  <a:pt x="10586212" y="4318"/>
                  <a:pt x="10586212" y="9525"/>
                </a:cubicBezTo>
                <a:lnTo>
                  <a:pt x="10586212" y="1887474"/>
                </a:lnTo>
                <a:cubicBezTo>
                  <a:pt x="10586212" y="1892681"/>
                  <a:pt x="10581894" y="1896999"/>
                  <a:pt x="10576687" y="1896999"/>
                </a:cubicBezTo>
                <a:lnTo>
                  <a:pt x="9525" y="1896999"/>
                </a:lnTo>
                <a:cubicBezTo>
                  <a:pt x="4318" y="1896999"/>
                  <a:pt x="0" y="1892681"/>
                  <a:pt x="0" y="1887474"/>
                </a:cubicBezTo>
                <a:lnTo>
                  <a:pt x="0" y="9525"/>
                </a:lnTo>
                <a:cubicBezTo>
                  <a:pt x="0" y="4318"/>
                  <a:pt x="4318" y="0"/>
                  <a:pt x="9525" y="0"/>
                </a:cubicBezTo>
                <a:moveTo>
                  <a:pt x="9525" y="19050"/>
                </a:moveTo>
                <a:lnTo>
                  <a:pt x="9525" y="9525"/>
                </a:lnTo>
                <a:lnTo>
                  <a:pt x="19050" y="9525"/>
                </a:lnTo>
                <a:lnTo>
                  <a:pt x="19050" y="1887474"/>
                </a:lnTo>
                <a:lnTo>
                  <a:pt x="9525" y="1887474"/>
                </a:lnTo>
                <a:lnTo>
                  <a:pt x="9525" y="1877949"/>
                </a:lnTo>
                <a:lnTo>
                  <a:pt x="10576687" y="1877949"/>
                </a:lnTo>
                <a:lnTo>
                  <a:pt x="10576687" y="1887474"/>
                </a:lnTo>
                <a:lnTo>
                  <a:pt x="10567162" y="1887474"/>
                </a:lnTo>
                <a:lnTo>
                  <a:pt x="10567162" y="9525"/>
                </a:lnTo>
                <a:lnTo>
                  <a:pt x="10576687" y="9525"/>
                </a:lnTo>
                <a:lnTo>
                  <a:pt x="10576687" y="19050"/>
                </a:lnTo>
                <a:lnTo>
                  <a:pt x="9525" y="19050"/>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53" name="Google Shape;2253;h65eb7c06466a6d01_2_489"/>
          <p:cNvSpPr/>
          <p:nvPr/>
        </p:nvSpPr>
        <p:spPr>
          <a:xfrm>
            <a:off x="643878" y="2137589"/>
            <a:ext cx="5293200" cy="9531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S2 – Tata Kelola dan Akuntabilitas Perusahaan</a:t>
            </a:r>
            <a:endParaRPr sz="900"/>
          </a:p>
          <a:p>
            <a:pPr indent="0" lvl="0" marL="0" marR="0" rtl="0" algn="l">
              <a:lnSpc>
                <a:spcPct val="120000"/>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University of Glasgow, Inggris (2022-2023)</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S1 – Akuntansi</a:t>
            </a:r>
            <a:endParaRPr sz="900"/>
          </a:p>
          <a:p>
            <a:pPr indent="0" lvl="0" marL="0" marR="0" rtl="0" algn="l">
              <a:lnSpc>
                <a:spcPct val="120000"/>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Universitas Gadjah Mada, Yogyakarta (2005-2009)</a:t>
            </a:r>
            <a:endParaRPr sz="900"/>
          </a:p>
        </p:txBody>
      </p:sp>
      <p:graphicFrame>
        <p:nvGraphicFramePr>
          <p:cNvPr id="2254" name="Google Shape;2254;h65eb7c06466a6d01_2_489"/>
          <p:cNvGraphicFramePr/>
          <p:nvPr/>
        </p:nvGraphicFramePr>
        <p:xfrm>
          <a:off x="6048236" y="1124099"/>
          <a:ext cx="3000000" cy="3000000"/>
        </p:xfrm>
        <a:graphic>
          <a:graphicData uri="http://schemas.openxmlformats.org/drawingml/2006/table">
            <a:tbl>
              <a:tblPr>
                <a:noFill/>
                <a:tableStyleId>{4C0A8FE5-9777-497B-A676-DF5488A54864}</a:tableStyleId>
              </a:tblPr>
              <a:tblGrid>
                <a:gridCol w="5156075"/>
              </a:tblGrid>
              <a:tr h="4106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92875">
                <a:tc>
                  <a:txBody>
                    <a:bodyPr/>
                    <a:lstStyle/>
                    <a:p>
                      <a:pPr indent="0" lvl="0" marL="0" marR="0" rtl="0" algn="l">
                        <a:lnSpc>
                          <a:spcPct val="120000"/>
                        </a:lnSpc>
                        <a:spcBef>
                          <a:spcPts val="0"/>
                        </a:spcBef>
                        <a:spcAft>
                          <a:spcPts val="0"/>
                        </a:spcAft>
                        <a:buClr>
                          <a:srgbClr val="000000"/>
                        </a:buClr>
                        <a:buSzPts val="1100"/>
                        <a:buFont typeface="Quattrocento"/>
                        <a:buNone/>
                      </a:pPr>
                      <a:r>
                        <a:rPr lang="en-US" sz="900" u="none" cap="none" strike="noStrike">
                          <a:solidFill>
                            <a:srgbClr val="000000"/>
                          </a:solidFill>
                          <a:latin typeface="Quattrocento"/>
                          <a:ea typeface="Quattrocento"/>
                          <a:cs typeface="Quattrocento"/>
                          <a:sym typeface="Quattrocento"/>
                        </a:rPr>
                        <a:t>Mengoordinasikan dan memantau urusan keuangan sebagai perwakilan fungsi keuangan PT Pertamina EP Cepu. Membantu akuntansi Production Sharing Contract (PSC) untuk menjaga kepatuhan dan akurasi laporan keuangan di PT Posco Intl ENP Indonesia sebagai Finance Specialist.</a:t>
                      </a:r>
                      <a:endParaRPr sz="7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141075">
                <a:tc>
                  <a:txBody>
                    <a:bodyPr/>
                    <a:lstStyle/>
                    <a:p>
                      <a:pPr indent="0" lvl="0" marL="0" marR="0" rtl="0" algn="l">
                        <a:lnSpc>
                          <a:spcPct val="152636"/>
                        </a:lnSpc>
                        <a:spcBef>
                          <a:spcPts val="0"/>
                        </a:spcBef>
                        <a:spcAft>
                          <a:spcPts val="0"/>
                        </a:spcAft>
                        <a:buClr>
                          <a:schemeClr val="dk1"/>
                        </a:buClr>
                        <a:buSzPts val="800"/>
                        <a:buFont typeface="Calibri"/>
                        <a:buNone/>
                      </a:pPr>
                      <a:r>
                        <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graphicFrame>
        <p:nvGraphicFramePr>
          <p:cNvPr id="2255" name="Google Shape;2255;h65eb7c06466a6d01_2_489"/>
          <p:cNvGraphicFramePr/>
          <p:nvPr/>
        </p:nvGraphicFramePr>
        <p:xfrm>
          <a:off x="6054528" y="2265926"/>
          <a:ext cx="3000000" cy="3000000"/>
        </p:xfrm>
        <a:graphic>
          <a:graphicData uri="http://schemas.openxmlformats.org/drawingml/2006/table">
            <a:tbl>
              <a:tblPr>
                <a:noFill/>
                <a:tableStyleId>{4C0A8FE5-9777-497B-A676-DF5488A54864}</a:tableStyleId>
              </a:tblPr>
              <a:tblGrid>
                <a:gridCol w="5156075"/>
              </a:tblGrid>
              <a:tr h="807700">
                <a:tc>
                  <a:txBody>
                    <a:bodyPr/>
                    <a:lstStyle/>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proyek M&amp;A perusahaan melalui pengelolaan due diligence, penyusunan prospektus, dan menjadi kontak utama. Mengawasi fungsi keuangan, akuntansi, penganggaran, dan pajak harian serta memberikan konsultasi keuangan strategis kepada manajemen Schoters sebagai Finance and Accounting Manager.</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5E5E5"/>
                    </a:solidFill>
                  </a:tcPr>
                </a:tc>
              </a:tr>
              <a:tr h="807700">
                <a:tc>
                  <a:txBody>
                    <a:bodyPr/>
                    <a:lstStyle/>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pelaporan keuangan Region 1 dengan fokus pada wilayah kerja Ogan Komering dan Raja/Pendopo. Menjaga akurasi buku besar dan melakukan analisis mendalam laporan keuangan bulanan di Pertamina Hulu Rokan sebagai Financial Reporting Officer.</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826800">
                <a:tc>
                  <a:txBody>
                    <a:bodyPr/>
                    <a:lstStyle/>
                    <a:p>
                      <a:pPr indent="0" lvl="0" marL="0" marR="0" rtl="0" algn="l">
                        <a:lnSpc>
                          <a:spcPct val="120000"/>
                        </a:lnSpc>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Menangani akuntansi harian aset tetap dan material, termasuk belanja operasional dan modal. Melaksanakan stock opname serta audit persediaan untuk memastikan kepatuhan dan akurasi di Pertamina Hulu Energi sebagai Fixed Asset &amp; Material Analyst.</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1062775">
                <a:tc>
                  <a:txBody>
                    <a:bodyPr/>
                    <a:lstStyle/>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akuntansi aset tetap untuk unit bisnis di Indonesia sesuai standar US GAAP dan PSC. Menyiapkan laporan aset tetap, menangani hak atas pendapatan minyak dan gas wilayah kerja South Jambi B, serta mengonsolidasikan laporan keuangan di ConocoPhillips Indonesia Inc. sebagai Fixed Asset Analyst &amp; Corporate Reporting.</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FFFFFF"/>
                      </a:solidFill>
                      <a:prstDash val="solid"/>
                      <a:round/>
                      <a:headEnd len="sm" w="sm" type="none"/>
                      <a:tailEnd len="sm" w="sm" type="none"/>
                    </a:lnB>
                    <a:solidFill>
                      <a:srgbClr val="CACFD8"/>
                    </a:solidFill>
                  </a:tcPr>
                </a:tc>
              </a:tr>
              <a:tr h="551275">
                <a:tc>
                  <a:txBody>
                    <a:bodyPr/>
                    <a:lstStyle/>
                    <a:p>
                      <a:pPr indent="0" lvl="0" marL="0" marR="0" rtl="0" algn="l">
                        <a:lnSpc>
                          <a:spcPct val="152636"/>
                        </a:lnSpc>
                        <a:spcBef>
                          <a:spcPts val="0"/>
                        </a:spcBef>
                        <a:spcAft>
                          <a:spcPts val="0"/>
                        </a:spcAft>
                        <a:buClr>
                          <a:schemeClr val="dk1"/>
                        </a:buClr>
                        <a:buSzPts val="800"/>
                        <a:buFont typeface="Calibri"/>
                        <a:buNone/>
                      </a:pPr>
                      <a:r>
                        <a:t/>
                      </a:r>
                      <a:endParaRPr sz="800" u="none" cap="none" strike="noStrike"/>
                    </a:p>
                  </a:txBody>
                  <a:tcPr marT="61000" marB="61000" marR="61000" marL="610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graphicFrame>
        <p:nvGraphicFramePr>
          <p:cNvPr id="2256" name="Google Shape;2256;h65eb7c06466a6d01_2_489"/>
          <p:cNvGraphicFramePr/>
          <p:nvPr/>
        </p:nvGraphicFramePr>
        <p:xfrm>
          <a:off x="647989" y="3163936"/>
          <a:ext cx="3000000" cy="3000000"/>
        </p:xfrm>
        <a:graphic>
          <a:graphicData uri="http://schemas.openxmlformats.org/drawingml/2006/table">
            <a:tbl>
              <a:tblPr>
                <a:noFill/>
                <a:tableStyleId>{4C0A8FE5-9777-497B-A676-DF5488A54864}</a:tableStyleId>
              </a:tblPr>
              <a:tblGrid>
                <a:gridCol w="5283050"/>
              </a:tblGrid>
              <a:tr h="3119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Pencapaian</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2017875">
                <a:tc>
                  <a:txBody>
                    <a:bodyPr/>
                    <a:lstStyle/>
                    <a:p>
                      <a:pPr indent="-107950" lvl="1" marL="2032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Penerima LPDP 2021</a:t>
                      </a:r>
                      <a:endParaRPr sz="800" u="none" cap="none" strike="noStrike"/>
                    </a:p>
                    <a:p>
                      <a:pPr indent="-107950" lvl="1" marL="2032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Terlibat dalam proses M&amp;A Schoters oleh Ruangguru.</a:t>
                      </a:r>
                      <a:endParaRPr sz="900"/>
                    </a:p>
                    <a:p>
                      <a:pPr indent="-107950" lvl="1" marL="2032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Mendukung implementasi proyek SAP “PHE ONE”, khususnya modul AM dan PS.</a:t>
                      </a:r>
                      <a:endParaRPr sz="900"/>
                    </a:p>
                    <a:p>
                      <a:pPr indent="-107950" lvl="1" marL="2032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Menginisiasi pendekatan baru pencadangan persediaan yang mencegah kerugian USD 20 juta akibat material usang.</a:t>
                      </a:r>
                      <a:endParaRPr sz="900"/>
                    </a:p>
                    <a:p>
                      <a:pPr indent="-107950" lvl="1" marL="2032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Melakukan rekonsiliasi pada pembukuan PSC untuk menyelesaikan masalah jangka panjang dan mengurangi dampak biaya sebesar USD 10 juta.</a:t>
                      </a:r>
                      <a:endParaRPr sz="900"/>
                    </a:p>
                    <a:p>
                      <a:pPr indent="-107950" lvl="1" marL="2032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Meningkatkan tingkat keberhasilan cost recovery menjadi 97,13% dan menghemat USD 12,3 juta melalui pendekatan baru pada proses AFE Closed Out.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2682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Lebih dari 20 proyek lainnya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257" name="Google Shape;2257;h65eb7c06466a6d01_2_489"/>
          <p:cNvSpPr/>
          <p:nvPr/>
        </p:nvSpPr>
        <p:spPr>
          <a:xfrm>
            <a:off x="420592" y="1124891"/>
            <a:ext cx="1438549" cy="943888"/>
          </a:xfrm>
          <a:custGeom>
            <a:rect b="b" l="l" r="r" t="t"/>
            <a:pathLst>
              <a:path extrusionOk="0" h="1780921" w="2714244">
                <a:moveTo>
                  <a:pt x="0" y="0"/>
                </a:moveTo>
                <a:lnTo>
                  <a:pt x="2714244" y="0"/>
                </a:lnTo>
                <a:lnTo>
                  <a:pt x="2714244" y="1780921"/>
                </a:lnTo>
                <a:lnTo>
                  <a:pt x="0" y="1780921"/>
                </a:lnTo>
                <a:lnTo>
                  <a:pt x="0" y="0"/>
                </a:lnTo>
                <a:close/>
              </a:path>
            </a:pathLst>
          </a:custGeom>
          <a:blipFill rotWithShape="1">
            <a:blip r:embed="rId4">
              <a:alphaModFix/>
            </a:blip>
            <a:stretch>
              <a:fillRect b="-7341" l="-8880" r="-4430" t="-8460"/>
            </a:stretch>
          </a:blipFill>
          <a:ln>
            <a:noFill/>
          </a:ln>
        </p:spPr>
      </p:sp>
      <p:sp>
        <p:nvSpPr>
          <p:cNvPr id="2258" name="Google Shape;2258;h65eb7c06466a6d01_2_489"/>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304000"/>
              </a:lnSpc>
              <a:spcBef>
                <a:spcPts val="0"/>
              </a:spcBef>
              <a:spcAft>
                <a:spcPts val="0"/>
              </a:spcAft>
              <a:buClr>
                <a:srgbClr val="0B3360"/>
              </a:buClr>
              <a:buSzPts val="1200"/>
              <a:buFont typeface="Arial"/>
              <a:buNone/>
            </a:pPr>
            <a:r>
              <a:t/>
            </a:r>
            <a:endParaRPr sz="1200"/>
          </a:p>
        </p:txBody>
      </p:sp>
      <p:sp>
        <p:nvSpPr>
          <p:cNvPr id="2259" name="Google Shape;2259;h65eb7c06466a6d01_2_489"/>
          <p:cNvSpPr/>
          <p:nvPr/>
        </p:nvSpPr>
        <p:spPr>
          <a:xfrm>
            <a:off x="9422114" y="4185585"/>
            <a:ext cx="4876203" cy="4876203"/>
          </a:xfrm>
          <a:custGeom>
            <a:rect b="b" l="l" r="r" t="t"/>
            <a:pathLst>
              <a:path extrusionOk="0" h="7305173" w="7305173">
                <a:moveTo>
                  <a:pt x="0" y="0"/>
                </a:moveTo>
                <a:lnTo>
                  <a:pt x="7305173" y="0"/>
                </a:lnTo>
                <a:lnTo>
                  <a:pt x="7305173" y="7305173"/>
                </a:lnTo>
                <a:lnTo>
                  <a:pt x="0" y="7305173"/>
                </a:lnTo>
                <a:lnTo>
                  <a:pt x="0" y="0"/>
                </a:lnTo>
                <a:close/>
              </a:path>
            </a:pathLst>
          </a:custGeom>
          <a:blipFill rotWithShape="1">
            <a:blip r:embed="rId3">
              <a:alphaModFix amt="9000"/>
            </a:blip>
            <a:stretch>
              <a:fillRect b="0" l="0" r="0" t="0"/>
            </a:stretch>
          </a:blipFill>
          <a:ln>
            <a:noFill/>
          </a:ln>
        </p:spPr>
      </p:sp>
      <p:sp>
        <p:nvSpPr>
          <p:cNvPr id="2260" name="Google Shape;2260;h65eb7c06466a6d01_2_489"/>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261" name="Google Shape;2261;h65eb7c06466a6d01_2_489"/>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262" name="Google Shape;2262;h65eb7c06466a6d01_2_489"/>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5">
              <a:alphaModFix/>
            </a:blip>
            <a:stretch>
              <a:fillRect b="0" l="-2339" r="0" t="0"/>
            </a:stretch>
          </a:blipFill>
          <a:ln>
            <a:noFill/>
          </a:ln>
        </p:spPr>
      </p:sp>
      <p:sp>
        <p:nvSpPr>
          <p:cNvPr id="2263" name="Google Shape;2263;h65eb7c06466a6d01_2_489"/>
          <p:cNvSpPr/>
          <p:nvPr/>
        </p:nvSpPr>
        <p:spPr>
          <a:xfrm>
            <a:off x="1682705" y="254000"/>
            <a:ext cx="3555900" cy="406500"/>
          </a:xfrm>
          <a:prstGeom prst="rect">
            <a:avLst/>
          </a:prstGeom>
          <a:noFill/>
          <a:ln>
            <a:noFill/>
          </a:ln>
        </p:spPr>
        <p:txBody>
          <a:bodyPr anchorCtr="0" anchor="ctr" bIns="30475" lIns="60975" spcFirstLastPara="1" rIns="60975" wrap="square" tIns="30475">
            <a:noAutofit/>
          </a:bodyPr>
          <a:lstStyle/>
          <a:p>
            <a:pPr indent="0" lvl="0" marL="0" marR="0" rtl="0" algn="l">
              <a:spcBef>
                <a:spcPts val="0"/>
              </a:spcBef>
              <a:spcAft>
                <a:spcPts val="0"/>
              </a:spcAft>
              <a:buNone/>
            </a:pPr>
            <a:r>
              <a:rPr b="1" lang="en-US" sz="2300">
                <a:solidFill>
                  <a:srgbClr val="0D3D6E"/>
                </a:solidFill>
                <a:latin typeface="Arial"/>
                <a:ea typeface="Arial"/>
                <a:cs typeface="Arial"/>
                <a:sym typeface="Arial"/>
              </a:rPr>
              <a:t>Konsultan Kami</a:t>
            </a:r>
            <a:endParaRPr sz="9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sp>
        <p:nvSpPr>
          <p:cNvPr id="2269" name="Google Shape;2269;h65eb7c06466a6d01_2_509"/>
          <p:cNvSpPr/>
          <p:nvPr/>
        </p:nvSpPr>
        <p:spPr>
          <a:xfrm>
            <a:off x="-1647614" y="-22249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270" name="Google Shape;2270;h65eb7c06466a6d01_2_509"/>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271" name="Google Shape;2271;h65eb7c06466a6d01_2_509"/>
          <p:cNvSpPr/>
          <p:nvPr/>
        </p:nvSpPr>
        <p:spPr>
          <a:xfrm rot="1547762">
            <a:off x="7501222" y="1889589"/>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4">
              <a:alphaModFix amt="5000"/>
            </a:blip>
            <a:stretch>
              <a:fillRect b="0" l="0" r="-364404" t="0"/>
            </a:stretch>
          </a:blipFill>
          <a:ln>
            <a:noFill/>
          </a:ln>
        </p:spPr>
      </p:sp>
      <p:sp>
        <p:nvSpPr>
          <p:cNvPr id="2272" name="Google Shape;2272;h65eb7c06466a6d01_2_509"/>
          <p:cNvSpPr/>
          <p:nvPr/>
        </p:nvSpPr>
        <p:spPr>
          <a:xfrm>
            <a:off x="9422114" y="4185585"/>
            <a:ext cx="4876203" cy="4876203"/>
          </a:xfrm>
          <a:custGeom>
            <a:rect b="b" l="l" r="r" t="t"/>
            <a:pathLst>
              <a:path extrusionOk="0" h="7305173" w="7305173">
                <a:moveTo>
                  <a:pt x="0" y="0"/>
                </a:moveTo>
                <a:lnTo>
                  <a:pt x="7305173" y="0"/>
                </a:lnTo>
                <a:lnTo>
                  <a:pt x="7305173" y="7305173"/>
                </a:lnTo>
                <a:lnTo>
                  <a:pt x="0" y="7305173"/>
                </a:lnTo>
                <a:lnTo>
                  <a:pt x="0" y="0"/>
                </a:lnTo>
                <a:close/>
              </a:path>
            </a:pathLst>
          </a:custGeom>
          <a:blipFill rotWithShape="1">
            <a:blip r:embed="rId3">
              <a:alphaModFix amt="9000"/>
            </a:blip>
            <a:stretch>
              <a:fillRect b="0" l="0" r="0" t="0"/>
            </a:stretch>
          </a:blipFill>
          <a:ln>
            <a:noFill/>
          </a:ln>
        </p:spPr>
      </p:sp>
      <p:sp>
        <p:nvSpPr>
          <p:cNvPr id="2273" name="Google Shape;2273;h65eb7c06466a6d01_2_509"/>
          <p:cNvSpPr/>
          <p:nvPr/>
        </p:nvSpPr>
        <p:spPr>
          <a:xfrm>
            <a:off x="1630899" y="1114432"/>
            <a:ext cx="4406646" cy="944499"/>
          </a:xfrm>
          <a:custGeom>
            <a:rect b="b" l="l" r="r" t="t"/>
            <a:pathLst>
              <a:path extrusionOk="0" h="1888998" w="8813292">
                <a:moveTo>
                  <a:pt x="0" y="0"/>
                </a:moveTo>
                <a:lnTo>
                  <a:pt x="8813292" y="0"/>
                </a:lnTo>
                <a:lnTo>
                  <a:pt x="8813292" y="1888998"/>
                </a:lnTo>
                <a:lnTo>
                  <a:pt x="0" y="1888998"/>
                </a:lnTo>
                <a:close/>
              </a:path>
            </a:pathLst>
          </a:custGeom>
          <a:solidFill>
            <a:srgbClr val="0B3360"/>
          </a:solidFill>
          <a:ln>
            <a:noFill/>
          </a:ln>
        </p:spPr>
      </p:sp>
      <p:sp>
        <p:nvSpPr>
          <p:cNvPr id="2274" name="Google Shape;2274;h65eb7c06466a6d01_2_509"/>
          <p:cNvSpPr/>
          <p:nvPr/>
        </p:nvSpPr>
        <p:spPr>
          <a:xfrm>
            <a:off x="1630899" y="1109670"/>
            <a:ext cx="4406700" cy="949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Keunggulan Bisnis, Operasional, dan ESG</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Thontowi Ahmad Suhada</a:t>
            </a:r>
            <a:endParaRPr sz="900"/>
          </a:p>
        </p:txBody>
      </p:sp>
      <p:sp>
        <p:nvSpPr>
          <p:cNvPr id="2275" name="Google Shape;2275;h65eb7c06466a6d01_2_509"/>
          <p:cNvSpPr/>
          <p:nvPr/>
        </p:nvSpPr>
        <p:spPr>
          <a:xfrm>
            <a:off x="736336" y="2151199"/>
            <a:ext cx="5283581" cy="1951747"/>
          </a:xfrm>
          <a:custGeom>
            <a:rect b="b" l="l" r="r" t="t"/>
            <a:pathLst>
              <a:path extrusionOk="0" h="3903493" w="10567162">
                <a:moveTo>
                  <a:pt x="0" y="0"/>
                </a:moveTo>
                <a:lnTo>
                  <a:pt x="10567162" y="0"/>
                </a:lnTo>
                <a:lnTo>
                  <a:pt x="10567162" y="3903493"/>
                </a:lnTo>
                <a:lnTo>
                  <a:pt x="0" y="3903493"/>
                </a:lnTo>
                <a:close/>
              </a:path>
            </a:pathLst>
          </a:custGeom>
          <a:solidFill>
            <a:srgbClr val="FFFFFF"/>
          </a:solidFill>
          <a:ln>
            <a:noFill/>
          </a:ln>
        </p:spPr>
      </p:sp>
      <p:sp>
        <p:nvSpPr>
          <p:cNvPr id="2276" name="Google Shape;2276;h65eb7c06466a6d01_2_509"/>
          <p:cNvSpPr/>
          <p:nvPr/>
        </p:nvSpPr>
        <p:spPr>
          <a:xfrm>
            <a:off x="729986" y="2141497"/>
            <a:ext cx="5296281" cy="1971137"/>
          </a:xfrm>
          <a:custGeom>
            <a:rect b="b" l="l" r="r" t="t"/>
            <a:pathLst>
              <a:path extrusionOk="0" h="3942274" w="10592562">
                <a:moveTo>
                  <a:pt x="12700" y="0"/>
                </a:moveTo>
                <a:lnTo>
                  <a:pt x="10579862" y="0"/>
                </a:lnTo>
                <a:cubicBezTo>
                  <a:pt x="10586847" y="0"/>
                  <a:pt x="10592562" y="8733"/>
                  <a:pt x="10592562" y="19406"/>
                </a:cubicBezTo>
                <a:lnTo>
                  <a:pt x="10592562" y="3922899"/>
                </a:lnTo>
                <a:cubicBezTo>
                  <a:pt x="10592562" y="3933572"/>
                  <a:pt x="10586847" y="3942274"/>
                  <a:pt x="10579862" y="3942274"/>
                </a:cubicBezTo>
                <a:lnTo>
                  <a:pt x="12700" y="3942274"/>
                </a:lnTo>
                <a:cubicBezTo>
                  <a:pt x="5715" y="3942274"/>
                  <a:pt x="0" y="3933572"/>
                  <a:pt x="0" y="3922899"/>
                </a:cubicBezTo>
                <a:lnTo>
                  <a:pt x="0" y="19406"/>
                </a:lnTo>
                <a:cubicBezTo>
                  <a:pt x="0" y="8733"/>
                  <a:pt x="5715" y="0"/>
                  <a:pt x="12700" y="0"/>
                </a:cubicBezTo>
                <a:moveTo>
                  <a:pt x="12700" y="38812"/>
                </a:moveTo>
                <a:lnTo>
                  <a:pt x="12700" y="19406"/>
                </a:lnTo>
                <a:lnTo>
                  <a:pt x="25400" y="19406"/>
                </a:lnTo>
                <a:lnTo>
                  <a:pt x="25400" y="3922899"/>
                </a:lnTo>
                <a:lnTo>
                  <a:pt x="12700" y="3922899"/>
                </a:lnTo>
                <a:lnTo>
                  <a:pt x="12700" y="3903493"/>
                </a:lnTo>
                <a:lnTo>
                  <a:pt x="10579862" y="3903493"/>
                </a:lnTo>
                <a:lnTo>
                  <a:pt x="10579862" y="3922899"/>
                </a:lnTo>
                <a:lnTo>
                  <a:pt x="10567162" y="3922899"/>
                </a:lnTo>
                <a:lnTo>
                  <a:pt x="10567162" y="19406"/>
                </a:lnTo>
                <a:lnTo>
                  <a:pt x="10579862" y="19406"/>
                </a:lnTo>
                <a:lnTo>
                  <a:pt x="10579862" y="38812"/>
                </a:lnTo>
                <a:lnTo>
                  <a:pt x="12700" y="38812"/>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77" name="Google Shape;2277;h65eb7c06466a6d01_2_509"/>
          <p:cNvSpPr/>
          <p:nvPr/>
        </p:nvSpPr>
        <p:spPr>
          <a:xfrm>
            <a:off x="729986" y="2136735"/>
            <a:ext cx="5296200" cy="1976100"/>
          </a:xfrm>
          <a:prstGeom prst="rect">
            <a:avLst/>
          </a:prstGeom>
          <a:noFill/>
          <a:ln>
            <a:noFill/>
          </a:ln>
        </p:spPr>
        <p:txBody>
          <a:bodyPr anchorCtr="0" anchor="t" bIns="33875" lIns="33875" spcFirstLastPara="1" rIns="33875" wrap="square" tIns="33875">
            <a:noAutofit/>
          </a:bodyPr>
          <a:lstStyle/>
          <a:p>
            <a:pPr indent="0" lvl="0" marL="0" marR="0" rtl="0" algn="l">
              <a:lnSpc>
                <a:spcPct val="120012"/>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12"/>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S2 – Master of Business (Sustainability Studies)</a:t>
            </a:r>
            <a:endParaRPr sz="900"/>
          </a:p>
          <a:p>
            <a:pPr indent="0" lvl="0" marL="0" marR="0" rtl="0" algn="l">
              <a:lnSpc>
                <a:spcPct val="120012"/>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The University of Queensland, Australia</a:t>
            </a:r>
            <a:endParaRPr sz="900"/>
          </a:p>
          <a:p>
            <a:pPr indent="0" lvl="0" marL="0" marR="0" rtl="0" algn="l">
              <a:lnSpc>
                <a:spcPct val="120012"/>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S1 – Bachelor of Commerce</a:t>
            </a:r>
            <a:endParaRPr sz="900"/>
          </a:p>
          <a:p>
            <a:pPr indent="0" lvl="0" marL="0" marR="0" rtl="0" algn="l">
              <a:lnSpc>
                <a:spcPct val="120012"/>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Universitas Gadjah Mada (UGM), Indonesia</a:t>
            </a:r>
            <a:endParaRPr sz="900"/>
          </a:p>
          <a:p>
            <a:pPr indent="0" lvl="0" marL="0" marR="0" rtl="0" algn="l">
              <a:lnSpc>
                <a:spcPct val="120012"/>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PUBLIKASI</a:t>
            </a:r>
            <a:endParaRPr sz="900"/>
          </a:p>
          <a:p>
            <a:pPr indent="-120650" lvl="1" marL="241300" marR="0" rtl="0" algn="l">
              <a:lnSpc>
                <a:spcPct val="120012"/>
              </a:lnSpc>
              <a:spcBef>
                <a:spcPts val="0"/>
              </a:spcBef>
              <a:spcAft>
                <a:spcPts val="0"/>
              </a:spcAft>
              <a:buClr>
                <a:srgbClr val="000000"/>
              </a:buClr>
              <a:buSzPts val="1100"/>
              <a:buFont typeface="Arial"/>
              <a:buChar char="•"/>
            </a:pPr>
            <a:r>
              <a:rPr b="0" i="0" lang="en-US" sz="1100" u="none" cap="none" strike="noStrike">
                <a:solidFill>
                  <a:srgbClr val="000000"/>
                </a:solidFill>
                <a:latin typeface="Quattrocento"/>
                <a:ea typeface="Quattrocento"/>
                <a:cs typeface="Quattrocento"/>
                <a:sym typeface="Quattrocento"/>
              </a:rPr>
              <a:t>Motivating Individuals in Open Innovation Goals</a:t>
            </a:r>
            <a:endParaRPr sz="900"/>
          </a:p>
          <a:p>
            <a:pPr indent="-120650" lvl="1" marL="241300" marR="0" rtl="0" algn="l">
              <a:lnSpc>
                <a:spcPct val="120012"/>
              </a:lnSpc>
              <a:spcBef>
                <a:spcPts val="0"/>
              </a:spcBef>
              <a:spcAft>
                <a:spcPts val="0"/>
              </a:spcAft>
              <a:buClr>
                <a:srgbClr val="000000"/>
              </a:buClr>
              <a:buSzPts val="1100"/>
              <a:buFont typeface="Arial"/>
              <a:buChar char="•"/>
            </a:pPr>
            <a:r>
              <a:rPr b="0" i="0" lang="en-US" sz="1100" u="none" cap="none" strike="noStrike">
                <a:solidFill>
                  <a:srgbClr val="000000"/>
                </a:solidFill>
                <a:latin typeface="Quattrocento"/>
                <a:ea typeface="Quattrocento"/>
                <a:cs typeface="Quattrocento"/>
                <a:sym typeface="Quattrocento"/>
              </a:rPr>
              <a:t>Humanitarian Logistics during Merapi Volcanic Eruption</a:t>
            </a:r>
            <a:endParaRPr sz="900"/>
          </a:p>
          <a:p>
            <a:pPr indent="-120650" lvl="1" marL="241300" marR="0" rtl="0" algn="l">
              <a:lnSpc>
                <a:spcPct val="120012"/>
              </a:lnSpc>
              <a:spcBef>
                <a:spcPts val="0"/>
              </a:spcBef>
              <a:spcAft>
                <a:spcPts val="0"/>
              </a:spcAft>
              <a:buClr>
                <a:srgbClr val="000000"/>
              </a:buClr>
              <a:buSzPts val="1100"/>
              <a:buFont typeface="Arial"/>
              <a:buChar char="•"/>
            </a:pPr>
            <a:r>
              <a:rPr b="0" i="0" lang="en-US" sz="1100" u="none" cap="none" strike="noStrike">
                <a:solidFill>
                  <a:srgbClr val="000000"/>
                </a:solidFill>
                <a:latin typeface="Quattrocento"/>
                <a:ea typeface="Quattrocento"/>
                <a:cs typeface="Quattrocento"/>
                <a:sym typeface="Quattrocento"/>
              </a:rPr>
              <a:t>MER-C Case Study on Merapi 2010</a:t>
            </a:r>
            <a:endParaRPr sz="900"/>
          </a:p>
          <a:p>
            <a:pPr indent="0" lvl="0" marL="0" marR="0" rtl="0" algn="l">
              <a:lnSpc>
                <a:spcPct val="120012"/>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SERTIFIKASI &amp; PENGHARGAAN</a:t>
            </a:r>
            <a:endParaRPr sz="900"/>
          </a:p>
          <a:p>
            <a:pPr indent="0" lvl="0" marL="0" marR="0" rtl="0" algn="l">
              <a:lnSpc>
                <a:spcPct val="120012"/>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Open Water Diver, Dean’s Commendation for Academic Excellence, Australia Awards Scholarship, Pemenang Best Interpretation – Tourism Movie Competition</a:t>
            </a:r>
            <a:endParaRPr sz="900"/>
          </a:p>
        </p:txBody>
      </p:sp>
      <p:graphicFrame>
        <p:nvGraphicFramePr>
          <p:cNvPr id="2278" name="Google Shape;2278;h65eb7c06466a6d01_2_509"/>
          <p:cNvGraphicFramePr/>
          <p:nvPr/>
        </p:nvGraphicFramePr>
        <p:xfrm>
          <a:off x="736527" y="4265005"/>
          <a:ext cx="3000000" cy="3000000"/>
        </p:xfrm>
        <a:graphic>
          <a:graphicData uri="http://schemas.openxmlformats.org/drawingml/2006/table">
            <a:tbl>
              <a:tblPr>
                <a:noFill/>
                <a:tableStyleId>{4C0A8FE5-9777-497B-A676-DF5488A54864}</a:tableStyleId>
              </a:tblPr>
              <a:tblGrid>
                <a:gridCol w="5283050"/>
              </a:tblGrid>
              <a:tr h="407575">
                <a:tc>
                  <a:txBody>
                    <a:bodyPr/>
                    <a:lstStyle/>
                    <a:p>
                      <a:pPr indent="0" lvl="0" marL="0" marR="0" rtl="0" algn="l">
                        <a:lnSpc>
                          <a:spcPct val="120007"/>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800200">
                <a:tc>
                  <a:txBody>
                    <a:bodyPr/>
                    <a:lstStyle/>
                    <a:p>
                      <a:pPr indent="0" lvl="0" marL="0" marR="0" rtl="0" algn="l">
                        <a:lnSpc>
                          <a:spcPct val="120012"/>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University of Toronto Press – Data Lead</a:t>
                      </a:r>
                      <a:endParaRPr sz="800" u="none" cap="none" strike="noStrike"/>
                    </a:p>
                    <a:p>
                      <a:pPr indent="0" lvl="0" marL="0" marR="0" rtl="0" algn="l">
                        <a:lnSpc>
                          <a:spcPct val="120012"/>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Toronto, Kanada | Agu 2021 – Sekarang</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Memimpin migrasi data dan implementasi ERP dari Win-Prism ke Oracle NetSuite di berbagai departemen.</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Menjadi subject matter expert (SME) untuk pelaporan data, permintaan informasi persediaan, dan dashboard kinerja.</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Mengoordinasikan integrasi LMS antara University of Toronto dan vendor sehingga konsistensi serta akses data meningkat bagi lebih dari 10.000 pembelajar.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Mengembangkan SOP standar dan panduan penggunaan ERP di seluruh organisasi sehingga waktu onboarding berkurang sekitar 30%.</a:t>
                      </a:r>
                      <a:endParaRPr sz="900"/>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279" name="Google Shape;2279;h65eb7c06466a6d01_2_509"/>
          <p:cNvGraphicFramePr/>
          <p:nvPr/>
        </p:nvGraphicFramePr>
        <p:xfrm>
          <a:off x="6234499" y="1114432"/>
          <a:ext cx="3000000" cy="3000000"/>
        </p:xfrm>
        <a:graphic>
          <a:graphicData uri="http://schemas.openxmlformats.org/drawingml/2006/table">
            <a:tbl>
              <a:tblPr>
                <a:noFill/>
                <a:tableStyleId>{4C0A8FE5-9777-497B-A676-DF5488A54864}</a:tableStyleId>
              </a:tblPr>
              <a:tblGrid>
                <a:gridCol w="5622575"/>
              </a:tblGrid>
              <a:tr h="53583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800" u="none" cap="none" strike="noStrike">
                          <a:solidFill>
                            <a:srgbClr val="000000"/>
                          </a:solidFill>
                          <a:latin typeface="Quattrocento"/>
                          <a:ea typeface="Quattrocento"/>
                          <a:cs typeface="Quattrocento"/>
                          <a:sym typeface="Quattrocento"/>
                        </a:rPr>
                        <a:t>eFishery – Project Expert</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800" u="none" cap="none" strike="noStrike">
                          <a:solidFill>
                            <a:srgbClr val="000000"/>
                          </a:solidFill>
                          <a:latin typeface="Quattrocento"/>
                          <a:ea typeface="Quattrocento"/>
                          <a:cs typeface="Quattrocento"/>
                          <a:sym typeface="Quattrocento"/>
                        </a:rPr>
                        <a:t>Indonesia | Feb 2023 – Jan 2025</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Berkontribusi pada proyek strategis dan digital akuakultur yang melibatkan ribuan pembudidaya ikan lokal.</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Berperan penting dalam perancangan dan implementasi program untuk menyederhanakan rantai pasok ikan serta memperluas adopsi teknologi di wilayah perdesaan.</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Mendukung digitalisasi akses keuangan perdesaan sesuai SDGs.</a:t>
                      </a:r>
                      <a:endParaRPr sz="800"/>
                    </a:p>
                    <a:p>
                      <a:pPr indent="0" lvl="0" marL="0" marR="0" rtl="0" algn="l">
                        <a:lnSpc>
                          <a:spcPct val="120000"/>
                        </a:lnSpc>
                        <a:spcBef>
                          <a:spcPts val="0"/>
                        </a:spcBef>
                        <a:spcAft>
                          <a:spcPts val="0"/>
                        </a:spcAft>
                        <a:buClr>
                          <a:schemeClr val="dk1"/>
                        </a:buClr>
                        <a:buSzPts val="1100"/>
                        <a:buFont typeface="Calibri"/>
                        <a:buNone/>
                      </a:pPr>
                      <a:r>
                        <a:t/>
                      </a:r>
                      <a:endParaRPr sz="800" u="none" cap="none" strike="noStrike">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000000"/>
                        </a:buClr>
                        <a:buSzPts val="1100"/>
                        <a:buFont typeface="Quattrocento"/>
                        <a:buNone/>
                      </a:pPr>
                      <a:r>
                        <a:rPr b="1" lang="en-US" sz="800" u="none" cap="none" strike="noStrike">
                          <a:solidFill>
                            <a:srgbClr val="000000"/>
                          </a:solidFill>
                          <a:latin typeface="Quattrocento"/>
                          <a:ea typeface="Quattrocento"/>
                          <a:cs typeface="Quattrocento"/>
                          <a:sym typeface="Quattrocento"/>
                        </a:rPr>
                        <a:t>FAZZ Financial Group – Service Excellence Manager</a:t>
                      </a:r>
                      <a:endParaRPr sz="800"/>
                    </a:p>
                    <a:p>
                      <a:pPr indent="0" lvl="0" marL="0" marR="0" rtl="0" algn="l">
                        <a:lnSpc>
                          <a:spcPct val="120000"/>
                        </a:lnSpc>
                        <a:spcBef>
                          <a:spcPts val="0"/>
                        </a:spcBef>
                        <a:spcAft>
                          <a:spcPts val="0"/>
                        </a:spcAft>
                        <a:buClr>
                          <a:srgbClr val="000000"/>
                        </a:buClr>
                        <a:buSzPts val="1100"/>
                        <a:buFont typeface="Quattrocento"/>
                        <a:buNone/>
                      </a:pPr>
                      <a:r>
                        <a:rPr lang="en-US" sz="800" u="none" cap="none" strike="noStrike">
                          <a:solidFill>
                            <a:srgbClr val="000000"/>
                          </a:solidFill>
                          <a:latin typeface="Quattrocento"/>
                          <a:ea typeface="Quattrocento"/>
                          <a:cs typeface="Quattrocento"/>
                          <a:sym typeface="Quattrocento"/>
                        </a:rPr>
                        <a:t>Indonesia | Jul 2020 – Jun 2021</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Mengawasi Customer Experience &amp; Operations untuk enam lini produk fintech dengan total lebih dari 5 juta pengguna.</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Memimpin tim lintas fungsi dalam merancang dan menerapkan CRM terpusat bagi enam unit bisnis, menurunkan biaya lisensi CRM 61% dan meningkatkan pelacakan penyelesaian kasus 40%.</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Mengembangkan kerangka OKR, SOP, dan KRI bersama tim Risk, Product, dan Finance untuk meningkatkan konsistensi operasional.</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Mengurangi waktu penanganan pelanggan sekitar 35% melalui peningkatan manajemen pengetahuan dan perangkat pendukung agen.</a:t>
                      </a:r>
                      <a:endParaRPr sz="800"/>
                    </a:p>
                    <a:p>
                      <a:pPr indent="0" lvl="0" marL="0" marR="0" rtl="0" algn="l">
                        <a:lnSpc>
                          <a:spcPct val="120000"/>
                        </a:lnSpc>
                        <a:spcBef>
                          <a:spcPts val="0"/>
                        </a:spcBef>
                        <a:spcAft>
                          <a:spcPts val="0"/>
                        </a:spcAft>
                        <a:buClr>
                          <a:schemeClr val="dk1"/>
                        </a:buClr>
                        <a:buSzPts val="1100"/>
                        <a:buFont typeface="Calibri"/>
                        <a:buNone/>
                      </a:pPr>
                      <a:r>
                        <a:t/>
                      </a:r>
                      <a:endParaRPr sz="800" u="none" cap="none" strike="noStrike">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000000"/>
                        </a:buClr>
                        <a:buSzPts val="1100"/>
                        <a:buFont typeface="Quattrocento"/>
                        <a:buNone/>
                      </a:pPr>
                      <a:r>
                        <a:rPr b="1" lang="en-US" sz="800" u="none" cap="none" strike="noStrike">
                          <a:solidFill>
                            <a:srgbClr val="000000"/>
                          </a:solidFill>
                          <a:latin typeface="Quattrocento"/>
                          <a:ea typeface="Quattrocento"/>
                          <a:cs typeface="Quattrocento"/>
                          <a:sym typeface="Quattrocento"/>
                        </a:rPr>
                        <a:t>World Resources Institute (WRI) – Research Analyst</a:t>
                      </a:r>
                      <a:endParaRPr sz="800"/>
                    </a:p>
                    <a:p>
                      <a:pPr indent="0" lvl="0" marL="0" marR="0" rtl="0" algn="l">
                        <a:lnSpc>
                          <a:spcPct val="120000"/>
                        </a:lnSpc>
                        <a:spcBef>
                          <a:spcPts val="0"/>
                        </a:spcBef>
                        <a:spcAft>
                          <a:spcPts val="0"/>
                        </a:spcAft>
                        <a:buClr>
                          <a:srgbClr val="000000"/>
                        </a:buClr>
                        <a:buSzPts val="1100"/>
                        <a:buFont typeface="Quattrocento"/>
                        <a:buNone/>
                      </a:pPr>
                      <a:r>
                        <a:rPr lang="en-US" sz="800" u="none" cap="none" strike="noStrike">
                          <a:solidFill>
                            <a:srgbClr val="000000"/>
                          </a:solidFill>
                          <a:latin typeface="Quattrocento"/>
                          <a:ea typeface="Quattrocento"/>
                          <a:cs typeface="Quattrocento"/>
                          <a:sym typeface="Quattrocento"/>
                        </a:rPr>
                        <a:t>Indonesia | Agu 2017 – Sep 2019</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Mengelola proyek percontohan yang didanai mitra bersama Unilever dan RSPO, menerapkan praktik pertanian berkelanjutan kepada lebih dari 300 petani kecil di atas lahan lebih dari 700 hektare di Riau.</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Memfasilitasi sertifikasi RSPO bagi satu koperasi, menjadikannya koperasi pertama di lahan gambut yang tersertifikasi secara global dan menjadi model bagi LSM lain.</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Melakukan riset dan menerbitkan karya tentang kebijakan, tata kelola, dan penggunaan lahan berkelanjutan yang dikutip dalam policy brief dan forum keberlanjutan.</a:t>
                      </a:r>
                      <a:endParaRPr sz="800"/>
                    </a:p>
                    <a:p>
                      <a:pPr indent="0" lvl="0" marL="0" marR="0" rtl="0" algn="l">
                        <a:lnSpc>
                          <a:spcPct val="120000"/>
                        </a:lnSpc>
                        <a:spcBef>
                          <a:spcPts val="0"/>
                        </a:spcBef>
                        <a:spcAft>
                          <a:spcPts val="0"/>
                        </a:spcAft>
                        <a:buClr>
                          <a:schemeClr val="dk1"/>
                        </a:buClr>
                        <a:buSzPts val="1100"/>
                        <a:buFont typeface="Calibri"/>
                        <a:buNone/>
                      </a:pPr>
                      <a:r>
                        <a:t/>
                      </a:r>
                      <a:endParaRPr sz="800" u="none" cap="none" strike="noStrike">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000000"/>
                        </a:buClr>
                        <a:buSzPts val="1100"/>
                        <a:buFont typeface="Quattrocento"/>
                        <a:buNone/>
                      </a:pPr>
                      <a:r>
                        <a:rPr b="1" lang="en-US" sz="800" u="none" cap="none" strike="noStrike">
                          <a:solidFill>
                            <a:srgbClr val="000000"/>
                          </a:solidFill>
                          <a:latin typeface="Quattrocento"/>
                          <a:ea typeface="Quattrocento"/>
                          <a:cs typeface="Quattrocento"/>
                          <a:sym typeface="Quattrocento"/>
                        </a:rPr>
                        <a:t>UQ Business School – Research Assistant</a:t>
                      </a:r>
                      <a:endParaRPr sz="800"/>
                    </a:p>
                    <a:p>
                      <a:pPr indent="0" lvl="0" marL="0" marR="0" rtl="0" algn="l">
                        <a:lnSpc>
                          <a:spcPct val="120000"/>
                        </a:lnSpc>
                        <a:spcBef>
                          <a:spcPts val="0"/>
                        </a:spcBef>
                        <a:spcAft>
                          <a:spcPts val="0"/>
                        </a:spcAft>
                        <a:buClr>
                          <a:srgbClr val="000000"/>
                        </a:buClr>
                        <a:buSzPts val="1100"/>
                        <a:buFont typeface="Quattrocento"/>
                        <a:buNone/>
                      </a:pPr>
                      <a:r>
                        <a:rPr lang="en-US" sz="800" u="none" cap="none" strike="noStrike">
                          <a:solidFill>
                            <a:srgbClr val="000000"/>
                          </a:solidFill>
                          <a:latin typeface="Quattrocento"/>
                          <a:ea typeface="Quattrocento"/>
                          <a:cs typeface="Quattrocento"/>
                          <a:sym typeface="Quattrocento"/>
                        </a:rPr>
                        <a:t>Brisbane, Australia | Nov 2016 – Jan 2017</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Mendukung riset akademik tentang manajemen inovasi, melakukan wawancara kualitatif, dan mengodekan transkrip menggunakan NVivo.</a:t>
                      </a:r>
                      <a:endParaRPr sz="800"/>
                    </a:p>
                    <a:p>
                      <a:pPr indent="-101600" lvl="1" marL="215900" marR="0" rtl="0" algn="l">
                        <a:lnSpc>
                          <a:spcPct val="120000"/>
                        </a:lnSpc>
                        <a:spcBef>
                          <a:spcPts val="0"/>
                        </a:spcBef>
                        <a:spcAft>
                          <a:spcPts val="0"/>
                        </a:spcAft>
                        <a:buClr>
                          <a:srgbClr val="000000"/>
                        </a:buClr>
                        <a:buSzPts val="800"/>
                        <a:buFont typeface="Arial"/>
                        <a:buChar char="•"/>
                      </a:pPr>
                      <a:r>
                        <a:rPr lang="en-US" sz="800" u="none" cap="none" strike="noStrike">
                          <a:solidFill>
                            <a:srgbClr val="000000"/>
                          </a:solidFill>
                          <a:latin typeface="Quattrocento"/>
                          <a:ea typeface="Quattrocento"/>
                          <a:cs typeface="Quattrocento"/>
                          <a:sym typeface="Quattrocento"/>
                        </a:rPr>
                        <a:t>Menjadi rekan penulis makalah tentang insentif inovasi terbuka pada platform kolaboratif.</a:t>
                      </a:r>
                      <a:endParaRPr sz="800"/>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280" name="Google Shape;2280;h65eb7c06466a6d01_2_509"/>
          <p:cNvSpPr/>
          <p:nvPr/>
        </p:nvSpPr>
        <p:spPr>
          <a:xfrm>
            <a:off x="685782" y="1112213"/>
            <a:ext cx="926465" cy="945833"/>
          </a:xfrm>
          <a:custGeom>
            <a:rect b="b" l="l" r="r" t="t"/>
            <a:pathLst>
              <a:path extrusionOk="0" h="1891665" w="1852930">
                <a:moveTo>
                  <a:pt x="0" y="0"/>
                </a:moveTo>
                <a:lnTo>
                  <a:pt x="1852930" y="0"/>
                </a:lnTo>
                <a:lnTo>
                  <a:pt x="1852930" y="1891665"/>
                </a:lnTo>
                <a:lnTo>
                  <a:pt x="0" y="1891665"/>
                </a:lnTo>
                <a:lnTo>
                  <a:pt x="0" y="0"/>
                </a:lnTo>
                <a:close/>
              </a:path>
            </a:pathLst>
          </a:custGeom>
          <a:blipFill rotWithShape="1">
            <a:blip r:embed="rId5">
              <a:alphaModFix/>
            </a:blip>
            <a:stretch>
              <a:fillRect b="-30281" l="-20571" r="-18930" t="-6371"/>
            </a:stretch>
          </a:blipFill>
          <a:ln>
            <a:noFill/>
          </a:ln>
        </p:spPr>
      </p:sp>
      <p:sp>
        <p:nvSpPr>
          <p:cNvPr id="2281" name="Google Shape;2281;h65eb7c06466a6d01_2_509"/>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6">
              <a:alphaModFix/>
            </a:blip>
            <a:stretch>
              <a:fillRect b="0" l="-2339" r="0" t="0"/>
            </a:stretch>
          </a:blipFill>
          <a:ln>
            <a:noFill/>
          </a:ln>
        </p:spPr>
      </p:sp>
      <p:sp>
        <p:nvSpPr>
          <p:cNvPr id="2282" name="Google Shape;2282;h65eb7c06466a6d01_2_509"/>
          <p:cNvSpPr/>
          <p:nvPr/>
        </p:nvSpPr>
        <p:spPr>
          <a:xfrm>
            <a:off x="-1735136" y="3818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7" name="Shape 2287"/>
        <p:cNvGrpSpPr/>
        <p:nvPr/>
      </p:nvGrpSpPr>
      <p:grpSpPr>
        <a:xfrm>
          <a:off x="0" y="0"/>
          <a:ext cx="0" cy="0"/>
          <a:chOff x="0" y="0"/>
          <a:chExt cx="0" cy="0"/>
        </a:xfrm>
      </p:grpSpPr>
      <p:sp>
        <p:nvSpPr>
          <p:cNvPr id="2288" name="Google Shape;2288;h65eb7c06466a6d01_2_527"/>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289" name="Google Shape;2289;h65eb7c06466a6d01_2_527"/>
          <p:cNvSpPr/>
          <p:nvPr/>
        </p:nvSpPr>
        <p:spPr>
          <a:xfrm>
            <a:off x="1801194" y="953785"/>
            <a:ext cx="4286178" cy="937514"/>
          </a:xfrm>
          <a:custGeom>
            <a:rect b="b" l="l" r="r" t="t"/>
            <a:pathLst>
              <a:path extrusionOk="0" h="1875028" w="8572355">
                <a:moveTo>
                  <a:pt x="0" y="0"/>
                </a:moveTo>
                <a:lnTo>
                  <a:pt x="8572355" y="0"/>
                </a:lnTo>
                <a:lnTo>
                  <a:pt x="8572355" y="1875028"/>
                </a:lnTo>
                <a:lnTo>
                  <a:pt x="0" y="1875028"/>
                </a:lnTo>
                <a:close/>
              </a:path>
            </a:pathLst>
          </a:custGeom>
          <a:solidFill>
            <a:srgbClr val="0B3360"/>
          </a:solidFill>
          <a:ln>
            <a:noFill/>
          </a:ln>
        </p:spPr>
      </p:sp>
      <p:sp>
        <p:nvSpPr>
          <p:cNvPr id="2290" name="Google Shape;2290;h65eb7c06466a6d01_2_527"/>
          <p:cNvSpPr/>
          <p:nvPr/>
        </p:nvSpPr>
        <p:spPr>
          <a:xfrm>
            <a:off x="1801194" y="949023"/>
            <a:ext cx="4285800" cy="9423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Bisnis dan Keuangan</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Ridwan Gunawan</a:t>
            </a:r>
            <a:endParaRPr sz="900"/>
          </a:p>
        </p:txBody>
      </p:sp>
      <p:sp>
        <p:nvSpPr>
          <p:cNvPr id="2291" name="Google Shape;2291;h65eb7c06466a6d01_2_527"/>
          <p:cNvSpPr/>
          <p:nvPr/>
        </p:nvSpPr>
        <p:spPr>
          <a:xfrm>
            <a:off x="816263" y="1991226"/>
            <a:ext cx="5283581" cy="1591749"/>
          </a:xfrm>
          <a:custGeom>
            <a:rect b="b" l="l" r="r" t="t"/>
            <a:pathLst>
              <a:path extrusionOk="0" h="3183498" w="10567162">
                <a:moveTo>
                  <a:pt x="0" y="0"/>
                </a:moveTo>
                <a:lnTo>
                  <a:pt x="10567162" y="0"/>
                </a:lnTo>
                <a:lnTo>
                  <a:pt x="10567162" y="3183498"/>
                </a:lnTo>
                <a:lnTo>
                  <a:pt x="0" y="3183498"/>
                </a:lnTo>
                <a:close/>
              </a:path>
            </a:pathLst>
          </a:custGeom>
          <a:solidFill>
            <a:srgbClr val="FFFFFF"/>
          </a:solidFill>
          <a:ln>
            <a:noFill/>
          </a:ln>
        </p:spPr>
      </p:sp>
      <p:sp>
        <p:nvSpPr>
          <p:cNvPr id="2292" name="Google Shape;2292;h65eb7c06466a6d01_2_527"/>
          <p:cNvSpPr/>
          <p:nvPr/>
        </p:nvSpPr>
        <p:spPr>
          <a:xfrm>
            <a:off x="811501" y="1986535"/>
            <a:ext cx="5293106" cy="1601131"/>
          </a:xfrm>
          <a:custGeom>
            <a:rect b="b" l="l" r="r" t="t"/>
            <a:pathLst>
              <a:path extrusionOk="0" h="3202262" w="10586212">
                <a:moveTo>
                  <a:pt x="9525" y="0"/>
                </a:moveTo>
                <a:lnTo>
                  <a:pt x="10576687" y="0"/>
                </a:lnTo>
                <a:cubicBezTo>
                  <a:pt x="10581894" y="0"/>
                  <a:pt x="10586212" y="4253"/>
                  <a:pt x="10586212" y="9382"/>
                </a:cubicBezTo>
                <a:lnTo>
                  <a:pt x="10586212" y="3192880"/>
                </a:lnTo>
                <a:cubicBezTo>
                  <a:pt x="10586212" y="3198009"/>
                  <a:pt x="10581894" y="3202262"/>
                  <a:pt x="10576687" y="3202262"/>
                </a:cubicBezTo>
                <a:lnTo>
                  <a:pt x="9525" y="3202262"/>
                </a:lnTo>
                <a:cubicBezTo>
                  <a:pt x="4318" y="3202262"/>
                  <a:pt x="0" y="3198009"/>
                  <a:pt x="0" y="3192880"/>
                </a:cubicBezTo>
                <a:lnTo>
                  <a:pt x="0" y="9382"/>
                </a:lnTo>
                <a:cubicBezTo>
                  <a:pt x="0" y="4253"/>
                  <a:pt x="4318" y="0"/>
                  <a:pt x="9525" y="0"/>
                </a:cubicBezTo>
                <a:moveTo>
                  <a:pt x="9525" y="18763"/>
                </a:moveTo>
                <a:lnTo>
                  <a:pt x="9525" y="9382"/>
                </a:lnTo>
                <a:lnTo>
                  <a:pt x="19050" y="9382"/>
                </a:lnTo>
                <a:lnTo>
                  <a:pt x="19050" y="3192880"/>
                </a:lnTo>
                <a:lnTo>
                  <a:pt x="9525" y="3192880"/>
                </a:lnTo>
                <a:lnTo>
                  <a:pt x="9525" y="3183499"/>
                </a:lnTo>
                <a:lnTo>
                  <a:pt x="10576687" y="3183499"/>
                </a:lnTo>
                <a:lnTo>
                  <a:pt x="10576687" y="3192880"/>
                </a:lnTo>
                <a:lnTo>
                  <a:pt x="10567162" y="3192880"/>
                </a:lnTo>
                <a:lnTo>
                  <a:pt x="10567162" y="9382"/>
                </a:lnTo>
                <a:lnTo>
                  <a:pt x="10576687" y="9382"/>
                </a:lnTo>
                <a:lnTo>
                  <a:pt x="10576687" y="18763"/>
                </a:lnTo>
                <a:lnTo>
                  <a:pt x="9525" y="18763"/>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293" name="Google Shape;2293;h65eb7c06466a6d01_2_527"/>
          <p:cNvSpPr/>
          <p:nvPr/>
        </p:nvSpPr>
        <p:spPr>
          <a:xfrm>
            <a:off x="811501" y="1981773"/>
            <a:ext cx="5293200" cy="16059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900">
                <a:solidFill>
                  <a:srgbClr val="025086"/>
                </a:solidFill>
                <a:latin typeface="Quattrocento"/>
                <a:ea typeface="Quattrocento"/>
                <a:cs typeface="Quattrocento"/>
                <a:sym typeface="Quattrocento"/>
              </a:rPr>
              <a:t>PENDIDIKAN</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S2 – Administrasi Bisnis (MBA) – Keuangan</a:t>
            </a:r>
            <a:endParaRPr sz="800"/>
          </a:p>
          <a:p>
            <a:pPr indent="0" lvl="0" marL="0" marR="0" rtl="0" algn="l">
              <a:lnSpc>
                <a:spcPct val="120000"/>
              </a:lnSpc>
              <a:spcBef>
                <a:spcPts val="0"/>
              </a:spcBef>
              <a:spcAft>
                <a:spcPts val="0"/>
              </a:spcAft>
              <a:buClr>
                <a:srgbClr val="000000"/>
              </a:buClr>
              <a:buSzPts val="1100"/>
              <a:buFont typeface="Quattrocento"/>
              <a:buNone/>
            </a:pPr>
            <a:r>
              <a:rPr lang="en-US" sz="900">
                <a:solidFill>
                  <a:srgbClr val="000000"/>
                </a:solidFill>
                <a:latin typeface="Quattrocento"/>
                <a:ea typeface="Quattrocento"/>
                <a:cs typeface="Quattrocento"/>
                <a:sym typeface="Quattrocento"/>
              </a:rPr>
              <a:t>Ritsumeikan Asia Pacific University, Jepang (2020-2022)</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S1 – Akuntansi</a:t>
            </a:r>
            <a:endParaRPr sz="800"/>
          </a:p>
          <a:p>
            <a:pPr indent="0" lvl="0" marL="0" marR="0" rtl="0" algn="l">
              <a:lnSpc>
                <a:spcPct val="120000"/>
              </a:lnSpc>
              <a:spcBef>
                <a:spcPts val="0"/>
              </a:spcBef>
              <a:spcAft>
                <a:spcPts val="0"/>
              </a:spcAft>
              <a:buClr>
                <a:srgbClr val="000000"/>
              </a:buClr>
              <a:buSzPts val="1100"/>
              <a:buFont typeface="Quattrocento"/>
              <a:buNone/>
            </a:pPr>
            <a:r>
              <a:rPr lang="en-US" sz="900">
                <a:solidFill>
                  <a:srgbClr val="000000"/>
                </a:solidFill>
                <a:latin typeface="Quattrocento"/>
                <a:ea typeface="Quattrocento"/>
                <a:cs typeface="Quattrocento"/>
                <a:sym typeface="Quattrocento"/>
              </a:rPr>
              <a:t>Universitas Islam Indonesia, Yogyakarta, Indonesia (2007-2011)</a:t>
            </a:r>
            <a:endParaRPr sz="800"/>
          </a:p>
          <a:p>
            <a:pPr indent="0" lvl="0" marL="0" marR="0" rtl="0" algn="l">
              <a:lnSpc>
                <a:spcPct val="120000"/>
              </a:lnSpc>
              <a:spcBef>
                <a:spcPts val="0"/>
              </a:spcBef>
              <a:spcAft>
                <a:spcPts val="0"/>
              </a:spcAft>
              <a:buClr>
                <a:srgbClr val="44546A"/>
              </a:buClr>
              <a:buSzPts val="1100"/>
              <a:buFont typeface="Quattrocento"/>
              <a:buNone/>
            </a:pPr>
            <a:r>
              <a:rPr b="1" lang="en-US" sz="900">
                <a:solidFill>
                  <a:srgbClr val="44546A"/>
                </a:solidFill>
                <a:latin typeface="Quattrocento"/>
                <a:ea typeface="Quattrocento"/>
                <a:cs typeface="Quattrocento"/>
                <a:sym typeface="Quattrocento"/>
              </a:rPr>
              <a:t>PENGHARGAAN</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Best Paper Award in Financial Economics Study, Jepang (2022)</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CFA Equity Research Winner, Jepang (2021)</a:t>
            </a:r>
            <a:endParaRPr sz="800"/>
          </a:p>
          <a:p>
            <a:pPr indent="0" lvl="0" marL="0" marR="0" rtl="0" algn="l">
              <a:lnSpc>
                <a:spcPct val="120000"/>
              </a:lnSpc>
              <a:spcBef>
                <a:spcPts val="0"/>
              </a:spcBef>
              <a:spcAft>
                <a:spcPts val="0"/>
              </a:spcAft>
              <a:buClr>
                <a:srgbClr val="000000"/>
              </a:buClr>
              <a:buSzPts val="1100"/>
              <a:buFont typeface="Quattrocento"/>
              <a:buNone/>
            </a:pPr>
            <a:r>
              <a:rPr b="1" lang="en-US" sz="900">
                <a:solidFill>
                  <a:srgbClr val="000000"/>
                </a:solidFill>
                <a:latin typeface="Quattrocento"/>
                <a:ea typeface="Quattrocento"/>
                <a:cs typeface="Quattrocento"/>
                <a:sym typeface="Quattrocento"/>
              </a:rPr>
              <a:t>Deloitte Business Innovation Award, Singapura (2016)</a:t>
            </a:r>
            <a:endParaRPr sz="800"/>
          </a:p>
        </p:txBody>
      </p:sp>
      <p:graphicFrame>
        <p:nvGraphicFramePr>
          <p:cNvPr id="2294" name="Google Shape;2294;h65eb7c06466a6d01_2_527"/>
          <p:cNvGraphicFramePr/>
          <p:nvPr/>
        </p:nvGraphicFramePr>
        <p:xfrm>
          <a:off x="822068" y="3658471"/>
          <a:ext cx="3000000" cy="3000000"/>
        </p:xfrm>
        <a:graphic>
          <a:graphicData uri="http://schemas.openxmlformats.org/drawingml/2006/table">
            <a:tbl>
              <a:tblPr>
                <a:noFill/>
                <a:tableStyleId>{4C0A8FE5-9777-497B-A676-DF5488A54864}</a:tableStyleId>
              </a:tblPr>
              <a:tblGrid>
                <a:gridCol w="5283050"/>
              </a:tblGrid>
              <a:tr h="3702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Proyek dan Pencapaian Sebelumnya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8082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Enterprise Blockchain, Korea Selatan</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Melakukan riset pasar mengenai perilaku pengguna di media sosial dan gig economy untuk perusahaan asuransi terkemuka Korea Selatan guna mendukung strategi peluncuran produk di pasar baru Indonesia.</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8082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Pola Orbis, Jepang</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Mengawasi dan melakukan riset industri, bisnis, keuangan, valuasi, risiko investasi, dan keberlanjutan secara menyeluruh untuk menyusun rekomendasi investasi pada merek perawatan kulit mewah asal Jepang.</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8082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Antam,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perbaikan proses bisnis untuk penganggaran dan perhitungan biaya selama penerapan SAP di Antam, perusahaan pertambangan dan pemurnian emas terkemuka Indonesia, sehingga meningkatkan akurasi dan efisiensi keuangan.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295" name="Google Shape;2295;h65eb7c06466a6d01_2_527"/>
          <p:cNvGraphicFramePr/>
          <p:nvPr/>
        </p:nvGraphicFramePr>
        <p:xfrm>
          <a:off x="6224108" y="4735225"/>
          <a:ext cx="3000000" cy="3000000"/>
        </p:xfrm>
        <a:graphic>
          <a:graphicData uri="http://schemas.openxmlformats.org/drawingml/2006/table">
            <a:tbl>
              <a:tblPr>
                <a:noFill/>
                <a:tableStyleId>{4C0A8FE5-9777-497B-A676-DF5488A54864}</a:tableStyleId>
              </a:tblPr>
              <a:tblGrid>
                <a:gridCol w="5156075"/>
              </a:tblGrid>
              <a:tr h="4460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818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Parker Russell,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Melaksanakan perbaikan proses bisnis pada industri pertambangan dan konstruksi, termasuk penganggaran, pengadaan, treasury, dan akuntansi.</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6818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Deloitte Risk Advisory,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Menyusun laporan prospek pasar dan analisis lanskap pesaing untuk sektor properti dan pertanian, serta memberikan insight strategis bagi pertumbuhan bisnis.</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296" name="Google Shape;2296;h65eb7c06466a6d01_2_527"/>
          <p:cNvSpPr/>
          <p:nvPr/>
        </p:nvSpPr>
        <p:spPr>
          <a:xfrm rot="-62498">
            <a:off x="803740" y="945316"/>
            <a:ext cx="954473" cy="954542"/>
          </a:xfrm>
          <a:custGeom>
            <a:rect b="b" l="l" r="r" t="t"/>
            <a:pathLst>
              <a:path extrusionOk="0" h="1735244" w="1735119">
                <a:moveTo>
                  <a:pt x="29769" y="0"/>
                </a:moveTo>
                <a:lnTo>
                  <a:pt x="1735120" y="29767"/>
                </a:lnTo>
                <a:lnTo>
                  <a:pt x="1705351" y="1735245"/>
                </a:lnTo>
                <a:lnTo>
                  <a:pt x="0" y="1705478"/>
                </a:lnTo>
                <a:lnTo>
                  <a:pt x="29769" y="0"/>
                </a:lnTo>
                <a:close/>
              </a:path>
            </a:pathLst>
          </a:custGeom>
          <a:blipFill rotWithShape="1">
            <a:blip r:embed="rId4">
              <a:alphaModFix/>
            </a:blip>
            <a:stretch>
              <a:fillRect b="-10370" l="-7560" r="-7460" t="-4640"/>
            </a:stretch>
          </a:blipFill>
          <a:ln>
            <a:noFill/>
          </a:ln>
        </p:spPr>
      </p:sp>
      <p:graphicFrame>
        <p:nvGraphicFramePr>
          <p:cNvPr id="2297" name="Google Shape;2297;h65eb7c06466a6d01_2_527"/>
          <p:cNvGraphicFramePr/>
          <p:nvPr/>
        </p:nvGraphicFramePr>
        <p:xfrm>
          <a:off x="6224108" y="947671"/>
          <a:ext cx="3000000" cy="3000000"/>
        </p:xfrm>
        <a:graphic>
          <a:graphicData uri="http://schemas.openxmlformats.org/drawingml/2006/table">
            <a:tbl>
              <a:tblPr>
                <a:noFill/>
                <a:tableStyleId>{4C0A8FE5-9777-497B-A676-DF5488A54864}</a:tableStyleId>
              </a:tblPr>
              <a:tblGrid>
                <a:gridCol w="5156075"/>
              </a:tblGrid>
              <a:tr h="807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Caterpillar,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tim lintas fungsi dalam analisis keuangan dan kebijakan untuk cabang Caterpillar. Berkontribusi pada peningkatan penagihan piutang sebesar 80% dan pengurangan pajak 50% melalui penyesuaian kapitalisasi aset.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5E5E5"/>
                    </a:solidFill>
                  </a:tcPr>
                </a:tc>
              </a:tr>
              <a:tr h="807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Telkomsel,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validasi keuangan proyek telekomunikasi di bawah Kementerian Komunikasi, termasuk validasi klaim tagihan senilai sekitar USD 10 juta melalui analisis data dan pengakuan pendapatan yang cermat.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807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PTPN,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Melakukan penilaian risiko untuk proyek M&amp;A di bawah Kementerian BUMN, menganalisis kinerja keuangan guna mendukung strategi integrasi dan mengurangi potensi masalah sehingga akuisisi berjalan lancar.</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9731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Gerakan Indonesia Mengajar,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Memfasilitasi perubahan dan berkolaborasi dengan pemangku kepentingan untuk meningkatkan mutu pendidikan di Muara Enim, Sumatra Selatan. Membangun komitmen melalui komunikasi dan hubungan dengan pemangku kepentingan untuk menyelenggarakan Kelas Inspirasi.</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4343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Lebih dari 20 proyek lain di Indonesia, Singapura, Asia Timur, dan Eropa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298" name="Google Shape;2298;h65eb7c06466a6d01_2_527"/>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5">
              <a:alphaModFix/>
            </a:blip>
            <a:stretch>
              <a:fillRect b="0" l="-2339" r="0" t="0"/>
            </a:stretch>
          </a:blipFill>
          <a:ln>
            <a:noFill/>
          </a:ln>
        </p:spPr>
      </p:sp>
      <p:sp>
        <p:nvSpPr>
          <p:cNvPr id="2299" name="Google Shape;2299;h65eb7c06466a6d01_2_527"/>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4" name="Shape 2304"/>
        <p:cNvGrpSpPr/>
        <p:nvPr/>
      </p:nvGrpSpPr>
      <p:grpSpPr>
        <a:xfrm>
          <a:off x="0" y="0"/>
          <a:ext cx="0" cy="0"/>
          <a:chOff x="0" y="0"/>
          <a:chExt cx="0" cy="0"/>
        </a:xfrm>
      </p:grpSpPr>
      <p:sp>
        <p:nvSpPr>
          <p:cNvPr id="2305" name="Google Shape;2305;h65eb7c06466a6d01_2_543"/>
          <p:cNvSpPr/>
          <p:nvPr/>
        </p:nvSpPr>
        <p:spPr>
          <a:xfrm>
            <a:off x="1699703" y="953785"/>
            <a:ext cx="4404932" cy="902589"/>
          </a:xfrm>
          <a:custGeom>
            <a:rect b="b" l="l" r="r" t="t"/>
            <a:pathLst>
              <a:path extrusionOk="0" h="1805178" w="8809863">
                <a:moveTo>
                  <a:pt x="0" y="0"/>
                </a:moveTo>
                <a:lnTo>
                  <a:pt x="8809863" y="0"/>
                </a:lnTo>
                <a:lnTo>
                  <a:pt x="8809863" y="1805178"/>
                </a:lnTo>
                <a:lnTo>
                  <a:pt x="0" y="1805178"/>
                </a:lnTo>
                <a:close/>
              </a:path>
            </a:pathLst>
          </a:custGeom>
          <a:solidFill>
            <a:srgbClr val="0B3360"/>
          </a:solidFill>
          <a:ln>
            <a:noFill/>
          </a:ln>
        </p:spPr>
      </p:sp>
      <p:sp>
        <p:nvSpPr>
          <p:cNvPr id="2306" name="Google Shape;2306;h65eb7c06466a6d01_2_543"/>
          <p:cNvSpPr/>
          <p:nvPr/>
        </p:nvSpPr>
        <p:spPr>
          <a:xfrm>
            <a:off x="1699703" y="949023"/>
            <a:ext cx="4404600" cy="907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Pemasaran Digital &amp; Analitik</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Dhekanegara</a:t>
            </a:r>
            <a:endParaRPr sz="900"/>
          </a:p>
        </p:txBody>
      </p:sp>
      <p:sp>
        <p:nvSpPr>
          <p:cNvPr id="2307" name="Google Shape;2307;h65eb7c06466a6d01_2_543"/>
          <p:cNvSpPr/>
          <p:nvPr/>
        </p:nvSpPr>
        <p:spPr>
          <a:xfrm>
            <a:off x="816263" y="1918272"/>
            <a:ext cx="5283581" cy="1616075"/>
          </a:xfrm>
          <a:custGeom>
            <a:rect b="b" l="l" r="r" t="t"/>
            <a:pathLst>
              <a:path extrusionOk="0" h="3232150" w="10567162">
                <a:moveTo>
                  <a:pt x="0" y="0"/>
                </a:moveTo>
                <a:lnTo>
                  <a:pt x="10567162" y="0"/>
                </a:lnTo>
                <a:lnTo>
                  <a:pt x="10567162" y="3232150"/>
                </a:lnTo>
                <a:lnTo>
                  <a:pt x="0" y="3232150"/>
                </a:lnTo>
                <a:close/>
              </a:path>
            </a:pathLst>
          </a:custGeom>
          <a:solidFill>
            <a:srgbClr val="FFFFFF"/>
          </a:solidFill>
          <a:ln>
            <a:noFill/>
          </a:ln>
        </p:spPr>
      </p:sp>
      <p:sp>
        <p:nvSpPr>
          <p:cNvPr id="2308" name="Google Shape;2308;h65eb7c06466a6d01_2_543"/>
          <p:cNvSpPr/>
          <p:nvPr/>
        </p:nvSpPr>
        <p:spPr>
          <a:xfrm>
            <a:off x="811501" y="1913510"/>
            <a:ext cx="5293106" cy="1625600"/>
          </a:xfrm>
          <a:custGeom>
            <a:rect b="b" l="l" r="r" t="t"/>
            <a:pathLst>
              <a:path extrusionOk="0" h="3251200" w="10586212">
                <a:moveTo>
                  <a:pt x="9525" y="0"/>
                </a:moveTo>
                <a:lnTo>
                  <a:pt x="10576687" y="0"/>
                </a:lnTo>
                <a:cubicBezTo>
                  <a:pt x="10581894" y="0"/>
                  <a:pt x="10586212" y="4318"/>
                  <a:pt x="10586212" y="9525"/>
                </a:cubicBezTo>
                <a:lnTo>
                  <a:pt x="10586212" y="3241675"/>
                </a:lnTo>
                <a:cubicBezTo>
                  <a:pt x="10586212" y="3246882"/>
                  <a:pt x="10581894" y="3251200"/>
                  <a:pt x="10576687" y="3251200"/>
                </a:cubicBezTo>
                <a:lnTo>
                  <a:pt x="9525" y="3251200"/>
                </a:lnTo>
                <a:cubicBezTo>
                  <a:pt x="4318" y="3251200"/>
                  <a:pt x="0" y="3246882"/>
                  <a:pt x="0" y="3241675"/>
                </a:cubicBezTo>
                <a:lnTo>
                  <a:pt x="0" y="9525"/>
                </a:lnTo>
                <a:cubicBezTo>
                  <a:pt x="0" y="4318"/>
                  <a:pt x="4318" y="0"/>
                  <a:pt x="9525" y="0"/>
                </a:cubicBezTo>
                <a:moveTo>
                  <a:pt x="9525" y="19050"/>
                </a:moveTo>
                <a:lnTo>
                  <a:pt x="9525" y="9525"/>
                </a:lnTo>
                <a:lnTo>
                  <a:pt x="19050" y="9525"/>
                </a:lnTo>
                <a:lnTo>
                  <a:pt x="19050" y="3241675"/>
                </a:lnTo>
                <a:lnTo>
                  <a:pt x="9525" y="3241675"/>
                </a:lnTo>
                <a:lnTo>
                  <a:pt x="9525" y="3232150"/>
                </a:lnTo>
                <a:lnTo>
                  <a:pt x="10576687" y="3232150"/>
                </a:lnTo>
                <a:lnTo>
                  <a:pt x="10576687" y="3241675"/>
                </a:lnTo>
                <a:lnTo>
                  <a:pt x="10567162" y="3241675"/>
                </a:lnTo>
                <a:lnTo>
                  <a:pt x="10567162" y="9525"/>
                </a:lnTo>
                <a:lnTo>
                  <a:pt x="10576687" y="9525"/>
                </a:lnTo>
                <a:lnTo>
                  <a:pt x="10576687" y="19050"/>
                </a:lnTo>
                <a:lnTo>
                  <a:pt x="9525" y="19050"/>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09" name="Google Shape;2309;h65eb7c06466a6d01_2_543"/>
          <p:cNvSpPr/>
          <p:nvPr/>
        </p:nvSpPr>
        <p:spPr>
          <a:xfrm>
            <a:off x="811501" y="1908748"/>
            <a:ext cx="5293200" cy="16305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S2 – Master of Business (Commerce) – Marketing &amp; Marketing Analytics</a:t>
            </a:r>
            <a:endParaRPr sz="900"/>
          </a:p>
          <a:p>
            <a:pPr indent="0" lvl="0" marL="0" marR="0" rtl="0" algn="l">
              <a:lnSpc>
                <a:spcPct val="120000"/>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UNSW Business School, Sydney, Australia (2024–2025)</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S1 – Teknik Kelautan</a:t>
            </a:r>
            <a:endParaRPr sz="900"/>
          </a:p>
          <a:p>
            <a:pPr indent="0" lvl="0" marL="0" marR="0" rtl="0" algn="l">
              <a:lnSpc>
                <a:spcPct val="120000"/>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Institut Teknologi Bandung, Indonesia</a:t>
            </a:r>
            <a:endParaRPr sz="900"/>
          </a:p>
          <a:p>
            <a:pPr indent="0" lvl="0" marL="0" marR="0" rtl="0" algn="l">
              <a:lnSpc>
                <a:spcPct val="120000"/>
              </a:lnSpc>
              <a:spcBef>
                <a:spcPts val="0"/>
              </a:spcBef>
              <a:spcAft>
                <a:spcPts val="0"/>
              </a:spcAft>
              <a:buClr>
                <a:srgbClr val="44546A"/>
              </a:buClr>
              <a:buSzPts val="1100"/>
              <a:buFont typeface="Quattrocento"/>
              <a:buNone/>
            </a:pPr>
            <a:r>
              <a:rPr b="1" lang="en-US" sz="1100">
                <a:solidFill>
                  <a:srgbClr val="44546A"/>
                </a:solidFill>
                <a:latin typeface="Quattrocento"/>
                <a:ea typeface="Quattrocento"/>
                <a:cs typeface="Quattrocento"/>
                <a:sym typeface="Quattrocento"/>
              </a:rPr>
              <a:t>PENGHARGAAN</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Juara 2 – Oil Rig Design Competition, IPWeek</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Medali Perunggu – Capstone Project, CBNU Korea</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Best Idea – Oil Rig Design Competition, UTM Malaysia</a:t>
            </a:r>
            <a:endParaRPr sz="900"/>
          </a:p>
        </p:txBody>
      </p:sp>
      <p:graphicFrame>
        <p:nvGraphicFramePr>
          <p:cNvPr id="2310" name="Google Shape;2310;h65eb7c06466a6d01_2_543"/>
          <p:cNvGraphicFramePr/>
          <p:nvPr/>
        </p:nvGraphicFramePr>
        <p:xfrm>
          <a:off x="821426" y="3548660"/>
          <a:ext cx="3000000" cy="3000000"/>
        </p:xfrm>
        <a:graphic>
          <a:graphicData uri="http://schemas.openxmlformats.org/drawingml/2006/table">
            <a:tbl>
              <a:tblPr>
                <a:noFill/>
                <a:tableStyleId>{4C0A8FE5-9777-497B-A676-DF5488A54864}</a:tableStyleId>
              </a:tblPr>
              <a:tblGrid>
                <a:gridCol w="5283050"/>
              </a:tblGrid>
              <a:tr h="3701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Proyek dan Pencapaian Sebelumnya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9736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Apteco, Australia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Mengerjakan proyek analitik pemasaran untuk klien telekomunikasi dengan tingkat churn 50%. Menggunakan segmentasi dan visualisasi untuk menemukan insight pelanggan serta menyusun strategi retensi yang meningkatkan customer lifetime value.</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8081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Mamaearth, Australia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Mengembangkan strategi merek dalam program magang pascasarjana. Menerapkan analitik pemasaran untuk menilai posisi pasar dan persepsi merek.</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8081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Dermis &amp; SkinDr.,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transformasi pemasaran digital dua merek klinik estetika. Meningkatkan engagement 20% dan berkontribusi pada pertumbuhan pendapatan bulanan Rp50 juta dalam enam bulan melalui strategi rebranding.</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311" name="Google Shape;2311;h65eb7c06466a6d01_2_543"/>
          <p:cNvGraphicFramePr/>
          <p:nvPr/>
        </p:nvGraphicFramePr>
        <p:xfrm>
          <a:off x="6224108" y="3035176"/>
          <a:ext cx="3000000" cy="3000000"/>
        </p:xfrm>
        <a:graphic>
          <a:graphicData uri="http://schemas.openxmlformats.org/drawingml/2006/table">
            <a:tbl>
              <a:tblPr>
                <a:noFill/>
                <a:tableStyleId>{4C0A8FE5-9777-497B-A676-DF5488A54864}</a:tableStyleId>
              </a:tblPr>
              <a:tblGrid>
                <a:gridCol w="5156075"/>
              </a:tblGrid>
              <a:tr h="445400">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80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Student Ambassador – UNSW Business School, Australia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(2024–2025)</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Mewakili UNSW Business School pada acara akademik dan promosi.</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680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Digital Marketing Lead – Dermis &amp; SkinDr.,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(2022–2023)</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Mengelola pemasaran lintas kanal dan strategi merek.</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680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Digital Marketing Lead – Ruangguru / Schoters,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(2020–2022)</a:t>
                      </a:r>
                      <a:endParaRPr sz="900"/>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optimasi kampanye dan inisiatif kemitraan.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680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Digital Planning Manager – GroupM,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(2018–2020)</a:t>
                      </a:r>
                      <a:endParaRPr sz="900"/>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Menangani strategi media, riset pasar, dan otomatisasi data warehouse.</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312" name="Google Shape;2312;h65eb7c06466a6d01_2_543"/>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313" name="Google Shape;2313;h65eb7c06466a6d01_2_543"/>
          <p:cNvSpPr/>
          <p:nvPr/>
        </p:nvSpPr>
        <p:spPr>
          <a:xfrm>
            <a:off x="816246" y="947671"/>
            <a:ext cx="852805" cy="908691"/>
          </a:xfrm>
          <a:custGeom>
            <a:rect b="b" l="l" r="r" t="t"/>
            <a:pathLst>
              <a:path extrusionOk="0" h="1817381" w="1705610">
                <a:moveTo>
                  <a:pt x="0" y="0"/>
                </a:moveTo>
                <a:lnTo>
                  <a:pt x="1705610" y="0"/>
                </a:lnTo>
                <a:lnTo>
                  <a:pt x="1705610" y="1817381"/>
                </a:lnTo>
                <a:lnTo>
                  <a:pt x="0" y="1817381"/>
                </a:lnTo>
                <a:lnTo>
                  <a:pt x="0" y="0"/>
                </a:lnTo>
                <a:close/>
              </a:path>
            </a:pathLst>
          </a:custGeom>
          <a:blipFill rotWithShape="1">
            <a:blip r:embed="rId4">
              <a:alphaModFix/>
            </a:blip>
            <a:stretch>
              <a:fillRect b="0" l="-3280" r="-3270" t="0"/>
            </a:stretch>
          </a:blipFill>
          <a:ln>
            <a:noFill/>
          </a:ln>
        </p:spPr>
      </p:sp>
      <p:graphicFrame>
        <p:nvGraphicFramePr>
          <p:cNvPr id="2314" name="Google Shape;2314;h65eb7c06466a6d01_2_543"/>
          <p:cNvGraphicFramePr/>
          <p:nvPr/>
        </p:nvGraphicFramePr>
        <p:xfrm>
          <a:off x="6224108" y="947671"/>
          <a:ext cx="3000000" cy="3000000"/>
        </p:xfrm>
        <a:graphic>
          <a:graphicData uri="http://schemas.openxmlformats.org/drawingml/2006/table">
            <a:tbl>
              <a:tblPr>
                <a:noFill/>
                <a:tableStyleId>{4C0A8FE5-9777-497B-A676-DF5488A54864}</a:tableStyleId>
              </a:tblPr>
              <a:tblGrid>
                <a:gridCol w="5156075"/>
              </a:tblGrid>
              <a:tr h="8089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Ruangguru – Schoters,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peluncuran produk digital, kampanye pemasaran, dan kemitraan strategis. Menghasilkan pendapatan baru Rp200 juta melalui optimasi data dan penganggaran lintas kanal.</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5E5E5"/>
                    </a:solidFill>
                  </a:tcPr>
                </a:tc>
              </a:tr>
              <a:tr h="8089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GroupM,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perencanaan media dan pelaksanaan kampanye secara menyeluruh. Merancang pelaporan Power BI otomatis yang menggandakan efisiensi operasional dalam pelaporan analitik.</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4349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Proyek lain di Indonesia dan Australia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315" name="Google Shape;2315;h65eb7c06466a6d01_2_543"/>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5">
              <a:alphaModFix/>
            </a:blip>
            <a:stretch>
              <a:fillRect b="0" l="-2339" r="0" t="0"/>
            </a:stretch>
          </a:blipFill>
          <a:ln>
            <a:noFill/>
          </a:ln>
        </p:spPr>
      </p:sp>
      <p:sp>
        <p:nvSpPr>
          <p:cNvPr id="2316" name="Google Shape;2316;h65eb7c06466a6d01_2_543"/>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h65eb7c06466a6d01_2_559"/>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323" name="Google Shape;2323;h65eb7c06466a6d01_2_559"/>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
        <p:nvSpPr>
          <p:cNvPr id="2324" name="Google Shape;2324;h65eb7c06466a6d01_2_559"/>
          <p:cNvSpPr/>
          <p:nvPr/>
        </p:nvSpPr>
        <p:spPr>
          <a:xfrm>
            <a:off x="2007491" y="1146049"/>
            <a:ext cx="4406773" cy="944372"/>
          </a:xfrm>
          <a:custGeom>
            <a:rect b="b" l="l" r="r" t="t"/>
            <a:pathLst>
              <a:path extrusionOk="0" h="1888744" w="8813546">
                <a:moveTo>
                  <a:pt x="0" y="0"/>
                </a:moveTo>
                <a:lnTo>
                  <a:pt x="8813546" y="0"/>
                </a:lnTo>
                <a:lnTo>
                  <a:pt x="8813546" y="1888744"/>
                </a:lnTo>
                <a:lnTo>
                  <a:pt x="0" y="1888744"/>
                </a:lnTo>
                <a:close/>
              </a:path>
            </a:pathLst>
          </a:custGeom>
          <a:solidFill>
            <a:srgbClr val="0B3360"/>
          </a:solidFill>
          <a:ln>
            <a:noFill/>
          </a:ln>
        </p:spPr>
      </p:sp>
      <p:sp>
        <p:nvSpPr>
          <p:cNvPr id="2325" name="Google Shape;2325;h65eb7c06466a6d01_2_559"/>
          <p:cNvSpPr/>
          <p:nvPr/>
        </p:nvSpPr>
        <p:spPr>
          <a:xfrm>
            <a:off x="2007491" y="1141287"/>
            <a:ext cx="4406700" cy="949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Sumber Daya Manusia</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Endy Kurniawan Pribadi</a:t>
            </a:r>
            <a:endParaRPr sz="900"/>
          </a:p>
        </p:txBody>
      </p:sp>
      <p:sp>
        <p:nvSpPr>
          <p:cNvPr id="2326" name="Google Shape;2326;h65eb7c06466a6d01_2_559"/>
          <p:cNvSpPr/>
          <p:nvPr/>
        </p:nvSpPr>
        <p:spPr>
          <a:xfrm>
            <a:off x="1110831" y="2096003"/>
            <a:ext cx="5283581" cy="1241615"/>
          </a:xfrm>
          <a:custGeom>
            <a:rect b="b" l="l" r="r" t="t"/>
            <a:pathLst>
              <a:path extrusionOk="0" h="2483231" w="10567162">
                <a:moveTo>
                  <a:pt x="0" y="0"/>
                </a:moveTo>
                <a:lnTo>
                  <a:pt x="10567162" y="0"/>
                </a:lnTo>
                <a:lnTo>
                  <a:pt x="10567162" y="2483231"/>
                </a:lnTo>
                <a:lnTo>
                  <a:pt x="0" y="2483231"/>
                </a:lnTo>
                <a:close/>
              </a:path>
            </a:pathLst>
          </a:custGeom>
          <a:solidFill>
            <a:srgbClr val="FFFFFF"/>
          </a:solidFill>
          <a:ln>
            <a:noFill/>
          </a:ln>
        </p:spPr>
      </p:sp>
      <p:sp>
        <p:nvSpPr>
          <p:cNvPr id="2327" name="Google Shape;2327;h65eb7c06466a6d01_2_559"/>
          <p:cNvSpPr/>
          <p:nvPr/>
        </p:nvSpPr>
        <p:spPr>
          <a:xfrm>
            <a:off x="1104481" y="2089653"/>
            <a:ext cx="5296281" cy="1254315"/>
          </a:xfrm>
          <a:custGeom>
            <a:rect b="b" l="l" r="r" t="t"/>
            <a:pathLst>
              <a:path extrusionOk="0" h="2508631" w="10592562">
                <a:moveTo>
                  <a:pt x="12700" y="0"/>
                </a:moveTo>
                <a:lnTo>
                  <a:pt x="10579862" y="0"/>
                </a:lnTo>
                <a:cubicBezTo>
                  <a:pt x="10586847" y="0"/>
                  <a:pt x="10592562" y="5715"/>
                  <a:pt x="10592562" y="12700"/>
                </a:cubicBezTo>
                <a:lnTo>
                  <a:pt x="10592562" y="2495931"/>
                </a:lnTo>
                <a:cubicBezTo>
                  <a:pt x="10592562" y="2502916"/>
                  <a:pt x="10586847" y="2508631"/>
                  <a:pt x="10579862" y="2508631"/>
                </a:cubicBezTo>
                <a:lnTo>
                  <a:pt x="12700" y="2508631"/>
                </a:lnTo>
                <a:cubicBezTo>
                  <a:pt x="5715" y="2508631"/>
                  <a:pt x="0" y="2502916"/>
                  <a:pt x="0" y="2495931"/>
                </a:cubicBezTo>
                <a:lnTo>
                  <a:pt x="0" y="12700"/>
                </a:lnTo>
                <a:cubicBezTo>
                  <a:pt x="0" y="5715"/>
                  <a:pt x="5715" y="0"/>
                  <a:pt x="12700" y="0"/>
                </a:cubicBezTo>
                <a:moveTo>
                  <a:pt x="12700" y="25400"/>
                </a:moveTo>
                <a:lnTo>
                  <a:pt x="12700" y="12700"/>
                </a:lnTo>
                <a:lnTo>
                  <a:pt x="25400" y="12700"/>
                </a:lnTo>
                <a:lnTo>
                  <a:pt x="25400" y="2495931"/>
                </a:lnTo>
                <a:lnTo>
                  <a:pt x="12700" y="2495931"/>
                </a:lnTo>
                <a:lnTo>
                  <a:pt x="12700" y="2483231"/>
                </a:lnTo>
                <a:lnTo>
                  <a:pt x="10579862" y="2483231"/>
                </a:lnTo>
                <a:lnTo>
                  <a:pt x="10579862" y="2495931"/>
                </a:lnTo>
                <a:lnTo>
                  <a:pt x="10567162" y="2495931"/>
                </a:lnTo>
                <a:lnTo>
                  <a:pt x="10567162" y="12700"/>
                </a:lnTo>
                <a:lnTo>
                  <a:pt x="10579862" y="12700"/>
                </a:lnTo>
                <a:lnTo>
                  <a:pt x="10579862" y="25400"/>
                </a:lnTo>
                <a:lnTo>
                  <a:pt x="12700" y="25400"/>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28" name="Google Shape;2328;h65eb7c06466a6d01_2_559"/>
          <p:cNvSpPr/>
          <p:nvPr/>
        </p:nvSpPr>
        <p:spPr>
          <a:xfrm>
            <a:off x="1104481" y="2084891"/>
            <a:ext cx="5296200" cy="1259100"/>
          </a:xfrm>
          <a:prstGeom prst="rect">
            <a:avLst/>
          </a:prstGeom>
          <a:noFill/>
          <a:ln>
            <a:noFill/>
          </a:ln>
        </p:spPr>
        <p:txBody>
          <a:bodyPr anchorCtr="0" anchor="t" bIns="33875" lIns="33875" spcFirstLastPara="1" rIns="33875" wrap="square" tIns="33875">
            <a:noAutofit/>
          </a:bodyPr>
          <a:lstStyle/>
          <a:p>
            <a:pPr indent="0" lvl="0" marL="0" marR="0" rtl="0" algn="l">
              <a:lnSpc>
                <a:spcPct val="120012"/>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12"/>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S2 – Kesehatan Masyarakat (MKKK)</a:t>
            </a:r>
            <a:endParaRPr sz="900"/>
          </a:p>
          <a:p>
            <a:pPr indent="0" lvl="0" marL="0" marR="0" rtl="0" algn="l">
              <a:lnSpc>
                <a:spcPct val="120012"/>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Universitas Indonesia (2010-2012)</a:t>
            </a:r>
            <a:endParaRPr sz="900"/>
          </a:p>
          <a:p>
            <a:pPr indent="0" lvl="0" marL="0" marR="0" rtl="0" algn="l">
              <a:lnSpc>
                <a:spcPct val="120012"/>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S1 – Psikologi</a:t>
            </a:r>
            <a:endParaRPr sz="900"/>
          </a:p>
          <a:p>
            <a:pPr indent="0" lvl="0" marL="0" marR="0" rtl="0" algn="l">
              <a:lnSpc>
                <a:spcPct val="120012"/>
              </a:lnSpc>
              <a:spcBef>
                <a:spcPts val="0"/>
              </a:spcBef>
              <a:spcAft>
                <a:spcPts val="0"/>
              </a:spcAft>
              <a:buClr>
                <a:srgbClr val="000000"/>
              </a:buClr>
              <a:buSzPts val="1100"/>
              <a:buFont typeface="Quattrocento"/>
              <a:buNone/>
            </a:pPr>
            <a:r>
              <a:rPr lang="en-US" sz="1100">
                <a:solidFill>
                  <a:srgbClr val="000000"/>
                </a:solidFill>
                <a:latin typeface="Quattrocento"/>
                <a:ea typeface="Quattrocento"/>
                <a:cs typeface="Quattrocento"/>
                <a:sym typeface="Quattrocento"/>
              </a:rPr>
              <a:t>Universitas Indonesia (2005-2010)</a:t>
            </a:r>
            <a:endParaRPr sz="900"/>
          </a:p>
          <a:p>
            <a:pPr indent="0" lvl="0" marL="0" marR="0" rtl="0" algn="l">
              <a:lnSpc>
                <a:spcPct val="120012"/>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SERTIFIKASI</a:t>
            </a:r>
            <a:endParaRPr sz="900"/>
          </a:p>
          <a:p>
            <a:pPr indent="0" lvl="0" marL="0" marR="0" rtl="0" algn="l">
              <a:lnSpc>
                <a:spcPct val="120012"/>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Certified Assessment Centre dari HIMPSI JAYA, Business English Certification</a:t>
            </a:r>
            <a:endParaRPr sz="900"/>
          </a:p>
        </p:txBody>
      </p:sp>
      <p:graphicFrame>
        <p:nvGraphicFramePr>
          <p:cNvPr id="2329" name="Google Shape;2329;h65eb7c06466a6d01_2_559"/>
          <p:cNvGraphicFramePr/>
          <p:nvPr/>
        </p:nvGraphicFramePr>
        <p:xfrm>
          <a:off x="1107370" y="3483817"/>
          <a:ext cx="3000000" cy="3000000"/>
        </p:xfrm>
        <a:graphic>
          <a:graphicData uri="http://schemas.openxmlformats.org/drawingml/2006/table">
            <a:tbl>
              <a:tblPr>
                <a:noFill/>
                <a:tableStyleId>{4C0A8FE5-9777-497B-A676-DF5488A54864}</a:tableStyleId>
              </a:tblPr>
              <a:tblGrid>
                <a:gridCol w="5283050"/>
              </a:tblGrid>
              <a:tr h="407500">
                <a:tc>
                  <a:txBody>
                    <a:bodyPr/>
                    <a:lstStyle/>
                    <a:p>
                      <a:pPr indent="0" lvl="0" marL="0" marR="0" rtl="0" algn="l">
                        <a:lnSpc>
                          <a:spcPct val="120007"/>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Proyek dan Pencapaian Sebelumnya</a:t>
                      </a:r>
                      <a:endParaRPr sz="800" u="none" cap="none" strike="noStrike"/>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894175">
                <a:tc>
                  <a:txBody>
                    <a:bodyPr/>
                    <a:lstStyle/>
                    <a:p>
                      <a:pPr indent="0" lvl="0" marL="0" marR="0" rtl="0" algn="l">
                        <a:lnSpc>
                          <a:spcPct val="120012"/>
                        </a:lnSpc>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Manajemen Proyek dan Asesor untuk Rekrutmen serta Assessment Center</a:t>
                      </a:r>
                      <a:endParaRPr sz="800" u="none" cap="none" strike="noStrike"/>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Mandiri Tunas Finance – Supervisor &amp; Manager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Kramayudha Tiga Berlian Motors – Manager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Bukalapak – Manager, Senior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Telkom Group dan BUMN – Manager, Sr. Manager, Director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Agung Podomoro Land – Supervisor, Manager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Bank Negara Indonesia – Assistant Vice President</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L'Oréal Indonesia – Area Sales Manager, Area Regional Manager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Coca-Cola Amatil Indonesia – Manager, Sr. Manager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PT Lafarge Holcim Indonesia – Manager</a:t>
                      </a:r>
                      <a:endParaRPr sz="900"/>
                    </a:p>
                    <a:p>
                      <a:pPr indent="-120650" lvl="1" marL="254000" marR="0" rtl="0" algn="l">
                        <a:lnSpc>
                          <a:spcPct val="120012"/>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Bank Bukopin – Manager, General Manager</a:t>
                      </a:r>
                      <a:endParaRPr sz="900"/>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330" name="Google Shape;2330;h65eb7c06466a6d01_2_559"/>
          <p:cNvGraphicFramePr/>
          <p:nvPr/>
        </p:nvGraphicFramePr>
        <p:xfrm>
          <a:off x="6709279" y="1165860"/>
          <a:ext cx="3000000" cy="3000000"/>
        </p:xfrm>
        <a:graphic>
          <a:graphicData uri="http://schemas.openxmlformats.org/drawingml/2006/table">
            <a:tbl>
              <a:tblPr>
                <a:noFill/>
                <a:tableStyleId>{4C0A8FE5-9777-497B-A676-DF5488A54864}</a:tableStyleId>
              </a:tblPr>
              <a:tblGrid>
                <a:gridCol w="4995200"/>
              </a:tblGrid>
              <a:tr h="406875">
                <a:tc>
                  <a:txBody>
                    <a:bodyPr/>
                    <a:lstStyle/>
                    <a:p>
                      <a:pPr indent="0" lvl="0" marL="0" marR="0" rtl="0" algn="l">
                        <a:lnSpc>
                          <a:spcPct val="120007"/>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5131400">
                <a:tc>
                  <a:txBody>
                    <a:bodyPr/>
                    <a:lstStyle/>
                    <a:p>
                      <a:pPr indent="0" lvl="0" marL="0" marR="0" rtl="0" algn="l">
                        <a:lnSpc>
                          <a:spcPct val="120012"/>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PT POLA INTI PERKASA (POLA GROUP – HEAD OFFICE), Jakarta</a:t>
                      </a:r>
                      <a:endParaRPr sz="700" u="none" cap="none" strike="noStrike"/>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Human Resources Executive untuk sektor konstruksi, industri, energi, dan distribusi.</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Merancang dan mengawasi proses rekrutmen, penerimaan karyawan baru, onboarding, dan orientasi.</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Menyusun kamus kompetensi soft skill serta metode asesmen kompetensi karyawan.</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Melaksanakan asesmen kompetensi dan menganalisis hasilnya untuk mengidentifikasi serta mengelompokkan Talent Pool.</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Memperbaiki uraian jabatan agar selaras dengan struktur organisasi perusahaan.</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Merancang survei karyawan.</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Menyusun Training &amp; Development menggunakan Competency-Based Training Need Analysis.</a:t>
                      </a:r>
                      <a:endParaRPr sz="800"/>
                    </a:p>
                    <a:p>
                      <a:pPr indent="-177800" lvl="1" marL="342900" marR="0" rtl="0" algn="l">
                        <a:lnSpc>
                          <a:spcPct val="120012"/>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Associate Assessment Assessor.</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Asesor di PT Bukalapak untuk level Manager, Senior Manager, dan Head.</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Asesor di Assessment Center Indonesia/ACI (Telkom Group) untuk level Manager, Senior Manager, dan Director.</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Asesor di PT Agung Podomoro Land untuk level Supervisor dan Manager.</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Asesor di PT Bank Negara Indonesia untuk level Assistant Vice President.</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Asesor di PT Mandiri Tunas Finance untuk level Supervisor dan Manager.</a:t>
                      </a:r>
                      <a:endParaRPr sz="800"/>
                    </a:p>
                    <a:p>
                      <a:pPr indent="-177800" lvl="1" marL="342900" marR="0" rtl="0" algn="l">
                        <a:lnSpc>
                          <a:spcPct val="120012"/>
                        </a:lnSpc>
                        <a:spcBef>
                          <a:spcPts val="0"/>
                        </a:spcBef>
                        <a:spcAft>
                          <a:spcPts val="0"/>
                        </a:spcAft>
                        <a:buClr>
                          <a:srgbClr val="000000"/>
                        </a:buClr>
                        <a:buSzPts val="1100"/>
                        <a:buFont typeface="Quattrocento"/>
                        <a:buNone/>
                      </a:pPr>
                      <a:r>
                        <a:rPr b="1" lang="en-US" sz="900" u="none" cap="none" strike="noStrike">
                          <a:solidFill>
                            <a:srgbClr val="000000"/>
                          </a:solidFill>
                          <a:latin typeface="Quattrocento"/>
                          <a:ea typeface="Quattrocento"/>
                          <a:cs typeface="Quattrocento"/>
                          <a:sym typeface="Quattrocento"/>
                        </a:rPr>
                        <a:t>PT Learning Resources, Jakarta</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Mengoordinasikan proses rekrutmen dan assessment center psikologi untuk menentukan kandidat potensial sesuai kebutuhan klien.</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Memberikan umpan balik dan rekomendasi pengembangan talenta.</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Memahami kebutuhan perekrutan berbagai klien, lalu mencari serta merekomendasikan profil talenta yang sesuai.</a:t>
                      </a:r>
                      <a:endParaRPr sz="800"/>
                    </a:p>
                    <a:p>
                      <a:pPr indent="-158750" lvl="1" marL="342900" marR="0" rtl="0" algn="l">
                        <a:lnSpc>
                          <a:spcPct val="120012"/>
                        </a:lnSpc>
                        <a:spcBef>
                          <a:spcPts val="0"/>
                        </a:spcBef>
                        <a:spcAft>
                          <a:spcPts val="0"/>
                        </a:spcAft>
                        <a:buClr>
                          <a:srgbClr val="000000"/>
                        </a:buClr>
                        <a:buSzPts val="900"/>
                        <a:buFont typeface="Quattrocento"/>
                        <a:buAutoNum type="arabicPeriod"/>
                      </a:pPr>
                      <a:r>
                        <a:rPr lang="en-US" sz="900" u="none" cap="none" strike="noStrike">
                          <a:solidFill>
                            <a:srgbClr val="000000"/>
                          </a:solidFill>
                          <a:latin typeface="Quattrocento"/>
                          <a:ea typeface="Quattrocento"/>
                          <a:cs typeface="Quattrocento"/>
                          <a:sym typeface="Quattrocento"/>
                        </a:rPr>
                        <a:t>Menyusun laporan asesmen psikologis individual.</a:t>
                      </a:r>
                      <a:endParaRPr sz="800"/>
                    </a:p>
                  </a:txBody>
                  <a:tcPr marT="45725" marB="45725" marR="45725" marL="45725"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331" name="Google Shape;2331;h65eb7c06466a6d01_2_559"/>
          <p:cNvSpPr/>
          <p:nvPr/>
        </p:nvSpPr>
        <p:spPr>
          <a:xfrm>
            <a:off x="1110815" y="1146033"/>
            <a:ext cx="845248" cy="884809"/>
          </a:xfrm>
          <a:custGeom>
            <a:rect b="b" l="l" r="r" t="t"/>
            <a:pathLst>
              <a:path extrusionOk="0" h="1769618" w="1690497">
                <a:moveTo>
                  <a:pt x="0" y="0"/>
                </a:moveTo>
                <a:lnTo>
                  <a:pt x="1690497" y="0"/>
                </a:lnTo>
                <a:lnTo>
                  <a:pt x="1690497" y="1769618"/>
                </a:lnTo>
                <a:lnTo>
                  <a:pt x="0" y="1769618"/>
                </a:lnTo>
                <a:lnTo>
                  <a:pt x="0" y="0"/>
                </a:lnTo>
                <a:close/>
              </a:path>
            </a:pathLst>
          </a:custGeom>
          <a:blipFill rotWithShape="1">
            <a:blip r:embed="rId4">
              <a:alphaModFix/>
            </a:blip>
            <a:stretch>
              <a:fillRect b="-27800" l="0" r="-10" t="-9341"/>
            </a:stretch>
          </a:blipFill>
          <a:ln>
            <a:noFill/>
          </a:ln>
        </p:spPr>
      </p:sp>
      <p:sp>
        <p:nvSpPr>
          <p:cNvPr id="2332" name="Google Shape;2332;h65eb7c06466a6d01_2_559"/>
          <p:cNvSpPr/>
          <p:nvPr/>
        </p:nvSpPr>
        <p:spPr>
          <a:xfrm>
            <a:off x="-1966327" y="-2326563"/>
            <a:ext cx="4876203" cy="4876203"/>
          </a:xfrm>
          <a:custGeom>
            <a:rect b="b" l="l" r="r" t="t"/>
            <a:pathLst>
              <a:path extrusionOk="0" h="7305173" w="7305173">
                <a:moveTo>
                  <a:pt x="0" y="0"/>
                </a:moveTo>
                <a:lnTo>
                  <a:pt x="7305173" y="0"/>
                </a:lnTo>
                <a:lnTo>
                  <a:pt x="7305173" y="7305174"/>
                </a:lnTo>
                <a:lnTo>
                  <a:pt x="0" y="7305174"/>
                </a:lnTo>
                <a:lnTo>
                  <a:pt x="0" y="0"/>
                </a:lnTo>
                <a:close/>
              </a:path>
            </a:pathLst>
          </a:custGeom>
          <a:blipFill rotWithShape="1">
            <a:blip r:embed="rId5">
              <a:alphaModFix amt="9000"/>
            </a:blip>
            <a:stretch>
              <a:fillRect b="0" l="0" r="0" t="0"/>
            </a:stretch>
          </a:blipFill>
          <a:ln>
            <a:noFill/>
          </a:ln>
        </p:spPr>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sp>
        <p:nvSpPr>
          <p:cNvPr id="2338" name="Google Shape;2338;h65eb7c06466a6d01_2_574"/>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339" name="Google Shape;2339;h65eb7c06466a6d01_2_574"/>
          <p:cNvSpPr/>
          <p:nvPr/>
        </p:nvSpPr>
        <p:spPr>
          <a:xfrm>
            <a:off x="1699703" y="953785"/>
            <a:ext cx="4404932" cy="902589"/>
          </a:xfrm>
          <a:custGeom>
            <a:rect b="b" l="l" r="r" t="t"/>
            <a:pathLst>
              <a:path extrusionOk="0" h="1805178" w="8809863">
                <a:moveTo>
                  <a:pt x="0" y="0"/>
                </a:moveTo>
                <a:lnTo>
                  <a:pt x="8809863" y="0"/>
                </a:lnTo>
                <a:lnTo>
                  <a:pt x="8809863" y="1805178"/>
                </a:lnTo>
                <a:lnTo>
                  <a:pt x="0" y="1805178"/>
                </a:lnTo>
                <a:close/>
              </a:path>
            </a:pathLst>
          </a:custGeom>
          <a:solidFill>
            <a:srgbClr val="0B3360"/>
          </a:solidFill>
          <a:ln>
            <a:noFill/>
          </a:ln>
        </p:spPr>
      </p:sp>
      <p:sp>
        <p:nvSpPr>
          <p:cNvPr id="2340" name="Google Shape;2340;h65eb7c06466a6d01_2_574"/>
          <p:cNvSpPr/>
          <p:nvPr/>
        </p:nvSpPr>
        <p:spPr>
          <a:xfrm>
            <a:off x="1699703" y="949023"/>
            <a:ext cx="4404600" cy="907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Akuntansi, Audit &amp; Keuangan Sektor Publik</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Mega Handayani, S.E., M.Prof.Acc.</a:t>
            </a:r>
            <a:endParaRPr sz="900"/>
          </a:p>
        </p:txBody>
      </p:sp>
      <p:sp>
        <p:nvSpPr>
          <p:cNvPr id="2341" name="Google Shape;2341;h65eb7c06466a6d01_2_574"/>
          <p:cNvSpPr/>
          <p:nvPr/>
        </p:nvSpPr>
        <p:spPr>
          <a:xfrm>
            <a:off x="816263" y="1918039"/>
            <a:ext cx="5283581" cy="1537053"/>
          </a:xfrm>
          <a:custGeom>
            <a:rect b="b" l="l" r="r" t="t"/>
            <a:pathLst>
              <a:path extrusionOk="0" h="3074106" w="10567162">
                <a:moveTo>
                  <a:pt x="0" y="0"/>
                </a:moveTo>
                <a:lnTo>
                  <a:pt x="10567162" y="0"/>
                </a:lnTo>
                <a:lnTo>
                  <a:pt x="10567162" y="3074106"/>
                </a:lnTo>
                <a:lnTo>
                  <a:pt x="0" y="3074106"/>
                </a:lnTo>
                <a:close/>
              </a:path>
            </a:pathLst>
          </a:custGeom>
          <a:solidFill>
            <a:srgbClr val="FFFFFF"/>
          </a:solidFill>
          <a:ln>
            <a:noFill/>
          </a:ln>
        </p:spPr>
      </p:sp>
      <p:sp>
        <p:nvSpPr>
          <p:cNvPr id="2342" name="Google Shape;2342;h65eb7c06466a6d01_2_574"/>
          <p:cNvSpPr/>
          <p:nvPr/>
        </p:nvSpPr>
        <p:spPr>
          <a:xfrm>
            <a:off x="811501" y="1913510"/>
            <a:ext cx="5293106" cy="1546113"/>
          </a:xfrm>
          <a:custGeom>
            <a:rect b="b" l="l" r="r" t="t"/>
            <a:pathLst>
              <a:path extrusionOk="0" h="3092225" w="10586212">
                <a:moveTo>
                  <a:pt x="9525" y="0"/>
                </a:moveTo>
                <a:lnTo>
                  <a:pt x="10576687" y="0"/>
                </a:lnTo>
                <a:cubicBezTo>
                  <a:pt x="10581894" y="0"/>
                  <a:pt x="10586212" y="4107"/>
                  <a:pt x="10586212" y="9059"/>
                </a:cubicBezTo>
                <a:lnTo>
                  <a:pt x="10586212" y="3083165"/>
                </a:lnTo>
                <a:cubicBezTo>
                  <a:pt x="10586212" y="3088118"/>
                  <a:pt x="10581894" y="3092225"/>
                  <a:pt x="10576687" y="3092225"/>
                </a:cubicBezTo>
                <a:lnTo>
                  <a:pt x="9525" y="3092225"/>
                </a:lnTo>
                <a:cubicBezTo>
                  <a:pt x="4318" y="3092225"/>
                  <a:pt x="0" y="3088118"/>
                  <a:pt x="0" y="3083165"/>
                </a:cubicBezTo>
                <a:lnTo>
                  <a:pt x="0" y="9059"/>
                </a:lnTo>
                <a:cubicBezTo>
                  <a:pt x="0" y="4107"/>
                  <a:pt x="4318" y="0"/>
                  <a:pt x="9525" y="0"/>
                </a:cubicBezTo>
                <a:moveTo>
                  <a:pt x="9525" y="18119"/>
                </a:moveTo>
                <a:lnTo>
                  <a:pt x="9525" y="9059"/>
                </a:lnTo>
                <a:lnTo>
                  <a:pt x="19050" y="9059"/>
                </a:lnTo>
                <a:lnTo>
                  <a:pt x="19050" y="3083165"/>
                </a:lnTo>
                <a:lnTo>
                  <a:pt x="9525" y="3083165"/>
                </a:lnTo>
                <a:lnTo>
                  <a:pt x="9525" y="3074106"/>
                </a:lnTo>
                <a:lnTo>
                  <a:pt x="10576687" y="3074106"/>
                </a:lnTo>
                <a:lnTo>
                  <a:pt x="10576687" y="3083165"/>
                </a:lnTo>
                <a:lnTo>
                  <a:pt x="10567162" y="3083165"/>
                </a:lnTo>
                <a:lnTo>
                  <a:pt x="10567162" y="9059"/>
                </a:lnTo>
                <a:lnTo>
                  <a:pt x="10576687" y="9059"/>
                </a:lnTo>
                <a:lnTo>
                  <a:pt x="10576687" y="18119"/>
                </a:lnTo>
                <a:lnTo>
                  <a:pt x="9525" y="18119"/>
                </a:lnTo>
                <a:close/>
              </a:path>
            </a:pathLst>
          </a:custGeom>
          <a:solidFill>
            <a:srgbClr val="000000"/>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43" name="Google Shape;2343;h65eb7c06466a6d01_2_574"/>
          <p:cNvSpPr/>
          <p:nvPr/>
        </p:nvSpPr>
        <p:spPr>
          <a:xfrm>
            <a:off x="811501" y="1908748"/>
            <a:ext cx="5293200" cy="15507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Master of Professional Accounting, The Australian National University, Australia (2015–2017)</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Sarjana Akuntansi, Universitas Gadjah Mada, Indonesia (2003–2008)</a:t>
            </a:r>
            <a:endParaRPr sz="900"/>
          </a:p>
          <a:p>
            <a:pPr indent="0" lvl="0" marL="0" marR="0" rtl="0" algn="l">
              <a:lnSpc>
                <a:spcPct val="120012"/>
              </a:lnSpc>
              <a:spcBef>
                <a:spcPts val="0"/>
              </a:spcBef>
              <a:spcAft>
                <a:spcPts val="0"/>
              </a:spcAft>
              <a:buClr>
                <a:srgbClr val="44546A"/>
              </a:buClr>
              <a:buSzPts val="1100"/>
              <a:buFont typeface="Quattrocento"/>
              <a:buNone/>
            </a:pPr>
            <a:r>
              <a:rPr b="1" lang="en-US" sz="1100">
                <a:solidFill>
                  <a:srgbClr val="44546A"/>
                </a:solidFill>
                <a:latin typeface="Quattrocento"/>
                <a:ea typeface="Quattrocento"/>
                <a:cs typeface="Quattrocento"/>
                <a:sym typeface="Quattrocento"/>
              </a:rPr>
              <a:t>SERTIFIKASI &amp; PENGHARGAAN</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Certified Entrepreneurship Assistance Practitioner</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Tiga kali memperoleh Hibah Penelitian LLDIKTI – Penelitian Dosen Pemula (2025, 2023, dan 2022)</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Australia Awards Scholarship</a:t>
            </a:r>
            <a:endParaRPr sz="900"/>
          </a:p>
        </p:txBody>
      </p:sp>
      <p:graphicFrame>
        <p:nvGraphicFramePr>
          <p:cNvPr id="2344" name="Google Shape;2344;h65eb7c06466a6d01_2_574"/>
          <p:cNvGraphicFramePr/>
          <p:nvPr/>
        </p:nvGraphicFramePr>
        <p:xfrm>
          <a:off x="6246989" y="3228655"/>
          <a:ext cx="3000000" cy="3000000"/>
        </p:xfrm>
        <a:graphic>
          <a:graphicData uri="http://schemas.openxmlformats.org/drawingml/2006/table">
            <a:tbl>
              <a:tblPr>
                <a:noFill/>
                <a:tableStyleId>{4C0A8FE5-9777-497B-A676-DF5488A54864}</a:tableStyleId>
              </a:tblPr>
              <a:tblGrid>
                <a:gridCol w="5283050"/>
              </a:tblGrid>
              <a:tr h="5810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425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Dosen, Universitas Jenderal Achmad Yani Yogyakarta (2021–Sekarang)</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Mengajar audit, audit internal, sistem pengendalian manajemen, dan laboratorium akuntansi.</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5705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Tutor Daring, Universitas Terbuka Indonesia (2018–Sekarang)</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Memberikan pendampingan akademik dan penilaian melalui sistem pembelajaran jarak jauh.</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5084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Dosen Pengganti, Sekolah Vokasi FEB UGM (2014; 2018)</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Mengajar analisis laporan keuangan dan mendampingi kelas praktikum audit.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4771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Research Assistant, CEPPS UGM (2010–2014)</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Mendukung proyek riset ekonomi dan kebijakan publik.</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5532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Auditor, Ernst &amp; Young Indonesia (2007–2010)</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Melaksanakan prosedur audit serta menyiapkan kertas kerja dan laporan audit.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345" name="Google Shape;2345;h65eb7c06466a6d01_2_574"/>
          <p:cNvSpPr/>
          <p:nvPr/>
        </p:nvSpPr>
        <p:spPr>
          <a:xfrm>
            <a:off x="816246" y="947671"/>
            <a:ext cx="852805" cy="908691"/>
          </a:xfrm>
          <a:custGeom>
            <a:rect b="b" l="l" r="r" t="t"/>
            <a:pathLst>
              <a:path extrusionOk="0" h="1817381" w="1705610">
                <a:moveTo>
                  <a:pt x="0" y="0"/>
                </a:moveTo>
                <a:lnTo>
                  <a:pt x="1705610" y="0"/>
                </a:lnTo>
                <a:lnTo>
                  <a:pt x="1705610" y="1817381"/>
                </a:lnTo>
                <a:lnTo>
                  <a:pt x="0" y="1817381"/>
                </a:lnTo>
                <a:lnTo>
                  <a:pt x="0" y="0"/>
                </a:lnTo>
                <a:close/>
              </a:path>
            </a:pathLst>
          </a:custGeom>
          <a:blipFill rotWithShape="1">
            <a:blip r:embed="rId4">
              <a:alphaModFix/>
            </a:blip>
            <a:stretch>
              <a:fillRect b="0" l="-3280" r="-3270" t="0"/>
            </a:stretch>
          </a:blipFill>
          <a:ln>
            <a:noFill/>
          </a:ln>
        </p:spPr>
      </p:sp>
      <p:sp>
        <p:nvSpPr>
          <p:cNvPr id="2346" name="Google Shape;2346;h65eb7c06466a6d01_2_574"/>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5">
              <a:alphaModFix/>
            </a:blip>
            <a:stretch>
              <a:fillRect b="0" l="-2339" r="0" t="0"/>
            </a:stretch>
          </a:blipFill>
          <a:ln>
            <a:noFill/>
          </a:ln>
        </p:spPr>
      </p:sp>
      <p:sp>
        <p:nvSpPr>
          <p:cNvPr id="2347" name="Google Shape;2347;h65eb7c06466a6d01_2_574"/>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304000"/>
              </a:lnSpc>
              <a:spcBef>
                <a:spcPts val="0"/>
              </a:spcBef>
              <a:spcAft>
                <a:spcPts val="0"/>
              </a:spcAft>
              <a:buClr>
                <a:srgbClr val="0B3360"/>
              </a:buClr>
              <a:buSzPts val="1200"/>
              <a:buFont typeface="Arial"/>
              <a:buNone/>
            </a:pPr>
            <a:r>
              <a:t/>
            </a:r>
            <a:endParaRPr sz="1200"/>
          </a:p>
        </p:txBody>
      </p:sp>
      <p:graphicFrame>
        <p:nvGraphicFramePr>
          <p:cNvPr id="2348" name="Google Shape;2348;h65eb7c06466a6d01_2_574"/>
          <p:cNvGraphicFramePr/>
          <p:nvPr/>
        </p:nvGraphicFramePr>
        <p:xfrm>
          <a:off x="811501" y="3643784"/>
          <a:ext cx="3000000" cy="3000000"/>
        </p:xfrm>
        <a:graphic>
          <a:graphicData uri="http://schemas.openxmlformats.org/drawingml/2006/table">
            <a:tbl>
              <a:tblPr>
                <a:noFill/>
                <a:tableStyleId>{4C0A8FE5-9777-497B-A676-DF5488A54864}</a:tableStyleId>
              </a:tblPr>
              <a:tblGrid>
                <a:gridCol w="5284325"/>
              </a:tblGrid>
              <a:tr h="5603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Riset</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905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“Transformasi Digital BUMDes Kebonagung untuk Akselerasi Ketahanan Ekonomi Masyarakat Desa: Peran Kecerdasan Buatan (AI)” (Hibah Penelitian LLDIKTI, 2025)</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6687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“Pengaruh Kinerja Lingkungan, Sosial, dan Tata Kelola (ESG) terhadap Kinerja Perusahaan: Peran Kualitas Audit di Indonesia” (Hibah Penelitian LLDIKTI, 2023)</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712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“Evaluasi Penerapan Pilot Project Global Budget Sebagai Sistem Pembayaran Klaim pada RSUD Wates” (Hibah Penelitian LLDIKTI, 2022)</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3118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serta berbagai publikasi riset lainnya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graphicFrame>
        <p:nvGraphicFramePr>
          <p:cNvPr id="2349" name="Google Shape;2349;h65eb7c06466a6d01_2_574"/>
          <p:cNvGraphicFramePr/>
          <p:nvPr/>
        </p:nvGraphicFramePr>
        <p:xfrm>
          <a:off x="6246989" y="947671"/>
          <a:ext cx="3000000" cy="3000000"/>
        </p:xfrm>
        <a:graphic>
          <a:graphicData uri="http://schemas.openxmlformats.org/drawingml/2006/table">
            <a:tbl>
              <a:tblPr>
                <a:noFill/>
                <a:tableStyleId>{4C0A8FE5-9777-497B-A676-DF5488A54864}</a:tableStyleId>
              </a:tblPr>
              <a:tblGrid>
                <a:gridCol w="5283050"/>
              </a:tblGrid>
              <a:tr h="521600">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Proyek Sebelumnya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649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Proyek PEACH (UGM – World Bank)</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Terlibat sebagai staf keuangan dalam merancang dan menerapkan sistem pengelolaan keuangan proyek, serta sebagai fasilitator dalam penyusunan modul.</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4834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Basis Data Pajak &amp; Retribusi Daerah – Kabupaten Kulon Progo</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Melakukan survei lapangan untuk mengumpulkan data potensi pendapatan daerah.</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4776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Pendataan Fasilitas Pendidikan &amp; Kesehatan Berbasis GIS – Kabupaten Kutai Barat</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Mengumpulkan data primer sekolah dan puskesmas menggunakan GIS.</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350" name="Google Shape;2350;h65eb7c06466a6d01_2_574"/>
          <p:cNvSpPr/>
          <p:nvPr/>
        </p:nvSpPr>
        <p:spPr>
          <a:xfrm>
            <a:off x="1682705" y="254000"/>
            <a:ext cx="3555900" cy="406500"/>
          </a:xfrm>
          <a:prstGeom prst="rect">
            <a:avLst/>
          </a:prstGeom>
          <a:noFill/>
          <a:ln>
            <a:noFill/>
          </a:ln>
        </p:spPr>
        <p:txBody>
          <a:bodyPr anchorCtr="0" anchor="ctr" bIns="30475" lIns="60975" spcFirstLastPara="1" rIns="60975" wrap="square" tIns="30475">
            <a:noAutofit/>
          </a:bodyPr>
          <a:lstStyle/>
          <a:p>
            <a:pPr indent="0" lvl="0" marL="0" marR="0" rtl="0" algn="l">
              <a:spcBef>
                <a:spcPts val="0"/>
              </a:spcBef>
              <a:spcAft>
                <a:spcPts val="0"/>
              </a:spcAft>
              <a:buNone/>
            </a:pPr>
            <a:r>
              <a:rPr b="1" lang="en-US" sz="2300">
                <a:solidFill>
                  <a:srgbClr val="0D3D6E"/>
                </a:solidFill>
                <a:latin typeface="Arial"/>
                <a:ea typeface="Arial"/>
                <a:cs typeface="Arial"/>
                <a:sym typeface="Arial"/>
              </a:rPr>
              <a:t>Konsultan Kami</a:t>
            </a:r>
            <a:endParaRPr sz="9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5" name="Shape 2355"/>
        <p:cNvGrpSpPr/>
        <p:nvPr/>
      </p:nvGrpSpPr>
      <p:grpSpPr>
        <a:xfrm>
          <a:off x="0" y="0"/>
          <a:ext cx="0" cy="0"/>
          <a:chOff x="0" y="0"/>
          <a:chExt cx="0" cy="0"/>
        </a:xfrm>
      </p:grpSpPr>
      <p:sp>
        <p:nvSpPr>
          <p:cNvPr id="2356" name="Google Shape;2356;h65eb7c06466a6d01_2_591"/>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357" name="Google Shape;2357;h65eb7c06466a6d01_2_591"/>
          <p:cNvSpPr/>
          <p:nvPr/>
        </p:nvSpPr>
        <p:spPr>
          <a:xfrm>
            <a:off x="1699703" y="953785"/>
            <a:ext cx="4404932" cy="902589"/>
          </a:xfrm>
          <a:custGeom>
            <a:rect b="b" l="l" r="r" t="t"/>
            <a:pathLst>
              <a:path extrusionOk="0" h="1805178" w="8809863">
                <a:moveTo>
                  <a:pt x="0" y="0"/>
                </a:moveTo>
                <a:lnTo>
                  <a:pt x="8809863" y="0"/>
                </a:lnTo>
                <a:lnTo>
                  <a:pt x="8809863" y="1805178"/>
                </a:lnTo>
                <a:lnTo>
                  <a:pt x="0" y="1805178"/>
                </a:lnTo>
                <a:close/>
              </a:path>
            </a:pathLst>
          </a:custGeom>
          <a:solidFill>
            <a:srgbClr val="0B3360"/>
          </a:solidFill>
          <a:ln>
            <a:noFill/>
          </a:ln>
        </p:spPr>
      </p:sp>
      <p:sp>
        <p:nvSpPr>
          <p:cNvPr id="2358" name="Google Shape;2358;h65eb7c06466a6d01_2_591"/>
          <p:cNvSpPr/>
          <p:nvPr/>
        </p:nvSpPr>
        <p:spPr>
          <a:xfrm>
            <a:off x="1699703" y="949023"/>
            <a:ext cx="4404600" cy="907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Ekonomi, Analisis Data &amp; Kebijakan Publik</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Novat Pugo Sambodo, Ph.D.</a:t>
            </a:r>
            <a:endParaRPr sz="900"/>
          </a:p>
        </p:txBody>
      </p:sp>
      <p:sp>
        <p:nvSpPr>
          <p:cNvPr id="2359" name="Google Shape;2359;h65eb7c06466a6d01_2_591"/>
          <p:cNvSpPr/>
          <p:nvPr/>
        </p:nvSpPr>
        <p:spPr>
          <a:xfrm>
            <a:off x="816263" y="1918542"/>
            <a:ext cx="5283581" cy="1707496"/>
          </a:xfrm>
          <a:custGeom>
            <a:rect b="b" l="l" r="r" t="t"/>
            <a:pathLst>
              <a:path extrusionOk="0" h="3414992" w="10567162">
                <a:moveTo>
                  <a:pt x="0" y="0"/>
                </a:moveTo>
                <a:lnTo>
                  <a:pt x="10567162" y="0"/>
                </a:lnTo>
                <a:lnTo>
                  <a:pt x="10567162" y="3414992"/>
                </a:lnTo>
                <a:lnTo>
                  <a:pt x="0" y="3414992"/>
                </a:lnTo>
                <a:close/>
              </a:path>
            </a:pathLst>
          </a:custGeom>
          <a:solidFill>
            <a:srgbClr val="FFFFFF"/>
          </a:solidFill>
          <a:ln>
            <a:noFill/>
          </a:ln>
        </p:spPr>
      </p:sp>
      <p:sp>
        <p:nvSpPr>
          <p:cNvPr id="2360" name="Google Shape;2360;h65eb7c06466a6d01_2_591"/>
          <p:cNvSpPr/>
          <p:nvPr/>
        </p:nvSpPr>
        <p:spPr>
          <a:xfrm>
            <a:off x="811501" y="1913510"/>
            <a:ext cx="5293106" cy="1717560"/>
          </a:xfrm>
          <a:custGeom>
            <a:rect b="b" l="l" r="r" t="t"/>
            <a:pathLst>
              <a:path extrusionOk="0" h="3435119" w="10586212">
                <a:moveTo>
                  <a:pt x="9525" y="0"/>
                </a:moveTo>
                <a:lnTo>
                  <a:pt x="10576687" y="0"/>
                </a:lnTo>
                <a:cubicBezTo>
                  <a:pt x="10581894" y="0"/>
                  <a:pt x="10586212" y="4562"/>
                  <a:pt x="10586212" y="10064"/>
                </a:cubicBezTo>
                <a:lnTo>
                  <a:pt x="10586212" y="3425056"/>
                </a:lnTo>
                <a:cubicBezTo>
                  <a:pt x="10586212" y="3430557"/>
                  <a:pt x="10581894" y="3435119"/>
                  <a:pt x="10576687" y="3435119"/>
                </a:cubicBezTo>
                <a:lnTo>
                  <a:pt x="9525" y="3435119"/>
                </a:lnTo>
                <a:cubicBezTo>
                  <a:pt x="4318" y="3435119"/>
                  <a:pt x="0" y="3430557"/>
                  <a:pt x="0" y="3425056"/>
                </a:cubicBezTo>
                <a:lnTo>
                  <a:pt x="0" y="10064"/>
                </a:lnTo>
                <a:cubicBezTo>
                  <a:pt x="0" y="4562"/>
                  <a:pt x="4318" y="0"/>
                  <a:pt x="9525" y="0"/>
                </a:cubicBezTo>
                <a:moveTo>
                  <a:pt x="9525" y="20128"/>
                </a:moveTo>
                <a:lnTo>
                  <a:pt x="9525" y="10064"/>
                </a:lnTo>
                <a:lnTo>
                  <a:pt x="19050" y="10064"/>
                </a:lnTo>
                <a:lnTo>
                  <a:pt x="19050" y="3425056"/>
                </a:lnTo>
                <a:lnTo>
                  <a:pt x="9525" y="3425056"/>
                </a:lnTo>
                <a:lnTo>
                  <a:pt x="9525" y="3414992"/>
                </a:lnTo>
                <a:lnTo>
                  <a:pt x="10576687" y="3414992"/>
                </a:lnTo>
                <a:lnTo>
                  <a:pt x="10576687" y="3425056"/>
                </a:lnTo>
                <a:lnTo>
                  <a:pt x="10567162" y="3425056"/>
                </a:lnTo>
                <a:lnTo>
                  <a:pt x="10567162" y="10064"/>
                </a:lnTo>
                <a:lnTo>
                  <a:pt x="10576687" y="10064"/>
                </a:lnTo>
                <a:lnTo>
                  <a:pt x="10576687" y="20128"/>
                </a:lnTo>
                <a:lnTo>
                  <a:pt x="9525" y="20128"/>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61" name="Google Shape;2361;h65eb7c06466a6d01_2_591"/>
          <p:cNvSpPr/>
          <p:nvPr/>
        </p:nvSpPr>
        <p:spPr>
          <a:xfrm>
            <a:off x="811501" y="1908748"/>
            <a:ext cx="5293200" cy="17223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Ph.D. Ekonomi Kesehatan, Erasmus University Rotterdam, Belanda (2016–2024)</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Master of International &amp; Development Economics, The Australian National University (2014–2015)</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Sarjana Ekonomi, Universitas Gadjah Mada (2005–2010)</a:t>
            </a:r>
            <a:endParaRPr sz="900"/>
          </a:p>
          <a:p>
            <a:pPr indent="0" lvl="0" marL="0" marR="0" rtl="0" algn="l">
              <a:lnSpc>
                <a:spcPct val="120000"/>
              </a:lnSpc>
              <a:spcBef>
                <a:spcPts val="0"/>
              </a:spcBef>
              <a:spcAft>
                <a:spcPts val="0"/>
              </a:spcAft>
              <a:buSzPts val="1100"/>
              <a:buFont typeface="Arial"/>
              <a:buNone/>
            </a:pPr>
            <a:r>
              <a:t/>
            </a:r>
            <a:endParaRPr b="1" sz="1100">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44546A"/>
              </a:buClr>
              <a:buSzPts val="1100"/>
              <a:buFont typeface="Quattrocento"/>
              <a:buNone/>
            </a:pPr>
            <a:r>
              <a:rPr b="1" lang="en-US" sz="1100">
                <a:solidFill>
                  <a:srgbClr val="44546A"/>
                </a:solidFill>
                <a:latin typeface="Quattrocento"/>
                <a:ea typeface="Quattrocento"/>
                <a:cs typeface="Quattrocento"/>
                <a:sym typeface="Quattrocento"/>
              </a:rPr>
              <a:t>PENGHARGAAN &amp; SERTIFIKASI</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Riset akademik dan publikasi dalam bidang ekonomi, kemiskinan, dan kebijakan kesehatan.</a:t>
            </a:r>
            <a:endParaRPr sz="900"/>
          </a:p>
        </p:txBody>
      </p:sp>
      <p:graphicFrame>
        <p:nvGraphicFramePr>
          <p:cNvPr id="2362" name="Google Shape;2362;h65eb7c06466a6d01_2_591"/>
          <p:cNvGraphicFramePr/>
          <p:nvPr/>
        </p:nvGraphicFramePr>
        <p:xfrm>
          <a:off x="811501" y="3631097"/>
          <a:ext cx="3000000" cy="3000000"/>
        </p:xfrm>
        <a:graphic>
          <a:graphicData uri="http://schemas.openxmlformats.org/drawingml/2006/table">
            <a:tbl>
              <a:tblPr>
                <a:noFill/>
                <a:tableStyleId>{4C0A8FE5-9777-497B-A676-DF5488A54864}</a:tableStyleId>
              </a:tblPr>
              <a:tblGrid>
                <a:gridCol w="5283050"/>
              </a:tblGrid>
              <a:tr h="4456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1396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TNP2K – Analisis Kebijakan Kemiskinan dan Gizi</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Mendampingi penasihat kebijakan pangan dan gizi serta ekonom kemiskinan dalam analisis statistik dataset nasional (Riskesdas, Podes, IFLS, dan Susenas). Mendukung kompilasi data untuk kebijakan, melakukan analisis kuantitatif dan kualitatif, serta meninjau literatur tentang perlindungan sosial terkait kesehatan ibu dan anak, gizi, dan program pangan.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8086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SMA N 1 Teladan Yogyakarta – Pelatih Metodologi Penelitian</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Merancang dan memberikan tutorial metodologi penelitian bagi siswa SMA, membimbing penulisan riset mengenai isu sosial, serta memberikan konsultasi individual.</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363" name="Google Shape;2363;h65eb7c06466a6d01_2_591"/>
          <p:cNvGraphicFramePr/>
          <p:nvPr/>
        </p:nvGraphicFramePr>
        <p:xfrm>
          <a:off x="6260216" y="959291"/>
          <a:ext cx="3000000" cy="3000000"/>
        </p:xfrm>
        <a:graphic>
          <a:graphicData uri="http://schemas.openxmlformats.org/drawingml/2006/table">
            <a:tbl>
              <a:tblPr>
                <a:noFill/>
                <a:tableStyleId>{4C0A8FE5-9777-497B-A676-DF5488A54864}</a:tableStyleId>
              </a:tblPr>
              <a:tblGrid>
                <a:gridCol w="5156075"/>
              </a:tblGrid>
              <a:tr h="4451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8076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Laboratorium Ekonomi dan Bisnis Islam, FEB UGM – Research Assistant</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Menyelenggarakan workshop bagi pelatih perbankan syariah. Merangkum data keuangan dan bisnis syariah serta mempresentasikan temuan utama. Menulis laporan akademik tentang zakat, asuransi syariah, dan sukuk.</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1138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Pusat Studi Ekonomi dan Kebijakan Publik UGM – Research Assistant</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Mengumpulkan dan menganalisis data untuk rekomendasi kebijakan dan modul. Berinteraksi dengan pemerintah daerah serta staf di berbagai provinsi untuk mengumpulkan data sosial ekonomi. Menyelenggarakan pelatihan pengelolaan keuangan publik daerah di lima provinsi: Sulawesi Utara, Sulawesi Tenggara, Gorontalo, Sulawesi Selatan, dan Jawa Timur.</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9729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Kantor Wakil Presiden Republik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Menganalisis dataset sosial ekonomi nasional (SUSENAS, IFLS, PPLS), mempresentasikan temuan utama kepada staf khusus Wakil Presiden, mendukung kunjungan kerja resmi, serta mengoordinasikan pengumpulan data dengan kementerian dan lembaga pemerintah terkait.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9729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Departemen Ilmu Ekonomi Universitas Gadjah Mada – Asisten Tim Akreditasi BAN-PT dan Asisten Riset Dosen</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Menyiapkan data administrasi untuk akreditasi akademik oleh Kementerian Pendidikan. Menyiapkan materi promosi departemen untuk seminar dan situs web departemen.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364" name="Google Shape;2364;h65eb7c06466a6d01_2_591"/>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sp>
        <p:nvSpPr>
          <p:cNvPr id="2365" name="Google Shape;2365;h65eb7c06466a6d01_2_591"/>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
        <p:nvSpPr>
          <p:cNvPr id="2366" name="Google Shape;2366;h65eb7c06466a6d01_2_591"/>
          <p:cNvSpPr/>
          <p:nvPr/>
        </p:nvSpPr>
        <p:spPr>
          <a:xfrm>
            <a:off x="811501" y="947521"/>
            <a:ext cx="802640" cy="908735"/>
          </a:xfrm>
          <a:custGeom>
            <a:rect b="b" l="l" r="r" t="t"/>
            <a:pathLst>
              <a:path extrusionOk="0" h="920238" w="812800">
                <a:moveTo>
                  <a:pt x="0" y="0"/>
                </a:moveTo>
                <a:lnTo>
                  <a:pt x="812800" y="0"/>
                </a:lnTo>
                <a:lnTo>
                  <a:pt x="812800" y="920238"/>
                </a:lnTo>
                <a:lnTo>
                  <a:pt x="0" y="920238"/>
                </a:lnTo>
                <a:close/>
              </a:path>
            </a:pathLst>
          </a:custGeom>
          <a:blipFill rotWithShape="1">
            <a:blip r:embed="rId5">
              <a:alphaModFix/>
            </a:blip>
            <a:stretch>
              <a:fillRect b="0" l="-6610" r="-6610" t="0"/>
            </a:stretch>
          </a:blipFill>
          <a:ln>
            <a:noFill/>
          </a:ln>
        </p:spPr>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sp>
        <p:nvSpPr>
          <p:cNvPr id="2372" name="Google Shape;2372;h65eb7c06466a6d01_2_606"/>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373" name="Google Shape;2373;h65eb7c06466a6d01_2_606"/>
          <p:cNvSpPr/>
          <p:nvPr/>
        </p:nvSpPr>
        <p:spPr>
          <a:xfrm>
            <a:off x="1699703" y="953785"/>
            <a:ext cx="4404932" cy="902589"/>
          </a:xfrm>
          <a:custGeom>
            <a:rect b="b" l="l" r="r" t="t"/>
            <a:pathLst>
              <a:path extrusionOk="0" h="1805178" w="8809863">
                <a:moveTo>
                  <a:pt x="0" y="0"/>
                </a:moveTo>
                <a:lnTo>
                  <a:pt x="8809863" y="0"/>
                </a:lnTo>
                <a:lnTo>
                  <a:pt x="8809863" y="1805178"/>
                </a:lnTo>
                <a:lnTo>
                  <a:pt x="0" y="1805178"/>
                </a:lnTo>
                <a:close/>
              </a:path>
            </a:pathLst>
          </a:custGeom>
          <a:solidFill>
            <a:srgbClr val="0B3360"/>
          </a:solidFill>
          <a:ln>
            <a:noFill/>
          </a:ln>
        </p:spPr>
      </p:sp>
      <p:sp>
        <p:nvSpPr>
          <p:cNvPr id="2374" name="Google Shape;2374;h65eb7c06466a6d01_2_606"/>
          <p:cNvSpPr/>
          <p:nvPr/>
        </p:nvSpPr>
        <p:spPr>
          <a:xfrm>
            <a:off x="1699703" y="949023"/>
            <a:ext cx="4404600" cy="907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Audit, Pelaporan Keuangan &amp; Pengendalian Internal</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Azmul Fauzi</a:t>
            </a:r>
            <a:endParaRPr sz="900"/>
          </a:p>
        </p:txBody>
      </p:sp>
      <p:sp>
        <p:nvSpPr>
          <p:cNvPr id="2375" name="Google Shape;2375;h65eb7c06466a6d01_2_606"/>
          <p:cNvSpPr/>
          <p:nvPr/>
        </p:nvSpPr>
        <p:spPr>
          <a:xfrm>
            <a:off x="816263" y="1917373"/>
            <a:ext cx="5283581" cy="1310847"/>
          </a:xfrm>
          <a:custGeom>
            <a:rect b="b" l="l" r="r" t="t"/>
            <a:pathLst>
              <a:path extrusionOk="0" h="2621694" w="10567162">
                <a:moveTo>
                  <a:pt x="0" y="0"/>
                </a:moveTo>
                <a:lnTo>
                  <a:pt x="10567162" y="0"/>
                </a:lnTo>
                <a:lnTo>
                  <a:pt x="10567162" y="2621694"/>
                </a:lnTo>
                <a:lnTo>
                  <a:pt x="0" y="2621694"/>
                </a:lnTo>
                <a:close/>
              </a:path>
            </a:pathLst>
          </a:custGeom>
          <a:solidFill>
            <a:srgbClr val="FFFFFF"/>
          </a:solidFill>
          <a:ln>
            <a:noFill/>
          </a:ln>
        </p:spPr>
      </p:sp>
      <p:sp>
        <p:nvSpPr>
          <p:cNvPr id="2376" name="Google Shape;2376;h65eb7c06466a6d01_2_606"/>
          <p:cNvSpPr/>
          <p:nvPr/>
        </p:nvSpPr>
        <p:spPr>
          <a:xfrm>
            <a:off x="811501" y="1913510"/>
            <a:ext cx="5293106" cy="1318573"/>
          </a:xfrm>
          <a:custGeom>
            <a:rect b="b" l="l" r="r" t="t"/>
            <a:pathLst>
              <a:path extrusionOk="0" h="2637146" w="10586212">
                <a:moveTo>
                  <a:pt x="9525" y="0"/>
                </a:moveTo>
                <a:lnTo>
                  <a:pt x="10576687" y="0"/>
                </a:lnTo>
                <a:cubicBezTo>
                  <a:pt x="10581894" y="0"/>
                  <a:pt x="10586212" y="3502"/>
                  <a:pt x="10586212" y="7726"/>
                </a:cubicBezTo>
                <a:lnTo>
                  <a:pt x="10586212" y="2629420"/>
                </a:lnTo>
                <a:cubicBezTo>
                  <a:pt x="10586212" y="2633643"/>
                  <a:pt x="10581894" y="2637146"/>
                  <a:pt x="10576687" y="2637146"/>
                </a:cubicBezTo>
                <a:lnTo>
                  <a:pt x="9525" y="2637146"/>
                </a:lnTo>
                <a:cubicBezTo>
                  <a:pt x="4318" y="2637146"/>
                  <a:pt x="0" y="2633643"/>
                  <a:pt x="0" y="2629420"/>
                </a:cubicBezTo>
                <a:lnTo>
                  <a:pt x="0" y="7726"/>
                </a:lnTo>
                <a:cubicBezTo>
                  <a:pt x="0" y="3502"/>
                  <a:pt x="4318" y="0"/>
                  <a:pt x="9525" y="0"/>
                </a:cubicBezTo>
                <a:moveTo>
                  <a:pt x="9525" y="15452"/>
                </a:moveTo>
                <a:lnTo>
                  <a:pt x="9525" y="7726"/>
                </a:lnTo>
                <a:lnTo>
                  <a:pt x="19050" y="7726"/>
                </a:lnTo>
                <a:lnTo>
                  <a:pt x="19050" y="2629420"/>
                </a:lnTo>
                <a:lnTo>
                  <a:pt x="9525" y="2629420"/>
                </a:lnTo>
                <a:lnTo>
                  <a:pt x="9525" y="2621694"/>
                </a:lnTo>
                <a:lnTo>
                  <a:pt x="10576687" y="2621694"/>
                </a:lnTo>
                <a:lnTo>
                  <a:pt x="10576687" y="2629420"/>
                </a:lnTo>
                <a:lnTo>
                  <a:pt x="10567162" y="2629420"/>
                </a:lnTo>
                <a:lnTo>
                  <a:pt x="10567162" y="7726"/>
                </a:lnTo>
                <a:lnTo>
                  <a:pt x="10576687" y="7726"/>
                </a:lnTo>
                <a:lnTo>
                  <a:pt x="10576687" y="15452"/>
                </a:lnTo>
                <a:lnTo>
                  <a:pt x="9525" y="15452"/>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77" name="Google Shape;2377;h65eb7c06466a6d01_2_606"/>
          <p:cNvSpPr/>
          <p:nvPr/>
        </p:nvSpPr>
        <p:spPr>
          <a:xfrm>
            <a:off x="811501" y="1908748"/>
            <a:ext cx="5293200" cy="13233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Sarjana Ekonomi – Universitas Brawijaya</a:t>
            </a:r>
            <a:endParaRPr sz="900"/>
          </a:p>
          <a:p>
            <a:pPr indent="0" lvl="0" marL="0" marR="0" rtl="0" algn="l">
              <a:lnSpc>
                <a:spcPct val="120000"/>
              </a:lnSpc>
              <a:spcBef>
                <a:spcPts val="0"/>
              </a:spcBef>
              <a:spcAft>
                <a:spcPts val="0"/>
              </a:spcAft>
              <a:buSzPts val="1100"/>
              <a:buFont typeface="Arial"/>
              <a:buNone/>
            </a:pPr>
            <a:r>
              <a:t/>
            </a:r>
            <a:endParaRPr b="1" sz="1100">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44546A"/>
              </a:buClr>
              <a:buSzPts val="1100"/>
              <a:buFont typeface="Quattrocento"/>
              <a:buNone/>
            </a:pPr>
            <a:r>
              <a:rPr b="1" lang="en-US" sz="1100">
                <a:solidFill>
                  <a:srgbClr val="44546A"/>
                </a:solidFill>
                <a:latin typeface="Quattrocento"/>
                <a:ea typeface="Quattrocento"/>
                <a:cs typeface="Quattrocento"/>
                <a:sym typeface="Quattrocento"/>
              </a:rPr>
              <a:t>PENGHARGAAN &amp; SERTIFIKASI</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Associate Certified Public Accountant (ACPA)</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Sertifikasi Pajak Brevet A &amp; B</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Pelatihan Audit Internal &amp; Manajemen Risiko</a:t>
            </a:r>
            <a:endParaRPr sz="900"/>
          </a:p>
        </p:txBody>
      </p:sp>
      <p:graphicFrame>
        <p:nvGraphicFramePr>
          <p:cNvPr id="2378" name="Google Shape;2378;h65eb7c06466a6d01_2_606"/>
          <p:cNvGraphicFramePr/>
          <p:nvPr/>
        </p:nvGraphicFramePr>
        <p:xfrm>
          <a:off x="821426" y="3429000"/>
          <a:ext cx="3000000" cy="3000000"/>
        </p:xfrm>
        <a:graphic>
          <a:graphicData uri="http://schemas.openxmlformats.org/drawingml/2006/table">
            <a:tbl>
              <a:tblPr>
                <a:noFill/>
                <a:tableStyleId>{4C0A8FE5-9777-497B-A676-DF5488A54864}</a:tableStyleId>
              </a:tblPr>
              <a:tblGrid>
                <a:gridCol w="5283050"/>
              </a:tblGrid>
              <a:tr h="4492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4697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Audit Manager – Deloitte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penugasan audit bagi klien Public Interest Entity (PIE) di industri jasa keuangan dan nonkeuangan. Bertanggung jawab menelaah laporan keuangan, estimasi akuntansi, pengungkapan, dan efektivitas pengendalian internal agar sesuai dengan standar akuntansi dan regulasi. Berkoordinasi dengan manajemen, komite audit, dan regulator dalam penyelesaian isu akuntansi kompleks, penyajian kembali laporan keuangan, dan pelaporan, sekaligus mengelola jadwal, anggaran, dan tim audit.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1304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Assistant Manager – Deloitte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Memimpin penugasan audit untuk perusahaan multifinance dan manufaktur, termasuk audit implementasi PSAK 71, PSAK 72, dan PSAK 73. Mengelola area risiko akuntansi yang signifikan, audit investigatif, penyajian kembali laporan keuangan, dan evaluasi pengendalian internal. Mengawasi tim audit, mengoordinasikan penyesuaian audit, serta menyiapkan rekomendasi bagi manajemen untuk meningkatkan efektivitas pengendalian dan kualitas pelaporan.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379" name="Google Shape;2379;h65eb7c06466a6d01_2_606"/>
          <p:cNvGraphicFramePr/>
          <p:nvPr/>
        </p:nvGraphicFramePr>
        <p:xfrm>
          <a:off x="6260216" y="959291"/>
          <a:ext cx="3000000" cy="3000000"/>
        </p:xfrm>
        <a:graphic>
          <a:graphicData uri="http://schemas.openxmlformats.org/drawingml/2006/table">
            <a:tbl>
              <a:tblPr>
                <a:noFill/>
                <a:tableStyleId>{4C0A8FE5-9777-497B-A676-DF5488A54864}</a:tableStyleId>
              </a:tblPr>
              <a:tblGrid>
                <a:gridCol w="5156075"/>
              </a:tblGrid>
              <a:tr h="4455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139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Senior Auditor – Deloitte Indonesia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Melakukan pengujian audit terperinci, rekonsiliasi keuangan, telaah akuntansi, dan penilaian pengendalian internal. Membantu evaluasi estimasi akuntansi dan pengakuan pendapatan serta mendukung penugasan audit berdasarkan standar Southeast Asia Practice Review. Mengawasi staf junior dan menjaga mutu audit.</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1139300">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Owner – Fandyta Food</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Mengelola operasional akuntansi, penganggaran, analisis margin, pemantauan keuangan, dan pengendalian biaya operasional untuk beberapa merek konsumen. Membangun proses pengendalian internal, memantau arus kas, dan mengawasi tim operasional guna mendukung pertumbuhan bisnis yang berkelanjutan serta disiplin keuangan.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380" name="Google Shape;2380;h65eb7c06466a6d01_2_606"/>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sp>
        <p:nvSpPr>
          <p:cNvPr id="2381" name="Google Shape;2381;h65eb7c06466a6d01_2_606"/>
          <p:cNvSpPr/>
          <p:nvPr/>
        </p:nvSpPr>
        <p:spPr>
          <a:xfrm>
            <a:off x="811501" y="947521"/>
            <a:ext cx="802640" cy="908735"/>
          </a:xfrm>
          <a:custGeom>
            <a:rect b="b" l="l" r="r" t="t"/>
            <a:pathLst>
              <a:path extrusionOk="0" h="920238" w="812800">
                <a:moveTo>
                  <a:pt x="0" y="0"/>
                </a:moveTo>
                <a:lnTo>
                  <a:pt x="812800" y="0"/>
                </a:lnTo>
                <a:lnTo>
                  <a:pt x="812800" y="920238"/>
                </a:lnTo>
                <a:lnTo>
                  <a:pt x="0" y="920238"/>
                </a:lnTo>
                <a:close/>
              </a:path>
            </a:pathLst>
          </a:custGeom>
          <a:blipFill rotWithShape="1">
            <a:blip r:embed="rId5">
              <a:alphaModFix/>
            </a:blip>
            <a:stretch>
              <a:fillRect b="0" l="-6610" r="-6610" t="0"/>
            </a:stretch>
          </a:blipFill>
          <a:ln>
            <a:noFill/>
          </a:ln>
        </p:spPr>
      </p:sp>
      <p:sp>
        <p:nvSpPr>
          <p:cNvPr id="2382" name="Google Shape;2382;h65eb7c06466a6d01_2_606"/>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304000"/>
              </a:lnSpc>
              <a:spcBef>
                <a:spcPts val="0"/>
              </a:spcBef>
              <a:spcAft>
                <a:spcPts val="0"/>
              </a:spcAft>
              <a:buClr>
                <a:srgbClr val="0B3360"/>
              </a:buClr>
              <a:buSzPts val="1200"/>
              <a:buFont typeface="Arial"/>
              <a:buNone/>
            </a:pPr>
            <a:r>
              <a:t/>
            </a:r>
            <a:endParaRPr sz="1200"/>
          </a:p>
        </p:txBody>
      </p:sp>
      <p:graphicFrame>
        <p:nvGraphicFramePr>
          <p:cNvPr id="2383" name="Google Shape;2383;h65eb7c06466a6d01_2_606"/>
          <p:cNvGraphicFramePr/>
          <p:nvPr/>
        </p:nvGraphicFramePr>
        <p:xfrm>
          <a:off x="6260216" y="3829491"/>
          <a:ext cx="3000000" cy="3000000"/>
        </p:xfrm>
        <a:graphic>
          <a:graphicData uri="http://schemas.openxmlformats.org/drawingml/2006/table">
            <a:tbl>
              <a:tblPr>
                <a:noFill/>
                <a:tableStyleId>{4C0A8FE5-9777-497B-A676-DF5488A54864}</a:tableStyleId>
              </a:tblPr>
              <a:tblGrid>
                <a:gridCol w="5156075"/>
              </a:tblGrid>
              <a:tr h="4459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Kompetensi Utama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471700">
                <a:tc>
                  <a:txBody>
                    <a:bodyPr/>
                    <a:lstStyle/>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Kesiapan Pelaporan &amp; Penutupan Keuangan</a:t>
                      </a:r>
                      <a:endParaRPr sz="800" u="none" cap="none" strike="noStrike"/>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Estimasi &amp; Pertimbangan Akuntansi (AFDA, Penurunan Nilai, Going Concern)</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Interpretasi &amp; Implementasi PSAK</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Pengendalian Internal &amp; ICFR</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Telaah &amp; Pengungkapan Laporan Keuangan</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Koordinasi Audit &amp; Regulasi</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Penganggaran &amp; Disiplin Keuangan</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Analitik Data &amp; Power BI</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384" name="Google Shape;2384;h65eb7c06466a6d01_2_606"/>
          <p:cNvSpPr/>
          <p:nvPr/>
        </p:nvSpPr>
        <p:spPr>
          <a:xfrm>
            <a:off x="1682705" y="254000"/>
            <a:ext cx="3555900" cy="406500"/>
          </a:xfrm>
          <a:prstGeom prst="rect">
            <a:avLst/>
          </a:prstGeom>
          <a:noFill/>
          <a:ln>
            <a:noFill/>
          </a:ln>
        </p:spPr>
        <p:txBody>
          <a:bodyPr anchorCtr="0" anchor="ctr" bIns="30475" lIns="60975" spcFirstLastPara="1" rIns="60975" wrap="square" tIns="30475">
            <a:noAutofit/>
          </a:bodyPr>
          <a:lstStyle/>
          <a:p>
            <a:pPr indent="0" lvl="0" marL="0" marR="0" rtl="0" algn="l">
              <a:spcBef>
                <a:spcPts val="0"/>
              </a:spcBef>
              <a:spcAft>
                <a:spcPts val="0"/>
              </a:spcAft>
              <a:buNone/>
            </a:pPr>
            <a:r>
              <a:rPr b="1" lang="en-US" sz="2300">
                <a:solidFill>
                  <a:srgbClr val="0D3D6E"/>
                </a:solidFill>
                <a:latin typeface="Arial"/>
                <a:ea typeface="Arial"/>
                <a:cs typeface="Arial"/>
                <a:sym typeface="Arial"/>
              </a:rPr>
              <a:t>Konsultan Kami</a:t>
            </a:r>
            <a:endParaRPr sz="9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9" name="Shape 2389"/>
        <p:cNvGrpSpPr/>
        <p:nvPr/>
      </p:nvGrpSpPr>
      <p:grpSpPr>
        <a:xfrm>
          <a:off x="0" y="0"/>
          <a:ext cx="0" cy="0"/>
          <a:chOff x="0" y="0"/>
          <a:chExt cx="0" cy="0"/>
        </a:xfrm>
      </p:grpSpPr>
      <p:sp>
        <p:nvSpPr>
          <p:cNvPr id="2390" name="Google Shape;2390;h65eb7c06466a6d01_2_623"/>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391" name="Google Shape;2391;h65eb7c06466a6d01_2_623"/>
          <p:cNvSpPr/>
          <p:nvPr/>
        </p:nvSpPr>
        <p:spPr>
          <a:xfrm>
            <a:off x="1699703" y="953785"/>
            <a:ext cx="4404932" cy="902589"/>
          </a:xfrm>
          <a:custGeom>
            <a:rect b="b" l="l" r="r" t="t"/>
            <a:pathLst>
              <a:path extrusionOk="0" h="1805178" w="8809863">
                <a:moveTo>
                  <a:pt x="0" y="0"/>
                </a:moveTo>
                <a:lnTo>
                  <a:pt x="8809863" y="0"/>
                </a:lnTo>
                <a:lnTo>
                  <a:pt x="8809863" y="1805178"/>
                </a:lnTo>
                <a:lnTo>
                  <a:pt x="0" y="1805178"/>
                </a:lnTo>
                <a:close/>
              </a:path>
            </a:pathLst>
          </a:custGeom>
          <a:solidFill>
            <a:srgbClr val="0B3360"/>
          </a:solidFill>
          <a:ln>
            <a:noFill/>
          </a:ln>
        </p:spPr>
      </p:sp>
      <p:sp>
        <p:nvSpPr>
          <p:cNvPr id="2392" name="Google Shape;2392;h65eb7c06466a6d01_2_623"/>
          <p:cNvSpPr/>
          <p:nvPr/>
        </p:nvSpPr>
        <p:spPr>
          <a:xfrm>
            <a:off x="1699703" y="949023"/>
            <a:ext cx="4404600" cy="907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 Tenaga Ahli Teknis Independen</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Ridho Satria Indrajayatama</a:t>
            </a:r>
            <a:endParaRPr sz="900"/>
          </a:p>
        </p:txBody>
      </p:sp>
      <p:sp>
        <p:nvSpPr>
          <p:cNvPr id="2393" name="Google Shape;2393;h65eb7c06466a6d01_2_623"/>
          <p:cNvSpPr/>
          <p:nvPr/>
        </p:nvSpPr>
        <p:spPr>
          <a:xfrm>
            <a:off x="816263" y="1919509"/>
            <a:ext cx="5283581" cy="2035756"/>
          </a:xfrm>
          <a:custGeom>
            <a:rect b="b" l="l" r="r" t="t"/>
            <a:pathLst>
              <a:path extrusionOk="0" h="4071512" w="10567162">
                <a:moveTo>
                  <a:pt x="0" y="0"/>
                </a:moveTo>
                <a:lnTo>
                  <a:pt x="10567162" y="0"/>
                </a:lnTo>
                <a:lnTo>
                  <a:pt x="10567162" y="4071512"/>
                </a:lnTo>
                <a:lnTo>
                  <a:pt x="0" y="4071512"/>
                </a:lnTo>
                <a:close/>
              </a:path>
            </a:pathLst>
          </a:custGeom>
          <a:solidFill>
            <a:srgbClr val="FFFFFF"/>
          </a:solidFill>
          <a:ln>
            <a:noFill/>
          </a:ln>
        </p:spPr>
      </p:sp>
      <p:sp>
        <p:nvSpPr>
          <p:cNvPr id="2394" name="Google Shape;2394;h65eb7c06466a6d01_2_623"/>
          <p:cNvSpPr/>
          <p:nvPr/>
        </p:nvSpPr>
        <p:spPr>
          <a:xfrm>
            <a:off x="811501" y="1913510"/>
            <a:ext cx="5293106" cy="2047755"/>
          </a:xfrm>
          <a:custGeom>
            <a:rect b="b" l="l" r="r" t="t"/>
            <a:pathLst>
              <a:path extrusionOk="0" h="4095509" w="10586212">
                <a:moveTo>
                  <a:pt x="9525" y="0"/>
                </a:moveTo>
                <a:lnTo>
                  <a:pt x="10576687" y="0"/>
                </a:lnTo>
                <a:cubicBezTo>
                  <a:pt x="10581894" y="0"/>
                  <a:pt x="10586212" y="5439"/>
                  <a:pt x="10586212" y="11999"/>
                </a:cubicBezTo>
                <a:lnTo>
                  <a:pt x="10586212" y="4083511"/>
                </a:lnTo>
                <a:cubicBezTo>
                  <a:pt x="10586212" y="4090070"/>
                  <a:pt x="10581894" y="4095509"/>
                  <a:pt x="10576687" y="4095509"/>
                </a:cubicBezTo>
                <a:lnTo>
                  <a:pt x="9525" y="4095509"/>
                </a:lnTo>
                <a:cubicBezTo>
                  <a:pt x="4318" y="4095509"/>
                  <a:pt x="0" y="4090070"/>
                  <a:pt x="0" y="4083511"/>
                </a:cubicBezTo>
                <a:lnTo>
                  <a:pt x="0" y="11999"/>
                </a:lnTo>
                <a:cubicBezTo>
                  <a:pt x="0" y="5439"/>
                  <a:pt x="4318" y="0"/>
                  <a:pt x="9525" y="0"/>
                </a:cubicBezTo>
                <a:moveTo>
                  <a:pt x="9525" y="23997"/>
                </a:moveTo>
                <a:lnTo>
                  <a:pt x="9525" y="11999"/>
                </a:lnTo>
                <a:lnTo>
                  <a:pt x="19050" y="11999"/>
                </a:lnTo>
                <a:lnTo>
                  <a:pt x="19050" y="4083511"/>
                </a:lnTo>
                <a:lnTo>
                  <a:pt x="9525" y="4083511"/>
                </a:lnTo>
                <a:lnTo>
                  <a:pt x="9525" y="4071512"/>
                </a:lnTo>
                <a:lnTo>
                  <a:pt x="10576687" y="4071512"/>
                </a:lnTo>
                <a:lnTo>
                  <a:pt x="10576687" y="4083511"/>
                </a:lnTo>
                <a:lnTo>
                  <a:pt x="10567162" y="4083511"/>
                </a:lnTo>
                <a:lnTo>
                  <a:pt x="10567162" y="11999"/>
                </a:lnTo>
                <a:lnTo>
                  <a:pt x="10576687" y="11999"/>
                </a:lnTo>
                <a:lnTo>
                  <a:pt x="10576687" y="23997"/>
                </a:lnTo>
                <a:lnTo>
                  <a:pt x="9525" y="23997"/>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395" name="Google Shape;2395;h65eb7c06466a6d01_2_623"/>
          <p:cNvSpPr/>
          <p:nvPr/>
        </p:nvSpPr>
        <p:spPr>
          <a:xfrm>
            <a:off x="811501" y="1908748"/>
            <a:ext cx="5293200" cy="20523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Sedang menempuh S2 Manajemen Konstruksi &amp; Teknik Sipil, Institut Teknologi Sepuluh Nopember (2025 – Sekarang)</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Sarjana Teknik Pengairan, Universitas Brawijaya (2016 – 2020)</a:t>
            </a:r>
            <a:endParaRPr sz="900"/>
          </a:p>
          <a:p>
            <a:pPr indent="0" lvl="0" marL="0" marR="0" rtl="0" algn="l">
              <a:lnSpc>
                <a:spcPct val="120000"/>
              </a:lnSpc>
              <a:spcBef>
                <a:spcPts val="0"/>
              </a:spcBef>
              <a:spcAft>
                <a:spcPts val="0"/>
              </a:spcAft>
              <a:buSzPts val="1100"/>
              <a:buFont typeface="Arial"/>
              <a:buNone/>
            </a:pPr>
            <a:r>
              <a:t/>
            </a:r>
            <a:endParaRPr b="1" i="0" sz="1100" u="none" cap="none" strike="noStrike">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44546A"/>
              </a:buClr>
              <a:buSzPts val="1100"/>
              <a:buFont typeface="Quattrocento"/>
              <a:buNone/>
            </a:pPr>
            <a:r>
              <a:rPr b="1" lang="en-US" sz="1100">
                <a:solidFill>
                  <a:srgbClr val="44546A"/>
                </a:solidFill>
                <a:latin typeface="Quattrocento"/>
                <a:ea typeface="Quattrocento"/>
                <a:cs typeface="Quattrocento"/>
                <a:sym typeface="Quattrocento"/>
              </a:rPr>
              <a:t>PENCAPAIAN</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Juara 1 – Best Project in Asia Pacific, Enhancing Society Together Awards 2022 (Royal HaskoningDHV Asia Pacific)</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Juara 3 – Best Project Worldwide, Enhancing Society Together Awards 2022 (Royal HaskoningDHV Belanda)</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Meraih skor kepuasan klien 9/10.</a:t>
            </a:r>
            <a:endParaRPr sz="900"/>
          </a:p>
        </p:txBody>
      </p:sp>
      <p:graphicFrame>
        <p:nvGraphicFramePr>
          <p:cNvPr id="2396" name="Google Shape;2396;h65eb7c06466a6d01_2_623"/>
          <p:cNvGraphicFramePr/>
          <p:nvPr/>
        </p:nvGraphicFramePr>
        <p:xfrm>
          <a:off x="821426" y="3961297"/>
          <a:ext cx="3000000" cy="3000000"/>
        </p:xfrm>
        <a:graphic>
          <a:graphicData uri="http://schemas.openxmlformats.org/drawingml/2006/table">
            <a:tbl>
              <a:tblPr>
                <a:noFill/>
                <a:tableStyleId>{4C0A8FE5-9777-497B-A676-DF5488A54864}</a:tableStyleId>
              </a:tblPr>
              <a:tblGrid>
                <a:gridCol w="5283050"/>
              </a:tblGrid>
              <a:tr h="446100">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306475">
                <a:tc>
                  <a:txBody>
                    <a:bodyPr/>
                    <a:lstStyle/>
                    <a:p>
                      <a:pPr indent="0" lvl="0" marL="0" marR="0" rtl="0" algn="just">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Konsultan Individu Sumber Daya Air</a:t>
                      </a:r>
                      <a:endParaRPr sz="800" u="none" cap="none" strike="noStrike"/>
                    </a:p>
                    <a:p>
                      <a:pPr indent="0" lvl="0" marL="0" marR="0" rtl="0" algn="just">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Insinyur profesional dengan pengalaman lebih dari lima tahun dalam berbagai proyek nasional dan internasional, termasuk pengendalian banjir, rekayasa sungai, desain drainase, dan instalasi pengolahan air dengan ke</a:t>
                      </a:r>
                      <a:r>
                        <a:rPr lang="en-US" sz="1100">
                          <a:latin typeface="Quattrocento"/>
                          <a:ea typeface="Quattrocento"/>
                          <a:cs typeface="Quattrocento"/>
                          <a:sym typeface="Quattrocento"/>
                        </a:rPr>
                        <a:t>Output</a:t>
                      </a:r>
                      <a:r>
                        <a:rPr lang="en-US" sz="1100" u="none" cap="none" strike="noStrike">
                          <a:solidFill>
                            <a:srgbClr val="000000"/>
                          </a:solidFill>
                          <a:latin typeface="Quattrocento"/>
                          <a:ea typeface="Quattrocento"/>
                          <a:cs typeface="Quattrocento"/>
                          <a:sym typeface="Quattrocento"/>
                        </a:rPr>
                        <a:t> BED &amp; DED. Berpengalaman mengevaluasi dan menyusun proses bisnis serta SOP aspek teknis pada proyek instalasi pengolahan air.</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397" name="Google Shape;2397;h65eb7c06466a6d01_2_623"/>
          <p:cNvGraphicFramePr/>
          <p:nvPr/>
        </p:nvGraphicFramePr>
        <p:xfrm>
          <a:off x="6260216" y="959291"/>
          <a:ext cx="3000000" cy="3000000"/>
        </p:xfrm>
        <a:graphic>
          <a:graphicData uri="http://schemas.openxmlformats.org/drawingml/2006/table">
            <a:tbl>
              <a:tblPr>
                <a:noFill/>
                <a:tableStyleId>{4C0A8FE5-9777-497B-A676-DF5488A54864}</a:tableStyleId>
              </a:tblPr>
              <a:tblGrid>
                <a:gridCol w="5156075"/>
              </a:tblGrid>
              <a:tr h="44517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11383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Water Resources Engineer / Civil Hydraulics – Royal HaskoningDHV</a:t>
                      </a:r>
                      <a:endParaRPr sz="800" u="none" cap="none" strike="noStrike"/>
                    </a:p>
                    <a:p>
                      <a:pPr indent="0" lvl="0" marL="0" marR="0" rtl="0" algn="just">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Menangani analisis hidrologi dan hidraulika untuk sistem pengendalian banjir, studi drainase, rekayasa sungai, dan proyek infrastruktur air. Melakukan pemodelan DAS, simulasi banjir, dan kajian teknik menggunakan HEC-HMS, HEC-RAS, SWMM, dan EPANET untuk proyek di Indonesia dan luar negeri.</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r h="97302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Business Development Technical Support Staff – Royal HaskoningDHV</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Mendukung akuisisi proyek melalui penyusunan proposal teknis, anggaran proyek, jadwal, studi kelayakan, dan dokumentasi teknik. Berkoordinasi dengan klien dan tim multidisiplin untuk proyek infrastruktur serta pembangkit listrik tenaga air.</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8076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Assistant Engineer – PT Caturbina Guna Persada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Mendukung kegiatan teknik dan survei untuk proyek bendungan dan infrastruktur irigasi, termasuk persiapan proyek, bantuan teknis, dan koordinasi lapangan.</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r h="807675">
                <a:tc>
                  <a:txBody>
                    <a:bodyPr/>
                    <a:lstStyle/>
                    <a:p>
                      <a:pPr indent="0" lvl="0" marL="0" marR="0" rtl="0" algn="l">
                        <a:lnSpc>
                          <a:spcPct val="120000"/>
                        </a:lnSpc>
                        <a:spcBef>
                          <a:spcPts val="0"/>
                        </a:spcBef>
                        <a:spcAft>
                          <a:spcPts val="0"/>
                        </a:spcAft>
                        <a:buClr>
                          <a:srgbClr val="000000"/>
                        </a:buClr>
                        <a:buSzPts val="1100"/>
                        <a:buFont typeface="Quattrocento"/>
                        <a:buNone/>
                      </a:pPr>
                      <a:r>
                        <a:rPr b="1" lang="en-US" sz="1100" u="none" cap="none" strike="noStrike">
                          <a:solidFill>
                            <a:srgbClr val="000000"/>
                          </a:solidFill>
                          <a:latin typeface="Quattrocento"/>
                          <a:ea typeface="Quattrocento"/>
                          <a:cs typeface="Quattrocento"/>
                          <a:sym typeface="Quattrocento"/>
                        </a:rPr>
                        <a:t>Assistant Hydro Engineer – PT Bennatin Surya Cipta</a:t>
                      </a:r>
                      <a:endParaRPr sz="800" u="none" cap="none" strike="noStrike"/>
                    </a:p>
                    <a:p>
                      <a:pPr indent="0" lvl="0" marL="0" marR="0" rtl="0" algn="l">
                        <a:lnSpc>
                          <a:spcPct val="120000"/>
                        </a:lnSpc>
                        <a:spcBef>
                          <a:spcPts val="0"/>
                        </a:spcBef>
                        <a:spcAft>
                          <a:spcPts val="0"/>
                        </a:spcAft>
                        <a:buClr>
                          <a:srgbClr val="000000"/>
                        </a:buClr>
                        <a:buSzPts val="1100"/>
                        <a:buFont typeface="Quattrocento"/>
                        <a:buNone/>
                      </a:pPr>
                      <a:r>
                        <a:rPr lang="en-US" sz="1100" u="none" cap="none" strike="noStrike">
                          <a:solidFill>
                            <a:srgbClr val="000000"/>
                          </a:solidFill>
                          <a:latin typeface="Quattrocento"/>
                          <a:ea typeface="Quattrocento"/>
                          <a:cs typeface="Quattrocento"/>
                          <a:sym typeface="Quattrocento"/>
                        </a:rPr>
                        <a:t>Mendukung studi hidrologi dan perencanaan infrastruktur untuk proyek drainase dan pengembangan polder melalui analisis teknis dan dukungan rekayasa.</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E6E8ED"/>
                    </a:solidFill>
                  </a:tcPr>
                </a:tc>
              </a:tr>
            </a:tbl>
          </a:graphicData>
        </a:graphic>
      </p:graphicFrame>
      <p:sp>
        <p:nvSpPr>
          <p:cNvPr id="2398" name="Google Shape;2398;h65eb7c06466a6d01_2_623"/>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sp>
        <p:nvSpPr>
          <p:cNvPr id="2399" name="Google Shape;2399;h65eb7c06466a6d01_2_623"/>
          <p:cNvSpPr/>
          <p:nvPr/>
        </p:nvSpPr>
        <p:spPr>
          <a:xfrm>
            <a:off x="811501" y="947521"/>
            <a:ext cx="802640" cy="908735"/>
          </a:xfrm>
          <a:custGeom>
            <a:rect b="b" l="l" r="r" t="t"/>
            <a:pathLst>
              <a:path extrusionOk="0" h="920238" w="812800">
                <a:moveTo>
                  <a:pt x="0" y="0"/>
                </a:moveTo>
                <a:lnTo>
                  <a:pt x="812800" y="0"/>
                </a:lnTo>
                <a:lnTo>
                  <a:pt x="812800" y="920238"/>
                </a:lnTo>
                <a:lnTo>
                  <a:pt x="0" y="920238"/>
                </a:lnTo>
                <a:close/>
              </a:path>
            </a:pathLst>
          </a:custGeom>
          <a:blipFill rotWithShape="1">
            <a:blip r:embed="rId5">
              <a:alphaModFix/>
            </a:blip>
            <a:stretch>
              <a:fillRect b="-32071" l="0" r="0" t="0"/>
            </a:stretch>
          </a:blipFill>
          <a:ln>
            <a:noFill/>
          </a:ln>
        </p:spPr>
      </p:sp>
      <p:sp>
        <p:nvSpPr>
          <p:cNvPr id="2400" name="Google Shape;2400;h65eb7c06466a6d01_2_623"/>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200"/>
              <a:buFont typeface="Arial"/>
              <a:buNone/>
            </a:pPr>
            <a:r>
              <a:rPr b="1" lang="en-US" sz="3200">
                <a:solidFill>
                  <a:srgbClr val="0B3360"/>
                </a:solidFill>
                <a:latin typeface="Arial"/>
                <a:ea typeface="Arial"/>
                <a:cs typeface="Arial"/>
                <a:sym typeface="Arial"/>
              </a:rPr>
              <a:t>Konsultan Kami</a:t>
            </a:r>
            <a:endParaRPr sz="9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h65eb7c06466a6d01_2_638"/>
          <p:cNvSpPr/>
          <p:nvPr/>
        </p:nvSpPr>
        <p:spPr>
          <a:xfrm>
            <a:off x="-1749211" y="-2326563"/>
            <a:ext cx="4876203" cy="4876203"/>
          </a:xfrm>
          <a:custGeom>
            <a:rect b="b" l="l" r="r" t="t"/>
            <a:pathLst>
              <a:path extrusionOk="0" h="7305173" w="7305173">
                <a:moveTo>
                  <a:pt x="0" y="0"/>
                </a:moveTo>
                <a:lnTo>
                  <a:pt x="7305174" y="0"/>
                </a:lnTo>
                <a:lnTo>
                  <a:pt x="7305174" y="7305174"/>
                </a:lnTo>
                <a:lnTo>
                  <a:pt x="0" y="7305174"/>
                </a:lnTo>
                <a:lnTo>
                  <a:pt x="0" y="0"/>
                </a:lnTo>
                <a:close/>
              </a:path>
            </a:pathLst>
          </a:custGeom>
          <a:blipFill rotWithShape="1">
            <a:blip r:embed="rId3">
              <a:alphaModFix amt="9000"/>
            </a:blip>
            <a:stretch>
              <a:fillRect b="0" l="0" r="0" t="0"/>
            </a:stretch>
          </a:blipFill>
          <a:ln>
            <a:noFill/>
          </a:ln>
        </p:spPr>
      </p:sp>
      <p:sp>
        <p:nvSpPr>
          <p:cNvPr id="2407" name="Google Shape;2407;h65eb7c06466a6d01_2_638"/>
          <p:cNvSpPr/>
          <p:nvPr/>
        </p:nvSpPr>
        <p:spPr>
          <a:xfrm>
            <a:off x="1699703" y="953785"/>
            <a:ext cx="4404932" cy="902589"/>
          </a:xfrm>
          <a:custGeom>
            <a:rect b="b" l="l" r="r" t="t"/>
            <a:pathLst>
              <a:path extrusionOk="0" h="1805178" w="8809863">
                <a:moveTo>
                  <a:pt x="0" y="0"/>
                </a:moveTo>
                <a:lnTo>
                  <a:pt x="8809863" y="0"/>
                </a:lnTo>
                <a:lnTo>
                  <a:pt x="8809863" y="1805178"/>
                </a:lnTo>
                <a:lnTo>
                  <a:pt x="0" y="1805178"/>
                </a:lnTo>
                <a:close/>
              </a:path>
            </a:pathLst>
          </a:custGeom>
          <a:solidFill>
            <a:srgbClr val="0B3360"/>
          </a:solidFill>
          <a:ln>
            <a:noFill/>
          </a:ln>
        </p:spPr>
      </p:sp>
      <p:sp>
        <p:nvSpPr>
          <p:cNvPr id="2408" name="Google Shape;2408;h65eb7c06466a6d01_2_638"/>
          <p:cNvSpPr/>
          <p:nvPr/>
        </p:nvSpPr>
        <p:spPr>
          <a:xfrm>
            <a:off x="1699703" y="949023"/>
            <a:ext cx="4404600" cy="907200"/>
          </a:xfrm>
          <a:prstGeom prst="rect">
            <a:avLst/>
          </a:prstGeom>
          <a:noFill/>
          <a:ln>
            <a:noFill/>
          </a:ln>
        </p:spPr>
        <p:txBody>
          <a:bodyPr anchorCtr="0" anchor="ctr" bIns="33875" lIns="33875" spcFirstLastPara="1" rIns="33875" wrap="square" tIns="33875">
            <a:noAutofit/>
          </a:bodyPr>
          <a:lstStyle/>
          <a:p>
            <a:pPr indent="0" lvl="0" marL="0" marR="0" rtl="0" algn="l">
              <a:lnSpc>
                <a:spcPct val="120000"/>
              </a:lnSpc>
              <a:spcBef>
                <a:spcPts val="0"/>
              </a:spcBef>
              <a:spcAft>
                <a:spcPts val="0"/>
              </a:spcAft>
              <a:buClr>
                <a:srgbClr val="FFFFFF"/>
              </a:buClr>
              <a:buSzPts val="1200"/>
              <a:buFont typeface="Quattrocento"/>
              <a:buNone/>
            </a:pPr>
            <a:r>
              <a:rPr lang="en-US" sz="1200">
                <a:solidFill>
                  <a:srgbClr val="FFFFFF"/>
                </a:solidFill>
                <a:latin typeface="Quattrocento"/>
                <a:ea typeface="Quattrocento"/>
                <a:cs typeface="Quattrocento"/>
                <a:sym typeface="Quattrocento"/>
              </a:rPr>
              <a:t>Konsultan Senior – Hukum, Kepailitan &amp; Pengadaan</a:t>
            </a:r>
            <a:endParaRPr sz="900"/>
          </a:p>
          <a:p>
            <a:pPr indent="0" lvl="0" marL="0" marR="0" rtl="0" algn="l">
              <a:lnSpc>
                <a:spcPct val="119958"/>
              </a:lnSpc>
              <a:spcBef>
                <a:spcPts val="0"/>
              </a:spcBef>
              <a:spcAft>
                <a:spcPts val="0"/>
              </a:spcAft>
              <a:buClr>
                <a:srgbClr val="FFFFFF"/>
              </a:buClr>
              <a:buSzPts val="1600"/>
              <a:buFont typeface="Quattrocento"/>
              <a:buNone/>
            </a:pPr>
            <a:r>
              <a:rPr lang="en-US" sz="1600">
                <a:solidFill>
                  <a:srgbClr val="FFFFFF"/>
                </a:solidFill>
                <a:latin typeface="Quattrocento"/>
                <a:ea typeface="Quattrocento"/>
                <a:cs typeface="Quattrocento"/>
                <a:sym typeface="Quattrocento"/>
              </a:rPr>
              <a:t>Sukardi, S.H., M.H., M.M., CPLC., CPCLE., CTL</a:t>
            </a:r>
            <a:endParaRPr sz="900"/>
          </a:p>
        </p:txBody>
      </p:sp>
      <p:sp>
        <p:nvSpPr>
          <p:cNvPr id="2409" name="Google Shape;2409;h65eb7c06466a6d01_2_638"/>
          <p:cNvSpPr/>
          <p:nvPr/>
        </p:nvSpPr>
        <p:spPr>
          <a:xfrm>
            <a:off x="816263" y="1919025"/>
            <a:ext cx="5283581" cy="1871626"/>
          </a:xfrm>
          <a:custGeom>
            <a:rect b="b" l="l" r="r" t="t"/>
            <a:pathLst>
              <a:path extrusionOk="0" h="3743252" w="10567162">
                <a:moveTo>
                  <a:pt x="0" y="0"/>
                </a:moveTo>
                <a:lnTo>
                  <a:pt x="10567162" y="0"/>
                </a:lnTo>
                <a:lnTo>
                  <a:pt x="10567162" y="3743252"/>
                </a:lnTo>
                <a:lnTo>
                  <a:pt x="0" y="3743252"/>
                </a:lnTo>
                <a:close/>
              </a:path>
            </a:pathLst>
          </a:custGeom>
          <a:solidFill>
            <a:srgbClr val="FFFFFF"/>
          </a:solidFill>
          <a:ln>
            <a:noFill/>
          </a:ln>
        </p:spPr>
      </p:sp>
      <p:sp>
        <p:nvSpPr>
          <p:cNvPr id="2410" name="Google Shape;2410;h65eb7c06466a6d01_2_638"/>
          <p:cNvSpPr/>
          <p:nvPr/>
        </p:nvSpPr>
        <p:spPr>
          <a:xfrm>
            <a:off x="811501" y="1913510"/>
            <a:ext cx="5293106" cy="1882657"/>
          </a:xfrm>
          <a:custGeom>
            <a:rect b="b" l="l" r="r" t="t"/>
            <a:pathLst>
              <a:path extrusionOk="0" h="3765314" w="10586212">
                <a:moveTo>
                  <a:pt x="9525" y="0"/>
                </a:moveTo>
                <a:lnTo>
                  <a:pt x="10576687" y="0"/>
                </a:lnTo>
                <a:cubicBezTo>
                  <a:pt x="10581894" y="0"/>
                  <a:pt x="10586212" y="5001"/>
                  <a:pt x="10586212" y="11031"/>
                </a:cubicBezTo>
                <a:lnTo>
                  <a:pt x="10586212" y="3754283"/>
                </a:lnTo>
                <a:cubicBezTo>
                  <a:pt x="10586212" y="3760313"/>
                  <a:pt x="10581894" y="3765314"/>
                  <a:pt x="10576687" y="3765314"/>
                </a:cubicBezTo>
                <a:lnTo>
                  <a:pt x="9525" y="3765314"/>
                </a:lnTo>
                <a:cubicBezTo>
                  <a:pt x="4318" y="3765314"/>
                  <a:pt x="0" y="3760313"/>
                  <a:pt x="0" y="3754283"/>
                </a:cubicBezTo>
                <a:lnTo>
                  <a:pt x="0" y="11031"/>
                </a:lnTo>
                <a:cubicBezTo>
                  <a:pt x="0" y="5001"/>
                  <a:pt x="4318" y="0"/>
                  <a:pt x="9525" y="0"/>
                </a:cubicBezTo>
                <a:moveTo>
                  <a:pt x="9525" y="22062"/>
                </a:moveTo>
                <a:lnTo>
                  <a:pt x="9525" y="11031"/>
                </a:lnTo>
                <a:lnTo>
                  <a:pt x="19050" y="11031"/>
                </a:lnTo>
                <a:lnTo>
                  <a:pt x="19050" y="3754283"/>
                </a:lnTo>
                <a:lnTo>
                  <a:pt x="9525" y="3754283"/>
                </a:lnTo>
                <a:lnTo>
                  <a:pt x="9525" y="3743252"/>
                </a:lnTo>
                <a:lnTo>
                  <a:pt x="10576687" y="3743252"/>
                </a:lnTo>
                <a:lnTo>
                  <a:pt x="10576687" y="3754283"/>
                </a:lnTo>
                <a:lnTo>
                  <a:pt x="10567162" y="3754283"/>
                </a:lnTo>
                <a:lnTo>
                  <a:pt x="10567162" y="11031"/>
                </a:lnTo>
                <a:lnTo>
                  <a:pt x="10576687" y="11031"/>
                </a:lnTo>
                <a:lnTo>
                  <a:pt x="10576687" y="22062"/>
                </a:lnTo>
                <a:lnTo>
                  <a:pt x="9525" y="22062"/>
                </a:lnTo>
                <a:close/>
              </a:path>
            </a:pathLst>
          </a:custGeom>
          <a:solidFill>
            <a:srgbClr val="D8D8D8"/>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411" name="Google Shape;2411;h65eb7c06466a6d01_2_638"/>
          <p:cNvSpPr/>
          <p:nvPr/>
        </p:nvSpPr>
        <p:spPr>
          <a:xfrm>
            <a:off x="811501" y="1908748"/>
            <a:ext cx="5293200" cy="1887600"/>
          </a:xfrm>
          <a:prstGeom prst="rect">
            <a:avLst/>
          </a:prstGeom>
          <a:noFill/>
          <a:ln>
            <a:noFill/>
          </a:ln>
        </p:spPr>
        <p:txBody>
          <a:bodyPr anchorCtr="0" anchor="t" bIns="33875" lIns="33875" spcFirstLastPara="1" rIns="33875" wrap="square" tIns="33875">
            <a:noAutofit/>
          </a:bodyPr>
          <a:lstStyle/>
          <a:p>
            <a:pPr indent="0" lvl="0" marL="0" marR="0" rtl="0" algn="l">
              <a:lnSpc>
                <a:spcPct val="120000"/>
              </a:lnSpc>
              <a:spcBef>
                <a:spcPts val="0"/>
              </a:spcBef>
              <a:spcAft>
                <a:spcPts val="0"/>
              </a:spcAft>
              <a:buClr>
                <a:srgbClr val="025086"/>
              </a:buClr>
              <a:buSzPts val="1100"/>
              <a:buFont typeface="Quattrocento"/>
              <a:buNone/>
            </a:pPr>
            <a:r>
              <a:rPr b="1" lang="en-US" sz="1100">
                <a:solidFill>
                  <a:srgbClr val="025086"/>
                </a:solidFill>
                <a:latin typeface="Quattrocento"/>
                <a:ea typeface="Quattrocento"/>
                <a:cs typeface="Quattrocento"/>
                <a:sym typeface="Quattrocento"/>
              </a:rPr>
              <a:t>PENDIDIKAN</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Sarjana Hukum, Universitas Hasanuddin</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Magister Hukum, Universitas Indonesia</a:t>
            </a:r>
            <a:endParaRPr sz="900"/>
          </a:p>
          <a:p>
            <a:pPr indent="0" lvl="0" marL="0" marR="0" rtl="0" algn="l">
              <a:lnSpc>
                <a:spcPct val="120000"/>
              </a:lnSpc>
              <a:spcBef>
                <a:spcPts val="0"/>
              </a:spcBef>
              <a:spcAft>
                <a:spcPts val="0"/>
              </a:spcAft>
              <a:buClr>
                <a:srgbClr val="000000"/>
              </a:buClr>
              <a:buSzPts val="1100"/>
              <a:buFont typeface="Quattrocento"/>
              <a:buNone/>
            </a:pPr>
            <a:r>
              <a:rPr b="1" lang="en-US" sz="1100">
                <a:solidFill>
                  <a:srgbClr val="000000"/>
                </a:solidFill>
                <a:latin typeface="Quattrocento"/>
                <a:ea typeface="Quattrocento"/>
                <a:cs typeface="Quattrocento"/>
                <a:sym typeface="Quattrocento"/>
              </a:rPr>
              <a:t>Magister Manajemen, Institut Bisnis dan Keuangan Nitro</a:t>
            </a:r>
            <a:endParaRPr sz="900"/>
          </a:p>
          <a:p>
            <a:pPr indent="0" lvl="0" marL="0" marR="0" rtl="0" algn="l">
              <a:lnSpc>
                <a:spcPct val="120000"/>
              </a:lnSpc>
              <a:spcBef>
                <a:spcPts val="0"/>
              </a:spcBef>
              <a:spcAft>
                <a:spcPts val="0"/>
              </a:spcAft>
              <a:buSzPts val="1100"/>
              <a:buFont typeface="Arial"/>
              <a:buNone/>
            </a:pPr>
            <a:r>
              <a:t/>
            </a:r>
            <a:endParaRPr b="1" sz="1100">
              <a:solidFill>
                <a:srgbClr val="000000"/>
              </a:solidFill>
              <a:latin typeface="Quattrocento"/>
              <a:ea typeface="Quattrocento"/>
              <a:cs typeface="Quattrocento"/>
              <a:sym typeface="Quattrocento"/>
            </a:endParaRPr>
          </a:p>
          <a:p>
            <a:pPr indent="0" lvl="0" marL="0" marR="0" rtl="0" algn="l">
              <a:lnSpc>
                <a:spcPct val="120000"/>
              </a:lnSpc>
              <a:spcBef>
                <a:spcPts val="0"/>
              </a:spcBef>
              <a:spcAft>
                <a:spcPts val="0"/>
              </a:spcAft>
              <a:buClr>
                <a:srgbClr val="44546A"/>
              </a:buClr>
              <a:buSzPts val="1100"/>
              <a:buFont typeface="Quattrocento"/>
              <a:buNone/>
            </a:pPr>
            <a:r>
              <a:rPr lang="en-US" sz="1100">
                <a:solidFill>
                  <a:srgbClr val="44546A"/>
                </a:solidFill>
                <a:latin typeface="Quattrocento"/>
                <a:ea typeface="Quattrocento"/>
                <a:cs typeface="Quattrocento"/>
                <a:sym typeface="Quattrocento"/>
              </a:rPr>
              <a:t>SERTIFIKASI</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Pendidikan Khusus Profesi Advokat (PERADI) (2019)</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Pendidikan Hukum Konsultan Pengadaan Bersertifikat (2022)</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Pendidikan Ahli Hukum Kontrak Pengadaan Bersertifikat (2022)</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Pendidikan Pengacara Pajak Bersertifikat (2023)</a:t>
            </a:r>
            <a:endParaRPr sz="900"/>
          </a:p>
          <a:p>
            <a:pPr indent="-120650" lvl="1" marL="241300" marR="0" rtl="0" algn="l">
              <a:lnSpc>
                <a:spcPct val="120000"/>
              </a:lnSpc>
              <a:spcBef>
                <a:spcPts val="0"/>
              </a:spcBef>
              <a:spcAft>
                <a:spcPts val="0"/>
              </a:spcAft>
              <a:buClr>
                <a:srgbClr val="000000"/>
              </a:buClr>
              <a:buSzPts val="1100"/>
              <a:buFont typeface="Arial"/>
              <a:buChar char="•"/>
            </a:pPr>
            <a:r>
              <a:rPr b="1" i="0" lang="en-US" sz="1100" u="none" cap="none" strike="noStrike">
                <a:solidFill>
                  <a:srgbClr val="000000"/>
                </a:solidFill>
                <a:latin typeface="Quattrocento"/>
                <a:ea typeface="Quattrocento"/>
                <a:cs typeface="Quattrocento"/>
                <a:sym typeface="Quattrocento"/>
              </a:rPr>
              <a:t>Pendidikan dan Ujian Kurator dan Pengurus AKPI (2024)</a:t>
            </a:r>
            <a:endParaRPr sz="900"/>
          </a:p>
        </p:txBody>
      </p:sp>
      <p:graphicFrame>
        <p:nvGraphicFramePr>
          <p:cNvPr id="2412" name="Google Shape;2412;h65eb7c06466a6d01_2_638"/>
          <p:cNvGraphicFramePr/>
          <p:nvPr/>
        </p:nvGraphicFramePr>
        <p:xfrm>
          <a:off x="811501" y="3796197"/>
          <a:ext cx="3000000" cy="3000000"/>
        </p:xfrm>
        <a:graphic>
          <a:graphicData uri="http://schemas.openxmlformats.org/drawingml/2006/table">
            <a:tbl>
              <a:tblPr>
                <a:noFill/>
                <a:tableStyleId>{4C0A8FE5-9777-497B-A676-DF5488A54864}</a:tableStyleId>
              </a:tblPr>
              <a:tblGrid>
                <a:gridCol w="5283050"/>
              </a:tblGrid>
              <a:tr h="446725">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Pencapaian</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810525">
                <a:tc>
                  <a:txBody>
                    <a:bodyPr/>
                    <a:lstStyle/>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Wisudawan Terbaik Fakultas Hukum 2019.</a:t>
                      </a:r>
                      <a:endParaRPr sz="800" u="none" cap="none" strike="noStrike"/>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Wisudawan Terbaik Universitas Hasanuddin 2019.</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Wisudawan Terbaik Tingkat Nasional Tanoto Foundation 2019.</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Cumlaude Universitas Indonesia 2024.</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graphicFrame>
        <p:nvGraphicFramePr>
          <p:cNvPr id="2413" name="Google Shape;2413;h65eb7c06466a6d01_2_638"/>
          <p:cNvGraphicFramePr/>
          <p:nvPr/>
        </p:nvGraphicFramePr>
        <p:xfrm>
          <a:off x="6247475" y="947671"/>
          <a:ext cx="3000000" cy="3000000"/>
        </p:xfrm>
        <a:graphic>
          <a:graphicData uri="http://schemas.openxmlformats.org/drawingml/2006/table">
            <a:tbl>
              <a:tblPr>
                <a:noFill/>
                <a:tableStyleId>{4C0A8FE5-9777-497B-A676-DF5488A54864}</a:tableStyleId>
              </a:tblPr>
              <a:tblGrid>
                <a:gridCol w="5156075"/>
              </a:tblGrid>
              <a:tr h="447000">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Pengalaman Kerja</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683225">
                <a:tc>
                  <a:txBody>
                    <a:bodyPr/>
                    <a:lstStyle/>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Mitra Pengelola, Puspita Sukardi &amp; Partner Law Firm</a:t>
                      </a:r>
                      <a:endParaRPr sz="800" u="none" cap="none" strike="noStrike"/>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Mitra Pengelola, Sukardi &amp; Partners Attorney at Law</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414" name="Google Shape;2414;h65eb7c06466a6d01_2_638"/>
          <p:cNvSpPr/>
          <p:nvPr/>
        </p:nvSpPr>
        <p:spPr>
          <a:xfrm>
            <a:off x="9663652" y="375499"/>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4">
              <a:alphaModFix/>
            </a:blip>
            <a:stretch>
              <a:fillRect b="0" l="-2339" r="0" t="0"/>
            </a:stretch>
          </a:blipFill>
          <a:ln>
            <a:noFill/>
          </a:ln>
        </p:spPr>
      </p:sp>
      <p:sp>
        <p:nvSpPr>
          <p:cNvPr id="2415" name="Google Shape;2415;h65eb7c06466a6d01_2_638"/>
          <p:cNvSpPr/>
          <p:nvPr/>
        </p:nvSpPr>
        <p:spPr>
          <a:xfrm>
            <a:off x="-1836733" y="280249"/>
            <a:ext cx="10149000" cy="576900"/>
          </a:xfrm>
          <a:prstGeom prst="rect">
            <a:avLst/>
          </a:prstGeom>
          <a:noFill/>
          <a:ln>
            <a:noFill/>
          </a:ln>
        </p:spPr>
        <p:txBody>
          <a:bodyPr anchorCtr="0" anchor="t" bIns="0" lIns="0" spcFirstLastPara="1" rIns="0" wrap="square" tIns="0">
            <a:noAutofit/>
          </a:bodyPr>
          <a:lstStyle/>
          <a:p>
            <a:pPr indent="0" lvl="0" marL="0" marR="0" rtl="0" algn="ctr">
              <a:lnSpc>
                <a:spcPct val="304000"/>
              </a:lnSpc>
              <a:spcBef>
                <a:spcPts val="0"/>
              </a:spcBef>
              <a:spcAft>
                <a:spcPts val="0"/>
              </a:spcAft>
              <a:buClr>
                <a:srgbClr val="0B3360"/>
              </a:buClr>
              <a:buSzPts val="1200"/>
              <a:buFont typeface="Arial"/>
              <a:buNone/>
            </a:pPr>
            <a:r>
              <a:t/>
            </a:r>
            <a:endParaRPr sz="1200"/>
          </a:p>
        </p:txBody>
      </p:sp>
      <p:graphicFrame>
        <p:nvGraphicFramePr>
          <p:cNvPr id="2416" name="Google Shape;2416;h65eb7c06466a6d01_2_638"/>
          <p:cNvGraphicFramePr/>
          <p:nvPr/>
        </p:nvGraphicFramePr>
        <p:xfrm>
          <a:off x="6247475" y="2211290"/>
          <a:ext cx="3000000" cy="3000000"/>
        </p:xfrm>
        <a:graphic>
          <a:graphicData uri="http://schemas.openxmlformats.org/drawingml/2006/table">
            <a:tbl>
              <a:tblPr>
                <a:noFill/>
                <a:tableStyleId>{4C0A8FE5-9777-497B-A676-DF5488A54864}</a:tableStyleId>
              </a:tblPr>
              <a:tblGrid>
                <a:gridCol w="5156075"/>
              </a:tblGrid>
              <a:tr h="446500">
                <a:tc>
                  <a:txBody>
                    <a:bodyPr/>
                    <a:lstStyle/>
                    <a:p>
                      <a:pPr indent="0" lvl="0" marL="0" marR="0" rtl="0" algn="l">
                        <a:lnSpc>
                          <a:spcPct val="119964"/>
                        </a:lnSpc>
                        <a:spcBef>
                          <a:spcPts val="0"/>
                        </a:spcBef>
                        <a:spcAft>
                          <a:spcPts val="0"/>
                        </a:spcAft>
                        <a:buClr>
                          <a:srgbClr val="FFFFFF"/>
                        </a:buClr>
                        <a:buSzPts val="1900"/>
                        <a:buFont typeface="Quattrocento"/>
                        <a:buNone/>
                      </a:pPr>
                      <a:r>
                        <a:rPr b="1" lang="en-US" sz="1900" u="none" cap="none" strike="noStrike">
                          <a:solidFill>
                            <a:srgbClr val="FFFFFF"/>
                          </a:solidFill>
                          <a:latin typeface="Quattrocento"/>
                          <a:ea typeface="Quattrocento"/>
                          <a:cs typeface="Quattrocento"/>
                          <a:sym typeface="Quattrocento"/>
                        </a:rPr>
                        <a:t>Organisasi</a:t>
                      </a:r>
                      <a:endParaRPr sz="800" u="none" cap="none" strike="noStrike"/>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0B3360"/>
                    </a:solidFill>
                  </a:tcPr>
                </a:tc>
              </a:tr>
              <a:tr h="975900">
                <a:tc>
                  <a:txBody>
                    <a:bodyPr/>
                    <a:lstStyle/>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Presiden, Perkumpulan Alumni Tanoto Foundation (PANUTAN)</a:t>
                      </a:r>
                      <a:endParaRPr sz="800" u="none" cap="none" strike="noStrike"/>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Anggota Dewan, Asosiasi Kurator dan Pengurus Indonesia (AKPI) (2025–2028)</a:t>
                      </a:r>
                      <a:endParaRPr sz="900"/>
                    </a:p>
                    <a:p>
                      <a:pPr indent="-120650" lvl="1" marL="241300" marR="0" rtl="0" algn="l">
                        <a:lnSpc>
                          <a:spcPct val="120000"/>
                        </a:lnSpc>
                        <a:spcBef>
                          <a:spcPts val="0"/>
                        </a:spcBef>
                        <a:spcAft>
                          <a:spcPts val="0"/>
                        </a:spcAft>
                        <a:buClr>
                          <a:srgbClr val="000000"/>
                        </a:buClr>
                        <a:buSzPts val="1100"/>
                        <a:buFont typeface="Arial"/>
                        <a:buChar char="•"/>
                      </a:pPr>
                      <a:r>
                        <a:rPr lang="en-US" sz="1100" u="none" cap="none" strike="noStrike">
                          <a:solidFill>
                            <a:srgbClr val="000000"/>
                          </a:solidFill>
                          <a:latin typeface="Quattrocento"/>
                          <a:ea typeface="Quattrocento"/>
                          <a:cs typeface="Quattrocento"/>
                          <a:sym typeface="Quattrocento"/>
                        </a:rPr>
                        <a:t>Anggota Dewan, Ikatan Alumni Fakultas Hukum Universitas Hasanuddin Wilayah Jabodetabek (2025–2028)</a:t>
                      </a:r>
                      <a:endParaRPr sz="900"/>
                    </a:p>
                  </a:txBody>
                  <a:tcPr marT="61000" marB="61000" marR="61000" marL="61000" anchor="ctr">
                    <a:lnL cap="flat" cmpd="sng" w="12700">
                      <a:solidFill>
                        <a:srgbClr val="E5E5E5"/>
                      </a:solidFill>
                      <a:prstDash val="solid"/>
                      <a:round/>
                      <a:headEnd len="sm" w="sm" type="none"/>
                      <a:tailEnd len="sm" w="sm" type="none"/>
                    </a:lnL>
                    <a:lnR cap="flat" cmpd="sng" w="12700">
                      <a:solidFill>
                        <a:srgbClr val="E5E5E5"/>
                      </a:solidFill>
                      <a:prstDash val="solid"/>
                      <a:round/>
                      <a:headEnd len="sm" w="sm" type="none"/>
                      <a:tailEnd len="sm" w="sm" type="none"/>
                    </a:lnR>
                    <a:lnT cap="flat" cmpd="sng" w="12700">
                      <a:solidFill>
                        <a:srgbClr val="E5E5E5"/>
                      </a:solidFill>
                      <a:prstDash val="solid"/>
                      <a:round/>
                      <a:headEnd len="sm" w="sm" type="none"/>
                      <a:tailEnd len="sm" w="sm" type="none"/>
                    </a:lnT>
                    <a:lnB cap="flat" cmpd="sng" w="12700">
                      <a:solidFill>
                        <a:srgbClr val="E5E5E5"/>
                      </a:solidFill>
                      <a:prstDash val="solid"/>
                      <a:round/>
                      <a:headEnd len="sm" w="sm" type="none"/>
                      <a:tailEnd len="sm" w="sm" type="none"/>
                    </a:lnB>
                    <a:solidFill>
                      <a:srgbClr val="CACFD8"/>
                    </a:solidFill>
                  </a:tcPr>
                </a:tc>
              </a:tr>
            </a:tbl>
          </a:graphicData>
        </a:graphic>
      </p:graphicFrame>
      <p:sp>
        <p:nvSpPr>
          <p:cNvPr id="2417" name="Google Shape;2417;h65eb7c06466a6d01_2_638"/>
          <p:cNvSpPr/>
          <p:nvPr/>
        </p:nvSpPr>
        <p:spPr>
          <a:xfrm>
            <a:off x="811501" y="967297"/>
            <a:ext cx="817358" cy="875792"/>
          </a:xfrm>
          <a:custGeom>
            <a:rect b="b" l="l" r="r" t="t"/>
            <a:pathLst>
              <a:path extrusionOk="0" h="812800" w="758569">
                <a:moveTo>
                  <a:pt x="0" y="0"/>
                </a:moveTo>
                <a:lnTo>
                  <a:pt x="758569" y="0"/>
                </a:lnTo>
                <a:lnTo>
                  <a:pt x="758569" y="812800"/>
                </a:lnTo>
                <a:lnTo>
                  <a:pt x="0" y="812800"/>
                </a:lnTo>
                <a:close/>
              </a:path>
            </a:pathLst>
          </a:custGeom>
          <a:blipFill rotWithShape="1">
            <a:blip r:embed="rId5">
              <a:alphaModFix/>
            </a:blip>
            <a:stretch>
              <a:fillRect b="-83429" l="-48711" r="-47830" t="0"/>
            </a:stretch>
          </a:blipFill>
          <a:ln>
            <a:noFill/>
          </a:ln>
        </p:spPr>
      </p:sp>
      <p:sp>
        <p:nvSpPr>
          <p:cNvPr id="2418" name="Google Shape;2418;h65eb7c06466a6d01_2_638"/>
          <p:cNvSpPr/>
          <p:nvPr/>
        </p:nvSpPr>
        <p:spPr>
          <a:xfrm>
            <a:off x="1682705" y="254000"/>
            <a:ext cx="3555900" cy="406500"/>
          </a:xfrm>
          <a:prstGeom prst="rect">
            <a:avLst/>
          </a:prstGeom>
          <a:noFill/>
          <a:ln>
            <a:noFill/>
          </a:ln>
        </p:spPr>
        <p:txBody>
          <a:bodyPr anchorCtr="0" anchor="ctr" bIns="30475" lIns="60975" spcFirstLastPara="1" rIns="60975" wrap="square" tIns="30475">
            <a:noAutofit/>
          </a:bodyPr>
          <a:lstStyle/>
          <a:p>
            <a:pPr indent="0" lvl="0" marL="0" marR="0" rtl="0" algn="l">
              <a:spcBef>
                <a:spcPts val="0"/>
              </a:spcBef>
              <a:spcAft>
                <a:spcPts val="0"/>
              </a:spcAft>
              <a:buNone/>
            </a:pPr>
            <a:r>
              <a:rPr b="1" lang="en-US" sz="2300">
                <a:solidFill>
                  <a:srgbClr val="0D3D6E"/>
                </a:solidFill>
                <a:latin typeface="Arial"/>
                <a:ea typeface="Arial"/>
                <a:cs typeface="Arial"/>
                <a:sym typeface="Arial"/>
              </a:rPr>
              <a:t>Konsultan Kami</a:t>
            </a:r>
            <a:endParaRPr sz="9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sp>
        <p:nvSpPr>
          <p:cNvPr id="2424" name="Google Shape;2424;h65eb7c06466a6d01_2_655"/>
          <p:cNvSpPr/>
          <p:nvPr/>
        </p:nvSpPr>
        <p:spPr>
          <a:xfrm>
            <a:off x="1280775" y="1697451"/>
            <a:ext cx="3512775" cy="2340387"/>
          </a:xfrm>
          <a:custGeom>
            <a:rect b="b" l="l" r="r" t="t"/>
            <a:pathLst>
              <a:path extrusionOk="0" h="4680773" w="7025551">
                <a:moveTo>
                  <a:pt x="0" y="0"/>
                </a:moveTo>
                <a:lnTo>
                  <a:pt x="7025550" y="0"/>
                </a:lnTo>
                <a:lnTo>
                  <a:pt x="7025550" y="4680773"/>
                </a:lnTo>
                <a:lnTo>
                  <a:pt x="0" y="4680773"/>
                </a:lnTo>
                <a:lnTo>
                  <a:pt x="0" y="0"/>
                </a:lnTo>
                <a:close/>
              </a:path>
            </a:pathLst>
          </a:custGeom>
          <a:blipFill rotWithShape="1">
            <a:blip r:embed="rId3">
              <a:alphaModFix/>
            </a:blip>
            <a:stretch>
              <a:fillRect b="0" l="0" r="0" t="0"/>
            </a:stretch>
          </a:blipFill>
          <a:ln>
            <a:noFill/>
          </a:ln>
        </p:spPr>
      </p:sp>
      <p:sp>
        <p:nvSpPr>
          <p:cNvPr id="2425" name="Google Shape;2425;h65eb7c06466a6d01_2_655"/>
          <p:cNvSpPr/>
          <p:nvPr/>
        </p:nvSpPr>
        <p:spPr>
          <a:xfrm>
            <a:off x="4332587" y="1697451"/>
            <a:ext cx="1379747" cy="2070914"/>
          </a:xfrm>
          <a:custGeom>
            <a:rect b="b" l="l" r="r" t="t"/>
            <a:pathLst>
              <a:path extrusionOk="0" h="4141828" w="2759493">
                <a:moveTo>
                  <a:pt x="0" y="0"/>
                </a:moveTo>
                <a:lnTo>
                  <a:pt x="2759493" y="0"/>
                </a:lnTo>
                <a:lnTo>
                  <a:pt x="2759493" y="4141828"/>
                </a:lnTo>
                <a:lnTo>
                  <a:pt x="0" y="4141828"/>
                </a:lnTo>
                <a:lnTo>
                  <a:pt x="0" y="0"/>
                </a:lnTo>
                <a:close/>
              </a:path>
            </a:pathLst>
          </a:custGeom>
          <a:blipFill rotWithShape="1">
            <a:blip r:embed="rId4">
              <a:alphaModFix/>
            </a:blip>
            <a:stretch>
              <a:fillRect b="0" l="0" r="0" t="0"/>
            </a:stretch>
          </a:blipFill>
          <a:ln>
            <a:noFill/>
          </a:ln>
        </p:spPr>
      </p:sp>
      <p:sp>
        <p:nvSpPr>
          <p:cNvPr id="2426" name="Google Shape;2426;h65eb7c06466a6d01_2_655"/>
          <p:cNvSpPr/>
          <p:nvPr/>
        </p:nvSpPr>
        <p:spPr>
          <a:xfrm>
            <a:off x="2952877" y="3749087"/>
            <a:ext cx="1379747" cy="1379746"/>
          </a:xfrm>
          <a:custGeom>
            <a:rect b="b" l="l" r="r" t="t"/>
            <a:pathLst>
              <a:path extrusionOk="0" h="2759493" w="2759493">
                <a:moveTo>
                  <a:pt x="0" y="0"/>
                </a:moveTo>
                <a:lnTo>
                  <a:pt x="2759493" y="0"/>
                </a:lnTo>
                <a:lnTo>
                  <a:pt x="2759493" y="2759493"/>
                </a:lnTo>
                <a:lnTo>
                  <a:pt x="0" y="2759493"/>
                </a:lnTo>
                <a:lnTo>
                  <a:pt x="0" y="0"/>
                </a:lnTo>
                <a:close/>
              </a:path>
            </a:pathLst>
          </a:custGeom>
          <a:blipFill rotWithShape="1">
            <a:blip r:embed="rId5">
              <a:alphaModFix/>
            </a:blip>
            <a:stretch>
              <a:fillRect b="0" l="0" r="0" t="0"/>
            </a:stretch>
          </a:blipFill>
          <a:ln>
            <a:noFill/>
          </a:ln>
        </p:spPr>
      </p:sp>
      <p:sp>
        <p:nvSpPr>
          <p:cNvPr id="2427" name="Google Shape;2427;h65eb7c06466a6d01_2_655"/>
          <p:cNvSpPr/>
          <p:nvPr/>
        </p:nvSpPr>
        <p:spPr>
          <a:xfrm>
            <a:off x="452723" y="2887797"/>
            <a:ext cx="2241036" cy="2241035"/>
          </a:xfrm>
          <a:custGeom>
            <a:rect b="b" l="l" r="r" t="t"/>
            <a:pathLst>
              <a:path extrusionOk="0" h="4482071" w="4482071">
                <a:moveTo>
                  <a:pt x="0" y="0"/>
                </a:moveTo>
                <a:lnTo>
                  <a:pt x="4482071" y="0"/>
                </a:lnTo>
                <a:lnTo>
                  <a:pt x="4482071" y="4482072"/>
                </a:lnTo>
                <a:lnTo>
                  <a:pt x="0" y="4482072"/>
                </a:lnTo>
                <a:lnTo>
                  <a:pt x="0" y="0"/>
                </a:lnTo>
                <a:close/>
              </a:path>
            </a:pathLst>
          </a:custGeom>
          <a:blipFill rotWithShape="1">
            <a:blip r:embed="rId6">
              <a:alphaModFix/>
            </a:blip>
            <a:stretch>
              <a:fillRect b="0" l="0" r="0" t="0"/>
            </a:stretch>
          </a:blipFill>
          <a:ln>
            <a:noFill/>
          </a:ln>
        </p:spPr>
      </p:sp>
      <p:sp>
        <p:nvSpPr>
          <p:cNvPr id="2428" name="Google Shape;2428;h65eb7c06466a6d01_2_655"/>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429" name="Google Shape;2429;h65eb7c06466a6d01_2_655"/>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30" name="Google Shape;2430;h65eb7c06466a6d01_2_655"/>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7">
              <a:alphaModFix/>
            </a:blip>
            <a:stretch>
              <a:fillRect b="0" l="-2339" r="0" t="0"/>
            </a:stretch>
          </a:blipFill>
          <a:ln>
            <a:noFill/>
          </a:ln>
        </p:spPr>
      </p:sp>
      <p:sp>
        <p:nvSpPr>
          <p:cNvPr id="2431" name="Google Shape;2431;h65eb7c06466a6d01_2_655"/>
          <p:cNvSpPr/>
          <p:nvPr/>
        </p:nvSpPr>
        <p:spPr>
          <a:xfrm>
            <a:off x="6095838" y="1697451"/>
            <a:ext cx="5599383" cy="3091281"/>
          </a:xfrm>
          <a:custGeom>
            <a:rect b="b" l="l" r="r" t="t"/>
            <a:pathLst>
              <a:path extrusionOk="0" h="1221850" w="2213195">
                <a:moveTo>
                  <a:pt x="0" y="0"/>
                </a:moveTo>
                <a:lnTo>
                  <a:pt x="2213195" y="0"/>
                </a:lnTo>
                <a:lnTo>
                  <a:pt x="2213195" y="1221850"/>
                </a:lnTo>
                <a:lnTo>
                  <a:pt x="0" y="1221850"/>
                </a:lnTo>
                <a:close/>
              </a:path>
            </a:pathLst>
          </a:custGeom>
          <a:solidFill>
            <a:srgbClr val="FFFFFF"/>
          </a:solidFill>
          <a:ln cap="flat" cmpd="sng" w="76200">
            <a:solidFill>
              <a:srgbClr val="0B3360"/>
            </a:solidFill>
            <a:prstDash val="solid"/>
            <a:round/>
            <a:headEnd len="sm" w="sm" type="none"/>
            <a:tailEnd len="sm" w="sm" type="none"/>
          </a:ln>
        </p:spPr>
      </p:sp>
      <p:sp>
        <p:nvSpPr>
          <p:cNvPr id="2432" name="Google Shape;2432;h65eb7c06466a6d01_2_655"/>
          <p:cNvSpPr/>
          <p:nvPr/>
        </p:nvSpPr>
        <p:spPr>
          <a:xfrm>
            <a:off x="6095838" y="1673341"/>
            <a:ext cx="5601900" cy="31167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33" name="Google Shape;2433;h65eb7c06466a6d01_2_655"/>
          <p:cNvSpPr/>
          <p:nvPr/>
        </p:nvSpPr>
        <p:spPr>
          <a:xfrm>
            <a:off x="3936236" y="1173971"/>
            <a:ext cx="4958284" cy="359212"/>
          </a:xfrm>
          <a:custGeom>
            <a:rect b="b" l="l" r="r" t="t"/>
            <a:pathLst>
              <a:path extrusionOk="0" h="141981" w="1959796">
                <a:moveTo>
                  <a:pt x="0" y="0"/>
                </a:moveTo>
                <a:lnTo>
                  <a:pt x="1959796" y="0"/>
                </a:lnTo>
                <a:lnTo>
                  <a:pt x="1959796" y="141981"/>
                </a:lnTo>
                <a:lnTo>
                  <a:pt x="0" y="141981"/>
                </a:lnTo>
                <a:close/>
              </a:path>
            </a:pathLst>
          </a:custGeom>
          <a:solidFill>
            <a:srgbClr val="FFC00C"/>
          </a:solidFill>
          <a:ln>
            <a:noFill/>
          </a:ln>
        </p:spPr>
      </p:sp>
      <p:sp>
        <p:nvSpPr>
          <p:cNvPr id="2434" name="Google Shape;2434;h65eb7c06466a6d01_2_655"/>
          <p:cNvSpPr/>
          <p:nvPr/>
        </p:nvSpPr>
        <p:spPr>
          <a:xfrm>
            <a:off x="3936236" y="1149861"/>
            <a:ext cx="4960800" cy="3837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35" name="Google Shape;2435;h65eb7c06466a6d01_2_655"/>
          <p:cNvSpPr/>
          <p:nvPr/>
        </p:nvSpPr>
        <p:spPr>
          <a:xfrm>
            <a:off x="452723" y="5306820"/>
            <a:ext cx="2629800" cy="8124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Reposisi Merek</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Strategi Kanal Penjualan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Riset Pasar dan Konsumen</a:t>
            </a:r>
            <a:endParaRPr sz="900"/>
          </a:p>
        </p:txBody>
      </p:sp>
      <p:sp>
        <p:nvSpPr>
          <p:cNvPr id="2436" name="Google Shape;2436;h65eb7c06466a6d01_2_655"/>
          <p:cNvSpPr/>
          <p:nvPr/>
        </p:nvSpPr>
        <p:spPr>
          <a:xfrm>
            <a:off x="1848152" y="238743"/>
            <a:ext cx="90651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(1)</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Strategi Akselerasi Pertumbuhan Merek Yogurt di Yogyakarta</a:t>
            </a:r>
            <a:endParaRPr sz="900"/>
          </a:p>
        </p:txBody>
      </p:sp>
      <p:sp>
        <p:nvSpPr>
          <p:cNvPr id="2437" name="Google Shape;2437;h65eb7c06466a6d01_2_655"/>
          <p:cNvSpPr/>
          <p:nvPr/>
        </p:nvSpPr>
        <p:spPr>
          <a:xfrm>
            <a:off x="4040550" y="1204629"/>
            <a:ext cx="47520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Riset Pasar dan Strategi Memasuki Pasar</a:t>
            </a:r>
            <a:endParaRPr sz="900"/>
          </a:p>
        </p:txBody>
      </p:sp>
      <p:sp>
        <p:nvSpPr>
          <p:cNvPr id="2438" name="Google Shape;2438;h65eb7c06466a6d01_2_655"/>
          <p:cNvSpPr/>
          <p:nvPr/>
        </p:nvSpPr>
        <p:spPr>
          <a:xfrm>
            <a:off x="6352125" y="1831495"/>
            <a:ext cx="5089500" cy="2741100"/>
          </a:xfrm>
          <a:prstGeom prst="rect">
            <a:avLst/>
          </a:prstGeom>
          <a:noFill/>
          <a:ln>
            <a:noFill/>
          </a:ln>
        </p:spPr>
        <p:txBody>
          <a:bodyPr anchorCtr="0" anchor="t" bIns="0" lIns="0" spcFirstLastPara="1" rIns="0" wrap="square" tIns="0">
            <a:noAutofit/>
          </a:bodyPr>
          <a:lstStyle/>
          <a:p>
            <a:pPr indent="0" lvl="0" marL="0" marR="0" rtl="0" algn="just">
              <a:lnSpc>
                <a:spcPct val="150027"/>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Sebuah perusahaan yogurt di Indonesia ingin meningkatkan penetrasi pasar di Yogyakarta, tetapi visibilitas produk dan jangkauan distribusinya masih terbatas. Rendahnya kesadaran merek dan ketersediaan produk di gerai ritel utama menghambat pertumbuhan penjualan. Ruang lingkup proyek mencakup riset pasar, audit kanal digital dan Instagram, pengembangan situs web, peningkatan visibilitas di toko, aktivasi kampus dan acara, serta perluasan kanal distribusi. Sanggabiz mendukung inisiatif ini dengan menurunkan tim lapangan berbasis kinerja untuk memperoleh distributor baru, memastikan penempatan produk di toko, memantau sell-out, serta menjalankan kampanye daring dan luring yang terarah guna mendorong penjualan dan kesadaran merek.</a:t>
            </a:r>
            <a:endParaRPr sz="900"/>
          </a:p>
        </p:txBody>
      </p:sp>
      <p:sp>
        <p:nvSpPr>
          <p:cNvPr id="2439" name="Google Shape;2439;h65eb7c06466a6d01_2_655"/>
          <p:cNvSpPr/>
          <p:nvPr/>
        </p:nvSpPr>
        <p:spPr>
          <a:xfrm>
            <a:off x="509165" y="5033770"/>
            <a:ext cx="654900" cy="203100"/>
          </a:xfrm>
          <a:prstGeom prst="rect">
            <a:avLst/>
          </a:prstGeom>
          <a:noFill/>
          <a:ln>
            <a:noFill/>
          </a:ln>
        </p:spPr>
        <p:txBody>
          <a:bodyPr anchorCtr="0" anchor="t" bIns="0" lIns="0" spcFirstLastPara="1" rIns="0" wrap="square" tIns="0">
            <a:noAutofit/>
          </a:bodyPr>
          <a:lstStyle/>
          <a:p>
            <a:pPr indent="0" lvl="0" marL="0" marR="0" rtl="0" algn="ctr">
              <a:lnSpc>
                <a:spcPct val="120020"/>
              </a:lnSpc>
              <a:spcBef>
                <a:spcPts val="0"/>
              </a:spcBef>
              <a:spcAft>
                <a:spcPts val="0"/>
              </a:spcAft>
              <a:buClr>
                <a:srgbClr val="000000"/>
              </a:buClr>
              <a:buSzPts val="700"/>
              <a:buFont typeface="Quattrocento"/>
              <a:buNone/>
            </a:pPr>
            <a:r>
              <a:rPr lang="en-US" sz="700">
                <a:solidFill>
                  <a:srgbClr val="000000"/>
                </a:solidFill>
                <a:latin typeface="Quattrocento"/>
                <a:ea typeface="Quattrocento"/>
                <a:cs typeface="Quattrocento"/>
                <a:sym typeface="Quattrocento"/>
              </a:rPr>
              <a:t>Oleh: Ken Research</a:t>
            </a:r>
            <a:endParaRPr sz="9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4" name="Shape 2444"/>
        <p:cNvGrpSpPr/>
        <p:nvPr/>
      </p:nvGrpSpPr>
      <p:grpSpPr>
        <a:xfrm>
          <a:off x="0" y="0"/>
          <a:ext cx="0" cy="0"/>
          <a:chOff x="0" y="0"/>
          <a:chExt cx="0" cy="0"/>
        </a:xfrm>
      </p:grpSpPr>
      <p:sp>
        <p:nvSpPr>
          <p:cNvPr id="2445" name="Google Shape;2445;h65eb7c06466a6d01_2_675"/>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446" name="Google Shape;2446;h65eb7c06466a6d01_2_675"/>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47" name="Google Shape;2447;h65eb7c06466a6d01_2_675"/>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448" name="Google Shape;2448;h65eb7c06466a6d01_2_675"/>
          <p:cNvSpPr/>
          <p:nvPr/>
        </p:nvSpPr>
        <p:spPr>
          <a:xfrm>
            <a:off x="6095838" y="1697451"/>
            <a:ext cx="5599383" cy="3508690"/>
          </a:xfrm>
          <a:custGeom>
            <a:rect b="b" l="l" r="r" t="t"/>
            <a:pathLst>
              <a:path extrusionOk="0" h="1386834" w="2213195">
                <a:moveTo>
                  <a:pt x="0" y="0"/>
                </a:moveTo>
                <a:lnTo>
                  <a:pt x="2213195" y="0"/>
                </a:lnTo>
                <a:lnTo>
                  <a:pt x="2213195" y="1386834"/>
                </a:lnTo>
                <a:lnTo>
                  <a:pt x="0" y="1386834"/>
                </a:lnTo>
                <a:close/>
              </a:path>
            </a:pathLst>
          </a:custGeom>
          <a:solidFill>
            <a:srgbClr val="FFFFFF"/>
          </a:solidFill>
          <a:ln cap="flat" cmpd="sng" w="76200">
            <a:solidFill>
              <a:srgbClr val="0B3360"/>
            </a:solidFill>
            <a:prstDash val="solid"/>
            <a:round/>
            <a:headEnd len="sm" w="sm" type="none"/>
            <a:tailEnd len="sm" w="sm" type="none"/>
          </a:ln>
        </p:spPr>
      </p:sp>
      <p:sp>
        <p:nvSpPr>
          <p:cNvPr id="2449" name="Google Shape;2449;h65eb7c06466a6d01_2_675"/>
          <p:cNvSpPr/>
          <p:nvPr/>
        </p:nvSpPr>
        <p:spPr>
          <a:xfrm>
            <a:off x="6095838" y="1673341"/>
            <a:ext cx="5601900" cy="35343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50" name="Google Shape;2450;h65eb7c06466a6d01_2_675"/>
          <p:cNvSpPr/>
          <p:nvPr/>
        </p:nvSpPr>
        <p:spPr>
          <a:xfrm>
            <a:off x="3936236" y="1173971"/>
            <a:ext cx="4958284" cy="359212"/>
          </a:xfrm>
          <a:custGeom>
            <a:rect b="b" l="l" r="r" t="t"/>
            <a:pathLst>
              <a:path extrusionOk="0" h="141981" w="1959796">
                <a:moveTo>
                  <a:pt x="0" y="0"/>
                </a:moveTo>
                <a:lnTo>
                  <a:pt x="1959796" y="0"/>
                </a:lnTo>
                <a:lnTo>
                  <a:pt x="1959796" y="141981"/>
                </a:lnTo>
                <a:lnTo>
                  <a:pt x="0" y="141981"/>
                </a:lnTo>
                <a:close/>
              </a:path>
            </a:pathLst>
          </a:custGeom>
          <a:solidFill>
            <a:srgbClr val="FFC00C"/>
          </a:solidFill>
          <a:ln>
            <a:noFill/>
          </a:ln>
        </p:spPr>
      </p:sp>
      <p:sp>
        <p:nvSpPr>
          <p:cNvPr id="2451" name="Google Shape;2451;h65eb7c06466a6d01_2_675"/>
          <p:cNvSpPr/>
          <p:nvPr/>
        </p:nvSpPr>
        <p:spPr>
          <a:xfrm>
            <a:off x="3936236" y="1149861"/>
            <a:ext cx="4960800" cy="3837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52" name="Google Shape;2452;h65eb7c06466a6d01_2_675"/>
          <p:cNvSpPr/>
          <p:nvPr/>
        </p:nvSpPr>
        <p:spPr>
          <a:xfrm>
            <a:off x="3000477" y="2195020"/>
            <a:ext cx="2893005" cy="1931081"/>
          </a:xfrm>
          <a:custGeom>
            <a:rect b="b" l="l" r="r" t="t"/>
            <a:pathLst>
              <a:path extrusionOk="0" h="2893005" w="4334090">
                <a:moveTo>
                  <a:pt x="0" y="0"/>
                </a:moveTo>
                <a:lnTo>
                  <a:pt x="4334091" y="0"/>
                </a:lnTo>
                <a:lnTo>
                  <a:pt x="4334091" y="2893005"/>
                </a:lnTo>
                <a:lnTo>
                  <a:pt x="0" y="2893005"/>
                </a:lnTo>
                <a:lnTo>
                  <a:pt x="0" y="0"/>
                </a:lnTo>
                <a:close/>
              </a:path>
            </a:pathLst>
          </a:custGeom>
          <a:blipFill rotWithShape="1">
            <a:blip r:embed="rId4">
              <a:alphaModFix/>
            </a:blip>
            <a:stretch>
              <a:fillRect b="0" l="0" r="0" t="0"/>
            </a:stretch>
          </a:blipFill>
          <a:ln>
            <a:noFill/>
          </a:ln>
        </p:spPr>
      </p:sp>
      <p:sp>
        <p:nvSpPr>
          <p:cNvPr id="2453" name="Google Shape;2453;h65eb7c06466a6d01_2_675"/>
          <p:cNvSpPr/>
          <p:nvPr/>
        </p:nvSpPr>
        <p:spPr>
          <a:xfrm>
            <a:off x="685782" y="1697451"/>
            <a:ext cx="2722487" cy="1813856"/>
          </a:xfrm>
          <a:custGeom>
            <a:rect b="b" l="l" r="r" t="t"/>
            <a:pathLst>
              <a:path extrusionOk="0" h="2717388" w="4078632">
                <a:moveTo>
                  <a:pt x="0" y="0"/>
                </a:moveTo>
                <a:lnTo>
                  <a:pt x="4078632" y="0"/>
                </a:lnTo>
                <a:lnTo>
                  <a:pt x="4078632" y="2717389"/>
                </a:lnTo>
                <a:lnTo>
                  <a:pt x="0" y="2717389"/>
                </a:lnTo>
                <a:lnTo>
                  <a:pt x="0" y="0"/>
                </a:lnTo>
                <a:close/>
              </a:path>
            </a:pathLst>
          </a:custGeom>
          <a:blipFill rotWithShape="1">
            <a:blip r:embed="rId5">
              <a:alphaModFix/>
            </a:blip>
            <a:stretch>
              <a:fillRect b="0" l="0" r="0" t="0"/>
            </a:stretch>
          </a:blipFill>
          <a:ln>
            <a:noFill/>
          </a:ln>
        </p:spPr>
      </p:sp>
      <p:sp>
        <p:nvSpPr>
          <p:cNvPr id="2454" name="Google Shape;2454;h65eb7c06466a6d01_2_675"/>
          <p:cNvSpPr/>
          <p:nvPr/>
        </p:nvSpPr>
        <p:spPr>
          <a:xfrm>
            <a:off x="685782" y="4212590"/>
            <a:ext cx="4401000" cy="20313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Analisis Data Penjualan Internal</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Analisis Tren Industri &amp; Makro</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Benchmarking Pesaing</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Wawancara Jobs To Be Done</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Pemetaan Proposisi Nilai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Segmentasi &amp; Profil Pasar</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Survei Daring &amp; FGD</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Peta Jalan Bisnis &amp; Simulasi Skenario (misalnya pemodelan biaya-pendapatan menggunakan Matriks Ansoff)</a:t>
            </a:r>
            <a:endParaRPr sz="900"/>
          </a:p>
        </p:txBody>
      </p:sp>
      <p:sp>
        <p:nvSpPr>
          <p:cNvPr id="2455" name="Google Shape;2455;h65eb7c06466a6d01_2_675"/>
          <p:cNvSpPr/>
          <p:nvPr/>
        </p:nvSpPr>
        <p:spPr>
          <a:xfrm>
            <a:off x="1848152" y="238743"/>
            <a:ext cx="90651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(2)</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Reinvensi Strategi Bisnis untuk Jaringan F&amp;B di Indonesia</a:t>
            </a:r>
            <a:endParaRPr sz="900"/>
          </a:p>
        </p:txBody>
      </p:sp>
      <p:sp>
        <p:nvSpPr>
          <p:cNvPr id="2456" name="Google Shape;2456;h65eb7c06466a6d01_2_675"/>
          <p:cNvSpPr/>
          <p:nvPr/>
        </p:nvSpPr>
        <p:spPr>
          <a:xfrm>
            <a:off x="4040550" y="1204629"/>
            <a:ext cx="47520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Strategi Pasar dan Riset Konsumen</a:t>
            </a:r>
            <a:endParaRPr sz="900"/>
          </a:p>
        </p:txBody>
      </p:sp>
      <p:sp>
        <p:nvSpPr>
          <p:cNvPr id="2457" name="Google Shape;2457;h65eb7c06466a6d01_2_675"/>
          <p:cNvSpPr/>
          <p:nvPr/>
        </p:nvSpPr>
        <p:spPr>
          <a:xfrm>
            <a:off x="6352125" y="1831495"/>
            <a:ext cx="5089500" cy="3198300"/>
          </a:xfrm>
          <a:prstGeom prst="rect">
            <a:avLst/>
          </a:prstGeom>
          <a:noFill/>
          <a:ln>
            <a:noFill/>
          </a:ln>
        </p:spPr>
        <p:txBody>
          <a:bodyPr anchorCtr="0" anchor="t" bIns="0" lIns="0" spcFirstLastPara="1" rIns="0" wrap="square" tIns="0">
            <a:noAutofit/>
          </a:bodyPr>
          <a:lstStyle/>
          <a:p>
            <a:pPr indent="0" lvl="0" marL="0" marR="0" rtl="0" algn="just">
              <a:lnSpc>
                <a:spcPct val="150027"/>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Sanggabiz menunjukkan kapabilitas yang kuat dalam riset pasar dan konsumen melalui proyek bersama salah satu merek F&amp;B tradisional terkemuka di Indonesia yang mengalami penurunan penjualan dan kunjungan pada 2025. Dengan kerangka riset yang menyeluruh, meliputi analisis penjualan internal, benchmarking industri, observasi pesaing, dan wawancara pelanggan terarah, Sanggabiz menemukan insight yang dapat ditindaklanjuti untuk mereposisi merek. Proyek ini melibatkan lebih dari 300 responden di setiap kota melalui survei dan FGD, penyusunan peta jalan bisnis, serta simulasi berbagai skenario pertumbuhan. Pendekatan tersebut membantu klien mengambil keputusan berbasis data mengenai harga, menu, dan segmentasi sasaran dengan fokus pada profitabilitas jangka panjang dan ketahanan operasional.</a:t>
            </a:r>
            <a:endParaRPr sz="9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h65eb7c06466a6d01_2_692"/>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464" name="Google Shape;2464;h65eb7c06466a6d01_2_692"/>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65" name="Google Shape;2465;h65eb7c06466a6d01_2_692"/>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466" name="Google Shape;2466;h65eb7c06466a6d01_2_692"/>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467" name="Google Shape;2467;h65eb7c06466a6d01_2_692"/>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68" name="Google Shape;2468;h65eb7c06466a6d01_2_692"/>
          <p:cNvSpPr/>
          <p:nvPr/>
        </p:nvSpPr>
        <p:spPr>
          <a:xfrm>
            <a:off x="3104387" y="1173971"/>
            <a:ext cx="6127119" cy="320559"/>
          </a:xfrm>
          <a:custGeom>
            <a:rect b="b" l="l" r="r" t="t"/>
            <a:pathLst>
              <a:path extrusionOk="0" h="126703" w="2421786">
                <a:moveTo>
                  <a:pt x="0" y="0"/>
                </a:moveTo>
                <a:lnTo>
                  <a:pt x="2421786" y="0"/>
                </a:lnTo>
                <a:lnTo>
                  <a:pt x="2421786" y="126703"/>
                </a:lnTo>
                <a:lnTo>
                  <a:pt x="0" y="126703"/>
                </a:lnTo>
                <a:close/>
              </a:path>
            </a:pathLst>
          </a:custGeom>
          <a:solidFill>
            <a:srgbClr val="FFC00C"/>
          </a:solidFill>
          <a:ln>
            <a:noFill/>
          </a:ln>
        </p:spPr>
      </p:sp>
      <p:sp>
        <p:nvSpPr>
          <p:cNvPr id="2469" name="Google Shape;2469;h65eb7c06466a6d01_2_692"/>
          <p:cNvSpPr/>
          <p:nvPr/>
        </p:nvSpPr>
        <p:spPr>
          <a:xfrm>
            <a:off x="3104387" y="1149861"/>
            <a:ext cx="6129900" cy="3447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70" name="Google Shape;2470;h65eb7c06466a6d01_2_692"/>
          <p:cNvSpPr/>
          <p:nvPr/>
        </p:nvSpPr>
        <p:spPr>
          <a:xfrm>
            <a:off x="2236491" y="1697451"/>
            <a:ext cx="3612724" cy="2406977"/>
          </a:xfrm>
          <a:custGeom>
            <a:rect b="b" l="l" r="r" t="t"/>
            <a:pathLst>
              <a:path extrusionOk="0" h="3605958" w="5412320">
                <a:moveTo>
                  <a:pt x="0" y="0"/>
                </a:moveTo>
                <a:lnTo>
                  <a:pt x="5412320" y="0"/>
                </a:lnTo>
                <a:lnTo>
                  <a:pt x="5412320" y="3605958"/>
                </a:lnTo>
                <a:lnTo>
                  <a:pt x="0" y="3605958"/>
                </a:lnTo>
                <a:lnTo>
                  <a:pt x="0" y="0"/>
                </a:lnTo>
                <a:close/>
              </a:path>
            </a:pathLst>
          </a:custGeom>
          <a:blipFill rotWithShape="1">
            <a:blip r:embed="rId4">
              <a:alphaModFix/>
            </a:blip>
            <a:stretch>
              <a:fillRect b="0" l="0" r="0" t="0"/>
            </a:stretch>
          </a:blipFill>
          <a:ln>
            <a:noFill/>
          </a:ln>
        </p:spPr>
      </p:sp>
      <p:sp>
        <p:nvSpPr>
          <p:cNvPr id="2471" name="Google Shape;2471;h65eb7c06466a6d01_2_692"/>
          <p:cNvSpPr/>
          <p:nvPr/>
        </p:nvSpPr>
        <p:spPr>
          <a:xfrm>
            <a:off x="452723" y="2660534"/>
            <a:ext cx="2655049" cy="1766815"/>
          </a:xfrm>
          <a:custGeom>
            <a:rect b="b" l="l" r="r" t="t"/>
            <a:pathLst>
              <a:path extrusionOk="0" h="2646914" w="3977602">
                <a:moveTo>
                  <a:pt x="0" y="0"/>
                </a:moveTo>
                <a:lnTo>
                  <a:pt x="3977602" y="0"/>
                </a:lnTo>
                <a:lnTo>
                  <a:pt x="3977602" y="2646914"/>
                </a:lnTo>
                <a:lnTo>
                  <a:pt x="0" y="2646914"/>
                </a:lnTo>
                <a:lnTo>
                  <a:pt x="0" y="0"/>
                </a:lnTo>
                <a:close/>
              </a:path>
            </a:pathLst>
          </a:custGeom>
          <a:blipFill rotWithShape="1">
            <a:blip r:embed="rId5">
              <a:alphaModFix/>
            </a:blip>
            <a:stretch>
              <a:fillRect b="0" l="0" r="0" t="0"/>
            </a:stretch>
          </a:blipFill>
          <a:ln>
            <a:noFill/>
          </a:ln>
        </p:spPr>
      </p:sp>
      <p:sp>
        <p:nvSpPr>
          <p:cNvPr id="2472" name="Google Shape;2472;h65eb7c06466a6d01_2_692"/>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Desain &amp; Restrukturisasi Organisasi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Perencanaan Tenaga Kerja &amp; Penyesuaian Peran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Fasilitasi Manajemen Perubahan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Metrik Produktivitas &amp; Perancangan KPI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Asesmen Talenta &amp; Strategi Peningkatan Kompetensi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Penyelarasan Kepemimpinan &amp; Dukungan Eksekusi</a:t>
            </a:r>
            <a:endParaRPr sz="900"/>
          </a:p>
        </p:txBody>
      </p:sp>
      <p:sp>
        <p:nvSpPr>
          <p:cNvPr id="2473" name="Google Shape;2473;h65eb7c06466a6d01_2_692"/>
          <p:cNvSpPr/>
          <p:nvPr/>
        </p:nvSpPr>
        <p:spPr>
          <a:xfrm>
            <a:off x="452723" y="238743"/>
            <a:ext cx="113817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(3)</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Restrukturisasi Organisasi &amp; Analisis Tenaga Kerja</a:t>
            </a:r>
            <a:endParaRPr sz="900"/>
          </a:p>
        </p:txBody>
      </p:sp>
      <p:sp>
        <p:nvSpPr>
          <p:cNvPr id="2474" name="Google Shape;2474;h65eb7c06466a6d01_2_692"/>
          <p:cNvSpPr/>
          <p:nvPr/>
        </p:nvSpPr>
        <p:spPr>
          <a:xfrm>
            <a:off x="3104387" y="1200266"/>
            <a:ext cx="60777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Strategi Pengembangan Organisasi dan Produktivitas Tenaga Kerja</a:t>
            </a:r>
            <a:endParaRPr sz="900"/>
          </a:p>
        </p:txBody>
      </p:sp>
      <p:sp>
        <p:nvSpPr>
          <p:cNvPr id="2475" name="Google Shape;2475;h65eb7c06466a6d01_2_692"/>
          <p:cNvSpPr/>
          <p:nvPr/>
        </p:nvSpPr>
        <p:spPr>
          <a:xfrm>
            <a:off x="6270595" y="1811419"/>
            <a:ext cx="5252700" cy="3851700"/>
          </a:xfrm>
          <a:prstGeom prst="rect">
            <a:avLst/>
          </a:prstGeom>
          <a:noFill/>
          <a:ln>
            <a:noFill/>
          </a:ln>
        </p:spPr>
        <p:txBody>
          <a:bodyPr anchorCtr="0" anchor="t" bIns="0" lIns="0" spcFirstLastPara="1" rIns="0" wrap="square" tIns="0">
            <a:noAutofit/>
          </a:bodyPr>
          <a:lstStyle/>
          <a:p>
            <a:pPr indent="0" lvl="0" marL="0" marR="0" rtl="0" algn="just">
              <a:lnSpc>
                <a:spcPct val="149972"/>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Salah satu BUMN di sektor manufaktur kimia yang mengoperasikan beberapa pabrik pupuk dan urea ingin meningkatkan efisiensi tenaga kerja di Direktorat Operasi &amp; Produksi akibat rendahnya kinerja organisasi dan inefisiensi struktur. Beban kerja operasional tetap tinggi meskipun kinerja menurun, sehingga perusahaan membutuhkan struktur yang lebih efisien dan pengelolaan beban kerja yang lebih baik. Ruang lingkup proyek mencakup analisis tenaga kerja, desain ulang pekerjaan, restrukturisasi organisasi, pemetaan kesenjangan kompetensi, serta perumusan strategi pelatihan dan pengembangan jangka panjang. Sanggabiz melakukan diagnosis beban kerja, merancang struktur baru dengan penyelarasan peran, menyusun kerangka KPI, memfasilitasi manajemen perubahan, dan memastikan penerapan model organisasi baru berjalan lancar melalui komunikasi, pelatihan, dan mekanisme umpan balik 360°.</a:t>
            </a:r>
            <a:endParaRPr sz="9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0" name="Shape 2480"/>
        <p:cNvGrpSpPr/>
        <p:nvPr/>
      </p:nvGrpSpPr>
      <p:grpSpPr>
        <a:xfrm>
          <a:off x="0" y="0"/>
          <a:ext cx="0" cy="0"/>
          <a:chOff x="0" y="0"/>
          <a:chExt cx="0" cy="0"/>
        </a:xfrm>
      </p:grpSpPr>
      <p:sp>
        <p:nvSpPr>
          <p:cNvPr id="2481" name="Google Shape;2481;h65eb7c06466a6d01_2_709"/>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482" name="Google Shape;2482;h65eb7c06466a6d01_2_709"/>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83" name="Google Shape;2483;h65eb7c06466a6d01_2_709"/>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484" name="Google Shape;2484;h65eb7c06466a6d01_2_709"/>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485" name="Google Shape;2485;h65eb7c06466a6d01_2_709"/>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86" name="Google Shape;2486;h65eb7c06466a6d01_2_709"/>
          <p:cNvSpPr/>
          <p:nvPr/>
        </p:nvSpPr>
        <p:spPr>
          <a:xfrm>
            <a:off x="3936236" y="1173971"/>
            <a:ext cx="4958284" cy="359212"/>
          </a:xfrm>
          <a:custGeom>
            <a:rect b="b" l="l" r="r" t="t"/>
            <a:pathLst>
              <a:path extrusionOk="0" h="141981" w="1959796">
                <a:moveTo>
                  <a:pt x="0" y="0"/>
                </a:moveTo>
                <a:lnTo>
                  <a:pt x="1959796" y="0"/>
                </a:lnTo>
                <a:lnTo>
                  <a:pt x="1959796" y="141981"/>
                </a:lnTo>
                <a:lnTo>
                  <a:pt x="0" y="141981"/>
                </a:lnTo>
                <a:close/>
              </a:path>
            </a:pathLst>
          </a:custGeom>
          <a:solidFill>
            <a:srgbClr val="FFC00C"/>
          </a:solidFill>
          <a:ln>
            <a:noFill/>
          </a:ln>
        </p:spPr>
      </p:sp>
      <p:sp>
        <p:nvSpPr>
          <p:cNvPr id="2487" name="Google Shape;2487;h65eb7c06466a6d01_2_709"/>
          <p:cNvSpPr/>
          <p:nvPr/>
        </p:nvSpPr>
        <p:spPr>
          <a:xfrm>
            <a:off x="3936236" y="1149861"/>
            <a:ext cx="4960800" cy="3837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488" name="Google Shape;2488;h65eb7c06466a6d01_2_709"/>
          <p:cNvSpPr/>
          <p:nvPr/>
        </p:nvSpPr>
        <p:spPr>
          <a:xfrm>
            <a:off x="452723" y="2386709"/>
            <a:ext cx="3710555" cy="2087187"/>
          </a:xfrm>
          <a:custGeom>
            <a:rect b="b" l="l" r="r" t="t"/>
            <a:pathLst>
              <a:path extrusionOk="0" h="3126872" w="5558884">
                <a:moveTo>
                  <a:pt x="0" y="0"/>
                </a:moveTo>
                <a:lnTo>
                  <a:pt x="5558883" y="0"/>
                </a:lnTo>
                <a:lnTo>
                  <a:pt x="5558883" y="3126872"/>
                </a:lnTo>
                <a:lnTo>
                  <a:pt x="0" y="3126872"/>
                </a:lnTo>
                <a:lnTo>
                  <a:pt x="0" y="0"/>
                </a:lnTo>
                <a:close/>
              </a:path>
            </a:pathLst>
          </a:custGeom>
          <a:blipFill rotWithShape="1">
            <a:blip r:embed="rId4">
              <a:alphaModFix/>
            </a:blip>
            <a:stretch>
              <a:fillRect b="0" l="0" r="0" t="0"/>
            </a:stretch>
          </a:blipFill>
          <a:ln>
            <a:noFill/>
          </a:ln>
        </p:spPr>
      </p:sp>
      <p:sp>
        <p:nvSpPr>
          <p:cNvPr id="2489" name="Google Shape;2489;h65eb7c06466a6d01_2_709"/>
          <p:cNvSpPr/>
          <p:nvPr/>
        </p:nvSpPr>
        <p:spPr>
          <a:xfrm>
            <a:off x="3067555" y="1697451"/>
            <a:ext cx="2765932" cy="2266660"/>
          </a:xfrm>
          <a:custGeom>
            <a:rect b="b" l="l" r="r" t="t"/>
            <a:pathLst>
              <a:path extrusionOk="0" h="3395746" w="4143719">
                <a:moveTo>
                  <a:pt x="0" y="0"/>
                </a:moveTo>
                <a:lnTo>
                  <a:pt x="4143720" y="0"/>
                </a:lnTo>
                <a:lnTo>
                  <a:pt x="4143720" y="3395747"/>
                </a:lnTo>
                <a:lnTo>
                  <a:pt x="0" y="3395747"/>
                </a:lnTo>
                <a:lnTo>
                  <a:pt x="0" y="0"/>
                </a:lnTo>
                <a:close/>
              </a:path>
            </a:pathLst>
          </a:custGeom>
          <a:blipFill rotWithShape="1">
            <a:blip r:embed="rId5">
              <a:alphaModFix/>
            </a:blip>
            <a:stretch>
              <a:fillRect b="0" l="-18520" r="-4480" t="0"/>
            </a:stretch>
          </a:blipFill>
          <a:ln>
            <a:noFill/>
          </a:ln>
        </p:spPr>
      </p:sp>
      <p:sp>
        <p:nvSpPr>
          <p:cNvPr id="2490" name="Google Shape;2490;h65eb7c06466a6d01_2_709"/>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Reposisi Merek</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Intelijen Pasar &amp; Analisis Pesaing</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Strategi Kanal Penjualan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Inovasi Model Bisnis</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Growth Hacking &amp; Prioritas Strategis</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Perencanaan Eksekusi Manajemen Perubahan</a:t>
            </a:r>
            <a:endParaRPr sz="900"/>
          </a:p>
        </p:txBody>
      </p:sp>
      <p:sp>
        <p:nvSpPr>
          <p:cNvPr id="2491" name="Google Shape;2491;h65eb7c06466a6d01_2_709"/>
          <p:cNvSpPr/>
          <p:nvPr/>
        </p:nvSpPr>
        <p:spPr>
          <a:xfrm>
            <a:off x="452723" y="238743"/>
            <a:ext cx="113817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(4)</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Strategi Pertumbuhan Bisnis &amp; Positioning Pasar untuk Perusahaan Logistik Indonesia</a:t>
            </a:r>
            <a:endParaRPr sz="900"/>
          </a:p>
        </p:txBody>
      </p:sp>
      <p:sp>
        <p:nvSpPr>
          <p:cNvPr id="2492" name="Google Shape;2492;h65eb7c06466a6d01_2_709"/>
          <p:cNvSpPr/>
          <p:nvPr/>
        </p:nvSpPr>
        <p:spPr>
          <a:xfrm>
            <a:off x="4040550" y="1207635"/>
            <a:ext cx="47520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Riset Pasar dan Strategi Memasuki Pasar</a:t>
            </a:r>
            <a:endParaRPr sz="900"/>
          </a:p>
        </p:txBody>
      </p:sp>
      <p:sp>
        <p:nvSpPr>
          <p:cNvPr id="2493" name="Google Shape;2493;h65eb7c06466a6d01_2_709"/>
          <p:cNvSpPr/>
          <p:nvPr/>
        </p:nvSpPr>
        <p:spPr>
          <a:xfrm>
            <a:off x="6270595" y="1811419"/>
            <a:ext cx="5252700" cy="3851700"/>
          </a:xfrm>
          <a:prstGeom prst="rect">
            <a:avLst/>
          </a:prstGeom>
          <a:noFill/>
          <a:ln>
            <a:noFill/>
          </a:ln>
        </p:spPr>
        <p:txBody>
          <a:bodyPr anchorCtr="0" anchor="t" bIns="0" lIns="0" spcFirstLastPara="1" rIns="0" wrap="square" tIns="0">
            <a:noAutofit/>
          </a:bodyPr>
          <a:lstStyle/>
          <a:p>
            <a:pPr indent="0" lvl="0" marL="0" marR="0" rtl="0" algn="just">
              <a:lnSpc>
                <a:spcPct val="215607"/>
              </a:lnSpc>
              <a:spcBef>
                <a:spcPts val="0"/>
              </a:spcBef>
              <a:spcAft>
                <a:spcPts val="0"/>
              </a:spcAft>
              <a:buClr>
                <a:srgbClr val="0B3360"/>
              </a:buClr>
              <a:buSzPts val="800"/>
              <a:buFont typeface="Arial"/>
              <a:buNone/>
            </a:pPr>
            <a:r>
              <a:rPr lang="en-US" sz="900">
                <a:solidFill>
                  <a:srgbClr val="0B3360"/>
                </a:solidFill>
                <a:latin typeface="Arial"/>
                <a:ea typeface="Arial"/>
                <a:cs typeface="Arial"/>
                <a:sym typeface="Arial"/>
              </a:rPr>
              <a:t>Sebuah perusahaan logistik swasta yang berfokus pada pengoperasian inland container depot (ICD) menghadapi persaingan dari BUMN dan perusahaan multinasional yang telah mapan. Klien membutuhkan arahan strategis untuk membuka peluang pertumbuhan di tengah persaingan yang meningkat dan perubahan kebutuhan logistik. Tantangan utamanya ialah menentukan posisi perusahaan yang tepat dalam pasar jenuh dengan pengenalan merek dan cakupan layanan yang terbatas. Ruang lingkup proyek mencakup diagnosis bisnis menyeluruh, riset pasar dan pesaing, analisis kesesuaian model layanan, kajian TOWS dan PESTEL, pemetaan pilihan strategis menggunakan Matriks Ansoff, serta penyusunan rencana aksi pertumbuhan berdasarkan prioritas. Melalui unit konsultasi dan risetnya, Sanggabiz menyusun peta jalan strategi berbasis data, mengidentifikasi sumber keunggulan bersaing, dan menyelaraskan pemangku kepentingan menuju rencana ekspansi yang dapat ditingkatkan skalanya.</a:t>
            </a:r>
            <a:endParaRPr sz="11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8" name="Shape 2498"/>
        <p:cNvGrpSpPr/>
        <p:nvPr/>
      </p:nvGrpSpPr>
      <p:grpSpPr>
        <a:xfrm>
          <a:off x="0" y="0"/>
          <a:ext cx="0" cy="0"/>
          <a:chOff x="0" y="0"/>
          <a:chExt cx="0" cy="0"/>
        </a:xfrm>
      </p:grpSpPr>
      <p:sp>
        <p:nvSpPr>
          <p:cNvPr id="2499" name="Google Shape;2499;h65eb7c06466a6d01_2_726"/>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500" name="Google Shape;2500;h65eb7c06466a6d01_2_726"/>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01" name="Google Shape;2501;h65eb7c06466a6d01_2_726"/>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502" name="Google Shape;2502;h65eb7c06466a6d01_2_726"/>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503" name="Google Shape;2503;h65eb7c06466a6d01_2_726"/>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04" name="Google Shape;2504;h65eb7c06466a6d01_2_726"/>
          <p:cNvSpPr/>
          <p:nvPr/>
        </p:nvSpPr>
        <p:spPr>
          <a:xfrm>
            <a:off x="3405980" y="1186671"/>
            <a:ext cx="5498067" cy="359212"/>
          </a:xfrm>
          <a:custGeom>
            <a:rect b="b" l="l" r="r" t="t"/>
            <a:pathLst>
              <a:path extrusionOk="0" h="141981" w="2173149">
                <a:moveTo>
                  <a:pt x="0" y="0"/>
                </a:moveTo>
                <a:lnTo>
                  <a:pt x="2173149" y="0"/>
                </a:lnTo>
                <a:lnTo>
                  <a:pt x="2173149" y="141981"/>
                </a:lnTo>
                <a:lnTo>
                  <a:pt x="0" y="141981"/>
                </a:lnTo>
                <a:close/>
              </a:path>
            </a:pathLst>
          </a:custGeom>
          <a:solidFill>
            <a:srgbClr val="FFC00C"/>
          </a:solidFill>
          <a:ln>
            <a:noFill/>
          </a:ln>
        </p:spPr>
      </p:sp>
      <p:sp>
        <p:nvSpPr>
          <p:cNvPr id="2505" name="Google Shape;2505;h65eb7c06466a6d01_2_726"/>
          <p:cNvSpPr/>
          <p:nvPr/>
        </p:nvSpPr>
        <p:spPr>
          <a:xfrm>
            <a:off x="3405980" y="1162561"/>
            <a:ext cx="5500800" cy="3837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06" name="Google Shape;2506;h65eb7c06466a6d01_2_726"/>
          <p:cNvSpPr/>
          <p:nvPr/>
        </p:nvSpPr>
        <p:spPr>
          <a:xfrm>
            <a:off x="2279127" y="2255421"/>
            <a:ext cx="3527342" cy="2350092"/>
          </a:xfrm>
          <a:custGeom>
            <a:rect b="b" l="l" r="r" t="t"/>
            <a:pathLst>
              <a:path extrusionOk="0" h="3520737" w="5284408">
                <a:moveTo>
                  <a:pt x="0" y="0"/>
                </a:moveTo>
                <a:lnTo>
                  <a:pt x="5284408" y="0"/>
                </a:lnTo>
                <a:lnTo>
                  <a:pt x="5284408" y="3520736"/>
                </a:lnTo>
                <a:lnTo>
                  <a:pt x="0" y="3520736"/>
                </a:lnTo>
                <a:lnTo>
                  <a:pt x="0" y="0"/>
                </a:lnTo>
                <a:close/>
              </a:path>
            </a:pathLst>
          </a:custGeom>
          <a:blipFill rotWithShape="1">
            <a:blip r:embed="rId4">
              <a:alphaModFix/>
            </a:blip>
            <a:stretch>
              <a:fillRect b="0" l="0" r="0" t="0"/>
            </a:stretch>
          </a:blipFill>
          <a:ln>
            <a:noFill/>
          </a:ln>
        </p:spPr>
      </p:sp>
      <p:sp>
        <p:nvSpPr>
          <p:cNvPr id="2507" name="Google Shape;2507;h65eb7c06466a6d01_2_726"/>
          <p:cNvSpPr/>
          <p:nvPr/>
        </p:nvSpPr>
        <p:spPr>
          <a:xfrm>
            <a:off x="452723" y="1592883"/>
            <a:ext cx="2754176" cy="1838412"/>
          </a:xfrm>
          <a:custGeom>
            <a:rect b="b" l="l" r="r" t="t"/>
            <a:pathLst>
              <a:path extrusionOk="0" h="2754176" w="4126107">
                <a:moveTo>
                  <a:pt x="0" y="0"/>
                </a:moveTo>
                <a:lnTo>
                  <a:pt x="4126106" y="0"/>
                </a:lnTo>
                <a:lnTo>
                  <a:pt x="4126106" y="2754176"/>
                </a:lnTo>
                <a:lnTo>
                  <a:pt x="0" y="2754176"/>
                </a:lnTo>
                <a:lnTo>
                  <a:pt x="0" y="0"/>
                </a:lnTo>
                <a:close/>
              </a:path>
            </a:pathLst>
          </a:custGeom>
          <a:blipFill rotWithShape="1">
            <a:blip r:embed="rId5">
              <a:alphaModFix/>
            </a:blip>
            <a:stretch>
              <a:fillRect b="0" l="0" r="0" t="0"/>
            </a:stretch>
          </a:blipFill>
          <a:ln>
            <a:noFill/>
          </a:ln>
        </p:spPr>
      </p:sp>
      <p:sp>
        <p:nvSpPr>
          <p:cNvPr id="2508" name="Google Shape;2508;h65eb7c06466a6d01_2_726"/>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Strategi Memasuki Pasar Internasional</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Studi Kelayakan &amp; Pemodelan Investasi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Strategi Go-to-Market</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Kepatuhan Regulasi &amp; Sertifikasi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Pemetaan Kemitraan Strategis</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Intelijen Industri Dirgantara &amp; Penilaian Risiko</a:t>
            </a:r>
            <a:endParaRPr sz="900"/>
          </a:p>
        </p:txBody>
      </p:sp>
      <p:sp>
        <p:nvSpPr>
          <p:cNvPr id="2509" name="Google Shape;2509;h65eb7c06466a6d01_2_726"/>
          <p:cNvSpPr/>
          <p:nvPr/>
        </p:nvSpPr>
        <p:spPr>
          <a:xfrm>
            <a:off x="452723" y="238743"/>
            <a:ext cx="113817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(5)</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Strategi Kelayakan Ekspansi Komponen Dirgantara di Asia-Pasifik</a:t>
            </a:r>
            <a:endParaRPr sz="900"/>
          </a:p>
        </p:txBody>
      </p:sp>
      <p:sp>
        <p:nvSpPr>
          <p:cNvPr id="2510" name="Google Shape;2510;h65eb7c06466a6d01_2_726"/>
          <p:cNvSpPr/>
          <p:nvPr/>
        </p:nvSpPr>
        <p:spPr>
          <a:xfrm>
            <a:off x="3510294" y="1220335"/>
            <a:ext cx="52920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Studi Kelayakan dan Strategi Memasuki Pasar Internasional</a:t>
            </a:r>
            <a:endParaRPr sz="900"/>
          </a:p>
        </p:txBody>
      </p:sp>
      <p:sp>
        <p:nvSpPr>
          <p:cNvPr id="2511" name="Google Shape;2511;h65eb7c06466a6d01_2_726"/>
          <p:cNvSpPr/>
          <p:nvPr/>
        </p:nvSpPr>
        <p:spPr>
          <a:xfrm>
            <a:off x="6270595" y="1811419"/>
            <a:ext cx="5252700" cy="3851700"/>
          </a:xfrm>
          <a:prstGeom prst="rect">
            <a:avLst/>
          </a:prstGeom>
          <a:noFill/>
          <a:ln>
            <a:noFill/>
          </a:ln>
        </p:spPr>
        <p:txBody>
          <a:bodyPr anchorCtr="0" anchor="t" bIns="0" lIns="0" spcFirstLastPara="1" rIns="0" wrap="square" tIns="0">
            <a:noAutofit/>
          </a:bodyPr>
          <a:lstStyle/>
          <a:p>
            <a:pPr indent="0" lvl="0" marL="0" marR="0" rtl="0" algn="just">
              <a:lnSpc>
                <a:spcPct val="149972"/>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Sebuah perusahaan dirgantara global yang beroperasi di Indonesia dan berfokus pada perakitan ekor serta komponen interior kabin pesawat ingin menilai kelayakan memasuki pasar Asia-Pasifik di tengah peningkatan permintaan dan persaingan ketat dari pemasok yang telah lama beroperasi. Klien perlu memastikan apakah ekspansi ke pasar komponen dirgantara Asia-Pasifik, khususnya perakitan ekor dan interior kabin, layak dilakukan dan bagaimana strategi pelaksanaannya. Ruang lingkup proyek mencakup riset pasar menyeluruh, analisis hukum dan regulasi (FAA, EASA, CAAC), pemodelan kelayakan keuangan, serta pengembangan strategi go-to-market yang meliputi model kemitraan dan kanal distribusi. Sanggabiz menyusun studi kelayakan lengkap, mengidentifikasi risiko masuk pasar, memetakan potensi jalur ROI, dan merancang rencana aksi strategis untuk memasuki pasar APAC dengan memperhatikan kepatuhan regulasi serta tahapan sertifikasi.</a:t>
            </a:r>
            <a:endParaRPr sz="9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6" name="Shape 2516"/>
        <p:cNvGrpSpPr/>
        <p:nvPr/>
      </p:nvGrpSpPr>
      <p:grpSpPr>
        <a:xfrm>
          <a:off x="0" y="0"/>
          <a:ext cx="0" cy="0"/>
          <a:chOff x="0" y="0"/>
          <a:chExt cx="0" cy="0"/>
        </a:xfrm>
      </p:grpSpPr>
      <p:sp>
        <p:nvSpPr>
          <p:cNvPr id="2517" name="Google Shape;2517;h65eb7c06466a6d01_2_743"/>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518" name="Google Shape;2518;h65eb7c06466a6d01_2_743"/>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19" name="Google Shape;2519;h65eb7c06466a6d01_2_743"/>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520" name="Google Shape;2520;h65eb7c06466a6d01_2_743"/>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521" name="Google Shape;2521;h65eb7c06466a6d01_2_743"/>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22" name="Google Shape;2522;h65eb7c06466a6d01_2_743"/>
          <p:cNvSpPr/>
          <p:nvPr/>
        </p:nvSpPr>
        <p:spPr>
          <a:xfrm>
            <a:off x="2731377" y="1173971"/>
            <a:ext cx="6162582" cy="374205"/>
          </a:xfrm>
          <a:custGeom>
            <a:rect b="b" l="l" r="r" t="t"/>
            <a:pathLst>
              <a:path extrusionOk="0" h="147907" w="2435803">
                <a:moveTo>
                  <a:pt x="0" y="0"/>
                </a:moveTo>
                <a:lnTo>
                  <a:pt x="2435803" y="0"/>
                </a:lnTo>
                <a:lnTo>
                  <a:pt x="2435803" y="147907"/>
                </a:lnTo>
                <a:lnTo>
                  <a:pt x="0" y="147907"/>
                </a:lnTo>
                <a:close/>
              </a:path>
            </a:pathLst>
          </a:custGeom>
          <a:solidFill>
            <a:srgbClr val="FFC00C"/>
          </a:solidFill>
          <a:ln>
            <a:noFill/>
          </a:ln>
        </p:spPr>
      </p:sp>
      <p:sp>
        <p:nvSpPr>
          <p:cNvPr id="2523" name="Google Shape;2523;h65eb7c06466a6d01_2_743"/>
          <p:cNvSpPr/>
          <p:nvPr/>
        </p:nvSpPr>
        <p:spPr>
          <a:xfrm>
            <a:off x="2731377" y="1149861"/>
            <a:ext cx="6165300" cy="3984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24" name="Google Shape;2524;h65eb7c06466a6d01_2_743"/>
          <p:cNvSpPr/>
          <p:nvPr/>
        </p:nvSpPr>
        <p:spPr>
          <a:xfrm>
            <a:off x="556900" y="2750950"/>
            <a:ext cx="2754176" cy="1838412"/>
          </a:xfrm>
          <a:custGeom>
            <a:rect b="b" l="l" r="r" t="t"/>
            <a:pathLst>
              <a:path extrusionOk="0" h="2754176" w="4126107">
                <a:moveTo>
                  <a:pt x="0" y="0"/>
                </a:moveTo>
                <a:lnTo>
                  <a:pt x="4126106" y="0"/>
                </a:lnTo>
                <a:lnTo>
                  <a:pt x="4126106" y="2754176"/>
                </a:lnTo>
                <a:lnTo>
                  <a:pt x="0" y="2754176"/>
                </a:lnTo>
                <a:lnTo>
                  <a:pt x="0" y="0"/>
                </a:lnTo>
                <a:close/>
              </a:path>
            </a:pathLst>
          </a:custGeom>
          <a:blipFill rotWithShape="1">
            <a:blip r:embed="rId4">
              <a:alphaModFix/>
            </a:blip>
            <a:stretch>
              <a:fillRect b="0" l="0" r="0" t="0"/>
            </a:stretch>
          </a:blipFill>
          <a:ln>
            <a:noFill/>
          </a:ln>
        </p:spPr>
      </p:sp>
      <p:sp>
        <p:nvSpPr>
          <p:cNvPr id="2525" name="Google Shape;2525;h65eb7c06466a6d01_2_743"/>
          <p:cNvSpPr/>
          <p:nvPr/>
        </p:nvSpPr>
        <p:spPr>
          <a:xfrm>
            <a:off x="2599534" y="1697451"/>
            <a:ext cx="3201983" cy="2141326"/>
          </a:xfrm>
          <a:custGeom>
            <a:rect b="b" l="l" r="r" t="t"/>
            <a:pathLst>
              <a:path extrusionOk="0" h="3207979" w="4796978">
                <a:moveTo>
                  <a:pt x="0" y="0"/>
                </a:moveTo>
                <a:lnTo>
                  <a:pt x="4796978" y="0"/>
                </a:lnTo>
                <a:lnTo>
                  <a:pt x="4796978" y="3207980"/>
                </a:lnTo>
                <a:lnTo>
                  <a:pt x="0" y="3207980"/>
                </a:lnTo>
                <a:lnTo>
                  <a:pt x="0" y="0"/>
                </a:lnTo>
                <a:close/>
              </a:path>
            </a:pathLst>
          </a:custGeom>
          <a:blipFill rotWithShape="1">
            <a:blip r:embed="rId5">
              <a:alphaModFix/>
            </a:blip>
            <a:stretch>
              <a:fillRect b="0" l="0" r="0" t="0"/>
            </a:stretch>
          </a:blipFill>
          <a:ln>
            <a:noFill/>
          </a:ln>
        </p:spPr>
      </p:sp>
      <p:sp>
        <p:nvSpPr>
          <p:cNvPr id="2526" name="Google Shape;2526;h65eb7c06466a6d01_2_743"/>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Proyeksi Keuangan &amp; Penyusunan Pro Forma</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Perencanaan Bisnis Strategis (RJPP)</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Pemetaan Kepatuhan Regulasi &amp; Hukum</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Analisis Risiko dan Profitabilitas Pascaspin-off</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Tata Kelola &amp; Komunikasi Pemangku Kepentingan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Reposisi Strategi Perusahaan</a:t>
            </a:r>
            <a:endParaRPr sz="900"/>
          </a:p>
        </p:txBody>
      </p:sp>
      <p:sp>
        <p:nvSpPr>
          <p:cNvPr id="2527" name="Google Shape;2527;h65eb7c06466a6d01_2_743"/>
          <p:cNvSpPr/>
          <p:nvPr/>
        </p:nvSpPr>
        <p:spPr>
          <a:xfrm>
            <a:off x="0" y="238743"/>
            <a:ext cx="121917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(6)</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Kajian Dampak Keuangan Spin-off &amp; Strategi Pascareformasi bagi Perusahaan Asuransi</a:t>
            </a:r>
            <a:endParaRPr sz="900"/>
          </a:p>
        </p:txBody>
      </p:sp>
      <p:sp>
        <p:nvSpPr>
          <p:cNvPr id="2528" name="Google Shape;2528;h65eb7c06466a6d01_2_743"/>
          <p:cNvSpPr/>
          <p:nvPr/>
        </p:nvSpPr>
        <p:spPr>
          <a:xfrm>
            <a:off x="2731377" y="1207635"/>
            <a:ext cx="60609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Restrukturisasi Keuangan dan Strategi Perusahaan Pascaregulasi</a:t>
            </a:r>
            <a:endParaRPr sz="900"/>
          </a:p>
        </p:txBody>
      </p:sp>
      <p:sp>
        <p:nvSpPr>
          <p:cNvPr id="2529" name="Google Shape;2529;h65eb7c06466a6d01_2_743"/>
          <p:cNvSpPr/>
          <p:nvPr/>
        </p:nvSpPr>
        <p:spPr>
          <a:xfrm>
            <a:off x="6270595" y="1817769"/>
            <a:ext cx="5252700" cy="3664500"/>
          </a:xfrm>
          <a:prstGeom prst="rect">
            <a:avLst/>
          </a:prstGeom>
          <a:noFill/>
          <a:ln>
            <a:noFill/>
          </a:ln>
        </p:spPr>
        <p:txBody>
          <a:bodyPr anchorCtr="0" anchor="t" bIns="0" lIns="0" spcFirstLastPara="1" rIns="0" wrap="square" tIns="0">
            <a:noAutofit/>
          </a:bodyPr>
          <a:lstStyle/>
          <a:p>
            <a:pPr indent="0" lvl="0" marL="0" marR="0" rtl="0" algn="just">
              <a:lnSpc>
                <a:spcPct val="149971"/>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Sebuah BUMN di sektor asuransi keuangan dan penjaminan kredit yang bertugas mendukung UMKM melalui program penjaminan pinjaman perlu menilai dampak keuangan dan strategis dari spin-off unit bisnis yang diwajibkan pemerintah akibat reformasi regulasi. Di bawah tekanan POJK 36/2024 untuk memisahkan divisi penjaminan kredit penugasan pemerintah, perusahaan perlu memahami kesehatan keuangan dan prospek strategis setelah pemisahan. Ruang lingkup pekerjaan meliputi rekonstruksi laporan keuangan pro forma berdasarkan laporan audit 2024, analisis keberlanjutan bisnis melalui kajian SWOT, pasar, dan risiko, serta penyusunan kembali strategi perusahaan dan RJPP. Sanggabiz menjalankan pemodelan skenario, simulasi kinerja keuangan pascaspin-off, tinjauan profitabilitas tingkat produk, dan pengembangan rekomendasi strategis. Tim juga mendukung komunikasi pemangku kepentingan, roadshow, dan penyempurnaan berulang untuk memastikan transisi serta kepatuhan regulasi berjalan lancar.</a:t>
            </a:r>
            <a:endParaRPr sz="9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4" name="Shape 2534"/>
        <p:cNvGrpSpPr/>
        <p:nvPr/>
      </p:nvGrpSpPr>
      <p:grpSpPr>
        <a:xfrm>
          <a:off x="0" y="0"/>
          <a:ext cx="0" cy="0"/>
          <a:chOff x="0" y="0"/>
          <a:chExt cx="0" cy="0"/>
        </a:xfrm>
      </p:grpSpPr>
      <p:sp>
        <p:nvSpPr>
          <p:cNvPr id="2535" name="Google Shape;2535;h65eb7c06466a6d01_2_760"/>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536" name="Google Shape;2536;h65eb7c06466a6d01_2_760"/>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37" name="Google Shape;2537;h65eb7c06466a6d01_2_760"/>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538" name="Google Shape;2538;h65eb7c06466a6d01_2_760"/>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539" name="Google Shape;2539;h65eb7c06466a6d01_2_760"/>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40" name="Google Shape;2540;h65eb7c06466a6d01_2_760"/>
          <p:cNvSpPr/>
          <p:nvPr/>
        </p:nvSpPr>
        <p:spPr>
          <a:xfrm>
            <a:off x="2708256" y="1197958"/>
            <a:ext cx="6532741" cy="378658"/>
          </a:xfrm>
          <a:custGeom>
            <a:rect b="b" l="l" r="r" t="t"/>
            <a:pathLst>
              <a:path extrusionOk="0" h="149667" w="2582111">
                <a:moveTo>
                  <a:pt x="0" y="0"/>
                </a:moveTo>
                <a:lnTo>
                  <a:pt x="2582111" y="0"/>
                </a:lnTo>
                <a:lnTo>
                  <a:pt x="2582111" y="149667"/>
                </a:lnTo>
                <a:lnTo>
                  <a:pt x="0" y="149667"/>
                </a:lnTo>
                <a:close/>
              </a:path>
            </a:pathLst>
          </a:custGeom>
          <a:solidFill>
            <a:srgbClr val="FFC00C"/>
          </a:solidFill>
          <a:ln>
            <a:noFill/>
          </a:ln>
        </p:spPr>
      </p:sp>
      <p:sp>
        <p:nvSpPr>
          <p:cNvPr id="2541" name="Google Shape;2541;h65eb7c06466a6d01_2_760"/>
          <p:cNvSpPr/>
          <p:nvPr/>
        </p:nvSpPr>
        <p:spPr>
          <a:xfrm>
            <a:off x="2708256" y="1173848"/>
            <a:ext cx="6535800" cy="4029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42" name="Google Shape;2542;h65eb7c06466a6d01_2_760"/>
          <p:cNvSpPr/>
          <p:nvPr/>
        </p:nvSpPr>
        <p:spPr>
          <a:xfrm>
            <a:off x="452723" y="1982893"/>
            <a:ext cx="3097428" cy="1935892"/>
          </a:xfrm>
          <a:custGeom>
            <a:rect b="b" l="l" r="r" t="t"/>
            <a:pathLst>
              <a:path extrusionOk="0" h="2900213" w="4640341">
                <a:moveTo>
                  <a:pt x="0" y="0"/>
                </a:moveTo>
                <a:lnTo>
                  <a:pt x="4640340" y="0"/>
                </a:lnTo>
                <a:lnTo>
                  <a:pt x="4640340" y="2900213"/>
                </a:lnTo>
                <a:lnTo>
                  <a:pt x="0" y="2900213"/>
                </a:lnTo>
                <a:lnTo>
                  <a:pt x="0" y="0"/>
                </a:lnTo>
                <a:close/>
              </a:path>
            </a:pathLst>
          </a:custGeom>
          <a:blipFill rotWithShape="1">
            <a:blip r:embed="rId4">
              <a:alphaModFix/>
            </a:blip>
            <a:stretch>
              <a:fillRect b="0" l="0" r="0" t="0"/>
            </a:stretch>
          </a:blipFill>
          <a:ln>
            <a:noFill/>
          </a:ln>
        </p:spPr>
      </p:sp>
      <p:sp>
        <p:nvSpPr>
          <p:cNvPr id="2543" name="Google Shape;2543;h65eb7c06466a6d01_2_760"/>
          <p:cNvSpPr/>
          <p:nvPr/>
        </p:nvSpPr>
        <p:spPr>
          <a:xfrm>
            <a:off x="2708256" y="2530491"/>
            <a:ext cx="3126198" cy="2110184"/>
          </a:xfrm>
          <a:custGeom>
            <a:rect b="b" l="l" r="r" t="t"/>
            <a:pathLst>
              <a:path extrusionOk="0" h="3161324" w="4683443">
                <a:moveTo>
                  <a:pt x="0" y="0"/>
                </a:moveTo>
                <a:lnTo>
                  <a:pt x="4683444" y="0"/>
                </a:lnTo>
                <a:lnTo>
                  <a:pt x="4683444" y="3161324"/>
                </a:lnTo>
                <a:lnTo>
                  <a:pt x="0" y="3161324"/>
                </a:lnTo>
                <a:lnTo>
                  <a:pt x="0" y="0"/>
                </a:lnTo>
                <a:close/>
              </a:path>
            </a:pathLst>
          </a:custGeom>
          <a:blipFill rotWithShape="1">
            <a:blip r:embed="rId5">
              <a:alphaModFix/>
            </a:blip>
            <a:stretch>
              <a:fillRect b="0" l="0" r="0" t="0"/>
            </a:stretch>
          </a:blipFill>
          <a:ln>
            <a:noFill/>
          </a:ln>
        </p:spPr>
      </p:sp>
      <p:sp>
        <p:nvSpPr>
          <p:cNvPr id="2544" name="Google Shape;2544;h65eb7c06466a6d01_2_760"/>
          <p:cNvSpPr/>
          <p:nvPr/>
        </p:nvSpPr>
        <p:spPr>
          <a:xfrm>
            <a:off x="452723" y="4606290"/>
            <a:ext cx="3816600" cy="1566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Riset Pasar &amp; Analisis Lanskap Persaingan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Diagnostik Bisnis &amp; Pemetaan Rantai Nilai</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Perumusan Strategi Go-to-Market</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Analisis Rasio Keuangan &amp; Profitabilitas</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Rekayasa Ulang Organisasi dan Proses</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Strategi Product-Market Fit dan Buyer Persona</a:t>
            </a:r>
            <a:endParaRPr sz="900"/>
          </a:p>
        </p:txBody>
      </p:sp>
      <p:sp>
        <p:nvSpPr>
          <p:cNvPr id="2545" name="Google Shape;2545;h65eb7c06466a6d01_2_760"/>
          <p:cNvSpPr/>
          <p:nvPr/>
        </p:nvSpPr>
        <p:spPr>
          <a:xfrm>
            <a:off x="452723" y="238743"/>
            <a:ext cx="11381700" cy="9033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(7)</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Diagnostik &amp; Strategi Pertumbuhan Anak Perusahaan Energi Terbarukan</a:t>
            </a:r>
            <a:endParaRPr sz="900"/>
          </a:p>
        </p:txBody>
      </p:sp>
      <p:sp>
        <p:nvSpPr>
          <p:cNvPr id="2546" name="Google Shape;2546;h65eb7c06466a6d01_2_760"/>
          <p:cNvSpPr/>
          <p:nvPr/>
        </p:nvSpPr>
        <p:spPr>
          <a:xfrm>
            <a:off x="2865850" y="1231621"/>
            <a:ext cx="62739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Diagnostik Bisnis dan Strategi Pertumbuhan Pasar Energi Terbarukan</a:t>
            </a:r>
            <a:endParaRPr sz="900"/>
          </a:p>
        </p:txBody>
      </p:sp>
      <p:sp>
        <p:nvSpPr>
          <p:cNvPr id="2547" name="Google Shape;2547;h65eb7c06466a6d01_2_760"/>
          <p:cNvSpPr/>
          <p:nvPr/>
        </p:nvSpPr>
        <p:spPr>
          <a:xfrm>
            <a:off x="6270595" y="1867277"/>
            <a:ext cx="5252700" cy="3664500"/>
          </a:xfrm>
          <a:prstGeom prst="rect">
            <a:avLst/>
          </a:prstGeom>
          <a:noFill/>
          <a:ln>
            <a:noFill/>
          </a:ln>
        </p:spPr>
        <p:txBody>
          <a:bodyPr anchorCtr="0" anchor="t" bIns="0" lIns="0" spcFirstLastPara="1" rIns="0" wrap="square" tIns="0">
            <a:noAutofit/>
          </a:bodyPr>
          <a:lstStyle/>
          <a:p>
            <a:pPr indent="0" lvl="0" marL="0" marR="0" rtl="0" algn="just">
              <a:lnSpc>
                <a:spcPct val="149971"/>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Anak perusahaan dari BUMN konstruksi dan rekayasa besar di Indonesia yang memproduksi perangkat bertenaga surya, penyimpanan energi, dan sistem fotovoltaik membutuhkan transformasi strategis agar selaras dengan peta jalan energi hijau Indonesia 2045. Saat pasar energi terbarukan Indonesia bergerak menuju target adopsi energi hijau 25% pada 2045, klien perlu menyelaraskan kapabilitas internal, mengoptimalkan operasional, dan menyusun strategi masa depan agar tetap kompetitif serta memperoleh pangsa pasar. Ruang lingkup pekerjaan mencakup diagnosis 360° atas lima area bisnis, yaitu product, people, process, persona atau perilaku pembeli, dan profit, serta analisis TOWS dan PESTEL, pemetaan rantai nilai, dan penilaian kesehatan keuangan. Sanggabiz mengidentifikasi inefisiensi operasional, kesenjangan positioning pasar, dan prioritas pengembangan produk, kemudian menyusun strategi go-to-market jangka pendek serta peta jalan bisnis jangka panjang menuju kepemimpinan teknologi hijau pada 2045.</a:t>
            </a:r>
            <a:endParaRPr sz="9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2" name="Shape 2552"/>
        <p:cNvGrpSpPr/>
        <p:nvPr/>
      </p:nvGrpSpPr>
      <p:grpSpPr>
        <a:xfrm>
          <a:off x="0" y="0"/>
          <a:ext cx="0" cy="0"/>
          <a:chOff x="0" y="0"/>
          <a:chExt cx="0" cy="0"/>
        </a:xfrm>
      </p:grpSpPr>
      <p:sp>
        <p:nvSpPr>
          <p:cNvPr id="2553" name="Google Shape;2553;h65eb7c06466a6d01_2_777"/>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554" name="Google Shape;2554;h65eb7c06466a6d01_2_777"/>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55" name="Google Shape;2555;h65eb7c06466a6d01_2_777"/>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556" name="Google Shape;2556;h65eb7c06466a6d01_2_777"/>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557" name="Google Shape;2557;h65eb7c06466a6d01_2_777"/>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58" name="Google Shape;2558;h65eb7c06466a6d01_2_777"/>
          <p:cNvSpPr/>
          <p:nvPr/>
        </p:nvSpPr>
        <p:spPr>
          <a:xfrm>
            <a:off x="2958682" y="1173971"/>
            <a:ext cx="6127341" cy="344260"/>
          </a:xfrm>
          <a:custGeom>
            <a:rect b="b" l="l" r="r" t="t"/>
            <a:pathLst>
              <a:path extrusionOk="0" h="136071" w="2421874">
                <a:moveTo>
                  <a:pt x="0" y="0"/>
                </a:moveTo>
                <a:lnTo>
                  <a:pt x="2421874" y="0"/>
                </a:lnTo>
                <a:lnTo>
                  <a:pt x="2421874" y="136071"/>
                </a:lnTo>
                <a:lnTo>
                  <a:pt x="0" y="136071"/>
                </a:lnTo>
                <a:close/>
              </a:path>
            </a:pathLst>
          </a:custGeom>
          <a:solidFill>
            <a:srgbClr val="FFC00C"/>
          </a:solidFill>
          <a:ln>
            <a:noFill/>
          </a:ln>
        </p:spPr>
      </p:sp>
      <p:sp>
        <p:nvSpPr>
          <p:cNvPr id="2559" name="Google Shape;2559;h65eb7c06466a6d01_2_777"/>
          <p:cNvSpPr/>
          <p:nvPr/>
        </p:nvSpPr>
        <p:spPr>
          <a:xfrm>
            <a:off x="2958682" y="1149861"/>
            <a:ext cx="6130200" cy="3684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60" name="Google Shape;2560;h65eb7c06466a6d01_2_777"/>
          <p:cNvSpPr/>
          <p:nvPr/>
        </p:nvSpPr>
        <p:spPr>
          <a:xfrm>
            <a:off x="2361042" y="1666712"/>
            <a:ext cx="3405454" cy="2268883"/>
          </a:xfrm>
          <a:custGeom>
            <a:rect b="b" l="l" r="r" t="t"/>
            <a:pathLst>
              <a:path extrusionOk="0" h="3399076" w="5101803">
                <a:moveTo>
                  <a:pt x="0" y="0"/>
                </a:moveTo>
                <a:lnTo>
                  <a:pt x="5101803" y="0"/>
                </a:lnTo>
                <a:lnTo>
                  <a:pt x="5101803" y="3399076"/>
                </a:lnTo>
                <a:lnTo>
                  <a:pt x="0" y="3399076"/>
                </a:lnTo>
                <a:lnTo>
                  <a:pt x="0" y="0"/>
                </a:lnTo>
                <a:close/>
              </a:path>
            </a:pathLst>
          </a:custGeom>
          <a:blipFill rotWithShape="1">
            <a:blip r:embed="rId4">
              <a:alphaModFix/>
            </a:blip>
            <a:stretch>
              <a:fillRect b="0" l="0" r="0" t="0"/>
            </a:stretch>
          </a:blipFill>
          <a:ln>
            <a:noFill/>
          </a:ln>
        </p:spPr>
      </p:sp>
      <p:sp>
        <p:nvSpPr>
          <p:cNvPr id="2561" name="Google Shape;2561;h65eb7c06466a6d01_2_777"/>
          <p:cNvSpPr/>
          <p:nvPr/>
        </p:nvSpPr>
        <p:spPr>
          <a:xfrm>
            <a:off x="452723" y="2530335"/>
            <a:ext cx="3152289" cy="2088392"/>
          </a:xfrm>
          <a:custGeom>
            <a:rect b="b" l="l" r="r" t="t"/>
            <a:pathLst>
              <a:path extrusionOk="0" h="3128677" w="4722531">
                <a:moveTo>
                  <a:pt x="0" y="0"/>
                </a:moveTo>
                <a:lnTo>
                  <a:pt x="4722531" y="0"/>
                </a:lnTo>
                <a:lnTo>
                  <a:pt x="4722531" y="3128677"/>
                </a:lnTo>
                <a:lnTo>
                  <a:pt x="0" y="3128677"/>
                </a:lnTo>
                <a:lnTo>
                  <a:pt x="0" y="0"/>
                </a:lnTo>
                <a:close/>
              </a:path>
            </a:pathLst>
          </a:custGeom>
          <a:blipFill rotWithShape="1">
            <a:blip r:embed="rId5">
              <a:alphaModFix/>
            </a:blip>
            <a:stretch>
              <a:fillRect b="0" l="0" r="0" t="0"/>
            </a:stretch>
          </a:blipFill>
          <a:ln>
            <a:noFill/>
          </a:ln>
        </p:spPr>
      </p:sp>
      <p:sp>
        <p:nvSpPr>
          <p:cNvPr id="2562" name="Google Shape;2562;h65eb7c06466a6d01_2_777"/>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Audit &amp; Kepatuhan Sektor Publik</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Kebijakan Investasi &amp; Strategi Alokasi Aset</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Manajemen Risiko &amp; Penilaian Pengendalian Internal</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Konsultasi Transparansi Keuangan &amp; Tata Kelola</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Benchmarking Institusi &amp; Praktik Terbaik</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Desain Portofolio Strategis untuk Dana Negara</a:t>
            </a:r>
            <a:endParaRPr sz="900"/>
          </a:p>
        </p:txBody>
      </p:sp>
      <p:sp>
        <p:nvSpPr>
          <p:cNvPr id="2563" name="Google Shape;2563;h65eb7c06466a6d01_2_777"/>
          <p:cNvSpPr/>
          <p:nvPr/>
        </p:nvSpPr>
        <p:spPr>
          <a:xfrm>
            <a:off x="0" y="238743"/>
            <a:ext cx="12191700" cy="9099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(8)</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Pengembangan Transparansi Keuangan &amp; Strategi Investasi untuk Dana Jaminan Sosial</a:t>
            </a:r>
            <a:endParaRPr sz="900"/>
          </a:p>
        </p:txBody>
      </p:sp>
      <p:sp>
        <p:nvSpPr>
          <p:cNvPr id="2564" name="Google Shape;2564;h65eb7c06466a6d01_2_777"/>
          <p:cNvSpPr/>
          <p:nvPr/>
        </p:nvSpPr>
        <p:spPr>
          <a:xfrm>
            <a:off x="2958682" y="1193296"/>
            <a:ext cx="61302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Audit Keuangan Sektor Publik &amp; Strategi Investasi Institusi</a:t>
            </a:r>
            <a:endParaRPr sz="900"/>
          </a:p>
        </p:txBody>
      </p:sp>
      <p:sp>
        <p:nvSpPr>
          <p:cNvPr id="2565" name="Google Shape;2565;h65eb7c06466a6d01_2_777"/>
          <p:cNvSpPr/>
          <p:nvPr/>
        </p:nvSpPr>
        <p:spPr>
          <a:xfrm>
            <a:off x="6270595" y="1811419"/>
            <a:ext cx="5252700" cy="3884100"/>
          </a:xfrm>
          <a:prstGeom prst="rect">
            <a:avLst/>
          </a:prstGeom>
          <a:noFill/>
          <a:ln>
            <a:noFill/>
          </a:ln>
        </p:spPr>
        <p:txBody>
          <a:bodyPr anchorCtr="0" anchor="t" bIns="0" lIns="0" spcFirstLastPara="1" rIns="0" wrap="square" tIns="0">
            <a:noAutofit/>
          </a:bodyPr>
          <a:lstStyle/>
          <a:p>
            <a:pPr indent="0" lvl="0" marL="0" marR="0" rtl="0" algn="just">
              <a:lnSpc>
                <a:spcPct val="149972"/>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Sebuah lembaga jaminan sosial nasional di Timor-Leste yang bertanggung jawab atas pensiun kontribusi dan nonkontribusi, tunjangan disabilitas, serta tunjangan ahli waris membutuhkan peningkatan transparansi keuangan dan strategi investasi terstruktur untuk menjaga keberlanjutan dana jangka panjang. Dalam memenuhi tuntutan regulasi atas akuntabilitas dan pertumbuhan dana yang berkelanjutan, lembaga tersebut perlu memperoleh opini atas laporan keuangan serta menyusun peta jalan investasi yang patuh dan terkelola risikonya. Ruang lingkup proyek mencakup audit eksternal, evaluasi pengendalian internal, tinjauan laporan keuangan, penyusunan pedoman investasi, benchmarking praktik dana pensiun global, dan pengembangan strategi portofolio investasi yang disesuaikan. Sanggabiz memimpin seluruh penugasan dengan menjalankan proses audit menyeluruh, mengidentifikasi perbaikan pengendalian internal, merancang kebijakan investasi sesuai standar global, mengevaluasi pilihan aset seperti obligasi, reksa dana, dan infrastruktur, serta memberikan rekomendasi praktis untuk alokasi modal yang hati-hati dan diversifikasi risiko.</a:t>
            </a:r>
            <a:endParaRPr sz="9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0" name="Shape 2570"/>
        <p:cNvGrpSpPr/>
        <p:nvPr/>
      </p:nvGrpSpPr>
      <p:grpSpPr>
        <a:xfrm>
          <a:off x="0" y="0"/>
          <a:ext cx="0" cy="0"/>
          <a:chOff x="0" y="0"/>
          <a:chExt cx="0" cy="0"/>
        </a:xfrm>
      </p:grpSpPr>
      <p:sp>
        <p:nvSpPr>
          <p:cNvPr id="2571" name="Google Shape;2571;h65eb7c06466a6d01_2_794"/>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572" name="Google Shape;2572;h65eb7c06466a6d01_2_794"/>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73" name="Google Shape;2573;h65eb7c06466a6d01_2_794"/>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574" name="Google Shape;2574;h65eb7c06466a6d01_2_794"/>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575" name="Google Shape;2575;h65eb7c06466a6d01_2_794"/>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76" name="Google Shape;2576;h65eb7c06466a6d01_2_794"/>
          <p:cNvSpPr/>
          <p:nvPr/>
        </p:nvSpPr>
        <p:spPr>
          <a:xfrm>
            <a:off x="2399345" y="1173971"/>
            <a:ext cx="7009552" cy="362180"/>
          </a:xfrm>
          <a:custGeom>
            <a:rect b="b" l="l" r="r" t="t"/>
            <a:pathLst>
              <a:path extrusionOk="0" h="143154" w="2770574">
                <a:moveTo>
                  <a:pt x="0" y="0"/>
                </a:moveTo>
                <a:lnTo>
                  <a:pt x="2770574" y="0"/>
                </a:lnTo>
                <a:lnTo>
                  <a:pt x="2770574" y="143154"/>
                </a:lnTo>
                <a:lnTo>
                  <a:pt x="0" y="143154"/>
                </a:lnTo>
                <a:close/>
              </a:path>
            </a:pathLst>
          </a:custGeom>
          <a:solidFill>
            <a:srgbClr val="FFC00C"/>
          </a:solidFill>
          <a:ln>
            <a:noFill/>
          </a:ln>
        </p:spPr>
      </p:sp>
      <p:sp>
        <p:nvSpPr>
          <p:cNvPr id="2577" name="Google Shape;2577;h65eb7c06466a6d01_2_794"/>
          <p:cNvSpPr/>
          <p:nvPr/>
        </p:nvSpPr>
        <p:spPr>
          <a:xfrm>
            <a:off x="2399345" y="1149861"/>
            <a:ext cx="7013100" cy="3864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78" name="Google Shape;2578;h65eb7c06466a6d01_2_794"/>
          <p:cNvSpPr/>
          <p:nvPr/>
        </p:nvSpPr>
        <p:spPr>
          <a:xfrm>
            <a:off x="452723" y="1624323"/>
            <a:ext cx="3893348" cy="2832410"/>
          </a:xfrm>
          <a:custGeom>
            <a:rect b="b" l="l" r="r" t="t"/>
            <a:pathLst>
              <a:path extrusionOk="0" h="5664821" w="7786696">
                <a:moveTo>
                  <a:pt x="0" y="0"/>
                </a:moveTo>
                <a:lnTo>
                  <a:pt x="7786696" y="0"/>
                </a:lnTo>
                <a:lnTo>
                  <a:pt x="7786696" y="5664821"/>
                </a:lnTo>
                <a:lnTo>
                  <a:pt x="0" y="5664821"/>
                </a:lnTo>
                <a:lnTo>
                  <a:pt x="0" y="0"/>
                </a:lnTo>
                <a:close/>
              </a:path>
            </a:pathLst>
          </a:custGeom>
          <a:blipFill rotWithShape="1">
            <a:blip r:embed="rId4">
              <a:alphaModFix/>
            </a:blip>
            <a:stretch>
              <a:fillRect b="0" l="0" r="0" t="0"/>
            </a:stretch>
          </a:blipFill>
          <a:ln>
            <a:noFill/>
          </a:ln>
        </p:spPr>
      </p:sp>
      <p:sp>
        <p:nvSpPr>
          <p:cNvPr id="2579" name="Google Shape;2579;h65eb7c06466a6d01_2_794"/>
          <p:cNvSpPr/>
          <p:nvPr/>
        </p:nvSpPr>
        <p:spPr>
          <a:xfrm>
            <a:off x="3135037" y="4187719"/>
            <a:ext cx="636723" cy="269015"/>
          </a:xfrm>
          <a:custGeom>
            <a:rect b="b" l="l" r="r" t="t"/>
            <a:pathLst>
              <a:path extrusionOk="0" h="538031" w="1273445">
                <a:moveTo>
                  <a:pt x="0" y="0"/>
                </a:moveTo>
                <a:lnTo>
                  <a:pt x="1273445" y="0"/>
                </a:lnTo>
                <a:lnTo>
                  <a:pt x="1273445" y="538030"/>
                </a:lnTo>
                <a:lnTo>
                  <a:pt x="0" y="538030"/>
                </a:lnTo>
                <a:lnTo>
                  <a:pt x="0" y="0"/>
                </a:lnTo>
                <a:close/>
              </a:path>
            </a:pathLst>
          </a:custGeom>
          <a:blipFill rotWithShape="1">
            <a:blip r:embed="rId5">
              <a:alphaModFix/>
            </a:blip>
            <a:stretch>
              <a:fillRect b="0" l="0" r="0" t="0"/>
            </a:stretch>
          </a:blipFill>
          <a:ln>
            <a:noFill/>
          </a:ln>
        </p:spPr>
      </p:sp>
      <p:sp>
        <p:nvSpPr>
          <p:cNvPr id="2580" name="Google Shape;2580;h65eb7c06466a6d01_2_794"/>
          <p:cNvSpPr/>
          <p:nvPr/>
        </p:nvSpPr>
        <p:spPr>
          <a:xfrm>
            <a:off x="3605807" y="4187719"/>
            <a:ext cx="636722" cy="269015"/>
          </a:xfrm>
          <a:custGeom>
            <a:rect b="b" l="l" r="r" t="t"/>
            <a:pathLst>
              <a:path extrusionOk="0" h="538031" w="1273445">
                <a:moveTo>
                  <a:pt x="0" y="0"/>
                </a:moveTo>
                <a:lnTo>
                  <a:pt x="1273445" y="0"/>
                </a:lnTo>
                <a:lnTo>
                  <a:pt x="1273445" y="538030"/>
                </a:lnTo>
                <a:lnTo>
                  <a:pt x="0" y="538030"/>
                </a:lnTo>
                <a:lnTo>
                  <a:pt x="0" y="0"/>
                </a:lnTo>
                <a:close/>
              </a:path>
            </a:pathLst>
          </a:custGeom>
          <a:blipFill rotWithShape="1">
            <a:blip r:embed="rId5">
              <a:alphaModFix/>
            </a:blip>
            <a:stretch>
              <a:fillRect b="0" l="0" r="0" t="0"/>
            </a:stretch>
          </a:blipFill>
          <a:ln>
            <a:noFill/>
          </a:ln>
        </p:spPr>
      </p:sp>
      <p:sp>
        <p:nvSpPr>
          <p:cNvPr id="2581" name="Google Shape;2581;h65eb7c06466a6d01_2_794"/>
          <p:cNvSpPr/>
          <p:nvPr/>
        </p:nvSpPr>
        <p:spPr>
          <a:xfrm>
            <a:off x="471039" y="1703199"/>
            <a:ext cx="734977" cy="310528"/>
          </a:xfrm>
          <a:custGeom>
            <a:rect b="b" l="l" r="r" t="t"/>
            <a:pathLst>
              <a:path extrusionOk="0" h="621055" w="1469953">
                <a:moveTo>
                  <a:pt x="0" y="0"/>
                </a:moveTo>
                <a:lnTo>
                  <a:pt x="1469953" y="0"/>
                </a:lnTo>
                <a:lnTo>
                  <a:pt x="1469953" y="621055"/>
                </a:lnTo>
                <a:lnTo>
                  <a:pt x="0" y="621055"/>
                </a:lnTo>
                <a:lnTo>
                  <a:pt x="0" y="0"/>
                </a:lnTo>
                <a:close/>
              </a:path>
            </a:pathLst>
          </a:custGeom>
          <a:blipFill rotWithShape="1">
            <a:blip r:embed="rId5">
              <a:alphaModFix/>
            </a:blip>
            <a:stretch>
              <a:fillRect b="0" l="0" r="0" t="0"/>
            </a:stretch>
          </a:blipFill>
          <a:ln>
            <a:noFill/>
          </a:ln>
        </p:spPr>
      </p:sp>
      <p:sp>
        <p:nvSpPr>
          <p:cNvPr id="2582" name="Google Shape;2582;h65eb7c06466a6d01_2_794"/>
          <p:cNvSpPr/>
          <p:nvPr/>
        </p:nvSpPr>
        <p:spPr>
          <a:xfrm>
            <a:off x="2702077" y="1858462"/>
            <a:ext cx="463501" cy="195829"/>
          </a:xfrm>
          <a:custGeom>
            <a:rect b="b" l="l" r="r" t="t"/>
            <a:pathLst>
              <a:path extrusionOk="0" h="391658" w="927001">
                <a:moveTo>
                  <a:pt x="0" y="0"/>
                </a:moveTo>
                <a:lnTo>
                  <a:pt x="927001" y="0"/>
                </a:lnTo>
                <a:lnTo>
                  <a:pt x="927001" y="391658"/>
                </a:lnTo>
                <a:lnTo>
                  <a:pt x="0" y="391658"/>
                </a:lnTo>
                <a:lnTo>
                  <a:pt x="0" y="0"/>
                </a:lnTo>
                <a:close/>
              </a:path>
            </a:pathLst>
          </a:custGeom>
          <a:blipFill rotWithShape="1">
            <a:blip r:embed="rId5">
              <a:alphaModFix/>
            </a:blip>
            <a:stretch>
              <a:fillRect b="0" l="0" r="0" t="0"/>
            </a:stretch>
          </a:blipFill>
          <a:ln>
            <a:noFill/>
          </a:ln>
        </p:spPr>
      </p:sp>
      <p:sp>
        <p:nvSpPr>
          <p:cNvPr id="2583" name="Google Shape;2583;h65eb7c06466a6d01_2_794"/>
          <p:cNvSpPr/>
          <p:nvPr/>
        </p:nvSpPr>
        <p:spPr>
          <a:xfrm>
            <a:off x="2949336" y="3434533"/>
            <a:ext cx="408045" cy="172399"/>
          </a:xfrm>
          <a:custGeom>
            <a:rect b="b" l="l" r="r" t="t"/>
            <a:pathLst>
              <a:path extrusionOk="0" h="344798" w="816090">
                <a:moveTo>
                  <a:pt x="0" y="0"/>
                </a:moveTo>
                <a:lnTo>
                  <a:pt x="816090" y="0"/>
                </a:lnTo>
                <a:lnTo>
                  <a:pt x="816090" y="344798"/>
                </a:lnTo>
                <a:lnTo>
                  <a:pt x="0" y="344798"/>
                </a:lnTo>
                <a:lnTo>
                  <a:pt x="0" y="0"/>
                </a:lnTo>
                <a:close/>
              </a:path>
            </a:pathLst>
          </a:custGeom>
          <a:blipFill rotWithShape="1">
            <a:blip r:embed="rId5">
              <a:alphaModFix/>
            </a:blip>
            <a:stretch>
              <a:fillRect b="0" l="0" r="0" t="0"/>
            </a:stretch>
          </a:blipFill>
          <a:ln>
            <a:noFill/>
          </a:ln>
        </p:spPr>
      </p:sp>
      <p:sp>
        <p:nvSpPr>
          <p:cNvPr id="2584" name="Google Shape;2584;h65eb7c06466a6d01_2_794"/>
          <p:cNvSpPr/>
          <p:nvPr/>
        </p:nvSpPr>
        <p:spPr>
          <a:xfrm>
            <a:off x="2961548" y="3823337"/>
            <a:ext cx="408045" cy="172399"/>
          </a:xfrm>
          <a:custGeom>
            <a:rect b="b" l="l" r="r" t="t"/>
            <a:pathLst>
              <a:path extrusionOk="0" h="344798" w="816090">
                <a:moveTo>
                  <a:pt x="0" y="0"/>
                </a:moveTo>
                <a:lnTo>
                  <a:pt x="816091" y="0"/>
                </a:lnTo>
                <a:lnTo>
                  <a:pt x="816091" y="344798"/>
                </a:lnTo>
                <a:lnTo>
                  <a:pt x="0" y="344798"/>
                </a:lnTo>
                <a:lnTo>
                  <a:pt x="0" y="0"/>
                </a:lnTo>
                <a:close/>
              </a:path>
            </a:pathLst>
          </a:custGeom>
          <a:blipFill rotWithShape="1">
            <a:blip r:embed="rId5">
              <a:alphaModFix/>
            </a:blip>
            <a:stretch>
              <a:fillRect b="0" l="0" r="0" t="0"/>
            </a:stretch>
          </a:blipFill>
          <a:ln>
            <a:noFill/>
          </a:ln>
        </p:spPr>
      </p:sp>
      <p:sp>
        <p:nvSpPr>
          <p:cNvPr id="2585" name="Google Shape;2585;h65eb7c06466a6d01_2_794"/>
          <p:cNvSpPr/>
          <p:nvPr/>
        </p:nvSpPr>
        <p:spPr>
          <a:xfrm>
            <a:off x="2956987" y="3166019"/>
            <a:ext cx="2422117" cy="1613736"/>
          </a:xfrm>
          <a:custGeom>
            <a:rect b="b" l="l" r="r" t="t"/>
            <a:pathLst>
              <a:path extrusionOk="0" h="2417582" w="3628640">
                <a:moveTo>
                  <a:pt x="0" y="0"/>
                </a:moveTo>
                <a:lnTo>
                  <a:pt x="3628641" y="0"/>
                </a:lnTo>
                <a:lnTo>
                  <a:pt x="3628641" y="2417582"/>
                </a:lnTo>
                <a:lnTo>
                  <a:pt x="0" y="2417582"/>
                </a:lnTo>
                <a:lnTo>
                  <a:pt x="0" y="0"/>
                </a:lnTo>
                <a:close/>
              </a:path>
            </a:pathLst>
          </a:custGeom>
          <a:blipFill rotWithShape="1">
            <a:blip r:embed="rId6">
              <a:alphaModFix/>
            </a:blip>
            <a:stretch>
              <a:fillRect b="0" l="0" r="0" t="0"/>
            </a:stretch>
          </a:blipFill>
          <a:ln>
            <a:noFill/>
          </a:ln>
        </p:spPr>
      </p:sp>
      <p:sp>
        <p:nvSpPr>
          <p:cNvPr id="2586" name="Google Shape;2586;h65eb7c06466a6d01_2_794"/>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Evaluasi Strategis Sektor Publik</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Desain Kolaborasi Antarpemerintah</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Optimasi Dashboard &amp; Pemantauan Digital</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Desain Indikator Kinerja &amp; Pemetaan Kebijakan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Pengembangan SOP untuk Tata Kelola Berbasis Dampak</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Fasilitasi &amp; Penyelarasan Multipemangku Kepentingan</a:t>
            </a:r>
            <a:endParaRPr sz="900"/>
          </a:p>
        </p:txBody>
      </p:sp>
      <p:sp>
        <p:nvSpPr>
          <p:cNvPr id="2587" name="Google Shape;2587;h65eb7c06466a6d01_2_794"/>
          <p:cNvSpPr/>
          <p:nvPr/>
        </p:nvSpPr>
        <p:spPr>
          <a:xfrm>
            <a:off x="452723" y="238743"/>
            <a:ext cx="11381700" cy="9033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(9)</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Evaluasi Kemitraan Berbasis Dampak &amp; Optimasi Tata Kelola Digital</a:t>
            </a:r>
            <a:endParaRPr sz="900"/>
          </a:p>
        </p:txBody>
      </p:sp>
      <p:sp>
        <p:nvSpPr>
          <p:cNvPr id="2588" name="Google Shape;2588;h65eb7c06466a6d01_2_794"/>
          <p:cNvSpPr/>
          <p:nvPr/>
        </p:nvSpPr>
        <p:spPr>
          <a:xfrm>
            <a:off x="2571543" y="1214338"/>
            <a:ext cx="67263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Strategi Kemitraan Sektor Publik dan Manajemen Kinerja Digital</a:t>
            </a:r>
            <a:endParaRPr sz="900"/>
          </a:p>
        </p:txBody>
      </p:sp>
      <p:sp>
        <p:nvSpPr>
          <p:cNvPr id="2589" name="Google Shape;2589;h65eb7c06466a6d01_2_794"/>
          <p:cNvSpPr/>
          <p:nvPr/>
        </p:nvSpPr>
        <p:spPr>
          <a:xfrm>
            <a:off x="6270595" y="1811419"/>
            <a:ext cx="5252700" cy="3884100"/>
          </a:xfrm>
          <a:prstGeom prst="rect">
            <a:avLst/>
          </a:prstGeom>
          <a:noFill/>
          <a:ln>
            <a:noFill/>
          </a:ln>
        </p:spPr>
        <p:txBody>
          <a:bodyPr anchorCtr="0" anchor="t" bIns="0" lIns="0" spcFirstLastPara="1" rIns="0" wrap="square" tIns="0">
            <a:noAutofit/>
          </a:bodyPr>
          <a:lstStyle/>
          <a:p>
            <a:pPr indent="0" lvl="0" marL="0" marR="0" rtl="0" algn="just">
              <a:lnSpc>
                <a:spcPct val="149972"/>
              </a:lnSpc>
              <a:spcBef>
                <a:spcPts val="0"/>
              </a:spcBef>
              <a:spcAft>
                <a:spcPts val="0"/>
              </a:spcAft>
              <a:buClr>
                <a:srgbClr val="0B3360"/>
              </a:buClr>
              <a:buSzPts val="1200"/>
              <a:buFont typeface="Arial"/>
              <a:buNone/>
            </a:pPr>
            <a:r>
              <a:rPr lang="en-US" sz="1200">
                <a:solidFill>
                  <a:srgbClr val="0B3360"/>
                </a:solidFill>
                <a:latin typeface="Arial"/>
                <a:ea typeface="Arial"/>
                <a:cs typeface="Arial"/>
                <a:sym typeface="Arial"/>
              </a:rPr>
              <a:t>Sebuah pemerintah kota di Indonesia yang bertanggung jawab atas pelayanan publik dan pembangunan daerah ingin meningkatkan efektivitas inisiatif kerja sama multisektor melalui pemantauan terstruktur dan evaluasi berbasis hasil. Dengan ratusan perjanjian kerja sama aktif di sektor publik, swasta, pendidikan, dan komunitas, pemerintah kota kesulitan menilai dampak nyata, transparansi, serta keselarasan strategis dari kemitraan tersebut. Proyek ini berfokus pada evaluasi efektivitas kolaborasi, penyelarasan dengan prioritas pembangunan, standardisasi pelaporan kinerja, dan optimalisasi dashboard digital terpusat. Sanggabiz melakukan diagnosis menyeluruh atas kemitraan antarinstansi, merancang kerangka evaluasi dan pelaporan terpadu, menyederhanakan koordinasi lintas perangkat daerah, serta meningkatkan integritas data dan koherensi kebijakan untuk mendukung tata kelola yang transparan dan akuntabel.</a:t>
            </a:r>
            <a:endParaRPr sz="9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4" name="Shape 2594"/>
        <p:cNvGrpSpPr/>
        <p:nvPr/>
      </p:nvGrpSpPr>
      <p:grpSpPr>
        <a:xfrm>
          <a:off x="0" y="0"/>
          <a:ext cx="0" cy="0"/>
          <a:chOff x="0" y="0"/>
          <a:chExt cx="0" cy="0"/>
        </a:xfrm>
      </p:grpSpPr>
      <p:sp>
        <p:nvSpPr>
          <p:cNvPr id="2595" name="Google Shape;2595;h65eb7c06466a6d01_2_817"/>
          <p:cNvSpPr/>
          <p:nvPr/>
        </p:nvSpPr>
        <p:spPr>
          <a:xfrm>
            <a:off x="-384794" y="6295067"/>
            <a:ext cx="12860051" cy="1590846"/>
          </a:xfrm>
          <a:custGeom>
            <a:rect b="b" l="l" r="r" t="t"/>
            <a:pathLst>
              <a:path extrusionOk="0" h="628793" w="5083024">
                <a:moveTo>
                  <a:pt x="0" y="0"/>
                </a:moveTo>
                <a:lnTo>
                  <a:pt x="5083024" y="0"/>
                </a:lnTo>
                <a:lnTo>
                  <a:pt x="5083024" y="628793"/>
                </a:lnTo>
                <a:lnTo>
                  <a:pt x="0" y="628793"/>
                </a:lnTo>
                <a:close/>
              </a:path>
            </a:pathLst>
          </a:custGeom>
          <a:solidFill>
            <a:srgbClr val="0B3360"/>
          </a:solidFill>
          <a:ln>
            <a:noFill/>
          </a:ln>
        </p:spPr>
      </p:sp>
      <p:sp>
        <p:nvSpPr>
          <p:cNvPr id="2596" name="Google Shape;2596;h65eb7c06466a6d01_2_817"/>
          <p:cNvSpPr/>
          <p:nvPr/>
        </p:nvSpPr>
        <p:spPr>
          <a:xfrm>
            <a:off x="-384794" y="6270957"/>
            <a:ext cx="12866100" cy="16155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597" name="Google Shape;2597;h65eb7c06466a6d01_2_817"/>
          <p:cNvSpPr/>
          <p:nvPr/>
        </p:nvSpPr>
        <p:spPr>
          <a:xfrm>
            <a:off x="10170754" y="6363373"/>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598" name="Google Shape;2598;h65eb7c06466a6d01_2_817"/>
          <p:cNvSpPr/>
          <p:nvPr/>
        </p:nvSpPr>
        <p:spPr>
          <a:xfrm>
            <a:off x="6095838" y="1697451"/>
            <a:ext cx="5599383" cy="4121772"/>
          </a:xfrm>
          <a:custGeom>
            <a:rect b="b" l="l" r="r" t="t"/>
            <a:pathLst>
              <a:path extrusionOk="0" h="1629159" w="2213195">
                <a:moveTo>
                  <a:pt x="0" y="0"/>
                </a:moveTo>
                <a:lnTo>
                  <a:pt x="2213195" y="0"/>
                </a:lnTo>
                <a:lnTo>
                  <a:pt x="2213195" y="1629159"/>
                </a:lnTo>
                <a:lnTo>
                  <a:pt x="0" y="1629159"/>
                </a:lnTo>
                <a:close/>
              </a:path>
            </a:pathLst>
          </a:custGeom>
          <a:solidFill>
            <a:srgbClr val="FFFFFF"/>
          </a:solidFill>
          <a:ln cap="flat" cmpd="sng" w="76200">
            <a:solidFill>
              <a:srgbClr val="0B3360"/>
            </a:solidFill>
            <a:prstDash val="solid"/>
            <a:round/>
            <a:headEnd len="sm" w="sm" type="none"/>
            <a:tailEnd len="sm" w="sm" type="none"/>
          </a:ln>
        </p:spPr>
      </p:sp>
      <p:sp>
        <p:nvSpPr>
          <p:cNvPr id="2599" name="Google Shape;2599;h65eb7c06466a6d01_2_817"/>
          <p:cNvSpPr/>
          <p:nvPr/>
        </p:nvSpPr>
        <p:spPr>
          <a:xfrm>
            <a:off x="6095838" y="1673341"/>
            <a:ext cx="5601900" cy="41481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600" name="Google Shape;2600;h65eb7c06466a6d01_2_817"/>
          <p:cNvSpPr/>
          <p:nvPr/>
        </p:nvSpPr>
        <p:spPr>
          <a:xfrm>
            <a:off x="2565584" y="1156969"/>
            <a:ext cx="7152437" cy="347754"/>
          </a:xfrm>
          <a:custGeom>
            <a:rect b="b" l="l" r="r" t="t"/>
            <a:pathLst>
              <a:path extrusionOk="0" h="137452" w="2827050">
                <a:moveTo>
                  <a:pt x="0" y="0"/>
                </a:moveTo>
                <a:lnTo>
                  <a:pt x="2827050" y="0"/>
                </a:lnTo>
                <a:lnTo>
                  <a:pt x="2827050" y="137452"/>
                </a:lnTo>
                <a:lnTo>
                  <a:pt x="0" y="137452"/>
                </a:lnTo>
                <a:close/>
              </a:path>
            </a:pathLst>
          </a:custGeom>
          <a:solidFill>
            <a:srgbClr val="FFC00C"/>
          </a:solidFill>
          <a:ln>
            <a:noFill/>
          </a:ln>
        </p:spPr>
      </p:sp>
      <p:sp>
        <p:nvSpPr>
          <p:cNvPr id="2601" name="Google Shape;2601;h65eb7c06466a6d01_2_817"/>
          <p:cNvSpPr/>
          <p:nvPr/>
        </p:nvSpPr>
        <p:spPr>
          <a:xfrm>
            <a:off x="2565584" y="1132859"/>
            <a:ext cx="7155900" cy="372000"/>
          </a:xfrm>
          <a:prstGeom prst="rect">
            <a:avLst/>
          </a:prstGeom>
          <a:noFill/>
          <a:ln>
            <a:noFill/>
          </a:ln>
        </p:spPr>
        <p:txBody>
          <a:bodyPr anchorCtr="0" anchor="ctr" bIns="33875" lIns="33875" spcFirstLastPara="1" rIns="33875" wrap="square" tIns="33875">
            <a:noAutofit/>
          </a:bodyPr>
          <a:lstStyle/>
          <a:p>
            <a:pPr indent="0" lvl="0" marL="0" marR="0" rtl="0" algn="ctr">
              <a:lnSpc>
                <a:spcPct val="120000"/>
              </a:lnSpc>
              <a:spcBef>
                <a:spcPts val="0"/>
              </a:spcBef>
              <a:spcAft>
                <a:spcPts val="0"/>
              </a:spcAft>
              <a:buSzPts val="1200"/>
              <a:buFont typeface="Arial"/>
              <a:buNone/>
            </a:pPr>
            <a:r>
              <a:t/>
            </a:r>
            <a:endParaRPr sz="1200"/>
          </a:p>
        </p:txBody>
      </p:sp>
      <p:sp>
        <p:nvSpPr>
          <p:cNvPr id="2602" name="Google Shape;2602;h65eb7c06466a6d01_2_817"/>
          <p:cNvSpPr/>
          <p:nvPr/>
        </p:nvSpPr>
        <p:spPr>
          <a:xfrm>
            <a:off x="2550796" y="1697451"/>
            <a:ext cx="3240385" cy="2158907"/>
          </a:xfrm>
          <a:custGeom>
            <a:rect b="b" l="l" r="r" t="t"/>
            <a:pathLst>
              <a:path extrusionOk="0" h="3234318" w="4854510">
                <a:moveTo>
                  <a:pt x="0" y="0"/>
                </a:moveTo>
                <a:lnTo>
                  <a:pt x="4854511" y="0"/>
                </a:lnTo>
                <a:lnTo>
                  <a:pt x="4854511" y="3234318"/>
                </a:lnTo>
                <a:lnTo>
                  <a:pt x="0" y="3234318"/>
                </a:lnTo>
                <a:lnTo>
                  <a:pt x="0" y="0"/>
                </a:lnTo>
                <a:close/>
              </a:path>
            </a:pathLst>
          </a:custGeom>
          <a:blipFill rotWithShape="1">
            <a:blip r:embed="rId4">
              <a:alphaModFix/>
            </a:blip>
            <a:stretch>
              <a:fillRect b="0" l="0" r="0" t="0"/>
            </a:stretch>
          </a:blipFill>
          <a:ln>
            <a:noFill/>
          </a:ln>
        </p:spPr>
      </p:sp>
      <p:sp>
        <p:nvSpPr>
          <p:cNvPr id="2603" name="Google Shape;2603;h65eb7c06466a6d01_2_817"/>
          <p:cNvSpPr/>
          <p:nvPr/>
        </p:nvSpPr>
        <p:spPr>
          <a:xfrm>
            <a:off x="458940" y="2377446"/>
            <a:ext cx="3184479" cy="2105737"/>
          </a:xfrm>
          <a:custGeom>
            <a:rect b="b" l="l" r="r" t="t"/>
            <a:pathLst>
              <a:path extrusionOk="0" h="3154662" w="4770755">
                <a:moveTo>
                  <a:pt x="0" y="0"/>
                </a:moveTo>
                <a:lnTo>
                  <a:pt x="4770755" y="0"/>
                </a:lnTo>
                <a:lnTo>
                  <a:pt x="4770755" y="3154662"/>
                </a:lnTo>
                <a:lnTo>
                  <a:pt x="0" y="3154662"/>
                </a:lnTo>
                <a:lnTo>
                  <a:pt x="0" y="0"/>
                </a:lnTo>
                <a:close/>
              </a:path>
            </a:pathLst>
          </a:custGeom>
          <a:blipFill rotWithShape="1">
            <a:blip r:embed="rId5">
              <a:alphaModFix/>
            </a:blip>
            <a:stretch>
              <a:fillRect b="0" l="0" r="0" t="0"/>
            </a:stretch>
          </a:blipFill>
          <a:ln>
            <a:noFill/>
          </a:ln>
        </p:spPr>
      </p:sp>
      <p:sp>
        <p:nvSpPr>
          <p:cNvPr id="2604" name="Google Shape;2604;h65eb7c06466a6d01_2_817"/>
          <p:cNvSpPr/>
          <p:nvPr/>
        </p:nvSpPr>
        <p:spPr>
          <a:xfrm>
            <a:off x="452723" y="4803140"/>
            <a:ext cx="3816600" cy="1422000"/>
          </a:xfrm>
          <a:prstGeom prst="rect">
            <a:avLst/>
          </a:prstGeom>
          <a:noFill/>
          <a:ln>
            <a:noFill/>
          </a:ln>
        </p:spPr>
        <p:txBody>
          <a:bodyPr anchorCtr="0" anchor="t" bIns="0" lIns="0" spcFirstLastPara="1" rIns="0" wrap="square" tIns="0">
            <a:noAutofit/>
          </a:bodyPr>
          <a:lstStyle/>
          <a:p>
            <a:pPr indent="0" lvl="0" marL="0" marR="0" rtl="0" algn="l">
              <a:lnSpc>
                <a:spcPct val="150031"/>
              </a:lnSpc>
              <a:spcBef>
                <a:spcPts val="0"/>
              </a:spcBef>
              <a:spcAft>
                <a:spcPts val="0"/>
              </a:spcAft>
              <a:buClr>
                <a:srgbClr val="0B3360"/>
              </a:buClr>
              <a:buSzPts val="1100"/>
              <a:buFont typeface="Arial"/>
              <a:buNone/>
            </a:pPr>
            <a:r>
              <a:rPr b="1" lang="en-US" sz="1100">
                <a:solidFill>
                  <a:srgbClr val="0B3360"/>
                </a:solidFill>
                <a:latin typeface="Arial"/>
                <a:ea typeface="Arial"/>
                <a:cs typeface="Arial"/>
                <a:sym typeface="Arial"/>
              </a:rPr>
              <a:t>KAPABILITAS SANGGABIZ:</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Strategi Branding Destinasi &amp; Kawasan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Desain Pariwisata Berbasis Masyarakat</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Pemetaan Ekosistem &amp; Penyelarasan Pemangku Kepentingan</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Inovasi Model Bisnis bagi Usaha Lokal</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Penyusunan Kemitraan Publik-Swasta</a:t>
            </a:r>
            <a:endParaRPr sz="900"/>
          </a:p>
          <a:p>
            <a:pPr indent="-120650" lvl="1" marL="241300" marR="0" rtl="0" algn="l">
              <a:lnSpc>
                <a:spcPct val="150031"/>
              </a:lnSpc>
              <a:spcBef>
                <a:spcPts val="0"/>
              </a:spcBef>
              <a:spcAft>
                <a:spcPts val="0"/>
              </a:spcAft>
              <a:buClr>
                <a:srgbClr val="0B3360"/>
              </a:buClr>
              <a:buSzPts val="1100"/>
              <a:buFont typeface="Arial"/>
              <a:buAutoNum type="arabicPeriod"/>
            </a:pPr>
            <a:r>
              <a:rPr b="0" i="0" lang="en-US" sz="1100" u="none" cap="none" strike="noStrike">
                <a:solidFill>
                  <a:srgbClr val="0B3360"/>
                </a:solidFill>
                <a:latin typeface="Arial"/>
                <a:ea typeface="Arial"/>
                <a:cs typeface="Arial"/>
                <a:sym typeface="Arial"/>
              </a:rPr>
              <a:t>Desain Pengalaman &amp; Pemetaan Perjalanan Wisatawan</a:t>
            </a:r>
            <a:endParaRPr sz="900"/>
          </a:p>
        </p:txBody>
      </p:sp>
      <p:sp>
        <p:nvSpPr>
          <p:cNvPr id="2605" name="Google Shape;2605;h65eb7c06466a6d01_2_817"/>
          <p:cNvSpPr/>
          <p:nvPr/>
        </p:nvSpPr>
        <p:spPr>
          <a:xfrm>
            <a:off x="452723" y="238743"/>
            <a:ext cx="11381700" cy="903300"/>
          </a:xfrm>
          <a:prstGeom prst="rect">
            <a:avLst/>
          </a:prstGeom>
          <a:noFill/>
          <a:ln>
            <a:noFill/>
          </a:ln>
        </p:spPr>
        <p:txBody>
          <a:bodyPr anchorCtr="0" anchor="t" bIns="0" lIns="0" spcFirstLastPara="1" rIns="0" wrap="square" tIns="0">
            <a:noAutofit/>
          </a:bodyPr>
          <a:lstStyle/>
          <a:p>
            <a:pPr indent="0" lvl="0" marL="0" marR="0" rtl="0" algn="ctr">
              <a:lnSpc>
                <a:spcPct val="114000"/>
              </a:lnSpc>
              <a:spcBef>
                <a:spcPts val="0"/>
              </a:spcBef>
              <a:spcAft>
                <a:spcPts val="0"/>
              </a:spcAft>
              <a:buClr>
                <a:srgbClr val="0B3360"/>
              </a:buClr>
              <a:buSzPts val="3300"/>
              <a:buFont typeface="Arial"/>
              <a:buNone/>
            </a:pPr>
            <a:r>
              <a:rPr b="1" lang="en-US" sz="3300">
                <a:solidFill>
                  <a:srgbClr val="0B3360"/>
                </a:solidFill>
                <a:latin typeface="Arial"/>
                <a:ea typeface="Arial"/>
                <a:cs typeface="Arial"/>
                <a:sym typeface="Arial"/>
              </a:rPr>
              <a:t>Portofolio Konsultasi (10)</a:t>
            </a:r>
            <a:endParaRPr sz="900"/>
          </a:p>
          <a:p>
            <a:pPr indent="0" lvl="0" marL="0" marR="0" rtl="0" algn="ctr">
              <a:lnSpc>
                <a:spcPct val="114000"/>
              </a:lnSpc>
              <a:spcBef>
                <a:spcPts val="0"/>
              </a:spcBef>
              <a:spcAft>
                <a:spcPts val="0"/>
              </a:spcAft>
              <a:buClr>
                <a:srgbClr val="0B3360"/>
              </a:buClr>
              <a:buSzPts val="2100"/>
              <a:buFont typeface="Arial"/>
              <a:buNone/>
            </a:pPr>
            <a:r>
              <a:rPr lang="en-US" sz="2100">
                <a:solidFill>
                  <a:srgbClr val="0B3360"/>
                </a:solidFill>
                <a:latin typeface="Arial"/>
                <a:ea typeface="Arial"/>
                <a:cs typeface="Arial"/>
                <a:sym typeface="Arial"/>
              </a:rPr>
              <a:t>Pengembangan Blueprint Desa Wisata Berkelanjutan</a:t>
            </a:r>
            <a:endParaRPr sz="900"/>
          </a:p>
        </p:txBody>
      </p:sp>
      <p:sp>
        <p:nvSpPr>
          <p:cNvPr id="2606" name="Google Shape;2606;h65eb7c06466a6d01_2_817"/>
          <p:cNvSpPr/>
          <p:nvPr/>
        </p:nvSpPr>
        <p:spPr>
          <a:xfrm>
            <a:off x="2565584" y="1196431"/>
            <a:ext cx="7083900" cy="253500"/>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Strategi Pengembangan Destinasi dan Perencanaan Pariwisata Berbasis Masyarakat</a:t>
            </a:r>
            <a:endParaRPr sz="900"/>
          </a:p>
        </p:txBody>
      </p:sp>
      <p:sp>
        <p:nvSpPr>
          <p:cNvPr id="2607" name="Google Shape;2607;h65eb7c06466a6d01_2_817"/>
          <p:cNvSpPr/>
          <p:nvPr/>
        </p:nvSpPr>
        <p:spPr>
          <a:xfrm>
            <a:off x="6270595" y="1908116"/>
            <a:ext cx="5252700" cy="3664500"/>
          </a:xfrm>
          <a:prstGeom prst="rect">
            <a:avLst/>
          </a:prstGeom>
          <a:noFill/>
          <a:ln>
            <a:noFill/>
          </a:ln>
        </p:spPr>
        <p:txBody>
          <a:bodyPr anchorCtr="0" anchor="t" bIns="0" lIns="0" spcFirstLastPara="1" rIns="0" wrap="square" tIns="0">
            <a:noAutofit/>
          </a:bodyPr>
          <a:lstStyle/>
          <a:p>
            <a:pPr indent="0" lvl="0" marL="0" marR="0" rtl="0" algn="just">
              <a:lnSpc>
                <a:spcPct val="149971"/>
              </a:lnSpc>
              <a:spcBef>
                <a:spcPts val="0"/>
              </a:spcBef>
              <a:spcAft>
                <a:spcPts val="0"/>
              </a:spcAft>
              <a:buClr>
                <a:srgbClr val="0B3360"/>
              </a:buClr>
              <a:buSzPts val="1200"/>
              <a:buFont typeface="Arial"/>
              <a:buNone/>
            </a:pPr>
            <a:r>
              <a:rPr lang="en-US" sz="1100">
                <a:solidFill>
                  <a:srgbClr val="0B3360"/>
                </a:solidFill>
                <a:latin typeface="Arial"/>
                <a:ea typeface="Arial"/>
                <a:cs typeface="Arial"/>
                <a:sym typeface="Arial"/>
              </a:rPr>
              <a:t>Sebuah pemerintah daerah di Indonesia dengan visi budaya dan ekonomi kreatif yang kuat ingin menata serta meningkatkan skala program desa wisata untuk memperbesar dampak ekonomi lokal, memperbaiki pengalaman pengunjung, dan menarik investasi berkelanjutan. Pemerintah daerah menghadapi pembangunan yang terfragmentasi dan mutu yang tidak konsisten antarprogram desa wisata sehingga potensinya sebagai penggerak pertumbuhan ekonomi inklusif dan pelestarian budaya belum optimal. Ruang lingkup proyek mencakup penyusunan blueprint menyeluruh mengenai struktur kelembagaan, model ekosistem bisnis, pemetaan pengalaman wisatawan, pengemasan produk, kerangka pemberdayaan masyarakat, model kemitraan, dan peta jalan implementasi. Sanggabiz menyusun arah strategis, melakukan benchmarking dan co-creation bersama pemangku kepentingan, membangun arsitektur tata kelola dan merek yang dapat direplikasi, serta menerjemahkan insight lokal menjadi blueprint yang selaras dengan tujuan jangka panjang kota dalam bidang pariwisata, keberlanjutan, dan pembangunan ekonomi.</a:t>
            </a:r>
            <a:endParaRPr sz="8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2" name="Shape 2612"/>
        <p:cNvGrpSpPr/>
        <p:nvPr/>
      </p:nvGrpSpPr>
      <p:grpSpPr>
        <a:xfrm>
          <a:off x="0" y="0"/>
          <a:ext cx="0" cy="0"/>
          <a:chOff x="0" y="0"/>
          <a:chExt cx="0" cy="0"/>
        </a:xfrm>
      </p:grpSpPr>
      <p:sp>
        <p:nvSpPr>
          <p:cNvPr id="2613" name="Google Shape;2613;h65eb7c06466a6d01_2_834"/>
          <p:cNvSpPr/>
          <p:nvPr/>
        </p:nvSpPr>
        <p:spPr>
          <a:xfrm>
            <a:off x="503987" y="1068177"/>
            <a:ext cx="5900700" cy="627300"/>
          </a:xfrm>
          <a:prstGeom prst="rect">
            <a:avLst/>
          </a:prstGeom>
          <a:noFill/>
          <a:ln>
            <a:noFill/>
          </a:ln>
        </p:spPr>
        <p:txBody>
          <a:bodyPr anchorCtr="0" anchor="t" bIns="0" lIns="0" spcFirstLastPara="1" rIns="0" wrap="square" tIns="0">
            <a:noAutofit/>
          </a:bodyPr>
          <a:lstStyle/>
          <a:p>
            <a:pPr indent="0" lvl="0" marL="0" marR="0" rtl="0" algn="l">
              <a:lnSpc>
                <a:spcPct val="110003"/>
              </a:lnSpc>
              <a:spcBef>
                <a:spcPts val="0"/>
              </a:spcBef>
              <a:spcAft>
                <a:spcPts val="0"/>
              </a:spcAft>
              <a:buClr>
                <a:srgbClr val="406F9A"/>
              </a:buClr>
              <a:buSzPts val="4400"/>
              <a:buFont typeface="Arial"/>
              <a:buNone/>
            </a:pPr>
            <a:r>
              <a:rPr b="1" lang="en-US" sz="4400">
                <a:solidFill>
                  <a:srgbClr val="406F9A"/>
                </a:solidFill>
                <a:latin typeface="Arial"/>
                <a:ea typeface="Arial"/>
                <a:cs typeface="Arial"/>
                <a:sym typeface="Arial"/>
              </a:rPr>
              <a:t>Portofolio 11 - WATIS</a:t>
            </a:r>
            <a:endParaRPr sz="900"/>
          </a:p>
        </p:txBody>
      </p:sp>
      <p:sp>
        <p:nvSpPr>
          <p:cNvPr id="2614" name="Google Shape;2614;h65eb7c06466a6d01_2_834"/>
          <p:cNvSpPr/>
          <p:nvPr/>
        </p:nvSpPr>
        <p:spPr>
          <a:xfrm>
            <a:off x="503987" y="1955747"/>
            <a:ext cx="6900900" cy="1637700"/>
          </a:xfrm>
          <a:prstGeom prst="rect">
            <a:avLst/>
          </a:prstGeom>
          <a:noFill/>
          <a:ln>
            <a:noFill/>
          </a:ln>
        </p:spPr>
        <p:txBody>
          <a:bodyPr anchorCtr="0" anchor="t" bIns="0" lIns="0" spcFirstLastPara="1" rIns="0" wrap="square" tIns="0">
            <a:noAutofit/>
          </a:bodyPr>
          <a:lstStyle/>
          <a:p>
            <a:pPr indent="0" lvl="0" marL="0" marR="0" rtl="0" algn="just">
              <a:lnSpc>
                <a:spcPct val="130000"/>
              </a:lnSpc>
              <a:spcBef>
                <a:spcPts val="0"/>
              </a:spcBef>
              <a:spcAft>
                <a:spcPts val="0"/>
              </a:spcAft>
              <a:buClr>
                <a:srgbClr val="235780"/>
              </a:buClr>
              <a:buSzPts val="1200"/>
              <a:buFont typeface="Arial"/>
              <a:buNone/>
            </a:pPr>
            <a:r>
              <a:rPr lang="en-US" sz="1200">
                <a:solidFill>
                  <a:srgbClr val="235780"/>
                </a:solidFill>
                <a:latin typeface="Arial"/>
                <a:ea typeface="Arial"/>
                <a:cs typeface="Arial"/>
                <a:sym typeface="Arial"/>
              </a:rPr>
              <a:t>WATIS (WhatsApp Automation &amp; Intelligent System) adalah platform layanan pelanggan berbasis AI yang menghubungkan operasional bisnis dengan interaksi pelanggan yang lancar melalui otomatisasi ribuan percakapan selama 24/7. Sistem ini dibangun di atas infrastruktur berkinerja tinggi dan diterapkan melalui Vercel. Integrasi Official Meta API mengurangi keterlambatan respons dan hambatan operasional, sekaligus memastikan komunikasi yang aman, bebas pemblokiran, dan mendukung kredibilitas resmi “Green Tick” bagi perusahaan. Melalui otomatisasi cerdas dan kemampuan broadcast resmi, WATIS membantu bisnis menjaga kehadiran digital secara konsisten serta mengurangi risiko kehilangan prospek akibat keterlambatan administratif.</a:t>
            </a:r>
            <a:endParaRPr sz="900"/>
          </a:p>
        </p:txBody>
      </p:sp>
      <p:sp>
        <p:nvSpPr>
          <p:cNvPr id="2615" name="Google Shape;2615;h65eb7c06466a6d01_2_834"/>
          <p:cNvSpPr/>
          <p:nvPr/>
        </p:nvSpPr>
        <p:spPr>
          <a:xfrm>
            <a:off x="251993" y="4377241"/>
            <a:ext cx="3571417" cy="1624995"/>
          </a:xfrm>
          <a:custGeom>
            <a:rect b="b" l="l" r="r" t="t"/>
            <a:pathLst>
              <a:path extrusionOk="0" h="2434449" w="5350438">
                <a:moveTo>
                  <a:pt x="0" y="0"/>
                </a:moveTo>
                <a:lnTo>
                  <a:pt x="5350438" y="0"/>
                </a:lnTo>
                <a:lnTo>
                  <a:pt x="5350438" y="2434449"/>
                </a:lnTo>
                <a:lnTo>
                  <a:pt x="0" y="2434449"/>
                </a:lnTo>
                <a:lnTo>
                  <a:pt x="0" y="0"/>
                </a:lnTo>
                <a:close/>
              </a:path>
            </a:pathLst>
          </a:custGeom>
          <a:blipFill rotWithShape="1">
            <a:blip r:embed="rId3">
              <a:alphaModFix/>
            </a:blip>
            <a:stretch>
              <a:fillRect b="0" l="0" r="0" t="0"/>
            </a:stretch>
          </a:blipFill>
          <a:ln>
            <a:noFill/>
          </a:ln>
        </p:spPr>
      </p:sp>
      <p:sp>
        <p:nvSpPr>
          <p:cNvPr id="2616" name="Google Shape;2616;h65eb7c06466a6d01_2_834"/>
          <p:cNvSpPr/>
          <p:nvPr/>
        </p:nvSpPr>
        <p:spPr>
          <a:xfrm>
            <a:off x="4311441" y="4377241"/>
            <a:ext cx="3571417" cy="1616066"/>
          </a:xfrm>
          <a:custGeom>
            <a:rect b="b" l="l" r="r" t="t"/>
            <a:pathLst>
              <a:path extrusionOk="0" h="2421073" w="5350438">
                <a:moveTo>
                  <a:pt x="0" y="0"/>
                </a:moveTo>
                <a:lnTo>
                  <a:pt x="5350438" y="0"/>
                </a:lnTo>
                <a:lnTo>
                  <a:pt x="5350438" y="2421073"/>
                </a:lnTo>
                <a:lnTo>
                  <a:pt x="0" y="2421073"/>
                </a:lnTo>
                <a:lnTo>
                  <a:pt x="0" y="0"/>
                </a:lnTo>
                <a:close/>
              </a:path>
            </a:pathLst>
          </a:custGeom>
          <a:blipFill rotWithShape="1">
            <a:blip r:embed="rId4">
              <a:alphaModFix/>
            </a:blip>
            <a:stretch>
              <a:fillRect b="0" l="0" r="0" t="0"/>
            </a:stretch>
          </a:blipFill>
          <a:ln>
            <a:noFill/>
          </a:ln>
        </p:spPr>
      </p:sp>
      <p:sp>
        <p:nvSpPr>
          <p:cNvPr id="2617" name="Google Shape;2617;h65eb7c06466a6d01_2_834"/>
          <p:cNvSpPr/>
          <p:nvPr/>
        </p:nvSpPr>
        <p:spPr>
          <a:xfrm>
            <a:off x="8372818" y="4403993"/>
            <a:ext cx="3571417" cy="1598209"/>
          </a:xfrm>
          <a:custGeom>
            <a:rect b="b" l="l" r="r" t="t"/>
            <a:pathLst>
              <a:path extrusionOk="0" h="2394321" w="5350438">
                <a:moveTo>
                  <a:pt x="0" y="0"/>
                </a:moveTo>
                <a:lnTo>
                  <a:pt x="5350438" y="0"/>
                </a:lnTo>
                <a:lnTo>
                  <a:pt x="5350438" y="2394321"/>
                </a:lnTo>
                <a:lnTo>
                  <a:pt x="0" y="2394321"/>
                </a:lnTo>
                <a:lnTo>
                  <a:pt x="0" y="0"/>
                </a:lnTo>
                <a:close/>
              </a:path>
            </a:pathLst>
          </a:custGeom>
          <a:blipFill rotWithShape="1">
            <a:blip r:embed="rId5">
              <a:alphaModFix/>
            </a:blip>
            <a:stretch>
              <a:fillRect b="0" l="0" r="0" t="0"/>
            </a:stretch>
          </a:blipFill>
          <a:ln>
            <a:noFill/>
          </a:ln>
        </p:spPr>
      </p:sp>
      <p:sp>
        <p:nvSpPr>
          <p:cNvPr id="2618" name="Google Shape;2618;h65eb7c06466a6d01_2_834"/>
          <p:cNvSpPr/>
          <p:nvPr/>
        </p:nvSpPr>
        <p:spPr>
          <a:xfrm>
            <a:off x="8484392" y="2561694"/>
            <a:ext cx="3253800" cy="204900"/>
          </a:xfrm>
          <a:prstGeom prst="rect">
            <a:avLst/>
          </a:prstGeom>
          <a:noFill/>
          <a:ln>
            <a:noFill/>
          </a:ln>
        </p:spPr>
        <p:txBody>
          <a:bodyPr anchorCtr="0" anchor="t" bIns="0" lIns="0" spcFirstLastPara="1" rIns="0" wrap="square" tIns="0">
            <a:noAutofit/>
          </a:bodyPr>
          <a:lstStyle/>
          <a:p>
            <a:pPr indent="0" lvl="0" marL="0" marR="0" rtl="0" algn="l">
              <a:lnSpc>
                <a:spcPct val="93978"/>
              </a:lnSpc>
              <a:spcBef>
                <a:spcPts val="0"/>
              </a:spcBef>
              <a:spcAft>
                <a:spcPts val="0"/>
              </a:spcAft>
              <a:buClr>
                <a:srgbClr val="406F9A"/>
              </a:buClr>
              <a:buSzPts val="1700"/>
              <a:buFont typeface="Arial"/>
              <a:buNone/>
            </a:pPr>
            <a:r>
              <a:rPr b="1" lang="en-US" sz="1700">
                <a:solidFill>
                  <a:srgbClr val="406F9A"/>
                </a:solidFill>
                <a:latin typeface="Arial"/>
                <a:ea typeface="Arial"/>
                <a:cs typeface="Arial"/>
                <a:sym typeface="Arial"/>
              </a:rPr>
              <a:t>https://watis.vercel.app/</a:t>
            </a:r>
            <a:endParaRPr sz="9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3" name="Shape 2623"/>
        <p:cNvGrpSpPr/>
        <p:nvPr/>
      </p:nvGrpSpPr>
      <p:grpSpPr>
        <a:xfrm>
          <a:off x="0" y="0"/>
          <a:ext cx="0" cy="0"/>
          <a:chOff x="0" y="0"/>
          <a:chExt cx="0" cy="0"/>
        </a:xfrm>
      </p:grpSpPr>
      <p:sp>
        <p:nvSpPr>
          <p:cNvPr id="2624" name="Google Shape;2624;h65eb7c06466a6d01_2_844"/>
          <p:cNvSpPr/>
          <p:nvPr/>
        </p:nvSpPr>
        <p:spPr>
          <a:xfrm>
            <a:off x="6585052" y="3841050"/>
            <a:ext cx="4714813" cy="2139347"/>
          </a:xfrm>
          <a:custGeom>
            <a:rect b="b" l="l" r="r" t="t"/>
            <a:pathLst>
              <a:path extrusionOk="0" h="3205014" w="7063391">
                <a:moveTo>
                  <a:pt x="0" y="0"/>
                </a:moveTo>
                <a:lnTo>
                  <a:pt x="7063390" y="0"/>
                </a:lnTo>
                <a:lnTo>
                  <a:pt x="7063390" y="3205013"/>
                </a:lnTo>
                <a:lnTo>
                  <a:pt x="0" y="3205013"/>
                </a:lnTo>
                <a:lnTo>
                  <a:pt x="0" y="0"/>
                </a:lnTo>
                <a:close/>
              </a:path>
            </a:pathLst>
          </a:custGeom>
          <a:blipFill rotWithShape="1">
            <a:blip r:embed="rId3">
              <a:alphaModFix/>
            </a:blip>
            <a:stretch>
              <a:fillRect b="0" l="0" r="0" t="0"/>
            </a:stretch>
          </a:blipFill>
          <a:ln>
            <a:noFill/>
          </a:ln>
        </p:spPr>
      </p:sp>
      <p:sp>
        <p:nvSpPr>
          <p:cNvPr id="2625" name="Google Shape;2625;h65eb7c06466a6d01_2_844"/>
          <p:cNvSpPr/>
          <p:nvPr/>
        </p:nvSpPr>
        <p:spPr>
          <a:xfrm>
            <a:off x="503987" y="3852822"/>
            <a:ext cx="4714813" cy="2127559"/>
          </a:xfrm>
          <a:custGeom>
            <a:rect b="b" l="l" r="r" t="t"/>
            <a:pathLst>
              <a:path extrusionOk="0" h="3187355" w="7063391">
                <a:moveTo>
                  <a:pt x="0" y="0"/>
                </a:moveTo>
                <a:lnTo>
                  <a:pt x="7063391" y="0"/>
                </a:lnTo>
                <a:lnTo>
                  <a:pt x="7063391" y="3187355"/>
                </a:lnTo>
                <a:lnTo>
                  <a:pt x="0" y="3187355"/>
                </a:lnTo>
                <a:lnTo>
                  <a:pt x="0" y="0"/>
                </a:lnTo>
                <a:close/>
              </a:path>
            </a:pathLst>
          </a:custGeom>
          <a:blipFill rotWithShape="1">
            <a:blip r:embed="rId4">
              <a:alphaModFix/>
            </a:blip>
            <a:stretch>
              <a:fillRect b="0" l="0" r="0" t="0"/>
            </a:stretch>
          </a:blipFill>
          <a:ln>
            <a:noFill/>
          </a:ln>
        </p:spPr>
      </p:sp>
      <p:sp>
        <p:nvSpPr>
          <p:cNvPr id="2626" name="Google Shape;2626;h65eb7c06466a6d01_2_844"/>
          <p:cNvSpPr/>
          <p:nvPr/>
        </p:nvSpPr>
        <p:spPr>
          <a:xfrm>
            <a:off x="8410558" y="2055241"/>
            <a:ext cx="3215400" cy="208500"/>
          </a:xfrm>
          <a:prstGeom prst="rect">
            <a:avLst/>
          </a:prstGeom>
          <a:noFill/>
          <a:ln>
            <a:noFill/>
          </a:ln>
        </p:spPr>
        <p:txBody>
          <a:bodyPr anchorCtr="0" anchor="t" bIns="0" lIns="0" spcFirstLastPara="1" rIns="0" wrap="square" tIns="0">
            <a:noAutofit/>
          </a:bodyPr>
          <a:lstStyle/>
          <a:p>
            <a:pPr indent="0" lvl="0" marL="0" marR="0" rtl="0" algn="l">
              <a:lnSpc>
                <a:spcPct val="94013"/>
              </a:lnSpc>
              <a:spcBef>
                <a:spcPts val="0"/>
              </a:spcBef>
              <a:spcAft>
                <a:spcPts val="0"/>
              </a:spcAft>
              <a:buClr>
                <a:srgbClr val="406F9A"/>
              </a:buClr>
              <a:buSzPts val="1700"/>
              <a:buFont typeface="Arial"/>
              <a:buNone/>
            </a:pPr>
            <a:r>
              <a:rPr b="1" lang="en-US" sz="1700">
                <a:solidFill>
                  <a:srgbClr val="406F9A"/>
                </a:solidFill>
                <a:latin typeface="Arial"/>
                <a:ea typeface="Arial"/>
                <a:cs typeface="Arial"/>
                <a:sym typeface="Arial"/>
              </a:rPr>
              <a:t>https://tirtaflow.vercel.app/</a:t>
            </a:r>
            <a:endParaRPr sz="900"/>
          </a:p>
        </p:txBody>
      </p:sp>
      <p:sp>
        <p:nvSpPr>
          <p:cNvPr id="2627" name="Google Shape;2627;h65eb7c06466a6d01_2_844"/>
          <p:cNvSpPr/>
          <p:nvPr/>
        </p:nvSpPr>
        <p:spPr>
          <a:xfrm>
            <a:off x="503987" y="730250"/>
            <a:ext cx="6283500" cy="627900"/>
          </a:xfrm>
          <a:prstGeom prst="rect">
            <a:avLst/>
          </a:prstGeom>
          <a:noFill/>
          <a:ln>
            <a:noFill/>
          </a:ln>
        </p:spPr>
        <p:txBody>
          <a:bodyPr anchorCtr="0" anchor="t" bIns="0" lIns="0" spcFirstLastPara="1" rIns="0" wrap="square" tIns="0">
            <a:noAutofit/>
          </a:bodyPr>
          <a:lstStyle/>
          <a:p>
            <a:pPr indent="0" lvl="0" marL="0" marR="0" rtl="0" algn="l">
              <a:lnSpc>
                <a:spcPct val="110001"/>
              </a:lnSpc>
              <a:spcBef>
                <a:spcPts val="0"/>
              </a:spcBef>
              <a:spcAft>
                <a:spcPts val="0"/>
              </a:spcAft>
              <a:buClr>
                <a:srgbClr val="406F9A"/>
              </a:buClr>
              <a:buSzPts val="4400"/>
              <a:buFont typeface="Arial"/>
              <a:buNone/>
            </a:pPr>
            <a:r>
              <a:rPr b="1" lang="en-US" sz="4400">
                <a:solidFill>
                  <a:srgbClr val="406F9A"/>
                </a:solidFill>
                <a:latin typeface="Arial"/>
                <a:ea typeface="Arial"/>
                <a:cs typeface="Arial"/>
                <a:sym typeface="Arial"/>
              </a:rPr>
              <a:t>Portofolio 12 - Tirtaflow</a:t>
            </a:r>
            <a:endParaRPr sz="900"/>
          </a:p>
        </p:txBody>
      </p:sp>
      <p:sp>
        <p:nvSpPr>
          <p:cNvPr id="2628" name="Google Shape;2628;h65eb7c06466a6d01_2_844"/>
          <p:cNvSpPr/>
          <p:nvPr/>
        </p:nvSpPr>
        <p:spPr>
          <a:xfrm>
            <a:off x="503987" y="1558098"/>
            <a:ext cx="7348500" cy="1628700"/>
          </a:xfrm>
          <a:prstGeom prst="rect">
            <a:avLst/>
          </a:prstGeom>
          <a:noFill/>
          <a:ln>
            <a:noFill/>
          </a:ln>
        </p:spPr>
        <p:txBody>
          <a:bodyPr anchorCtr="0" anchor="t" bIns="0" lIns="0" spcFirstLastPara="1" rIns="0" wrap="square" tIns="0">
            <a:noAutofit/>
          </a:bodyPr>
          <a:lstStyle/>
          <a:p>
            <a:pPr indent="0" lvl="0" marL="0" marR="0" rtl="0" algn="just">
              <a:lnSpc>
                <a:spcPct val="130000"/>
              </a:lnSpc>
              <a:spcBef>
                <a:spcPts val="0"/>
              </a:spcBef>
              <a:spcAft>
                <a:spcPts val="0"/>
              </a:spcAft>
              <a:buClr>
                <a:srgbClr val="235780"/>
              </a:buClr>
              <a:buSzPts val="1200"/>
              <a:buFont typeface="Arial"/>
              <a:buNone/>
            </a:pPr>
            <a:r>
              <a:rPr lang="en-US" sz="1200">
                <a:solidFill>
                  <a:srgbClr val="235780"/>
                </a:solidFill>
                <a:latin typeface="Arial"/>
                <a:ea typeface="Arial"/>
                <a:cs typeface="Arial"/>
                <a:sym typeface="Arial"/>
              </a:rPr>
              <a:t>Tirtaflow adalah platform pengelolaan persuratan dan administrasi digital yang dirancang khusus untuk PDAM Tirtamarta guna mengubah alur birokrasi tradisional menjadi ekosistem digital yang cepat dan aman. Teknologi Intelligent OCR secara otomatis mengekstrak metadata dokumen dari PDF atau gambar sehingga menghilangkan entri data manual. Fitur Disposisi Digital memungkinkan manajer memberikan instruksi secara langsung dan memantau perkembangan surat melalui dashboard terpusat. Dengan arsip berbasis cloud, pencarian cerdas, dan sistem notifikasi otomatis, Tirtaflow meningkatkan transparansi, keamanan data, dan efisiensi pelayanan publik secara signifikan.</a:t>
            </a:r>
            <a:endParaRPr sz="9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3" name="Shape 2633"/>
        <p:cNvGrpSpPr/>
        <p:nvPr/>
      </p:nvGrpSpPr>
      <p:grpSpPr>
        <a:xfrm>
          <a:off x="0" y="0"/>
          <a:ext cx="0" cy="0"/>
          <a:chOff x="0" y="0"/>
          <a:chExt cx="0" cy="0"/>
        </a:xfrm>
      </p:grpSpPr>
      <p:sp>
        <p:nvSpPr>
          <p:cNvPr id="2634" name="Google Shape;2634;h65eb7c06466a6d01_2_853"/>
          <p:cNvSpPr/>
          <p:nvPr/>
        </p:nvSpPr>
        <p:spPr>
          <a:xfrm>
            <a:off x="1050116" y="3308753"/>
            <a:ext cx="6255232" cy="2799216"/>
          </a:xfrm>
          <a:custGeom>
            <a:rect b="b" l="l" r="r" t="t"/>
            <a:pathLst>
              <a:path extrusionOk="0" h="4193582" w="9371134">
                <a:moveTo>
                  <a:pt x="0" y="0"/>
                </a:moveTo>
                <a:lnTo>
                  <a:pt x="9371134" y="0"/>
                </a:lnTo>
                <a:lnTo>
                  <a:pt x="9371134" y="4193582"/>
                </a:lnTo>
                <a:lnTo>
                  <a:pt x="0" y="4193582"/>
                </a:lnTo>
                <a:lnTo>
                  <a:pt x="0" y="0"/>
                </a:lnTo>
                <a:close/>
              </a:path>
            </a:pathLst>
          </a:custGeom>
          <a:blipFill rotWithShape="1">
            <a:blip r:embed="rId3">
              <a:alphaModFix/>
            </a:blip>
            <a:stretch>
              <a:fillRect b="0" l="0" r="0" t="0"/>
            </a:stretch>
          </a:blipFill>
          <a:ln>
            <a:noFill/>
          </a:ln>
        </p:spPr>
      </p:sp>
      <p:sp>
        <p:nvSpPr>
          <p:cNvPr id="2635" name="Google Shape;2635;h65eb7c06466a6d01_2_853"/>
          <p:cNvSpPr/>
          <p:nvPr/>
        </p:nvSpPr>
        <p:spPr>
          <a:xfrm>
            <a:off x="685782" y="730267"/>
            <a:ext cx="8281800" cy="627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06F9A"/>
              </a:buClr>
              <a:buSzPts val="4400"/>
              <a:buFont typeface="Arial"/>
              <a:buNone/>
            </a:pPr>
            <a:r>
              <a:rPr b="1" lang="en-US" sz="4400">
                <a:solidFill>
                  <a:srgbClr val="406F9A"/>
                </a:solidFill>
                <a:latin typeface="Arial"/>
                <a:ea typeface="Arial"/>
                <a:cs typeface="Arial"/>
                <a:sym typeface="Arial"/>
              </a:rPr>
              <a:t>Portofolio 13 - KSO SCISI</a:t>
            </a:r>
            <a:endParaRPr sz="900"/>
          </a:p>
        </p:txBody>
      </p:sp>
      <p:sp>
        <p:nvSpPr>
          <p:cNvPr id="2636" name="Google Shape;2636;h65eb7c06466a6d01_2_853"/>
          <p:cNvSpPr/>
          <p:nvPr/>
        </p:nvSpPr>
        <p:spPr>
          <a:xfrm>
            <a:off x="8089562" y="2118440"/>
            <a:ext cx="3133500" cy="208500"/>
          </a:xfrm>
          <a:prstGeom prst="rect">
            <a:avLst/>
          </a:prstGeom>
          <a:noFill/>
          <a:ln>
            <a:noFill/>
          </a:ln>
        </p:spPr>
        <p:txBody>
          <a:bodyPr anchorCtr="0" anchor="t" bIns="0" lIns="0" spcFirstLastPara="1" rIns="0" wrap="square" tIns="0">
            <a:noAutofit/>
          </a:bodyPr>
          <a:lstStyle/>
          <a:p>
            <a:pPr indent="0" lvl="0" marL="0" marR="0" rtl="0" algn="l">
              <a:lnSpc>
                <a:spcPct val="93976"/>
              </a:lnSpc>
              <a:spcBef>
                <a:spcPts val="0"/>
              </a:spcBef>
              <a:spcAft>
                <a:spcPts val="0"/>
              </a:spcAft>
              <a:buClr>
                <a:srgbClr val="406F9A"/>
              </a:buClr>
              <a:buSzPts val="1700"/>
              <a:buFont typeface="Arial"/>
              <a:buNone/>
            </a:pPr>
            <a:r>
              <a:rPr b="1" lang="en-US" sz="1700">
                <a:solidFill>
                  <a:srgbClr val="406F9A"/>
                </a:solidFill>
                <a:latin typeface="Arial"/>
                <a:ea typeface="Arial"/>
                <a:cs typeface="Arial"/>
                <a:sym typeface="Arial"/>
              </a:rPr>
              <a:t>https://ksorfm.streamlit.app</a:t>
            </a:r>
            <a:endParaRPr sz="900"/>
          </a:p>
        </p:txBody>
      </p:sp>
      <p:sp>
        <p:nvSpPr>
          <p:cNvPr id="2637" name="Google Shape;2637;h65eb7c06466a6d01_2_853"/>
          <p:cNvSpPr/>
          <p:nvPr/>
        </p:nvSpPr>
        <p:spPr>
          <a:xfrm>
            <a:off x="685782" y="1610001"/>
            <a:ext cx="6960900" cy="1637700"/>
          </a:xfrm>
          <a:prstGeom prst="rect">
            <a:avLst/>
          </a:prstGeom>
          <a:noFill/>
          <a:ln>
            <a:noFill/>
          </a:ln>
        </p:spPr>
        <p:txBody>
          <a:bodyPr anchorCtr="0" anchor="t" bIns="0" lIns="0" spcFirstLastPara="1" rIns="0" wrap="square" tIns="0">
            <a:noAutofit/>
          </a:bodyPr>
          <a:lstStyle/>
          <a:p>
            <a:pPr indent="0" lvl="0" marL="0" marR="0" rtl="0" algn="just">
              <a:lnSpc>
                <a:spcPct val="130000"/>
              </a:lnSpc>
              <a:spcBef>
                <a:spcPts val="0"/>
              </a:spcBef>
              <a:spcAft>
                <a:spcPts val="0"/>
              </a:spcAft>
              <a:buClr>
                <a:srgbClr val="235780"/>
              </a:buClr>
              <a:buSzPts val="1200"/>
              <a:buFont typeface="Arial"/>
              <a:buNone/>
            </a:pPr>
            <a:r>
              <a:rPr lang="en-US" sz="1200">
                <a:solidFill>
                  <a:srgbClr val="235780"/>
                </a:solidFill>
                <a:latin typeface="Arial"/>
                <a:ea typeface="Arial"/>
                <a:cs typeface="Arial"/>
                <a:sym typeface="Arial"/>
              </a:rPr>
              <a:t>Dashboard KSO SCISI adalah perangkat strategis yang dikembangkan khusus bagi klien kami untuk menyederhanakan analisis peningkatan pasar dan pemantauan proyek melalui antarmuka digital terpusat. Platform ini dirancang sebagai portal akses yang aman dengan visualisasi data real-time dan pelacakan progres. Para pemangku kepentingan dapat mengelola alur kerja organisasi yang kompleks dengan transparansi dan efisiensi yang lebih baik. Dashboard ini menghubungkan data operasional mentah dengan insight yang dapat ditindaklanjuti sehingga KSO SCISI dapat mengambil keputusan berbasis data dengan tetap menjaga standar keamanan informasi dan akuntabilitas yang tinggi.</a:t>
            </a:r>
            <a:endParaRPr sz="9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h65eb7c06466a6d01_2_861"/>
          <p:cNvSpPr/>
          <p:nvPr/>
        </p:nvSpPr>
        <p:spPr>
          <a:xfrm>
            <a:off x="685782" y="1627845"/>
            <a:ext cx="6393077" cy="4710899"/>
          </a:xfrm>
          <a:custGeom>
            <a:rect b="b" l="l" r="r" t="t"/>
            <a:pathLst>
              <a:path extrusionOk="0" h="7057526" w="9577644">
                <a:moveTo>
                  <a:pt x="0" y="0"/>
                </a:moveTo>
                <a:lnTo>
                  <a:pt x="9577644" y="0"/>
                </a:lnTo>
                <a:lnTo>
                  <a:pt x="9577644" y="7057526"/>
                </a:lnTo>
                <a:lnTo>
                  <a:pt x="0" y="7057526"/>
                </a:lnTo>
                <a:lnTo>
                  <a:pt x="0" y="0"/>
                </a:lnTo>
                <a:close/>
              </a:path>
            </a:pathLst>
          </a:custGeom>
          <a:blipFill rotWithShape="1">
            <a:blip r:embed="rId3">
              <a:alphaModFix/>
            </a:blip>
            <a:stretch>
              <a:fillRect b="0" l="0" r="0" t="0"/>
            </a:stretch>
          </a:blipFill>
          <a:ln>
            <a:noFill/>
          </a:ln>
        </p:spPr>
      </p:sp>
      <p:sp>
        <p:nvSpPr>
          <p:cNvPr id="2644" name="Google Shape;2644;h65eb7c06466a6d01_2_861"/>
          <p:cNvSpPr/>
          <p:nvPr/>
        </p:nvSpPr>
        <p:spPr>
          <a:xfrm>
            <a:off x="685782" y="730250"/>
            <a:ext cx="10820100" cy="627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06F9A"/>
              </a:buClr>
              <a:buSzPts val="4400"/>
              <a:buFont typeface="Arial"/>
              <a:buNone/>
            </a:pPr>
            <a:r>
              <a:rPr b="1" lang="en-US" sz="4400">
                <a:solidFill>
                  <a:srgbClr val="406F9A"/>
                </a:solidFill>
                <a:latin typeface="Arial"/>
                <a:ea typeface="Arial"/>
                <a:cs typeface="Arial"/>
                <a:sym typeface="Arial"/>
              </a:rPr>
              <a:t>Portofolio 14: Monitor Penjualan</a:t>
            </a:r>
            <a:endParaRPr sz="900"/>
          </a:p>
        </p:txBody>
      </p:sp>
      <p:sp>
        <p:nvSpPr>
          <p:cNvPr id="2645" name="Google Shape;2645;h65eb7c06466a6d01_2_861"/>
          <p:cNvSpPr/>
          <p:nvPr/>
        </p:nvSpPr>
        <p:spPr>
          <a:xfrm>
            <a:off x="7297372" y="2532847"/>
            <a:ext cx="3133500" cy="208500"/>
          </a:xfrm>
          <a:prstGeom prst="rect">
            <a:avLst/>
          </a:prstGeom>
          <a:noFill/>
          <a:ln>
            <a:noFill/>
          </a:ln>
        </p:spPr>
        <p:txBody>
          <a:bodyPr anchorCtr="0" anchor="t" bIns="0" lIns="0" spcFirstLastPara="1" rIns="0" wrap="square" tIns="0">
            <a:noAutofit/>
          </a:bodyPr>
          <a:lstStyle/>
          <a:p>
            <a:pPr indent="0" lvl="0" marL="0" marR="0" rtl="0" algn="l">
              <a:lnSpc>
                <a:spcPct val="93976"/>
              </a:lnSpc>
              <a:spcBef>
                <a:spcPts val="0"/>
              </a:spcBef>
              <a:spcAft>
                <a:spcPts val="0"/>
              </a:spcAft>
              <a:buClr>
                <a:srgbClr val="406F9A"/>
              </a:buClr>
              <a:buSzPts val="1700"/>
              <a:buFont typeface="Arial"/>
              <a:buNone/>
            </a:pPr>
            <a:r>
              <a:rPr b="1" lang="en-US" sz="1700" u="sng">
                <a:solidFill>
                  <a:schemeClr val="hlink"/>
                </a:solidFill>
                <a:latin typeface="Arial"/>
                <a:ea typeface="Arial"/>
                <a:cs typeface="Arial"/>
                <a:sym typeface="Arial"/>
                <a:hlinkClick r:id="rId4"/>
              </a:rPr>
              <a:t>https://ksotokpi.lovable.app/</a:t>
            </a:r>
            <a:endParaRPr sz="900"/>
          </a:p>
        </p:txBody>
      </p:sp>
      <p:sp>
        <p:nvSpPr>
          <p:cNvPr id="2646" name="Google Shape;2646;h65eb7c06466a6d01_2_861"/>
          <p:cNvSpPr/>
          <p:nvPr/>
        </p:nvSpPr>
        <p:spPr>
          <a:xfrm>
            <a:off x="7297372" y="1608795"/>
            <a:ext cx="4208700" cy="614100"/>
          </a:xfrm>
          <a:prstGeom prst="rect">
            <a:avLst/>
          </a:prstGeom>
          <a:noFill/>
          <a:ln>
            <a:noFill/>
          </a:ln>
        </p:spPr>
        <p:txBody>
          <a:bodyPr anchorCtr="0" anchor="t" bIns="0" lIns="0" spcFirstLastPara="1" rIns="0" wrap="square" tIns="0">
            <a:noAutofit/>
          </a:bodyPr>
          <a:lstStyle/>
          <a:p>
            <a:pPr indent="0" lvl="0" marL="0" marR="0" rtl="0" algn="just">
              <a:lnSpc>
                <a:spcPct val="130000"/>
              </a:lnSpc>
              <a:spcBef>
                <a:spcPts val="0"/>
              </a:spcBef>
              <a:spcAft>
                <a:spcPts val="0"/>
              </a:spcAft>
              <a:buClr>
                <a:srgbClr val="235780"/>
              </a:buClr>
              <a:buSzPts val="1200"/>
              <a:buFont typeface="Arial"/>
              <a:buNone/>
            </a:pPr>
            <a:r>
              <a:rPr lang="en-US" sz="1200">
                <a:solidFill>
                  <a:srgbClr val="235780"/>
                </a:solidFill>
                <a:latin typeface="Arial"/>
                <a:ea typeface="Arial"/>
                <a:cs typeface="Arial"/>
                <a:sym typeface="Arial"/>
              </a:rPr>
              <a:t>Sistem pemantauan kinerja tim penjualan yang menampilkan funnel penjualan serta pencapaian setiap individu dan divisi secara keseluruhan.</a:t>
            </a:r>
            <a:endParaRPr sz="9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651" name="Shape 2651"/>
        <p:cNvGrpSpPr/>
        <p:nvPr/>
      </p:nvGrpSpPr>
      <p:grpSpPr>
        <a:xfrm>
          <a:off x="0" y="0"/>
          <a:ext cx="0" cy="0"/>
          <a:chOff x="0" y="0"/>
          <a:chExt cx="0" cy="0"/>
        </a:xfrm>
      </p:grpSpPr>
      <p:sp>
        <p:nvSpPr>
          <p:cNvPr id="2652" name="Google Shape;2652;h65eb7c06466a6d01_2_869"/>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3">
              <a:alphaModFix amt="5000"/>
            </a:blip>
            <a:stretch>
              <a:fillRect b="0" l="0" r="-408725" t="0"/>
            </a:stretch>
          </a:blipFill>
          <a:ln>
            <a:noFill/>
          </a:ln>
        </p:spPr>
      </p:sp>
      <p:sp>
        <p:nvSpPr>
          <p:cNvPr id="2653" name="Google Shape;2653;h65eb7c06466a6d01_2_869"/>
          <p:cNvSpPr/>
          <p:nvPr/>
        </p:nvSpPr>
        <p:spPr>
          <a:xfrm>
            <a:off x="435832" y="337130"/>
            <a:ext cx="1844594" cy="438888"/>
          </a:xfrm>
          <a:custGeom>
            <a:rect b="b" l="l" r="r" t="t"/>
            <a:pathLst>
              <a:path extrusionOk="0" h="657510" w="2763436">
                <a:moveTo>
                  <a:pt x="0" y="0"/>
                </a:moveTo>
                <a:lnTo>
                  <a:pt x="2763436" y="0"/>
                </a:lnTo>
                <a:lnTo>
                  <a:pt x="2763436" y="657510"/>
                </a:lnTo>
                <a:lnTo>
                  <a:pt x="0" y="657510"/>
                </a:lnTo>
                <a:lnTo>
                  <a:pt x="0" y="0"/>
                </a:lnTo>
                <a:close/>
              </a:path>
            </a:pathLst>
          </a:custGeom>
          <a:blipFill rotWithShape="1">
            <a:blip r:embed="rId3">
              <a:alphaModFix/>
            </a:blip>
            <a:stretch>
              <a:fillRect b="0" l="-2339" r="0" t="0"/>
            </a:stretch>
          </a:blipFill>
          <a:ln>
            <a:noFill/>
          </a:ln>
        </p:spPr>
      </p:sp>
      <p:sp>
        <p:nvSpPr>
          <p:cNvPr id="2654" name="Google Shape;2654;h65eb7c06466a6d01_2_869"/>
          <p:cNvSpPr/>
          <p:nvPr/>
        </p:nvSpPr>
        <p:spPr>
          <a:xfrm>
            <a:off x="-1749211" y="-2249505"/>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4">
              <a:alphaModFix amt="9000"/>
            </a:blip>
            <a:stretch>
              <a:fillRect b="0" l="0" r="0" t="0"/>
            </a:stretch>
          </a:blipFill>
          <a:ln>
            <a:noFill/>
          </a:ln>
        </p:spPr>
      </p:sp>
      <p:sp>
        <p:nvSpPr>
          <p:cNvPr id="2655" name="Google Shape;2655;h65eb7c06466a6d01_2_869"/>
          <p:cNvSpPr/>
          <p:nvPr/>
        </p:nvSpPr>
        <p:spPr>
          <a:xfrm>
            <a:off x="2538177" y="1348493"/>
            <a:ext cx="2268697" cy="2906131"/>
          </a:xfrm>
          <a:custGeom>
            <a:rect b="b" l="l" r="r" t="t"/>
            <a:pathLst>
              <a:path extrusionOk="0" h="830323" w="648199">
                <a:moveTo>
                  <a:pt x="68231" y="0"/>
                </a:moveTo>
                <a:lnTo>
                  <a:pt x="579968" y="0"/>
                </a:lnTo>
                <a:cubicBezTo>
                  <a:pt x="598064" y="0"/>
                  <a:pt x="615419" y="7189"/>
                  <a:pt x="628214" y="19984"/>
                </a:cubicBezTo>
                <a:cubicBezTo>
                  <a:pt x="641010" y="32780"/>
                  <a:pt x="648199" y="50135"/>
                  <a:pt x="648199" y="68231"/>
                </a:cubicBezTo>
                <a:lnTo>
                  <a:pt x="648199" y="762092"/>
                </a:lnTo>
                <a:cubicBezTo>
                  <a:pt x="648199" y="780188"/>
                  <a:pt x="641010" y="797543"/>
                  <a:pt x="628214" y="810339"/>
                </a:cubicBezTo>
                <a:cubicBezTo>
                  <a:pt x="615419" y="823135"/>
                  <a:pt x="598064" y="830323"/>
                  <a:pt x="579968" y="830323"/>
                </a:cubicBezTo>
                <a:lnTo>
                  <a:pt x="68231" y="830323"/>
                </a:lnTo>
                <a:cubicBezTo>
                  <a:pt x="50135" y="830323"/>
                  <a:pt x="32780" y="823135"/>
                  <a:pt x="19984" y="810339"/>
                </a:cubicBezTo>
                <a:cubicBezTo>
                  <a:pt x="7189" y="797543"/>
                  <a:pt x="0" y="780188"/>
                  <a:pt x="0" y="762092"/>
                </a:cubicBezTo>
                <a:lnTo>
                  <a:pt x="0" y="68231"/>
                </a:lnTo>
                <a:cubicBezTo>
                  <a:pt x="0" y="50135"/>
                  <a:pt x="7189" y="32780"/>
                  <a:pt x="19984" y="19984"/>
                </a:cubicBezTo>
                <a:cubicBezTo>
                  <a:pt x="32780" y="7189"/>
                  <a:pt x="50135" y="0"/>
                  <a:pt x="68231" y="0"/>
                </a:cubicBezTo>
                <a:close/>
              </a:path>
            </a:pathLst>
          </a:custGeom>
          <a:solidFill>
            <a:srgbClr val="0B3360"/>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56" name="Google Shape;2656;h65eb7c06466a6d01_2_869"/>
          <p:cNvSpPr/>
          <p:nvPr/>
        </p:nvSpPr>
        <p:spPr>
          <a:xfrm>
            <a:off x="2538177" y="1281800"/>
            <a:ext cx="2269200" cy="29736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57" name="Google Shape;2657;h65eb7c06466a6d01_2_869"/>
          <p:cNvSpPr/>
          <p:nvPr/>
        </p:nvSpPr>
        <p:spPr>
          <a:xfrm>
            <a:off x="2688340" y="1139328"/>
            <a:ext cx="1968446" cy="418215"/>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58" name="Google Shape;2658;h65eb7c06466a6d01_2_869"/>
          <p:cNvSpPr/>
          <p:nvPr/>
        </p:nvSpPr>
        <p:spPr>
          <a:xfrm>
            <a:off x="2688340" y="1072635"/>
            <a:ext cx="1968600" cy="4851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59" name="Google Shape;2659;h65eb7c06466a6d01_2_869"/>
          <p:cNvSpPr/>
          <p:nvPr/>
        </p:nvSpPr>
        <p:spPr>
          <a:xfrm>
            <a:off x="2749947" y="1660861"/>
            <a:ext cx="1875126" cy="387701"/>
          </a:xfrm>
          <a:custGeom>
            <a:rect b="b" l="l" r="r" t="t"/>
            <a:pathLst>
              <a:path extrusionOk="0" h="580825" w="2809178">
                <a:moveTo>
                  <a:pt x="0" y="0"/>
                </a:moveTo>
                <a:lnTo>
                  <a:pt x="2809178" y="0"/>
                </a:lnTo>
                <a:lnTo>
                  <a:pt x="2809178" y="580825"/>
                </a:lnTo>
                <a:lnTo>
                  <a:pt x="0" y="580825"/>
                </a:lnTo>
                <a:lnTo>
                  <a:pt x="0" y="0"/>
                </a:lnTo>
                <a:close/>
              </a:path>
            </a:pathLst>
          </a:custGeom>
          <a:blipFill rotWithShape="1">
            <a:blip r:embed="rId5">
              <a:alphaModFix/>
            </a:blip>
            <a:stretch>
              <a:fillRect b="-192300" l="0" r="0" t="-191352"/>
            </a:stretch>
          </a:blipFill>
          <a:ln>
            <a:noFill/>
          </a:ln>
        </p:spPr>
      </p:sp>
      <p:sp>
        <p:nvSpPr>
          <p:cNvPr id="2660" name="Google Shape;2660;h65eb7c06466a6d01_2_869"/>
          <p:cNvSpPr/>
          <p:nvPr/>
        </p:nvSpPr>
        <p:spPr>
          <a:xfrm>
            <a:off x="2564964" y="1191336"/>
            <a:ext cx="2215500" cy="247200"/>
          </a:xfrm>
          <a:prstGeom prst="rect">
            <a:avLst/>
          </a:prstGeom>
          <a:noFill/>
          <a:ln>
            <a:noFill/>
          </a:ln>
        </p:spPr>
        <p:txBody>
          <a:bodyPr anchorCtr="0" anchor="t" bIns="0" lIns="0" spcFirstLastPara="1" rIns="0" wrap="square" tIns="0">
            <a:noAutofit/>
          </a:bodyPr>
          <a:lstStyle/>
          <a:p>
            <a:pPr indent="0" lvl="0" marL="0" marR="0" rtl="0" algn="ctr">
              <a:lnSpc>
                <a:spcPct val="12403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Mosaic Wellness</a:t>
            </a:r>
            <a:endParaRPr sz="900"/>
          </a:p>
        </p:txBody>
      </p:sp>
      <p:sp>
        <p:nvSpPr>
          <p:cNvPr id="2661" name="Google Shape;2661;h65eb7c06466a6d01_2_869"/>
          <p:cNvSpPr/>
          <p:nvPr/>
        </p:nvSpPr>
        <p:spPr>
          <a:xfrm>
            <a:off x="2634552" y="2130628"/>
            <a:ext cx="2076300" cy="2070300"/>
          </a:xfrm>
          <a:prstGeom prst="rect">
            <a:avLst/>
          </a:prstGeom>
          <a:noFill/>
          <a:ln>
            <a:noFill/>
          </a:ln>
        </p:spPr>
        <p:txBody>
          <a:bodyPr anchorCtr="0" anchor="t" bIns="0" lIns="0" spcFirstLastPara="1" rIns="0" wrap="square" tIns="0">
            <a:noAutofit/>
          </a:bodyPr>
          <a:lstStyle/>
          <a:p>
            <a:pPr indent="0" lvl="0" marL="0" marR="0" rtl="0" algn="just">
              <a:lnSpc>
                <a:spcPct val="129986"/>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Layanan Sanggabiz sangat luar biasa!</a:t>
            </a:r>
            <a:endParaRPr sz="900"/>
          </a:p>
          <a:p>
            <a:pPr indent="0" lvl="0" marL="0" marR="0" rtl="0" algn="just">
              <a:lnSpc>
                <a:spcPct val="129986"/>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Mereka SECARA KONSISTEN MELAMPAUI EKSPEKTASI SAYA. Rasa memiliki mereka terhadap produk saya melampaui penyelesaian tugas. Mereka juga memberikan insight berharga untuk perbaikan berdasarkan pengalaman pribadi. Saya akan dengan senang hati menghubungi mereka kembali untuk proyek berikutnya. - Rency (Project Manager)</a:t>
            </a:r>
            <a:endParaRPr sz="900"/>
          </a:p>
        </p:txBody>
      </p:sp>
      <p:sp>
        <p:nvSpPr>
          <p:cNvPr id="2662" name="Google Shape;2662;h65eb7c06466a6d01_2_869"/>
          <p:cNvSpPr/>
          <p:nvPr/>
        </p:nvSpPr>
        <p:spPr>
          <a:xfrm>
            <a:off x="9736390" y="1360133"/>
            <a:ext cx="2268697" cy="2888148"/>
          </a:xfrm>
          <a:custGeom>
            <a:rect b="b" l="l" r="r" t="t"/>
            <a:pathLst>
              <a:path extrusionOk="0" h="825185" w="648199">
                <a:moveTo>
                  <a:pt x="68231" y="0"/>
                </a:moveTo>
                <a:lnTo>
                  <a:pt x="579968" y="0"/>
                </a:lnTo>
                <a:cubicBezTo>
                  <a:pt x="598064" y="0"/>
                  <a:pt x="615419" y="7189"/>
                  <a:pt x="628214" y="19984"/>
                </a:cubicBezTo>
                <a:cubicBezTo>
                  <a:pt x="641010" y="32780"/>
                  <a:pt x="648199" y="50135"/>
                  <a:pt x="648199" y="68231"/>
                </a:cubicBezTo>
                <a:lnTo>
                  <a:pt x="648199" y="756954"/>
                </a:lnTo>
                <a:cubicBezTo>
                  <a:pt x="648199" y="775050"/>
                  <a:pt x="641010" y="792405"/>
                  <a:pt x="628214" y="805201"/>
                </a:cubicBezTo>
                <a:cubicBezTo>
                  <a:pt x="615419" y="817996"/>
                  <a:pt x="598064" y="825185"/>
                  <a:pt x="579968" y="825185"/>
                </a:cubicBezTo>
                <a:lnTo>
                  <a:pt x="68231" y="825185"/>
                </a:lnTo>
                <a:cubicBezTo>
                  <a:pt x="50135" y="825185"/>
                  <a:pt x="32780" y="817996"/>
                  <a:pt x="19984" y="805201"/>
                </a:cubicBezTo>
                <a:cubicBezTo>
                  <a:pt x="7189" y="792405"/>
                  <a:pt x="0" y="775050"/>
                  <a:pt x="0" y="756954"/>
                </a:cubicBezTo>
                <a:lnTo>
                  <a:pt x="0" y="68231"/>
                </a:lnTo>
                <a:cubicBezTo>
                  <a:pt x="0" y="50135"/>
                  <a:pt x="7189" y="32780"/>
                  <a:pt x="19984" y="19984"/>
                </a:cubicBezTo>
                <a:cubicBezTo>
                  <a:pt x="32780" y="7189"/>
                  <a:pt x="50135" y="0"/>
                  <a:pt x="68231" y="0"/>
                </a:cubicBezTo>
                <a:close/>
              </a:path>
            </a:pathLst>
          </a:custGeom>
          <a:solidFill>
            <a:srgbClr val="0B3360"/>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63" name="Google Shape;2663;h65eb7c06466a6d01_2_869"/>
          <p:cNvSpPr/>
          <p:nvPr/>
        </p:nvSpPr>
        <p:spPr>
          <a:xfrm>
            <a:off x="9736390" y="1093359"/>
            <a:ext cx="2269200" cy="31557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64" name="Google Shape;2664;h65eb7c06466a6d01_2_869"/>
          <p:cNvSpPr/>
          <p:nvPr/>
        </p:nvSpPr>
        <p:spPr>
          <a:xfrm>
            <a:off x="9886552" y="1150967"/>
            <a:ext cx="1968446" cy="418215"/>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65" name="Google Shape;2665;h65eb7c06466a6d01_2_869"/>
          <p:cNvSpPr/>
          <p:nvPr/>
        </p:nvSpPr>
        <p:spPr>
          <a:xfrm>
            <a:off x="9886552" y="884193"/>
            <a:ext cx="1968600" cy="6852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66" name="Google Shape;2666;h65eb7c06466a6d01_2_869"/>
          <p:cNvSpPr/>
          <p:nvPr/>
        </p:nvSpPr>
        <p:spPr>
          <a:xfrm>
            <a:off x="10620099" y="1650273"/>
            <a:ext cx="502490" cy="405347"/>
          </a:xfrm>
          <a:custGeom>
            <a:rect b="b" l="l" r="r" t="t"/>
            <a:pathLst>
              <a:path extrusionOk="0" h="607261" w="752794">
                <a:moveTo>
                  <a:pt x="0" y="0"/>
                </a:moveTo>
                <a:lnTo>
                  <a:pt x="752794" y="0"/>
                </a:lnTo>
                <a:lnTo>
                  <a:pt x="752794" y="607261"/>
                </a:lnTo>
                <a:lnTo>
                  <a:pt x="0" y="607261"/>
                </a:lnTo>
                <a:lnTo>
                  <a:pt x="0" y="0"/>
                </a:lnTo>
                <a:close/>
              </a:path>
            </a:pathLst>
          </a:custGeom>
          <a:blipFill rotWithShape="1">
            <a:blip r:embed="rId6">
              <a:alphaModFix/>
            </a:blip>
            <a:stretch>
              <a:fillRect b="-11979" l="0" r="0" t="-11979"/>
            </a:stretch>
          </a:blipFill>
          <a:ln>
            <a:noFill/>
          </a:ln>
        </p:spPr>
      </p:sp>
      <p:sp>
        <p:nvSpPr>
          <p:cNvPr id="2667" name="Google Shape;2667;h65eb7c06466a6d01_2_869"/>
          <p:cNvSpPr/>
          <p:nvPr/>
        </p:nvSpPr>
        <p:spPr>
          <a:xfrm>
            <a:off x="9789964" y="1191336"/>
            <a:ext cx="2215500" cy="247200"/>
          </a:xfrm>
          <a:prstGeom prst="rect">
            <a:avLst/>
          </a:prstGeom>
          <a:noFill/>
          <a:ln>
            <a:noFill/>
          </a:ln>
        </p:spPr>
        <p:txBody>
          <a:bodyPr anchorCtr="0" anchor="t" bIns="0" lIns="0" spcFirstLastPara="1" rIns="0" wrap="square" tIns="0">
            <a:noAutofit/>
          </a:bodyPr>
          <a:lstStyle/>
          <a:p>
            <a:pPr indent="0" lvl="0" marL="0" marR="0" rtl="0" algn="ctr">
              <a:lnSpc>
                <a:spcPct val="12403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Exceliga</a:t>
            </a:r>
            <a:endParaRPr sz="900"/>
          </a:p>
        </p:txBody>
      </p:sp>
      <p:sp>
        <p:nvSpPr>
          <p:cNvPr id="2668" name="Google Shape;2668;h65eb7c06466a6d01_2_869"/>
          <p:cNvSpPr/>
          <p:nvPr/>
        </p:nvSpPr>
        <p:spPr>
          <a:xfrm>
            <a:off x="9850687" y="2130628"/>
            <a:ext cx="2076300" cy="1276800"/>
          </a:xfrm>
          <a:prstGeom prst="rect">
            <a:avLst/>
          </a:prstGeom>
          <a:noFill/>
          <a:ln>
            <a:noFill/>
          </a:ln>
        </p:spPr>
        <p:txBody>
          <a:bodyPr anchorCtr="0" anchor="t" bIns="0" lIns="0" spcFirstLastPara="1" rIns="0" wrap="square" tIns="0">
            <a:noAutofit/>
          </a:bodyPr>
          <a:lstStyle/>
          <a:p>
            <a:pPr indent="0" lvl="0" marL="0" marR="0" rtl="0" algn="just">
              <a:lnSpc>
                <a:spcPct val="129986"/>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Tim Sanggabiz profesional dan tepat dalam pelaksanaan, pelaporan, serta pengelolaan data. Saya dapat merekomendasikan Sanggabiz kepada kolega sebagai penyedia jasa profesional. - Pemilik</a:t>
            </a:r>
            <a:endParaRPr sz="900"/>
          </a:p>
        </p:txBody>
      </p:sp>
      <p:sp>
        <p:nvSpPr>
          <p:cNvPr id="2669" name="Google Shape;2669;h65eb7c06466a6d01_2_869"/>
          <p:cNvSpPr/>
          <p:nvPr/>
        </p:nvSpPr>
        <p:spPr>
          <a:xfrm>
            <a:off x="7346475" y="1348493"/>
            <a:ext cx="2268697" cy="2906131"/>
          </a:xfrm>
          <a:custGeom>
            <a:rect b="b" l="l" r="r" t="t"/>
            <a:pathLst>
              <a:path extrusionOk="0" h="830323" w="648199">
                <a:moveTo>
                  <a:pt x="68231" y="0"/>
                </a:moveTo>
                <a:lnTo>
                  <a:pt x="579968" y="0"/>
                </a:lnTo>
                <a:cubicBezTo>
                  <a:pt x="598064" y="0"/>
                  <a:pt x="615419" y="7189"/>
                  <a:pt x="628214" y="19984"/>
                </a:cubicBezTo>
                <a:cubicBezTo>
                  <a:pt x="641010" y="32780"/>
                  <a:pt x="648199" y="50135"/>
                  <a:pt x="648199" y="68231"/>
                </a:cubicBezTo>
                <a:lnTo>
                  <a:pt x="648199" y="762092"/>
                </a:lnTo>
                <a:cubicBezTo>
                  <a:pt x="648199" y="780188"/>
                  <a:pt x="641010" y="797543"/>
                  <a:pt x="628214" y="810339"/>
                </a:cubicBezTo>
                <a:cubicBezTo>
                  <a:pt x="615419" y="823135"/>
                  <a:pt x="598064" y="830323"/>
                  <a:pt x="579968" y="830323"/>
                </a:cubicBezTo>
                <a:lnTo>
                  <a:pt x="68231" y="830323"/>
                </a:lnTo>
                <a:cubicBezTo>
                  <a:pt x="50135" y="830323"/>
                  <a:pt x="32780" y="823135"/>
                  <a:pt x="19984" y="810339"/>
                </a:cubicBezTo>
                <a:cubicBezTo>
                  <a:pt x="7189" y="797543"/>
                  <a:pt x="0" y="780188"/>
                  <a:pt x="0" y="762092"/>
                </a:cubicBezTo>
                <a:lnTo>
                  <a:pt x="0" y="68231"/>
                </a:lnTo>
                <a:cubicBezTo>
                  <a:pt x="0" y="50135"/>
                  <a:pt x="7189" y="32780"/>
                  <a:pt x="19984" y="19984"/>
                </a:cubicBezTo>
                <a:cubicBezTo>
                  <a:pt x="32780" y="7189"/>
                  <a:pt x="50135" y="0"/>
                  <a:pt x="68231" y="0"/>
                </a:cubicBezTo>
                <a:close/>
              </a:path>
            </a:pathLst>
          </a:custGeom>
          <a:solidFill>
            <a:srgbClr val="0B3360"/>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70" name="Google Shape;2670;h65eb7c06466a6d01_2_869"/>
          <p:cNvSpPr/>
          <p:nvPr/>
        </p:nvSpPr>
        <p:spPr>
          <a:xfrm>
            <a:off x="7346475" y="1081719"/>
            <a:ext cx="2269200" cy="31737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71" name="Google Shape;2671;h65eb7c06466a6d01_2_869"/>
          <p:cNvSpPr/>
          <p:nvPr/>
        </p:nvSpPr>
        <p:spPr>
          <a:xfrm>
            <a:off x="7496637" y="1139328"/>
            <a:ext cx="1968446" cy="365740"/>
          </a:xfrm>
          <a:custGeom>
            <a:rect b="b" l="l" r="r" t="t"/>
            <a:pathLst>
              <a:path extrusionOk="0" h="104497" w="562413">
                <a:moveTo>
                  <a:pt x="52249" y="0"/>
                </a:moveTo>
                <a:lnTo>
                  <a:pt x="510165" y="0"/>
                </a:lnTo>
                <a:cubicBezTo>
                  <a:pt x="524022" y="0"/>
                  <a:pt x="537312" y="5505"/>
                  <a:pt x="547110" y="15303"/>
                </a:cubicBezTo>
                <a:cubicBezTo>
                  <a:pt x="556909" y="25102"/>
                  <a:pt x="562413" y="38391"/>
                  <a:pt x="562413" y="52249"/>
                </a:cubicBezTo>
                <a:lnTo>
                  <a:pt x="562413" y="52249"/>
                </a:lnTo>
                <a:cubicBezTo>
                  <a:pt x="562413" y="66106"/>
                  <a:pt x="556909" y="79395"/>
                  <a:pt x="547110" y="89194"/>
                </a:cubicBezTo>
                <a:cubicBezTo>
                  <a:pt x="537312" y="98992"/>
                  <a:pt x="524022" y="104497"/>
                  <a:pt x="510165" y="104497"/>
                </a:cubicBezTo>
                <a:lnTo>
                  <a:pt x="52249" y="104497"/>
                </a:lnTo>
                <a:cubicBezTo>
                  <a:pt x="38391" y="104497"/>
                  <a:pt x="25102" y="98992"/>
                  <a:pt x="15303" y="89194"/>
                </a:cubicBezTo>
                <a:cubicBezTo>
                  <a:pt x="5505" y="79395"/>
                  <a:pt x="0" y="66106"/>
                  <a:pt x="0" y="52249"/>
                </a:cubicBezTo>
                <a:lnTo>
                  <a:pt x="0" y="52249"/>
                </a:lnTo>
                <a:cubicBezTo>
                  <a:pt x="0" y="38391"/>
                  <a:pt x="5505" y="25102"/>
                  <a:pt x="15303" y="15303"/>
                </a:cubicBezTo>
                <a:cubicBezTo>
                  <a:pt x="25102" y="5505"/>
                  <a:pt x="38391" y="0"/>
                  <a:pt x="52249"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72" name="Google Shape;2672;h65eb7c06466a6d01_2_869"/>
          <p:cNvSpPr/>
          <p:nvPr/>
        </p:nvSpPr>
        <p:spPr>
          <a:xfrm>
            <a:off x="7496637" y="872554"/>
            <a:ext cx="1968600" cy="6327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73" name="Google Shape;2673;h65eb7c06466a6d01_2_869"/>
          <p:cNvSpPr/>
          <p:nvPr/>
        </p:nvSpPr>
        <p:spPr>
          <a:xfrm>
            <a:off x="8189719" y="1627628"/>
            <a:ext cx="583524" cy="454251"/>
          </a:xfrm>
          <a:custGeom>
            <a:rect b="b" l="l" r="r" t="t"/>
            <a:pathLst>
              <a:path extrusionOk="0" h="680526" w="874193">
                <a:moveTo>
                  <a:pt x="0" y="0"/>
                </a:moveTo>
                <a:lnTo>
                  <a:pt x="874193" y="0"/>
                </a:lnTo>
                <a:lnTo>
                  <a:pt x="874193" y="680526"/>
                </a:lnTo>
                <a:lnTo>
                  <a:pt x="0" y="680526"/>
                </a:lnTo>
                <a:lnTo>
                  <a:pt x="0" y="0"/>
                </a:lnTo>
                <a:close/>
              </a:path>
            </a:pathLst>
          </a:custGeom>
          <a:blipFill rotWithShape="1">
            <a:blip r:embed="rId7">
              <a:alphaModFix/>
            </a:blip>
            <a:stretch>
              <a:fillRect b="0" l="0" r="0" t="0"/>
            </a:stretch>
          </a:blipFill>
          <a:ln>
            <a:noFill/>
          </a:ln>
        </p:spPr>
      </p:sp>
      <p:sp>
        <p:nvSpPr>
          <p:cNvPr id="2674" name="Google Shape;2674;h65eb7c06466a6d01_2_869"/>
          <p:cNvSpPr/>
          <p:nvPr/>
        </p:nvSpPr>
        <p:spPr>
          <a:xfrm>
            <a:off x="7356106" y="1173211"/>
            <a:ext cx="2215500" cy="247200"/>
          </a:xfrm>
          <a:prstGeom prst="rect">
            <a:avLst/>
          </a:prstGeom>
          <a:noFill/>
          <a:ln>
            <a:noFill/>
          </a:ln>
        </p:spPr>
        <p:txBody>
          <a:bodyPr anchorCtr="0" anchor="t" bIns="0" lIns="0" spcFirstLastPara="1" rIns="0" wrap="square" tIns="0">
            <a:noAutofit/>
          </a:bodyPr>
          <a:lstStyle/>
          <a:p>
            <a:pPr indent="0" lvl="0" marL="0" marR="0" rtl="0" algn="ctr">
              <a:lnSpc>
                <a:spcPct val="12403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AQM</a:t>
            </a:r>
            <a:endParaRPr sz="900"/>
          </a:p>
        </p:txBody>
      </p:sp>
      <p:sp>
        <p:nvSpPr>
          <p:cNvPr id="2675" name="Google Shape;2675;h65eb7c06466a6d01_2_869"/>
          <p:cNvSpPr/>
          <p:nvPr/>
        </p:nvSpPr>
        <p:spPr>
          <a:xfrm>
            <a:off x="7442850" y="2130628"/>
            <a:ext cx="2076300" cy="1911600"/>
          </a:xfrm>
          <a:prstGeom prst="rect">
            <a:avLst/>
          </a:prstGeom>
          <a:noFill/>
          <a:ln>
            <a:noFill/>
          </a:ln>
        </p:spPr>
        <p:txBody>
          <a:bodyPr anchorCtr="0" anchor="t" bIns="0" lIns="0" spcFirstLastPara="1" rIns="0" wrap="square" tIns="0">
            <a:noAutofit/>
          </a:bodyPr>
          <a:lstStyle/>
          <a:p>
            <a:pPr indent="0" lvl="0" marL="0" marR="0" rtl="0" algn="just">
              <a:lnSpc>
                <a:spcPct val="130020"/>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Kami belum memiliki cukup pengalaman dalam layanan pelanggan. Sanggabiz menjadi mitra diskusi untuk memperbaiki proses dan sistem sehingga kini kami memiliki standar yang jelas pada setiap proses serta insight baru untuk perbaikan. - Pemilik</a:t>
            </a:r>
            <a:endParaRPr sz="900"/>
          </a:p>
        </p:txBody>
      </p:sp>
      <p:sp>
        <p:nvSpPr>
          <p:cNvPr id="2676" name="Google Shape;2676;h65eb7c06466a6d01_2_869"/>
          <p:cNvSpPr/>
          <p:nvPr/>
        </p:nvSpPr>
        <p:spPr>
          <a:xfrm>
            <a:off x="175271" y="1360133"/>
            <a:ext cx="2242769" cy="2895882"/>
          </a:xfrm>
          <a:custGeom>
            <a:rect b="b" l="l" r="r" t="t"/>
            <a:pathLst>
              <a:path extrusionOk="0" h="836960" w="648199">
                <a:moveTo>
                  <a:pt x="69053" y="0"/>
                </a:moveTo>
                <a:lnTo>
                  <a:pt x="579146" y="0"/>
                </a:lnTo>
                <a:cubicBezTo>
                  <a:pt x="617283" y="0"/>
                  <a:pt x="648199" y="30916"/>
                  <a:pt x="648199" y="69053"/>
                </a:cubicBezTo>
                <a:lnTo>
                  <a:pt x="648199" y="767907"/>
                </a:lnTo>
                <a:cubicBezTo>
                  <a:pt x="648199" y="806044"/>
                  <a:pt x="617283" y="836960"/>
                  <a:pt x="579146" y="836960"/>
                </a:cubicBezTo>
                <a:lnTo>
                  <a:pt x="69053" y="836960"/>
                </a:lnTo>
                <a:cubicBezTo>
                  <a:pt x="30916" y="836960"/>
                  <a:pt x="0" y="806044"/>
                  <a:pt x="0" y="767907"/>
                </a:cubicBezTo>
                <a:lnTo>
                  <a:pt x="0" y="69053"/>
                </a:lnTo>
                <a:cubicBezTo>
                  <a:pt x="0" y="30916"/>
                  <a:pt x="30916" y="0"/>
                  <a:pt x="69053" y="0"/>
                </a:cubicBezTo>
                <a:close/>
              </a:path>
            </a:pathLst>
          </a:custGeom>
          <a:solidFill>
            <a:srgbClr val="0B3360"/>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77" name="Google Shape;2677;h65eb7c06466a6d01_2_869"/>
          <p:cNvSpPr/>
          <p:nvPr/>
        </p:nvSpPr>
        <p:spPr>
          <a:xfrm>
            <a:off x="175271" y="1294233"/>
            <a:ext cx="2242200" cy="2961300"/>
          </a:xfrm>
          <a:prstGeom prst="rect">
            <a:avLst/>
          </a:prstGeom>
          <a:noFill/>
          <a:ln>
            <a:noFill/>
          </a:ln>
        </p:spPr>
        <p:txBody>
          <a:bodyPr anchorCtr="0" anchor="ctr" bIns="70900" lIns="70900" spcFirstLastPara="1" rIns="70900" wrap="square" tIns="70900">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78" name="Google Shape;2678;h65eb7c06466a6d01_2_869"/>
          <p:cNvSpPr/>
          <p:nvPr/>
        </p:nvSpPr>
        <p:spPr>
          <a:xfrm>
            <a:off x="278647" y="1682710"/>
            <a:ext cx="2073545" cy="365825"/>
          </a:xfrm>
          <a:custGeom>
            <a:rect b="b" l="l" r="r" t="t"/>
            <a:pathLst>
              <a:path extrusionOk="0" h="548052" w="3106435">
                <a:moveTo>
                  <a:pt x="0" y="0"/>
                </a:moveTo>
                <a:lnTo>
                  <a:pt x="3106435" y="0"/>
                </a:lnTo>
                <a:lnTo>
                  <a:pt x="3106435" y="548052"/>
                </a:lnTo>
                <a:lnTo>
                  <a:pt x="0" y="548052"/>
                </a:lnTo>
                <a:lnTo>
                  <a:pt x="0" y="0"/>
                </a:lnTo>
                <a:close/>
              </a:path>
            </a:pathLst>
          </a:custGeom>
          <a:blipFill rotWithShape="1">
            <a:blip r:embed="rId8">
              <a:alphaModFix/>
            </a:blip>
            <a:stretch>
              <a:fillRect b="-11300" l="0" r="0" t="-5570"/>
            </a:stretch>
          </a:blipFill>
          <a:ln>
            <a:noFill/>
          </a:ln>
        </p:spPr>
      </p:sp>
      <p:sp>
        <p:nvSpPr>
          <p:cNvPr id="2679" name="Google Shape;2679;h65eb7c06466a6d01_2_869"/>
          <p:cNvSpPr/>
          <p:nvPr/>
        </p:nvSpPr>
        <p:spPr>
          <a:xfrm>
            <a:off x="257216" y="2130628"/>
            <a:ext cx="2052000" cy="1276800"/>
          </a:xfrm>
          <a:prstGeom prst="rect">
            <a:avLst/>
          </a:prstGeom>
          <a:noFill/>
          <a:ln>
            <a:noFill/>
          </a:ln>
        </p:spPr>
        <p:txBody>
          <a:bodyPr anchorCtr="0" anchor="t" bIns="0" lIns="0" spcFirstLastPara="1" rIns="0" wrap="square" tIns="0">
            <a:noAutofit/>
          </a:bodyPr>
          <a:lstStyle/>
          <a:p>
            <a:pPr indent="0" lvl="0" marL="0" marR="0" rtl="0" algn="just">
              <a:lnSpc>
                <a:spcPct val="130020"/>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Sanggabiz telah menjadi solusi bisnis yang komprehensif. Bukan sekadar alih daya, Sanggabiz memberikan fleksibilitas yang berarti bagi bisnis kami. - Hermawan (Manajer Operasional)</a:t>
            </a:r>
            <a:endParaRPr sz="900"/>
          </a:p>
        </p:txBody>
      </p:sp>
      <p:sp>
        <p:nvSpPr>
          <p:cNvPr id="2680" name="Google Shape;2680;h65eb7c06466a6d01_2_869"/>
          <p:cNvSpPr/>
          <p:nvPr/>
        </p:nvSpPr>
        <p:spPr>
          <a:xfrm>
            <a:off x="298646" y="1139328"/>
            <a:ext cx="1968446" cy="418215"/>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81" name="Google Shape;2681;h65eb7c06466a6d01_2_869"/>
          <p:cNvSpPr/>
          <p:nvPr/>
        </p:nvSpPr>
        <p:spPr>
          <a:xfrm>
            <a:off x="298646" y="1072635"/>
            <a:ext cx="1968600" cy="4851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82" name="Google Shape;2682;h65eb7c06466a6d01_2_869"/>
          <p:cNvSpPr/>
          <p:nvPr/>
        </p:nvSpPr>
        <p:spPr>
          <a:xfrm>
            <a:off x="175271" y="1206133"/>
            <a:ext cx="2215500" cy="247200"/>
          </a:xfrm>
          <a:prstGeom prst="rect">
            <a:avLst/>
          </a:prstGeom>
          <a:noFill/>
          <a:ln>
            <a:noFill/>
          </a:ln>
        </p:spPr>
        <p:txBody>
          <a:bodyPr anchorCtr="0" anchor="t" bIns="0" lIns="0" spcFirstLastPara="1" rIns="0" wrap="square" tIns="0">
            <a:noAutofit/>
          </a:bodyPr>
          <a:lstStyle/>
          <a:p>
            <a:pPr indent="0" lvl="0" marL="0" marR="0" rtl="0" algn="ctr">
              <a:lnSpc>
                <a:spcPct val="12403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Kitabisa.com</a:t>
            </a:r>
            <a:endParaRPr sz="900"/>
          </a:p>
        </p:txBody>
      </p:sp>
      <p:sp>
        <p:nvSpPr>
          <p:cNvPr id="2683" name="Google Shape;2683;h65eb7c06466a6d01_2_869"/>
          <p:cNvSpPr/>
          <p:nvPr/>
        </p:nvSpPr>
        <p:spPr>
          <a:xfrm>
            <a:off x="4940792" y="1348493"/>
            <a:ext cx="2268697" cy="2899782"/>
          </a:xfrm>
          <a:custGeom>
            <a:rect b="b" l="l" r="r" t="t"/>
            <a:pathLst>
              <a:path extrusionOk="0" h="828509" w="648199">
                <a:moveTo>
                  <a:pt x="68231" y="0"/>
                </a:moveTo>
                <a:lnTo>
                  <a:pt x="579968" y="0"/>
                </a:lnTo>
                <a:cubicBezTo>
                  <a:pt x="598064" y="0"/>
                  <a:pt x="615419" y="7189"/>
                  <a:pt x="628214" y="19984"/>
                </a:cubicBezTo>
                <a:cubicBezTo>
                  <a:pt x="641010" y="32780"/>
                  <a:pt x="648199" y="50135"/>
                  <a:pt x="648199" y="68231"/>
                </a:cubicBezTo>
                <a:lnTo>
                  <a:pt x="648199" y="760278"/>
                </a:lnTo>
                <a:cubicBezTo>
                  <a:pt x="648199" y="778374"/>
                  <a:pt x="641010" y="795729"/>
                  <a:pt x="628214" y="808525"/>
                </a:cubicBezTo>
                <a:cubicBezTo>
                  <a:pt x="615419" y="821321"/>
                  <a:pt x="598064" y="828509"/>
                  <a:pt x="579968" y="828509"/>
                </a:cubicBezTo>
                <a:lnTo>
                  <a:pt x="68231" y="828509"/>
                </a:lnTo>
                <a:cubicBezTo>
                  <a:pt x="50135" y="828509"/>
                  <a:pt x="32780" y="821321"/>
                  <a:pt x="19984" y="808525"/>
                </a:cubicBezTo>
                <a:cubicBezTo>
                  <a:pt x="7189" y="795729"/>
                  <a:pt x="0" y="778374"/>
                  <a:pt x="0" y="760278"/>
                </a:cubicBezTo>
                <a:lnTo>
                  <a:pt x="0" y="68231"/>
                </a:lnTo>
                <a:cubicBezTo>
                  <a:pt x="0" y="50135"/>
                  <a:pt x="7189" y="32780"/>
                  <a:pt x="19984" y="19984"/>
                </a:cubicBezTo>
                <a:cubicBezTo>
                  <a:pt x="32780" y="7189"/>
                  <a:pt x="50135" y="0"/>
                  <a:pt x="68231" y="0"/>
                </a:cubicBezTo>
                <a:close/>
              </a:path>
            </a:pathLst>
          </a:custGeom>
          <a:solidFill>
            <a:srgbClr val="0B3360"/>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84" name="Google Shape;2684;h65eb7c06466a6d01_2_869"/>
          <p:cNvSpPr/>
          <p:nvPr/>
        </p:nvSpPr>
        <p:spPr>
          <a:xfrm>
            <a:off x="4940792" y="1281800"/>
            <a:ext cx="2269200" cy="29673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85" name="Google Shape;2685;h65eb7c06466a6d01_2_869"/>
          <p:cNvSpPr/>
          <p:nvPr/>
        </p:nvSpPr>
        <p:spPr>
          <a:xfrm>
            <a:off x="5086662" y="1715117"/>
            <a:ext cx="1975754" cy="366652"/>
          </a:xfrm>
          <a:custGeom>
            <a:rect b="b" l="l" r="r" t="t"/>
            <a:pathLst>
              <a:path extrusionOk="0" h="549291" w="2959931">
                <a:moveTo>
                  <a:pt x="0" y="0"/>
                </a:moveTo>
                <a:lnTo>
                  <a:pt x="2959931" y="0"/>
                </a:lnTo>
                <a:lnTo>
                  <a:pt x="2959931" y="549292"/>
                </a:lnTo>
                <a:lnTo>
                  <a:pt x="0" y="549292"/>
                </a:lnTo>
                <a:lnTo>
                  <a:pt x="0" y="0"/>
                </a:lnTo>
                <a:close/>
              </a:path>
            </a:pathLst>
          </a:custGeom>
          <a:blipFill rotWithShape="1">
            <a:blip r:embed="rId9">
              <a:alphaModFix/>
            </a:blip>
            <a:stretch>
              <a:fillRect b="-21650" l="-1510" r="0" t="-21640"/>
            </a:stretch>
          </a:blipFill>
          <a:ln>
            <a:noFill/>
          </a:ln>
        </p:spPr>
      </p:sp>
      <p:sp>
        <p:nvSpPr>
          <p:cNvPr id="2686" name="Google Shape;2686;h65eb7c06466a6d01_2_869"/>
          <p:cNvSpPr/>
          <p:nvPr/>
        </p:nvSpPr>
        <p:spPr>
          <a:xfrm>
            <a:off x="5043290" y="2130628"/>
            <a:ext cx="2076300" cy="1594500"/>
          </a:xfrm>
          <a:prstGeom prst="rect">
            <a:avLst/>
          </a:prstGeom>
          <a:noFill/>
          <a:ln>
            <a:noFill/>
          </a:ln>
        </p:spPr>
        <p:txBody>
          <a:bodyPr anchorCtr="0" anchor="t" bIns="0" lIns="0" spcFirstLastPara="1" rIns="0" wrap="square" tIns="0">
            <a:noAutofit/>
          </a:bodyPr>
          <a:lstStyle/>
          <a:p>
            <a:pPr indent="0" lvl="0" marL="0" marR="0" rtl="0" algn="just">
              <a:lnSpc>
                <a:spcPct val="129986"/>
              </a:lnSpc>
              <a:spcBef>
                <a:spcPts val="0"/>
              </a:spcBef>
              <a:spcAft>
                <a:spcPts val="0"/>
              </a:spcAft>
              <a:buClr>
                <a:srgbClr val="FFFFFF"/>
              </a:buClr>
              <a:buSzPts val="900"/>
              <a:buFont typeface="Arial"/>
              <a:buNone/>
            </a:pPr>
            <a:r>
              <a:rPr lang="en-US" sz="900">
                <a:solidFill>
                  <a:srgbClr val="FFFFFF"/>
                </a:solidFill>
                <a:latin typeface="Arial"/>
                <a:ea typeface="Arial"/>
                <a:cs typeface="Arial"/>
                <a:sym typeface="Arial"/>
              </a:rPr>
              <a:t>Kerja sama dengan Sanggabiz sangat menyenangkan. Timnya cepat tanggap, responsif, dan selalu membantu. Koordinasinya juga mudah. - Anissa (Kemitraan)</a:t>
            </a:r>
            <a:endParaRPr sz="900"/>
          </a:p>
        </p:txBody>
      </p:sp>
      <p:sp>
        <p:nvSpPr>
          <p:cNvPr id="2687" name="Google Shape;2687;h65eb7c06466a6d01_2_869"/>
          <p:cNvSpPr/>
          <p:nvPr/>
        </p:nvSpPr>
        <p:spPr>
          <a:xfrm>
            <a:off x="5027489" y="1154125"/>
            <a:ext cx="1968446" cy="418215"/>
          </a:xfrm>
          <a:custGeom>
            <a:rect b="b" l="l" r="r" t="t"/>
            <a:pathLst>
              <a:path extrusionOk="0" h="119490" w="562413">
                <a:moveTo>
                  <a:pt x="59745" y="0"/>
                </a:moveTo>
                <a:lnTo>
                  <a:pt x="502668" y="0"/>
                </a:lnTo>
                <a:cubicBezTo>
                  <a:pt x="518514" y="0"/>
                  <a:pt x="533710" y="6295"/>
                  <a:pt x="544914" y="17499"/>
                </a:cubicBezTo>
                <a:cubicBezTo>
                  <a:pt x="556119" y="28703"/>
                  <a:pt x="562413" y="43900"/>
                  <a:pt x="562413" y="59745"/>
                </a:cubicBezTo>
                <a:lnTo>
                  <a:pt x="562413" y="59745"/>
                </a:lnTo>
                <a:cubicBezTo>
                  <a:pt x="562413" y="92741"/>
                  <a:pt x="535665" y="119490"/>
                  <a:pt x="502668" y="119490"/>
                </a:cubicBezTo>
                <a:lnTo>
                  <a:pt x="59745" y="119490"/>
                </a:lnTo>
                <a:cubicBezTo>
                  <a:pt x="43900" y="119490"/>
                  <a:pt x="28703" y="113195"/>
                  <a:pt x="17499" y="101991"/>
                </a:cubicBezTo>
                <a:cubicBezTo>
                  <a:pt x="6295" y="90787"/>
                  <a:pt x="0" y="75590"/>
                  <a:pt x="0" y="59745"/>
                </a:cubicBezTo>
                <a:lnTo>
                  <a:pt x="0" y="59745"/>
                </a:lnTo>
                <a:cubicBezTo>
                  <a:pt x="0" y="43900"/>
                  <a:pt x="6295" y="28703"/>
                  <a:pt x="17499" y="17499"/>
                </a:cubicBezTo>
                <a:cubicBezTo>
                  <a:pt x="28703" y="6295"/>
                  <a:pt x="43900" y="0"/>
                  <a:pt x="59745" y="0"/>
                </a:cubicBezTo>
                <a:close/>
              </a:path>
            </a:pathLst>
          </a:custGeom>
          <a:solidFill>
            <a:srgbClr val="FFC00C"/>
          </a:solidFill>
          <a:ln cap="flat" cmpd="sng" w="38100">
            <a:solidFill>
              <a:srgbClr val="FFFFFF"/>
            </a:solidFill>
            <a:prstDash val="solid"/>
            <a:round/>
            <a:headEnd len="sm" w="sm" type="none"/>
            <a:tailEnd len="sm" w="sm" type="none"/>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88" name="Google Shape;2688;h65eb7c06466a6d01_2_869"/>
          <p:cNvSpPr/>
          <p:nvPr/>
        </p:nvSpPr>
        <p:spPr>
          <a:xfrm>
            <a:off x="5027489" y="1087432"/>
            <a:ext cx="1968600" cy="485100"/>
          </a:xfrm>
          <a:prstGeom prst="rect">
            <a:avLst/>
          </a:prstGeom>
          <a:noFill/>
          <a:ln>
            <a:noFill/>
          </a:ln>
        </p:spPr>
        <p:txBody>
          <a:bodyPr anchorCtr="0" anchor="ctr" bIns="71725" lIns="71725" spcFirstLastPara="1" rIns="71725" wrap="square" tIns="71725">
            <a:noAutofit/>
          </a:bodyPr>
          <a:lstStyle/>
          <a:p>
            <a:pPr indent="0" lvl="0" marL="0" marR="0" rtl="0" algn="ctr">
              <a:lnSpc>
                <a:spcPct val="106444"/>
              </a:lnSpc>
              <a:spcBef>
                <a:spcPts val="0"/>
              </a:spcBef>
              <a:spcAft>
                <a:spcPts val="0"/>
              </a:spcAft>
              <a:buSzPts val="1200"/>
              <a:buFont typeface="Arial"/>
              <a:buNone/>
            </a:pPr>
            <a:r>
              <a:t/>
            </a:r>
            <a:endParaRPr sz="1200"/>
          </a:p>
        </p:txBody>
      </p:sp>
      <p:sp>
        <p:nvSpPr>
          <p:cNvPr id="2689" name="Google Shape;2689;h65eb7c06466a6d01_2_869"/>
          <p:cNvSpPr/>
          <p:nvPr/>
        </p:nvSpPr>
        <p:spPr>
          <a:xfrm>
            <a:off x="4904114" y="1206133"/>
            <a:ext cx="2215500" cy="247200"/>
          </a:xfrm>
          <a:prstGeom prst="rect">
            <a:avLst/>
          </a:prstGeom>
          <a:noFill/>
          <a:ln>
            <a:noFill/>
          </a:ln>
        </p:spPr>
        <p:txBody>
          <a:bodyPr anchorCtr="0" anchor="t" bIns="0" lIns="0" spcFirstLastPara="1" rIns="0" wrap="square" tIns="0">
            <a:noAutofit/>
          </a:bodyPr>
          <a:lstStyle/>
          <a:p>
            <a:pPr indent="0" lvl="0" marL="0" marR="0" rtl="0" algn="ctr">
              <a:lnSpc>
                <a:spcPct val="124030"/>
              </a:lnSpc>
              <a:spcBef>
                <a:spcPts val="0"/>
              </a:spcBef>
              <a:spcAft>
                <a:spcPts val="0"/>
              </a:spcAft>
              <a:buClr>
                <a:srgbClr val="000000"/>
              </a:buClr>
              <a:buSzPts val="1300"/>
              <a:buFont typeface="Arial"/>
              <a:buNone/>
            </a:pPr>
            <a:r>
              <a:rPr b="1" lang="en-US" sz="1300">
                <a:solidFill>
                  <a:srgbClr val="000000"/>
                </a:solidFill>
                <a:latin typeface="Arial"/>
                <a:ea typeface="Arial"/>
                <a:cs typeface="Arial"/>
                <a:sym typeface="Arial"/>
              </a:rPr>
              <a:t>Kasir Pintar</a:t>
            </a:r>
            <a:endParaRPr sz="900"/>
          </a:p>
        </p:txBody>
      </p:sp>
      <p:sp>
        <p:nvSpPr>
          <p:cNvPr id="2690" name="Google Shape;2690;h65eb7c06466a6d01_2_869"/>
          <p:cNvSpPr/>
          <p:nvPr/>
        </p:nvSpPr>
        <p:spPr>
          <a:xfrm>
            <a:off x="3287738" y="55526"/>
            <a:ext cx="5941800" cy="7965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4100"/>
              <a:buFont typeface="Arial"/>
              <a:buNone/>
            </a:pPr>
            <a:r>
              <a:rPr b="1" lang="en-US" sz="4100">
                <a:solidFill>
                  <a:srgbClr val="FFFFFF"/>
                </a:solidFill>
                <a:latin typeface="Arial"/>
                <a:ea typeface="Arial"/>
                <a:cs typeface="Arial"/>
                <a:sym typeface="Arial"/>
              </a:rPr>
              <a:t>Kisah Sukses</a:t>
            </a:r>
            <a:endParaRPr sz="900"/>
          </a:p>
        </p:txBody>
      </p:sp>
      <p:sp>
        <p:nvSpPr>
          <p:cNvPr id="2691" name="Google Shape;2691;h65eb7c06466a6d01_2_869"/>
          <p:cNvSpPr/>
          <p:nvPr/>
        </p:nvSpPr>
        <p:spPr>
          <a:xfrm>
            <a:off x="1468654" y="4395135"/>
            <a:ext cx="8929106" cy="2318955"/>
          </a:xfrm>
          <a:custGeom>
            <a:rect b="b" l="l" r="r" t="t"/>
            <a:pathLst>
              <a:path extrusionOk="0" h="1920460" w="7394705">
                <a:moveTo>
                  <a:pt x="25425" y="0"/>
                </a:moveTo>
                <a:lnTo>
                  <a:pt x="7369280" y="0"/>
                </a:lnTo>
                <a:cubicBezTo>
                  <a:pt x="7376023" y="0"/>
                  <a:pt x="7382490" y="2679"/>
                  <a:pt x="7387258" y="7447"/>
                </a:cubicBezTo>
                <a:cubicBezTo>
                  <a:pt x="7392026" y="12215"/>
                  <a:pt x="7394705" y="18682"/>
                  <a:pt x="7394705" y="25425"/>
                </a:cubicBezTo>
                <a:lnTo>
                  <a:pt x="7394705" y="1895035"/>
                </a:lnTo>
                <a:cubicBezTo>
                  <a:pt x="7394705" y="1901778"/>
                  <a:pt x="7392026" y="1908245"/>
                  <a:pt x="7387258" y="1913013"/>
                </a:cubicBezTo>
                <a:cubicBezTo>
                  <a:pt x="7382490" y="1917781"/>
                  <a:pt x="7376023" y="1920460"/>
                  <a:pt x="7369280" y="1920460"/>
                </a:cubicBezTo>
                <a:lnTo>
                  <a:pt x="25425" y="1920460"/>
                </a:lnTo>
                <a:cubicBezTo>
                  <a:pt x="18682" y="1920460"/>
                  <a:pt x="12215" y="1917781"/>
                  <a:pt x="7447" y="1913013"/>
                </a:cubicBezTo>
                <a:cubicBezTo>
                  <a:pt x="2679" y="1908245"/>
                  <a:pt x="0" y="1901778"/>
                  <a:pt x="0" y="1895035"/>
                </a:cubicBezTo>
                <a:lnTo>
                  <a:pt x="0" y="25425"/>
                </a:lnTo>
                <a:cubicBezTo>
                  <a:pt x="0" y="18682"/>
                  <a:pt x="2679" y="12215"/>
                  <a:pt x="7447" y="7447"/>
                </a:cubicBezTo>
                <a:cubicBezTo>
                  <a:pt x="12215" y="2679"/>
                  <a:pt x="18682" y="0"/>
                  <a:pt x="25425" y="0"/>
                </a:cubicBezTo>
                <a:close/>
              </a:path>
            </a:pathLst>
          </a:custGeom>
          <a:solidFill>
            <a:srgbClr val="FFFFFF"/>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692" name="Google Shape;2692;h65eb7c06466a6d01_2_869"/>
          <p:cNvSpPr/>
          <p:nvPr/>
        </p:nvSpPr>
        <p:spPr>
          <a:xfrm>
            <a:off x="1468654" y="4360620"/>
            <a:ext cx="8931900" cy="2354400"/>
          </a:xfrm>
          <a:prstGeom prst="rect">
            <a:avLst/>
          </a:prstGeom>
          <a:noFill/>
          <a:ln>
            <a:noFill/>
          </a:ln>
        </p:spPr>
        <p:txBody>
          <a:bodyPr anchorCtr="0" anchor="ctr" bIns="11675" lIns="11675" spcFirstLastPara="1" rIns="11675" wrap="square" tIns="11675">
            <a:noAutofit/>
          </a:bodyPr>
          <a:lstStyle/>
          <a:p>
            <a:pPr indent="0" lvl="0" marL="0" marR="0" rtl="0" algn="ctr">
              <a:lnSpc>
                <a:spcPct val="60833"/>
              </a:lnSpc>
              <a:spcBef>
                <a:spcPts val="0"/>
              </a:spcBef>
              <a:spcAft>
                <a:spcPts val="0"/>
              </a:spcAft>
              <a:buSzPts val="1200"/>
              <a:buFont typeface="Arial"/>
              <a:buNone/>
            </a:pPr>
            <a:r>
              <a:t/>
            </a:r>
            <a:endParaRPr sz="1200"/>
          </a:p>
        </p:txBody>
      </p:sp>
      <p:sp>
        <p:nvSpPr>
          <p:cNvPr id="2693" name="Google Shape;2693;h65eb7c06466a6d01_2_869"/>
          <p:cNvSpPr/>
          <p:nvPr/>
        </p:nvSpPr>
        <p:spPr>
          <a:xfrm>
            <a:off x="2964172" y="6183380"/>
            <a:ext cx="1179534" cy="389246"/>
          </a:xfrm>
          <a:custGeom>
            <a:rect b="b" l="l" r="r" t="t"/>
            <a:pathLst>
              <a:path extrusionOk="0" h="583140" w="1767092">
                <a:moveTo>
                  <a:pt x="0" y="0"/>
                </a:moveTo>
                <a:lnTo>
                  <a:pt x="1767092" y="0"/>
                </a:lnTo>
                <a:lnTo>
                  <a:pt x="1767092" y="583140"/>
                </a:lnTo>
                <a:lnTo>
                  <a:pt x="0" y="583140"/>
                </a:lnTo>
                <a:lnTo>
                  <a:pt x="0" y="0"/>
                </a:lnTo>
                <a:close/>
              </a:path>
            </a:pathLst>
          </a:custGeom>
          <a:blipFill rotWithShape="1">
            <a:blip r:embed="rId10">
              <a:alphaModFix/>
            </a:blip>
            <a:stretch>
              <a:fillRect b="0" l="0" r="0" t="0"/>
            </a:stretch>
          </a:blipFill>
          <a:ln>
            <a:noFill/>
          </a:ln>
        </p:spPr>
      </p:sp>
      <p:sp>
        <p:nvSpPr>
          <p:cNvPr id="2694" name="Google Shape;2694;h65eb7c06466a6d01_2_869"/>
          <p:cNvSpPr/>
          <p:nvPr/>
        </p:nvSpPr>
        <p:spPr>
          <a:xfrm>
            <a:off x="1500075" y="5024397"/>
            <a:ext cx="1117187" cy="543464"/>
          </a:xfrm>
          <a:custGeom>
            <a:rect b="b" l="l" r="r" t="t"/>
            <a:pathLst>
              <a:path extrusionOk="0" h="814179" w="1673688">
                <a:moveTo>
                  <a:pt x="0" y="0"/>
                </a:moveTo>
                <a:lnTo>
                  <a:pt x="1673688" y="0"/>
                </a:lnTo>
                <a:lnTo>
                  <a:pt x="1673688" y="814180"/>
                </a:lnTo>
                <a:lnTo>
                  <a:pt x="0" y="814180"/>
                </a:lnTo>
                <a:lnTo>
                  <a:pt x="0" y="0"/>
                </a:lnTo>
                <a:close/>
              </a:path>
            </a:pathLst>
          </a:custGeom>
          <a:blipFill rotWithShape="1">
            <a:blip r:embed="rId11">
              <a:alphaModFix/>
            </a:blip>
            <a:stretch>
              <a:fillRect b="-11979" l="0" r="0" t="-11979"/>
            </a:stretch>
          </a:blipFill>
          <a:ln>
            <a:noFill/>
          </a:ln>
        </p:spPr>
      </p:sp>
      <p:sp>
        <p:nvSpPr>
          <p:cNvPr id="2695" name="Google Shape;2695;h65eb7c06466a6d01_2_869"/>
          <p:cNvSpPr/>
          <p:nvPr/>
        </p:nvSpPr>
        <p:spPr>
          <a:xfrm>
            <a:off x="8069044" y="5128399"/>
            <a:ext cx="923666" cy="335202"/>
          </a:xfrm>
          <a:custGeom>
            <a:rect b="b" l="l" r="r" t="t"/>
            <a:pathLst>
              <a:path extrusionOk="0" h="502175" w="1383770">
                <a:moveTo>
                  <a:pt x="0" y="0"/>
                </a:moveTo>
                <a:lnTo>
                  <a:pt x="1383770" y="0"/>
                </a:lnTo>
                <a:lnTo>
                  <a:pt x="1383770" y="502174"/>
                </a:lnTo>
                <a:lnTo>
                  <a:pt x="0" y="502174"/>
                </a:lnTo>
                <a:lnTo>
                  <a:pt x="0" y="0"/>
                </a:lnTo>
                <a:close/>
              </a:path>
            </a:pathLst>
          </a:custGeom>
          <a:blipFill rotWithShape="1">
            <a:blip r:embed="rId12">
              <a:alphaModFix/>
            </a:blip>
            <a:stretch>
              <a:fillRect b="0" l="0" r="0" t="0"/>
            </a:stretch>
          </a:blipFill>
          <a:ln>
            <a:noFill/>
          </a:ln>
        </p:spPr>
      </p:sp>
      <p:sp>
        <p:nvSpPr>
          <p:cNvPr id="2696" name="Google Shape;2696;h65eb7c06466a6d01_2_869"/>
          <p:cNvSpPr/>
          <p:nvPr/>
        </p:nvSpPr>
        <p:spPr>
          <a:xfrm>
            <a:off x="2478087" y="5689767"/>
            <a:ext cx="825259" cy="418819"/>
          </a:xfrm>
          <a:custGeom>
            <a:rect b="b" l="l" r="r" t="t"/>
            <a:pathLst>
              <a:path extrusionOk="0" h="627444" w="1236343">
                <a:moveTo>
                  <a:pt x="0" y="0"/>
                </a:moveTo>
                <a:lnTo>
                  <a:pt x="1236343" y="0"/>
                </a:lnTo>
                <a:lnTo>
                  <a:pt x="1236343" y="627444"/>
                </a:lnTo>
                <a:lnTo>
                  <a:pt x="0" y="627444"/>
                </a:lnTo>
                <a:lnTo>
                  <a:pt x="0" y="0"/>
                </a:lnTo>
                <a:close/>
              </a:path>
            </a:pathLst>
          </a:custGeom>
          <a:blipFill rotWithShape="1">
            <a:blip r:embed="rId13">
              <a:alphaModFix/>
            </a:blip>
            <a:stretch>
              <a:fillRect b="0" l="0" r="0" t="0"/>
            </a:stretch>
          </a:blipFill>
          <a:ln>
            <a:noFill/>
          </a:ln>
        </p:spPr>
      </p:sp>
      <p:sp>
        <p:nvSpPr>
          <p:cNvPr id="2697" name="Google Shape;2697;h65eb7c06466a6d01_2_869"/>
          <p:cNvSpPr/>
          <p:nvPr/>
        </p:nvSpPr>
        <p:spPr>
          <a:xfrm>
            <a:off x="8626578" y="5930066"/>
            <a:ext cx="794144" cy="794144"/>
          </a:xfrm>
          <a:custGeom>
            <a:rect b="b" l="l" r="r" t="t"/>
            <a:pathLst>
              <a:path extrusionOk="0" h="1189729" w="1189729">
                <a:moveTo>
                  <a:pt x="0" y="0"/>
                </a:moveTo>
                <a:lnTo>
                  <a:pt x="1189729" y="0"/>
                </a:lnTo>
                <a:lnTo>
                  <a:pt x="1189729" y="1189729"/>
                </a:lnTo>
                <a:lnTo>
                  <a:pt x="0" y="1189729"/>
                </a:lnTo>
                <a:lnTo>
                  <a:pt x="0" y="0"/>
                </a:lnTo>
                <a:close/>
              </a:path>
            </a:pathLst>
          </a:custGeom>
          <a:blipFill rotWithShape="1">
            <a:blip r:embed="rId14">
              <a:alphaModFix/>
            </a:blip>
            <a:stretch>
              <a:fillRect b="0" l="0" r="0" t="0"/>
            </a:stretch>
          </a:blipFill>
          <a:ln>
            <a:noFill/>
          </a:ln>
        </p:spPr>
      </p:sp>
      <p:sp>
        <p:nvSpPr>
          <p:cNvPr id="2698" name="Google Shape;2698;h65eb7c06466a6d01_2_869"/>
          <p:cNvSpPr/>
          <p:nvPr/>
        </p:nvSpPr>
        <p:spPr>
          <a:xfrm>
            <a:off x="4924842" y="5626306"/>
            <a:ext cx="1882378" cy="482360"/>
          </a:xfrm>
          <a:custGeom>
            <a:rect b="b" l="l" r="r" t="t"/>
            <a:pathLst>
              <a:path extrusionOk="0" h="722636" w="2820042">
                <a:moveTo>
                  <a:pt x="0" y="0"/>
                </a:moveTo>
                <a:lnTo>
                  <a:pt x="2820042" y="0"/>
                </a:lnTo>
                <a:lnTo>
                  <a:pt x="2820042" y="722636"/>
                </a:lnTo>
                <a:lnTo>
                  <a:pt x="0" y="722636"/>
                </a:lnTo>
                <a:lnTo>
                  <a:pt x="0" y="0"/>
                </a:lnTo>
                <a:close/>
              </a:path>
            </a:pathLst>
          </a:custGeom>
          <a:blipFill rotWithShape="1">
            <a:blip r:embed="rId15">
              <a:alphaModFix/>
            </a:blip>
            <a:stretch>
              <a:fillRect b="0" l="0" r="0" t="0"/>
            </a:stretch>
          </a:blipFill>
          <a:ln>
            <a:noFill/>
          </a:ln>
        </p:spPr>
      </p:sp>
      <p:sp>
        <p:nvSpPr>
          <p:cNvPr id="2699" name="Google Shape;2699;h65eb7c06466a6d01_2_869"/>
          <p:cNvSpPr/>
          <p:nvPr/>
        </p:nvSpPr>
        <p:spPr>
          <a:xfrm>
            <a:off x="1268424" y="4438048"/>
            <a:ext cx="9229800" cy="424500"/>
          </a:xfrm>
          <a:prstGeom prst="rect">
            <a:avLst/>
          </a:prstGeom>
          <a:noFill/>
          <a:ln>
            <a:noFill/>
          </a:ln>
        </p:spPr>
        <p:txBody>
          <a:bodyPr anchorCtr="0" anchor="t" bIns="0" lIns="0" spcFirstLastPara="1" rIns="0" wrap="square" tIns="0">
            <a:noAutofit/>
          </a:bodyPr>
          <a:lstStyle/>
          <a:p>
            <a:pPr indent="0" lvl="0" marL="0" marR="0" rtl="0" algn="ctr">
              <a:lnSpc>
                <a:spcPct val="140011"/>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Kembangkan Bisnis Anda Bersama Kami</a:t>
            </a:r>
            <a:endParaRPr sz="900"/>
          </a:p>
        </p:txBody>
      </p:sp>
      <p:sp>
        <p:nvSpPr>
          <p:cNvPr id="2700" name="Google Shape;2700;h65eb7c06466a6d01_2_869"/>
          <p:cNvSpPr/>
          <p:nvPr/>
        </p:nvSpPr>
        <p:spPr>
          <a:xfrm>
            <a:off x="8918840" y="4878229"/>
            <a:ext cx="1444535" cy="707220"/>
          </a:xfrm>
          <a:custGeom>
            <a:rect b="b" l="l" r="r" t="t"/>
            <a:pathLst>
              <a:path extrusionOk="0" h="1059506" w="2164098">
                <a:moveTo>
                  <a:pt x="0" y="0"/>
                </a:moveTo>
                <a:lnTo>
                  <a:pt x="2164098" y="0"/>
                </a:lnTo>
                <a:lnTo>
                  <a:pt x="2164098" y="1059506"/>
                </a:lnTo>
                <a:lnTo>
                  <a:pt x="0" y="1059506"/>
                </a:lnTo>
                <a:lnTo>
                  <a:pt x="0" y="0"/>
                </a:lnTo>
                <a:close/>
              </a:path>
            </a:pathLst>
          </a:custGeom>
          <a:blipFill rotWithShape="1">
            <a:blip r:embed="rId16">
              <a:alphaModFix/>
            </a:blip>
            <a:stretch>
              <a:fillRect b="-25979" l="-11110" r="-18620" t="-23070"/>
            </a:stretch>
          </a:blipFill>
          <a:ln>
            <a:noFill/>
          </a:ln>
        </p:spPr>
      </p:sp>
      <p:sp>
        <p:nvSpPr>
          <p:cNvPr id="2701" name="Google Shape;2701;h65eb7c06466a6d01_2_869"/>
          <p:cNvSpPr/>
          <p:nvPr/>
        </p:nvSpPr>
        <p:spPr>
          <a:xfrm>
            <a:off x="2509682" y="4923974"/>
            <a:ext cx="824025" cy="735267"/>
          </a:xfrm>
          <a:custGeom>
            <a:rect b="b" l="l" r="r" t="t"/>
            <a:pathLst>
              <a:path extrusionOk="0" h="1101523" w="1234494">
                <a:moveTo>
                  <a:pt x="0" y="0"/>
                </a:moveTo>
                <a:lnTo>
                  <a:pt x="1234493" y="0"/>
                </a:lnTo>
                <a:lnTo>
                  <a:pt x="1234493" y="1101523"/>
                </a:lnTo>
                <a:lnTo>
                  <a:pt x="0" y="1101523"/>
                </a:lnTo>
                <a:lnTo>
                  <a:pt x="0" y="0"/>
                </a:lnTo>
                <a:close/>
              </a:path>
            </a:pathLst>
          </a:custGeom>
          <a:blipFill rotWithShape="1">
            <a:blip r:embed="rId17">
              <a:alphaModFix/>
            </a:blip>
            <a:stretch>
              <a:fillRect b="0" l="-680" r="0" t="0"/>
            </a:stretch>
          </a:blipFill>
          <a:ln>
            <a:noFill/>
          </a:ln>
        </p:spPr>
      </p:sp>
      <p:sp>
        <p:nvSpPr>
          <p:cNvPr id="2702" name="Google Shape;2702;h65eb7c06466a6d01_2_869"/>
          <p:cNvSpPr/>
          <p:nvPr/>
        </p:nvSpPr>
        <p:spPr>
          <a:xfrm>
            <a:off x="1394078" y="5632157"/>
            <a:ext cx="1166316" cy="496649"/>
          </a:xfrm>
          <a:custGeom>
            <a:rect b="b" l="l" r="r" t="t"/>
            <a:pathLst>
              <a:path extrusionOk="0" h="744043" w="1747290">
                <a:moveTo>
                  <a:pt x="0" y="0"/>
                </a:moveTo>
                <a:lnTo>
                  <a:pt x="1747290" y="0"/>
                </a:lnTo>
                <a:lnTo>
                  <a:pt x="1747290" y="744043"/>
                </a:lnTo>
                <a:lnTo>
                  <a:pt x="0" y="744043"/>
                </a:lnTo>
                <a:lnTo>
                  <a:pt x="0" y="0"/>
                </a:lnTo>
                <a:close/>
              </a:path>
            </a:pathLst>
          </a:custGeom>
          <a:blipFill rotWithShape="1">
            <a:blip r:embed="rId18">
              <a:alphaModFix/>
            </a:blip>
            <a:stretch>
              <a:fillRect b="-66632" l="0" r="-820" t="-70122"/>
            </a:stretch>
          </a:blipFill>
          <a:ln>
            <a:noFill/>
          </a:ln>
        </p:spPr>
      </p:sp>
      <p:sp>
        <p:nvSpPr>
          <p:cNvPr id="2703" name="Google Shape;2703;h65eb7c06466a6d01_2_869"/>
          <p:cNvSpPr/>
          <p:nvPr/>
        </p:nvSpPr>
        <p:spPr>
          <a:xfrm>
            <a:off x="1548678" y="6108063"/>
            <a:ext cx="1614463" cy="496447"/>
          </a:xfrm>
          <a:custGeom>
            <a:rect b="b" l="l" r="r" t="t"/>
            <a:pathLst>
              <a:path extrusionOk="0" h="743741" w="2418671">
                <a:moveTo>
                  <a:pt x="0" y="0"/>
                </a:moveTo>
                <a:lnTo>
                  <a:pt x="2418671" y="0"/>
                </a:lnTo>
                <a:lnTo>
                  <a:pt x="2418671" y="743741"/>
                </a:lnTo>
                <a:lnTo>
                  <a:pt x="0" y="743741"/>
                </a:lnTo>
                <a:lnTo>
                  <a:pt x="0" y="0"/>
                </a:lnTo>
                <a:close/>
              </a:path>
            </a:pathLst>
          </a:custGeom>
          <a:blipFill rotWithShape="1">
            <a:blip r:embed="rId19">
              <a:alphaModFix/>
            </a:blip>
            <a:stretch>
              <a:fillRect b="0" l="0" r="0" t="0"/>
            </a:stretch>
          </a:blipFill>
          <a:ln>
            <a:noFill/>
          </a:ln>
        </p:spPr>
      </p:sp>
      <p:sp>
        <p:nvSpPr>
          <p:cNvPr id="2704" name="Google Shape;2704;h65eb7c06466a6d01_2_869"/>
          <p:cNvSpPr/>
          <p:nvPr/>
        </p:nvSpPr>
        <p:spPr>
          <a:xfrm>
            <a:off x="6804820" y="5584566"/>
            <a:ext cx="654291" cy="509341"/>
          </a:xfrm>
          <a:custGeom>
            <a:rect b="b" l="l" r="r" t="t"/>
            <a:pathLst>
              <a:path extrusionOk="0" h="763057" w="980211">
                <a:moveTo>
                  <a:pt x="0" y="0"/>
                </a:moveTo>
                <a:lnTo>
                  <a:pt x="980212" y="0"/>
                </a:lnTo>
                <a:lnTo>
                  <a:pt x="980212" y="763057"/>
                </a:lnTo>
                <a:lnTo>
                  <a:pt x="0" y="763057"/>
                </a:lnTo>
                <a:lnTo>
                  <a:pt x="0" y="0"/>
                </a:lnTo>
                <a:close/>
              </a:path>
            </a:pathLst>
          </a:custGeom>
          <a:blipFill rotWithShape="1">
            <a:blip r:embed="rId7">
              <a:alphaModFix/>
            </a:blip>
            <a:stretch>
              <a:fillRect b="0" l="0" r="0" t="0"/>
            </a:stretch>
          </a:blipFill>
          <a:ln>
            <a:noFill/>
          </a:ln>
        </p:spPr>
      </p:sp>
      <p:sp>
        <p:nvSpPr>
          <p:cNvPr id="2705" name="Google Shape;2705;h65eb7c06466a6d01_2_869"/>
          <p:cNvSpPr/>
          <p:nvPr/>
        </p:nvSpPr>
        <p:spPr>
          <a:xfrm>
            <a:off x="5712547" y="6190429"/>
            <a:ext cx="1684740" cy="312647"/>
          </a:xfrm>
          <a:custGeom>
            <a:rect b="b" l="l" r="r" t="t"/>
            <a:pathLst>
              <a:path extrusionOk="0" h="468385" w="2523955">
                <a:moveTo>
                  <a:pt x="0" y="0"/>
                </a:moveTo>
                <a:lnTo>
                  <a:pt x="2523955" y="0"/>
                </a:lnTo>
                <a:lnTo>
                  <a:pt x="2523955" y="468385"/>
                </a:lnTo>
                <a:lnTo>
                  <a:pt x="0" y="468385"/>
                </a:lnTo>
                <a:lnTo>
                  <a:pt x="0" y="0"/>
                </a:lnTo>
                <a:close/>
              </a:path>
            </a:pathLst>
          </a:custGeom>
          <a:blipFill rotWithShape="1">
            <a:blip r:embed="rId20">
              <a:alphaModFix/>
            </a:blip>
            <a:stretch>
              <a:fillRect b="-21650" l="-1510" r="0" t="-21640"/>
            </a:stretch>
          </a:blipFill>
          <a:ln>
            <a:noFill/>
          </a:ln>
        </p:spPr>
      </p:sp>
      <p:sp>
        <p:nvSpPr>
          <p:cNvPr id="2706" name="Google Shape;2706;h65eb7c06466a6d01_2_869"/>
          <p:cNvSpPr/>
          <p:nvPr/>
        </p:nvSpPr>
        <p:spPr>
          <a:xfrm>
            <a:off x="8913333" y="5618644"/>
            <a:ext cx="1450050" cy="329887"/>
          </a:xfrm>
          <a:custGeom>
            <a:rect b="b" l="l" r="r" t="t"/>
            <a:pathLst>
              <a:path extrusionOk="0" h="494212" w="2172359">
                <a:moveTo>
                  <a:pt x="0" y="0"/>
                </a:moveTo>
                <a:lnTo>
                  <a:pt x="2172359" y="0"/>
                </a:lnTo>
                <a:lnTo>
                  <a:pt x="2172359" y="494212"/>
                </a:lnTo>
                <a:lnTo>
                  <a:pt x="0" y="494212"/>
                </a:lnTo>
                <a:lnTo>
                  <a:pt x="0" y="0"/>
                </a:lnTo>
                <a:close/>
              </a:path>
            </a:pathLst>
          </a:custGeom>
          <a:blipFill rotWithShape="1">
            <a:blip r:embed="rId21">
              <a:alphaModFix/>
            </a:blip>
            <a:stretch>
              <a:fillRect b="0" l="0" r="0" t="0"/>
            </a:stretch>
          </a:blipFill>
          <a:ln>
            <a:noFill/>
          </a:ln>
        </p:spPr>
      </p:sp>
      <p:sp>
        <p:nvSpPr>
          <p:cNvPr id="2707" name="Google Shape;2707;h65eb7c06466a6d01_2_869"/>
          <p:cNvSpPr/>
          <p:nvPr/>
        </p:nvSpPr>
        <p:spPr>
          <a:xfrm>
            <a:off x="3302294" y="5104528"/>
            <a:ext cx="655664" cy="373707"/>
          </a:xfrm>
          <a:custGeom>
            <a:rect b="b" l="l" r="r" t="t"/>
            <a:pathLst>
              <a:path extrusionOk="0" h="559860" w="982268">
                <a:moveTo>
                  <a:pt x="0" y="0"/>
                </a:moveTo>
                <a:lnTo>
                  <a:pt x="982267" y="0"/>
                </a:lnTo>
                <a:lnTo>
                  <a:pt x="982267" y="559861"/>
                </a:lnTo>
                <a:lnTo>
                  <a:pt x="0" y="559861"/>
                </a:lnTo>
                <a:lnTo>
                  <a:pt x="0" y="0"/>
                </a:lnTo>
                <a:close/>
              </a:path>
            </a:pathLst>
          </a:custGeom>
          <a:blipFill rotWithShape="1">
            <a:blip r:embed="rId22">
              <a:alphaModFix/>
            </a:blip>
            <a:stretch>
              <a:fillRect b="-54680" l="-14040" r="-9550" t="-62159"/>
            </a:stretch>
          </a:blipFill>
          <a:ln>
            <a:noFill/>
          </a:ln>
        </p:spPr>
      </p:sp>
      <p:sp>
        <p:nvSpPr>
          <p:cNvPr id="2708" name="Google Shape;2708;h65eb7c06466a6d01_2_869"/>
          <p:cNvSpPr/>
          <p:nvPr/>
        </p:nvSpPr>
        <p:spPr>
          <a:xfrm>
            <a:off x="5663944" y="4923974"/>
            <a:ext cx="1011277" cy="615615"/>
          </a:xfrm>
          <a:custGeom>
            <a:rect b="b" l="l" r="r" t="t"/>
            <a:pathLst>
              <a:path extrusionOk="0" h="922270" w="1515022">
                <a:moveTo>
                  <a:pt x="0" y="0"/>
                </a:moveTo>
                <a:lnTo>
                  <a:pt x="1515022" y="0"/>
                </a:lnTo>
                <a:lnTo>
                  <a:pt x="1515022" y="922270"/>
                </a:lnTo>
                <a:lnTo>
                  <a:pt x="0" y="922270"/>
                </a:lnTo>
                <a:lnTo>
                  <a:pt x="0" y="0"/>
                </a:lnTo>
                <a:close/>
              </a:path>
            </a:pathLst>
          </a:custGeom>
          <a:blipFill rotWithShape="1">
            <a:blip r:embed="rId23">
              <a:alphaModFix/>
            </a:blip>
            <a:stretch>
              <a:fillRect b="0" l="0" r="0" t="0"/>
            </a:stretch>
          </a:blipFill>
          <a:ln>
            <a:noFill/>
          </a:ln>
        </p:spPr>
      </p:sp>
      <p:sp>
        <p:nvSpPr>
          <p:cNvPr id="2709" name="Google Shape;2709;h65eb7c06466a6d01_2_869"/>
          <p:cNvSpPr/>
          <p:nvPr/>
        </p:nvSpPr>
        <p:spPr>
          <a:xfrm>
            <a:off x="3348857" y="5626306"/>
            <a:ext cx="1525276" cy="437878"/>
          </a:xfrm>
          <a:custGeom>
            <a:rect b="b" l="l" r="r" t="t"/>
            <a:pathLst>
              <a:path extrusionOk="0" h="655997" w="2285057">
                <a:moveTo>
                  <a:pt x="0" y="0"/>
                </a:moveTo>
                <a:lnTo>
                  <a:pt x="2285057" y="0"/>
                </a:lnTo>
                <a:lnTo>
                  <a:pt x="2285057" y="655997"/>
                </a:lnTo>
                <a:lnTo>
                  <a:pt x="0" y="655997"/>
                </a:lnTo>
                <a:lnTo>
                  <a:pt x="0" y="0"/>
                </a:lnTo>
                <a:close/>
              </a:path>
            </a:pathLst>
          </a:custGeom>
          <a:blipFill rotWithShape="1">
            <a:blip r:embed="rId24">
              <a:alphaModFix/>
            </a:blip>
            <a:stretch>
              <a:fillRect b="0" l="0" r="0" t="0"/>
            </a:stretch>
          </a:blipFill>
          <a:ln>
            <a:noFill/>
          </a:ln>
        </p:spPr>
      </p:sp>
      <p:sp>
        <p:nvSpPr>
          <p:cNvPr id="2710" name="Google Shape;2710;h65eb7c06466a6d01_2_869"/>
          <p:cNvSpPr/>
          <p:nvPr/>
        </p:nvSpPr>
        <p:spPr>
          <a:xfrm>
            <a:off x="6644570" y="4821208"/>
            <a:ext cx="1369514" cy="913010"/>
          </a:xfrm>
          <a:custGeom>
            <a:rect b="b" l="l" r="r" t="t"/>
            <a:pathLst>
              <a:path extrusionOk="0" h="1367805" w="2051707">
                <a:moveTo>
                  <a:pt x="0" y="0"/>
                </a:moveTo>
                <a:lnTo>
                  <a:pt x="2051708" y="0"/>
                </a:lnTo>
                <a:lnTo>
                  <a:pt x="2051708" y="1367805"/>
                </a:lnTo>
                <a:lnTo>
                  <a:pt x="0" y="1367805"/>
                </a:lnTo>
                <a:lnTo>
                  <a:pt x="0" y="0"/>
                </a:lnTo>
                <a:close/>
              </a:path>
            </a:pathLst>
          </a:custGeom>
          <a:blipFill rotWithShape="1">
            <a:blip r:embed="rId25">
              <a:alphaModFix/>
            </a:blip>
            <a:stretch>
              <a:fillRect b="0" l="0" r="0" t="0"/>
            </a:stretch>
          </a:blipFill>
          <a:ln>
            <a:noFill/>
          </a:ln>
        </p:spPr>
      </p:sp>
      <p:sp>
        <p:nvSpPr>
          <p:cNvPr id="2711" name="Google Shape;2711;h65eb7c06466a6d01_2_869"/>
          <p:cNvSpPr/>
          <p:nvPr/>
        </p:nvSpPr>
        <p:spPr>
          <a:xfrm>
            <a:off x="4705898" y="5041093"/>
            <a:ext cx="1028040" cy="578273"/>
          </a:xfrm>
          <a:custGeom>
            <a:rect b="b" l="l" r="r" t="t"/>
            <a:pathLst>
              <a:path extrusionOk="0" h="866326" w="1540135">
                <a:moveTo>
                  <a:pt x="0" y="0"/>
                </a:moveTo>
                <a:lnTo>
                  <a:pt x="1540136" y="0"/>
                </a:lnTo>
                <a:lnTo>
                  <a:pt x="1540136" y="866326"/>
                </a:lnTo>
                <a:lnTo>
                  <a:pt x="0" y="866326"/>
                </a:lnTo>
                <a:lnTo>
                  <a:pt x="0" y="0"/>
                </a:lnTo>
                <a:close/>
              </a:path>
            </a:pathLst>
          </a:custGeom>
          <a:blipFill rotWithShape="1">
            <a:blip r:embed="rId26">
              <a:alphaModFix/>
            </a:blip>
            <a:stretch>
              <a:fillRect b="0" l="0" r="0" t="0"/>
            </a:stretch>
          </a:blipFill>
          <a:ln>
            <a:noFill/>
          </a:ln>
        </p:spPr>
      </p:sp>
      <p:sp>
        <p:nvSpPr>
          <p:cNvPr id="2712" name="Google Shape;2712;h65eb7c06466a6d01_2_869"/>
          <p:cNvSpPr/>
          <p:nvPr/>
        </p:nvSpPr>
        <p:spPr>
          <a:xfrm>
            <a:off x="3982302" y="5157389"/>
            <a:ext cx="812688" cy="345393"/>
          </a:xfrm>
          <a:custGeom>
            <a:rect b="b" l="l" r="r" t="t"/>
            <a:pathLst>
              <a:path extrusionOk="0" h="517442" w="1217510">
                <a:moveTo>
                  <a:pt x="0" y="0"/>
                </a:moveTo>
                <a:lnTo>
                  <a:pt x="1217510" y="0"/>
                </a:lnTo>
                <a:lnTo>
                  <a:pt x="1217510" y="517441"/>
                </a:lnTo>
                <a:lnTo>
                  <a:pt x="0" y="517441"/>
                </a:lnTo>
                <a:lnTo>
                  <a:pt x="0" y="0"/>
                </a:lnTo>
                <a:close/>
              </a:path>
            </a:pathLst>
          </a:custGeom>
          <a:blipFill rotWithShape="1">
            <a:blip r:embed="rId27">
              <a:alphaModFix/>
            </a:blip>
            <a:stretch>
              <a:fillRect b="0" l="0" r="0" t="0"/>
            </a:stretch>
          </a:blipFill>
          <a:ln>
            <a:noFill/>
          </a:ln>
        </p:spPr>
      </p:sp>
      <p:sp>
        <p:nvSpPr>
          <p:cNvPr id="2713" name="Google Shape;2713;h65eb7c06466a6d01_2_869"/>
          <p:cNvSpPr/>
          <p:nvPr/>
        </p:nvSpPr>
        <p:spPr>
          <a:xfrm>
            <a:off x="7255739" y="6168727"/>
            <a:ext cx="1463292" cy="374969"/>
          </a:xfrm>
          <a:custGeom>
            <a:rect b="b" l="l" r="r" t="t"/>
            <a:pathLst>
              <a:path extrusionOk="0" h="561751" w="2192198">
                <a:moveTo>
                  <a:pt x="0" y="0"/>
                </a:moveTo>
                <a:lnTo>
                  <a:pt x="2192199" y="0"/>
                </a:lnTo>
                <a:lnTo>
                  <a:pt x="2192199" y="561751"/>
                </a:lnTo>
                <a:lnTo>
                  <a:pt x="0" y="561751"/>
                </a:lnTo>
                <a:lnTo>
                  <a:pt x="0" y="0"/>
                </a:lnTo>
                <a:close/>
              </a:path>
            </a:pathLst>
          </a:custGeom>
          <a:blipFill rotWithShape="1">
            <a:blip r:embed="rId28">
              <a:alphaModFix/>
            </a:blip>
            <a:stretch>
              <a:fillRect b="0" l="0" r="0" t="0"/>
            </a:stretch>
          </a:blipFill>
          <a:ln>
            <a:noFill/>
          </a:ln>
        </p:spPr>
      </p:sp>
      <p:sp>
        <p:nvSpPr>
          <p:cNvPr id="2714" name="Google Shape;2714;h65eb7c06466a6d01_2_869"/>
          <p:cNvSpPr/>
          <p:nvPr/>
        </p:nvSpPr>
        <p:spPr>
          <a:xfrm>
            <a:off x="7440973" y="5584566"/>
            <a:ext cx="1462434" cy="405807"/>
          </a:xfrm>
          <a:custGeom>
            <a:rect b="b" l="l" r="r" t="t"/>
            <a:pathLst>
              <a:path extrusionOk="0" h="607950" w="2190913">
                <a:moveTo>
                  <a:pt x="0" y="0"/>
                </a:moveTo>
                <a:lnTo>
                  <a:pt x="2190913" y="0"/>
                </a:lnTo>
                <a:lnTo>
                  <a:pt x="2190913" y="607950"/>
                </a:lnTo>
                <a:lnTo>
                  <a:pt x="0" y="607950"/>
                </a:lnTo>
                <a:lnTo>
                  <a:pt x="0" y="0"/>
                </a:lnTo>
                <a:close/>
              </a:path>
            </a:pathLst>
          </a:custGeom>
          <a:blipFill rotWithShape="1">
            <a:blip r:embed="rId29">
              <a:alphaModFix/>
            </a:blip>
            <a:stretch>
              <a:fillRect b="0" l="0" r="0" t="0"/>
            </a:stretch>
          </a:blipFill>
          <a:ln>
            <a:noFill/>
          </a:ln>
        </p:spPr>
      </p:sp>
      <p:sp>
        <p:nvSpPr>
          <p:cNvPr id="2715" name="Google Shape;2715;h65eb7c06466a6d01_2_869"/>
          <p:cNvSpPr/>
          <p:nvPr/>
        </p:nvSpPr>
        <p:spPr>
          <a:xfrm>
            <a:off x="4237574" y="6168033"/>
            <a:ext cx="1408735" cy="388390"/>
          </a:xfrm>
          <a:custGeom>
            <a:rect b="b" l="l" r="r" t="t"/>
            <a:pathLst>
              <a:path extrusionOk="0" h="581857" w="2110465">
                <a:moveTo>
                  <a:pt x="0" y="0"/>
                </a:moveTo>
                <a:lnTo>
                  <a:pt x="2110465" y="0"/>
                </a:lnTo>
                <a:lnTo>
                  <a:pt x="2110465" y="581857"/>
                </a:lnTo>
                <a:lnTo>
                  <a:pt x="0" y="581857"/>
                </a:lnTo>
                <a:lnTo>
                  <a:pt x="0" y="0"/>
                </a:lnTo>
                <a:close/>
              </a:path>
            </a:pathLst>
          </a:custGeom>
          <a:blipFill rotWithShape="1">
            <a:blip r:embed="rId30">
              <a:alphaModFix/>
            </a:blip>
            <a:stretch>
              <a:fillRect b="0" l="0" r="0" t="0"/>
            </a:stretch>
          </a:blipFill>
          <a:ln>
            <a:noFill/>
          </a:ln>
        </p:spPr>
      </p:sp>
      <p:sp>
        <p:nvSpPr>
          <p:cNvPr id="2716" name="Google Shape;2716;h65eb7c06466a6d01_2_869"/>
          <p:cNvSpPr/>
          <p:nvPr/>
        </p:nvSpPr>
        <p:spPr>
          <a:xfrm>
            <a:off x="9063554" y="6036694"/>
            <a:ext cx="1298100" cy="545700"/>
          </a:xfrm>
          <a:prstGeom prst="rect">
            <a:avLst/>
          </a:prstGeom>
          <a:noFill/>
          <a:ln>
            <a:noFill/>
          </a:ln>
        </p:spPr>
        <p:txBody>
          <a:bodyPr anchorCtr="0" anchor="t" bIns="0" lIns="0" spcFirstLastPara="1" rIns="0" wrap="square" tIns="0">
            <a:noAutofit/>
          </a:bodyPr>
          <a:lstStyle/>
          <a:p>
            <a:pPr indent="0" lvl="0" marL="0" marR="0" rtl="0" algn="r">
              <a:lnSpc>
                <a:spcPct val="150023"/>
              </a:lnSpc>
              <a:spcBef>
                <a:spcPts val="0"/>
              </a:spcBef>
              <a:spcAft>
                <a:spcPts val="0"/>
              </a:spcAft>
              <a:buClr>
                <a:srgbClr val="0D2A4E"/>
              </a:buClr>
              <a:buSzPts val="1500"/>
              <a:buFont typeface="Arial"/>
              <a:buNone/>
            </a:pPr>
            <a:r>
              <a:rPr b="1" i="1" lang="en-US" sz="1500">
                <a:solidFill>
                  <a:srgbClr val="0D2A4E"/>
                </a:solidFill>
                <a:latin typeface="Arial"/>
                <a:ea typeface="Arial"/>
                <a:cs typeface="Arial"/>
                <a:sym typeface="Arial"/>
              </a:rPr>
              <a:t>dan lebih dari</a:t>
            </a:r>
            <a:endParaRPr sz="900"/>
          </a:p>
          <a:p>
            <a:pPr indent="0" lvl="0" marL="0" marR="0" rtl="0" algn="r">
              <a:lnSpc>
                <a:spcPct val="150023"/>
              </a:lnSpc>
              <a:spcBef>
                <a:spcPts val="0"/>
              </a:spcBef>
              <a:spcAft>
                <a:spcPts val="0"/>
              </a:spcAft>
              <a:buClr>
                <a:srgbClr val="0D2A4E"/>
              </a:buClr>
              <a:buSzPts val="1500"/>
              <a:buFont typeface="Arial"/>
              <a:buNone/>
            </a:pPr>
            <a:r>
              <a:rPr b="1" i="1" lang="en-US" sz="1500">
                <a:solidFill>
                  <a:srgbClr val="0D2A4E"/>
                </a:solidFill>
                <a:latin typeface="Arial"/>
                <a:ea typeface="Arial"/>
                <a:cs typeface="Arial"/>
                <a:sym typeface="Arial"/>
              </a:rPr>
              <a:t>75 Klien Lainnya</a:t>
            </a:r>
            <a:endParaRPr sz="900"/>
          </a:p>
        </p:txBody>
      </p:sp>
      <p:sp>
        <p:nvSpPr>
          <p:cNvPr id="2717" name="Google Shape;2717;h65eb7c06466a6d01_2_869"/>
          <p:cNvSpPr/>
          <p:nvPr/>
        </p:nvSpPr>
        <p:spPr>
          <a:xfrm rot="1547762">
            <a:off x="7501222" y="1889589"/>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3">
              <a:alphaModFix amt="5000"/>
            </a:blip>
            <a:stretch>
              <a:fillRect b="0" l="0" r="-364404" t="0"/>
            </a:stretch>
          </a:blipFill>
          <a:ln>
            <a:noFill/>
          </a:ln>
        </p:spPr>
      </p:sp>
      <p:sp>
        <p:nvSpPr>
          <p:cNvPr id="2718" name="Google Shape;2718;h65eb7c06466a6d01_2_869"/>
          <p:cNvSpPr/>
          <p:nvPr/>
        </p:nvSpPr>
        <p:spPr>
          <a:xfrm>
            <a:off x="9422114" y="4185585"/>
            <a:ext cx="4876203" cy="4876203"/>
          </a:xfrm>
          <a:custGeom>
            <a:rect b="b" l="l" r="r" t="t"/>
            <a:pathLst>
              <a:path extrusionOk="0" h="7305173" w="7305173">
                <a:moveTo>
                  <a:pt x="0" y="0"/>
                </a:moveTo>
                <a:lnTo>
                  <a:pt x="7305173" y="0"/>
                </a:lnTo>
                <a:lnTo>
                  <a:pt x="7305173" y="7305173"/>
                </a:lnTo>
                <a:lnTo>
                  <a:pt x="0" y="7305173"/>
                </a:lnTo>
                <a:lnTo>
                  <a:pt x="0" y="0"/>
                </a:lnTo>
                <a:close/>
              </a:path>
            </a:pathLst>
          </a:custGeom>
          <a:blipFill rotWithShape="1">
            <a:blip r:embed="rId4">
              <a:alphaModFix amt="9000"/>
            </a:blip>
            <a:stretch>
              <a:fillRect b="0" l="0" r="0" t="0"/>
            </a:stretch>
          </a:blipFill>
          <a:ln>
            <a:noFill/>
          </a:ln>
        </p:spPr>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723" name="Shape 2723"/>
        <p:cNvGrpSpPr/>
        <p:nvPr/>
      </p:nvGrpSpPr>
      <p:grpSpPr>
        <a:xfrm>
          <a:off x="0" y="0"/>
          <a:ext cx="0" cy="0"/>
          <a:chOff x="0" y="0"/>
          <a:chExt cx="0" cy="0"/>
        </a:xfrm>
      </p:grpSpPr>
      <p:sp>
        <p:nvSpPr>
          <p:cNvPr id="2724" name="Google Shape;2724;h65eb7c06466a6d01_2_940"/>
          <p:cNvSpPr/>
          <p:nvPr/>
        </p:nvSpPr>
        <p:spPr>
          <a:xfrm>
            <a:off x="258200" y="5848655"/>
            <a:ext cx="1796206" cy="384191"/>
          </a:xfrm>
          <a:custGeom>
            <a:rect b="b" l="l" r="r" t="t"/>
            <a:pathLst>
              <a:path extrusionOk="0" h="575567" w="2690946">
                <a:moveTo>
                  <a:pt x="0" y="0"/>
                </a:moveTo>
                <a:lnTo>
                  <a:pt x="2690946" y="0"/>
                </a:lnTo>
                <a:lnTo>
                  <a:pt x="2690946" y="575567"/>
                </a:lnTo>
                <a:lnTo>
                  <a:pt x="0" y="575567"/>
                </a:lnTo>
                <a:lnTo>
                  <a:pt x="0" y="0"/>
                </a:lnTo>
                <a:close/>
              </a:path>
            </a:pathLst>
          </a:custGeom>
          <a:blipFill rotWithShape="1">
            <a:blip r:embed="rId3">
              <a:alphaModFix/>
            </a:blip>
            <a:stretch>
              <a:fillRect b="-11671" l="-7259" r="-7170" t="-12711"/>
            </a:stretch>
          </a:blipFill>
          <a:ln>
            <a:noFill/>
          </a:ln>
        </p:spPr>
      </p:sp>
      <p:sp>
        <p:nvSpPr>
          <p:cNvPr id="2725" name="Google Shape;2725;h65eb7c06466a6d01_2_940"/>
          <p:cNvSpPr/>
          <p:nvPr/>
        </p:nvSpPr>
        <p:spPr>
          <a:xfrm>
            <a:off x="0" y="0"/>
            <a:ext cx="4063997" cy="3194801"/>
          </a:xfrm>
          <a:custGeom>
            <a:rect b="b" l="l" r="r" t="t"/>
            <a:pathLst>
              <a:path extrusionOk="0" h="4786219" w="6088385">
                <a:moveTo>
                  <a:pt x="0" y="0"/>
                </a:moveTo>
                <a:lnTo>
                  <a:pt x="6088385" y="0"/>
                </a:lnTo>
                <a:lnTo>
                  <a:pt x="6088385" y="4786219"/>
                </a:lnTo>
                <a:lnTo>
                  <a:pt x="0" y="4786219"/>
                </a:lnTo>
                <a:lnTo>
                  <a:pt x="0" y="0"/>
                </a:lnTo>
                <a:close/>
              </a:path>
            </a:pathLst>
          </a:custGeom>
          <a:blipFill rotWithShape="1">
            <a:blip r:embed="rId4">
              <a:alphaModFix/>
            </a:blip>
            <a:stretch>
              <a:fillRect b="-64241" l="0" r="0" t="-26690"/>
            </a:stretch>
          </a:blipFill>
          <a:ln>
            <a:noFill/>
          </a:ln>
        </p:spPr>
      </p:sp>
      <p:sp>
        <p:nvSpPr>
          <p:cNvPr id="2726" name="Google Shape;2726;h65eb7c06466a6d01_2_940"/>
          <p:cNvSpPr/>
          <p:nvPr/>
        </p:nvSpPr>
        <p:spPr>
          <a:xfrm>
            <a:off x="8125245" y="0"/>
            <a:ext cx="4071622" cy="3194801"/>
          </a:xfrm>
          <a:custGeom>
            <a:rect b="b" l="l" r="r" t="t"/>
            <a:pathLst>
              <a:path extrusionOk="0" h="4786219" w="6099808">
                <a:moveTo>
                  <a:pt x="0" y="0"/>
                </a:moveTo>
                <a:lnTo>
                  <a:pt x="6099808" y="0"/>
                </a:lnTo>
                <a:lnTo>
                  <a:pt x="6099808" y="4786219"/>
                </a:lnTo>
                <a:lnTo>
                  <a:pt x="0" y="4786219"/>
                </a:lnTo>
                <a:lnTo>
                  <a:pt x="0" y="0"/>
                </a:lnTo>
                <a:close/>
              </a:path>
            </a:pathLst>
          </a:custGeom>
          <a:blipFill rotWithShape="1">
            <a:blip r:embed="rId5">
              <a:alphaModFix/>
            </a:blip>
            <a:stretch>
              <a:fillRect b="-71360" l="0" r="0" t="-19570"/>
            </a:stretch>
          </a:blipFill>
          <a:ln>
            <a:noFill/>
          </a:ln>
        </p:spPr>
      </p:sp>
      <p:sp>
        <p:nvSpPr>
          <p:cNvPr id="2727" name="Google Shape;2727;h65eb7c06466a6d01_2_940"/>
          <p:cNvSpPr/>
          <p:nvPr/>
        </p:nvSpPr>
        <p:spPr>
          <a:xfrm>
            <a:off x="4058815" y="0"/>
            <a:ext cx="4063997" cy="3194801"/>
          </a:xfrm>
          <a:custGeom>
            <a:rect b="b" l="l" r="r" t="t"/>
            <a:pathLst>
              <a:path extrusionOk="0" h="4786219" w="6088385">
                <a:moveTo>
                  <a:pt x="0" y="0"/>
                </a:moveTo>
                <a:lnTo>
                  <a:pt x="6088385" y="0"/>
                </a:lnTo>
                <a:lnTo>
                  <a:pt x="6088385" y="4786219"/>
                </a:lnTo>
                <a:lnTo>
                  <a:pt x="0" y="4786219"/>
                </a:lnTo>
                <a:lnTo>
                  <a:pt x="0" y="0"/>
                </a:lnTo>
                <a:close/>
              </a:path>
            </a:pathLst>
          </a:custGeom>
          <a:blipFill rotWithShape="1">
            <a:blip r:embed="rId6">
              <a:alphaModFix/>
            </a:blip>
            <a:stretch>
              <a:fillRect b="-62289" l="0" r="-21680" t="-70020"/>
            </a:stretch>
          </a:blipFill>
          <a:ln>
            <a:noFill/>
          </a:ln>
        </p:spPr>
      </p:sp>
      <p:sp>
        <p:nvSpPr>
          <p:cNvPr id="2728" name="Google Shape;2728;h65eb7c06466a6d01_2_940"/>
          <p:cNvSpPr/>
          <p:nvPr/>
        </p:nvSpPr>
        <p:spPr>
          <a:xfrm>
            <a:off x="8359348" y="3626155"/>
            <a:ext cx="3643500" cy="3168900"/>
          </a:xfrm>
          <a:prstGeom prst="rect">
            <a:avLst/>
          </a:prstGeom>
          <a:noFill/>
          <a:ln>
            <a:noFill/>
          </a:ln>
        </p:spPr>
        <p:txBody>
          <a:bodyPr anchorCtr="0" anchor="t" bIns="0" lIns="0" spcFirstLastPara="1" rIns="0" wrap="square" tIns="0">
            <a:noAutofit/>
          </a:bodyPr>
          <a:lstStyle/>
          <a:p>
            <a:pPr indent="0" lvl="0" marL="0" marR="0" rtl="0" algn="l">
              <a:lnSpc>
                <a:spcPct val="120008"/>
              </a:lnSpc>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Ingin tahu bagaimana konsultan kami akan merancang ulang strategi Anda?</a:t>
            </a:r>
            <a:endParaRPr sz="900"/>
          </a:p>
          <a:p>
            <a:pPr indent="0" lvl="0" marL="0" marR="0" rtl="0" algn="l">
              <a:lnSpc>
                <a:spcPct val="120008"/>
              </a:lnSpc>
              <a:spcBef>
                <a:spcPts val="0"/>
              </a:spcBef>
              <a:spcAft>
                <a:spcPts val="0"/>
              </a:spcAft>
              <a:buSzPts val="1600"/>
              <a:buFont typeface="Arial"/>
              <a:buNone/>
            </a:pPr>
            <a:r>
              <a:t/>
            </a:r>
            <a:endParaRPr sz="1600">
              <a:solidFill>
                <a:srgbClr val="FFFFFF"/>
              </a:solidFill>
              <a:latin typeface="Arial"/>
              <a:ea typeface="Arial"/>
              <a:cs typeface="Arial"/>
              <a:sym typeface="Arial"/>
            </a:endParaRPr>
          </a:p>
          <a:p>
            <a:pPr indent="0" lvl="0" marL="0" marR="0" rtl="0" algn="l">
              <a:lnSpc>
                <a:spcPct val="120008"/>
              </a:lnSpc>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Mari berdiskusi. Tanpa komitmen.</a:t>
            </a:r>
            <a:endParaRPr sz="900"/>
          </a:p>
          <a:p>
            <a:pPr indent="0" lvl="0" marL="0" marR="0" rtl="0" algn="l">
              <a:lnSpc>
                <a:spcPct val="120008"/>
              </a:lnSpc>
              <a:spcBef>
                <a:spcPts val="0"/>
              </a:spcBef>
              <a:spcAft>
                <a:spcPts val="0"/>
              </a:spcAft>
              <a:buSzPts val="1600"/>
              <a:buFont typeface="Arial"/>
              <a:buNone/>
            </a:pPr>
            <a:r>
              <a:t/>
            </a:r>
            <a:endParaRPr sz="1600">
              <a:solidFill>
                <a:srgbClr val="FFFFFF"/>
              </a:solidFill>
              <a:latin typeface="Arial"/>
              <a:ea typeface="Arial"/>
              <a:cs typeface="Arial"/>
              <a:sym typeface="Arial"/>
            </a:endParaRPr>
          </a:p>
          <a:p>
            <a:pPr indent="0" lvl="0" marL="0" marR="0" rtl="0" algn="l">
              <a:lnSpc>
                <a:spcPct val="120008"/>
              </a:lnSpc>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      +62 877 7413 4288 (WhatsApp/telepon)</a:t>
            </a:r>
            <a:endParaRPr sz="900"/>
          </a:p>
          <a:p>
            <a:pPr indent="0" lvl="0" marL="0" marR="0" rtl="0" algn="l">
              <a:lnSpc>
                <a:spcPct val="120008"/>
              </a:lnSpc>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      consulting@sanggabiz.com</a:t>
            </a:r>
            <a:endParaRPr sz="900"/>
          </a:p>
          <a:p>
            <a:pPr indent="0" lvl="0" marL="0" marR="0" rtl="0" algn="l">
              <a:lnSpc>
                <a:spcPct val="120008"/>
              </a:lnSpc>
              <a:spcBef>
                <a:spcPts val="0"/>
              </a:spcBef>
              <a:spcAft>
                <a:spcPts val="0"/>
              </a:spcAft>
              <a:buSzPts val="1600"/>
              <a:buFont typeface="Arial"/>
              <a:buNone/>
            </a:pPr>
            <a:r>
              <a:t/>
            </a:r>
            <a:endParaRPr sz="1600">
              <a:solidFill>
                <a:srgbClr val="FFFFFF"/>
              </a:solidFill>
              <a:latin typeface="Arial"/>
              <a:ea typeface="Arial"/>
              <a:cs typeface="Arial"/>
              <a:sym typeface="Arial"/>
            </a:endParaRPr>
          </a:p>
          <a:p>
            <a:pPr indent="0" lvl="0" marL="0" marR="0" rtl="0" algn="l">
              <a:lnSpc>
                <a:spcPct val="120008"/>
              </a:lnSpc>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Percakapan ini dapat menjadi diskusi paling bernilai bagi bisnis Anda pada kuartal ini.</a:t>
            </a:r>
            <a:endParaRPr sz="900"/>
          </a:p>
        </p:txBody>
      </p:sp>
      <p:sp>
        <p:nvSpPr>
          <p:cNvPr id="2729" name="Google Shape;2729;h65eb7c06466a6d01_2_940"/>
          <p:cNvSpPr/>
          <p:nvPr/>
        </p:nvSpPr>
        <p:spPr>
          <a:xfrm>
            <a:off x="8410844" y="4867813"/>
            <a:ext cx="165465" cy="208788"/>
          </a:xfrm>
          <a:custGeom>
            <a:rect b="b" l="l" r="r" t="t"/>
            <a:pathLst>
              <a:path extrusionOk="0" h="312791" w="247887">
                <a:moveTo>
                  <a:pt x="0" y="0"/>
                </a:moveTo>
                <a:lnTo>
                  <a:pt x="247886" y="0"/>
                </a:lnTo>
                <a:lnTo>
                  <a:pt x="247886" y="312791"/>
                </a:lnTo>
                <a:lnTo>
                  <a:pt x="0" y="312791"/>
                </a:lnTo>
                <a:lnTo>
                  <a:pt x="0" y="0"/>
                </a:lnTo>
                <a:close/>
              </a:path>
            </a:pathLst>
          </a:custGeom>
          <a:blipFill rotWithShape="1">
            <a:blip r:embed="rId7">
              <a:alphaModFix/>
            </a:blip>
            <a:stretch>
              <a:fillRect b="0" l="0" r="0" t="0"/>
            </a:stretch>
          </a:blipFill>
          <a:ln>
            <a:noFill/>
          </a:ln>
        </p:spPr>
      </p:sp>
      <p:sp>
        <p:nvSpPr>
          <p:cNvPr id="2730" name="Google Shape;2730;h65eb7c06466a6d01_2_940"/>
          <p:cNvSpPr/>
          <p:nvPr/>
        </p:nvSpPr>
        <p:spPr>
          <a:xfrm>
            <a:off x="8396106" y="5108649"/>
            <a:ext cx="207695" cy="249483"/>
          </a:xfrm>
          <a:custGeom>
            <a:rect b="b" l="l" r="r" t="t"/>
            <a:pathLst>
              <a:path extrusionOk="0" h="373757" w="311153">
                <a:moveTo>
                  <a:pt x="0" y="0"/>
                </a:moveTo>
                <a:lnTo>
                  <a:pt x="311152" y="0"/>
                </a:lnTo>
                <a:lnTo>
                  <a:pt x="311152" y="373757"/>
                </a:lnTo>
                <a:lnTo>
                  <a:pt x="0" y="373757"/>
                </a:lnTo>
                <a:lnTo>
                  <a:pt x="0" y="0"/>
                </a:lnTo>
                <a:close/>
              </a:path>
            </a:pathLst>
          </a:custGeom>
          <a:blipFill rotWithShape="1">
            <a:blip r:embed="rId7">
              <a:alphaModFix/>
            </a:blip>
            <a:stretch>
              <a:fillRect b="0" l="0" r="0" t="0"/>
            </a:stretch>
          </a:blipFill>
          <a:ln>
            <a:noFill/>
          </a:ln>
        </p:spPr>
      </p:sp>
      <p:sp>
        <p:nvSpPr>
          <p:cNvPr id="2731" name="Google Shape;2731;h65eb7c06466a6d01_2_940"/>
          <p:cNvSpPr/>
          <p:nvPr/>
        </p:nvSpPr>
        <p:spPr>
          <a:xfrm>
            <a:off x="173455" y="6156167"/>
            <a:ext cx="3757500" cy="399900"/>
          </a:xfrm>
          <a:prstGeom prst="rect">
            <a:avLst/>
          </a:prstGeom>
          <a:noFill/>
          <a:ln>
            <a:noFill/>
          </a:ln>
        </p:spPr>
        <p:txBody>
          <a:bodyPr anchorCtr="0" anchor="t" bIns="0" lIns="0" spcFirstLastPara="1" rIns="0" wrap="square" tIns="0">
            <a:noAutofit/>
          </a:bodyPr>
          <a:lstStyle/>
          <a:p>
            <a:pPr indent="0" lvl="0" marL="0" marR="0" rtl="0" algn="l">
              <a:lnSpc>
                <a:spcPct val="120006"/>
              </a:lnSpc>
              <a:spcBef>
                <a:spcPts val="0"/>
              </a:spcBef>
              <a:spcAft>
                <a:spcPts val="0"/>
              </a:spcAft>
              <a:buClr>
                <a:srgbClr val="FFFFFF"/>
              </a:buClr>
              <a:buSzPts val="2100"/>
              <a:buFont typeface="Arial"/>
              <a:buNone/>
            </a:pPr>
            <a:r>
              <a:rPr lang="en-US" sz="2100">
                <a:solidFill>
                  <a:srgbClr val="FFFFFF"/>
                </a:solidFill>
                <a:latin typeface="Arial"/>
                <a:ea typeface="Arial"/>
                <a:cs typeface="Arial"/>
                <a:sym typeface="Arial"/>
              </a:rPr>
              <a:t> Insight. Aksi. Dampak.</a:t>
            </a:r>
            <a:endParaRPr sz="900"/>
          </a:p>
        </p:txBody>
      </p:sp>
      <p:sp>
        <p:nvSpPr>
          <p:cNvPr id="2732" name="Google Shape;2732;h65eb7c06466a6d01_2_940"/>
          <p:cNvSpPr/>
          <p:nvPr/>
        </p:nvSpPr>
        <p:spPr>
          <a:xfrm>
            <a:off x="4288038" y="3626155"/>
            <a:ext cx="3606000" cy="2437500"/>
          </a:xfrm>
          <a:prstGeom prst="rect">
            <a:avLst/>
          </a:prstGeom>
          <a:noFill/>
          <a:ln>
            <a:noFill/>
          </a:ln>
        </p:spPr>
        <p:txBody>
          <a:bodyPr anchorCtr="0" anchor="t" bIns="0" lIns="0" spcFirstLastPara="1" rIns="0" wrap="square" tIns="0">
            <a:noAutofit/>
          </a:bodyPr>
          <a:lstStyle/>
          <a:p>
            <a:pPr indent="0" lvl="0" marL="0" marR="0" rtl="0" algn="just">
              <a:lnSpc>
                <a:spcPct val="119958"/>
              </a:lnSpc>
              <a:spcBef>
                <a:spcPts val="0"/>
              </a:spcBef>
              <a:spcAft>
                <a:spcPts val="0"/>
              </a:spcAft>
              <a:buClr>
                <a:srgbClr val="FFFFFF"/>
              </a:buClr>
              <a:buSzPts val="1600"/>
              <a:buFont typeface="Arial"/>
              <a:buNone/>
            </a:pPr>
            <a:r>
              <a:rPr lang="en-US" sz="1600">
                <a:solidFill>
                  <a:srgbClr val="FFFFFF"/>
                </a:solidFill>
                <a:latin typeface="Arial"/>
                <a:ea typeface="Arial"/>
                <a:cs typeface="Arial"/>
                <a:sym typeface="Arial"/>
              </a:rPr>
              <a:t>Sanggabiz telah membantu lebih dari 100 perusahaan, mulai dari perusahaan besar F&amp;B hingga produsen dirgantara, menemukan hambatan utama dan potensi pertumbuhan terbesar mereka. Kami tidak hanya memberi saran. Kami mendiagnosis, merancang, dan menghadirkan hasil yang nyata.</a:t>
            </a:r>
            <a:endParaRPr sz="900"/>
          </a:p>
        </p:txBody>
      </p:sp>
      <p:sp>
        <p:nvSpPr>
          <p:cNvPr id="2733" name="Google Shape;2733;h65eb7c06466a6d01_2_940"/>
          <p:cNvSpPr/>
          <p:nvPr/>
        </p:nvSpPr>
        <p:spPr>
          <a:xfrm>
            <a:off x="290342" y="3594405"/>
            <a:ext cx="3457800" cy="1797300"/>
          </a:xfrm>
          <a:prstGeom prst="rect">
            <a:avLst/>
          </a:prstGeom>
          <a:noFill/>
          <a:ln>
            <a:noFill/>
          </a:ln>
        </p:spPr>
        <p:txBody>
          <a:bodyPr anchorCtr="0" anchor="t" bIns="0" lIns="0" spcFirstLastPara="1" rIns="0" wrap="square" tIns="0">
            <a:noAutofit/>
          </a:bodyPr>
          <a:lstStyle/>
          <a:p>
            <a:pPr indent="0" lvl="0" marL="0" marR="0" rtl="0" algn="l">
              <a:lnSpc>
                <a:spcPct val="120005"/>
              </a:lnSpc>
              <a:spcBef>
                <a:spcPts val="0"/>
              </a:spcBef>
              <a:spcAft>
                <a:spcPts val="0"/>
              </a:spcAft>
              <a:buClr>
                <a:srgbClr val="FFFFFF"/>
              </a:buClr>
              <a:buSzPts val="2300"/>
              <a:buFont typeface="Arial"/>
              <a:buNone/>
            </a:pPr>
            <a:r>
              <a:rPr b="1" lang="en-US" sz="2300">
                <a:solidFill>
                  <a:srgbClr val="FFFFFF"/>
                </a:solidFill>
                <a:latin typeface="Arial"/>
                <a:ea typeface="Arial"/>
                <a:cs typeface="Arial"/>
                <a:sym typeface="Arial"/>
              </a:rPr>
              <a:t>Apakah Model Bisnis Anda Masih Efektif?</a:t>
            </a:r>
            <a:endParaRPr sz="900"/>
          </a:p>
          <a:p>
            <a:pPr indent="0" lvl="0" marL="0" marR="0" rtl="0" algn="l">
              <a:lnSpc>
                <a:spcPct val="120005"/>
              </a:lnSpc>
              <a:spcBef>
                <a:spcPts val="0"/>
              </a:spcBef>
              <a:spcAft>
                <a:spcPts val="0"/>
              </a:spcAft>
              <a:buSzPts val="2300"/>
              <a:buFont typeface="Arial"/>
              <a:buNone/>
            </a:pPr>
            <a:r>
              <a:t/>
            </a:r>
            <a:endParaRPr b="1" sz="2300">
              <a:solidFill>
                <a:srgbClr val="FFFFFF"/>
              </a:solidFill>
              <a:latin typeface="Arial"/>
              <a:ea typeface="Arial"/>
              <a:cs typeface="Arial"/>
              <a:sym typeface="Arial"/>
            </a:endParaRPr>
          </a:p>
          <a:p>
            <a:pPr indent="0" lvl="0" marL="0" marR="0" rtl="0" algn="l">
              <a:lnSpc>
                <a:spcPct val="120005"/>
              </a:lnSpc>
              <a:spcBef>
                <a:spcPts val="0"/>
              </a:spcBef>
              <a:spcAft>
                <a:spcPts val="0"/>
              </a:spcAft>
              <a:buClr>
                <a:srgbClr val="FFFFFF"/>
              </a:buClr>
              <a:buSzPts val="2300"/>
              <a:buFont typeface="Arial"/>
              <a:buNone/>
            </a:pPr>
            <a:r>
              <a:rPr b="1" lang="en-US" sz="2300">
                <a:solidFill>
                  <a:srgbClr val="FFFFFF"/>
                </a:solidFill>
                <a:latin typeface="Arial"/>
                <a:ea typeface="Arial"/>
                <a:cs typeface="Arial"/>
                <a:sym typeface="Arial"/>
              </a:rPr>
              <a:t>Saatnya</a:t>
            </a:r>
            <a:endParaRPr sz="900"/>
          </a:p>
          <a:p>
            <a:pPr indent="0" lvl="0" marL="0" marR="0" rtl="0" algn="l">
              <a:lnSpc>
                <a:spcPct val="120005"/>
              </a:lnSpc>
              <a:spcBef>
                <a:spcPts val="0"/>
              </a:spcBef>
              <a:spcAft>
                <a:spcPts val="0"/>
              </a:spcAft>
              <a:buClr>
                <a:srgbClr val="FFFFFF"/>
              </a:buClr>
              <a:buSzPts val="2300"/>
              <a:buFont typeface="Arial"/>
              <a:buNone/>
            </a:pPr>
            <a:r>
              <a:rPr b="1" lang="en-US" sz="2300">
                <a:solidFill>
                  <a:srgbClr val="FFFFFF"/>
                </a:solidFill>
                <a:latin typeface="Arial"/>
                <a:ea typeface="Arial"/>
                <a:cs typeface="Arial"/>
                <a:sym typeface="Arial"/>
              </a:rPr>
              <a:t>mencari tahu.</a:t>
            </a:r>
            <a:endParaRPr sz="900"/>
          </a:p>
        </p:txBody>
      </p:sp>
      <p:cxnSp>
        <p:nvCxnSpPr>
          <p:cNvPr id="2734" name="Google Shape;2734;h65eb7c06466a6d01_2_940"/>
          <p:cNvCxnSpPr/>
          <p:nvPr/>
        </p:nvCxnSpPr>
        <p:spPr>
          <a:xfrm rot="10800000">
            <a:off x="4058815" y="3636617"/>
            <a:ext cx="0" cy="2919600"/>
          </a:xfrm>
          <a:prstGeom prst="straightConnector1">
            <a:avLst/>
          </a:prstGeom>
          <a:noFill/>
          <a:ln cap="flat" cmpd="sng" w="12700">
            <a:solidFill>
              <a:srgbClr val="FFFFFF"/>
            </a:solidFill>
            <a:prstDash val="solid"/>
            <a:round/>
            <a:headEnd len="sm" w="sm" type="none"/>
            <a:tailEnd len="sm" w="sm" type="none"/>
          </a:ln>
        </p:spPr>
      </p:cxnSp>
      <p:cxnSp>
        <p:nvCxnSpPr>
          <p:cNvPr id="2735" name="Google Shape;2735;h65eb7c06466a6d01_2_940"/>
          <p:cNvCxnSpPr/>
          <p:nvPr/>
        </p:nvCxnSpPr>
        <p:spPr>
          <a:xfrm rot="10800000">
            <a:off x="8125295" y="3636871"/>
            <a:ext cx="6300" cy="2879100"/>
          </a:xfrm>
          <a:prstGeom prst="straightConnector1">
            <a:avLst/>
          </a:prstGeom>
          <a:noFill/>
          <a:ln cap="flat" cmpd="sng" w="12700">
            <a:solidFill>
              <a:srgbClr val="FFFFFF"/>
            </a:solidFill>
            <a:prstDash val="solid"/>
            <a:round/>
            <a:headEnd len="sm" w="sm" type="none"/>
            <a:tailEnd len="sm" w="sm" type="none"/>
          </a:ln>
        </p:spPr>
      </p:cxn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360"/>
        </a:solidFill>
      </p:bgPr>
    </p:bg>
    <p:spTree>
      <p:nvGrpSpPr>
        <p:cNvPr id="2740" name="Shape 2740"/>
        <p:cNvGrpSpPr/>
        <p:nvPr/>
      </p:nvGrpSpPr>
      <p:grpSpPr>
        <a:xfrm>
          <a:off x="0" y="0"/>
          <a:ext cx="0" cy="0"/>
          <a:chOff x="0" y="0"/>
          <a:chExt cx="0" cy="0"/>
        </a:xfrm>
      </p:grpSpPr>
      <p:sp>
        <p:nvSpPr>
          <p:cNvPr id="2741" name="Google Shape;2741;h65eb7c06466a6d01_2_956"/>
          <p:cNvSpPr/>
          <p:nvPr/>
        </p:nvSpPr>
        <p:spPr>
          <a:xfrm>
            <a:off x="3473420" y="3050961"/>
            <a:ext cx="5251531" cy="1123250"/>
          </a:xfrm>
          <a:custGeom>
            <a:rect b="b" l="l" r="r" t="t"/>
            <a:pathLst>
              <a:path extrusionOk="0" h="1682772" w="7867462">
                <a:moveTo>
                  <a:pt x="0" y="0"/>
                </a:moveTo>
                <a:lnTo>
                  <a:pt x="7867462" y="0"/>
                </a:lnTo>
                <a:lnTo>
                  <a:pt x="7867462" y="1682772"/>
                </a:lnTo>
                <a:lnTo>
                  <a:pt x="0" y="1682772"/>
                </a:lnTo>
                <a:lnTo>
                  <a:pt x="0" y="0"/>
                </a:lnTo>
                <a:close/>
              </a:path>
            </a:pathLst>
          </a:custGeom>
          <a:blipFill rotWithShape="1">
            <a:blip r:embed="rId3">
              <a:alphaModFix/>
            </a:blip>
            <a:stretch>
              <a:fillRect b="-11671" l="-7259" r="-7170" t="-12711"/>
            </a:stretch>
          </a:blipFill>
          <a:ln>
            <a:noFill/>
          </a:ln>
        </p:spPr>
      </p:sp>
      <p:sp>
        <p:nvSpPr>
          <p:cNvPr id="2742" name="Google Shape;2742;h65eb7c06466a6d01_2_956"/>
          <p:cNvSpPr/>
          <p:nvPr/>
        </p:nvSpPr>
        <p:spPr>
          <a:xfrm rot="1547762">
            <a:off x="8570806" y="-1850873"/>
            <a:ext cx="3850621" cy="4554405"/>
          </a:xfrm>
          <a:custGeom>
            <a:rect b="b" l="l" r="r" t="t"/>
            <a:pathLst>
              <a:path extrusionOk="0" h="6834256" w="5778171">
                <a:moveTo>
                  <a:pt x="0" y="0"/>
                </a:moveTo>
                <a:lnTo>
                  <a:pt x="5778171" y="0"/>
                </a:lnTo>
                <a:lnTo>
                  <a:pt x="5778171" y="6834256"/>
                </a:lnTo>
                <a:lnTo>
                  <a:pt x="0" y="6834256"/>
                </a:lnTo>
                <a:lnTo>
                  <a:pt x="0" y="0"/>
                </a:lnTo>
                <a:close/>
              </a:path>
            </a:pathLst>
          </a:custGeom>
          <a:blipFill rotWithShape="1">
            <a:blip r:embed="rId4">
              <a:alphaModFix amt="5000"/>
            </a:blip>
            <a:stretch>
              <a:fillRect b="0" l="0" r="-408725" t="0"/>
            </a:stretch>
          </a:blipFill>
          <a:ln>
            <a:noFill/>
          </a:ln>
        </p:spPr>
      </p:sp>
      <p:cxnSp>
        <p:nvCxnSpPr>
          <p:cNvPr id="2743" name="Google Shape;2743;h65eb7c06466a6d01_2_956"/>
          <p:cNvCxnSpPr/>
          <p:nvPr/>
        </p:nvCxnSpPr>
        <p:spPr>
          <a:xfrm>
            <a:off x="5448159" y="5796319"/>
            <a:ext cx="1295100" cy="0"/>
          </a:xfrm>
          <a:prstGeom prst="straightConnector1">
            <a:avLst/>
          </a:prstGeom>
          <a:noFill/>
          <a:ln cap="flat" cmpd="sng" w="33875">
            <a:solidFill>
              <a:srgbClr val="FFFFFF"/>
            </a:solidFill>
            <a:prstDash val="solid"/>
            <a:round/>
            <a:headEnd len="sm" w="sm" type="none"/>
            <a:tailEnd len="sm" w="sm" type="none"/>
          </a:ln>
        </p:spPr>
      </p:cxnSp>
      <p:sp>
        <p:nvSpPr>
          <p:cNvPr id="2744" name="Google Shape;2744;h65eb7c06466a6d01_2_956"/>
          <p:cNvSpPr/>
          <p:nvPr/>
        </p:nvSpPr>
        <p:spPr>
          <a:xfrm>
            <a:off x="5448159" y="5512248"/>
            <a:ext cx="1233885" cy="240549"/>
          </a:xfrm>
          <a:custGeom>
            <a:rect b="b" l="l" r="r" t="t"/>
            <a:pathLst>
              <a:path extrusionOk="0" h="481098" w="2467769">
                <a:moveTo>
                  <a:pt x="0" y="0"/>
                </a:moveTo>
                <a:lnTo>
                  <a:pt x="2467769" y="0"/>
                </a:lnTo>
                <a:lnTo>
                  <a:pt x="2467769" y="481098"/>
                </a:lnTo>
                <a:lnTo>
                  <a:pt x="0" y="481098"/>
                </a:lnTo>
                <a:lnTo>
                  <a:pt x="0" y="0"/>
                </a:lnTo>
                <a:close/>
              </a:path>
            </a:pathLst>
          </a:custGeom>
          <a:blipFill rotWithShape="1">
            <a:blip r:embed="rId4">
              <a:alphaModFix/>
            </a:blip>
            <a:stretch>
              <a:fillRect b="-11671" l="-4291" r="0" t="-12711"/>
            </a:stretch>
          </a:blipFill>
          <a:ln>
            <a:noFill/>
          </a:ln>
        </p:spPr>
      </p:sp>
      <p:sp>
        <p:nvSpPr>
          <p:cNvPr id="2745" name="Google Shape;2745;h65eb7c06466a6d01_2_956"/>
          <p:cNvSpPr/>
          <p:nvPr/>
        </p:nvSpPr>
        <p:spPr>
          <a:xfrm>
            <a:off x="-1749211" y="-2255855"/>
            <a:ext cx="4876203" cy="4876203"/>
          </a:xfrm>
          <a:custGeom>
            <a:rect b="b" l="l" r="r" t="t"/>
            <a:pathLst>
              <a:path extrusionOk="0" h="7305173" w="7305173">
                <a:moveTo>
                  <a:pt x="0" y="0"/>
                </a:moveTo>
                <a:lnTo>
                  <a:pt x="7305174" y="0"/>
                </a:lnTo>
                <a:lnTo>
                  <a:pt x="7305174" y="7305173"/>
                </a:lnTo>
                <a:lnTo>
                  <a:pt x="0" y="7305173"/>
                </a:lnTo>
                <a:lnTo>
                  <a:pt x="0" y="0"/>
                </a:lnTo>
                <a:close/>
              </a:path>
            </a:pathLst>
          </a:custGeom>
          <a:blipFill rotWithShape="1">
            <a:blip r:embed="rId5">
              <a:alphaModFix amt="9000"/>
            </a:blip>
            <a:stretch>
              <a:fillRect b="0" l="0" r="0" t="0"/>
            </a:stretch>
          </a:blipFill>
          <a:ln>
            <a:noFill/>
          </a:ln>
        </p:spPr>
      </p:sp>
      <p:sp>
        <p:nvSpPr>
          <p:cNvPr id="2746" name="Google Shape;2746;h65eb7c06466a6d01_2_956"/>
          <p:cNvSpPr/>
          <p:nvPr/>
        </p:nvSpPr>
        <p:spPr>
          <a:xfrm>
            <a:off x="9422114" y="4185585"/>
            <a:ext cx="4876203" cy="4876203"/>
          </a:xfrm>
          <a:custGeom>
            <a:rect b="b" l="l" r="r" t="t"/>
            <a:pathLst>
              <a:path extrusionOk="0" h="7305173" w="7305173">
                <a:moveTo>
                  <a:pt x="0" y="0"/>
                </a:moveTo>
                <a:lnTo>
                  <a:pt x="7305173" y="0"/>
                </a:lnTo>
                <a:lnTo>
                  <a:pt x="7305173" y="7305173"/>
                </a:lnTo>
                <a:lnTo>
                  <a:pt x="0" y="7305173"/>
                </a:lnTo>
                <a:lnTo>
                  <a:pt x="0" y="0"/>
                </a:lnTo>
                <a:close/>
              </a:path>
            </a:pathLst>
          </a:custGeom>
          <a:blipFill rotWithShape="1">
            <a:blip r:embed="rId5">
              <a:alphaModFix amt="9000"/>
            </a:blip>
            <a:stretch>
              <a:fillRect b="0" l="0" r="0" t="0"/>
            </a:stretch>
          </a:blipFill>
          <a:ln>
            <a:noFill/>
          </a:ln>
        </p:spPr>
      </p:sp>
      <p:sp>
        <p:nvSpPr>
          <p:cNvPr id="2747" name="Google Shape;2747;h65eb7c06466a6d01_2_956"/>
          <p:cNvSpPr/>
          <p:nvPr/>
        </p:nvSpPr>
        <p:spPr>
          <a:xfrm>
            <a:off x="4102020" y="5840693"/>
            <a:ext cx="4123500" cy="331500"/>
          </a:xfrm>
          <a:prstGeom prst="rect">
            <a:avLst/>
          </a:prstGeom>
          <a:noFill/>
          <a:ln>
            <a:noFill/>
          </a:ln>
        </p:spPr>
        <p:txBody>
          <a:bodyPr anchorCtr="0" anchor="t" bIns="0" lIns="0" spcFirstLastPara="1" rIns="0" wrap="square" tIns="0">
            <a:noAutofit/>
          </a:bodyPr>
          <a:lstStyle/>
          <a:p>
            <a:pPr indent="0" lvl="0" marL="0" marR="0" rtl="0" algn="ctr">
              <a:lnSpc>
                <a:spcPct val="140014"/>
              </a:lnSpc>
              <a:spcBef>
                <a:spcPts val="0"/>
              </a:spcBef>
              <a:spcAft>
                <a:spcPts val="0"/>
              </a:spcAft>
              <a:buClr>
                <a:srgbClr val="FFFFFF"/>
              </a:buClr>
              <a:buSzPts val="900"/>
              <a:buFont typeface="Arial"/>
              <a:buNone/>
            </a:pPr>
            <a:r>
              <a:rPr b="1" lang="en-US" sz="900">
                <a:solidFill>
                  <a:srgbClr val="FFFFFF"/>
                </a:solidFill>
                <a:latin typeface="Arial"/>
                <a:ea typeface="Arial"/>
                <a:cs typeface="Arial"/>
                <a:sym typeface="Arial"/>
              </a:rPr>
              <a:t>Yogyakarta</a:t>
            </a:r>
            <a:r>
              <a:rPr lang="en-US" sz="900">
                <a:solidFill>
                  <a:srgbClr val="FFFFFF"/>
                </a:solidFill>
                <a:latin typeface="Arial"/>
                <a:ea typeface="Arial"/>
                <a:cs typeface="Arial"/>
                <a:sym typeface="Arial"/>
              </a:rPr>
              <a:t> | Jl. Bambu Gading No.111, Sendon, Tirtoadi, Kec. Mlati, Kabupaten Sleman, Daerah Istimewa Yogyakarta 55287</a:t>
            </a:r>
            <a:endParaRPr sz="900"/>
          </a:p>
        </p:txBody>
      </p:sp>
      <p:sp>
        <p:nvSpPr>
          <p:cNvPr id="2748" name="Google Shape;2748;h65eb7c06466a6d01_2_956"/>
          <p:cNvSpPr/>
          <p:nvPr/>
        </p:nvSpPr>
        <p:spPr>
          <a:xfrm>
            <a:off x="0" y="1895910"/>
            <a:ext cx="12191700" cy="882900"/>
          </a:xfrm>
          <a:prstGeom prst="rect">
            <a:avLst/>
          </a:prstGeom>
          <a:noFill/>
          <a:ln>
            <a:noFill/>
          </a:ln>
        </p:spPr>
        <p:txBody>
          <a:bodyPr anchorCtr="0" anchor="t" bIns="0" lIns="0" spcFirstLastPara="1" rIns="0" wrap="square" tIns="0">
            <a:noAutofit/>
          </a:bodyPr>
          <a:lstStyle/>
          <a:p>
            <a:pPr indent="0" lvl="0" marL="0" marR="0" rtl="0" algn="ctr">
              <a:lnSpc>
                <a:spcPct val="120002"/>
              </a:lnSpc>
              <a:spcBef>
                <a:spcPts val="0"/>
              </a:spcBef>
              <a:spcAft>
                <a:spcPts val="0"/>
              </a:spcAft>
              <a:buClr>
                <a:srgbClr val="FFFFFF"/>
              </a:buClr>
              <a:buSzPts val="5700"/>
              <a:buFont typeface="Arial"/>
              <a:buNone/>
            </a:pPr>
            <a:r>
              <a:rPr b="1" lang="en-US" sz="5700">
                <a:solidFill>
                  <a:srgbClr val="FFFFFF"/>
                </a:solidFill>
                <a:latin typeface="Arial"/>
                <a:ea typeface="Arial"/>
                <a:cs typeface="Arial"/>
                <a:sym typeface="Arial"/>
              </a:rPr>
              <a:t>Mari Melangkah Bersama</a:t>
            </a:r>
            <a:endParaRPr sz="900"/>
          </a:p>
        </p:txBody>
      </p:sp>
      <p:sp>
        <p:nvSpPr>
          <p:cNvPr id="2749" name="Google Shape;2749;h65eb7c06466a6d01_2_956"/>
          <p:cNvSpPr/>
          <p:nvPr/>
        </p:nvSpPr>
        <p:spPr>
          <a:xfrm>
            <a:off x="3893969" y="4397261"/>
            <a:ext cx="1611180" cy="336611"/>
          </a:xfrm>
          <a:custGeom>
            <a:rect b="b" l="l" r="r" t="t"/>
            <a:pathLst>
              <a:path extrusionOk="0" h="133048" w="636830">
                <a:moveTo>
                  <a:pt x="66524" y="0"/>
                </a:moveTo>
                <a:lnTo>
                  <a:pt x="570306" y="0"/>
                </a:lnTo>
                <a:cubicBezTo>
                  <a:pt x="587949" y="0"/>
                  <a:pt x="604870" y="7009"/>
                  <a:pt x="617345" y="19484"/>
                </a:cubicBezTo>
                <a:cubicBezTo>
                  <a:pt x="629821" y="31960"/>
                  <a:pt x="636830" y="48881"/>
                  <a:pt x="636830" y="66524"/>
                </a:cubicBezTo>
                <a:lnTo>
                  <a:pt x="636830" y="66524"/>
                </a:lnTo>
                <a:cubicBezTo>
                  <a:pt x="636830" y="103264"/>
                  <a:pt x="607046" y="133048"/>
                  <a:pt x="570306" y="133048"/>
                </a:cubicBezTo>
                <a:lnTo>
                  <a:pt x="66524" y="133048"/>
                </a:lnTo>
                <a:cubicBezTo>
                  <a:pt x="48881" y="133048"/>
                  <a:pt x="31960" y="126039"/>
                  <a:pt x="19484" y="113563"/>
                </a:cubicBezTo>
                <a:cubicBezTo>
                  <a:pt x="7009" y="101088"/>
                  <a:pt x="0" y="84167"/>
                  <a:pt x="0" y="66524"/>
                </a:cubicBezTo>
                <a:lnTo>
                  <a:pt x="0" y="66524"/>
                </a:lnTo>
                <a:cubicBezTo>
                  <a:pt x="0" y="48881"/>
                  <a:pt x="7009" y="31960"/>
                  <a:pt x="19484" y="19484"/>
                </a:cubicBezTo>
                <a:cubicBezTo>
                  <a:pt x="31960" y="7009"/>
                  <a:pt x="48881" y="0"/>
                  <a:pt x="66524" y="0"/>
                </a:cubicBezTo>
                <a:close/>
              </a:path>
            </a:pathLst>
          </a:custGeom>
          <a:solidFill>
            <a:srgbClr val="FFC00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750" name="Google Shape;2750;h65eb7c06466a6d01_2_956"/>
          <p:cNvSpPr/>
          <p:nvPr/>
        </p:nvSpPr>
        <p:spPr>
          <a:xfrm>
            <a:off x="3893969" y="4252601"/>
            <a:ext cx="1611900" cy="481500"/>
          </a:xfrm>
          <a:prstGeom prst="rect">
            <a:avLst/>
          </a:prstGeom>
          <a:noFill/>
          <a:ln>
            <a:noFill/>
          </a:ln>
        </p:spPr>
        <p:txBody>
          <a:bodyPr anchorCtr="0" anchor="ctr" bIns="33875" lIns="33875" spcFirstLastPara="1" rIns="33875" wrap="square" tIns="33875">
            <a:noAutofit/>
          </a:bodyPr>
          <a:lstStyle/>
          <a:p>
            <a:pPr indent="0" lvl="0" marL="0" marR="0" rtl="0" algn="ctr">
              <a:lnSpc>
                <a:spcPct val="111500"/>
              </a:lnSpc>
              <a:spcBef>
                <a:spcPts val="0"/>
              </a:spcBef>
              <a:spcAft>
                <a:spcPts val="0"/>
              </a:spcAft>
              <a:buSzPts val="1200"/>
              <a:buFont typeface="Arial"/>
              <a:buNone/>
            </a:pPr>
            <a:r>
              <a:t/>
            </a:r>
            <a:endParaRPr sz="1200"/>
          </a:p>
        </p:txBody>
      </p:sp>
      <p:sp>
        <p:nvSpPr>
          <p:cNvPr id="2751" name="Google Shape;2751;h65eb7c06466a6d01_2_956"/>
          <p:cNvSpPr/>
          <p:nvPr/>
        </p:nvSpPr>
        <p:spPr>
          <a:xfrm>
            <a:off x="4046899" y="4451291"/>
            <a:ext cx="229001" cy="229001"/>
          </a:xfrm>
          <a:custGeom>
            <a:rect b="b" l="l" r="r" t="t"/>
            <a:pathLst>
              <a:path extrusionOk="0" h="343072" w="343072">
                <a:moveTo>
                  <a:pt x="0" y="0"/>
                </a:moveTo>
                <a:lnTo>
                  <a:pt x="343071" y="0"/>
                </a:lnTo>
                <a:lnTo>
                  <a:pt x="343071" y="343072"/>
                </a:lnTo>
                <a:lnTo>
                  <a:pt x="0" y="343072"/>
                </a:lnTo>
                <a:lnTo>
                  <a:pt x="0" y="0"/>
                </a:lnTo>
                <a:close/>
              </a:path>
            </a:pathLst>
          </a:custGeom>
          <a:blipFill rotWithShape="1">
            <a:blip r:embed="rId5">
              <a:alphaModFix/>
            </a:blip>
            <a:stretch>
              <a:fillRect b="0" l="0" r="0" t="0"/>
            </a:stretch>
          </a:blipFill>
          <a:ln>
            <a:noFill/>
          </a:ln>
        </p:spPr>
      </p:sp>
      <p:sp>
        <p:nvSpPr>
          <p:cNvPr id="2752" name="Google Shape;2752;h65eb7c06466a6d01_2_956"/>
          <p:cNvSpPr/>
          <p:nvPr/>
        </p:nvSpPr>
        <p:spPr>
          <a:xfrm>
            <a:off x="1443397" y="4397261"/>
            <a:ext cx="2255890" cy="336611"/>
          </a:xfrm>
          <a:custGeom>
            <a:rect b="b" l="l" r="r" t="t"/>
            <a:pathLst>
              <a:path extrusionOk="0" h="133048" w="891656">
                <a:moveTo>
                  <a:pt x="66524" y="0"/>
                </a:moveTo>
                <a:lnTo>
                  <a:pt x="825132" y="0"/>
                </a:lnTo>
                <a:cubicBezTo>
                  <a:pt x="861872" y="0"/>
                  <a:pt x="891656" y="29784"/>
                  <a:pt x="891656" y="66524"/>
                </a:cubicBezTo>
                <a:lnTo>
                  <a:pt x="891656" y="66524"/>
                </a:lnTo>
                <a:cubicBezTo>
                  <a:pt x="891656" y="84167"/>
                  <a:pt x="884647" y="101088"/>
                  <a:pt x="872172" y="113563"/>
                </a:cubicBezTo>
                <a:cubicBezTo>
                  <a:pt x="859696" y="126039"/>
                  <a:pt x="842776" y="133048"/>
                  <a:pt x="825132" y="133048"/>
                </a:cubicBezTo>
                <a:lnTo>
                  <a:pt x="66524" y="133048"/>
                </a:lnTo>
                <a:cubicBezTo>
                  <a:pt x="48881" y="133048"/>
                  <a:pt x="31960" y="126039"/>
                  <a:pt x="19484" y="113563"/>
                </a:cubicBezTo>
                <a:cubicBezTo>
                  <a:pt x="7009" y="101088"/>
                  <a:pt x="0" y="84167"/>
                  <a:pt x="0" y="66524"/>
                </a:cubicBezTo>
                <a:lnTo>
                  <a:pt x="0" y="66524"/>
                </a:lnTo>
                <a:cubicBezTo>
                  <a:pt x="0" y="48881"/>
                  <a:pt x="7009" y="31960"/>
                  <a:pt x="19484" y="19484"/>
                </a:cubicBezTo>
                <a:cubicBezTo>
                  <a:pt x="31960" y="7009"/>
                  <a:pt x="48881" y="0"/>
                  <a:pt x="66524" y="0"/>
                </a:cubicBezTo>
                <a:close/>
              </a:path>
            </a:pathLst>
          </a:custGeom>
          <a:solidFill>
            <a:srgbClr val="FFC00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753" name="Google Shape;2753;h65eb7c06466a6d01_2_956"/>
          <p:cNvSpPr/>
          <p:nvPr/>
        </p:nvSpPr>
        <p:spPr>
          <a:xfrm>
            <a:off x="1443397" y="4252601"/>
            <a:ext cx="2257200" cy="481500"/>
          </a:xfrm>
          <a:prstGeom prst="rect">
            <a:avLst/>
          </a:prstGeom>
          <a:noFill/>
          <a:ln>
            <a:noFill/>
          </a:ln>
        </p:spPr>
        <p:txBody>
          <a:bodyPr anchorCtr="0" anchor="ctr" bIns="33875" lIns="33875" spcFirstLastPara="1" rIns="33875" wrap="square" tIns="33875">
            <a:noAutofit/>
          </a:bodyPr>
          <a:lstStyle/>
          <a:p>
            <a:pPr indent="0" lvl="0" marL="0" marR="0" rtl="0" algn="ctr">
              <a:lnSpc>
                <a:spcPct val="111500"/>
              </a:lnSpc>
              <a:spcBef>
                <a:spcPts val="0"/>
              </a:spcBef>
              <a:spcAft>
                <a:spcPts val="0"/>
              </a:spcAft>
              <a:buSzPts val="1200"/>
              <a:buFont typeface="Arial"/>
              <a:buNone/>
            </a:pPr>
            <a:r>
              <a:t/>
            </a:r>
            <a:endParaRPr sz="1200"/>
          </a:p>
        </p:txBody>
      </p:sp>
      <p:sp>
        <p:nvSpPr>
          <p:cNvPr id="2754" name="Google Shape;2754;h65eb7c06466a6d01_2_956"/>
          <p:cNvSpPr/>
          <p:nvPr/>
        </p:nvSpPr>
        <p:spPr>
          <a:xfrm>
            <a:off x="1605793" y="4452783"/>
            <a:ext cx="225732" cy="226015"/>
          </a:xfrm>
          <a:custGeom>
            <a:rect b="b" l="l" r="r" t="t"/>
            <a:pathLst>
              <a:path extrusionOk="0" h="338599" w="338176">
                <a:moveTo>
                  <a:pt x="0" y="0"/>
                </a:moveTo>
                <a:lnTo>
                  <a:pt x="338176" y="0"/>
                </a:lnTo>
                <a:lnTo>
                  <a:pt x="338176" y="338599"/>
                </a:lnTo>
                <a:lnTo>
                  <a:pt x="0" y="338599"/>
                </a:lnTo>
                <a:lnTo>
                  <a:pt x="0" y="0"/>
                </a:lnTo>
                <a:close/>
              </a:path>
            </a:pathLst>
          </a:custGeom>
          <a:blipFill rotWithShape="1">
            <a:blip r:embed="rId5">
              <a:alphaModFix/>
            </a:blip>
            <a:stretch>
              <a:fillRect b="0" l="0" r="0" t="0"/>
            </a:stretch>
          </a:blipFill>
          <a:ln>
            <a:noFill/>
          </a:ln>
        </p:spPr>
      </p:sp>
      <p:sp>
        <p:nvSpPr>
          <p:cNvPr id="2755" name="Google Shape;2755;h65eb7c06466a6d01_2_956"/>
          <p:cNvSpPr/>
          <p:nvPr/>
        </p:nvSpPr>
        <p:spPr>
          <a:xfrm>
            <a:off x="5696396" y="4397261"/>
            <a:ext cx="2850435" cy="336611"/>
          </a:xfrm>
          <a:custGeom>
            <a:rect b="b" l="l" r="r" t="t"/>
            <a:pathLst>
              <a:path extrusionOk="0" h="133048" w="1126654">
                <a:moveTo>
                  <a:pt x="66524" y="0"/>
                </a:moveTo>
                <a:lnTo>
                  <a:pt x="1060130" y="0"/>
                </a:lnTo>
                <a:cubicBezTo>
                  <a:pt x="1077773" y="0"/>
                  <a:pt x="1094694" y="7009"/>
                  <a:pt x="1107169" y="19484"/>
                </a:cubicBezTo>
                <a:cubicBezTo>
                  <a:pt x="1119645" y="31960"/>
                  <a:pt x="1126654" y="48881"/>
                  <a:pt x="1126654" y="66524"/>
                </a:cubicBezTo>
                <a:lnTo>
                  <a:pt x="1126654" y="66524"/>
                </a:lnTo>
                <a:cubicBezTo>
                  <a:pt x="1126654" y="84167"/>
                  <a:pt x="1119645" y="101088"/>
                  <a:pt x="1107169" y="113563"/>
                </a:cubicBezTo>
                <a:cubicBezTo>
                  <a:pt x="1094694" y="126039"/>
                  <a:pt x="1077773" y="133048"/>
                  <a:pt x="1060130" y="133048"/>
                </a:cubicBezTo>
                <a:lnTo>
                  <a:pt x="66524" y="133048"/>
                </a:lnTo>
                <a:cubicBezTo>
                  <a:pt x="48881" y="133048"/>
                  <a:pt x="31960" y="126039"/>
                  <a:pt x="19484" y="113563"/>
                </a:cubicBezTo>
                <a:cubicBezTo>
                  <a:pt x="7009" y="101088"/>
                  <a:pt x="0" y="84167"/>
                  <a:pt x="0" y="66524"/>
                </a:cubicBezTo>
                <a:lnTo>
                  <a:pt x="0" y="66524"/>
                </a:lnTo>
                <a:cubicBezTo>
                  <a:pt x="0" y="48881"/>
                  <a:pt x="7009" y="31960"/>
                  <a:pt x="19484" y="19484"/>
                </a:cubicBezTo>
                <a:cubicBezTo>
                  <a:pt x="31960" y="7009"/>
                  <a:pt x="48881" y="0"/>
                  <a:pt x="66524" y="0"/>
                </a:cubicBezTo>
                <a:close/>
              </a:path>
            </a:pathLst>
          </a:custGeom>
          <a:solidFill>
            <a:srgbClr val="FFC00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756" name="Google Shape;2756;h65eb7c06466a6d01_2_956"/>
          <p:cNvSpPr/>
          <p:nvPr/>
        </p:nvSpPr>
        <p:spPr>
          <a:xfrm>
            <a:off x="5696396" y="4252601"/>
            <a:ext cx="2851800" cy="481500"/>
          </a:xfrm>
          <a:prstGeom prst="rect">
            <a:avLst/>
          </a:prstGeom>
          <a:noFill/>
          <a:ln>
            <a:noFill/>
          </a:ln>
        </p:spPr>
        <p:txBody>
          <a:bodyPr anchorCtr="0" anchor="ctr" bIns="33875" lIns="33875" spcFirstLastPara="1" rIns="33875" wrap="square" tIns="33875">
            <a:noAutofit/>
          </a:bodyPr>
          <a:lstStyle/>
          <a:p>
            <a:pPr indent="0" lvl="0" marL="0" marR="0" rtl="0" algn="ctr">
              <a:lnSpc>
                <a:spcPct val="111500"/>
              </a:lnSpc>
              <a:spcBef>
                <a:spcPts val="0"/>
              </a:spcBef>
              <a:spcAft>
                <a:spcPts val="0"/>
              </a:spcAft>
              <a:buSzPts val="1200"/>
              <a:buFont typeface="Arial"/>
              <a:buNone/>
            </a:pPr>
            <a:r>
              <a:t/>
            </a:r>
            <a:endParaRPr sz="1200"/>
          </a:p>
        </p:txBody>
      </p:sp>
      <p:sp>
        <p:nvSpPr>
          <p:cNvPr id="2757" name="Google Shape;2757;h65eb7c06466a6d01_2_956"/>
          <p:cNvSpPr/>
          <p:nvPr/>
        </p:nvSpPr>
        <p:spPr>
          <a:xfrm>
            <a:off x="5857345" y="4452783"/>
            <a:ext cx="226015" cy="226015"/>
          </a:xfrm>
          <a:custGeom>
            <a:rect b="b" l="l" r="r" t="t"/>
            <a:pathLst>
              <a:path extrusionOk="0" h="338599" w="338599">
                <a:moveTo>
                  <a:pt x="0" y="0"/>
                </a:moveTo>
                <a:lnTo>
                  <a:pt x="338599" y="0"/>
                </a:lnTo>
                <a:lnTo>
                  <a:pt x="338599" y="338599"/>
                </a:lnTo>
                <a:lnTo>
                  <a:pt x="0" y="338599"/>
                </a:lnTo>
                <a:lnTo>
                  <a:pt x="0" y="0"/>
                </a:lnTo>
                <a:close/>
              </a:path>
            </a:pathLst>
          </a:custGeom>
          <a:blipFill rotWithShape="1">
            <a:blip r:embed="rId5">
              <a:alphaModFix/>
            </a:blip>
            <a:stretch>
              <a:fillRect b="0" l="0" r="0" t="0"/>
            </a:stretch>
          </a:blipFill>
          <a:ln>
            <a:noFill/>
          </a:ln>
        </p:spPr>
      </p:sp>
      <p:sp>
        <p:nvSpPr>
          <p:cNvPr id="2758" name="Google Shape;2758;h65eb7c06466a6d01_2_956"/>
          <p:cNvSpPr/>
          <p:nvPr/>
        </p:nvSpPr>
        <p:spPr>
          <a:xfrm>
            <a:off x="6139933" y="4444364"/>
            <a:ext cx="3285000" cy="210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A3461"/>
              </a:buClr>
              <a:buSzPts val="1200"/>
              <a:buFont typeface="Arial"/>
              <a:buNone/>
            </a:pPr>
            <a:r>
              <a:rPr b="1" lang="en-US" sz="1200">
                <a:solidFill>
                  <a:srgbClr val="0A3461"/>
                </a:solidFill>
                <a:latin typeface="Arial"/>
                <a:ea typeface="Arial"/>
                <a:cs typeface="Arial"/>
                <a:sym typeface="Arial"/>
              </a:rPr>
              <a:t>partnership@sanggabiz.com</a:t>
            </a:r>
            <a:endParaRPr sz="900"/>
          </a:p>
        </p:txBody>
      </p:sp>
      <p:sp>
        <p:nvSpPr>
          <p:cNvPr id="2759" name="Google Shape;2759;h65eb7c06466a6d01_2_956"/>
          <p:cNvSpPr/>
          <p:nvPr/>
        </p:nvSpPr>
        <p:spPr>
          <a:xfrm rot="1547762">
            <a:off x="7463759" y="2021137"/>
            <a:ext cx="5979976" cy="6456767"/>
          </a:xfrm>
          <a:custGeom>
            <a:rect b="b" l="l" r="r" t="t"/>
            <a:pathLst>
              <a:path extrusionOk="0" h="9688906" w="8973442">
                <a:moveTo>
                  <a:pt x="0" y="0"/>
                </a:moveTo>
                <a:lnTo>
                  <a:pt x="8973442" y="0"/>
                </a:lnTo>
                <a:lnTo>
                  <a:pt x="8973442" y="9688906"/>
                </a:lnTo>
                <a:lnTo>
                  <a:pt x="0" y="9688906"/>
                </a:lnTo>
                <a:lnTo>
                  <a:pt x="0" y="0"/>
                </a:lnTo>
                <a:close/>
              </a:path>
            </a:pathLst>
          </a:custGeom>
          <a:blipFill rotWithShape="1">
            <a:blip r:embed="rId4">
              <a:alphaModFix amt="5000"/>
            </a:blip>
            <a:stretch>
              <a:fillRect b="0" l="0" r="-364404" t="0"/>
            </a:stretch>
          </a:blipFill>
          <a:ln cap="flat" cmpd="sng" w="50800">
            <a:solidFill>
              <a:srgbClr val="0B3360">
                <a:alpha val="4710"/>
              </a:srgbClr>
            </a:solidFill>
            <a:prstDash val="solid"/>
            <a:round/>
            <a:headEnd len="sm" w="sm" type="none"/>
            <a:tailEnd len="sm" w="sm" type="none"/>
          </a:ln>
        </p:spPr>
      </p:sp>
      <p:sp>
        <p:nvSpPr>
          <p:cNvPr id="2760" name="Google Shape;2760;h65eb7c06466a6d01_2_956"/>
          <p:cNvSpPr/>
          <p:nvPr/>
        </p:nvSpPr>
        <p:spPr>
          <a:xfrm>
            <a:off x="8738657" y="4397251"/>
            <a:ext cx="1802848" cy="336619"/>
          </a:xfrm>
          <a:custGeom>
            <a:rect b="b" l="l" r="r" t="t"/>
            <a:pathLst>
              <a:path extrusionOk="0" h="133051" w="712588">
                <a:moveTo>
                  <a:pt x="66526" y="0"/>
                </a:moveTo>
                <a:lnTo>
                  <a:pt x="646063" y="0"/>
                </a:lnTo>
                <a:cubicBezTo>
                  <a:pt x="663707" y="0"/>
                  <a:pt x="680628" y="7009"/>
                  <a:pt x="693104" y="19485"/>
                </a:cubicBezTo>
                <a:cubicBezTo>
                  <a:pt x="705580" y="31961"/>
                  <a:pt x="712588" y="48882"/>
                  <a:pt x="712588" y="66526"/>
                </a:cubicBezTo>
                <a:lnTo>
                  <a:pt x="712588" y="66526"/>
                </a:lnTo>
                <a:cubicBezTo>
                  <a:pt x="712588" y="103267"/>
                  <a:pt x="682804" y="133051"/>
                  <a:pt x="646063" y="133051"/>
                </a:cubicBezTo>
                <a:lnTo>
                  <a:pt x="66526" y="133051"/>
                </a:lnTo>
                <a:cubicBezTo>
                  <a:pt x="29785" y="133051"/>
                  <a:pt x="0" y="103267"/>
                  <a:pt x="0" y="66526"/>
                </a:cubicBezTo>
                <a:lnTo>
                  <a:pt x="0" y="66526"/>
                </a:lnTo>
                <a:cubicBezTo>
                  <a:pt x="0" y="29785"/>
                  <a:pt x="29785" y="0"/>
                  <a:pt x="66526" y="0"/>
                </a:cubicBezTo>
                <a:close/>
              </a:path>
            </a:pathLst>
          </a:custGeom>
          <a:solidFill>
            <a:srgbClr val="FFC00C"/>
          </a:solidFill>
          <a:ln>
            <a:noFill/>
          </a:ln>
        </p:spPr>
        <p:txBody>
          <a:bodyPr anchorCtr="0" anchor="ctr" bIns="60975" lIns="60975" spcFirstLastPara="1" rIns="60975" wrap="square" tIns="60975">
            <a:noAutofit/>
          </a:bodyPr>
          <a:lstStyle/>
          <a:p>
            <a:pPr indent="0" lvl="0" marL="0" rtl="0" algn="l">
              <a:spcBef>
                <a:spcPts val="0"/>
              </a:spcBef>
              <a:spcAft>
                <a:spcPts val="0"/>
              </a:spcAft>
              <a:buNone/>
            </a:pPr>
            <a:r>
              <a:t/>
            </a:r>
            <a:endParaRPr/>
          </a:p>
        </p:txBody>
      </p:sp>
      <p:sp>
        <p:nvSpPr>
          <p:cNvPr id="2761" name="Google Shape;2761;h65eb7c06466a6d01_2_956"/>
          <p:cNvSpPr/>
          <p:nvPr/>
        </p:nvSpPr>
        <p:spPr>
          <a:xfrm>
            <a:off x="8738657" y="4252591"/>
            <a:ext cx="1803600" cy="481500"/>
          </a:xfrm>
          <a:prstGeom prst="rect">
            <a:avLst/>
          </a:prstGeom>
          <a:noFill/>
          <a:ln>
            <a:noFill/>
          </a:ln>
        </p:spPr>
        <p:txBody>
          <a:bodyPr anchorCtr="0" anchor="ctr" bIns="33875" lIns="33875" spcFirstLastPara="1" rIns="33875" wrap="square" tIns="33875">
            <a:noAutofit/>
          </a:bodyPr>
          <a:lstStyle/>
          <a:p>
            <a:pPr indent="0" lvl="0" marL="0" marR="0" rtl="0" algn="ctr">
              <a:lnSpc>
                <a:spcPct val="111500"/>
              </a:lnSpc>
              <a:spcBef>
                <a:spcPts val="0"/>
              </a:spcBef>
              <a:spcAft>
                <a:spcPts val="0"/>
              </a:spcAft>
              <a:buSzPts val="1200"/>
              <a:buFont typeface="Arial"/>
              <a:buNone/>
            </a:pPr>
            <a:r>
              <a:t/>
            </a:r>
            <a:endParaRPr sz="1200"/>
          </a:p>
        </p:txBody>
      </p:sp>
      <p:sp>
        <p:nvSpPr>
          <p:cNvPr id="2762" name="Google Shape;2762;h65eb7c06466a6d01_2_956"/>
          <p:cNvSpPr/>
          <p:nvPr/>
        </p:nvSpPr>
        <p:spPr>
          <a:xfrm>
            <a:off x="8872003" y="4436738"/>
            <a:ext cx="258144" cy="258144"/>
          </a:xfrm>
          <a:custGeom>
            <a:rect b="b" l="l" r="r" t="t"/>
            <a:pathLst>
              <a:path extrusionOk="0" h="386732" w="386732">
                <a:moveTo>
                  <a:pt x="0" y="0"/>
                </a:moveTo>
                <a:lnTo>
                  <a:pt x="386732" y="0"/>
                </a:lnTo>
                <a:lnTo>
                  <a:pt x="386732" y="386732"/>
                </a:lnTo>
                <a:lnTo>
                  <a:pt x="0" y="386732"/>
                </a:lnTo>
                <a:lnTo>
                  <a:pt x="0" y="0"/>
                </a:lnTo>
                <a:close/>
              </a:path>
            </a:pathLst>
          </a:custGeom>
          <a:blipFill rotWithShape="1">
            <a:blip r:embed="rId5">
              <a:alphaModFix/>
            </a:blip>
            <a:stretch>
              <a:fillRect b="0" l="0" r="0" t="0"/>
            </a:stretch>
          </a:blipFill>
          <a:ln>
            <a:noFill/>
          </a:ln>
        </p:spPr>
      </p:sp>
      <p:sp>
        <p:nvSpPr>
          <p:cNvPr id="2763" name="Google Shape;2763;h65eb7c06466a6d01_2_956"/>
          <p:cNvSpPr/>
          <p:nvPr/>
        </p:nvSpPr>
        <p:spPr>
          <a:xfrm>
            <a:off x="4337506" y="4444364"/>
            <a:ext cx="1024500" cy="210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73763"/>
              </a:buClr>
              <a:buSzPts val="1200"/>
              <a:buFont typeface="Arial"/>
              <a:buNone/>
            </a:pPr>
            <a:r>
              <a:rPr b="1" lang="en-US" sz="1200">
                <a:solidFill>
                  <a:srgbClr val="073763"/>
                </a:solidFill>
                <a:latin typeface="Arial"/>
                <a:ea typeface="Arial"/>
                <a:cs typeface="Arial"/>
                <a:sym typeface="Arial"/>
              </a:rPr>
              <a:t>sanggabiz</a:t>
            </a:r>
            <a:endParaRPr sz="900"/>
          </a:p>
        </p:txBody>
      </p:sp>
      <p:sp>
        <p:nvSpPr>
          <p:cNvPr id="2764" name="Google Shape;2764;h65eb7c06466a6d01_2_956"/>
          <p:cNvSpPr/>
          <p:nvPr/>
        </p:nvSpPr>
        <p:spPr>
          <a:xfrm>
            <a:off x="1886934" y="4444364"/>
            <a:ext cx="1685700" cy="210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73763"/>
              </a:buClr>
              <a:buSzPts val="1200"/>
              <a:buFont typeface="Arial"/>
              <a:buNone/>
            </a:pPr>
            <a:r>
              <a:rPr b="1" lang="en-US" sz="1200">
                <a:solidFill>
                  <a:srgbClr val="073763"/>
                </a:solidFill>
                <a:latin typeface="Arial"/>
                <a:ea typeface="Arial"/>
                <a:cs typeface="Arial"/>
                <a:sym typeface="Arial"/>
              </a:rPr>
              <a:t>www.sanggabiz.com</a:t>
            </a:r>
            <a:endParaRPr sz="900"/>
          </a:p>
        </p:txBody>
      </p:sp>
      <p:sp>
        <p:nvSpPr>
          <p:cNvPr id="2765" name="Google Shape;2765;h65eb7c06466a6d01_2_956"/>
          <p:cNvSpPr/>
          <p:nvPr/>
        </p:nvSpPr>
        <p:spPr>
          <a:xfrm>
            <a:off x="9193316" y="4444355"/>
            <a:ext cx="1263600" cy="210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A3461"/>
              </a:buClr>
              <a:buSzPts val="1200"/>
              <a:buFont typeface="Arial"/>
              <a:buNone/>
            </a:pPr>
            <a:r>
              <a:rPr b="1" lang="en-US" sz="1200">
                <a:solidFill>
                  <a:srgbClr val="0A3461"/>
                </a:solidFill>
                <a:latin typeface="Arial"/>
                <a:ea typeface="Arial"/>
                <a:cs typeface="Arial"/>
                <a:sym typeface="Arial"/>
              </a:rPr>
              <a:t>0877-7413-4288</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