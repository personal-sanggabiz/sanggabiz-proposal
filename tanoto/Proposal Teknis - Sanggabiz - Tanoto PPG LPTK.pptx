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1941036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417320"/>
            <a:ext cx="6309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 spc="30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PROPOSAL TEKNIS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3093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Mitra Pelaksana Program Pendampingan Teknis LPTK Penyelenggara PPG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605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Menuju Akreditasi Unggul: dari rencana tindak lanjut ke bukti yang siap diakreditasi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5852160" cy="548640"/>
          </a:xfrm>
          <a:prstGeom prst="roundRect">
            <a:avLst>
              <a:gd name="adj" fmla="val 50000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12 LPTK  ·  5 Provinsi  ·  6 Oktober – 31 Desember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Untuk: </a:t>
            </a:r>
            <a:r>
              <a:rPr sz="13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Tanoto Foundation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RFP No. 0648/TF-JKT/VIII/2026  ·  Diajukan 30 September 2026</a:t>
            </a:r>
          </a:p>
        </p:txBody>
      </p:sp>
      <p:pic>
        <p:nvPicPr>
          <p:cNvPr id="9" name="Picture 8" descr="cache_image3_229x3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7589520" y="320040"/>
            <a:ext cx="2103120" cy="2743200"/>
          </a:xfrm>
          <a:prstGeom prst="roundRect">
            <a:avLst/>
          </a:prstGeom>
        </p:spPr>
      </p:pic>
      <p:pic>
        <p:nvPicPr>
          <p:cNvPr id="10" name="Picture 9" descr="cache_image37_229x29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00000">
            <a:off x="9646920" y="685800"/>
            <a:ext cx="2103120" cy="2651760"/>
          </a:xfrm>
          <a:prstGeom prst="roundRect">
            <a:avLst/>
          </a:prstGeom>
        </p:spPr>
      </p:pic>
      <p:pic>
        <p:nvPicPr>
          <p:cNvPr id="11" name="Picture 10" descr="cache_image124_250x29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240000">
            <a:off x="7315200" y="3291840"/>
            <a:ext cx="2286000" cy="2651760"/>
          </a:xfrm>
          <a:prstGeom prst="roundRect">
            <a:avLst/>
          </a:prstGeom>
        </p:spPr>
      </p:pic>
      <p:pic>
        <p:nvPicPr>
          <p:cNvPr id="12" name="Picture 11" descr="cache_image6_250x29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00000">
            <a:off x="9509760" y="3611880"/>
            <a:ext cx="2286000" cy="2651760"/>
          </a:xfrm>
          <a:prstGeom prst="round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19088"/>
            <a:ext cx="120159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0240" y="64556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Proposal Teknis  ·  RFP No. 0648/TF-JKT/VIII/2026  ·  Tanoto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55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RINGKASAN EKSEKUTIF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Dari rencana tindak lanjut menjadi bukti yang siap akreditasi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726948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35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Kegiatan.  </a:t>
            </a: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Sanggabiz mengoordinasikan pendampingan luring Tim Pendamping Nasional Direktorat PPG di 12 LPTK yang sama dengan yang dibina Tanoto Foundation pada Supervisi 2025 — bukan kelompok baru, melainkan kelanjutan langsung: menelaah pelaksanaan tindakan perbaikan hasil Supervisi 2025, memperkuat kesiapan akreditasi, dan mengidentifikasi peluang peningkatan mutu PPL, sesuai tujuan yang ditetapkan Tanoto Foundation sendiri.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35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Hasil.  </a:t>
            </a: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Tiap LPTK menerima Laporan Pendampingan dan Paket Perbaikan Akreditasi paling lambat 14 hari setelah kunjungan: pemetaan kualifikasi dosen, telaah kurikulum OBE, pemetaan awal PPL, celah bukti akreditasi, dan RTL ber-penanggung jawab dan bertenggat. Di akhir program: studi komparatif terhadap kelompok LPTK pembanding, analisis lintas LPTK, dan rekomendasi pedoman pendampingan teknis (final 7 Desember 2026).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35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Kebaruan.  </a:t>
            </a: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Lima fokus 2026 dan empat temuan Supervisi 2025 milik Tanoto Foundation sendiri menjadi kerangka kerja utama kami, diterjemahkan ke rubrik akreditasi LAMDIK/BAN-PT sebagai bahasa teknis. Evidence Register menelusuri setiap bukti. Rute berklaster menghemat biaya perjalanan sehingga LPTK tambahan dapat dilayani.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35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Dana yang diminta.  </a:t>
            </a:r>
            <a:r>
              <a: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Rp510.000.000 (termasuk management fee dan pajak) untuk 12 LPTK inti + 2 LPTK tambahan; atau Rp426.120.000 bila hanya 12 LPTK.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691640"/>
            <a:ext cx="1737360" cy="2057400"/>
          </a:xfrm>
          <a:prstGeom prst="roundRect">
            <a:avLst>
              <a:gd name="adj" fmla="val 14736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83879" y="1892808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19" y="278892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LPTK di 5 provinsi,
lanjutan Supervisi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1691640"/>
            <a:ext cx="1737360" cy="2057400"/>
          </a:xfrm>
          <a:prstGeom prst="roundRect">
            <a:avLst>
              <a:gd name="adj" fmla="val 14736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058400" y="1892808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278892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fokus 2026 Tanoto
Foundation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3931920"/>
            <a:ext cx="1737360" cy="2057400"/>
          </a:xfrm>
          <a:prstGeom prst="roundRect">
            <a:avLst>
              <a:gd name="adj" fmla="val 14736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183879" y="4133088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≤14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502920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hari: laporan tiap LPTK
setelah kunjungan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3931920"/>
            <a:ext cx="1737360" cy="2057400"/>
          </a:xfrm>
          <a:prstGeom prst="roundRect">
            <a:avLst>
              <a:gd name="adj" fmla="val 14736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058400" y="4133088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7 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502920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Paket Laporan Akhir
(final, 2026)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19088"/>
            <a:ext cx="120159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0240" y="64556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Proposal Teknis  ·  RFP No. 0648/TF-JKT/VIII/2026  ·  Tanoto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55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KEMUDAHAN PENILAIAN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Peta kesesuaian proposal dengan RFP dan kriteria penilaian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691640"/>
          <a:ext cx="5440680" cy="42519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480560"/>
                <a:gridCol w="96012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92647"/>
                          </a:solidFill>
                          <a:latin typeface="Montserrat"/>
                          <a:ea typeface="Montserrat"/>
                          <a:cs typeface="Montserrat"/>
                        </a:rPr>
                        <a:t>Ketentuan RFP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FFC0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92647"/>
                          </a:solidFill>
                          <a:latin typeface="Montserrat"/>
                          <a:ea typeface="Montserrat"/>
                          <a:cs typeface="Montserrat"/>
                        </a:rPr>
                        <a:t>Slide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FFC00C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Ringkasan Eksekutif (1 halaman)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2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Teori Perubahan (Theory of Change) TF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Deskripsi Proyek per tujuan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9–12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Pendekatan terdiferensiasi, penelaahan bukti akreditasi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6, 8, 13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Tindak lanjut hasil supervisi 2025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4, 9, 14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Pemetaan pelaksanaan PPL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10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Metode studi komparatif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11, 15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Pengelolaan data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16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Rute dan pengelolaan multilokasi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17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72200" y="1691640"/>
          <a:ext cx="5440680" cy="404164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480560"/>
                <a:gridCol w="96012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92647"/>
                          </a:solidFill>
                          <a:latin typeface="Montserrat"/>
                          <a:ea typeface="Montserrat"/>
                          <a:cs typeface="Montserrat"/>
                        </a:rPr>
                        <a:t>Ketentuan RFP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FFC0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92647"/>
                          </a:solidFill>
                          <a:latin typeface="Montserrat"/>
                          <a:ea typeface="Montserrat"/>
                          <a:cs typeface="Montserrat"/>
                        </a:rPr>
                        <a:t>Slide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FFC00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Linimasa dan deliverables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18–19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Mitigasi risiko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20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Tata kelola (governance)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21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Tim dan personel kunci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22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Strategi keberlanjutan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23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Anggaran dan skema pembayaran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24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Pengalaman dan reputasi calon mitra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25–28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Komitmen kelembagaan dan kepatuhan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29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89788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0D2A4E"/>
          </a:solidFill>
          <a:ln w="19050">
            <a:solidFill>
              <a:srgbClr val="FFC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04088" y="5897880"/>
            <a:ext cx="685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589788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Pendekatan teknis dan strategi implementasi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1" y="589788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474720" y="5897880"/>
            <a:ext cx="685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78224" y="589788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Pengalaman dan reputasi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589788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45352" y="5897880"/>
            <a:ext cx="685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8856" y="589788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Kualitas dan kapabilitas tim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589788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15984" y="5897880"/>
            <a:ext cx="685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9488" y="589788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Efisiensi anggaran dan jadwal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19088"/>
            <a:ext cx="120159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0240" y="64556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Proposal Teknis  ·  RFP No. 0648/TF-JKT/VIII/2026  ·  Tanoto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55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PEMAHAMAN TERHADAP TUJUAN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Konteks program: empat temuan Supervisi 2025 yang harus dijawab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2606040" cy="1737360"/>
          </a:xfrm>
          <a:prstGeom prst="roundRect">
            <a:avLst>
              <a:gd name="adj" fmla="val 14736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4360" y="1673352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6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169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32304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LPTK disupervisi
mutu tahunan (2025)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1" y="1600200"/>
            <a:ext cx="2606040" cy="1737360"/>
          </a:xfrm>
          <a:prstGeom prst="roundRect">
            <a:avLst>
              <a:gd name="adj" fmla="val 14736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364991" y="1673352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6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32304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LPTK disupervisi
mendalam Direktorat PPG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5624" y="1600200"/>
            <a:ext cx="2606040" cy="1737360"/>
          </a:xfrm>
          <a:prstGeom prst="roundRect">
            <a:avLst>
              <a:gd name="adj" fmla="val 14736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135624" y="1673352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6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2432304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dari 172 LPTK (2026) terpilih
pendampingan luring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600200"/>
            <a:ext cx="2606040" cy="1737360"/>
          </a:xfrm>
          <a:prstGeom prst="roundRect">
            <a:avLst>
              <a:gd name="adj" fmla="val 14736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906256" y="1673352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6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2432304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LPTK luring didukung TF —
lanjutan langsung dari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401568"/>
            <a:ext cx="110029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Empat temuan utama Supervisi 2025 (Tanoto Foundation)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703320"/>
            <a:ext cx="5440680" cy="1115568"/>
          </a:xfrm>
          <a:prstGeom prst="roundRect">
            <a:avLst>
              <a:gd name="adj" fmla="val 14754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3794759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4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776472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Implementasi OBE masih terbatas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279392"/>
            <a:ext cx="4617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Tujuan, desain perkuliahan, dan asesmen belum selaras secara konsisten.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3703320"/>
            <a:ext cx="5440680" cy="1115568"/>
          </a:xfrm>
          <a:prstGeom prst="roundRect">
            <a:avLst>
              <a:gd name="adj" fmla="val 14754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91072" y="3794759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4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776472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Pembelajaran inklusif dan berpusat pada mahasiswa belum konsisten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4279392"/>
            <a:ext cx="4617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Praktik pembelajaran belum mendorong partisipasi aktif, dukungan sesuai kebutuhan, dan keterlibatan mahasiswa.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892040"/>
            <a:ext cx="5440680" cy="1115568"/>
          </a:xfrm>
          <a:prstGeom prst="roundRect">
            <a:avLst>
              <a:gd name="adj" fmla="val 14754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31520" y="4983479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4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965192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Mutu praktikum mengajar dan umpan balik belum konsisten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468112"/>
            <a:ext cx="4617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Praktik mengajar, pendampingan, observasi kelas, dan umpan balik yang dapat ditindaklanjuti bervariasi antar-LPTK.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53912" y="4892040"/>
            <a:ext cx="5440680" cy="1115568"/>
          </a:xfrm>
          <a:prstGeom prst="roundRect">
            <a:avLst>
              <a:gd name="adj" fmla="val 14754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1072" y="4983479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4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4965192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Penjaminan mutu belum jadi dasar perbaikan sistematis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9712" y="5468112"/>
            <a:ext cx="4617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Hasil evaluasi mutu belum ditindaklanjuti untuk memperbaiki penyelenggaraan PPG.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108192"/>
            <a:ext cx="110029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8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Sumber: TOR PPG Technical Assistance 2026 (Tanoto Foundation, dibagikan 25 Sep 2026). 12 LPTK sasaran adalah kohort yang sama dengan pembinaan luring TF 2025 — bukan LPTK baru.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19088"/>
            <a:ext cx="120159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0240" y="64556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Proposal Teknis  ·  RFP No. 0648/TF-JKT/VIII/2026  ·  Tanoto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55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KERANGKA LOGIS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Teori Perubahan Tanoto Foundation, yang menjadi kerangka kerja kami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1907987" cy="4160520"/>
          </a:xfrm>
          <a:prstGeom prst="roundRect">
            <a:avLst>
              <a:gd name="adj" fmla="val 9584"/>
            </a:avLst>
          </a:prstGeom>
          <a:solidFill>
            <a:srgbClr val="0D2A4E"/>
          </a:solidFill>
          <a:ln w="22225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4088" y="1828800"/>
            <a:ext cx="168853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2F7E9D"/>
                </a:solidFill>
                <a:latin typeface="Montserrat"/>
                <a:ea typeface="Montserrat"/>
                <a:cs typeface="Montserrat"/>
              </a:rPr>
              <a:t>Aktivitas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23160"/>
            <a:ext cx="1688531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000" b="0" i="0">
                <a:solidFill>
                  <a:srgbClr val="2F7E9D"/>
                </a:solidFill>
                <a:latin typeface="Montserrat"/>
                <a:ea typeface="Montserrat"/>
                <a:cs typeface="Montserrat"/>
              </a:rPr>
              <a:t>Menyusun bersama pedoman dan modul pendampingan teknis</a:t>
            </a:r>
          </a:p>
          <a:p>
            <a:pPr algn="l" marL="201168" indent="-201168">
              <a:lnSpc>
                <a:spcPct val="10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000" b="0" i="0">
                <a:solidFill>
                  <a:srgbClr val="2F7E9D"/>
                </a:solidFill>
                <a:latin typeface="Montserrat"/>
                <a:ea typeface="Montserrat"/>
                <a:cs typeface="Montserrat"/>
              </a:rPr>
              <a:t>Melaksanakan studi komparatif dengan dan tanpa dukungan TF</a:t>
            </a:r>
          </a:p>
          <a:p>
            <a:pPr algn="l" marL="201168" indent="-201168">
              <a:lnSpc>
                <a:spcPct val="10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000" b="0" i="0">
                <a:solidFill>
                  <a:srgbClr val="2F7E9D"/>
                </a:solidFill>
                <a:latin typeface="Montserrat"/>
                <a:ea typeface="Montserrat"/>
                <a:cs typeface="Montserrat"/>
              </a:rPr>
              <a:t>Memverifikasi kemajuan RTL pembinaan 2025</a:t>
            </a:r>
          </a:p>
          <a:p>
            <a:pPr algn="l" marL="201168" indent="-201168">
              <a:lnSpc>
                <a:spcPct val="10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000" b="0" i="0">
                <a:solidFill>
                  <a:srgbClr val="2F7E9D"/>
                </a:solidFill>
                <a:latin typeface="Montserrat"/>
                <a:ea typeface="Montserrat"/>
                <a:cs typeface="Montserrat"/>
              </a:rPr>
              <a:t>Penguatan kapasitas teknis dan konsultasi langsung ke 12 LPTK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347" y="3291840"/>
            <a:ext cx="365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8107" y="1691640"/>
            <a:ext cx="1907987" cy="4160520"/>
          </a:xfrm>
          <a:prstGeom prst="roundRect">
            <a:avLst>
              <a:gd name="adj" fmla="val 9584"/>
            </a:avLst>
          </a:prstGeom>
          <a:solidFill>
            <a:srgbClr val="0D2A4E"/>
          </a:solidFill>
          <a:ln w="22225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977835" y="1828800"/>
            <a:ext cx="168853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2F7E9D"/>
                </a:solidFill>
                <a:latin typeface="Montserrat"/>
                <a:ea typeface="Montserrat"/>
                <a:cs typeface="Montserrat"/>
              </a:rPr>
              <a:t>Luaran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7835" y="2423160"/>
            <a:ext cx="1688531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000" b="0" i="0">
                <a:solidFill>
                  <a:srgbClr val="2F7E9D"/>
                </a:solidFill>
                <a:latin typeface="Montserrat"/>
                <a:ea typeface="Montserrat"/>
                <a:cs typeface="Montserrat"/>
              </a:rPr>
              <a:t>Pedoman dan modul pendampingan teknis</a:t>
            </a:r>
          </a:p>
          <a:p>
            <a:pPr algn="l" marL="201168" indent="-201168">
              <a:lnSpc>
                <a:spcPct val="10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000" b="0" i="0">
                <a:solidFill>
                  <a:srgbClr val="2F7E9D"/>
                </a:solidFill>
                <a:latin typeface="Montserrat"/>
                <a:ea typeface="Montserrat"/>
                <a:cs typeface="Montserrat"/>
              </a:rPr>
              <a:t>Paket perbaikan akreditasi</a:t>
            </a:r>
          </a:p>
          <a:p>
            <a:pPr algn="l" marL="201168" indent="-201168">
              <a:lnSpc>
                <a:spcPct val="10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000" b="0" i="0">
                <a:solidFill>
                  <a:srgbClr val="2F7E9D"/>
                </a:solidFill>
                <a:latin typeface="Montserrat"/>
                <a:ea typeface="Montserrat"/>
                <a:cs typeface="Montserrat"/>
              </a:rPr>
              <a:t>Analisis lintas LPTK dan rekomendasi berikutnya</a:t>
            </a:r>
          </a:p>
          <a:p>
            <a:pPr algn="l" marL="201168" indent="-201168">
              <a:lnSpc>
                <a:spcPct val="10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000" b="0" i="0">
                <a:solidFill>
                  <a:srgbClr val="2F7E9D"/>
                </a:solidFill>
                <a:latin typeface="Montserrat"/>
                <a:ea typeface="Montserrat"/>
                <a:cs typeface="Montserrat"/>
              </a:rPr>
              <a:t>Laporan studi komparatif dan kemajuan RTL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6094" y="3291840"/>
            <a:ext cx="365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41854" y="1691640"/>
            <a:ext cx="1907987" cy="4160520"/>
          </a:xfrm>
          <a:prstGeom prst="roundRect">
            <a:avLst>
              <a:gd name="adj" fmla="val 9584"/>
            </a:avLst>
          </a:prstGeom>
          <a:solidFill>
            <a:srgbClr val="2F7E9D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251582" y="1828800"/>
            <a:ext cx="168853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Outcome Antara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1582" y="2423160"/>
            <a:ext cx="1688531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0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LPTK menunjukkan kemajuan melaksanakan tindakan prioritas hasil pembinaan 2025</a:t>
            </a:r>
          </a:p>
          <a:p>
            <a:pPr algn="l" marL="201168" indent="-201168">
              <a:lnSpc>
                <a:spcPct val="10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0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Direktorat PPG memiliki pendekatan pendampingan yang teruji dan bukti untuk mengarahkan dukungan berikutnya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9841" y="3291840"/>
            <a:ext cx="365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15601" y="1691640"/>
            <a:ext cx="1907987" cy="4160520"/>
          </a:xfrm>
          <a:prstGeom prst="roundRect">
            <a:avLst>
              <a:gd name="adj" fmla="val 9584"/>
            </a:avLst>
          </a:prstGeom>
          <a:solidFill>
            <a:srgbClr val="2F7E9D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25329" y="1828800"/>
            <a:ext cx="168853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329" y="2423160"/>
            <a:ext cx="1688531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0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Kapasitas LPTK meningkat dalam memenuhi indikator utama akreditasi dan memperbaiki penyelenggaraan PPG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3588" y="3291840"/>
            <a:ext cx="365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89348" y="1691640"/>
            <a:ext cx="1907987" cy="4160520"/>
          </a:xfrm>
          <a:prstGeom prst="roundRect">
            <a:avLst>
              <a:gd name="adj" fmla="val 9584"/>
            </a:avLst>
          </a:prstGeom>
          <a:solidFill>
            <a:srgbClr val="FFC00C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799076" y="1828800"/>
            <a:ext cx="168853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Dampak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076" y="2423160"/>
            <a:ext cx="1688531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000" b="0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Kesiapan LPTK untuk reakreditasi meningkat dan menunjukkan kemajuan menuju Akreditasi Unggul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989320"/>
            <a:ext cx="110029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Ini adalah kerangka logis milik Tanoto Foundation sendiri </a:t>
            </a: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(TOR PPG Technical Assistance 2026). Kami mengikat setiap kegiatan, luaran, dan indikator keberhasilan proposal ini langsung ke lima kolom di atas — bukan menciptakan kerangka baru.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19088"/>
            <a:ext cx="120159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0240" y="64556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Proposal Teknis  ·  RFP No. 0648/TF-JKT/VIII/2026  ·  Tanoto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55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PENDEKATAN TEKNIS · 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Lima fokus 2026 Tanoto Foundation, dengan bahasa akreditasi sebagai penerjemah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600200"/>
          <a:ext cx="11000232" cy="407822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31720"/>
                <a:gridCol w="2880360"/>
                <a:gridCol w="3520440"/>
                <a:gridCol w="2267712"/>
              </a:tblGrid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80" b="1" i="0">
                          <a:solidFill>
                            <a:srgbClr val="092647"/>
                          </a:solidFill>
                          <a:latin typeface="Montserrat"/>
                          <a:ea typeface="Montserrat"/>
                          <a:cs typeface="Montserrat"/>
                        </a:rPr>
                        <a:t>Fokus 2026 (bahasa TF)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FFC0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80" b="1" i="0">
                          <a:solidFill>
                            <a:srgbClr val="092647"/>
                          </a:solidFill>
                          <a:latin typeface="Montserrat"/>
                          <a:ea typeface="Montserrat"/>
                          <a:cs typeface="Montserrat"/>
                        </a:rPr>
                        <a:t>Temuan Supervisi 2025 terkait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FFC0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80" b="1" i="0">
                          <a:solidFill>
                            <a:srgbClr val="092647"/>
                          </a:solidFill>
                          <a:latin typeface="Montserrat"/>
                          <a:ea typeface="Montserrat"/>
                          <a:cs typeface="Montserrat"/>
                        </a:rPr>
                        <a:t>Pendekatan kami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FFC0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80" b="1" i="0">
                          <a:solidFill>
                            <a:srgbClr val="092647"/>
                          </a:solidFill>
                          <a:latin typeface="Montserrat"/>
                          <a:ea typeface="Montserrat"/>
                          <a:cs typeface="Montserrat"/>
                        </a:rPr>
                        <a:t>Elemen akreditasi (LAMDIK)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FFC00C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80" b="1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1  Peningkatan kualitas dosen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8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—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8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Memetakan kualifikasi dosen, identifikasi kebutuhan penguatan prioritas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8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Kualitas DTPS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80" b="1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2  Penguatan OBE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8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Temuan 1: OBE masih terbatas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8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Menelaah keselarasan tujuan, desain perkuliahan, asesmen CPL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8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Asesmen CPL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80" b="1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5  Optimalisasi PPL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8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Temuan 2 &amp; 3: pembelajaran belum berpusat mahasiswa; praktikum dan umpan balik bervariasi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8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Menelaah standar, peran, pendampingan, dan umpan balik PPL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8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Pembelajaran mikro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80" b="1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3  Penjaminan mutu berkelanjutan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8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Temuan 4: penjaminan mutu belum jadi dasar perbaikan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8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Menelaah pelaksanaan peningkatan mutu dan bukti pendukungnya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8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SPMI siklus PPEPP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80" b="1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4  Karya inovatif dan publikasi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8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—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8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Mengidentifikasi potensi publikasi dan inovasi dosen, mahasiswa, guru pamong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8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Publikasi DTPS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94360" y="5623560"/>
            <a:ext cx="11002975" cy="685800"/>
          </a:xfrm>
          <a:prstGeom prst="roundRect">
            <a:avLst>
              <a:gd name="adj" fmla="val 26666"/>
            </a:avLst>
          </a:prstGeom>
          <a:solidFill>
            <a:srgbClr val="0D2A4E"/>
          </a:solidFill>
          <a:ln w="19050">
            <a:solidFill>
              <a:srgbClr val="FFC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5623560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Kerangka utama proposal ini adalah bahasa 5 fokus dan 4 temuan Tanoto Foundation sendiri (TOR PPG Technical Assistance 2026). </a:t>
            </a: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Kolom kanan (elemen LAMDIK/BAN-PT, IAPSK 3.0) hanya penerjemah teknis ke bahasa akreditasi resmi — detail ambang dan rubriknya ada di lampiran.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19088"/>
            <a:ext cx="120159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0240" y="64556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Proposal Teknis  ·  RFP No. 0648/TF-JKT/VIII/2026  ·  Tanoto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55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RUANG LINGKUP MITRA PELAKSANA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Peran yang jelas: siapa melakukan apa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3566160" cy="3657600"/>
          </a:xfrm>
          <a:prstGeom prst="roundRect">
            <a:avLst>
              <a:gd name="adj" fmla="val 7179"/>
            </a:avLst>
          </a:prstGeom>
          <a:solidFill>
            <a:srgbClr val="0D2A4E"/>
          </a:solidFill>
          <a:ln w="28575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914400" y="164592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FFC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Direktorat PPG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286000"/>
            <a:ext cx="31089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1000"/>
              </a:spcAft>
              <a:buClr>
                <a:srgbClr val="FFC00C"/>
              </a:buClr>
              <a:buFont typeface="Arial"/>
              <a:buChar char="•"/>
            </a:pPr>
            <a:r>
              <a:rPr sz="14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Menetapkan kebijakan dan Pedoman Pendampingan 2026</a:t>
            </a:r>
          </a:p>
          <a:p>
            <a:pPr algn="l" marL="201168" indent="-201168">
              <a:lnSpc>
                <a:spcPct val="110000"/>
              </a:lnSpc>
              <a:spcAft>
                <a:spcPts val="1000"/>
              </a:spcAft>
              <a:buClr>
                <a:srgbClr val="FFC00C"/>
              </a:buClr>
              <a:buFont typeface="Arial"/>
              <a:buChar char="•"/>
            </a:pPr>
            <a:r>
              <a:rPr sz="14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Menetapkan Tim Pendamping Nasional (TPN, 2 orang per kunjungan)</a:t>
            </a:r>
          </a:p>
          <a:p>
            <a:pPr algn="l" marL="201168" indent="-201168">
              <a:lnSpc>
                <a:spcPct val="110000"/>
              </a:lnSpc>
              <a:spcAft>
                <a:spcPts val="1000"/>
              </a:spcAft>
              <a:buClr>
                <a:srgbClr val="FFC00C"/>
              </a:buClr>
              <a:buFont typeface="Arial"/>
              <a:buChar char="•"/>
            </a:pPr>
            <a:r>
              <a:rPr sz="14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Pendampingan substantif ke LPTK</a:t>
            </a:r>
          </a:p>
          <a:p>
            <a:pPr algn="l" marL="201168" indent="-201168">
              <a:lnSpc>
                <a:spcPct val="110000"/>
              </a:lnSpc>
              <a:spcAft>
                <a:spcPts val="1000"/>
              </a:spcAft>
              <a:buClr>
                <a:srgbClr val="FFC00C"/>
              </a:buClr>
              <a:buFont typeface="Arial"/>
              <a:buChar char="•"/>
            </a:pPr>
            <a:r>
              <a:rPr sz="14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Menerima rekomendasi penyempurnaan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28800"/>
            <a:ext cx="3566160" cy="3657600"/>
          </a:xfrm>
          <a:prstGeom prst="roundRect">
            <a:avLst>
              <a:gd name="adj" fmla="val 7179"/>
            </a:avLst>
          </a:prstGeom>
          <a:solidFill>
            <a:srgbClr val="0D2A4E"/>
          </a:solidFill>
          <a:ln w="28575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617720" y="164592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FFC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17720" y="16459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Tanoto Foundation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286000"/>
            <a:ext cx="31089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1000"/>
              </a:spcAft>
              <a:buClr>
                <a:srgbClr val="FFC00C"/>
              </a:buClr>
              <a:buFont typeface="Arial"/>
              <a:buChar char="•"/>
            </a:pPr>
            <a:r>
              <a:rPr sz="14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Sponsor dan pengarah program</a:t>
            </a:r>
          </a:p>
          <a:p>
            <a:pPr algn="l" marL="201168" indent="-201168">
              <a:lnSpc>
                <a:spcPct val="110000"/>
              </a:lnSpc>
              <a:spcAft>
                <a:spcPts val="1000"/>
              </a:spcAft>
              <a:buClr>
                <a:srgbClr val="FFC00C"/>
              </a:buClr>
              <a:buFont typeface="Arial"/>
              <a:buChar char="•"/>
            </a:pPr>
            <a:r>
              <a:rPr sz="14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Menyepakati kelompok pembanding dan akses data</a:t>
            </a:r>
          </a:p>
          <a:p>
            <a:pPr algn="l" marL="201168" indent="-201168">
              <a:lnSpc>
                <a:spcPct val="110000"/>
              </a:lnSpc>
              <a:spcAft>
                <a:spcPts val="1000"/>
              </a:spcAft>
              <a:buClr>
                <a:srgbClr val="FFC00C"/>
              </a:buClr>
              <a:buFont typeface="Arial"/>
              <a:buChar char="•"/>
            </a:pPr>
            <a:r>
              <a:rPr sz="14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Mereviu laporan, memberi persetujuan hasil</a:t>
            </a:r>
          </a:p>
          <a:p>
            <a:pPr algn="l" marL="201168" indent="-201168">
              <a:lnSpc>
                <a:spcPct val="110000"/>
              </a:lnSpc>
              <a:spcAft>
                <a:spcPts val="1000"/>
              </a:spcAft>
              <a:buClr>
                <a:srgbClr val="FFC00C"/>
              </a:buClr>
              <a:buFont typeface="Arial"/>
              <a:buChar char="•"/>
            </a:pPr>
            <a:r>
              <a:rPr sz="14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Menerima pembelajaran perbandingan LPTK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828800"/>
            <a:ext cx="3566160" cy="3657600"/>
          </a:xfrm>
          <a:prstGeom prst="roundRect">
            <a:avLst>
              <a:gd name="adj" fmla="val 7179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321040" y="164592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FFC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321040" y="16459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Sanggabiz (mitra pelaksana)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286000"/>
            <a:ext cx="31089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1000"/>
              </a:spcAft>
              <a:buClr>
                <a:srgbClr val="FFC00C"/>
              </a:buClr>
              <a:buFont typeface="Arial"/>
              <a:buChar char="•"/>
            </a:pPr>
            <a:r>
              <a:rPr sz="14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Menyiapkan perangkat: rencana kerja, instrumen, jadwal</a:t>
            </a:r>
          </a:p>
          <a:p>
            <a:pPr algn="l" marL="201168" indent="-201168">
              <a:lnSpc>
                <a:spcPct val="110000"/>
              </a:lnSpc>
              <a:spcAft>
                <a:spcPts val="1000"/>
              </a:spcAft>
              <a:buClr>
                <a:srgbClr val="FFC00C"/>
              </a:buClr>
              <a:buFont typeface="Arial"/>
              <a:buChar char="•"/>
            </a:pPr>
            <a:r>
              <a:rPr sz="14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Mengoordinasikan kunjungan luring 12 LPTK dan kebutuhan operasional TPN</a:t>
            </a:r>
          </a:p>
          <a:p>
            <a:pPr algn="l" marL="201168" indent="-201168">
              <a:lnSpc>
                <a:spcPct val="110000"/>
              </a:lnSpc>
              <a:spcAft>
                <a:spcPts val="1000"/>
              </a:spcAft>
              <a:buClr>
                <a:srgbClr val="FFC00C"/>
              </a:buClr>
              <a:buFont typeface="Arial"/>
              <a:buChar char="•"/>
            </a:pPr>
            <a:r>
              <a:rPr sz="14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Menghimpun bukti kemajuan RTL dan memantau</a:t>
            </a:r>
          </a:p>
          <a:p>
            <a:pPr algn="l" marL="201168" indent="-201168">
              <a:lnSpc>
                <a:spcPct val="110000"/>
              </a:lnSpc>
              <a:spcAft>
                <a:spcPts val="1000"/>
              </a:spcAft>
              <a:buClr>
                <a:srgbClr val="FFC00C"/>
              </a:buClr>
              <a:buFont typeface="Arial"/>
              <a:buChar char="•"/>
            </a:pPr>
            <a:r>
              <a:rPr sz="14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Analisis, studi komparatif, pelaporan, repositori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715000"/>
            <a:ext cx="11002975" cy="548640"/>
          </a:xfrm>
          <a:prstGeom prst="roundRect">
            <a:avLst>
              <a:gd name="adj" fmla="val 50000"/>
            </a:avLst>
          </a:prstGeom>
          <a:solidFill>
            <a:srgbClr val="0D2A4E"/>
          </a:solidFill>
          <a:ln w="19050">
            <a:solidFill>
              <a:srgbClr val="FFC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" y="5715000"/>
            <a:ext cx="1045433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Batas peran: 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kami tidak menggantikan TPN dan tidak menjanjikan pendampingan akreditasi substantif; kami memastikan pendampingan itu terkoordinasi, terdata, dan terbukti.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19088"/>
            <a:ext cx="120159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0240" y="64556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Proposal Teknis  ·  RFP No. 0648/TF-JKT/VIII/2026  ·  Tanoto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55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PENDEKATAN PENDAMPINGAN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Kerangka kerja: siklus Plan-Do-Check-Act, selaras dengan PPEPP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54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73736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Diagnosis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21408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Okt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79" y="178308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2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606040"/>
            <a:ext cx="2606040" cy="2743200"/>
          </a:xfrm>
          <a:prstGeom prst="roundRect">
            <a:avLst>
              <a:gd name="adj" fmla="val 9824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Memahami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29000"/>
            <a:ext cx="228600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FFC00C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Telaah supervisi 2025 dan RTL 12 LPTK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FFC00C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Skor awal 1–4 pada 5 elemen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FFC00C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Diagnosis kesiapan dokumen dan syarat awal konversi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1" y="1554480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54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6511" y="173736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Rencana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6511" y="2121408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Okt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178308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2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64991" y="2606040"/>
            <a:ext cx="2606040" cy="2743200"/>
          </a:xfrm>
          <a:prstGeom prst="roundRect">
            <a:avLst>
              <a:gd name="adj" fmla="val 9824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547872" y="27432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Menyiapkan perangkat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429000"/>
            <a:ext cx="228600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FFC00C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Rencana kerja dan jadwal berklaster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FFC00C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Instrumen: scorecard, observasi PPL, FGD, komparatif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FFC00C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Kick-off dan penyelarasan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5624" y="1554480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54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7144" y="173736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Pelaksanaan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7144" y="2121408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Okt–Nov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178308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2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35624" y="2606040"/>
            <a:ext cx="2606040" cy="2743200"/>
          </a:xfrm>
          <a:prstGeom prst="roundRect">
            <a:avLst>
              <a:gd name="adj" fmla="val 9824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318504" y="27432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Menjalankan pendampingan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8504" y="3429000"/>
            <a:ext cx="228600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FFC00C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Koordinasi kunjungan TPN di 12 LPTK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FFC00C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Himpun bukti, pantau RTL, konsultasi lanjutan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FFC00C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Paket Perbaikan Akreditasi ≤14 hari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6256" y="1554480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54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73736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Evaluasi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7776" y="2121408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Nov–Des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06256" y="2606040"/>
            <a:ext cx="2606040" cy="2743200"/>
          </a:xfrm>
          <a:prstGeom prst="roundRect">
            <a:avLst>
              <a:gd name="adj" fmla="val 9824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089136" y="27432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Menyimpulkan dan menyempurnakan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9136" y="3429000"/>
            <a:ext cx="228600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FFC00C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Verifikasi kemajuan, analisis lintas LPTK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FFC00C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Studi komparatif dan rekomendasi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FFC00C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Reviu bersama TF dan Direktorat PPG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532120"/>
            <a:ext cx="11002975" cy="713232"/>
          </a:xfrm>
          <a:prstGeom prst="roundRect">
            <a:avLst>
              <a:gd name="adj" fmla="val 25641"/>
            </a:avLst>
          </a:prstGeom>
          <a:solidFill>
            <a:srgbClr val="0D2A4E"/>
          </a:solidFill>
          <a:ln w="19050">
            <a:solidFill>
              <a:srgbClr val="FFC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22960" y="5532120"/>
            <a:ext cx="10545775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Dasar kerangka: </a:t>
            </a:r>
            <a:r>
              <a:rPr sz="10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siklus Plan-Do-Check-Act (Deming) yang sejalan dengan PPEPP — Penetapan, Pelaksanaan, Evaluasi, Pengendalian, Peningkatan — dasar SPMI menurut Permendikbudristek 53/2023. Sistem penjaminan mutu yang sama yang kami nilai pada LPTK, kami terapkan pula pada cara kerja kami sendiri.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19088"/>
            <a:ext cx="120159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0240" y="64556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Proposal Teknis  ·  RFP No. 0648/TF-JKT/VIII/2026  ·  Tanoto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55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DESKRIPSI PROYEK · TUJUAN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Mendata dan menganalisis kemajuan RTL hasil supervisi 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103120" cy="4297680"/>
          </a:xfrm>
          <a:prstGeom prst="roundRect">
            <a:avLst>
              <a:gd name="adj" fmla="val 12173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 i="0" spc="2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TUJUAN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7373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FC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880360" y="1737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Kegiatan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029968"/>
            <a:ext cx="3886200" cy="4142232"/>
          </a:xfrm>
          <a:prstGeom prst="roundRect">
            <a:avLst>
              <a:gd name="adj" fmla="val 5176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044952" y="2286000"/>
            <a:ext cx="3611879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Telaah laporan supervisi 2025 dan RTL 12 LPTK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Skor baseline 1–4 pada lima elemen, dengan status bukti tiap elemen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Bangun RTL Tracker: belum, berjalan, selesai, terbukti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Konsultasi berkala dengan TPN dan LPTK; himpun bukti kemajuan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Verifikasi kemajuan di akhir periode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7373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FC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58000" y="1737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Ukuran keberhasilan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2029968"/>
            <a:ext cx="2651760" cy="4142232"/>
          </a:xfrm>
          <a:prstGeom prst="roundRect">
            <a:avLst>
              <a:gd name="adj" fmla="val 7586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022592" y="2286000"/>
            <a:ext cx="237744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12 dari 12 LPTK punya skor baseline sebelum kunjungan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Persentase RTL berstatus terbukti: awal vs akhir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Perubahan skor per elemen dan per LPTK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17373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C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0" y="1737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Luaran dan bukti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2029968"/>
            <a:ext cx="1920240" cy="4142232"/>
          </a:xfrm>
          <a:prstGeom prst="roundRect">
            <a:avLst>
              <a:gd name="adj" fmla="val 10476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765792" y="2286000"/>
            <a:ext cx="164592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Laporan Awal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RTL Tracker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Evidence Register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Skor baseline dan akhir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19088"/>
            <a:ext cx="120159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0240" y="64556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Proposal Teknis  ·  RFP No. 0648/TF-JKT/VIII/2026  ·  Tanoto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55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DESKRIPSI PROYEK · TUJUAN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Memetakan pelaksanaan PPL dan menjawab temuan pembelajaran berpusat mahasiswa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103120" cy="4297680"/>
          </a:xfrm>
          <a:prstGeom prst="roundRect">
            <a:avLst>
              <a:gd name="adj" fmla="val 12173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 i="0" spc="2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TUJUAN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8288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Standar pelaksanaan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Pembagian peran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Pendampingan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Observasi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Umpan balik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Penilaian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7373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FC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880360" y="1737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Kegiatan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2029968"/>
            <a:ext cx="3886200" cy="4142232"/>
          </a:xfrm>
          <a:prstGeom prst="roundRect">
            <a:avLst>
              <a:gd name="adj" fmla="val 5176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044952" y="2286000"/>
            <a:ext cx="3611879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Telaah pedoman PPL, SK penugasan, instrumen observasi, rubrik penilaian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FGD: DPL, guru pamong, mahasiswa PPG, pimpinan prodi (daring atau saat kunjungan)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Skoring enam dimensi PPL dengan empat level, termasuk partisipasi aktif dan keterlibatan mahasiswa (Temuan 2 Supervisi 2025)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Kolaborasi DPL–guru pamong dan siklus supervisi klinis (pra-observasi, observasi, umpan balik, refleksi) — menjawab Temuan 3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Dokumentasi praktik baik dan hambatan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17373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FC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58000" y="1737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Ukuran keberhasilan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2029968"/>
            <a:ext cx="2651760" cy="4142232"/>
          </a:xfrm>
          <a:prstGeom prst="roundRect">
            <a:avLst>
              <a:gd name="adj" fmla="val 7586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22592" y="2286000"/>
            <a:ext cx="237744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12 dari 12 LPTK terpetakan pada enam dimensi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Minimal tiga kelompok informan per LPTK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Praktik baik dan hambatan tercatat dengan bukti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17373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C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601200" y="1737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Luaran dan bukti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029968"/>
            <a:ext cx="1920240" cy="4142232"/>
          </a:xfrm>
          <a:prstGeom prst="roundRect">
            <a:avLst>
              <a:gd name="adj" fmla="val 10476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765792" y="2286000"/>
            <a:ext cx="164592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Laporan analisis implementasi PPL tiap LPTK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Instrumen FGD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Pemetaan lintas LPTK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19088"/>
            <a:ext cx="120159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0240" y="64556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Proposal Teknis  ·  RFP No. 0648/TF-JKT/VIII/2026  ·  Tanoto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55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DESKRIPSI PROYEK · TUJUAN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Membandingkan LPTK yang menerima dan tidak menerima dukungan Tanoto Foundation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103120" cy="4297680"/>
          </a:xfrm>
          <a:prstGeom prst="roundRect">
            <a:avLst>
              <a:gd name="adj" fmla="val 12173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 i="0" spc="2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TUJUAN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7373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FC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880360" y="1737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Kegiatan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029968"/>
            <a:ext cx="3886200" cy="4142232"/>
          </a:xfrm>
          <a:prstGeom prst="roundRect">
            <a:avLst>
              <a:gd name="adj" fmla="val 5176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044952" y="2286000"/>
            <a:ext cx="3611879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Basis 2025: 12 LPTK TF vs 13 LPTK Kemendikdasmen (TOR Annex 1)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Basis 2026: 12 LPTK TF vs 10 LPTK Kemendikdasmen, kedaluwarsa akreditasi 2027 (TOR Annex 2)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Pencocokan berdasarkan peringkat, jenis PT, wilayah, skor baseline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Analisis kemajuan disesuaikan baseline; faktor pembeda lewat analisis konfigurasional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Keterbatasan dinyatakan terbuka; kelompok pembanding dikonfirmasi ulang bersama TF/Direktorat PPG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7373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FC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58000" y="1737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Ukuran keberhasilan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2029968"/>
            <a:ext cx="2651760" cy="4142232"/>
          </a:xfrm>
          <a:prstGeom prst="roundRect">
            <a:avLst>
              <a:gd name="adj" fmla="val 7586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022592" y="2286000"/>
            <a:ext cx="237744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Dua basis pembanding dikonfirmasi pada Laporan Awal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Selisih kemajuan dilaporkan dengan rentang ketidakpastian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Faktor pembeda kemajuan teridentifikasi dan berbukti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17373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C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0" y="1737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Luaran dan bukti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2029968"/>
            <a:ext cx="1920240" cy="4142232"/>
          </a:xfrm>
          <a:prstGeom prst="roundRect">
            <a:avLst>
              <a:gd name="adj" fmla="val 10476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765792" y="2286000"/>
            <a:ext cx="164592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Laporan studi komparatif dan kemajuan RTL Supervisi 2025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Tabel keseimbangan kondisi awal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19088"/>
            <a:ext cx="120159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0240" y="64556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Proposal Teknis  ·  RFP No. 0648/TF-JKT/VIII/2026  ·  Tanoto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55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DESKRIPSI PROYEK · TUJUAN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Menghasilkan pembelajaran dan rekomendasi untuk siklus pendampingan berikutnya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103120" cy="4297680"/>
          </a:xfrm>
          <a:prstGeom prst="roundRect">
            <a:avLst>
              <a:gd name="adj" fmla="val 12173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 i="0" spc="2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TUJUAN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7373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FC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880360" y="1737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Kegiatan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029968"/>
            <a:ext cx="3886200" cy="4142232"/>
          </a:xfrm>
          <a:prstGeom prst="roundRect">
            <a:avLst>
              <a:gd name="adj" fmla="val 5176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044952" y="2286000"/>
            <a:ext cx="3611879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Sintesis lintas LPTK: peta mutu, pola celah, praktik baik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Rekomendasi perbaikan pedoman, modul, dan instrumen pendampingan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Bahan presentasi untuk TF, Direktorat PPG, pemangku kepentingan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Serah terima repositori data dan bukti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Log komentar: semua masukan TF dan Direktorat diakomodasi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7373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FC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58000" y="1737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Ukuran keberhasilan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2029968"/>
            <a:ext cx="2651760" cy="4142232"/>
          </a:xfrm>
          <a:prstGeom prst="roundRect">
            <a:avLst>
              <a:gd name="adj" fmla="val 7586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022592" y="2286000"/>
            <a:ext cx="237744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Setiap rekomendasi tertaut ke temuan berbukti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100% komentar TF dan Direktorat tercatat dan dijawab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Repositori diserahterimakan lengkap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17373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C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0" y="1737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Luaran dan bukti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2029968"/>
            <a:ext cx="1920240" cy="4142232"/>
          </a:xfrm>
          <a:prstGeom prst="roundRect">
            <a:avLst>
              <a:gd name="adj" fmla="val 10476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765792" y="2286000"/>
            <a:ext cx="164592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Laporan sintesis lintas LPTK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Rekomendasi pedoman dan instrumen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Bahan presentasi</a:t>
            </a:r>
          </a:p>
          <a:p>
            <a:pPr algn="l" marL="201168" indent="-201168">
              <a:lnSpc>
                <a:spcPct val="110000"/>
              </a:lnSpc>
              <a:spcAft>
                <a:spcPts val="800"/>
              </a:spcAft>
              <a:buClr>
                <a:srgbClr val="FFC00C"/>
              </a:buClr>
              <a:buFont typeface="Arial"/>
              <a:buChar char="•"/>
            </a:pP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Repositori data dan bukti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19088"/>
            <a:ext cx="120159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0240" y="64556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Proposal Teknis  ·  RFP No. 0648/TF-JKT/VIII/2026  ·  Tanoto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55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PENDEKATAN TEKNIS · PENERJEMAH KE BAHASA AKREDITASI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Readiness Scorecard: rubrik LAMDIK sebagai lapisan kedua dari 5 fokus TF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645920"/>
          <a:ext cx="11000232" cy="34381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011680"/>
                <a:gridCol w="3063240"/>
                <a:gridCol w="3200400"/>
                <a:gridCol w="2724912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092647"/>
                          </a:solidFill>
                          <a:latin typeface="Montserrat"/>
                          <a:ea typeface="Montserrat"/>
                          <a:cs typeface="Montserrat"/>
                        </a:rPr>
                        <a:t>Elemen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FFC0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092647"/>
                          </a:solidFill>
                          <a:latin typeface="Montserrat"/>
                          <a:ea typeface="Montserrat"/>
                          <a:cs typeface="Montserrat"/>
                        </a:rPr>
                        <a:t>Syarat perlu (PPG)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FFC0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092647"/>
                          </a:solidFill>
                          <a:latin typeface="Montserrat"/>
                          <a:ea typeface="Montserrat"/>
                          <a:cs typeface="Montserrat"/>
                        </a:rPr>
                        <a:t>Skor 4 (melampaui)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FFC0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092647"/>
                          </a:solidFill>
                          <a:latin typeface="Montserrat"/>
                          <a:ea typeface="Montserrat"/>
                          <a:cs typeface="Montserrat"/>
                        </a:rPr>
                        <a:t>Bukti kunci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FFC00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1  Kualitas DTPS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≥20% doktor; ≥3 DTPS lektor kepala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≥40% doktor dan ≥70% berjabatan lektor ke atas; dianalisis dampaknya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Ijazah, SK jabatan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2  Kurikulum (CPL)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≥15% MK penciri dinilai CPL, dievaluasi, ditindaklanjuti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≥20% MK penciri; evaluasi rinci dan komprehensif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Laporan asesmen CPL, target vs capaian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3  Pembelajaran mikro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Lab lengkap, ≥2 praktik, 8 keterampilan, refleksi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Lab terawat, ≥3 praktik per mahasiswa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RPS, lembar observasi, rubrik, inventaris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4  SPMI (PPEPP)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Lima tahap siklus dilaksanakan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Lima tahap berbasis TI, SN-Dikti dan standar PT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Notulen, berita acara, laporan SPMI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5  Publikasi DTPS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≥20% DTPS Sinta 2/Scopus/WoS, 3 tahun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≥20% dan analisis tren, faktor, dampak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DOI, tautan, rekapitulasi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349240"/>
            <a:ext cx="5212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Skala 1–4 </a:t>
            </a: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dinilai asesor (expert judgement). Kami memakai skala yang sama pada baseline, pemantauan, dan akhir.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5349240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Catatan konversi: </a:t>
            </a: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hanya prodi PPG berperingkat Baik Sekali dengan nilai 321–360 yang dapat mengajukan konversi ke Unggul Tiga Tahun. Kesiapan tiap LPTK dipilah di Laporan Awal, agar target realistis.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19088"/>
            <a:ext cx="120159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0240" y="64556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Proposal Teknis  ·  RFP No. 0648/TF-JKT/VIII/2026  ·  Tanoto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55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PENDEKATAN TEKNIS · PENGELOLAAN BUKTI DAN TINDAK LANJUT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Evidence Register dan Gap-to-Action Tracker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5394960" cy="3383280"/>
          </a:xfrm>
          <a:prstGeom prst="roundRect">
            <a:avLst>
              <a:gd name="adj" fmla="val 7567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65960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08760" y="196596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Evidence 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Semua bukti tiap elemen tiap LPTK tercatat dan dapat ditelusuri.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246120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0D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2331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ID bukti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3246120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0D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37560" y="3246120"/>
            <a:ext cx="2331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Elemen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685031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0D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3685031"/>
            <a:ext cx="2331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Jenis dokumen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3685031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0D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337560" y="3685031"/>
            <a:ext cx="2331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Sumber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123944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0D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" y="4123944"/>
            <a:ext cx="2331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Tanggal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4123944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0D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337560" y="4123944"/>
            <a:ext cx="2331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Tautan berkas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562856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0D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68680" y="4562856"/>
            <a:ext cx="2331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4562856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0D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337560" y="4562856"/>
            <a:ext cx="2331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Verifikator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1783080"/>
            <a:ext cx="5394960" cy="3383280"/>
          </a:xfrm>
          <a:prstGeom prst="roundRect">
            <a:avLst>
              <a:gd name="adj" fmla="val 7567"/>
            </a:avLst>
          </a:prstGeom>
          <a:solidFill>
            <a:srgbClr val="0D2A4E"/>
          </a:solidFill>
          <a:ln w="28575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flag_FFC0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1965960"/>
            <a:ext cx="502920" cy="5029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114032" y="196596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Gap-to-Action Tracker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26060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Setiap celah bukti menjadi tindakan yang bertanggung jawab dan bertenggat.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73952" y="3291840"/>
            <a:ext cx="1508760" cy="411480"/>
          </a:xfrm>
          <a:prstGeom prst="roundRect">
            <a:avLst>
              <a:gd name="adj" fmla="val 50000"/>
            </a:avLst>
          </a:prstGeom>
          <a:solidFill>
            <a:srgbClr val="FFC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73952" y="3291840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Celah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65592" y="3291840"/>
            <a:ext cx="1508760" cy="411480"/>
          </a:xfrm>
          <a:prstGeom prst="roundRect">
            <a:avLst>
              <a:gd name="adj" fmla="val 50000"/>
            </a:avLst>
          </a:prstGeom>
          <a:solidFill>
            <a:srgbClr val="FFC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165592" y="3291840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Tindakan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57232" y="3291840"/>
            <a:ext cx="1508760" cy="411480"/>
          </a:xfrm>
          <a:prstGeom prst="roundRect">
            <a:avLst>
              <a:gd name="adj" fmla="val 50000"/>
            </a:avLst>
          </a:prstGeom>
          <a:solidFill>
            <a:srgbClr val="FFC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857232" y="3291840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PIC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73952" y="3977639"/>
            <a:ext cx="1508760" cy="411480"/>
          </a:xfrm>
          <a:prstGeom prst="roundRect">
            <a:avLst>
              <a:gd name="adj" fmla="val 50000"/>
            </a:avLst>
          </a:prstGeom>
          <a:solidFill>
            <a:srgbClr val="FFC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73952" y="3977639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Tenggat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65592" y="3977639"/>
            <a:ext cx="1508760" cy="411480"/>
          </a:xfrm>
          <a:prstGeom prst="roundRect">
            <a:avLst>
              <a:gd name="adj" fmla="val 50000"/>
            </a:avLst>
          </a:prstGeom>
          <a:solidFill>
            <a:srgbClr val="FFC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165592" y="3977639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Status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57232" y="3977639"/>
            <a:ext cx="1508760" cy="411480"/>
          </a:xfrm>
          <a:prstGeom prst="roundRect">
            <a:avLst>
              <a:gd name="adj" fmla="val 50000"/>
            </a:avLst>
          </a:prstGeom>
          <a:solidFill>
            <a:srgbClr val="FFC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857232" y="3977639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Bukti penutup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3952" y="46634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Status: rencana  →  berjalan  →  selesai  →  terbukti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5394960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Status bukti: </a:t>
            </a: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Terverifikasi  ·  Diklaim  ·  Belum ada.  </a:t>
            </a:r>
            <a:r>
              <a:rPr sz="13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Prinsip: tidak ada bukti yang dibuat atau direkayasa. Klaim tanpa dokumen dicatat sebagai diklaim, bukan terverifikasi. Ini menjawab prinsip mutu luaran Tanoto Foundation: dapat ditelusuri.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19088"/>
            <a:ext cx="120159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0240" y="64556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Proposal Teknis  ·  RFP No. 0648/TF-JKT/VIII/2026  ·  Tanoto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55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PENDEKATAN TEKNIS · METODE STUDI KOMPARATIF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Dua basis pembanding sudah teridentifikasi dari TOR Tanoto Foundation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440680" cy="1691640"/>
          </a:xfrm>
          <a:prstGeom prst="roundRect">
            <a:avLst>
              <a:gd name="adj" fmla="val 10810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95528" y="16916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Basis Supervisi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0116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Mengukur kemajuan RTL sejak Supervisi 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" y="233172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2F7E9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2377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12 LPTK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72491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88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didanai dan dipantau TF (RFP C.3)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26517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vs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40" y="2331720"/>
            <a:ext cx="2084831" cy="822960"/>
          </a:xfrm>
          <a:prstGeom prst="roundRect">
            <a:avLst>
              <a:gd name="adj" fmla="val 13333"/>
            </a:avLst>
          </a:prstGeom>
          <a:solidFill>
            <a:srgbClr val="0B3361"/>
          </a:solidFill>
          <a:ln w="19050">
            <a:solidFill>
              <a:srgbClr val="FFC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40480" y="23774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13 LPTK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724912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88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didanai Kemendikdasmen, disupervisi bersamaan 2025 (TOR Annex 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600200"/>
            <a:ext cx="5440680" cy="1691640"/>
          </a:xfrm>
          <a:prstGeom prst="roundRect">
            <a:avLst>
              <a:gd name="adj" fmla="val 10810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0" y="16916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Basis Pendampingan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0116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Mengukur pendampingan teknis tahun berjalan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33172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2F7E9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92240" y="2377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12 LPTK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72491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88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sama, TF-funded — kontinuitas dari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26517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vs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54312" y="2331720"/>
            <a:ext cx="2084831" cy="822960"/>
          </a:xfrm>
          <a:prstGeom prst="roundRect">
            <a:avLst>
              <a:gd name="adj" fmla="val 13333"/>
            </a:avLst>
          </a:prstGeom>
          <a:solidFill>
            <a:srgbClr val="0B3361"/>
          </a:solidFill>
          <a:ln w="19050">
            <a:solidFill>
              <a:srgbClr val="FFC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445752" y="23774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10 LPTK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5752" y="2724912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88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didanai Kemendikdasmen, dipilih dari 60 LPTK karena akreditasi kedaluwarsa 2027 (TOR Annex 2)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520440"/>
            <a:ext cx="1764792" cy="1005840"/>
          </a:xfrm>
          <a:prstGeom prst="roundRect">
            <a:avLst>
              <a:gd name="adj" fmla="val 9090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5800" y="357530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922776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Konfirmasi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178808"/>
            <a:ext cx="1600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78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kelompok pembanding di atas dan akses data bersama TF/Direktorat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50591" y="3520440"/>
            <a:ext cx="1764792" cy="1005840"/>
          </a:xfrm>
          <a:prstGeom prst="roundRect">
            <a:avLst>
              <a:gd name="adj" fmla="val 9090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542032" y="357530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42032" y="3922776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Cocokkan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42032" y="4178808"/>
            <a:ext cx="1600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78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berdasar peringkat, jenis PT, wilayah, skor baseline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06824" y="3520440"/>
            <a:ext cx="1764792" cy="1005840"/>
          </a:xfrm>
          <a:prstGeom prst="roundRect">
            <a:avLst>
              <a:gd name="adj" fmla="val 9090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398264" y="357530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98264" y="3922776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Hitung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98264" y="4178808"/>
            <a:ext cx="1600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78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kemajuan disesuaikan baseline (selisih skor akhir − awal)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63056" y="3520440"/>
            <a:ext cx="1764792" cy="1005840"/>
          </a:xfrm>
          <a:prstGeom prst="roundRect">
            <a:avLst>
              <a:gd name="adj" fmla="val 9090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254496" y="357530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54496" y="3922776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Uji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54496" y="4178808"/>
            <a:ext cx="1600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78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sensitivitas non-parametrik untuk jumlah kecil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19288" y="3520440"/>
            <a:ext cx="1764792" cy="1005840"/>
          </a:xfrm>
          <a:prstGeom prst="roundRect">
            <a:avLst>
              <a:gd name="adj" fmla="val 9090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110727" y="357530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10727" y="3922776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Jelaskan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10727" y="4178808"/>
            <a:ext cx="1600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78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faktor pembeda: analisis konfigurasional (QCA)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75519" y="3520440"/>
            <a:ext cx="1764792" cy="1005840"/>
          </a:xfrm>
          <a:prstGeom prst="roundRect">
            <a:avLst>
              <a:gd name="adj" fmla="val 9090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966959" y="357530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59" y="3922776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Simpulkan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6959" y="4178808"/>
            <a:ext cx="1600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78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kontribusi TF: contribution analysis, terbuka pada penjelasan lain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4360" y="4709160"/>
            <a:ext cx="5394960" cy="1508760"/>
          </a:xfrm>
          <a:prstGeom prst="roundRect">
            <a:avLst>
              <a:gd name="adj" fmla="val 13333"/>
            </a:avLst>
          </a:prstGeom>
          <a:solidFill>
            <a:srgbClr val="0D2A4E"/>
          </a:solidFill>
          <a:ln w="19050">
            <a:solidFill>
              <a:srgbClr val="FFC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95528" y="477316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Keterbatasan yang kami nyatakan sejak awal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8" y="5102352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400"/>
              </a:spcAft>
              <a:buClr>
                <a:srgbClr val="FFC00C"/>
              </a:buClr>
              <a:buFont typeface="Arial"/>
              <a:buChar char="•"/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Jumlah kelompok kecil; tidak mengklaim kausalitas kuat</a:t>
            </a:r>
          </a:p>
          <a:p>
            <a:pPr algn="l" marL="201168" indent="-201168">
              <a:lnSpc>
                <a:spcPct val="110000"/>
              </a:lnSpc>
              <a:spcAft>
                <a:spcPts val="400"/>
              </a:spcAft>
              <a:buClr>
                <a:srgbClr val="FFC00C"/>
              </a:buClr>
              <a:buFont typeface="Arial"/>
              <a:buChar char="•"/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Kriteria seleksi dua kelompok pembanding berbeda (basis 2025 vs 2026) → potensi confounding, dinyatakan terbuka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99632" y="4709160"/>
            <a:ext cx="5394960" cy="1508760"/>
          </a:xfrm>
          <a:prstGeom prst="roundRect">
            <a:avLst>
              <a:gd name="adj" fmla="val 13333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400800" y="477316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Sesuai batas RFP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5102352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400"/>
              </a:spcAft>
              <a:buClr>
                <a:srgbClr val="FFC00C"/>
              </a:buClr>
              <a:buFont typeface="Arial"/>
              <a:buChar char="•"/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Hanya data tersedia dan pengumpulan informasi daring, tanpa kunjungan lapangan tambahan</a:t>
            </a:r>
          </a:p>
          <a:p>
            <a:pPr algn="l" marL="201168" indent="-201168">
              <a:lnSpc>
                <a:spcPct val="110000"/>
              </a:lnSpc>
              <a:spcAft>
                <a:spcPts val="400"/>
              </a:spcAft>
              <a:buClr>
                <a:srgbClr val="FFC00C"/>
              </a:buClr>
              <a:buFont typeface="Arial"/>
              <a:buChar char="•"/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Nama LPTK pembanding dari TOR 25 Sep 2026; dikonfirmasi ulang saat kick-off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19088"/>
            <a:ext cx="120159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0240" y="64556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Proposal Teknis  ·  RFP No. 0648/TF-JKT/VIII/2026  ·  Tanoto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55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PENDEKATAN TEKNIS · PENGELOLAAN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Data dikelola aman, terlacak, dan tidak dipublikasikan tanpa izin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37360"/>
            <a:ext cx="2606040" cy="3200400"/>
          </a:xfrm>
          <a:prstGeom prst="roundRect">
            <a:avLst>
              <a:gd name="adj" fmla="val 9824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20240"/>
            <a:ext cx="54864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25603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Repositori terpusat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22402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Akses berlapis menurut peran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Penamaan dan versi baku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Log akses dan pencadangan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1" y="1737360"/>
            <a:ext cx="2606040" cy="3200400"/>
          </a:xfrm>
          <a:prstGeom prst="roundRect">
            <a:avLst>
              <a:gd name="adj" fmla="val 9824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lo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591" y="1920240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93591" y="25603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Data pribadi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1" y="3200400"/>
            <a:ext cx="22402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Hanya data yang benar-benar diperlukan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Persetujuan (consent) untuk FGD dan rekaman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Anonimisasi di laporan lintas LPTK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1737360"/>
            <a:ext cx="2606040" cy="3200400"/>
          </a:xfrm>
          <a:prstGeom prst="roundRect">
            <a:avLst>
              <a:gd name="adj" fmla="val 9824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shiel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920240"/>
            <a:ext cx="548640" cy="548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64224" y="25603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Kerahasiaan dan publikasi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3200400"/>
            <a:ext cx="22402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NDA seluruh tim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Tidak mempublikasikan data atau hasil tanpa persetujuan tertulis TF dan Direktorat PPG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1737360"/>
            <a:ext cx="2606040" cy="3200400"/>
          </a:xfrm>
          <a:prstGeom prst="roundRect">
            <a:avLst>
              <a:gd name="adj" fmla="val 9824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4856" y="1920240"/>
            <a:ext cx="548640" cy="548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34856" y="25603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Integritas bukti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6" y="3200400"/>
            <a:ext cx="22402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Status verifikasi tiap bukti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Jejak audit perubahan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Tidak ada bukti direkayasa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166360"/>
            <a:ext cx="11002975" cy="1097280"/>
          </a:xfrm>
          <a:prstGeom prst="roundRect">
            <a:avLst>
              <a:gd name="adj" fmla="val 18333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2960" y="52303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Struktur repositori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66928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B3361"/>
          </a:solidFill>
          <a:ln w="127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2960" y="5669280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00 Panduan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06040" y="566928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B3361"/>
          </a:solidFill>
          <a:ln w="127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606040" y="5669280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01 Baseline 2025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566928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B3361"/>
          </a:solidFill>
          <a:ln w="127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389120" y="5669280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02 LPTK (E1–E5)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566928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B3361"/>
          </a:solidFill>
          <a:ln w="127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172200" y="5669280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03 Instrumen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566928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B3361"/>
          </a:solidFill>
          <a:ln w="127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955279" y="5669280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04 Laporan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38360" y="566928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B3361"/>
          </a:solidFill>
          <a:ln w="127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738360" y="5669280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05 Studi komparatif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19088"/>
            <a:ext cx="120159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0240" y="64556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Proposal Teknis  ·  RFP No. 0648/TF-JKT/VIII/2026  ·  Tanoto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55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MANAJEMEN MULTILOKASI · EFISIENSI ANGGARAN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12 LPTK dalam 5 klaster rute, dua rute berjalan paralel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3611880" cy="2148840"/>
          </a:xfrm>
          <a:prstGeom prst="roundRect">
            <a:avLst>
              <a:gd name="adj" fmla="val 11914"/>
            </a:avLst>
          </a:prstGeom>
          <a:solidFill>
            <a:srgbClr val="2F7E9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Medan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Sumatera Utara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3246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0000"/>
              </a:lnSpc>
              <a:spcAft>
                <a:spcPts val="300"/>
              </a:spcAft>
              <a:buClr>
                <a:srgbClr val="FFC00C"/>
              </a:buClr>
              <a:buFont typeface="Arial"/>
              <a:buChar char="•"/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Universitas Islam Sumatera Utara</a:t>
            </a:r>
          </a:p>
          <a:p>
            <a:pPr algn="l" marL="201168" indent="-201168">
              <a:lnSpc>
                <a:spcPct val="100000"/>
              </a:lnSpc>
              <a:spcAft>
                <a:spcPts val="300"/>
              </a:spcAft>
              <a:buClr>
                <a:srgbClr val="FFC00C"/>
              </a:buClr>
              <a:buFont typeface="Arial"/>
              <a:buChar char="•"/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Universitas Muhammadiyah Sumatera Utara</a:t>
            </a:r>
          </a:p>
          <a:p>
            <a:pPr algn="l" marL="201168" indent="-201168">
              <a:lnSpc>
                <a:spcPct val="100000"/>
              </a:lnSpc>
              <a:spcAft>
                <a:spcPts val="300"/>
              </a:spcAft>
              <a:buClr>
                <a:srgbClr val="FFC00C"/>
              </a:buClr>
              <a:buFont typeface="Arial"/>
              <a:buChar char="•"/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Universitas HKBP Nommensen</a:t>
            </a:r>
          </a:p>
          <a:p>
            <a:pPr algn="l" marL="201168" indent="-201168">
              <a:lnSpc>
                <a:spcPct val="100000"/>
              </a:lnSpc>
              <a:spcAft>
                <a:spcPts val="300"/>
              </a:spcAft>
              <a:buClr>
                <a:srgbClr val="FFC00C"/>
              </a:buClr>
              <a:buFont typeface="Arial"/>
              <a:buChar char="•"/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Universitas Negeri Medan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91640"/>
            <a:ext cx="3611880" cy="2148840"/>
          </a:xfrm>
          <a:prstGeom prst="roundRect">
            <a:avLst>
              <a:gd name="adj" fmla="val 11914"/>
            </a:avLst>
          </a:prstGeom>
          <a:solidFill>
            <a:srgbClr val="2F7E9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480560" y="180136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Pekanbaru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4884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Riau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468880"/>
            <a:ext cx="3246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0000"/>
              </a:lnSpc>
              <a:spcAft>
                <a:spcPts val="300"/>
              </a:spcAft>
              <a:buClr>
                <a:srgbClr val="FFC00C"/>
              </a:buClr>
              <a:buFont typeface="Arial"/>
              <a:buChar char="•"/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Universitas Riau</a:t>
            </a:r>
          </a:p>
          <a:p>
            <a:pPr algn="l" marL="201168" indent="-201168">
              <a:lnSpc>
                <a:spcPct val="100000"/>
              </a:lnSpc>
              <a:spcAft>
                <a:spcPts val="300"/>
              </a:spcAft>
              <a:buClr>
                <a:srgbClr val="FFC00C"/>
              </a:buClr>
              <a:buFont typeface="Arial"/>
              <a:buChar char="•"/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Universitas Islam Riau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691640"/>
            <a:ext cx="3611880" cy="2148840"/>
          </a:xfrm>
          <a:prstGeom prst="roundRect">
            <a:avLst>
              <a:gd name="adj" fmla="val 11914"/>
            </a:avLst>
          </a:prstGeom>
          <a:solidFill>
            <a:srgbClr val="2F7E9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83879" y="180136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Jambi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14884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Jambi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468880"/>
            <a:ext cx="3246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0000"/>
              </a:lnSpc>
              <a:spcAft>
                <a:spcPts val="300"/>
              </a:spcAft>
              <a:buClr>
                <a:srgbClr val="FFC00C"/>
              </a:buClr>
              <a:buFont typeface="Arial"/>
              <a:buChar char="•"/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Universitas Jambi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977639"/>
            <a:ext cx="3611880" cy="2148840"/>
          </a:xfrm>
          <a:prstGeom prst="roundRect">
            <a:avLst>
              <a:gd name="adj" fmla="val 11914"/>
            </a:avLst>
          </a:prstGeom>
          <a:solidFill>
            <a:srgbClr val="0D2A4E"/>
          </a:solidFill>
          <a:ln w="254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408736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Semarang – Salatiga – Kudus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3484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Jawa Tengah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754879"/>
            <a:ext cx="3246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0000"/>
              </a:lnSpc>
              <a:spcAft>
                <a:spcPts val="300"/>
              </a:spcAft>
              <a:buClr>
                <a:srgbClr val="FFC00C"/>
              </a:buClr>
              <a:buFont typeface="Arial"/>
              <a:buChar char="•"/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Universitas PGRI Semarang</a:t>
            </a:r>
          </a:p>
          <a:p>
            <a:pPr algn="l" marL="201168" indent="-201168">
              <a:lnSpc>
                <a:spcPct val="100000"/>
              </a:lnSpc>
              <a:spcAft>
                <a:spcPts val="300"/>
              </a:spcAft>
              <a:buClr>
                <a:srgbClr val="FFC00C"/>
              </a:buClr>
              <a:buFont typeface="Arial"/>
              <a:buChar char="•"/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Universitas Islam Sultan Agung</a:t>
            </a:r>
          </a:p>
          <a:p>
            <a:pPr algn="l" marL="201168" indent="-201168">
              <a:lnSpc>
                <a:spcPct val="100000"/>
              </a:lnSpc>
              <a:spcAft>
                <a:spcPts val="300"/>
              </a:spcAft>
              <a:buClr>
                <a:srgbClr val="FFC00C"/>
              </a:buClr>
              <a:buFont typeface="Arial"/>
              <a:buChar char="•"/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Universitas Kristen Satya Wacana</a:t>
            </a:r>
          </a:p>
          <a:p>
            <a:pPr algn="l" marL="201168" indent="-201168">
              <a:lnSpc>
                <a:spcPct val="100000"/>
              </a:lnSpc>
              <a:spcAft>
                <a:spcPts val="300"/>
              </a:spcAft>
              <a:buClr>
                <a:srgbClr val="FFC00C"/>
              </a:buClr>
              <a:buFont typeface="Arial"/>
              <a:buChar char="•"/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Universitas Muria Kudus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977639"/>
            <a:ext cx="3611880" cy="2148840"/>
          </a:xfrm>
          <a:prstGeom prst="roundRect">
            <a:avLst>
              <a:gd name="adj" fmla="val 11914"/>
            </a:avLst>
          </a:prstGeom>
          <a:solidFill>
            <a:srgbClr val="0D2A4E"/>
          </a:solidFill>
          <a:ln w="254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480560" y="408736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Samarinda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43484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Kalimantan Timur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754879"/>
            <a:ext cx="3246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0000"/>
              </a:lnSpc>
              <a:spcAft>
                <a:spcPts val="300"/>
              </a:spcAft>
              <a:buClr>
                <a:srgbClr val="FFC00C"/>
              </a:buClr>
              <a:buFont typeface="Arial"/>
              <a:buChar char="•"/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Universitas Mulawarman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977639"/>
            <a:ext cx="3611880" cy="2148840"/>
          </a:xfrm>
          <a:prstGeom prst="roundRect">
            <a:avLst>
              <a:gd name="adj" fmla="val 11914"/>
            </a:avLst>
          </a:prstGeom>
          <a:solidFill>
            <a:srgbClr val="0D2A4E"/>
          </a:solidFill>
          <a:ln w="25400">
            <a:solidFill>
              <a:srgbClr val="FFC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183879" y="408736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Dampak klaster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4480559"/>
            <a:ext cx="32461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29 vs 36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malam menginap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5 vs 12</a:t>
            </a:r>
            <a:r>
              <a:rPr sz="12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perjalanan pulang-pergi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Penghematan membiayai 2 LPTK tambahan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14476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Lokasi sesuai RFP bagian C.3. Kunjungan berurutan dalam satu klaster; jadwal mengikuti penugasan TPN dan ketersediaan LPTK.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19088"/>
            <a:ext cx="120159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0240" y="64556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Proposal Teknis  ·  RFP No. 0648/TF-JKT/VIII/2026  ·  Tanoto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55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LINIMASA PROYEK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Jadwal indikatif 6 Oktober – 7 Desember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75887" y="1691640"/>
            <a:ext cx="757123" cy="347472"/>
          </a:xfrm>
          <a:prstGeom prst="roundRect">
            <a:avLst>
              <a:gd name="adj" fmla="val 50000"/>
            </a:avLst>
          </a:prstGeom>
          <a:solidFill>
            <a:srgbClr val="2F7E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57600" y="1691640"/>
            <a:ext cx="79369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 Okt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9587" y="1691640"/>
            <a:ext cx="757123" cy="347472"/>
          </a:xfrm>
          <a:prstGeom prst="roundRect">
            <a:avLst>
              <a:gd name="adj" fmla="val 50000"/>
            </a:avLst>
          </a:prstGeom>
          <a:solidFill>
            <a:srgbClr val="2F7E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451299" y="1691640"/>
            <a:ext cx="79369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63286" y="1691640"/>
            <a:ext cx="757123" cy="347472"/>
          </a:xfrm>
          <a:prstGeom prst="roundRect">
            <a:avLst>
              <a:gd name="adj" fmla="val 50000"/>
            </a:avLst>
          </a:prstGeom>
          <a:solidFill>
            <a:srgbClr val="FFC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244998" y="1691640"/>
            <a:ext cx="79369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6985" y="1691640"/>
            <a:ext cx="757123" cy="347472"/>
          </a:xfrm>
          <a:prstGeom prst="roundRect">
            <a:avLst>
              <a:gd name="adj" fmla="val 50000"/>
            </a:avLst>
          </a:prstGeom>
          <a:solidFill>
            <a:srgbClr val="2F7E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038697" y="1691640"/>
            <a:ext cx="79369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0684" y="1691640"/>
            <a:ext cx="757123" cy="347472"/>
          </a:xfrm>
          <a:prstGeom prst="roundRect">
            <a:avLst>
              <a:gd name="adj" fmla="val 50000"/>
            </a:avLst>
          </a:prstGeom>
          <a:solidFill>
            <a:srgbClr val="2F7E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32396" y="1691640"/>
            <a:ext cx="79369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 Nov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44383" y="1691640"/>
            <a:ext cx="757123" cy="347472"/>
          </a:xfrm>
          <a:prstGeom prst="roundRect">
            <a:avLst>
              <a:gd name="adj" fmla="val 50000"/>
            </a:avLst>
          </a:prstGeom>
          <a:solidFill>
            <a:srgbClr val="2F7E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26096" y="1691640"/>
            <a:ext cx="79369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38083" y="1691640"/>
            <a:ext cx="757123" cy="347472"/>
          </a:xfrm>
          <a:prstGeom prst="roundRect">
            <a:avLst>
              <a:gd name="adj" fmla="val 50000"/>
            </a:avLst>
          </a:prstGeom>
          <a:solidFill>
            <a:srgbClr val="2F7E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19795" y="1691640"/>
            <a:ext cx="79369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1782" y="1691640"/>
            <a:ext cx="757123" cy="347472"/>
          </a:xfrm>
          <a:prstGeom prst="roundRect">
            <a:avLst>
              <a:gd name="adj" fmla="val 50000"/>
            </a:avLst>
          </a:prstGeom>
          <a:solidFill>
            <a:srgbClr val="FFC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213494" y="1691640"/>
            <a:ext cx="79369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23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25481" y="1691640"/>
            <a:ext cx="757123" cy="347472"/>
          </a:xfrm>
          <a:prstGeom prst="roundRect">
            <a:avLst>
              <a:gd name="adj" fmla="val 50000"/>
            </a:avLst>
          </a:prstGeom>
          <a:solidFill>
            <a:srgbClr val="2F7E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007193" y="1691640"/>
            <a:ext cx="79369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19180" y="1691640"/>
            <a:ext cx="757123" cy="347472"/>
          </a:xfrm>
          <a:prstGeom prst="roundRect">
            <a:avLst>
              <a:gd name="adj" fmla="val 50000"/>
            </a:avLst>
          </a:prstGeom>
          <a:solidFill>
            <a:srgbClr val="FFC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800892" y="1691640"/>
            <a:ext cx="79369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7 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2176272"/>
            <a:ext cx="11002975" cy="420624"/>
          </a:xfrm>
          <a:prstGeom prst="rect">
            <a:avLst/>
          </a:prstGeom>
          <a:solidFill>
            <a:srgbClr val="0D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5800" y="2176272"/>
            <a:ext cx="2926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Persiapan, kick-off, baseline, instrumen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2249424"/>
            <a:ext cx="2289657" cy="274320"/>
          </a:xfrm>
          <a:prstGeom prst="roundRect">
            <a:avLst>
              <a:gd name="adj" fmla="val 50000"/>
            </a:avLst>
          </a:prstGeom>
          <a:solidFill>
            <a:srgbClr val="2F7E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2633472"/>
            <a:ext cx="11002975" cy="420624"/>
          </a:xfrm>
          <a:prstGeom prst="rect">
            <a:avLst/>
          </a:prstGeom>
          <a:solidFill>
            <a:srgbClr val="0B3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5800" y="2633472"/>
            <a:ext cx="2926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Pendampingan luring: Rute Sumatera (Medan, Pekanbaru, Jambi)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4417" y="2706624"/>
            <a:ext cx="2289657" cy="274320"/>
          </a:xfrm>
          <a:prstGeom prst="roundRect">
            <a:avLst>
              <a:gd name="adj" fmla="val 50000"/>
            </a:avLst>
          </a:prstGeom>
          <a:solidFill>
            <a:srgbClr val="FFC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94360" y="3090672"/>
            <a:ext cx="11002975" cy="420624"/>
          </a:xfrm>
          <a:prstGeom prst="rect">
            <a:avLst/>
          </a:prstGeom>
          <a:solidFill>
            <a:srgbClr val="0D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85800" y="3090672"/>
            <a:ext cx="2926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Pendampingan luring: Rute Jawa–Kaltim (Semarang, Salatiga, Kudus, Samarinda)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84417" y="3163824"/>
            <a:ext cx="2289657" cy="274320"/>
          </a:xfrm>
          <a:prstGeom prst="roundRect">
            <a:avLst>
              <a:gd name="adj" fmla="val 50000"/>
            </a:avLst>
          </a:prstGeom>
          <a:solidFill>
            <a:srgbClr val="FFC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94360" y="3547872"/>
            <a:ext cx="11002975" cy="420624"/>
          </a:xfrm>
          <a:prstGeom prst="rect">
            <a:avLst/>
          </a:prstGeom>
          <a:solidFill>
            <a:srgbClr val="0B3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85800" y="3547872"/>
            <a:ext cx="2926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Laporan Pendampingan tiap LPTK (≤14 hari setelah kunjungan)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78116" y="3621024"/>
            <a:ext cx="3083356" cy="274320"/>
          </a:xfrm>
          <a:prstGeom prst="roundRect">
            <a:avLst>
              <a:gd name="adj" fmla="val 50000"/>
            </a:avLst>
          </a:prstGeom>
          <a:solidFill>
            <a:srgbClr val="2F7E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94360" y="4005072"/>
            <a:ext cx="11002975" cy="420624"/>
          </a:xfrm>
          <a:prstGeom prst="rect">
            <a:avLst/>
          </a:prstGeom>
          <a:solidFill>
            <a:srgbClr val="0D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85800" y="4005072"/>
            <a:ext cx="2926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Pengumpulan data studi komparatif dan pemantauan RTL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84417" y="4078224"/>
            <a:ext cx="3877056" cy="274320"/>
          </a:xfrm>
          <a:prstGeom prst="roundRect">
            <a:avLst>
              <a:gd name="adj" fmla="val 50000"/>
            </a:avLst>
          </a:prstGeom>
          <a:solidFill>
            <a:srgbClr val="2F7E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594360" y="4462272"/>
            <a:ext cx="11002975" cy="420624"/>
          </a:xfrm>
          <a:prstGeom prst="rect">
            <a:avLst/>
          </a:prstGeom>
          <a:solidFill>
            <a:srgbClr val="0B3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85800" y="4462272"/>
            <a:ext cx="2926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Analisis lintas LPTK dan studi komparatif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65515" y="4535424"/>
            <a:ext cx="2289657" cy="274320"/>
          </a:xfrm>
          <a:prstGeom prst="roundRect">
            <a:avLst>
              <a:gd name="adj" fmla="val 50000"/>
            </a:avLst>
          </a:prstGeom>
          <a:solidFill>
            <a:srgbClr val="2F7E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594360" y="4919472"/>
            <a:ext cx="11002975" cy="420624"/>
          </a:xfrm>
          <a:prstGeom prst="rect">
            <a:avLst/>
          </a:prstGeom>
          <a:solidFill>
            <a:srgbClr val="0D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85800" y="4919472"/>
            <a:ext cx="2926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Reviu, finalisasi, penyerahan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52913" y="4992624"/>
            <a:ext cx="1495958" cy="274320"/>
          </a:xfrm>
          <a:prstGeom prst="roundRect">
            <a:avLst>
              <a:gd name="adj" fmla="val 50000"/>
            </a:avLst>
          </a:prstGeom>
          <a:solidFill>
            <a:srgbClr val="FFC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Diamond 47"/>
          <p:cNvSpPr/>
          <p:nvPr/>
        </p:nvSpPr>
        <p:spPr>
          <a:xfrm>
            <a:off x="5486400" y="5440680"/>
            <a:ext cx="310896" cy="310896"/>
          </a:xfrm>
          <a:prstGeom prst="diamond">
            <a:avLst/>
          </a:prstGeom>
          <a:solidFill>
            <a:srgbClr val="FFC0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27448" y="57607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Laporan Awal
(target 23 Okt)</a:t>
            </a:r>
          </a:p>
        </p:txBody>
      </p:sp>
      <p:sp>
        <p:nvSpPr>
          <p:cNvPr id="50" name="Diamond 49"/>
          <p:cNvSpPr/>
          <p:nvPr/>
        </p:nvSpPr>
        <p:spPr>
          <a:xfrm>
            <a:off x="9454896" y="5440680"/>
            <a:ext cx="310896" cy="310896"/>
          </a:xfrm>
          <a:prstGeom prst="diamond">
            <a:avLst/>
          </a:prstGeom>
          <a:solidFill>
            <a:srgbClr val="FFC0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95944" y="57607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Draf Laporan Akhir
(target 27 Nov)</a:t>
            </a:r>
          </a:p>
        </p:txBody>
      </p:sp>
      <p:sp>
        <p:nvSpPr>
          <p:cNvPr id="52" name="Diamond 51"/>
          <p:cNvSpPr/>
          <p:nvPr/>
        </p:nvSpPr>
        <p:spPr>
          <a:xfrm>
            <a:off x="11042294" y="5440680"/>
            <a:ext cx="310896" cy="310896"/>
          </a:xfrm>
          <a:prstGeom prst="diamond">
            <a:avLst/>
          </a:prstGeom>
          <a:solidFill>
            <a:srgbClr val="FFC0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83342" y="57607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Final
7 Des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53949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Tonggak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580644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Jadwal kunjungan menyesuaikan penugasan TPN dan ketersediaan LPTK.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19088"/>
            <a:ext cx="120159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0240" y="64556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Proposal Teknis  ·  RFP No. 0648/TF-JKT/VIII/2026  ·  Tanoto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55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LINIMASA DAN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Tiga luaran utama dan waktunya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691640"/>
          <a:ext cx="11000232" cy="32644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5486400"/>
                <a:gridCol w="277063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92647"/>
                          </a:solidFill>
                          <a:latin typeface="Montserrat"/>
                          <a:ea typeface="Montserrat"/>
                          <a:cs typeface="Montserrat"/>
                        </a:rPr>
                        <a:t>Luaran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FFC0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92647"/>
                          </a:solidFill>
                          <a:latin typeface="Montserrat"/>
                          <a:ea typeface="Montserrat"/>
                          <a:cs typeface="Montserrat"/>
                        </a:rPr>
                        <a:t>Isi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FFC0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92647"/>
                          </a:solidFill>
                          <a:latin typeface="Montserrat"/>
                          <a:ea typeface="Montserrat"/>
                          <a:cs typeface="Montserrat"/>
                        </a:rPr>
                        <a:t>Waktu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FFC00C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1  Laporan Awal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Telaah hasil supervisi 2025, rencana kerja, pedoman dan modul pendampingan, pemetaan jadwal TPN pada 12 LPTK, desain dan instrumen evaluasi dan studi komparatif, instrumen FGD PPL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Sebelum kunjungan pertama (target 23 Okt 2026)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2  Laporan Pendampingan dan Paket Perbaikan Akreditasi (12 LPTK)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Pemetaan dosen dan guru pamong, telaah kurikulum OBE, pemetaan awal microteaching dan PPL, publikasi/karya inovatif, SPMI/PPEPP, kesenjangan bukti akreditasi, rekomendasi, RTL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Maksimal 14 hari setelah tiap kunjungan (target internal 10 hari)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3  Paket Laporan Akhir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(1) Studi komparatif dan kemajuan RTL Supervisi 2025; (2) analisis implementasi PPL tiap LPTK; (3) sintesis lintas LPTK dan rekomendasi; (4) rekomendasi pedoman dan instrumen, bahan presentasi, repositori data dan bukti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Draf November (target 27 Nov); final 7 Desember 2026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212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Prinsip mutu yang kami terapkan pada setiap luaran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577840"/>
            <a:ext cx="1623974" cy="310896"/>
          </a:xfrm>
          <a:prstGeom prst="roundRect">
            <a:avLst>
              <a:gd name="adj" fmla="val 50000"/>
            </a:avLst>
          </a:prstGeom>
          <a:solidFill>
            <a:srgbClr val="0D2A4E"/>
          </a:solidFill>
          <a:ln w="127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5577840"/>
            <a:ext cx="162397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Format disepakati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09774" y="5577840"/>
            <a:ext cx="3152851" cy="310896"/>
          </a:xfrm>
          <a:prstGeom prst="roundRect">
            <a:avLst>
              <a:gd name="adj" fmla="val 50000"/>
            </a:avLst>
          </a:prstGeom>
          <a:solidFill>
            <a:srgbClr val="0D2A4E"/>
          </a:solidFill>
          <a:ln w="127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309774" y="5577840"/>
            <a:ext cx="315285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Kondisi awal ≠ terkini ≠ rekomendasi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54065" y="5577840"/>
            <a:ext cx="2026310" cy="310896"/>
          </a:xfrm>
          <a:prstGeom prst="roundRect">
            <a:avLst>
              <a:gd name="adj" fmla="val 50000"/>
            </a:avLst>
          </a:prstGeom>
          <a:solidFill>
            <a:srgbClr val="0D2A4E"/>
          </a:solidFill>
          <a:ln w="127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554065" y="5577840"/>
            <a:ext cx="202631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Bukti dapat ditelusuri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71816" y="5577840"/>
            <a:ext cx="2187244" cy="310896"/>
          </a:xfrm>
          <a:prstGeom prst="roundRect">
            <a:avLst>
              <a:gd name="adj" fmla="val 50000"/>
            </a:avLst>
          </a:prstGeom>
          <a:solidFill>
            <a:srgbClr val="0D2A4E"/>
          </a:solidFill>
          <a:ln w="127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71816" y="5577840"/>
            <a:ext cx="21872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PIC dan tenggat tiap RTL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961888"/>
            <a:ext cx="2348179" cy="310896"/>
          </a:xfrm>
          <a:prstGeom prst="roundRect">
            <a:avLst>
              <a:gd name="adj" fmla="val 50000"/>
            </a:avLst>
          </a:prstGeom>
          <a:solidFill>
            <a:srgbClr val="0D2A4E"/>
          </a:solidFill>
          <a:ln w="127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5961888"/>
            <a:ext cx="234817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Kuantitatif dan kualitatif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33979" y="5961888"/>
            <a:ext cx="2348179" cy="310896"/>
          </a:xfrm>
          <a:prstGeom prst="roundRect">
            <a:avLst>
              <a:gd name="adj" fmla="val 50000"/>
            </a:avLst>
          </a:prstGeom>
          <a:solidFill>
            <a:srgbClr val="0D2A4E"/>
          </a:solidFill>
          <a:ln w="127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033979" y="5961888"/>
            <a:ext cx="234817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PDF final + versi editable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73598" y="5961888"/>
            <a:ext cx="2348179" cy="310896"/>
          </a:xfrm>
          <a:prstGeom prst="roundRect">
            <a:avLst>
              <a:gd name="adj" fmla="val 50000"/>
            </a:avLst>
          </a:prstGeom>
          <a:solidFill>
            <a:srgbClr val="0D2A4E"/>
          </a:solidFill>
          <a:ln w="127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73598" y="5961888"/>
            <a:ext cx="234817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Semua komentar diakomodasi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19088"/>
            <a:ext cx="120159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0240" y="64556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Proposal Teknis  ·  RFP No. 0648/TF-JKT/VIII/2026  ·  Tanoto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55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PENDEKATAN TEKNIS · MITIGASI RISIKO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Risiko utama dan cara kami mengelolanya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691640"/>
          <a:ext cx="11000232" cy="42245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46120"/>
                <a:gridCol w="2697480"/>
                <a:gridCol w="505663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92647"/>
                          </a:solidFill>
                          <a:latin typeface="Montserrat"/>
                          <a:ea typeface="Montserrat"/>
                          <a:cs typeface="Montserrat"/>
                        </a:rPr>
                        <a:t>Risiko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FFC0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92647"/>
                          </a:solidFill>
                          <a:latin typeface="Montserrat"/>
                          <a:ea typeface="Montserrat"/>
                          <a:cs typeface="Montserrat"/>
                        </a:rPr>
                        <a:t>Dampak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FFC0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92647"/>
                          </a:solidFill>
                          <a:latin typeface="Montserrat"/>
                          <a:ea typeface="Montserrat"/>
                          <a:cs typeface="Montserrat"/>
                        </a:rPr>
                        <a:t>Mitigasi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FFC00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Jadwal TPN, Direktorat, atau LPTK berubah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Kunjungan bergeser, laporan terlambat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Kalender bersama, tanggal cadangan, dua rute paralel dan berklaster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Dokumen atau data LPTK terlambat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Analisis lemah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Paket kesiapan dokumen H-7, pengingat H-3, status bukti diklaim vs terverifikasi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Kondisi awal LPTK beragam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Perbandingan tidak adil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Skor baseline, matching, keterbatasan dinyatakan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Data pembanding terbatas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Studi komparatif dangkal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Minta akses data sejak kick-off; analisis konfigurasional dan contribution analysis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Beban puncak November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Laporan tertunda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Rencana mundur dari 7 Desember, tim laporan paralel, template siap sebelum kunjungan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Data pribadi dan kerahasiaan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Pelanggaran ketentuan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Minimasi data, akses berlapis, NDA, izin tertulis sebelum publikasi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Kendala perjalanan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Biaya dan jadwal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Tiket fleksibel, kontingensi, klaster rute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19088"/>
            <a:ext cx="120159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0240" y="64556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Proposal Teknis  ·  RFP No. 0648/TF-JKT/VIII/2026  ·  Tanoto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55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TATA KELOLA PROYEK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Struktur pengawasan dan pengambilan keputusan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6675120" cy="1234440"/>
          </a:xfrm>
          <a:prstGeom prst="roundRect">
            <a:avLst>
              <a:gd name="adj" fmla="val 20740"/>
            </a:avLst>
          </a:prstGeom>
          <a:solidFill>
            <a:srgbClr val="FFC00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092647"/>
                </a:solidFill>
                <a:latin typeface="Montserrat ExtraBold"/>
                <a:ea typeface="Montserrat ExtraBold"/>
                <a:cs typeface="Montserrat ExtraBold"/>
              </a:rPr>
              <a:t>Steering Committee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Kemendikdasmen (Direktorat PPG) · Tanoto Foundation · Direktur Sanggabiz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Arah strategis; keputusan lingkup, jadwal, anggaran. Rapat: kick-off, reviu tengah (awal Nov), penutupan.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063240"/>
            <a:ext cx="6675120" cy="1234440"/>
          </a:xfrm>
          <a:prstGeom prst="roundRect">
            <a:avLst>
              <a:gd name="adj" fmla="val 20740"/>
            </a:avLst>
          </a:prstGeom>
          <a:solidFill>
            <a:srgbClr val="2F7E9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315468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Technical Committee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Perwakilan Direktorat PPG/TPN · unsur Kemdiktisaintek · Project Manager · Advisor · Analis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Memastikan mutu luaran, instrumen, jadwal kunjungan; keselarasan dengan revitalisasi LPTK dan persyaratan akreditasi. Rapat mingguan 30 menit.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434840"/>
            <a:ext cx="6675120" cy="1234440"/>
          </a:xfrm>
          <a:prstGeom prst="roundRect">
            <a:avLst>
              <a:gd name="adj" fmla="val 20740"/>
            </a:avLst>
          </a:prstGeom>
          <a:solidFill>
            <a:srgbClr val="0D2A4E"/>
          </a:solidFill>
          <a:ln w="254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4526279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Advisory 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9204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Ahli PPG, akreditasi/penjaminan mutu, evaluasi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12079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Reviu metodologi dan draf laporan; dua sesi (baseline dan draf akhir).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806440"/>
            <a:ext cx="6675120" cy="457200"/>
          </a:xfrm>
          <a:prstGeom prst="roundRect">
            <a:avLst>
              <a:gd name="adj" fmla="val 40000"/>
            </a:avLst>
          </a:prstGeom>
          <a:solidFill>
            <a:srgbClr val="0B3361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Tim pelaksana: Project Manager, koordinator lapangan (2), analis data, administrator dokumentasi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1691640"/>
            <a:ext cx="4023360" cy="4572000"/>
          </a:xfrm>
          <a:prstGeom prst="roundRect">
            <a:avLst>
              <a:gd name="adj" fmla="val 6363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0" y="18288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Mekanisme kerja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286000"/>
            <a:ext cx="361188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Satu pintu komunikasi: Project Manager ↔ narahubung TF dan Direktorat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Laporan kemajuan mingguan singkat (status, risiko, keputusan yang diminta)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Koordinasi dengan Kemdiktisaintek dilakukan melalui Direktorat PPG, bukan langsung — sesuai struktur tim pendampingan bersama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Setiap perubahan lingkup dan alokasi anggaran memerlukan persetujuan tertulis TF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Reviu dua lapis sebelum laporan dikirim</a:t>
            </a:r>
          </a:p>
          <a:p>
            <a:pPr algn="l" marL="201168" indent="-201168">
              <a:lnSpc>
                <a:spcPct val="110000"/>
              </a:lnSpc>
              <a:spcAft>
                <a:spcPts val="600"/>
              </a:spcAft>
              <a:buClr>
                <a:srgbClr val="FFC00C"/>
              </a:buClr>
              <a:buFont typeface="Arial"/>
              <a:buChar char="•"/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ToR lengkap tiap badan pada lampiran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19088"/>
            <a:ext cx="120159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0240" y="64556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Proposal Teknis  ·  RFP No. 0648/TF-JKT/VIII/2026  ·  Tanoto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55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KUALITAS DAN KAPABILITAS TIM · 20%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Struktur tim dan pembagian peran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5440680" cy="1024128"/>
          </a:xfrm>
          <a:prstGeom prst="roundRect">
            <a:avLst>
              <a:gd name="adj" fmla="val 17857"/>
            </a:avLst>
          </a:prstGeom>
          <a:solidFill>
            <a:srgbClr val="2F7E9D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764792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Direktur Proyek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84832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Steering, hubungan dengan TF dan Direktorat PPG, jaminan mutu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04872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 i="1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Nama dan CV: [diisi, lihat Lampiran CV Personel Kunci]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691640"/>
            <a:ext cx="5440680" cy="1024128"/>
          </a:xfrm>
          <a:prstGeom prst="roundRect">
            <a:avLst>
              <a:gd name="adj" fmla="val 17857"/>
            </a:avLst>
          </a:prstGeom>
          <a:solidFill>
            <a:srgbClr val="2F7E9D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36792" y="1764792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Project Manager dan Koordinator Nasional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2084832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Jadwal, koordinasi TPN, kontrol mutu, laporan mingguan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404872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 i="1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Nama dan CV: [diisi, lihat Lampiran CV Personel Kunci]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834640"/>
            <a:ext cx="5440680" cy="1024128"/>
          </a:xfrm>
          <a:prstGeom prst="roundRect">
            <a:avLst>
              <a:gd name="adj" fmla="val 17857"/>
            </a:avLst>
          </a:prstGeom>
          <a:solidFill>
            <a:srgbClr val="0D2A4E"/>
          </a:solidFill>
          <a:ln w="22225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2907792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Ahli Akreditasi dan Penjaminan Mutu PPG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27832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Rubrik, Paket Perbaikan Akreditasi, reviu laporan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47872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 i="1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Nama dan CV: [diisi, lihat Lampiran CV Personel Kunci]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2834640"/>
            <a:ext cx="5440680" cy="1024128"/>
          </a:xfrm>
          <a:prstGeom prst="roundRect">
            <a:avLst>
              <a:gd name="adj" fmla="val 17857"/>
            </a:avLst>
          </a:prstGeom>
          <a:solidFill>
            <a:srgbClr val="0D2A4E"/>
          </a:solidFill>
          <a:ln w="22225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36792" y="2907792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Ahli OBE, Kurikulum, dan PPL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3227832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Instrumen CPL, pemetaan PPL dan microteaching, FGD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3547872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 i="1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Nama dan CV: [diisi, lihat Lampiran CV Personel Kunci]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977639"/>
            <a:ext cx="5440680" cy="1024128"/>
          </a:xfrm>
          <a:prstGeom prst="roundRect">
            <a:avLst>
              <a:gd name="adj" fmla="val 17857"/>
            </a:avLst>
          </a:prstGeom>
          <a:solidFill>
            <a:srgbClr val="0D2A4E"/>
          </a:solidFill>
          <a:ln w="22225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77240" y="4050791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Analis Data dan Studi Komparatif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370831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Matching, analisis kemajuan, dashboard, tabel keseimbangan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690872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 i="1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Nama dan CV: [diisi, lihat Lampiran CV Personel Kunci]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53912" y="3977639"/>
            <a:ext cx="5440680" cy="1024128"/>
          </a:xfrm>
          <a:prstGeom prst="roundRect">
            <a:avLst>
              <a:gd name="adj" fmla="val 17857"/>
            </a:avLst>
          </a:prstGeom>
          <a:solidFill>
            <a:srgbClr val="0D2A4E"/>
          </a:solidFill>
          <a:ln w="22225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36792" y="4050791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Koordinator Lapangan (2 orang)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4370831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Rute Sumatera; Rute Jawa–Kaltim; logistik dan kunjungan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4690872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 i="1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Nama dan CV: [diisi, lihat Lampiran CV Personel Kunci]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120640"/>
            <a:ext cx="5440680" cy="1024128"/>
          </a:xfrm>
          <a:prstGeom prst="roundRect">
            <a:avLst>
              <a:gd name="adj" fmla="val 17857"/>
            </a:avLst>
          </a:prstGeom>
          <a:solidFill>
            <a:srgbClr val="0D2A4E"/>
          </a:solidFill>
          <a:ln w="22225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7240" y="5193792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Administrator Data dan Dokumentasi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513831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Evidence Register, repositori, notulen, log komentar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833872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 i="1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Nama dan CV: [diisi, lihat Lampiran CV Personel Kunci]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53912" y="5120640"/>
            <a:ext cx="5440680" cy="1024128"/>
          </a:xfrm>
          <a:prstGeom prst="roundRect">
            <a:avLst>
              <a:gd name="adj" fmla="val 17857"/>
            </a:avLst>
          </a:prstGeom>
          <a:solidFill>
            <a:srgbClr val="0B3361"/>
          </a:solidFill>
          <a:ln w="19050">
            <a:solidFill>
              <a:srgbClr val="FFC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55080" y="5166359"/>
            <a:ext cx="50749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Kepakaran PPG dan akreditasi </a:t>
            </a: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dipastikan lewat Advisor dan Advisory Board; CV personel kunci disajikan di bagian terpisah sesuai RFP.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19088"/>
            <a:ext cx="120159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0240" y="64556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Proposal Teknis  ·  RFP No. 0648/TF-JKT/VIII/2026  ·  Tanoto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55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STRATEGI KEBERLANJUTAN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Hasil program tetap bekerja setelah Desember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37360"/>
            <a:ext cx="5440680" cy="2194560"/>
          </a:xfrm>
          <a:prstGeom prst="roundRect">
            <a:avLst>
              <a:gd name="adj" fmla="val 11666"/>
            </a:avLst>
          </a:prstGeom>
          <a:solidFill>
            <a:srgbClr val="2F7E9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11679"/>
            <a:ext cx="54864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00200" y="2011679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Repositori dan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49377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Data, bukti, skor, dan tracker diserahterimakan ke TF dan Direktorat PPG dalam format terbuka.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737360"/>
            <a:ext cx="5440680" cy="2194560"/>
          </a:xfrm>
          <a:prstGeom prst="roundRect">
            <a:avLst>
              <a:gd name="adj" fmla="val 11666"/>
            </a:avLst>
          </a:prstGeom>
          <a:solidFill>
            <a:srgbClr val="0D2A4E"/>
          </a:solidFill>
          <a:ln w="254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book_FFC0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2011679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59752" y="2011679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Pedoman dan instrumen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743200"/>
            <a:ext cx="49377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Rubrik, instrumen observasi PPL, FGD, dan templat laporan yang disempurnakan siap dipakai ulang.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069079"/>
            <a:ext cx="5440680" cy="2194560"/>
          </a:xfrm>
          <a:prstGeom prst="roundRect">
            <a:avLst>
              <a:gd name="adj" fmla="val 11666"/>
            </a:avLst>
          </a:prstGeom>
          <a:solidFill>
            <a:srgbClr val="0D2A4E"/>
          </a:solidFill>
          <a:ln w="254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users_FFC0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343399"/>
            <a:ext cx="548640" cy="548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00200" y="4343399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Komunitas praktik antar-LPTK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74919"/>
            <a:ext cx="49377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Berbagi praktik baik 12 LPTK lewat sesi daring; memanfaatkan pertemuan yang sudah ada.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4069079"/>
            <a:ext cx="5440680" cy="2194560"/>
          </a:xfrm>
          <a:prstGeom prst="roundRect">
            <a:avLst>
              <a:gd name="adj" fmla="val 11666"/>
            </a:avLst>
          </a:prstGeom>
          <a:solidFill>
            <a:srgbClr val="2F7E9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laye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4343399"/>
            <a:ext cx="548640" cy="548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59752" y="4343399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Replikasi ke LPTK lain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5074919"/>
            <a:ext cx="49377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Playbook ringkas Akreditasi-Ready dan rekomendasi tahapan untuk 172 LPTK.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19088"/>
            <a:ext cx="120159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0240" y="64556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Proposal Teknis  ·  RFP No. 0648/TF-JKT/VIII/2026  ·  Tanoto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55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EFISIENSI ANGGARAN DAN KELAYAKAN JADWAL · 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Anggaran ringkas dan skema pembayaran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600200"/>
          <a:ext cx="8046720" cy="39867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383280"/>
                <a:gridCol w="3108960"/>
                <a:gridCol w="155448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092647"/>
                          </a:solidFill>
                          <a:latin typeface="Montserrat"/>
                          <a:ea typeface="Montserrat"/>
                          <a:cs typeface="Montserrat"/>
                        </a:rPr>
                        <a:t>Komponen (14 LPTK: 12 inti + 2 tambahan)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FFC0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092647"/>
                          </a:solidFill>
                          <a:latin typeface="Montserrat"/>
                          <a:ea typeface="Montserrat"/>
                          <a:cs typeface="Montserrat"/>
                        </a:rPr>
                        <a:t>Asumsi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FFC0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092647"/>
                          </a:solidFill>
                          <a:latin typeface="Montserrat"/>
                          <a:ea typeface="Montserrat"/>
                          <a:cs typeface="Montserrat"/>
                        </a:rPr>
                        <a:t>Jumlah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FFC00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Honorarium TPN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2 orang × 14 kunjungan × Rp7.500.000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Rp210.000.000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Akomodasi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35 malam × 3 orang × Rp850.000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Rp89.250.000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Tiket pulang-pergi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7 perjalanan × 3 orang × Rp3.000.000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Rp63.000.000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Transportasi lokal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14 kunjungan × 3 hari × Rp900.000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Rp37.800.000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Uang harian dan logistik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14 × 3 orang × 3 hari × Rp350.000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Rp44.100.000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Platform, repositori, alat data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Paket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Rp9.900.000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Kontingensi perjalanan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±2% dari subtotal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Rp9.330.000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C00C"/>
                          </a:solidFill>
                          <a:latin typeface="Montserrat"/>
                          <a:ea typeface="Montserrat"/>
                          <a:cs typeface="Montserrat"/>
                        </a:rPr>
                        <a:t>Subtotal perjalanan dan logistik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90.9%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C00C"/>
                          </a:solidFill>
                          <a:latin typeface="Montserrat"/>
                          <a:ea typeface="Montserrat"/>
                          <a:cs typeface="Montserrat"/>
                        </a:rPr>
                        <a:t>Rp463.380.000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Management fee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termasuk honorarium mitra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Rp42.000.000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B3361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PPN 11% atas fee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/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Rp4.620.000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0D2A4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092647"/>
                          </a:solidFill>
                          <a:latin typeface="Montserrat"/>
                          <a:ea typeface="Montserrat"/>
                          <a:cs typeface="Montserrat"/>
                        </a:rPr>
                        <a:t>TOTAL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FFC0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092647"/>
                          </a:solidFill>
                          <a:latin typeface="Montserrat"/>
                          <a:ea typeface="Montserrat"/>
                          <a:cs typeface="Montserrat"/>
                        </a:rPr>
                        <a:t>fee + pajak 9.1%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FFC0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092647"/>
                          </a:solidFill>
                          <a:latin typeface="Montserrat"/>
                          <a:ea typeface="Montserrat"/>
                          <a:cs typeface="Montserrat"/>
                        </a:rPr>
                        <a:t>Rp510.000.000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2F7E9D"/>
                      </a:solidFill>
                    </a:lnL>
                    <a:lnR w="9525">
                      <a:solidFill>
                        <a:srgbClr val="2F7E9D"/>
                      </a:solidFill>
                    </a:lnR>
                    <a:lnT w="9525">
                      <a:solidFill>
                        <a:srgbClr val="2F7E9D"/>
                      </a:solidFill>
                    </a:lnT>
                    <a:lnB w="9525">
                      <a:solidFill>
                        <a:srgbClr val="2F7E9D"/>
                      </a:solidFill>
                    </a:lnB>
                    <a:solidFill>
                      <a:srgbClr val="FFC00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823960" y="1600200"/>
            <a:ext cx="2770632" cy="1874519"/>
          </a:xfrm>
          <a:prstGeom prst="roundRect">
            <a:avLst>
              <a:gd name="adj" fmla="val 13658"/>
            </a:avLst>
          </a:prstGeom>
          <a:solidFill>
            <a:srgbClr val="2F7E9D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0" y="169164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Usulan utama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96596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Rp510.000.000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46888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14 LPTK (12 inti + 2 tambahan; lokasi tambahan diberitahukan TF)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3611880"/>
            <a:ext cx="2770632" cy="1463040"/>
          </a:xfrm>
          <a:prstGeom prst="roundRect">
            <a:avLst>
              <a:gd name="adj" fmla="val 17500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961120" y="368503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Alternatif 12 LPTK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95935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Rp426.120.000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443484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Sisa pagu tidak digunakan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5212080"/>
            <a:ext cx="2770632" cy="1051560"/>
          </a:xfrm>
          <a:prstGeom prst="roundRect">
            <a:avLst>
              <a:gd name="adj" fmla="val 24347"/>
            </a:avLst>
          </a:prstGeom>
          <a:solidFill>
            <a:srgbClr val="0B3361"/>
          </a:solidFill>
          <a:ln w="19050">
            <a:solidFill>
              <a:srgbClr val="FFC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961120" y="525780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Termin (usulan)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30% Laporan Awal disetujui · 40% laporan 12 LPTK · 30% paket akhir final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8704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Harga satuan tiket, honorarium TPN (mengacu SBM Kementerian), dan uang harian adalah asumsi awal; disesuaikan dengan harga aktual dan kesepakatan TF. Pembayaran diproses maks 14 hari kerja setelah dokumen lengkap. Rincian di Proposal Anggaran.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19088"/>
            <a:ext cx="120159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0240" y="64556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Proposal Teknis  ·  RFP No. 0648/TF-JKT/VIII/2026  ·  Tanoto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55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PENGALAMAN DAN REPUTASI CALON MITRA · 20%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Sanggabiz dalam angka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10029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Solusi bisnis virtual berbasis department-as-a-service: keuangan, SDM, layanan pelanggan, pemasaran, manajemen proyek, administrasi, dan operasional. Berkantor di Yogyakarta.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86000"/>
            <a:ext cx="3566160" cy="1783080"/>
          </a:xfrm>
          <a:prstGeom prst="roundRect">
            <a:avLst>
              <a:gd name="adj" fmla="val 14358"/>
            </a:avLst>
          </a:prstGeom>
          <a:solidFill>
            <a:srgbClr val="2F7E9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06040"/>
            <a:ext cx="594360" cy="594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54480" y="251460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6.000+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Mitra 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sektor swasta dan pemerintah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286000"/>
            <a:ext cx="3566160" cy="1783080"/>
          </a:xfrm>
          <a:prstGeom prst="roundRect">
            <a:avLst>
              <a:gd name="adj" fmla="val 14358"/>
            </a:avLst>
          </a:prstGeom>
          <a:solidFill>
            <a:srgbClr val="2F7E9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lay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606040"/>
            <a:ext cx="594360" cy="594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57800" y="251460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400+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4290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Proyek dan layanan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7033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terlaksana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2286000"/>
            <a:ext cx="3566160" cy="1783080"/>
          </a:xfrm>
          <a:prstGeom prst="roundRect">
            <a:avLst>
              <a:gd name="adj" fmla="val 14358"/>
            </a:avLst>
          </a:prstGeom>
          <a:solidFill>
            <a:srgbClr val="2F7E9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peop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2606040"/>
            <a:ext cx="594360" cy="5943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961120" y="251460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500+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4290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7033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ahli dan trainer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251960"/>
            <a:ext cx="3566160" cy="1783080"/>
          </a:xfrm>
          <a:prstGeom prst="roundRect">
            <a:avLst>
              <a:gd name="adj" fmla="val 14358"/>
            </a:avLst>
          </a:prstGeom>
          <a:solidFill>
            <a:srgbClr val="0D2A4E"/>
          </a:solidFill>
          <a:ln w="254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72000"/>
            <a:ext cx="594360" cy="5943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54480" y="448056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100+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949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Komunitas mitra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4251960"/>
            <a:ext cx="3566160" cy="1783080"/>
          </a:xfrm>
          <a:prstGeom prst="roundRect">
            <a:avLst>
              <a:gd name="adj" fmla="val 14358"/>
            </a:avLst>
          </a:prstGeom>
          <a:solidFill>
            <a:srgbClr val="0D2A4E"/>
          </a:solidFill>
          <a:ln w="254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lin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4572000"/>
            <a:ext cx="594360" cy="5943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257800" y="448056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400+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3949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Channel media partner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4251960"/>
            <a:ext cx="3566160" cy="1783080"/>
          </a:xfrm>
          <a:prstGeom prst="roundRect">
            <a:avLst>
              <a:gd name="adj" fmla="val 14358"/>
            </a:avLst>
          </a:prstGeom>
          <a:solidFill>
            <a:srgbClr val="0D2A4E"/>
          </a:solidFill>
          <a:ln w="254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targe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4572000"/>
            <a:ext cx="594360" cy="5943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961120" y="448056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11.000+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3949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Total pengguna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669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B2C, B2B, B2G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217920"/>
            <a:ext cx="110029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Sumber: Company Profile Sanggabiz 2026.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che_image112_660x7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350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092647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035040" y="0"/>
            <a:ext cx="6156655" cy="6858000"/>
          </a:xfrm>
          <a:prstGeom prst="rect">
            <a:avLst/>
          </a:prstGeom>
          <a:solidFill>
            <a:srgbClr val="0B3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PENGALAMAN RELEVAN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Manajemen program multilokasi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Pelatihan dan pengembangan lintas kota dan lembaga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MSME Training Rumah BUMN</a:t>
            </a:r>
          </a:p>
        </p:txBody>
      </p:sp>
      <p:pic>
        <p:nvPicPr>
          <p:cNvPr id="9" name="Picture 8" descr="calend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13432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2286000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Webinar dan pelatihan UMKM, 2025–2026</a:t>
            </a:r>
          </a:p>
        </p:txBody>
      </p:sp>
      <p:pic>
        <p:nvPicPr>
          <p:cNvPr id="11" name="Picture 10" descr="peop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642615"/>
            <a:ext cx="25603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2615184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Jejaring Rumah BUMN di banyak daerah</a:t>
            </a:r>
          </a:p>
        </p:txBody>
      </p:sp>
      <p:pic>
        <p:nvPicPr>
          <p:cNvPr id="13" name="Picture 12" descr="targe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71799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4400" y="294436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Surabaya, Purbalingga, Labuan Bajo, Yogyakarta, Jakarta, Bojonegoro, Kabanjahe, Samarinda, Pekalongan, dst.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832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TechPath Bojonegoro (Plan International)</a:t>
            </a:r>
          </a:p>
        </p:txBody>
      </p:sp>
      <p:pic>
        <p:nvPicPr>
          <p:cNvPr id="16" name="Picture 15" descr="calend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776472"/>
            <a:ext cx="256032" cy="256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4400" y="3749040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Desember 2025 – Maret 2026</a:t>
            </a:r>
          </a:p>
        </p:txBody>
      </p:sp>
      <p:pic>
        <p:nvPicPr>
          <p:cNvPr id="18" name="Picture 17" descr="peop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05656"/>
            <a:ext cx="25603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4400" y="4078224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69 peserta (individu)</a:t>
            </a:r>
          </a:p>
        </p:txBody>
      </p:sp>
      <p:pic>
        <p:nvPicPr>
          <p:cNvPr id="20" name="Picture 19" descr="targe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434840"/>
            <a:ext cx="256032" cy="2560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4400" y="440740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Digital marketing, content creation, soft skill dan job readiness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FYEP: Retail Skills for Youth Empowerment</a:t>
            </a:r>
          </a:p>
        </p:txBody>
      </p:sp>
      <p:pic>
        <p:nvPicPr>
          <p:cNvPr id="23" name="Picture 22" descr="calend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239512"/>
            <a:ext cx="256032" cy="2560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4400" y="5212080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Program berjalan (Plan International)</a:t>
            </a:r>
          </a:p>
        </p:txBody>
      </p:sp>
      <p:pic>
        <p:nvPicPr>
          <p:cNvPr id="25" name="Picture 24" descr="peop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568696"/>
            <a:ext cx="256032" cy="25603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4400" y="5541264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Model P-L-A-N: Prepare, Learn, Apply, Navigate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572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8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RELEVANSI TERHADAP RFP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1005840"/>
            <a:ext cx="5120640" cy="1463040"/>
          </a:xfrm>
          <a:prstGeom prst="roundRect">
            <a:avLst>
              <a:gd name="adj" fmla="val 12500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720840" y="111556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Koordinasi banyak lokasi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1508760"/>
            <a:ext cx="4709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Menjangkau jejaring Rumah BUMN di 9+ kota, termasuk Samarinda (Kalimantan Timur), dengan koordinasi jarak jauh.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2651760"/>
            <a:ext cx="5120640" cy="1463040"/>
          </a:xfrm>
          <a:prstGeom prst="roundRect">
            <a:avLst>
              <a:gd name="adj" fmla="val 12500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720840" y="276148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Kemitraan lembaga pembangunan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3154680"/>
            <a:ext cx="4709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Bekerja dengan yayasan dan organisasi pembangunan (Plan International), lengkap dengan pelaporan program.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4297680"/>
            <a:ext cx="5120640" cy="1463040"/>
          </a:xfrm>
          <a:prstGeom prst="roundRect">
            <a:avLst>
              <a:gd name="adj" fmla="val 12500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720840" y="440740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Program end-to-end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4800600"/>
            <a:ext cx="4709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Dari desain, pelaksanaan, hingga pendampingan peserta; sejalan dengan siklus kunjungan dan tindak lanjut.</a:t>
            </a:r>
          </a:p>
        </p:txBody>
      </p:sp>
      <p:pic>
        <p:nvPicPr>
          <p:cNvPr id="37" name="Picture 36" descr="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6355080"/>
            <a:ext cx="1201594" cy="23774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682935" y="6455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che_image117_660x7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350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092647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035040" y="0"/>
            <a:ext cx="6156655" cy="6858000"/>
          </a:xfrm>
          <a:prstGeom prst="rect">
            <a:avLst/>
          </a:prstGeom>
          <a:solidFill>
            <a:srgbClr val="0B3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PENGALAMAN RELEVAN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Class management skala besar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Administrasi kelas, peserta, dan pelaporan berkelanjutan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Class Management LingoTalk</a:t>
            </a:r>
          </a:p>
        </p:txBody>
      </p:sp>
      <p:pic>
        <p:nvPicPr>
          <p:cNvPr id="9" name="Picture 8" descr="calend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13432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2286000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Juli 2023 – sekarang</a:t>
            </a:r>
          </a:p>
        </p:txBody>
      </p:sp>
      <p:pic>
        <p:nvPicPr>
          <p:cNvPr id="11" name="Picture 10" descr="peop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642615"/>
            <a:ext cx="25603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2615184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1000+ peserta · 350+ kelas Business English</a:t>
            </a:r>
          </a:p>
        </p:txBody>
      </p:sp>
      <p:pic>
        <p:nvPicPr>
          <p:cNvPr id="13" name="Picture 12" descr="targe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71799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4400" y="294436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28+ institusi pemerintah dan non-pemerintah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832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Program Pra Kerja</a:t>
            </a:r>
          </a:p>
        </p:txBody>
      </p:sp>
      <p:pic>
        <p:nvPicPr>
          <p:cNvPr id="16" name="Picture 15" descr="calend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776472"/>
            <a:ext cx="256032" cy="256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4400" y="3749040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Juli–November 2023 dan 2024</a:t>
            </a:r>
          </a:p>
        </p:txBody>
      </p:sp>
      <p:pic>
        <p:nvPicPr>
          <p:cNvPr id="18" name="Picture 17" descr="peop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05656"/>
            <a:ext cx="25603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4400" y="4078224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±4.000 peserta</a:t>
            </a:r>
          </a:p>
        </p:txBody>
      </p:sp>
      <p:pic>
        <p:nvPicPr>
          <p:cNvPr id="20" name="Picture 19" descr="targe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434840"/>
            <a:ext cx="256032" cy="2560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4400" y="440740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Customer service, akuntansi UMKM, kewirausahaan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Amartha Cendekia</a:t>
            </a:r>
          </a:p>
        </p:txBody>
      </p:sp>
      <p:pic>
        <p:nvPicPr>
          <p:cNvPr id="23" name="Picture 22" descr="calend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239512"/>
            <a:ext cx="256032" cy="2560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4400" y="5212080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Program berjalan</a:t>
            </a:r>
          </a:p>
        </p:txBody>
      </p:sp>
      <p:pic>
        <p:nvPicPr>
          <p:cNvPr id="25" name="Picture 24" descr="peop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568696"/>
            <a:ext cx="256032" cy="25603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4400" y="5541264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End-to-end class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572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8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RELEVANSI TERHADAP RFP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1005840"/>
            <a:ext cx="5120640" cy="1463040"/>
          </a:xfrm>
          <a:prstGeom prst="roundRect">
            <a:avLst>
              <a:gd name="adj" fmla="val 12500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720840" y="111556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Koordinasi jadwal dan peserta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1508760"/>
            <a:ext cx="4709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Pendaftaran, pengingat, administrasi kelas, dan dokumen pasca-kelas.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2651760"/>
            <a:ext cx="5120640" cy="1463040"/>
          </a:xfrm>
          <a:prstGeom prst="roundRect">
            <a:avLst>
              <a:gd name="adj" fmla="val 12500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720840" y="276148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Institusi pemerintah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3154680"/>
            <a:ext cx="4709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Melayani institusi pemerintah dan non-pemerintah dalam skala ratusan kelas.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4297680"/>
            <a:ext cx="5120640" cy="1463040"/>
          </a:xfrm>
          <a:prstGeom prst="roundRect">
            <a:avLst>
              <a:gd name="adj" fmla="val 12500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720840" y="440740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Disiplin pelaporan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4800600"/>
            <a:ext cx="4709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Data peserta, kehadiran, dan hasil dikelola konsisten; dasar untuk Evidence Register.</a:t>
            </a:r>
          </a:p>
        </p:txBody>
      </p:sp>
      <p:pic>
        <p:nvPicPr>
          <p:cNvPr id="37" name="Picture 36" descr="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6355080"/>
            <a:ext cx="1201594" cy="23774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682935" y="6455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che_image137_660x7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350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092647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035040" y="0"/>
            <a:ext cx="6156655" cy="6858000"/>
          </a:xfrm>
          <a:prstGeom prst="rect">
            <a:avLst/>
          </a:prstGeom>
          <a:solidFill>
            <a:srgbClr val="0B3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PENGALAMAN RELEVAN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Kerja sama instansi dan pengembangan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Regulator, BUMD, dan bahan ajar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Otoritas Jasa Keuangan (OJK) Yogyakarta</a:t>
            </a:r>
          </a:p>
        </p:txBody>
      </p:sp>
      <p:pic>
        <p:nvPicPr>
          <p:cNvPr id="9" name="Picture 8" descr="calend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13432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2286000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April 2025</a:t>
            </a:r>
          </a:p>
        </p:txBody>
      </p:sp>
      <p:pic>
        <p:nvPicPr>
          <p:cNvPr id="11" name="Picture 10" descr="peop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642615"/>
            <a:ext cx="25603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2615184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50 peserta (korporat)</a:t>
            </a:r>
          </a:p>
        </p:txBody>
      </p:sp>
      <p:pic>
        <p:nvPicPr>
          <p:cNvPr id="13" name="Picture 12" descr="targe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71799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4400" y="294436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Digital marketing bagi lembaga keuangan yang patuh regulasi OJK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832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PT Riau Petroleum Rokan</a:t>
            </a:r>
          </a:p>
        </p:txBody>
      </p:sp>
      <p:pic>
        <p:nvPicPr>
          <p:cNvPr id="16" name="Picture 15" descr="calend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776472"/>
            <a:ext cx="256032" cy="256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4400" y="3749040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November 2025 dan April 2026</a:t>
            </a:r>
          </a:p>
        </p:txBody>
      </p:sp>
      <p:pic>
        <p:nvPicPr>
          <p:cNvPr id="18" name="Picture 17" descr="peop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05656"/>
            <a:ext cx="25603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4400" y="4078224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8, 30, dan 19 peserta</a:t>
            </a:r>
          </a:p>
        </p:txBody>
      </p:sp>
      <p:pic>
        <p:nvPicPr>
          <p:cNvPr id="20" name="Picture 19" descr="targe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434840"/>
            <a:ext cx="256032" cy="2560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4400" y="440740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Bisnis migas terintegrasi; pelatihan BNSP dan ISO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Pengembangan modul dan video</a:t>
            </a:r>
          </a:p>
        </p:txBody>
      </p:sp>
      <p:pic>
        <p:nvPicPr>
          <p:cNvPr id="23" name="Picture 22" descr="calend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239512"/>
            <a:ext cx="256032" cy="2560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4400" y="5212080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Modul STEM, Leadership for First-Time Manager, FYEP</a:t>
            </a:r>
          </a:p>
        </p:txBody>
      </p:sp>
      <p:pic>
        <p:nvPicPr>
          <p:cNvPr id="25" name="Picture 24" descr="peop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568696"/>
            <a:ext cx="256032" cy="25603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4400" y="5541264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16 video pembelajaran (FYEP)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572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8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RELEVANSI TERHADAP RFP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1005840"/>
            <a:ext cx="5120640" cy="1463040"/>
          </a:xfrm>
          <a:prstGeom prst="roundRect">
            <a:avLst>
              <a:gd name="adj" fmla="val 12500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720840" y="111556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Kerja dengan regulator dan BUMD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1508760"/>
            <a:ext cx="4709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Pengalaman menyiapkan materi dan sesi bagi instansi pemerintah dan lembaga berstandar.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2651760"/>
            <a:ext cx="5120640" cy="1463040"/>
          </a:xfrm>
          <a:prstGeom prst="roundRect">
            <a:avLst>
              <a:gd name="adj" fmla="val 12500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720840" y="276148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Standar dan mutu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3154680"/>
            <a:ext cx="4709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Pelatihan BNSP dan ISO (manajemen risiko, audit internal, sertifikasi) selaras dengan disiplin standar dan bukti.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4297680"/>
            <a:ext cx="5120640" cy="1463040"/>
          </a:xfrm>
          <a:prstGeom prst="roundRect">
            <a:avLst>
              <a:gd name="adj" fmla="val 12500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720840" y="440740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Pengembangan pedoman dan modul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4800600"/>
            <a:ext cx="4709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Modul, materi presentasi, dan video: relevan untuk penyempurnaan pedoman dan instrumen.</a:t>
            </a:r>
          </a:p>
        </p:txBody>
      </p:sp>
      <p:pic>
        <p:nvPicPr>
          <p:cNvPr id="37" name="Picture 36" descr="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6355080"/>
            <a:ext cx="1201594" cy="23774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682935" y="6455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19088"/>
            <a:ext cx="120159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0240" y="64556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Proposal Teknis  ·  RFP No. 0648/TF-JKT/VIII/2026  ·  Tanoto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64556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PERSYARATAN KELEMBAGAAN (RFP BAGIAN 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Komitmen kepatuhan dan etika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5440680" cy="987552"/>
          </a:xfrm>
          <a:prstGeom prst="roundRect">
            <a:avLst>
              <a:gd name="adj" fmla="val 18518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heck_FFC0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947672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1737360"/>
            <a:ext cx="443484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Memiliki NPWP dan rekening atas nama lembaga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691640"/>
            <a:ext cx="5440680" cy="987552"/>
          </a:xfrm>
          <a:prstGeom prst="roundRect">
            <a:avLst>
              <a:gd name="adj" fmla="val 18518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check_FFC0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47672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22592" y="1737360"/>
            <a:ext cx="443484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Tidak ada catatan pelanggaran hak anak, kekerasan, pelecehan, diskriminasi, atau eksploitasi anak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788920"/>
            <a:ext cx="5440680" cy="987552"/>
          </a:xfrm>
          <a:prstGeom prst="roundRect">
            <a:avLst>
              <a:gd name="adj" fmla="val 18518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heck_FFC0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044952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63040" y="2834639"/>
            <a:ext cx="443484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Tidak terlibat, berafiliasi, atau menerima pendanaan dari partai politik dan organisasi terlarang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3912" y="2788920"/>
            <a:ext cx="5440680" cy="987552"/>
          </a:xfrm>
          <a:prstGeom prst="roundRect">
            <a:avLst>
              <a:gd name="adj" fmla="val 18518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check_FFC0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044952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22592" y="2834639"/>
            <a:ext cx="443484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Tidak menerima pendanaan dari perusahaan rokok, perjudian, atau susu formula selama kemitraan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886200"/>
            <a:ext cx="5440680" cy="987552"/>
          </a:xfrm>
          <a:prstGeom prst="roundRect">
            <a:avLst>
              <a:gd name="adj" fmla="val 18518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check_FFC0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4142232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63040" y="3931920"/>
            <a:ext cx="443484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Mematuhi kebijakan perlindungan anak, antikorupsi, konflik kepentingan, dan kode etik Tanoto Foundation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3912" y="3886200"/>
            <a:ext cx="5440680" cy="987552"/>
          </a:xfrm>
          <a:prstGeom prst="roundRect">
            <a:avLst>
              <a:gd name="adj" fmla="val 18518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check_FFC0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4142232"/>
            <a:ext cx="457200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022592" y="3931920"/>
            <a:ext cx="443484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Menjaga kerahasiaan data dan membatasi data pribadi pada yang benar-benar diperlukan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983479"/>
            <a:ext cx="5440680" cy="987552"/>
          </a:xfrm>
          <a:prstGeom prst="roundRect">
            <a:avLst>
              <a:gd name="adj" fmla="val 18518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check_FFC0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5239512"/>
            <a:ext cx="457200" cy="457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63040" y="5029199"/>
            <a:ext cx="443484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Tidak mempublikasikan data atau hasil program tanpa persetujuan tertulis TF dan Direktorat PPG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3912" y="4983479"/>
            <a:ext cx="5440680" cy="987552"/>
          </a:xfrm>
          <a:prstGeom prst="roundRect">
            <a:avLst>
              <a:gd name="adj" fmla="val 18518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check_FFC0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239512"/>
            <a:ext cx="457200" cy="457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022592" y="5029199"/>
            <a:ext cx="443484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Bersedia mematuhi prosedur dan kebijakan Tanoto Foundation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172200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Bukti pendukung disampaikan setelah nominasi oleh Tanoto Foundation (RFP bagian D, catatan kaki 2).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463040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8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Siap berjalan bersama Tanoto Foundation dan Direktorat PPG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063240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B0C0CF"/>
                </a:solidFill>
                <a:latin typeface="Montserrat Medium"/>
                <a:ea typeface="Montserrat Medium"/>
                <a:cs typeface="Montserrat Medium"/>
              </a:rPr>
              <a:t>Mengubah rencana tindak lanjut menjadi bukti, dan bukti menjadi Akreditasi Unggul.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977639"/>
            <a:ext cx="3466137" cy="685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" y="5074920"/>
            <a:ext cx="3383280" cy="475488"/>
          </a:xfrm>
          <a:prstGeom prst="roundRect">
            <a:avLst>
              <a:gd name="adj" fmla="val 50000"/>
            </a:avLst>
          </a:prstGeom>
          <a:solidFill>
            <a:srgbClr val="0D2A4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lin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166360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8720" y="5074920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www.sanggabiz.com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5074920"/>
            <a:ext cx="3383280" cy="475488"/>
          </a:xfrm>
          <a:prstGeom prst="roundRect">
            <a:avLst>
              <a:gd name="adj" fmla="val 50000"/>
            </a:avLst>
          </a:prstGeom>
          <a:solidFill>
            <a:srgbClr val="0D2A4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arge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5166360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09160" y="5074920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@sanggabiz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5074920"/>
            <a:ext cx="3383280" cy="475488"/>
          </a:xfrm>
          <a:prstGeom prst="roundRect">
            <a:avLst>
              <a:gd name="adj" fmla="val 50000"/>
            </a:avLst>
          </a:prstGeom>
          <a:solidFill>
            <a:srgbClr val="0D2A4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doc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19" y="5166360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0" y="5074920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partnership@sanggabiz.com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760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Yogyakarta  |  </a:t>
            </a:r>
            <a:r>
              <a:rPr sz="105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Jl. Bambu Gading No.111, Sendon, Tirtoadi, Kec. Mlati, Kab. Sleman, DI Yogyakarta 55287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26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1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Kontak proyek: [nama, jabatan, telepon: diisi]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