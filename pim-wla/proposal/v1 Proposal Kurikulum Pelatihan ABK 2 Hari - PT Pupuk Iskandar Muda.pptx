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ambaran" id="{7c0eb934-fbf1-8319-37fe-e407607fed26}">
          <p14:sldIdLst>
            <p14:sldId id="256"/>
            <p14:sldId id="257"/>
            <p14:sldId id="258"/>
            <p14:sldId id="259"/>
            <p14:sldId id="260"/>
          </p14:sldIdLst>
        </p14:section>
        <p14:section name="Silabus" id="{a1578260-1e9e-95b0-d2b1-97f8f34f52b4}">
          <p14:sldIdLst>
            <p14:sldId id="261"/>
            <p14:sldId id="262"/>
            <p14:sldId id="263"/>
            <p14:sldId id="264"/>
          </p14:sldIdLst>
        </p14:section>
        <p14:section name="Hasil dan evaluasi" id="{68c6bc66-83e6-677a-40b9-5ab13f96cfcc}">
          <p14:sldIdLst>
            <p14:sldId id="265"/>
            <p14:sldId id="266"/>
          </p14:sldIdLst>
        </p14:section>
        <p14:section name="Penutup" id="{46cfe054-988c-df47-db54-e537ac67688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DARK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Sanggabiz" descr="/home/user/sanggabiz-proposal/pim-wla/_build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1737360" cy="34472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Sanggabiz" descr="/home/user/sanggabiz-proposal/pim-wla/_build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47472"/>
            <a:ext cx="1600200" cy="317297"/>
          </a:xfrm>
          <a:prstGeom prst="rect">
            <a:avLst/>
          </a:prstGeom>
        </p:spPr>
      </p:pic>
      <p:pic>
        <p:nvPicPr>
          <p:cNvPr id="3" name="Logo PIM" descr="/home/user/sanggabiz-proposal/pim-wla/_build/assets/logo_p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82880"/>
            <a:ext cx="566928" cy="56144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274320"/>
            <a:ext cx="8961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Text 0"/>
          <p:cNvSpPr/>
          <p:nvPr/>
        </p:nvSpPr>
        <p:spPr>
          <a:xfrm>
            <a:off x="457200" y="6473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Sanggabiz  |  Proposal Kurikulum Pelatihan ABK  |  PT Pupuk Iskandar Muda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korasi lingkaran besar"/>
          <p:cNvSpPr/>
          <p:nvPr/>
        </p:nvSpPr>
        <p:spPr>
          <a:xfrm>
            <a:off x="7863840" y="2834640"/>
            <a:ext cx="5669280" cy="5669280"/>
          </a:xfrm>
          <a:prstGeom prst="ellipse">
            <a:avLst/>
          </a:prstGeom>
          <a:solidFill>
            <a:schemeClr val="accent3">
              <a:alpha val="20000"/>
            </a:schemeClr>
          </a:solidFill>
          <a:ln/>
        </p:spPr>
      </p:sp>
      <p:sp>
        <p:nvSpPr>
          <p:cNvPr id="3" name="Dekorasi lingkaran kuning"/>
          <p:cNvSpPr/>
          <p:nvPr/>
        </p:nvSpPr>
        <p:spPr>
          <a:xfrm>
            <a:off x="10561320" y="5074920"/>
            <a:ext cx="1143000" cy="1143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Logo Sanggabiz" descr="/home/user/sanggabiz-proposal/pim-wla/_build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194560" cy="434340"/>
          </a:xfrm>
          <a:prstGeom prst="rect">
            <a:avLst/>
          </a:prstGeom>
        </p:spPr>
      </p:pic>
      <p:sp>
        <p:nvSpPr>
          <p:cNvPr id="5" name="Label proposal"/>
          <p:cNvSpPr txBox="1"/>
          <p:nvPr/>
        </p:nvSpPr>
        <p:spPr>
          <a:xfrm>
            <a:off x="594360" y="178308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PROPOSAL KURIKULUM</a:t>
            </a:r>
            <a:endParaRPr lang="en-US" sz="1200" dirty="0"/>
          </a:p>
        </p:txBody>
      </p:sp>
      <p:sp>
        <p:nvSpPr>
          <p:cNvPr id="6" name="Judul sampul"/>
          <p:cNvSpPr txBox="1"/>
          <p:nvPr/>
        </p:nvSpPr>
        <p:spPr>
          <a:xfrm>
            <a:off x="594360" y="22860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Pelatihan Transfer Kemampuan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Analisis Beban Kerja</a:t>
            </a:r>
            <a:endParaRPr lang="en-US" sz="3800" dirty="0"/>
          </a:p>
        </p:txBody>
      </p:sp>
      <p:sp>
        <p:nvSpPr>
          <p:cNvPr id="7" name="Subjudul sampul"/>
          <p:cNvSpPr txBox="1"/>
          <p:nvPr/>
        </p:nvSpPr>
        <p:spPr>
          <a:xfrm>
            <a:off x="59436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Dua hari di Medan untuk PT Pupuk Iskandar Muda</a:t>
            </a:r>
            <a:endParaRPr lang="en-US" sz="1800" dirty="0"/>
          </a:p>
        </p:txBody>
      </p:sp>
      <p:sp>
        <p:nvSpPr>
          <p:cNvPr id="8" name="Ringkasan 1"/>
          <p:cNvSpPr txBox="1"/>
          <p:nvPr/>
        </p:nvSpPr>
        <p:spPr>
          <a:xfrm>
            <a:off x="594360" y="5074920"/>
            <a:ext cx="201168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hari, 16 JPL</a:t>
            </a:r>
            <a:endParaRPr lang="en-US" sz="1400" dirty="0"/>
          </a:p>
        </p:txBody>
      </p:sp>
      <p:sp>
        <p:nvSpPr>
          <p:cNvPr id="9" name="Ringkasan 2"/>
          <p:cNvSpPr txBox="1"/>
          <p:nvPr/>
        </p:nvSpPr>
        <p:spPr>
          <a:xfrm>
            <a:off x="2788920" y="5074920"/>
            <a:ext cx="201168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 modul</a:t>
            </a:r>
            <a:endParaRPr lang="en-US" sz="1400" dirty="0"/>
          </a:p>
        </p:txBody>
      </p:sp>
      <p:sp>
        <p:nvSpPr>
          <p:cNvPr id="10" name="Ringkasan 3"/>
          <p:cNvSpPr txBox="1"/>
          <p:nvPr/>
        </p:nvSpPr>
        <p:spPr>
          <a:xfrm>
            <a:off x="4983480" y="5074920"/>
            <a:ext cx="201168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30 peserta</a:t>
            </a:r>
            <a:endParaRPr lang="en-US" sz="1400" dirty="0"/>
          </a:p>
        </p:txBody>
      </p:sp>
      <p:sp>
        <p:nvSpPr>
          <p:cNvPr id="11" name="Penyusun dan bulan"/>
          <p:cNvSpPr txBox="1"/>
          <p:nvPr/>
        </p:nvSpPr>
        <p:spPr>
          <a:xfrm>
            <a:off x="5943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Diajukan oleh Sanggabiz   |   Oktober 2026</a:t>
            </a:r>
            <a:endParaRPr lang="en-US" sz="1400" dirty="0"/>
          </a:p>
        </p:txBody>
      </p:sp>
      <p:sp>
        <p:nvSpPr>
          <p:cNvPr id="12" name="Kapsul klien"/>
          <p:cNvSpPr/>
          <p:nvPr/>
        </p:nvSpPr>
        <p:spPr>
          <a:xfrm>
            <a:off x="8321040" y="457200"/>
            <a:ext cx="3291840" cy="10515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pic>
        <p:nvPicPr>
          <p:cNvPr id="13" name="Logo PIM" descr="/home/user/sanggabiz-proposal/pim-wla/_build/assets/logo_p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66928"/>
            <a:ext cx="822960" cy="813816"/>
          </a:xfrm>
          <a:prstGeom prst="rect">
            <a:avLst/>
          </a:prstGeom>
        </p:spPr>
      </p:pic>
      <p:sp>
        <p:nvSpPr>
          <p:cNvPr id="14" name="Penerima"/>
          <p:cNvSpPr txBox="1"/>
          <p:nvPr/>
        </p:nvSpPr>
        <p:spPr>
          <a:xfrm>
            <a:off x="9418320" y="56692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Disiapkan untuk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PT Pupuk Iskandar Muda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Dua hari untuk menguasai siklus ABK</a:t>
            </a:r>
            <a:endParaRPr lang="en-US" sz="3200" dirty="0"/>
          </a:p>
        </p:txBody>
      </p:sp>
      <p:sp>
        <p:nvSpPr>
          <p:cNvPr id="3" name="Uraian ringkasan"/>
          <p:cNvSpPr txBox="1"/>
          <p:nvPr/>
        </p:nvSpPr>
        <p:spPr>
          <a:xfrm>
            <a:off x="594360" y="201168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Peserta mengerjakan satu kasus dari awal sampai akhir: menyusun daftar pekerjaan, mengumpulkan dan memeriksa data, menghitung FTE (beban kerja dalam satuan pegawai penuh waktu), membaca hasilnya, lalu menyusun rencana 30-60-90 hari untuk unitnya.</a:t>
            </a:r>
            <a:endParaRPr lang="en-US" sz="1600" dirty="0"/>
          </a:p>
        </p:txBody>
      </p:sp>
      <p:pic>
        <p:nvPicPr>
          <p:cNvPr id="4" name="Ikon hari tatap muka di Medan" descr="/home/user/sanggabiz-proposal/pim-wla/_build/assets/icons/FiMapP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828800"/>
            <a:ext cx="411480" cy="411480"/>
          </a:xfrm>
          <a:prstGeom prst="rect">
            <a:avLst/>
          </a:prstGeom>
        </p:spPr>
      </p:pic>
      <p:sp>
        <p:nvSpPr>
          <p:cNvPr id="5" name="Angka hari tatap muka di Medan"/>
          <p:cNvSpPr txBox="1"/>
          <p:nvPr/>
        </p:nvSpPr>
        <p:spPr>
          <a:xfrm>
            <a:off x="539496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</a:t>
            </a:r>
            <a:endParaRPr lang="en-US" sz="4400" dirty="0"/>
          </a:p>
        </p:txBody>
      </p:sp>
      <p:sp>
        <p:nvSpPr>
          <p:cNvPr id="6" name="Label hari tatap muka di Medan"/>
          <p:cNvSpPr txBox="1"/>
          <p:nvPr/>
        </p:nvSpPr>
        <p:spPr>
          <a:xfrm>
            <a:off x="539496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hari tatap muka di Medan</a:t>
            </a:r>
            <a:endParaRPr lang="en-US" sz="1400" dirty="0"/>
          </a:p>
        </p:txBody>
      </p:sp>
      <p:pic>
        <p:nvPicPr>
          <p:cNvPr id="7" name="Ikon JPL, setara 12 jam efektif" descr="/home/user/sanggabiz-proposal/pim-wla/_build/assets/icons/Fi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11480" cy="411480"/>
          </a:xfrm>
          <a:prstGeom prst="rect">
            <a:avLst/>
          </a:prstGeom>
        </p:spPr>
      </p:pic>
      <p:sp>
        <p:nvSpPr>
          <p:cNvPr id="8" name="Angka JPL, setara 12 jam efektif"/>
          <p:cNvSpPr txBox="1"/>
          <p:nvPr/>
        </p:nvSpPr>
        <p:spPr>
          <a:xfrm>
            <a:off x="763524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16</a:t>
            </a:r>
            <a:endParaRPr lang="en-US" sz="4400" dirty="0"/>
          </a:p>
        </p:txBody>
      </p:sp>
      <p:sp>
        <p:nvSpPr>
          <p:cNvPr id="9" name="Label JPL, setara 12 jam efektif"/>
          <p:cNvSpPr txBox="1"/>
          <p:nvPr/>
        </p:nvSpPr>
        <p:spPr>
          <a:xfrm>
            <a:off x="763524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JPL, setara 12 jam efektif</a:t>
            </a:r>
            <a:endParaRPr lang="en-US" sz="1400" dirty="0"/>
          </a:p>
        </p:txBody>
      </p:sp>
      <p:pic>
        <p:nvPicPr>
          <p:cNvPr id="10" name="Ikon modul, masing-masing 2 JPL" descr="/home/user/sanggabiz-proposal/pim-wla/_build/assets/icons/FiLay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828800"/>
            <a:ext cx="411480" cy="411480"/>
          </a:xfrm>
          <a:prstGeom prst="rect">
            <a:avLst/>
          </a:prstGeom>
        </p:spPr>
      </p:pic>
      <p:sp>
        <p:nvSpPr>
          <p:cNvPr id="11" name="Angka modul, masing-masing 2 JPL"/>
          <p:cNvSpPr txBox="1"/>
          <p:nvPr/>
        </p:nvSpPr>
        <p:spPr>
          <a:xfrm>
            <a:off x="987552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8</a:t>
            </a:r>
            <a:endParaRPr lang="en-US" sz="4400" dirty="0"/>
          </a:p>
        </p:txBody>
      </p:sp>
      <p:sp>
        <p:nvSpPr>
          <p:cNvPr id="12" name="Label modul, masing-masing 2 JPL"/>
          <p:cNvSpPr txBox="1"/>
          <p:nvPr/>
        </p:nvSpPr>
        <p:spPr>
          <a:xfrm>
            <a:off x="987552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modul, masing-masing 2 JPL</a:t>
            </a:r>
            <a:endParaRPr lang="en-US" sz="1400" dirty="0"/>
          </a:p>
        </p:txBody>
      </p:sp>
      <p:pic>
        <p:nvPicPr>
          <p:cNvPr id="13" name="Ikon peserta, maksimal" descr="/home/user/sanggabiz-proposal/pim-wla/_build/assets/icons/FiUs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977640"/>
            <a:ext cx="411480" cy="411480"/>
          </a:xfrm>
          <a:prstGeom prst="rect">
            <a:avLst/>
          </a:prstGeom>
        </p:spPr>
      </p:pic>
      <p:sp>
        <p:nvSpPr>
          <p:cNvPr id="14" name="Angka peserta, maksimal"/>
          <p:cNvSpPr txBox="1"/>
          <p:nvPr/>
        </p:nvSpPr>
        <p:spPr>
          <a:xfrm>
            <a:off x="5394960" y="4434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30</a:t>
            </a:r>
            <a:endParaRPr lang="en-US" sz="4400" dirty="0"/>
          </a:p>
        </p:txBody>
      </p:sp>
      <p:sp>
        <p:nvSpPr>
          <p:cNvPr id="15" name="Label peserta, maksimal"/>
          <p:cNvSpPr txBox="1"/>
          <p:nvPr/>
        </p:nvSpPr>
        <p:spPr>
          <a:xfrm>
            <a:off x="5394960" y="5212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peserta, maksimal</a:t>
            </a:r>
            <a:endParaRPr lang="en-US" sz="1400" dirty="0"/>
          </a:p>
        </p:txBody>
      </p:sp>
      <p:pic>
        <p:nvPicPr>
          <p:cNvPr id="16" name="Ikon kelompok dengan satu kasus bersama" descr="/home/user/sanggabiz-proposal/pim-wla/_build/assets/icons/FiTarge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3977640"/>
            <a:ext cx="411480" cy="411480"/>
          </a:xfrm>
          <a:prstGeom prst="rect">
            <a:avLst/>
          </a:prstGeom>
        </p:spPr>
      </p:pic>
      <p:sp>
        <p:nvSpPr>
          <p:cNvPr id="17" name="Angka kelompok dengan satu kasus bersama"/>
          <p:cNvSpPr txBox="1"/>
          <p:nvPr/>
        </p:nvSpPr>
        <p:spPr>
          <a:xfrm>
            <a:off x="7635240" y="4434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5</a:t>
            </a:r>
            <a:endParaRPr lang="en-US" sz="4400" dirty="0"/>
          </a:p>
        </p:txBody>
      </p:sp>
      <p:sp>
        <p:nvSpPr>
          <p:cNvPr id="18" name="Label kelompok dengan satu kasus bersama"/>
          <p:cNvSpPr txBox="1"/>
          <p:nvPr/>
        </p:nvSpPr>
        <p:spPr>
          <a:xfrm>
            <a:off x="7635240" y="5212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kelompok dengan satu kasus bersama</a:t>
            </a:r>
            <a:endParaRPr lang="en-US" sz="1400" dirty="0"/>
          </a:p>
        </p:txBody>
      </p:sp>
      <p:pic>
        <p:nvPicPr>
          <p:cNvPr id="19" name="Ikon fasilitator: utama dan pendamping" descr="/home/user/sanggabiz-proposal/pim-wla/_build/assets/icons/FiAward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3977640"/>
            <a:ext cx="411480" cy="411480"/>
          </a:xfrm>
          <a:prstGeom prst="rect">
            <a:avLst/>
          </a:prstGeom>
        </p:spPr>
      </p:pic>
      <p:sp>
        <p:nvSpPr>
          <p:cNvPr id="20" name="Angka fasilitator: utama dan pendamping"/>
          <p:cNvSpPr txBox="1"/>
          <p:nvPr/>
        </p:nvSpPr>
        <p:spPr>
          <a:xfrm>
            <a:off x="9875520" y="4434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</a:t>
            </a:r>
            <a:endParaRPr lang="en-US" sz="4400" dirty="0"/>
          </a:p>
        </p:txBody>
      </p:sp>
      <p:sp>
        <p:nvSpPr>
          <p:cNvPr id="21" name="Label fasilitator: utama dan pendamping"/>
          <p:cNvSpPr txBox="1"/>
          <p:nvPr/>
        </p:nvSpPr>
        <p:spPr>
          <a:xfrm>
            <a:off x="9875520" y="5212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fasilitator: utama dan pendamping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Enam pertimbangan di balik kurikulum</a:t>
            </a:r>
            <a:endParaRPr lang="en-US" sz="3200" dirty="0"/>
          </a:p>
        </p:txBody>
      </p:sp>
      <p:sp>
        <p:nvSpPr>
          <p:cNvPr id="3" name="Kartu Urutan kerja ABK"/>
          <p:cNvSpPr/>
          <p:nvPr/>
        </p:nvSpPr>
        <p:spPr>
          <a:xfrm>
            <a:off x="594360" y="2103120"/>
            <a:ext cx="3483864" cy="1691640"/>
          </a:xfrm>
          <a:prstGeom prst="roundRect">
            <a:avLst>
              <a:gd name="adj" fmla="val 10811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" name="Tab Urutan kerja ABK"/>
          <p:cNvSpPr txBox="1"/>
          <p:nvPr/>
        </p:nvSpPr>
        <p:spPr>
          <a:xfrm>
            <a:off x="822960" y="1920240"/>
            <a:ext cx="2944368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URUTAN KERJA ABK</a:t>
            </a:r>
            <a:endParaRPr lang="en-US" sz="1100" dirty="0"/>
          </a:p>
        </p:txBody>
      </p:sp>
      <p:sp>
        <p:nvSpPr>
          <p:cNvPr id="5" name="Isi Urutan kerja ABK"/>
          <p:cNvSpPr txBox="1"/>
          <p:nvPr/>
        </p:nvSpPr>
        <p:spPr>
          <a:xfrm>
            <a:off x="822960" y="2359152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Peserta merencanakan dan mengumpulkan data dulu, baru menghitung, memeriksa, dan menindaklanjuti.</a:t>
            </a:r>
            <a:endParaRPr lang="en-US" sz="1400" dirty="0"/>
          </a:p>
        </p:txBody>
      </p:sp>
      <p:sp>
        <p:nvSpPr>
          <p:cNvPr id="6" name="Kartu Mulai dari hasil akhir"/>
          <p:cNvSpPr/>
          <p:nvPr/>
        </p:nvSpPr>
        <p:spPr>
          <a:xfrm>
            <a:off x="4352544" y="2103120"/>
            <a:ext cx="3483864" cy="1691640"/>
          </a:xfrm>
          <a:prstGeom prst="roundRect">
            <a:avLst>
              <a:gd name="adj" fmla="val 10811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ab Mulai dari hasil akhir"/>
          <p:cNvSpPr txBox="1"/>
          <p:nvPr/>
        </p:nvSpPr>
        <p:spPr>
          <a:xfrm>
            <a:off x="4581144" y="1920240"/>
            <a:ext cx="30175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MULAI DARI HASIL AKHIR</a:t>
            </a:r>
            <a:endParaRPr lang="en-US" sz="1100" dirty="0"/>
          </a:p>
        </p:txBody>
      </p:sp>
      <p:sp>
        <p:nvSpPr>
          <p:cNvPr id="8" name="Isi Mulai dari hasil akhir"/>
          <p:cNvSpPr txBox="1"/>
          <p:nvPr/>
        </p:nvSpPr>
        <p:spPr>
          <a:xfrm>
            <a:off x="4581144" y="2359152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Peserta melihat lembar hitung yang sudah jadi, lalu menguraikannya mundur menjadi langkah kerja.</a:t>
            </a:r>
            <a:endParaRPr lang="en-US" sz="1400" dirty="0"/>
          </a:p>
        </p:txBody>
      </p:sp>
      <p:sp>
        <p:nvSpPr>
          <p:cNvPr id="9" name="Kartu Mengalami dulu"/>
          <p:cNvSpPr/>
          <p:nvPr/>
        </p:nvSpPr>
        <p:spPr>
          <a:xfrm>
            <a:off x="8110728" y="2103120"/>
            <a:ext cx="3483864" cy="1691640"/>
          </a:xfrm>
          <a:prstGeom prst="roundRect">
            <a:avLst>
              <a:gd name="adj" fmla="val 10811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ab Mengalami dulu"/>
          <p:cNvSpPr txBox="1"/>
          <p:nvPr/>
        </p:nvSpPr>
        <p:spPr>
          <a:xfrm>
            <a:off x="8339328" y="1920240"/>
            <a:ext cx="2633472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MENGALAMI DULU</a:t>
            </a:r>
            <a:endParaRPr lang="en-US" sz="1100" dirty="0"/>
          </a:p>
        </p:txBody>
      </p:sp>
      <p:sp>
        <p:nvSpPr>
          <p:cNvPr id="11" name="Isi Mengalami dulu"/>
          <p:cNvSpPr txBox="1"/>
          <p:nvPr/>
        </p:nvSpPr>
        <p:spPr>
          <a:xfrm>
            <a:off x="8339328" y="2359152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Peserta menebak FTE sebelum menerima rumus, lalu belajar dari sebaran tebakan sendiri.</a:t>
            </a:r>
            <a:endParaRPr lang="en-US" sz="1400" dirty="0"/>
          </a:p>
        </p:txBody>
      </p:sp>
      <p:sp>
        <p:nvSpPr>
          <p:cNvPr id="12" name="Kartu Satu kasus utuh"/>
          <p:cNvSpPr/>
          <p:nvPr/>
        </p:nvSpPr>
        <p:spPr>
          <a:xfrm>
            <a:off x="594360" y="4069080"/>
            <a:ext cx="3483864" cy="1691640"/>
          </a:xfrm>
          <a:prstGeom prst="roundRect">
            <a:avLst>
              <a:gd name="adj" fmla="val 10811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ab Satu kasus utuh"/>
          <p:cNvSpPr txBox="1"/>
          <p:nvPr/>
        </p:nvSpPr>
        <p:spPr>
          <a:xfrm>
            <a:off x="822960" y="3886200"/>
            <a:ext cx="27889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SATU KASUS UTUH</a:t>
            </a:r>
            <a:endParaRPr lang="en-US" sz="1100" dirty="0"/>
          </a:p>
        </p:txBody>
      </p:sp>
      <p:sp>
        <p:nvSpPr>
          <p:cNvPr id="14" name="Isi Satu kasus utuh"/>
          <p:cNvSpPr txBox="1"/>
          <p:nvPr/>
        </p:nvSpPr>
        <p:spPr>
          <a:xfrm>
            <a:off x="822960" y="4325112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Hasil satu modul menjadi bahan modul berikutnya, dari daftar pekerjaan sampai rencana tindak.</a:t>
            </a:r>
            <a:endParaRPr lang="en-US" sz="1400" dirty="0"/>
          </a:p>
        </p:txBody>
      </p:sp>
      <p:sp>
        <p:nvSpPr>
          <p:cNvPr id="15" name="Kartu FTE dihitung dua kali"/>
          <p:cNvSpPr/>
          <p:nvPr/>
        </p:nvSpPr>
        <p:spPr>
          <a:xfrm>
            <a:off x="4352544" y="4069080"/>
            <a:ext cx="3483864" cy="1691640"/>
          </a:xfrm>
          <a:prstGeom prst="roundRect">
            <a:avLst>
              <a:gd name="adj" fmla="val 10811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ab FTE dihitung dua kali"/>
          <p:cNvSpPr txBox="1"/>
          <p:nvPr/>
        </p:nvSpPr>
        <p:spPr>
          <a:xfrm>
            <a:off x="4581144" y="3886200"/>
            <a:ext cx="30175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FTE DIHITUNG DUA KALI</a:t>
            </a:r>
            <a:endParaRPr lang="en-US" sz="1100" dirty="0"/>
          </a:p>
        </p:txBody>
      </p:sp>
      <p:sp>
        <p:nvSpPr>
          <p:cNvPr id="17" name="Isi FTE dihitung dua kali"/>
          <p:cNvSpPr txBox="1"/>
          <p:nvPr/>
        </p:nvSpPr>
        <p:spPr>
          <a:xfrm>
            <a:off x="4581144" y="4325112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Pertama dari perkiraan, kedua dari data yang sudah diperiksa, agar terlihat pengaruh mutu data.</a:t>
            </a:r>
            <a:endParaRPr lang="en-US" sz="1400" dirty="0"/>
          </a:p>
        </p:txBody>
      </p:sp>
      <p:sp>
        <p:nvSpPr>
          <p:cNvPr id="18" name="Kartu Data dari banyak sumber"/>
          <p:cNvSpPr/>
          <p:nvPr/>
        </p:nvSpPr>
        <p:spPr>
          <a:xfrm>
            <a:off x="8110728" y="4069080"/>
            <a:ext cx="3483864" cy="1691640"/>
          </a:xfrm>
          <a:prstGeom prst="roundRect">
            <a:avLst>
              <a:gd name="adj" fmla="val 10811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ab Data dari banyak sumber"/>
          <p:cNvSpPr txBox="1"/>
          <p:nvPr/>
        </p:nvSpPr>
        <p:spPr>
          <a:xfrm>
            <a:off x="8339328" y="3886200"/>
            <a:ext cx="30175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DATA DARI BANYAK SUMBER</a:t>
            </a:r>
            <a:endParaRPr lang="en-US" sz="1100" dirty="0"/>
          </a:p>
        </p:txBody>
      </p:sp>
      <p:sp>
        <p:nvSpPr>
          <p:cNvPr id="20" name="Isi Data dari banyak sumber"/>
          <p:cNvSpPr txBox="1"/>
          <p:nvPr/>
        </p:nvSpPr>
        <p:spPr>
          <a:xfrm>
            <a:off x="8339328" y="4325112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Hasil wawancara dicocokkan dengan catatan harian dan data transaksi.</a:t>
            </a:r>
            <a:endParaRPr lang="en-US" sz="1400" dirty="0"/>
          </a:p>
        </p:txBody>
      </p:sp>
      <p:sp>
        <p:nvSpPr>
          <p:cNvPr id="21" name="Rujukan"/>
          <p:cNvSpPr txBox="1"/>
          <p:nvPr/>
        </p:nvSpPr>
        <p:spPr>
          <a:xfrm>
            <a:off x="59436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Rujukan: Permen PANRB Nomor 1 Tahun 2020, Wiggins dan McTighe (2005), Kolb (1984), Anderson dan Krathwohl (2001), Harms dkk. (2019).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Satu kasus, delapan modul</a:t>
            </a:r>
            <a:endParaRPr lang="en-US" sz="3200" dirty="0"/>
          </a:p>
        </p:txBody>
      </p:sp>
      <p:sp>
        <p:nvSpPr>
          <p:cNvPr id="3" name="Pengantar alur"/>
          <p:cNvSpPr txBox="1"/>
          <p:nvPr/>
        </p:nvSpPr>
        <p:spPr>
          <a:xfrm>
            <a:off x="59436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Hasil satu modul menjadi bahan modul berikutnya.</a:t>
            </a:r>
            <a:endParaRPr lang="en-US" sz="1600" dirty="0"/>
          </a:p>
        </p:txBody>
      </p:sp>
      <p:sp>
        <p:nvSpPr>
          <p:cNvPr id="4" name="Label HARI 1"/>
          <p:cNvSpPr txBox="1"/>
          <p:nvPr/>
        </p:nvSpPr>
        <p:spPr>
          <a:xfrm>
            <a:off x="594360" y="224028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HARI 1</a:t>
            </a:r>
            <a:endParaRPr lang="en-US" sz="1100" dirty="0"/>
          </a:p>
        </p:txBody>
      </p:sp>
      <p:sp>
        <p:nvSpPr>
          <p:cNvPr id="5" name="Label HARI 2"/>
          <p:cNvSpPr txBox="1"/>
          <p:nvPr/>
        </p:nvSpPr>
        <p:spPr>
          <a:xfrm>
            <a:off x="594360" y="443484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HARI 2</a:t>
            </a:r>
            <a:endParaRPr lang="en-US" sz="1100" dirty="0"/>
          </a:p>
        </p:txBody>
      </p:sp>
      <p:sp>
        <p:nvSpPr>
          <p:cNvPr id="6" name="Modul 1"/>
          <p:cNvSpPr/>
          <p:nvPr/>
        </p:nvSpPr>
        <p:spPr>
          <a:xfrm>
            <a:off x="594360" y="2606040"/>
            <a:ext cx="2468880" cy="160020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Nomor 1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ngka 1"/>
          <p:cNvSpPr txBox="1"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kon modul 1" descr="/home/user/sanggabiz-proposal/pim-wla/_build/assets/icons/FiTarg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761488"/>
            <a:ext cx="411480" cy="411480"/>
          </a:xfrm>
          <a:prstGeom prst="rect">
            <a:avLst/>
          </a:prstGeom>
        </p:spPr>
      </p:pic>
      <p:sp>
        <p:nvSpPr>
          <p:cNvPr id="10" name="Judul modul 1"/>
          <p:cNvSpPr txBox="1"/>
          <p:nvPr/>
        </p:nvSpPr>
        <p:spPr>
          <a:xfrm>
            <a:off x="777240" y="3227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Gambaran ABK dan hitung FTE</a:t>
            </a:r>
            <a:endParaRPr lang="en-US" sz="1400" dirty="0"/>
          </a:p>
        </p:txBody>
      </p:sp>
      <p:sp>
        <p:nvSpPr>
          <p:cNvPr id="11" name="Kapsul hasil 1"/>
          <p:cNvSpPr/>
          <p:nvPr/>
        </p:nvSpPr>
        <p:spPr>
          <a:xfrm>
            <a:off x="777240" y="3776472"/>
            <a:ext cx="2103120" cy="3017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2" name="Hasil modul 1"/>
          <p:cNvSpPr txBox="1"/>
          <p:nvPr/>
        </p:nvSpPr>
        <p:spPr>
          <a:xfrm>
            <a:off x="777240" y="37764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FTE awal</a:t>
            </a:r>
            <a:endParaRPr lang="en-US" sz="1100" dirty="0"/>
          </a:p>
        </p:txBody>
      </p:sp>
      <p:sp>
        <p:nvSpPr>
          <p:cNvPr id="13" name="Panah 1"/>
          <p:cNvSpPr/>
          <p:nvPr/>
        </p:nvSpPr>
        <p:spPr>
          <a:xfrm>
            <a:off x="3118104" y="3291840"/>
            <a:ext cx="256032" cy="228600"/>
          </a:xfrm>
          <a:prstGeom prst="rightArrow">
            <a:avLst/>
          </a:prstGeom>
          <a:solidFill>
            <a:schemeClr val="bg1"/>
          </a:solidFill>
          <a:ln/>
        </p:spPr>
      </p:sp>
      <p:sp>
        <p:nvSpPr>
          <p:cNvPr id="14" name="Modul 2"/>
          <p:cNvSpPr/>
          <p:nvPr/>
        </p:nvSpPr>
        <p:spPr>
          <a:xfrm>
            <a:off x="3429000" y="2606040"/>
            <a:ext cx="2468880" cy="160020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Nomor 2"/>
          <p:cNvSpPr/>
          <p:nvPr/>
        </p:nvSpPr>
        <p:spPr>
          <a:xfrm>
            <a:off x="3566160" y="2743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Angka 2"/>
          <p:cNvSpPr txBox="1"/>
          <p:nvPr/>
        </p:nvSpPr>
        <p:spPr>
          <a:xfrm>
            <a:off x="35661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pic>
        <p:nvPicPr>
          <p:cNvPr id="17" name="Ikon modul 2" descr="/home/user/sanggabiz-proposal/pim-wla/_build/assets/icons/FiLis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761488"/>
            <a:ext cx="411480" cy="411480"/>
          </a:xfrm>
          <a:prstGeom prst="rect">
            <a:avLst/>
          </a:prstGeom>
        </p:spPr>
      </p:pic>
      <p:sp>
        <p:nvSpPr>
          <p:cNvPr id="18" name="Judul modul 2"/>
          <p:cNvSpPr txBox="1"/>
          <p:nvPr/>
        </p:nvSpPr>
        <p:spPr>
          <a:xfrm>
            <a:off x="3611880" y="3227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Daftar pekerjaan dan rencana data</a:t>
            </a:r>
            <a:endParaRPr lang="en-US" sz="1400" dirty="0"/>
          </a:p>
        </p:txBody>
      </p:sp>
      <p:sp>
        <p:nvSpPr>
          <p:cNvPr id="19" name="Kapsul hasil 2"/>
          <p:cNvSpPr/>
          <p:nvPr/>
        </p:nvSpPr>
        <p:spPr>
          <a:xfrm>
            <a:off x="3611880" y="3776472"/>
            <a:ext cx="2103120" cy="3017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0" name="Hasil modul 2"/>
          <p:cNvSpPr txBox="1"/>
          <p:nvPr/>
        </p:nvSpPr>
        <p:spPr>
          <a:xfrm>
            <a:off x="3611880" y="37764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Rencana data</a:t>
            </a:r>
            <a:endParaRPr lang="en-US" sz="1100" dirty="0"/>
          </a:p>
        </p:txBody>
      </p:sp>
      <p:sp>
        <p:nvSpPr>
          <p:cNvPr id="21" name="Panah 2"/>
          <p:cNvSpPr/>
          <p:nvPr/>
        </p:nvSpPr>
        <p:spPr>
          <a:xfrm>
            <a:off x="5952744" y="3291840"/>
            <a:ext cx="256032" cy="228600"/>
          </a:xfrm>
          <a:prstGeom prst="rightArrow">
            <a:avLst/>
          </a:prstGeom>
          <a:solidFill>
            <a:schemeClr val="bg1"/>
          </a:solidFill>
          <a:ln/>
        </p:spPr>
      </p:sp>
      <p:sp>
        <p:nvSpPr>
          <p:cNvPr id="22" name="Modul 3"/>
          <p:cNvSpPr/>
          <p:nvPr/>
        </p:nvSpPr>
        <p:spPr>
          <a:xfrm>
            <a:off x="6263640" y="2606040"/>
            <a:ext cx="2468880" cy="160020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Nomor 3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ngka 3"/>
          <p:cNvSpPr txBox="1"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pic>
        <p:nvPicPr>
          <p:cNvPr id="25" name="Ikon modul 3" descr="/home/user/sanggabiz-proposal/pim-wla/_build/assets/icons/FiMessageSquar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61488"/>
            <a:ext cx="411480" cy="411480"/>
          </a:xfrm>
          <a:prstGeom prst="rect">
            <a:avLst/>
          </a:prstGeom>
        </p:spPr>
      </p:pic>
      <p:sp>
        <p:nvSpPr>
          <p:cNvPr id="26" name="Judul modul 3"/>
          <p:cNvSpPr txBox="1"/>
          <p:nvPr/>
        </p:nvSpPr>
        <p:spPr>
          <a:xfrm>
            <a:off x="6446520" y="3227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Teknik dan praktik wawancara</a:t>
            </a:r>
            <a:endParaRPr lang="en-US" sz="1400" dirty="0"/>
          </a:p>
        </p:txBody>
      </p:sp>
      <p:sp>
        <p:nvSpPr>
          <p:cNvPr id="27" name="Kapsul hasil 3"/>
          <p:cNvSpPr/>
          <p:nvPr/>
        </p:nvSpPr>
        <p:spPr>
          <a:xfrm>
            <a:off x="6446520" y="3776472"/>
            <a:ext cx="2103120" cy="3017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8" name="Hasil modul 3"/>
          <p:cNvSpPr txBox="1"/>
          <p:nvPr/>
        </p:nvSpPr>
        <p:spPr>
          <a:xfrm>
            <a:off x="6446520" y="37764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Panduan wawancara</a:t>
            </a:r>
            <a:endParaRPr lang="en-US" sz="1100" dirty="0"/>
          </a:p>
        </p:txBody>
      </p:sp>
      <p:sp>
        <p:nvSpPr>
          <p:cNvPr id="29" name="Panah 3"/>
          <p:cNvSpPr/>
          <p:nvPr/>
        </p:nvSpPr>
        <p:spPr>
          <a:xfrm>
            <a:off x="8787384" y="3291840"/>
            <a:ext cx="256032" cy="228600"/>
          </a:xfrm>
          <a:prstGeom prst="rightArrow">
            <a:avLst/>
          </a:prstGeom>
          <a:solidFill>
            <a:schemeClr val="bg1"/>
          </a:solidFill>
          <a:ln/>
        </p:spPr>
      </p:sp>
      <p:sp>
        <p:nvSpPr>
          <p:cNvPr id="30" name="Modul 4"/>
          <p:cNvSpPr/>
          <p:nvPr/>
        </p:nvSpPr>
        <p:spPr>
          <a:xfrm>
            <a:off x="9098280" y="2606040"/>
            <a:ext cx="2468880" cy="160020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Nomor 4"/>
          <p:cNvSpPr/>
          <p:nvPr/>
        </p:nvSpPr>
        <p:spPr>
          <a:xfrm>
            <a:off x="9235440" y="2743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Angka 4"/>
          <p:cNvSpPr txBox="1"/>
          <p:nvPr/>
        </p:nvSpPr>
        <p:spPr>
          <a:xfrm>
            <a:off x="92354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pic>
        <p:nvPicPr>
          <p:cNvPr id="33" name="Ikon modul 4" descr="/home/user/sanggabiz-proposal/pim-wla/_build/assets/icons/FiFileTex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761488"/>
            <a:ext cx="411480" cy="411480"/>
          </a:xfrm>
          <a:prstGeom prst="rect">
            <a:avLst/>
          </a:prstGeom>
        </p:spPr>
      </p:pic>
      <p:sp>
        <p:nvSpPr>
          <p:cNvPr id="34" name="Judul modul 4"/>
          <p:cNvSpPr txBox="1"/>
          <p:nvPr/>
        </p:nvSpPr>
        <p:spPr>
          <a:xfrm>
            <a:off x="9281160" y="3227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Isi lembar kerja dan cocokkan data</a:t>
            </a:r>
            <a:endParaRPr lang="en-US" sz="1400" dirty="0"/>
          </a:p>
        </p:txBody>
      </p:sp>
      <p:sp>
        <p:nvSpPr>
          <p:cNvPr id="35" name="Kapsul hasil 4"/>
          <p:cNvSpPr/>
          <p:nvPr/>
        </p:nvSpPr>
        <p:spPr>
          <a:xfrm>
            <a:off x="9281160" y="3776472"/>
            <a:ext cx="2103120" cy="3017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6" name="Hasil modul 4"/>
          <p:cNvSpPr txBox="1"/>
          <p:nvPr/>
        </p:nvSpPr>
        <p:spPr>
          <a:xfrm>
            <a:off x="9281160" y="37764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Lembar kerja</a:t>
            </a:r>
            <a:endParaRPr lang="en-US" sz="1100" dirty="0"/>
          </a:p>
        </p:txBody>
      </p:sp>
      <p:sp>
        <p:nvSpPr>
          <p:cNvPr id="37" name="Modul 5"/>
          <p:cNvSpPr/>
          <p:nvPr/>
        </p:nvSpPr>
        <p:spPr>
          <a:xfrm>
            <a:off x="594360" y="4800600"/>
            <a:ext cx="2468880" cy="160020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8" name="Nomor 5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Angka 5"/>
          <p:cNvSpPr txBox="1"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pic>
        <p:nvPicPr>
          <p:cNvPr id="40" name="Ikon modul 5" descr="/home/user/sanggabiz-proposal/pim-wla/_build/assets/icons/FiSearch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4956048"/>
            <a:ext cx="411480" cy="411480"/>
          </a:xfrm>
          <a:prstGeom prst="rect">
            <a:avLst/>
          </a:prstGeom>
        </p:spPr>
      </p:pic>
      <p:sp>
        <p:nvSpPr>
          <p:cNvPr id="41" name="Judul modul 5"/>
          <p:cNvSpPr txBox="1"/>
          <p:nvPr/>
        </p:nvSpPr>
        <p:spPr>
          <a:xfrm>
            <a:off x="777240" y="5422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Periksa mutu data</a:t>
            </a:r>
            <a:endParaRPr lang="en-US" sz="1400" dirty="0"/>
          </a:p>
        </p:txBody>
      </p:sp>
      <p:sp>
        <p:nvSpPr>
          <p:cNvPr id="42" name="Kapsul hasil 5"/>
          <p:cNvSpPr/>
          <p:nvPr/>
        </p:nvSpPr>
        <p:spPr>
          <a:xfrm>
            <a:off x="777240" y="5971032"/>
            <a:ext cx="2103120" cy="3017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3" name="Hasil modul 5"/>
          <p:cNvSpPr txBox="1"/>
          <p:nvPr/>
        </p:nvSpPr>
        <p:spPr>
          <a:xfrm>
            <a:off x="777240" y="597103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Data teruji</a:t>
            </a:r>
            <a:endParaRPr lang="en-US" sz="1100" dirty="0"/>
          </a:p>
        </p:txBody>
      </p:sp>
      <p:sp>
        <p:nvSpPr>
          <p:cNvPr id="44" name="Panah 5"/>
          <p:cNvSpPr/>
          <p:nvPr/>
        </p:nvSpPr>
        <p:spPr>
          <a:xfrm>
            <a:off x="3118104" y="5486400"/>
            <a:ext cx="256032" cy="228600"/>
          </a:xfrm>
          <a:prstGeom prst="rightArrow">
            <a:avLst/>
          </a:prstGeom>
          <a:solidFill>
            <a:schemeClr val="bg1"/>
          </a:solidFill>
          <a:ln/>
        </p:spPr>
      </p:sp>
      <p:sp>
        <p:nvSpPr>
          <p:cNvPr id="45" name="Modul 6"/>
          <p:cNvSpPr/>
          <p:nvPr/>
        </p:nvSpPr>
        <p:spPr>
          <a:xfrm>
            <a:off x="3429000" y="4800600"/>
            <a:ext cx="2468880" cy="160020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6" name="Nomor 6"/>
          <p:cNvSpPr/>
          <p:nvPr/>
        </p:nvSpPr>
        <p:spPr>
          <a:xfrm>
            <a:off x="3566160" y="4937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7" name="Angka 6"/>
          <p:cNvSpPr txBox="1"/>
          <p:nvPr/>
        </p:nvSpPr>
        <p:spPr>
          <a:xfrm>
            <a:off x="35661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pic>
        <p:nvPicPr>
          <p:cNvPr id="48" name="Ikon modul 6" descr="/home/user/sanggabiz-proposal/pim-wla/_build/assets/icons/FiTrendingUp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4956048"/>
            <a:ext cx="411480" cy="411480"/>
          </a:xfrm>
          <a:prstGeom prst="rect">
            <a:avLst/>
          </a:prstGeom>
        </p:spPr>
      </p:pic>
      <p:sp>
        <p:nvSpPr>
          <p:cNvPr id="49" name="Judul modul 6"/>
          <p:cNvSpPr txBox="1"/>
          <p:nvPr/>
        </p:nvSpPr>
        <p:spPr>
          <a:xfrm>
            <a:off x="3611880" y="5422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Hitung ulang FTE dan baca heatmap</a:t>
            </a:r>
            <a:endParaRPr lang="en-US" sz="1400" dirty="0"/>
          </a:p>
        </p:txBody>
      </p:sp>
      <p:sp>
        <p:nvSpPr>
          <p:cNvPr id="50" name="Kapsul hasil 6"/>
          <p:cNvSpPr/>
          <p:nvPr/>
        </p:nvSpPr>
        <p:spPr>
          <a:xfrm>
            <a:off x="3611880" y="5971032"/>
            <a:ext cx="2103120" cy="3017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1" name="Hasil modul 6"/>
          <p:cNvSpPr txBox="1"/>
          <p:nvPr/>
        </p:nvSpPr>
        <p:spPr>
          <a:xfrm>
            <a:off x="3611880" y="597103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FTE akhir dan heatmap</a:t>
            </a:r>
            <a:endParaRPr lang="en-US" sz="1100" dirty="0"/>
          </a:p>
        </p:txBody>
      </p:sp>
      <p:sp>
        <p:nvSpPr>
          <p:cNvPr id="52" name="Panah 6"/>
          <p:cNvSpPr/>
          <p:nvPr/>
        </p:nvSpPr>
        <p:spPr>
          <a:xfrm>
            <a:off x="5952744" y="5486400"/>
            <a:ext cx="256032" cy="228600"/>
          </a:xfrm>
          <a:prstGeom prst="rightArrow">
            <a:avLst/>
          </a:prstGeom>
          <a:solidFill>
            <a:schemeClr val="bg1"/>
          </a:solidFill>
          <a:ln/>
        </p:spPr>
      </p:sp>
      <p:sp>
        <p:nvSpPr>
          <p:cNvPr id="53" name="Modul 7"/>
          <p:cNvSpPr/>
          <p:nvPr/>
        </p:nvSpPr>
        <p:spPr>
          <a:xfrm>
            <a:off x="6263640" y="4800600"/>
            <a:ext cx="2468880" cy="160020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4" name="Nomor 7"/>
          <p:cNvSpPr/>
          <p:nvPr/>
        </p:nvSpPr>
        <p:spPr>
          <a:xfrm>
            <a:off x="6400800" y="4937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5" name="Angka 7"/>
          <p:cNvSpPr txBox="1"/>
          <p:nvPr/>
        </p:nvSpPr>
        <p:spPr>
          <a:xfrm>
            <a:off x="6400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endParaRPr lang="en-US" sz="1600" dirty="0"/>
          </a:p>
        </p:txBody>
      </p:sp>
      <p:pic>
        <p:nvPicPr>
          <p:cNvPr id="56" name="Ikon modul 7" descr="/home/user/sanggabiz-proposal/pim-wla/_build/assets/icons/FiRepeat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956048"/>
            <a:ext cx="411480" cy="411480"/>
          </a:xfrm>
          <a:prstGeom prst="rect">
            <a:avLst/>
          </a:prstGeom>
        </p:spPr>
      </p:pic>
      <p:sp>
        <p:nvSpPr>
          <p:cNvPr id="57" name="Judul modul 7"/>
          <p:cNvSpPr txBox="1"/>
          <p:nvPr/>
        </p:nvSpPr>
        <p:spPr>
          <a:xfrm>
            <a:off x="6446520" y="5422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Tindak lanjut dan uji RACI</a:t>
            </a:r>
            <a:endParaRPr lang="en-US" sz="1400" dirty="0"/>
          </a:p>
        </p:txBody>
      </p:sp>
      <p:sp>
        <p:nvSpPr>
          <p:cNvPr id="58" name="Kapsul hasil 7"/>
          <p:cNvSpPr/>
          <p:nvPr/>
        </p:nvSpPr>
        <p:spPr>
          <a:xfrm>
            <a:off x="6446520" y="5971032"/>
            <a:ext cx="2103120" cy="3017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9" name="Hasil modul 7"/>
          <p:cNvSpPr txBox="1"/>
          <p:nvPr/>
        </p:nvSpPr>
        <p:spPr>
          <a:xfrm>
            <a:off x="6446520" y="597103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Matriks tindakan</a:t>
            </a:r>
            <a:endParaRPr lang="en-US" sz="1100" dirty="0"/>
          </a:p>
        </p:txBody>
      </p:sp>
      <p:sp>
        <p:nvSpPr>
          <p:cNvPr id="60" name="Panah 7"/>
          <p:cNvSpPr/>
          <p:nvPr/>
        </p:nvSpPr>
        <p:spPr>
          <a:xfrm>
            <a:off x="8787384" y="5486400"/>
            <a:ext cx="256032" cy="228600"/>
          </a:xfrm>
          <a:prstGeom prst="rightArrow">
            <a:avLst/>
          </a:prstGeom>
          <a:solidFill>
            <a:schemeClr val="bg1"/>
          </a:solidFill>
          <a:ln/>
        </p:spPr>
      </p:sp>
      <p:sp>
        <p:nvSpPr>
          <p:cNvPr id="61" name="Modul 8"/>
          <p:cNvSpPr/>
          <p:nvPr/>
        </p:nvSpPr>
        <p:spPr>
          <a:xfrm>
            <a:off x="9098280" y="4800600"/>
            <a:ext cx="2468880" cy="160020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2" name="Nomor 8"/>
          <p:cNvSpPr/>
          <p:nvPr/>
        </p:nvSpPr>
        <p:spPr>
          <a:xfrm>
            <a:off x="9235440" y="4937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3" name="Angka 8"/>
          <p:cNvSpPr txBox="1"/>
          <p:nvPr/>
        </p:nvSpPr>
        <p:spPr>
          <a:xfrm>
            <a:off x="92354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endParaRPr lang="en-US" sz="1600" dirty="0"/>
          </a:p>
        </p:txBody>
      </p:sp>
      <p:pic>
        <p:nvPicPr>
          <p:cNvPr id="64" name="Ikon modul 8" descr="/home/user/sanggabiz-proposal/pim-wla/_build/assets/icons/FiCheckCircle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0" y="4956048"/>
            <a:ext cx="411480" cy="411480"/>
          </a:xfrm>
          <a:prstGeom prst="rect">
            <a:avLst/>
          </a:prstGeom>
        </p:spPr>
      </p:pic>
      <p:sp>
        <p:nvSpPr>
          <p:cNvPr id="65" name="Judul modul 8"/>
          <p:cNvSpPr txBox="1"/>
          <p:nvPr/>
        </p:nvSpPr>
        <p:spPr>
          <a:xfrm>
            <a:off x="9281160" y="5422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Rencana 30-60-90 hari</a:t>
            </a:r>
            <a:endParaRPr lang="en-US" sz="1400" dirty="0"/>
          </a:p>
        </p:txBody>
      </p:sp>
      <p:sp>
        <p:nvSpPr>
          <p:cNvPr id="66" name="Kapsul hasil 8"/>
          <p:cNvSpPr/>
          <p:nvPr/>
        </p:nvSpPr>
        <p:spPr>
          <a:xfrm>
            <a:off x="9281160" y="5971032"/>
            <a:ext cx="2103120" cy="3017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7" name="Hasil modul 8"/>
          <p:cNvSpPr txBox="1"/>
          <p:nvPr/>
        </p:nvSpPr>
        <p:spPr>
          <a:xfrm>
            <a:off x="9281160" y="597103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Rencana unit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743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Jadwal harian</a:t>
            </a:r>
            <a:endParaRPr lang="en-US" sz="2600" dirty="0"/>
          </a:p>
        </p:txBody>
      </p:sp>
      <p:graphicFrame>
        <p:nvGraphicFramePr>
          <p:cNvPr id="6" name="Tabel jadw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663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Waktu (WIB)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08.30 - 09.00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Registrasi dan pembukaan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Ulasan Hari 1 oleh peserta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09.00 - 10.30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 1. Gambaran ABK dan menghitung FTE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 5. Memeriksa mutu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10.45 - 12.15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 2. Daftar pekerjaan dan rencana pengumpulan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 6. Hitung ulang FTE, heatmap, dan akar masalah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13.15 - 14.45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 3. Teknik dan praktik wawancara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 7. Tindak lanjut, uji RACI, dan panel manajer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15.00 - 16.30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 4. Mengisi lembar kerja dan mencocokkan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 8. Rencana 30-60-90 hari dan penutupan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tatan jadwal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Istirahat 15 menit pada pagi dan sore hari, makan siang pukul 12.15 sampai 13.15 WIB. Sesi pukul 08.30 sampai 09.00 berada di luar 16 JPL. Pre-test dikerjakan sebelum Hari 1. Jam dapat disesuaikan dengan jam kerja PIM.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743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Materi dan Silabus  </a:t>
            </a:r>
            <a:pPr algn="l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Hari 1</a:t>
            </a:r>
            <a:endParaRPr lang="en-US" sz="2600" dirty="0"/>
          </a:p>
        </p:txBody>
      </p:sp>
      <p:graphicFrame>
        <p:nvGraphicFramePr>
          <p:cNvPr id="7" name="Tabel silab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3291840"/>
                <a:gridCol w="26517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dan fokus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Outline materi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Tujuan pembelajaran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materi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43000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1: Merencanakan dan Mengumpulkan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Fokus: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Memahami ukuran beban kerja, merencanakan, dan mengumpulkan data dari kasus nyata.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Gambaran ABK dan menghitung FTE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Hasil akhir ABK: satu lembar hitung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Enam langkah ABK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kerja, kinerja, jumlah pegawai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FTE dan empat kategori beban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Peserta mampu menjelaskan langkah ABK dan menghitung FTE satu posisi.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Tebakan, penjelasan, latihan hitung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Daftar pekerjaan dan rencana pengumpulan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Pekerjaan, hasil kerja, dan frekuensi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Pekerjaan di luar uraian jabatan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Empat sumber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 sumber untuk pekerjaan terbesar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Peserta mampu menyusun daftar pekerjaan satu posisi dan rencana pengumpulan data yang dapat diperiksa.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Penjelasan, latihan formulir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1430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Teknik dan praktik wawancara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Susunan wawancara dan pertanyaan lanjutan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Kekeliruan umum dalam wawancara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Meminta contoh nyata dan angka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Bermain peran tiga orang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Peserta mampu menyusun panduan wawancara dan mewawancarai dengan pertanyaan netral.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Peragaan, bermain peran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Mengisi lembar kerja dan mencocokkan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Dari catatan wawancara ke lembar kerja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Catatan kerja harian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transaksi sebagai pembanding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Mencatat selisih antarsumber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Peserta mampu mengisi lembar kerja ABK dan mencocokkannya dengan sumber lain.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Latihan data kelompok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743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Aktivitas dan Output  </a:t>
            </a:r>
            <a:pPr algn="l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Hari 1</a:t>
            </a:r>
            <a:endParaRPr lang="en-US" sz="2600" dirty="0"/>
          </a:p>
        </p:txBody>
      </p:sp>
      <p:graphicFrame>
        <p:nvGraphicFramePr>
          <p:cNvPr id="8" name="Tabel aktivi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1463040"/>
                <a:gridCol w="210312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pembelajaran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Alat atau media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 capaian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konkret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Gambaran ABK dan menghitung FTE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Peserta menebak FTE satu posisi tanpa alat hitung.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Fasilitator menunjukkan sebaran tebakan, lalu menguraikan lembar hitung yang sudah jadi menjadi enam langkah.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Peserta menghitung FTE satu posisi dari kasus kelompok dan mendaftar data yang perlu dibuktikan.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Flipchart, lembar hitung FTE, paket kasus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80% peserta menghitung FTE dengan selisih paling banyak 0,10 dari kunci.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FTE awal dan daftar data yang perlu dibuktikan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Daftar pekerjaan dan rencana pengumpulan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Fasilitator menjelaskan kolom formulir dan empat sumber data.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Tiap peserta mengisi minimal 8 pekerjaan untuk satu posisi.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Kelompok memilih sumber data, lalu saling menilai rencananya.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Formulir daftar pekerjaan, formulir rencana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80% peserta mengisi 8 pekerjaan. Pekerjaan terbesar punya minimal dua sumber data.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Daftar pekerjaan dan rencana pengumpulan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Teknik dan praktik wawancara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Fasilitator memperagakan wawancara yang menggiring dan yang netral.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Pasangan menyusun panduan wawancara untuk satu posisi.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Kelompok tiga orang berlatih tiga putaran dan bergantian peran.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Lembar pengamatan, kartu peran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Panduan memuat minimal 10 pertanyaan terbuka. Minimal 75% peserta menggali 2 dari 3 fakta tersembunyi.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Panduan wawancara dan catatan wawancara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Mengisi lembar kerja dan mencocokkan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Fasilitator membagikan paket data: catatan wawancara, catatan harian, dan cuplikan register.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Kelompok mengisi lembar kerja tiga posisi dan mencatat selisih antarsumber.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Fasilitator memeriksa daftar masalah data tiap kelompok.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Paket data, lembar kerja ABK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Tiap kelompok mencatat minimal 3 selisih beserta alasan memilih sumber.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Lembar kerja tiga posisi dan daftar masalah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743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Materi dan Silabus  </a:t>
            </a:r>
            <a:pPr algn="l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Hari 2</a:t>
            </a:r>
            <a:endParaRPr lang="en-US" sz="2600" dirty="0"/>
          </a:p>
        </p:txBody>
      </p:sp>
      <p:graphicFrame>
        <p:nvGraphicFramePr>
          <p:cNvPr id="9" name="Tabel silab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3291840"/>
                <a:gridCol w="26517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dan fokus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Outline materi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Tujuan pembelajaran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materi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43000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2: Memeriksa dan Menindaklanjuti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Fokus: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Memeriksa data, membaca hasil, dan menindaklanjuti hingga rencana unit.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Memeriksa mutu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Kelengkapan dan pekerjaan ganda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Satuan dan periode tidak cocok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Angka janggal dan hitungan ganda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kewajaran jam per orang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Peserta mampu memeriksa mutu data dengan daftar periksa dan memutuskan perbaikannya.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Latihan periksa silang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Hitung ulang FTE, heatmap, dan akar masalah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Hitung ulang FTE dengan data teruji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Tiga pilihan jam kerja efektif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Membaca heatmap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Pohon akar masalah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Peserta mampu menghitung FTE dari data teruji dan menelusuri penyebab beban tinggi.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Contoh, latihan hitung, diskusi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1430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Tindak lanjut, uji RACI, dan panel manajer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Pilihan tindak lanjut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RACI sebelum dan sesudah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Urutan prioritas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Mempertahankan hasil di depan manajer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Peserta mampu memilih tindak lanjut, menguji dampaknya pada RACI, dan mempertahankan hasilnya.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Latihan kelompok, simulasi panel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Rencana 30-60-90 hari dan penutupan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Rencana 30-60-90 hari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implementation clinic D+30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Komitmen penerapan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Peserta mampu menyusun rencana unit dan menunjukkan penguasaan lewat post-test.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Latihan, post-test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743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Aktivitas dan Output  </a:t>
            </a:r>
            <a:pPr algn="l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Hari 2</a:t>
            </a:r>
            <a:endParaRPr lang="en-US" sz="2600" dirty="0"/>
          </a:p>
        </p:txBody>
      </p:sp>
      <p:graphicFrame>
        <p:nvGraphicFramePr>
          <p:cNvPr id="10" name="Tabel aktivi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1463040"/>
                <a:gridCol w="210312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pembelajaran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Alat atau media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 capaian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konkret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Memeriksa mutu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Fasilitator menjelaskan daftar periksa enam butir.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Kelompok mencari enam kesalahan sisipan, lalu memeriksa lembar kelompok lain.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Pemilik lembar memutuskan menerima atau menolak tiap temuan.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Lembar latihan, daftar periksa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Tiap kelompok menemukan minimal 5 dari 6 kesalahan.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Daftar masalah data yang diputuskan dan lembar kerja yang diperbaiki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Hitung ulang FTE, heatmap, dan akar masalah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Fasilitator memberi contoh: beban 1.600 jam dengan tiga pilihan jam kerja efektif menghasilkan FTE 1,28, 1,14, dan 1,07.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Kelompok menghitung ulang FTE tiga posisi dan menyusun heatmap.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Kelompok menelusuri akar masalah satu posisi yang padat atau berlebih.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Lembar hitung FTE, heatmap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Tiap posisi punya FTE pada tiga pilihan asumsi. Tiap pohon akar masalah memuat minimal dua penyebab.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FTE akhir, heatmap, dan pohon akar masalah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Tindak lanjut, uji RACI, dan panel manajer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Fasilitator menjelaskan pencocokan akar masalah dengan tindakan.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Kelompok memilih tiga temuan, membuat potongan RACI sebelum dan sesudah, dan menghitung ulang FTE penerima peran.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Peserta kelompok lain berperan sebagai manajer dan menguji hasilnya.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Formulir RACI, matriks prioritas, kartu pertanyaan panel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Tiap tindakan punya penanggung jawab, perkiraan perubahan FTE, dan hasil uji RACI.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Matriks tindak lanjut, RACI sebelum dan sesudah, dan catatan keputusan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Rencana 30-60-90 hari dan penutupan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Fasilitator menjelaskan cara menulis target yang terukur.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Tiap peserta menyusun rencana 30-60-90 hari untuk unitnya.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Peserta mengerjakan post-test, mengisi evaluasi akhir, dan menerima sertifikat serta formulir Level 4.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Formulir rencana, soal post-test, formulir Level 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Skor post-test minimal 75 dan naik rata-rata minimal 20% dari nilai awal.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Rencana 30-60-90 hari, hasil post-test, dan komitmen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tatan contoh latihan"/>
          <p:cNvSpPr txBox="1"/>
          <p:nvPr/>
        </p:nvSpPr>
        <p:spPr>
          <a:xfrm>
            <a:off x="457200" y="6144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Angka pada Modul 6 adalah contoh latihan dan bukan angka PIM.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Yang dibawa pulang peserta</a:t>
            </a:r>
            <a:endParaRPr lang="en-US" sz="3200" dirty="0"/>
          </a:p>
        </p:txBody>
      </p:sp>
      <p:sp>
        <p:nvSpPr>
          <p:cNvPr id="3" name="Label hasil hari 1"/>
          <p:cNvSpPr txBox="1"/>
          <p:nvPr/>
        </p:nvSpPr>
        <p:spPr>
          <a:xfrm>
            <a:off x="594360" y="1856232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HARI 1</a:t>
            </a:r>
            <a:endParaRPr lang="en-US" sz="1100" dirty="0"/>
          </a:p>
        </p:txBody>
      </p:sp>
      <p:sp>
        <p:nvSpPr>
          <p:cNvPr id="4" name="Hasil 1.1"/>
          <p:cNvSpPr/>
          <p:nvPr/>
        </p:nvSpPr>
        <p:spPr>
          <a:xfrm>
            <a:off x="594360" y="2240280"/>
            <a:ext cx="2468880" cy="1325880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5" name="Ikon hasil 1.1" descr="/home/user/sanggabiz-proposal/pim-wla/_build/assets/icons/FiTarg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04872"/>
            <a:ext cx="365760" cy="365760"/>
          </a:xfrm>
          <a:prstGeom prst="rect">
            <a:avLst/>
          </a:prstGeom>
        </p:spPr>
      </p:pic>
      <p:sp>
        <p:nvSpPr>
          <p:cNvPr id="6" name="Teks hasil 1.1"/>
          <p:cNvSpPr txBox="1"/>
          <p:nvPr/>
        </p:nvSpPr>
        <p:spPr>
          <a:xfrm>
            <a:off x="77724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FTE awal dan daftar data yang perlu dibuktikan</a:t>
            </a:r>
            <a:endParaRPr lang="en-US" sz="1400" dirty="0"/>
          </a:p>
        </p:txBody>
      </p:sp>
      <p:sp>
        <p:nvSpPr>
          <p:cNvPr id="7" name="Hasil 1.2"/>
          <p:cNvSpPr/>
          <p:nvPr/>
        </p:nvSpPr>
        <p:spPr>
          <a:xfrm>
            <a:off x="3429000" y="2240280"/>
            <a:ext cx="2468880" cy="1325880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8" name="Ikon hasil 1.2" descr="/home/user/sanggabiz-proposal/pim-wla/_build/assets/icons/FiLis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404872"/>
            <a:ext cx="365760" cy="365760"/>
          </a:xfrm>
          <a:prstGeom prst="rect">
            <a:avLst/>
          </a:prstGeom>
        </p:spPr>
      </p:pic>
      <p:sp>
        <p:nvSpPr>
          <p:cNvPr id="9" name="Teks hasil 1.2"/>
          <p:cNvSpPr txBox="1"/>
          <p:nvPr/>
        </p:nvSpPr>
        <p:spPr>
          <a:xfrm>
            <a:off x="361188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Daftar pekerjaan dan rencana pengumpulan data</a:t>
            </a:r>
            <a:endParaRPr lang="en-US" sz="1400" dirty="0"/>
          </a:p>
        </p:txBody>
      </p:sp>
      <p:sp>
        <p:nvSpPr>
          <p:cNvPr id="10" name="Hasil 1.3"/>
          <p:cNvSpPr/>
          <p:nvPr/>
        </p:nvSpPr>
        <p:spPr>
          <a:xfrm>
            <a:off x="6263640" y="2240280"/>
            <a:ext cx="2468880" cy="1325880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1" name="Ikon hasil 1.3" descr="/home/user/sanggabiz-proposal/pim-wla/_build/assets/icons/FiMessageSquar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04872"/>
            <a:ext cx="365760" cy="365760"/>
          </a:xfrm>
          <a:prstGeom prst="rect">
            <a:avLst/>
          </a:prstGeom>
        </p:spPr>
      </p:pic>
      <p:sp>
        <p:nvSpPr>
          <p:cNvPr id="12" name="Teks hasil 1.3"/>
          <p:cNvSpPr txBox="1"/>
          <p:nvPr/>
        </p:nvSpPr>
        <p:spPr>
          <a:xfrm>
            <a:off x="644652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Panduan wawancara dan catatan wawancara</a:t>
            </a:r>
            <a:endParaRPr lang="en-US" sz="1400" dirty="0"/>
          </a:p>
        </p:txBody>
      </p:sp>
      <p:sp>
        <p:nvSpPr>
          <p:cNvPr id="13" name="Hasil 1.4"/>
          <p:cNvSpPr/>
          <p:nvPr/>
        </p:nvSpPr>
        <p:spPr>
          <a:xfrm>
            <a:off x="9098280" y="2240280"/>
            <a:ext cx="2468880" cy="1325880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4" name="Ikon hasil 1.4" descr="/home/user/sanggabiz-proposal/pim-wla/_build/assets/icons/FiFileTex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404872"/>
            <a:ext cx="365760" cy="365760"/>
          </a:xfrm>
          <a:prstGeom prst="rect">
            <a:avLst/>
          </a:prstGeom>
        </p:spPr>
      </p:pic>
      <p:sp>
        <p:nvSpPr>
          <p:cNvPr id="15" name="Teks hasil 1.4"/>
          <p:cNvSpPr txBox="1"/>
          <p:nvPr/>
        </p:nvSpPr>
        <p:spPr>
          <a:xfrm>
            <a:off x="928116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Lembar kerja tiga posisi</a:t>
            </a:r>
            <a:endParaRPr lang="en-US" sz="1400" dirty="0"/>
          </a:p>
        </p:txBody>
      </p:sp>
      <p:sp>
        <p:nvSpPr>
          <p:cNvPr id="16" name="Label hasil hari 2"/>
          <p:cNvSpPr txBox="1"/>
          <p:nvPr/>
        </p:nvSpPr>
        <p:spPr>
          <a:xfrm>
            <a:off x="594360" y="3730752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HARI 2</a:t>
            </a:r>
            <a:endParaRPr lang="en-US" sz="1100" dirty="0"/>
          </a:p>
        </p:txBody>
      </p:sp>
      <p:sp>
        <p:nvSpPr>
          <p:cNvPr id="17" name="Hasil 2.1"/>
          <p:cNvSpPr/>
          <p:nvPr/>
        </p:nvSpPr>
        <p:spPr>
          <a:xfrm>
            <a:off x="594360" y="4114800"/>
            <a:ext cx="2468880" cy="1325880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8" name="Ikon hasil 2.1" descr="/home/user/sanggabiz-proposal/pim-wla/_build/assets/icons/FiSearch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79392"/>
            <a:ext cx="365760" cy="365760"/>
          </a:xfrm>
          <a:prstGeom prst="rect">
            <a:avLst/>
          </a:prstGeom>
        </p:spPr>
      </p:pic>
      <p:sp>
        <p:nvSpPr>
          <p:cNvPr id="19" name="Teks hasil 2.1"/>
          <p:cNvSpPr txBox="1"/>
          <p:nvPr/>
        </p:nvSpPr>
        <p:spPr>
          <a:xfrm>
            <a:off x="777240" y="4709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Daftar masalah data yang sudah diputuskan</a:t>
            </a:r>
            <a:endParaRPr lang="en-US" sz="1400" dirty="0"/>
          </a:p>
        </p:txBody>
      </p:sp>
      <p:sp>
        <p:nvSpPr>
          <p:cNvPr id="20" name="Hasil 2.2"/>
          <p:cNvSpPr/>
          <p:nvPr/>
        </p:nvSpPr>
        <p:spPr>
          <a:xfrm>
            <a:off x="3429000" y="4114800"/>
            <a:ext cx="2468880" cy="1325880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1" name="Ikon hasil 2.2" descr="/home/user/sanggabiz-proposal/pim-wla/_build/assets/icons/FiTrendingUp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4279392"/>
            <a:ext cx="365760" cy="365760"/>
          </a:xfrm>
          <a:prstGeom prst="rect">
            <a:avLst/>
          </a:prstGeom>
        </p:spPr>
      </p:pic>
      <p:sp>
        <p:nvSpPr>
          <p:cNvPr id="22" name="Teks hasil 2.2"/>
          <p:cNvSpPr txBox="1"/>
          <p:nvPr/>
        </p:nvSpPr>
        <p:spPr>
          <a:xfrm>
            <a:off x="3611880" y="4709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FTE akhir, heatmap, dan pohon akar masalah</a:t>
            </a:r>
            <a:endParaRPr lang="en-US" sz="1400" dirty="0"/>
          </a:p>
        </p:txBody>
      </p:sp>
      <p:sp>
        <p:nvSpPr>
          <p:cNvPr id="23" name="Hasil 2.3"/>
          <p:cNvSpPr/>
          <p:nvPr/>
        </p:nvSpPr>
        <p:spPr>
          <a:xfrm>
            <a:off x="6263640" y="4114800"/>
            <a:ext cx="2468880" cy="1325880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4" name="Ikon hasil 2.3" descr="/home/user/sanggabiz-proposal/pim-wla/_build/assets/icons/FiRepeat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279392"/>
            <a:ext cx="365760" cy="365760"/>
          </a:xfrm>
          <a:prstGeom prst="rect">
            <a:avLst/>
          </a:prstGeom>
        </p:spPr>
      </p:pic>
      <p:sp>
        <p:nvSpPr>
          <p:cNvPr id="25" name="Teks hasil 2.3"/>
          <p:cNvSpPr txBox="1"/>
          <p:nvPr/>
        </p:nvSpPr>
        <p:spPr>
          <a:xfrm>
            <a:off x="6446520" y="4709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Matriks tindak lanjut dan RACI sebelum dan sesudah</a:t>
            </a:r>
            <a:endParaRPr lang="en-US" sz="1400" dirty="0"/>
          </a:p>
        </p:txBody>
      </p:sp>
      <p:sp>
        <p:nvSpPr>
          <p:cNvPr id="26" name="Hasil 2.4"/>
          <p:cNvSpPr/>
          <p:nvPr/>
        </p:nvSpPr>
        <p:spPr>
          <a:xfrm>
            <a:off x="9098280" y="4114800"/>
            <a:ext cx="2468880" cy="1325880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7" name="Ikon hasil 2.4" descr="/home/user/sanggabiz-proposal/pim-wla/_build/assets/icons/FiCheckCircle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4279392"/>
            <a:ext cx="365760" cy="365760"/>
          </a:xfrm>
          <a:prstGeom prst="rect">
            <a:avLst/>
          </a:prstGeom>
        </p:spPr>
      </p:pic>
      <p:sp>
        <p:nvSpPr>
          <p:cNvPr id="28" name="Teks hasil 2.4"/>
          <p:cNvSpPr txBox="1"/>
          <p:nvPr/>
        </p:nvSpPr>
        <p:spPr>
          <a:xfrm>
            <a:off x="9281160" y="4709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Rencana 30-60-90 hari dan komitmen peserta</a:t>
            </a:r>
            <a:endParaRPr lang="en-US" sz="1400" dirty="0"/>
          </a:p>
        </p:txBody>
      </p:sp>
      <p:sp>
        <p:nvSpPr>
          <p:cNvPr id="29" name="Panel perangkat"/>
          <p:cNvSpPr/>
          <p:nvPr/>
        </p:nvSpPr>
        <p:spPr>
          <a:xfrm>
            <a:off x="594360" y="5623560"/>
            <a:ext cx="10972800" cy="73152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30" name="Teks perangkat"/>
          <p:cNvSpPr txBox="1"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Diserahkan kepada PIM: lembar hitung FTE baku, seluruh formulir, lembar pengamatan, kunci kasus, dan formulir Level 4.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2743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Cara kami mengukur hasil belajar</a:t>
            </a:r>
            <a:endParaRPr lang="en-US" sz="2600" dirty="0"/>
          </a:p>
        </p:txBody>
      </p:sp>
      <p:sp>
        <p:nvSpPr>
          <p:cNvPr id="3" name="Kartu Level 1"/>
          <p:cNvSpPr/>
          <p:nvPr/>
        </p:nvSpPr>
        <p:spPr>
          <a:xfrm>
            <a:off x="457200" y="1371600"/>
            <a:ext cx="2651760" cy="3520440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/>
        </p:spPr>
      </p:sp>
      <p:sp>
        <p:nvSpPr>
          <p:cNvPr id="4" name="Kepala Level 1"/>
          <p:cNvSpPr/>
          <p:nvPr/>
        </p:nvSpPr>
        <p:spPr>
          <a:xfrm>
            <a:off x="457200" y="1371600"/>
            <a:ext cx="2651760" cy="8229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5" name="Judul Level 1"/>
          <p:cNvSpPr txBox="1"/>
          <p:nvPr/>
        </p:nvSpPr>
        <p:spPr>
          <a:xfrm>
            <a:off x="64008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Level 1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Reaksi</a:t>
            </a:r>
            <a:endParaRPr lang="en-US" sz="1200" dirty="0"/>
          </a:p>
        </p:txBody>
      </p:sp>
      <p:sp>
        <p:nvSpPr>
          <p:cNvPr id="6" name="Isi Level 1"/>
          <p:cNvSpPr txBox="1"/>
          <p:nvPr/>
        </p:nvSpPr>
        <p:spPr>
          <a:xfrm>
            <a:off x="640080" y="23317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Instrumen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Survei singkat tiap hari dan evaluasi akhir Hari 2.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Target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Rata-rata minimal 4,2 dari 5 dan 85% peserta menilai baik.</a:t>
            </a:r>
            <a:endParaRPr lang="en-US" sz="1300" dirty="0"/>
          </a:p>
        </p:txBody>
      </p:sp>
      <p:sp>
        <p:nvSpPr>
          <p:cNvPr id="7" name="Kartu Level 2"/>
          <p:cNvSpPr/>
          <p:nvPr/>
        </p:nvSpPr>
        <p:spPr>
          <a:xfrm>
            <a:off x="3291840" y="1371600"/>
            <a:ext cx="2651760" cy="3520440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/>
        </p:spPr>
      </p:sp>
      <p:sp>
        <p:nvSpPr>
          <p:cNvPr id="8" name="Kepala Level 2"/>
          <p:cNvSpPr/>
          <p:nvPr/>
        </p:nvSpPr>
        <p:spPr>
          <a:xfrm>
            <a:off x="3291840" y="1371600"/>
            <a:ext cx="2651760" cy="8229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9" name="Judul Level 2"/>
          <p:cNvSpPr txBox="1"/>
          <p:nvPr/>
        </p:nvSpPr>
        <p:spPr>
          <a:xfrm>
            <a:off x="347472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Level 2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Pembelajaran</a:t>
            </a:r>
            <a:endParaRPr lang="en-US" sz="1200" dirty="0"/>
          </a:p>
        </p:txBody>
      </p:sp>
      <p:sp>
        <p:nvSpPr>
          <p:cNvPr id="10" name="Isi Level 2"/>
          <p:cNvSpPr txBox="1"/>
          <p:nvPr/>
        </p:nvSpPr>
        <p:spPr>
          <a:xfrm>
            <a:off x="3474720" y="23317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Instrumen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Pre-test, post-test, latihan FTE, dan praktik wawancara.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Target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Post-test minimal 75 dan naik rata-rata 20% dari nilai awal.</a:t>
            </a:r>
            <a:endParaRPr lang="en-US" sz="1300" dirty="0"/>
          </a:p>
        </p:txBody>
      </p:sp>
      <p:sp>
        <p:nvSpPr>
          <p:cNvPr id="11" name="Kartu Level 3"/>
          <p:cNvSpPr/>
          <p:nvPr/>
        </p:nvSpPr>
        <p:spPr>
          <a:xfrm>
            <a:off x="6126480" y="1371600"/>
            <a:ext cx="2651760" cy="3520440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/>
        </p:spPr>
      </p:sp>
      <p:sp>
        <p:nvSpPr>
          <p:cNvPr id="12" name="Kepala Level 3"/>
          <p:cNvSpPr/>
          <p:nvPr/>
        </p:nvSpPr>
        <p:spPr>
          <a:xfrm>
            <a:off x="6126480" y="1371600"/>
            <a:ext cx="2651760" cy="8229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3" name="Judul Level 3"/>
          <p:cNvSpPr txBox="1"/>
          <p:nvPr/>
        </p:nvSpPr>
        <p:spPr>
          <a:xfrm>
            <a:off x="630936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Level 3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Perilaku</a:t>
            </a:r>
            <a:endParaRPr lang="en-US" sz="1200" dirty="0"/>
          </a:p>
        </p:txBody>
      </p:sp>
      <p:sp>
        <p:nvSpPr>
          <p:cNvPr id="14" name="Isi Level 3"/>
          <p:cNvSpPr txBox="1"/>
          <p:nvPr/>
        </p:nvSpPr>
        <p:spPr>
          <a:xfrm>
            <a:off x="6309360" y="23317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Instrumen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Daftar cek atasan, bukti penggunaan, dan online implementation clinic D+30.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Target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Minimal 75% peserta sasaran memakai hasil pelatihan pada satu aktivitas ABK.</a:t>
            </a:r>
            <a:endParaRPr lang="en-US" sz="1300" dirty="0"/>
          </a:p>
        </p:txBody>
      </p:sp>
      <p:sp>
        <p:nvSpPr>
          <p:cNvPr id="15" name="Kartu Level 4"/>
          <p:cNvSpPr/>
          <p:nvPr/>
        </p:nvSpPr>
        <p:spPr>
          <a:xfrm>
            <a:off x="8961120" y="1371600"/>
            <a:ext cx="2651760" cy="3520440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/>
        </p:spPr>
      </p:sp>
      <p:sp>
        <p:nvSpPr>
          <p:cNvPr id="16" name="Kepala Level 4"/>
          <p:cNvSpPr/>
          <p:nvPr/>
        </p:nvSpPr>
        <p:spPr>
          <a:xfrm>
            <a:off x="8961120" y="1371600"/>
            <a:ext cx="2651760" cy="8229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7" name="Judul Level 4"/>
          <p:cNvSpPr txBox="1"/>
          <p:nvPr/>
        </p:nvSpPr>
        <p:spPr>
          <a:xfrm>
            <a:off x="914400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Level 4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Hasil</a:t>
            </a:r>
            <a:endParaRPr lang="en-US" sz="1200" dirty="0"/>
          </a:p>
        </p:txBody>
      </p:sp>
      <p:sp>
        <p:nvSpPr>
          <p:cNvPr id="18" name="Isi Level 4"/>
          <p:cNvSpPr txBox="1"/>
          <p:nvPr/>
        </p:nvSpPr>
        <p:spPr>
          <a:xfrm>
            <a:off x="9144000" y="23317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Instrumen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Formulir satu halaman yang diserahkan di Hari 2 dan dipantau PIM.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Target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Kelengkapan data minimal 90%, isu berulang turun, rencana tindak punya penanggung jawab dan target waktu.</a:t>
            </a:r>
            <a:endParaRPr lang="en-US" sz="1300" dirty="0"/>
          </a:p>
        </p:txBody>
      </p:sp>
      <p:sp>
        <p:nvSpPr>
          <p:cNvPr id="19" name="Catatan evaluasi"/>
          <p:cNvSpPr txBox="1"/>
          <p:nvPr/>
        </p:nvSpPr>
        <p:spPr>
          <a:xfrm>
            <a:off x="457200" y="5166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Target Level 3 dan Level 4 adalah indikator bersama yang juga dipengaruhi data, dukungan atasan, dan tindak lanjut PIM. D+30 berarti 30 hari setelah pelatihan.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korasi lingkaran besar"/>
          <p:cNvSpPr/>
          <p:nvPr/>
        </p:nvSpPr>
        <p:spPr>
          <a:xfrm>
            <a:off x="8046720" y="2377440"/>
            <a:ext cx="5852160" cy="5852160"/>
          </a:xfrm>
          <a:prstGeom prst="ellipse">
            <a:avLst/>
          </a:prstGeom>
          <a:solidFill>
            <a:schemeClr val="accent3">
              <a:alpha val="20000"/>
            </a:schemeClr>
          </a:solidFill>
          <a:ln/>
        </p:spPr>
      </p:sp>
      <p:pic>
        <p:nvPicPr>
          <p:cNvPr id="3" name="Logo Sanggabiz" descr="/home/user/sanggabiz-proposal/pim-wla/_build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194560" cy="434340"/>
          </a:xfrm>
          <a:prstGeom prst="rect">
            <a:avLst/>
          </a:prstGeom>
        </p:spPr>
      </p:pic>
      <p:sp>
        <p:nvSpPr>
          <p:cNvPr id="4" name="Judul penutup"/>
          <p:cNvSpPr txBox="1"/>
          <p:nvPr/>
        </p:nvSpPr>
        <p:spPr>
          <a:xfrm>
            <a:off x="5943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Mari mulai bersama Sanggabiz</a:t>
            </a:r>
            <a:endParaRPr lang="en-US" sz="4000" dirty="0"/>
          </a:p>
        </p:txBody>
      </p:sp>
      <p:sp>
        <p:nvSpPr>
          <p:cNvPr id="5" name="Ajakan"/>
          <p:cNvSpPr txBox="1"/>
          <p:nvPr/>
        </p:nvSpPr>
        <p:spPr>
          <a:xfrm>
            <a:off x="5943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Kami siap menyesuaikan kasus, jadwal, dan peserta bersama PIM.</a:t>
            </a:r>
            <a:endParaRPr lang="en-US" sz="1800" dirty="0"/>
          </a:p>
        </p:txBody>
      </p:sp>
      <p:sp>
        <p:nvSpPr>
          <p:cNvPr id="6" name="Kapsul kontak 1"/>
          <p:cNvSpPr/>
          <p:nvPr/>
        </p:nvSpPr>
        <p:spPr>
          <a:xfrm>
            <a:off x="594360" y="4937760"/>
            <a:ext cx="3383280" cy="548640"/>
          </a:xfrm>
          <a:prstGeom prst="roundRect">
            <a:avLst>
              <a:gd name="adj" fmla="val 50000"/>
            </a:avLst>
          </a:prstGeom>
          <a:ln w="19050">
            <a:solidFill>
              <a:schemeClr val="bg1"/>
            </a:solidFill>
            <a:prstDash val="solid"/>
          </a:ln>
        </p:spPr>
      </p:sp>
      <p:pic>
        <p:nvPicPr>
          <p:cNvPr id="7" name="Ikon kontak 1" descr="/home/user/sanggabiz-proposal/pim-wla/_build/assets/icons/FiPhon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074920"/>
            <a:ext cx="274320" cy="274320"/>
          </a:xfrm>
          <a:prstGeom prst="rect">
            <a:avLst/>
          </a:prstGeom>
        </p:spPr>
      </p:pic>
      <p:sp>
        <p:nvSpPr>
          <p:cNvPr id="8" name="Kontak 1"/>
          <p:cNvSpPr txBox="1"/>
          <p:nvPr/>
        </p:nvSpPr>
        <p:spPr>
          <a:xfrm>
            <a:off x="1188720" y="49377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0877-7413-4288</a:t>
            </a:r>
            <a:endParaRPr lang="en-US" sz="1400" dirty="0"/>
          </a:p>
        </p:txBody>
      </p:sp>
      <p:sp>
        <p:nvSpPr>
          <p:cNvPr id="9" name="Kapsul kontak 2"/>
          <p:cNvSpPr/>
          <p:nvPr/>
        </p:nvSpPr>
        <p:spPr>
          <a:xfrm>
            <a:off x="4251960" y="4937760"/>
            <a:ext cx="3383280" cy="548640"/>
          </a:xfrm>
          <a:prstGeom prst="roundRect">
            <a:avLst>
              <a:gd name="adj" fmla="val 50000"/>
            </a:avLst>
          </a:prstGeom>
          <a:ln w="19050">
            <a:solidFill>
              <a:schemeClr val="bg1"/>
            </a:solidFill>
            <a:prstDash val="solid"/>
          </a:ln>
        </p:spPr>
      </p:sp>
      <p:pic>
        <p:nvPicPr>
          <p:cNvPr id="10" name="Ikon kontak 2" descr="/home/user/sanggabiz-proposal/pim-wla/_build/assets/icons/FiGlob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5074920"/>
            <a:ext cx="274320" cy="274320"/>
          </a:xfrm>
          <a:prstGeom prst="rect">
            <a:avLst/>
          </a:prstGeom>
        </p:spPr>
      </p:pic>
      <p:sp>
        <p:nvSpPr>
          <p:cNvPr id="11" name="Kontak 2"/>
          <p:cNvSpPr txBox="1"/>
          <p:nvPr/>
        </p:nvSpPr>
        <p:spPr>
          <a:xfrm>
            <a:off x="4846320" y="49377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www.sanggabiz.com</a:t>
            </a:r>
            <a:endParaRPr lang="en-US" sz="1400" dirty="0"/>
          </a:p>
        </p:txBody>
      </p:sp>
      <p:sp>
        <p:nvSpPr>
          <p:cNvPr id="12" name="Kapsul kontak 3"/>
          <p:cNvSpPr/>
          <p:nvPr/>
        </p:nvSpPr>
        <p:spPr>
          <a:xfrm>
            <a:off x="7909560" y="4937760"/>
            <a:ext cx="3383280" cy="548640"/>
          </a:xfrm>
          <a:prstGeom prst="roundRect">
            <a:avLst>
              <a:gd name="adj" fmla="val 50000"/>
            </a:avLst>
          </a:prstGeom>
          <a:ln w="19050">
            <a:solidFill>
              <a:schemeClr val="bg1"/>
            </a:solidFill>
            <a:prstDash val="solid"/>
          </a:ln>
        </p:spPr>
      </p:sp>
      <p:pic>
        <p:nvPicPr>
          <p:cNvPr id="13" name="Ikon kontak 3" descr="/home/user/sanggabiz-proposal/pim-wla/_build/assets/icons/FiMail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5074920"/>
            <a:ext cx="274320" cy="274320"/>
          </a:xfrm>
          <a:prstGeom prst="rect">
            <a:avLst/>
          </a:prstGeom>
        </p:spPr>
      </p:pic>
      <p:sp>
        <p:nvSpPr>
          <p:cNvPr id="14" name="Kontak 3"/>
          <p:cNvSpPr txBox="1"/>
          <p:nvPr/>
        </p:nvSpPr>
        <p:spPr>
          <a:xfrm>
            <a:off x="8503920" y="49377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partnership@sanggabiz.com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ggabiz">
  <a:themeElements>
    <a:clrScheme name="Sanggabiz">
      <a:dk1>
        <a:srgbClr val="1D1D1F"/>
      </a:dk1>
      <a:lt1>
        <a:srgbClr val="FFFFFF"/>
      </a:lt1>
      <a:dk2>
        <a:srgbClr val="0B396D"/>
      </a:dk2>
      <a:lt2>
        <a:srgbClr val="EEF3F9"/>
      </a:lt2>
      <a:accent1>
        <a:srgbClr val="0B396D"/>
      </a:accent1>
      <a:accent2>
        <a:srgbClr val="FFC00C"/>
      </a:accent2>
      <a:accent3>
        <a:srgbClr val="2F7E9D"/>
      </a:accent3>
      <a:accent4>
        <a:srgbClr val="092647"/>
      </a:accent4>
      <a:accent5>
        <a:srgbClr val="B0C0CF"/>
      </a:accent5>
      <a:accent6>
        <a:srgbClr val="15908F"/>
      </a:accent6>
      <a:hlink>
        <a:srgbClr val="2446BC"/>
      </a:hlink>
      <a:folHlink>
        <a:srgbClr val="727171"/>
      </a:folHlink>
    </a:clrScheme>
    <a:fontScheme name="Sanggabiz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Sanggabiz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Kurikulum Pelatihan Transfer Kemampuan Analisis Beban Kerja</dc:title>
  <dc:subject>PptxGenJS Presentation</dc:subject>
  <dc:creator>Sanggabiz</dc:creator>
  <cp:lastModifiedBy>Sanggabiz</cp:lastModifiedBy>
  <cp:revision>1</cp:revision>
  <dcterms:created xsi:type="dcterms:W3CDTF">2026-10-14T07:49:47Z</dcterms:created>
  <dcterms:modified xsi:type="dcterms:W3CDTF">2026-10-14T07:49:47Z</dcterms:modified>
</cp:coreProperties>
</file>