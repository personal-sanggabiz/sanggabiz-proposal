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y="5143500" cx="9144000"/>
  <p:notesSz cx="6858000" cy="9144000"/>
  <p:embeddedFontLst>
    <p:embeddedFont>
      <p:font typeface="Poppins"/>
      <p:bold r:id="rId42"/>
      <p:boldItalic r:id="rId43"/>
    </p:embeddedFont>
    <p:embeddedFont>
      <p:font typeface="Poppins Medium"/>
      <p:regular r:id="rId44"/>
      <p:bold r:id="rId45"/>
      <p:italic r:id="rId46"/>
      <p:boldItalic r:id="rId47"/>
    </p:embeddedFont>
    <p:embeddedFont>
      <p:font typeface="Poppins SemiBold"/>
      <p:regular r:id="rId48"/>
      <p:bold r:id="rId49"/>
      <p:italic r:id="rId50"/>
      <p:boldItalic r:id="rId51"/>
    </p:embeddedFont>
    <p:embeddedFont>
      <p:font typeface="Open Sans"/>
      <p:bold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E9BC604-4890-4BE8-8DDB-205DA92A7D25}">
  <a:tblStyle styleId="{6E9BC604-4890-4BE8-8DDB-205DA92A7D2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D080B7E-7D66-4D29-9A70-068AC19BCE4E}"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6FEB8D4-92E1-4C12-95A0-862D060FE08F}" styleName="Table_2">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F1F5"/>
          </a:solidFill>
        </a:fill>
      </a:tcStyle>
    </a:wholeTbl>
    <a:band1H>
      <a:tcTxStyle/>
      <a:tcStyle>
        <a:fill>
          <a:solidFill>
            <a:srgbClr val="CEE2EA"/>
          </a:solidFill>
        </a:fill>
      </a:tcStyle>
    </a:band1H>
    <a:band2H>
      <a:tcTxStyle/>
    </a:band2H>
    <a:band1V>
      <a:tcTxStyle/>
      <a:tcStyle>
        <a:fill>
          <a:solidFill>
            <a:srgbClr val="CEE2EA"/>
          </a:solidFill>
        </a:fill>
      </a:tcStyle>
    </a:band1V>
    <a:band2V>
      <a:tcTxStyle/>
    </a:band2V>
    <a:lastCol>
      <a:tcTxStyle b="on" i="off">
        <a:font>
          <a:latin typeface="Calibri"/>
          <a:ea typeface="Calibri"/>
          <a:cs typeface="Calibri"/>
        </a:font>
        <a:schemeClr val="lt1"/>
      </a:tcTxStyle>
      <a:tcStyle>
        <a:fill>
          <a:solidFill>
            <a:schemeClr val="accent5"/>
          </a:solidFill>
        </a:fill>
      </a:tcStyle>
    </a:lastCol>
    <a:firstCol>
      <a:tcTxStyle b="on" i="off">
        <a:font>
          <a:latin typeface="Calibri"/>
          <a:ea typeface="Calibri"/>
          <a:cs typeface="Calibri"/>
        </a:font>
        <a:schemeClr val="lt1"/>
      </a:tcTxStyle>
      <a:tcStyle>
        <a:fill>
          <a:solidFill>
            <a:schemeClr val="accent5"/>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5"/>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5"/>
          </a:solidFill>
        </a:fill>
      </a:tcStyle>
    </a:firstRow>
    <a:neCell>
      <a:tcTxStyle/>
    </a:neCell>
    <a:nwCell>
      <a:tcTxStyle/>
    </a:nwCell>
  </a:tblStyle>
  <a:tblStyle styleId="{7B4CBEDC-F230-4469-94D7-31141786522C}" styleName="Table_3">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font" Target="fonts/Poppins-bold.fntdata"/><Relationship Id="rId41" Type="http://schemas.openxmlformats.org/officeDocument/2006/relationships/slide" Target="slides/slide34.xml"/><Relationship Id="rId44" Type="http://schemas.openxmlformats.org/officeDocument/2006/relationships/font" Target="fonts/PoppinsMedium-regular.fntdata"/><Relationship Id="rId43" Type="http://schemas.openxmlformats.org/officeDocument/2006/relationships/font" Target="fonts/Poppins-boldItalic.fntdata"/><Relationship Id="rId46" Type="http://schemas.openxmlformats.org/officeDocument/2006/relationships/font" Target="fonts/PoppinsMedium-italic.fntdata"/><Relationship Id="rId45" Type="http://schemas.openxmlformats.org/officeDocument/2006/relationships/font" Target="fonts/PoppinsMedium-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PoppinsSemiBold-regular.fntdata"/><Relationship Id="rId47" Type="http://schemas.openxmlformats.org/officeDocument/2006/relationships/font" Target="fonts/PoppinsMedium-boldItalic.fntdata"/><Relationship Id="rId49" Type="http://schemas.openxmlformats.org/officeDocument/2006/relationships/font" Target="fonts/PoppinsSemiBold-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oppinsSemiBold-boldItalic.fntdata"/><Relationship Id="rId50" Type="http://schemas.openxmlformats.org/officeDocument/2006/relationships/font" Target="fonts/PoppinsSemiBold-italic.fntdata"/><Relationship Id="rId53" Type="http://schemas.openxmlformats.org/officeDocument/2006/relationships/font" Target="fonts/OpenSans-boldItalic.fntdata"/><Relationship Id="rId52" Type="http://schemas.openxmlformats.org/officeDocument/2006/relationships/font" Target="fonts/OpenSans-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d17f824f8_2_7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8d17f824f8_2_77: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8d17f824f8_2_9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8d17f824f8_2_96: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8d17f824f8_2_13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8d17f824f8_2_138: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8d17f824f8_2_14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ctr">
              <a:lnSpc>
                <a:spcPct val="195950"/>
              </a:lnSpc>
              <a:spcBef>
                <a:spcPts val="0"/>
              </a:spcBef>
              <a:spcAft>
                <a:spcPts val="0"/>
              </a:spcAft>
              <a:buClr>
                <a:schemeClr val="dk1"/>
              </a:buClr>
              <a:buFont typeface="Arial"/>
              <a:buNone/>
            </a:pPr>
            <a:r>
              <a:rPr lang="id" sz="1000">
                <a:solidFill>
                  <a:schemeClr val="dk1"/>
                </a:solidFill>
                <a:latin typeface="Poppins"/>
                <a:ea typeface="Poppins"/>
                <a:cs typeface="Poppins"/>
                <a:sym typeface="Poppins"/>
              </a:rPr>
              <a:t>Biro kami didirikan dan diisi oleh tim profesional. CEO kami berpengalaman lebih dari 13 tahun di Perusahaan Multinasional sebagai Kepala Bidang Pemasaran dan Psikolog kami berpengalaman lebih dari 7 tahun dengan mitra 1 sekolah dan 1,400 klien menangani pasien di RS Hermina Samarinda, Psikolog SIM dan Klinik Terapi Annisa</a:t>
            </a:r>
            <a:endParaRPr sz="700">
              <a:solidFill>
                <a:schemeClr val="dk1"/>
              </a:solidFill>
            </a:endParaRPr>
          </a:p>
          <a:p>
            <a:pPr indent="0" lvl="0" marL="0" rtl="0" algn="l">
              <a:spcBef>
                <a:spcPts val="0"/>
              </a:spcBef>
              <a:spcAft>
                <a:spcPts val="0"/>
              </a:spcAft>
              <a:buNone/>
            </a:pPr>
            <a:r>
              <a:t/>
            </a:r>
            <a:endParaRPr/>
          </a:p>
        </p:txBody>
      </p:sp>
      <p:sp>
        <p:nvSpPr>
          <p:cNvPr id="190" name="Google Shape;190;g38d17f824f8_2_148: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8d17f824f8_2_23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38d17f824f8_2_234: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eec7c9ed56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eec7c9ed56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d17f824f8_2_24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38d17f824f8_2_247: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8d17f824f8_0_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8d17f824f8_0_2: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37e2ae4c2_0_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3f37e2ae4c2_0_2: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37e2ae4c2_0_17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f37e2ae4c2_0_177: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37e2ae4c2_0_18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f37e2ae4c2_0_183: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ea660e9c94_0_6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g3ea660e9c94_0_67: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a660e9c94_0_7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ea660e9c94_0_78: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f37e2ae4c2_0_18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g3f37e2ae4c2_0_188: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8d17f824f8_0_4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g38d17f824f8_0_49: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8d17f824f8_2_29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g38d17f824f8_2_294: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8d17f824f8_0_8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g38d17f824f8_0_89: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8d17f824f8_2_31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38d17f824f8_2_314: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8d17f824f8_0_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38d17f824f8_0_25: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9ee2ed6841_1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9ee2ed6841_1_0: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9ee2ed6841_1_119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39ee2ed6841_1_1197: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8d17f824f8_2_34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38d17f824f8_2_340: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a7a9ba4a61_0_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g3a7a9ba4a61_0_6: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409e4cfcf08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g409e4cfcf08_0_0: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8d17f824f8_0_14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g38d17f824f8_0_140: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8d17f824f8_2_36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8d17f824f8_2_361: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8d17f824f8_0_11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g38d17f824f8_0_110: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8d17f824f8_0_23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g38d17f824f8_0_239: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877d0bf73e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g3877d0bf73e_0_0: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8d17f824f8_2_382: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g38d17f824f8_2_382:notes"/>
          <p:cNvSpPr txBox="1"/>
          <p:nvPr>
            <p:ph idx="1" type="body"/>
          </p:nvPr>
        </p:nvSpPr>
        <p:spPr>
          <a:xfrm>
            <a:off x="685800" y="4400550"/>
            <a:ext cx="5486400" cy="3600450"/>
          </a:xfrm>
          <a:prstGeom prst="rect">
            <a:avLst/>
          </a:prstGeom>
          <a:noFill/>
          <a:ln>
            <a:noFill/>
          </a:ln>
        </p:spPr>
        <p:txBody>
          <a:bodyPr anchorCtr="0" anchor="t" bIns="46800" lIns="93600" spcFirstLastPara="1" rIns="93600" wrap="square" tIns="46800">
            <a:noAutofit/>
          </a:bodyPr>
          <a:lstStyle/>
          <a:p>
            <a:pPr indent="0" lvl="0" marL="0" rtl="0" algn="l">
              <a:spcBef>
                <a:spcPts val="0"/>
              </a:spcBef>
              <a:spcAft>
                <a:spcPts val="0"/>
              </a:spcAft>
              <a:buNone/>
            </a:pPr>
            <a:r>
              <a:t/>
            </a:r>
            <a:endParaRPr/>
          </a:p>
        </p:txBody>
      </p:sp>
      <p:sp>
        <p:nvSpPr>
          <p:cNvPr id="613" name="Google Shape;613;g38d17f824f8_2_382:notes"/>
          <p:cNvSpPr txBox="1"/>
          <p:nvPr>
            <p:ph idx="12" type="sldNum"/>
          </p:nvPr>
        </p:nvSpPr>
        <p:spPr>
          <a:xfrm>
            <a:off x="3884613" y="8685214"/>
            <a:ext cx="2971800" cy="458787"/>
          </a:xfrm>
          <a:prstGeom prst="rect">
            <a:avLst/>
          </a:prstGeom>
          <a:noFill/>
          <a:ln>
            <a:noFill/>
          </a:ln>
        </p:spPr>
        <p:txBody>
          <a:bodyPr anchorCtr="0" anchor="b" bIns="46800" lIns="93600" spcFirstLastPara="1" rIns="93600" wrap="square" tIns="468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8d17f824f8_2_42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g38d17f824f8_2_420: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8d17f824f8_2_43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g38d17f824f8_2_435: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8d17f824f8_2_45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g38d17f824f8_2_455: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faf6de1740_0_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g3faf6de1740_0_1:notes"/>
          <p:cNvSpPr/>
          <p:nvPr>
            <p:ph idx="2" type="sldImg"/>
          </p:nvPr>
        </p:nvSpPr>
        <p:spPr>
          <a:xfrm>
            <a:off x="571500" y="1143000"/>
            <a:ext cx="57150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layout">
  <p:cSld name="Contents slide layout">
    <p:spTree>
      <p:nvGrpSpPr>
        <p:cNvPr id="60" name="Shape 60"/>
        <p:cNvGrpSpPr/>
        <p:nvPr/>
      </p:nvGrpSpPr>
      <p:grpSpPr>
        <a:xfrm>
          <a:off x="0" y="0"/>
          <a:ext cx="0" cy="0"/>
          <a:chOff x="0" y="0"/>
          <a:chExt cx="0" cy="0"/>
        </a:xfrm>
      </p:grpSpPr>
      <p:sp>
        <p:nvSpPr>
          <p:cNvPr id="61" name="Google Shape;61;p15"/>
          <p:cNvSpPr txBox="1"/>
          <p:nvPr>
            <p:ph idx="1" type="body"/>
          </p:nvPr>
        </p:nvSpPr>
        <p:spPr>
          <a:xfrm>
            <a:off x="242647" y="254634"/>
            <a:ext cx="8679899" cy="543186"/>
          </a:xfrm>
          <a:prstGeom prst="rect">
            <a:avLst/>
          </a:prstGeom>
          <a:noFill/>
          <a:ln>
            <a:noFill/>
          </a:ln>
        </p:spPr>
        <p:txBody>
          <a:bodyPr anchorCtr="0" anchor="t" bIns="22850" lIns="45725" spcFirstLastPara="1" rIns="45725" wrap="square" tIns="22850">
            <a:normAutofit/>
          </a:bodyPr>
          <a:lstStyle>
            <a:lvl1pPr indent="-228600" lvl="0" marL="457200" algn="ctr">
              <a:spcBef>
                <a:spcPts val="800"/>
              </a:spcBef>
              <a:spcAft>
                <a:spcPts val="0"/>
              </a:spcAft>
              <a:buClr>
                <a:srgbClr val="262626"/>
              </a:buClr>
              <a:buSzPts val="4100"/>
              <a:buNone/>
              <a:defRPr b="0" sz="4100">
                <a:solidFill>
                  <a:srgbClr val="262626"/>
                </a:solidFill>
                <a:latin typeface="Calibri"/>
                <a:ea typeface="Calibri"/>
                <a:cs typeface="Calibri"/>
                <a:sym typeface="Calibri"/>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4" name="Google Shape;64;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5" name="Google Shape;65;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6" name="Google Shape;66;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7" name="Google Shape;67;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17"/>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0" name="Google Shape;70;p17"/>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71" name="Google Shape;71;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2" name="Google Shape;72;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3" name="Google Shape;73;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18"/>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6" name="Google Shape;76;p18"/>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7" name="Google Shape;77;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8" name="Google Shape;78;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9" name="Google Shape;79;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0" name="Shape 80"/>
        <p:cNvGrpSpPr/>
        <p:nvPr/>
      </p:nvGrpSpPr>
      <p:grpSpPr>
        <a:xfrm>
          <a:off x="0" y="0"/>
          <a:ext cx="0" cy="0"/>
          <a:chOff x="0" y="0"/>
          <a:chExt cx="0" cy="0"/>
        </a:xfrm>
      </p:grpSpPr>
      <p:sp>
        <p:nvSpPr>
          <p:cNvPr id="81" name="Google Shape;81;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2" name="Google Shape;82;p19"/>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3" name="Google Shape;83;p19"/>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4" name="Google Shape;84;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5" name="Google Shape;85;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6" name="Google Shape;86;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7" name="Shape 87"/>
        <p:cNvGrpSpPr/>
        <p:nvPr/>
      </p:nvGrpSpPr>
      <p:grpSpPr>
        <a:xfrm>
          <a:off x="0" y="0"/>
          <a:ext cx="0" cy="0"/>
          <a:chOff x="0" y="0"/>
          <a:chExt cx="0" cy="0"/>
        </a:xfrm>
      </p:grpSpPr>
      <p:sp>
        <p:nvSpPr>
          <p:cNvPr id="88" name="Google Shape;88;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9" name="Google Shape;89;p20"/>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20"/>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20"/>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2" name="Google Shape;92;p20"/>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3" name="Google Shape;93;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4" name="Google Shape;94;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5" name="Google Shape;95;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6" name="Shape 96"/>
        <p:cNvGrpSpPr/>
        <p:nvPr/>
      </p:nvGrpSpPr>
      <p:grpSpPr>
        <a:xfrm>
          <a:off x="0" y="0"/>
          <a:ext cx="0" cy="0"/>
          <a:chOff x="0" y="0"/>
          <a:chExt cx="0" cy="0"/>
        </a:xfrm>
      </p:grpSpPr>
      <p:sp>
        <p:nvSpPr>
          <p:cNvPr id="97" name="Google Shape;97;p2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8" name="Google Shape;98;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9" name="Google Shape;99;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0" name="Google Shape;100;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1" name="Shape 101"/>
        <p:cNvGrpSpPr/>
        <p:nvPr/>
      </p:nvGrpSpPr>
      <p:grpSpPr>
        <a:xfrm>
          <a:off x="0" y="0"/>
          <a:ext cx="0" cy="0"/>
          <a:chOff x="0" y="0"/>
          <a:chExt cx="0" cy="0"/>
        </a:xfrm>
      </p:grpSpPr>
      <p:sp>
        <p:nvSpPr>
          <p:cNvPr id="102" name="Google Shape;102;p22"/>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3" name="Google Shape;103;p22"/>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4" name="Google Shape;104;p22"/>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5" name="Google Shape;105;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6" name="Google Shape;106;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7" name="Google Shape;107;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8" name="Shape 108"/>
        <p:cNvGrpSpPr/>
        <p:nvPr/>
      </p:nvGrpSpPr>
      <p:grpSpPr>
        <a:xfrm>
          <a:off x="0" y="0"/>
          <a:ext cx="0" cy="0"/>
          <a:chOff x="0" y="0"/>
          <a:chExt cx="0" cy="0"/>
        </a:xfrm>
      </p:grpSpPr>
      <p:sp>
        <p:nvSpPr>
          <p:cNvPr id="109" name="Google Shape;109;p23"/>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0" name="Google Shape;110;p23"/>
          <p:cNvSpPr/>
          <p:nvPr>
            <p:ph idx="2" type="pic"/>
          </p:nvPr>
        </p:nvSpPr>
        <p:spPr>
          <a:xfrm>
            <a:off x="896144" y="306388"/>
            <a:ext cx="2743200" cy="2057400"/>
          </a:xfrm>
          <a:prstGeom prst="rect">
            <a:avLst/>
          </a:prstGeom>
          <a:noFill/>
          <a:ln>
            <a:noFill/>
          </a:ln>
        </p:spPr>
      </p:sp>
      <p:sp>
        <p:nvSpPr>
          <p:cNvPr id="111" name="Google Shape;111;p23"/>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2" name="Google Shape;112;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3" name="Google Shape;113;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4" name="Google Shape;114;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5" name="Shape 115"/>
        <p:cNvGrpSpPr/>
        <p:nvPr/>
      </p:nvGrpSpPr>
      <p:grpSpPr>
        <a:xfrm>
          <a:off x="0" y="0"/>
          <a:ext cx="0" cy="0"/>
          <a:chOff x="0" y="0"/>
          <a:chExt cx="0" cy="0"/>
        </a:xfrm>
      </p:grpSpPr>
      <p:sp>
        <p:nvSpPr>
          <p:cNvPr id="116" name="Google Shape;116;p24"/>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7" name="Google Shape;117;p24"/>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8" name="Google Shape;118;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9" name="Google Shape;119;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0" name="Google Shape;120;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1" name="Shape 121"/>
        <p:cNvGrpSpPr/>
        <p:nvPr/>
      </p:nvGrpSpPr>
      <p:grpSpPr>
        <a:xfrm>
          <a:off x="0" y="0"/>
          <a:ext cx="0" cy="0"/>
          <a:chOff x="0" y="0"/>
          <a:chExt cx="0" cy="0"/>
        </a:xfrm>
      </p:grpSpPr>
      <p:sp>
        <p:nvSpPr>
          <p:cNvPr id="122" name="Google Shape;122;p25"/>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3" name="Google Shape;123;p25"/>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4" name="Google Shape;124;p2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5" name="Google Shape;125;p2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6" name="Google Shape;126;p2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1.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3.jpg"/><Relationship Id="rId7"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image" Target="../media/image13.png"/><Relationship Id="rId5" Type="http://schemas.openxmlformats.org/officeDocument/2006/relationships/image" Target="../media/image5.png"/><Relationship Id="rId6" Type="http://schemas.openxmlformats.org/officeDocument/2006/relationships/image" Target="../media/image9.png"/><Relationship Id="rId7" Type="http://schemas.openxmlformats.org/officeDocument/2006/relationships/image" Target="../media/image15.png"/><Relationship Id="rId8"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0" Type="http://schemas.openxmlformats.org/officeDocument/2006/relationships/image" Target="../media/image25.jpg"/><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8.jpg"/><Relationship Id="rId9" Type="http://schemas.openxmlformats.org/officeDocument/2006/relationships/image" Target="../media/image28.png"/><Relationship Id="rId5" Type="http://schemas.openxmlformats.org/officeDocument/2006/relationships/image" Target="../media/image12.jpg"/><Relationship Id="rId6" Type="http://schemas.openxmlformats.org/officeDocument/2006/relationships/image" Target="../media/image26.jpg"/><Relationship Id="rId7" Type="http://schemas.openxmlformats.org/officeDocument/2006/relationships/image" Target="../media/image27.png"/><Relationship Id="rId8"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4.jpg"/><Relationship Id="rId4" Type="http://schemas.openxmlformats.org/officeDocument/2006/relationships/image" Target="../media/image19.jpg"/><Relationship Id="rId5" Type="http://schemas.openxmlformats.org/officeDocument/2006/relationships/image" Target="../media/image33.jpg"/><Relationship Id="rId6" Type="http://schemas.openxmlformats.org/officeDocument/2006/relationships/image" Target="../media/image17.png"/><Relationship Id="rId7" Type="http://schemas.openxmlformats.org/officeDocument/2006/relationships/image" Target="../media/image21.png"/><Relationship Id="rId8"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31.png"/><Relationship Id="rId5"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8.png"/><Relationship Id="rId4" Type="http://schemas.openxmlformats.org/officeDocument/2006/relationships/image" Target="../media/image38.png"/><Relationship Id="rId5" Type="http://schemas.openxmlformats.org/officeDocument/2006/relationships/image" Target="../media/image3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6.png"/><Relationship Id="rId4" Type="http://schemas.openxmlformats.org/officeDocument/2006/relationships/image" Target="../media/image53.png"/><Relationship Id="rId5"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6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9.png"/><Relationship Id="rId4" Type="http://schemas.openxmlformats.org/officeDocument/2006/relationships/image" Target="../media/image36.png"/><Relationship Id="rId5" Type="http://schemas.openxmlformats.org/officeDocument/2006/relationships/image" Target="../media/image44.png"/><Relationship Id="rId6"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56.jpg"/><Relationship Id="rId4" Type="http://schemas.openxmlformats.org/officeDocument/2006/relationships/image" Target="../media/image58.jpg"/><Relationship Id="rId5" Type="http://schemas.openxmlformats.org/officeDocument/2006/relationships/image" Target="../media/image5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1.png"/><Relationship Id="rId4" Type="http://schemas.openxmlformats.org/officeDocument/2006/relationships/image" Target="../media/image32.jpg"/><Relationship Id="rId5" Type="http://schemas.openxmlformats.org/officeDocument/2006/relationships/image" Target="../media/image43.png"/><Relationship Id="rId6" Type="http://schemas.openxmlformats.org/officeDocument/2006/relationships/image" Target="../media/image49.png"/><Relationship Id="rId7"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60.png"/><Relationship Id="rId4" Type="http://schemas.openxmlformats.org/officeDocument/2006/relationships/image" Target="../media/image64.png"/><Relationship Id="rId5" Type="http://schemas.openxmlformats.org/officeDocument/2006/relationships/image" Target="../media/image6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5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50.jpg"/><Relationship Id="rId4" Type="http://schemas.openxmlformats.org/officeDocument/2006/relationships/image" Target="../media/image47.png"/><Relationship Id="rId5" Type="http://schemas.openxmlformats.org/officeDocument/2006/relationships/image" Target="../media/image55.png"/><Relationship Id="rId6" Type="http://schemas.openxmlformats.org/officeDocument/2006/relationships/image" Target="../media/image51.jpg"/><Relationship Id="rId7" Type="http://schemas.openxmlformats.org/officeDocument/2006/relationships/image" Target="../media/image5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51.jpg"/><Relationship Id="rId4" Type="http://schemas.openxmlformats.org/officeDocument/2006/relationships/image" Target="../media/image104.png"/><Relationship Id="rId5" Type="http://schemas.openxmlformats.org/officeDocument/2006/relationships/image" Target="../media/image66.png"/><Relationship Id="rId6" Type="http://schemas.openxmlformats.org/officeDocument/2006/relationships/image" Target="../media/image6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7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62.png"/><Relationship Id="rId5" Type="http://schemas.openxmlformats.org/officeDocument/2006/relationships/image" Target="../media/image50.jpg"/><Relationship Id="rId6" Type="http://schemas.openxmlformats.org/officeDocument/2006/relationships/image" Target="../media/image69.png"/><Relationship Id="rId7" Type="http://schemas.openxmlformats.org/officeDocument/2006/relationships/image" Target="../media/image70.jpg"/><Relationship Id="rId8" Type="http://schemas.openxmlformats.org/officeDocument/2006/relationships/image" Target="../media/image6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91.png"/><Relationship Id="rId4" Type="http://schemas.openxmlformats.org/officeDocument/2006/relationships/image" Target="../media/image76.png"/><Relationship Id="rId5" Type="http://schemas.openxmlformats.org/officeDocument/2006/relationships/image" Target="../media/image51.jpg"/><Relationship Id="rId6" Type="http://schemas.openxmlformats.org/officeDocument/2006/relationships/image" Target="../media/image72.jpg"/><Relationship Id="rId7" Type="http://schemas.openxmlformats.org/officeDocument/2006/relationships/image" Target="../media/image8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80.jpg"/><Relationship Id="rId4" Type="http://schemas.openxmlformats.org/officeDocument/2006/relationships/image" Target="../media/image84.png"/><Relationship Id="rId5" Type="http://schemas.openxmlformats.org/officeDocument/2006/relationships/image" Target="../media/image82.jpg"/><Relationship Id="rId6" Type="http://schemas.openxmlformats.org/officeDocument/2006/relationships/image" Target="../media/image87.png"/><Relationship Id="rId7" Type="http://schemas.openxmlformats.org/officeDocument/2006/relationships/image" Target="../media/image75.png"/><Relationship Id="rId8" Type="http://schemas.openxmlformats.org/officeDocument/2006/relationships/image" Target="../media/image7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86.jpg"/><Relationship Id="rId4" Type="http://schemas.openxmlformats.org/officeDocument/2006/relationships/image" Target="../media/image77.jpg"/><Relationship Id="rId5" Type="http://schemas.openxmlformats.org/officeDocument/2006/relationships/image" Target="../media/image74.png"/><Relationship Id="rId6" Type="http://schemas.openxmlformats.org/officeDocument/2006/relationships/image" Target="../media/image81.png"/><Relationship Id="rId7" Type="http://schemas.openxmlformats.org/officeDocument/2006/relationships/image" Target="../media/image8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8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9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96.png"/><Relationship Id="rId4" Type="http://schemas.openxmlformats.org/officeDocument/2006/relationships/image" Target="../media/image99.png"/><Relationship Id="rId5" Type="http://schemas.openxmlformats.org/officeDocument/2006/relationships/image" Target="../media/image38.png"/><Relationship Id="rId6" Type="http://schemas.openxmlformats.org/officeDocument/2006/relationships/image" Target="../media/image94.jpg"/><Relationship Id="rId7" Type="http://schemas.openxmlformats.org/officeDocument/2006/relationships/image" Target="../media/image101.jpg"/><Relationship Id="rId8" Type="http://schemas.openxmlformats.org/officeDocument/2006/relationships/image" Target="../media/image7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102.png"/><Relationship Id="rId4" Type="http://schemas.openxmlformats.org/officeDocument/2006/relationships/image" Target="../media/image80.jpg"/><Relationship Id="rId5" Type="http://schemas.openxmlformats.org/officeDocument/2006/relationships/image" Target="../media/image95.jpg"/><Relationship Id="rId6" Type="http://schemas.openxmlformats.org/officeDocument/2006/relationships/image" Target="../media/image51.jpg"/><Relationship Id="rId7" Type="http://schemas.openxmlformats.org/officeDocument/2006/relationships/image" Target="../media/image101.jpg"/><Relationship Id="rId8" Type="http://schemas.openxmlformats.org/officeDocument/2006/relationships/image" Target="../media/image8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97.png"/><Relationship Id="rId4" Type="http://schemas.openxmlformats.org/officeDocument/2006/relationships/image" Target="../media/image100.png"/><Relationship Id="rId5" Type="http://schemas.openxmlformats.org/officeDocument/2006/relationships/image" Target="../media/image18.png"/><Relationship Id="rId6" Type="http://schemas.openxmlformats.org/officeDocument/2006/relationships/image" Target="../media/image103.png"/><Relationship Id="rId7" Type="http://schemas.openxmlformats.org/officeDocument/2006/relationships/image" Target="../media/image9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p:nvPr/>
        </p:nvSpPr>
        <p:spPr>
          <a:xfrm>
            <a:off x="170617" y="4509880"/>
            <a:ext cx="403134" cy="403134"/>
          </a:xfrm>
          <a:custGeom>
            <a:rect b="b" l="l" r="r" t="t"/>
            <a:pathLst>
              <a:path extrusionOk="0" h="806268" w="806268">
                <a:moveTo>
                  <a:pt x="0" y="0"/>
                </a:moveTo>
                <a:lnTo>
                  <a:pt x="806268" y="0"/>
                </a:lnTo>
                <a:lnTo>
                  <a:pt x="806268" y="806268"/>
                </a:lnTo>
                <a:lnTo>
                  <a:pt x="0" y="806268"/>
                </a:lnTo>
                <a:lnTo>
                  <a:pt x="0" y="0"/>
                </a:lnTo>
                <a:close/>
              </a:path>
            </a:pathLst>
          </a:custGeom>
          <a:blipFill rotWithShape="1">
            <a:blip r:embed="rId3">
              <a:alphaModFix/>
            </a:blip>
            <a:stretch>
              <a:fillRect b="0" l="0" r="0" t="0"/>
            </a:stretch>
          </a:blipFill>
          <a:ln>
            <a:noFill/>
          </a:ln>
        </p:spPr>
      </p:sp>
      <p:sp>
        <p:nvSpPr>
          <p:cNvPr id="132" name="Google Shape;132;p26"/>
          <p:cNvSpPr txBox="1"/>
          <p:nvPr/>
        </p:nvSpPr>
        <p:spPr>
          <a:xfrm>
            <a:off x="647661" y="4543717"/>
            <a:ext cx="2831700" cy="2154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None/>
            </a:pPr>
            <a:r>
              <a:rPr b="0" i="0" lang="id" u="none" cap="none" strike="noStrike">
                <a:solidFill>
                  <a:schemeClr val="dk1"/>
                </a:solidFill>
                <a:latin typeface="Poppins SemiBold"/>
                <a:ea typeface="Poppins SemiBold"/>
                <a:cs typeface="Poppins SemiBold"/>
                <a:sym typeface="Poppins SemiBold"/>
              </a:rPr>
              <a:t>www.</a:t>
            </a:r>
            <a:r>
              <a:rPr lang="id">
                <a:solidFill>
                  <a:schemeClr val="dk1"/>
                </a:solidFill>
                <a:latin typeface="Poppins SemiBold"/>
                <a:ea typeface="Poppins SemiBold"/>
                <a:cs typeface="Poppins SemiBold"/>
                <a:sym typeface="Poppins SemiBold"/>
              </a:rPr>
              <a:t>psikologmustika</a:t>
            </a:r>
            <a:r>
              <a:rPr b="0" i="0" lang="id" u="none" cap="none" strike="noStrike">
                <a:solidFill>
                  <a:schemeClr val="dk1"/>
                </a:solidFill>
                <a:latin typeface="Poppins SemiBold"/>
                <a:ea typeface="Poppins SemiBold"/>
                <a:cs typeface="Poppins SemiBold"/>
                <a:sym typeface="Poppins SemiBold"/>
              </a:rPr>
              <a:t>.com</a:t>
            </a:r>
            <a:endParaRPr/>
          </a:p>
        </p:txBody>
      </p:sp>
      <p:pic>
        <p:nvPicPr>
          <p:cNvPr id="133" name="Google Shape;133;p26"/>
          <p:cNvPicPr preferRelativeResize="0"/>
          <p:nvPr/>
        </p:nvPicPr>
        <p:blipFill rotWithShape="1">
          <a:blip r:embed="rId4">
            <a:alphaModFix/>
          </a:blip>
          <a:srcRect b="0" l="0" r="0" t="0"/>
          <a:stretch/>
        </p:blipFill>
        <p:spPr>
          <a:xfrm>
            <a:off x="563719" y="178105"/>
            <a:ext cx="560414" cy="495008"/>
          </a:xfrm>
          <a:prstGeom prst="rect">
            <a:avLst/>
          </a:prstGeom>
          <a:noFill/>
          <a:ln>
            <a:noFill/>
          </a:ln>
        </p:spPr>
      </p:pic>
      <p:pic>
        <p:nvPicPr>
          <p:cNvPr id="134" name="Google Shape;134;p26"/>
          <p:cNvPicPr preferRelativeResize="0"/>
          <p:nvPr/>
        </p:nvPicPr>
        <p:blipFill rotWithShape="1">
          <a:blip r:embed="rId5">
            <a:alphaModFix/>
          </a:blip>
          <a:srcRect b="0" l="0" r="0" t="0"/>
          <a:stretch/>
        </p:blipFill>
        <p:spPr>
          <a:xfrm>
            <a:off x="573747" y="776801"/>
            <a:ext cx="681164" cy="543862"/>
          </a:xfrm>
          <a:prstGeom prst="rect">
            <a:avLst/>
          </a:prstGeom>
          <a:noFill/>
          <a:ln>
            <a:noFill/>
          </a:ln>
        </p:spPr>
      </p:pic>
      <p:sp>
        <p:nvSpPr>
          <p:cNvPr id="135" name="Google Shape;135;p26"/>
          <p:cNvSpPr txBox="1"/>
          <p:nvPr/>
        </p:nvSpPr>
        <p:spPr>
          <a:xfrm>
            <a:off x="1224459" y="423867"/>
            <a:ext cx="1467300" cy="231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id" sz="1200">
                <a:solidFill>
                  <a:schemeClr val="dk1"/>
                </a:solidFill>
                <a:latin typeface="Poppins SemiBold"/>
                <a:ea typeface="Poppins SemiBold"/>
                <a:cs typeface="Poppins SemiBold"/>
                <a:sym typeface="Poppins SemiBold"/>
              </a:rPr>
              <a:t>27</a:t>
            </a:r>
            <a:r>
              <a:rPr b="0" i="0" lang="id" sz="1200" u="none" cap="none" strike="noStrike">
                <a:solidFill>
                  <a:schemeClr val="dk1"/>
                </a:solidFill>
                <a:latin typeface="Poppins SemiBold"/>
                <a:ea typeface="Poppins SemiBold"/>
                <a:cs typeface="Poppins SemiBold"/>
                <a:sym typeface="Poppins SemiBold"/>
              </a:rPr>
              <a:t> Mitra Sekolah</a:t>
            </a:r>
            <a:endParaRPr sz="1200">
              <a:solidFill>
                <a:schemeClr val="dk1"/>
              </a:solidFill>
              <a:latin typeface="Calibri"/>
              <a:ea typeface="Calibri"/>
              <a:cs typeface="Calibri"/>
              <a:sym typeface="Calibri"/>
            </a:endParaRPr>
          </a:p>
        </p:txBody>
      </p:sp>
      <p:pic>
        <p:nvPicPr>
          <p:cNvPr id="136" name="Google Shape;136;p26"/>
          <p:cNvPicPr preferRelativeResize="0"/>
          <p:nvPr/>
        </p:nvPicPr>
        <p:blipFill>
          <a:blip r:embed="rId6">
            <a:alphaModFix/>
          </a:blip>
          <a:stretch>
            <a:fillRect/>
          </a:stretch>
        </p:blipFill>
        <p:spPr>
          <a:xfrm>
            <a:off x="3805823" y="0"/>
            <a:ext cx="5338175" cy="5143500"/>
          </a:xfrm>
          <a:prstGeom prst="rect">
            <a:avLst/>
          </a:prstGeom>
          <a:noFill/>
          <a:ln>
            <a:noFill/>
          </a:ln>
        </p:spPr>
      </p:pic>
      <p:sp>
        <p:nvSpPr>
          <p:cNvPr id="137" name="Google Shape;137;p26"/>
          <p:cNvSpPr txBox="1"/>
          <p:nvPr/>
        </p:nvSpPr>
        <p:spPr>
          <a:xfrm>
            <a:off x="1194728" y="998577"/>
            <a:ext cx="1467300" cy="231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id" sz="1200">
                <a:solidFill>
                  <a:schemeClr val="dk1"/>
                </a:solidFill>
                <a:latin typeface="Poppins SemiBold"/>
                <a:ea typeface="Poppins SemiBold"/>
                <a:cs typeface="Poppins SemiBold"/>
                <a:sym typeface="Poppins SemiBold"/>
              </a:rPr>
              <a:t>+2,000 klien</a:t>
            </a:r>
            <a:endParaRPr sz="1200">
              <a:solidFill>
                <a:schemeClr val="dk1"/>
              </a:solidFill>
              <a:latin typeface="Calibri"/>
              <a:ea typeface="Calibri"/>
              <a:cs typeface="Calibri"/>
              <a:sym typeface="Calibri"/>
            </a:endParaRPr>
          </a:p>
        </p:txBody>
      </p:sp>
      <p:sp>
        <p:nvSpPr>
          <p:cNvPr id="138" name="Google Shape;138;p26"/>
          <p:cNvSpPr txBox="1"/>
          <p:nvPr/>
        </p:nvSpPr>
        <p:spPr>
          <a:xfrm>
            <a:off x="325700" y="1698275"/>
            <a:ext cx="2919000" cy="16011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None/>
            </a:pPr>
            <a:r>
              <a:rPr lang="id" sz="2000">
                <a:solidFill>
                  <a:schemeClr val="dk1"/>
                </a:solidFill>
                <a:latin typeface="Poppins SemiBold"/>
                <a:ea typeface="Poppins SemiBold"/>
                <a:cs typeface="Poppins SemiBold"/>
                <a:sym typeface="Poppins SemiBold"/>
              </a:rPr>
              <a:t>Membangun Ekosistem Pendidikan Inklusi dan Unggul di Sekolah</a:t>
            </a:r>
            <a:endParaRPr sz="2000"/>
          </a:p>
        </p:txBody>
      </p:sp>
      <p:pic>
        <p:nvPicPr>
          <p:cNvPr id="139" name="Google Shape;139;p26"/>
          <p:cNvPicPr preferRelativeResize="0"/>
          <p:nvPr/>
        </p:nvPicPr>
        <p:blipFill rotWithShape="1">
          <a:blip r:embed="rId7">
            <a:alphaModFix/>
          </a:blip>
          <a:srcRect b="18657" l="16541" r="20020" t="21982"/>
          <a:stretch/>
        </p:blipFill>
        <p:spPr>
          <a:xfrm>
            <a:off x="8037058" y="70757"/>
            <a:ext cx="979211" cy="89846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grpSp>
        <p:nvGrpSpPr>
          <p:cNvPr id="144" name="Google Shape;144;p27"/>
          <p:cNvGrpSpPr/>
          <p:nvPr/>
        </p:nvGrpSpPr>
        <p:grpSpPr>
          <a:xfrm>
            <a:off x="552715" y="1621436"/>
            <a:ext cx="659635" cy="659635"/>
            <a:chOff x="0" y="0"/>
            <a:chExt cx="812800" cy="812800"/>
          </a:xfrm>
        </p:grpSpPr>
        <p:sp>
          <p:nvSpPr>
            <p:cNvPr id="145" name="Google Shape;145;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dk1"/>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46" name="Google Shape;146;p27"/>
            <p:cNvSpPr txBox="1"/>
            <p:nvPr/>
          </p:nvSpPr>
          <p:spPr>
            <a:xfrm>
              <a:off x="76200" y="38100"/>
              <a:ext cx="660400" cy="698500"/>
            </a:xfrm>
            <a:prstGeom prst="rect">
              <a:avLst/>
            </a:prstGeom>
            <a:noFill/>
            <a:ln>
              <a:noFill/>
            </a:ln>
          </p:spPr>
          <p:txBody>
            <a:bodyPr anchorCtr="0" anchor="ctr" bIns="25400" lIns="25400" spcFirstLastPara="1" rIns="25400" wrap="square" tIns="25400">
              <a:noAutofit/>
            </a:bodyPr>
            <a:lstStyle/>
            <a:p>
              <a:pPr indent="0" lvl="0" marL="0" marR="0" rtl="0" algn="ctr">
                <a:lnSpc>
                  <a:spcPct val="166187"/>
                </a:lnSpc>
                <a:spcBef>
                  <a:spcPts val="0"/>
                </a:spcBef>
                <a:spcAft>
                  <a:spcPts val="0"/>
                </a:spcAft>
                <a:buNone/>
              </a:pPr>
              <a:r>
                <a:t/>
              </a:r>
              <a:endParaRPr sz="800">
                <a:solidFill>
                  <a:schemeClr val="dk1"/>
                </a:solidFill>
                <a:latin typeface="Calibri"/>
                <a:ea typeface="Calibri"/>
                <a:cs typeface="Calibri"/>
                <a:sym typeface="Calibri"/>
              </a:endParaRPr>
            </a:p>
          </p:txBody>
        </p:sp>
      </p:grpSp>
      <p:grpSp>
        <p:nvGrpSpPr>
          <p:cNvPr id="147" name="Google Shape;147;p27"/>
          <p:cNvGrpSpPr/>
          <p:nvPr/>
        </p:nvGrpSpPr>
        <p:grpSpPr>
          <a:xfrm>
            <a:off x="3086364" y="2403854"/>
            <a:ext cx="659635" cy="659635"/>
            <a:chOff x="0" y="0"/>
            <a:chExt cx="812800" cy="812800"/>
          </a:xfrm>
        </p:grpSpPr>
        <p:sp>
          <p:nvSpPr>
            <p:cNvPr id="148" name="Google Shape;148;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dk1"/>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49" name="Google Shape;149;p27"/>
            <p:cNvSpPr txBox="1"/>
            <p:nvPr/>
          </p:nvSpPr>
          <p:spPr>
            <a:xfrm>
              <a:off x="76200" y="38100"/>
              <a:ext cx="660400" cy="698500"/>
            </a:xfrm>
            <a:prstGeom prst="rect">
              <a:avLst/>
            </a:prstGeom>
            <a:noFill/>
            <a:ln>
              <a:noFill/>
            </a:ln>
          </p:spPr>
          <p:txBody>
            <a:bodyPr anchorCtr="0" anchor="ctr" bIns="25400" lIns="25400" spcFirstLastPara="1" rIns="25400" wrap="square" tIns="25400">
              <a:noAutofit/>
            </a:bodyPr>
            <a:lstStyle/>
            <a:p>
              <a:pPr indent="0" lvl="0" marL="0" marR="0" rtl="0" algn="ctr">
                <a:lnSpc>
                  <a:spcPct val="166187"/>
                </a:lnSpc>
                <a:spcBef>
                  <a:spcPts val="0"/>
                </a:spcBef>
                <a:spcAft>
                  <a:spcPts val="0"/>
                </a:spcAft>
                <a:buNone/>
              </a:pPr>
              <a:r>
                <a:t/>
              </a:r>
              <a:endParaRPr sz="800">
                <a:solidFill>
                  <a:schemeClr val="dk1"/>
                </a:solidFill>
                <a:latin typeface="Calibri"/>
                <a:ea typeface="Calibri"/>
                <a:cs typeface="Calibri"/>
                <a:sym typeface="Calibri"/>
              </a:endParaRPr>
            </a:p>
          </p:txBody>
        </p:sp>
      </p:grpSp>
      <p:grpSp>
        <p:nvGrpSpPr>
          <p:cNvPr id="150" name="Google Shape;150;p27"/>
          <p:cNvGrpSpPr/>
          <p:nvPr/>
        </p:nvGrpSpPr>
        <p:grpSpPr>
          <a:xfrm>
            <a:off x="552715" y="2403854"/>
            <a:ext cx="659635" cy="659635"/>
            <a:chOff x="0" y="0"/>
            <a:chExt cx="812800" cy="812800"/>
          </a:xfrm>
        </p:grpSpPr>
        <p:sp>
          <p:nvSpPr>
            <p:cNvPr id="151" name="Google Shape;151;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dk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2" name="Google Shape;152;p27"/>
            <p:cNvSpPr txBox="1"/>
            <p:nvPr/>
          </p:nvSpPr>
          <p:spPr>
            <a:xfrm>
              <a:off x="76200" y="38100"/>
              <a:ext cx="660400" cy="698500"/>
            </a:xfrm>
            <a:prstGeom prst="rect">
              <a:avLst/>
            </a:prstGeom>
            <a:noFill/>
            <a:ln>
              <a:noFill/>
            </a:ln>
          </p:spPr>
          <p:txBody>
            <a:bodyPr anchorCtr="0" anchor="ctr" bIns="25400" lIns="25400" spcFirstLastPara="1" rIns="25400" wrap="square" tIns="25400">
              <a:noAutofit/>
            </a:bodyPr>
            <a:lstStyle/>
            <a:p>
              <a:pPr indent="0" lvl="0" marL="0" marR="0" rtl="0" algn="ctr">
                <a:lnSpc>
                  <a:spcPct val="166187"/>
                </a:lnSpc>
                <a:spcBef>
                  <a:spcPts val="0"/>
                </a:spcBef>
                <a:spcAft>
                  <a:spcPts val="0"/>
                </a:spcAft>
                <a:buNone/>
              </a:pPr>
              <a:r>
                <a:t/>
              </a:r>
              <a:endParaRPr sz="800">
                <a:solidFill>
                  <a:schemeClr val="dk1"/>
                </a:solidFill>
                <a:latin typeface="Calibri"/>
                <a:ea typeface="Calibri"/>
                <a:cs typeface="Calibri"/>
                <a:sym typeface="Calibri"/>
              </a:endParaRPr>
            </a:p>
          </p:txBody>
        </p:sp>
      </p:grpSp>
      <p:grpSp>
        <p:nvGrpSpPr>
          <p:cNvPr id="153" name="Google Shape;153;p27"/>
          <p:cNvGrpSpPr/>
          <p:nvPr/>
        </p:nvGrpSpPr>
        <p:grpSpPr>
          <a:xfrm>
            <a:off x="3086364" y="3280011"/>
            <a:ext cx="659635" cy="659635"/>
            <a:chOff x="0" y="0"/>
            <a:chExt cx="812800" cy="812800"/>
          </a:xfrm>
        </p:grpSpPr>
        <p:sp>
          <p:nvSpPr>
            <p:cNvPr id="154" name="Google Shape;154;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dk1"/>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55" name="Google Shape;155;p27"/>
            <p:cNvSpPr txBox="1"/>
            <p:nvPr/>
          </p:nvSpPr>
          <p:spPr>
            <a:xfrm>
              <a:off x="76200" y="38100"/>
              <a:ext cx="660400" cy="698500"/>
            </a:xfrm>
            <a:prstGeom prst="rect">
              <a:avLst/>
            </a:prstGeom>
            <a:noFill/>
            <a:ln>
              <a:noFill/>
            </a:ln>
          </p:spPr>
          <p:txBody>
            <a:bodyPr anchorCtr="0" anchor="ctr" bIns="25400" lIns="25400" spcFirstLastPara="1" rIns="25400" wrap="square" tIns="25400">
              <a:noAutofit/>
            </a:bodyPr>
            <a:lstStyle/>
            <a:p>
              <a:pPr indent="0" lvl="0" marL="0" marR="0" rtl="0" algn="ctr">
                <a:lnSpc>
                  <a:spcPct val="166187"/>
                </a:lnSpc>
                <a:spcBef>
                  <a:spcPts val="0"/>
                </a:spcBef>
                <a:spcAft>
                  <a:spcPts val="0"/>
                </a:spcAft>
                <a:buNone/>
              </a:pPr>
              <a:r>
                <a:t/>
              </a:r>
              <a:endParaRPr sz="800">
                <a:solidFill>
                  <a:schemeClr val="dk1"/>
                </a:solidFill>
                <a:latin typeface="Calibri"/>
                <a:ea typeface="Calibri"/>
                <a:cs typeface="Calibri"/>
                <a:sym typeface="Calibri"/>
              </a:endParaRPr>
            </a:p>
          </p:txBody>
        </p:sp>
      </p:grpSp>
      <p:grpSp>
        <p:nvGrpSpPr>
          <p:cNvPr id="156" name="Google Shape;156;p27"/>
          <p:cNvGrpSpPr/>
          <p:nvPr/>
        </p:nvGrpSpPr>
        <p:grpSpPr>
          <a:xfrm>
            <a:off x="552715" y="3280011"/>
            <a:ext cx="659635" cy="659635"/>
            <a:chOff x="0" y="0"/>
            <a:chExt cx="812800" cy="812800"/>
          </a:xfrm>
        </p:grpSpPr>
        <p:sp>
          <p:nvSpPr>
            <p:cNvPr id="157" name="Google Shape;157;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dk1"/>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58" name="Google Shape;158;p27"/>
            <p:cNvSpPr txBox="1"/>
            <p:nvPr/>
          </p:nvSpPr>
          <p:spPr>
            <a:xfrm>
              <a:off x="76200" y="38100"/>
              <a:ext cx="660400" cy="698500"/>
            </a:xfrm>
            <a:prstGeom prst="rect">
              <a:avLst/>
            </a:prstGeom>
            <a:noFill/>
            <a:ln>
              <a:noFill/>
            </a:ln>
          </p:spPr>
          <p:txBody>
            <a:bodyPr anchorCtr="0" anchor="ctr" bIns="25400" lIns="25400" spcFirstLastPara="1" rIns="25400" wrap="square" tIns="25400">
              <a:noAutofit/>
            </a:bodyPr>
            <a:lstStyle/>
            <a:p>
              <a:pPr indent="0" lvl="0" marL="0" marR="0" rtl="0" algn="ctr">
                <a:lnSpc>
                  <a:spcPct val="166187"/>
                </a:lnSpc>
                <a:spcBef>
                  <a:spcPts val="0"/>
                </a:spcBef>
                <a:spcAft>
                  <a:spcPts val="0"/>
                </a:spcAft>
                <a:buNone/>
              </a:pPr>
              <a:r>
                <a:t/>
              </a:r>
              <a:endParaRPr sz="800">
                <a:solidFill>
                  <a:schemeClr val="dk1"/>
                </a:solidFill>
                <a:latin typeface="Calibri"/>
                <a:ea typeface="Calibri"/>
                <a:cs typeface="Calibri"/>
                <a:sym typeface="Calibri"/>
              </a:endParaRPr>
            </a:p>
          </p:txBody>
        </p:sp>
      </p:grpSp>
      <p:grpSp>
        <p:nvGrpSpPr>
          <p:cNvPr id="159" name="Google Shape;159;p27"/>
          <p:cNvGrpSpPr/>
          <p:nvPr/>
        </p:nvGrpSpPr>
        <p:grpSpPr>
          <a:xfrm>
            <a:off x="3086364" y="1621436"/>
            <a:ext cx="659635" cy="659635"/>
            <a:chOff x="0" y="0"/>
            <a:chExt cx="812800" cy="812800"/>
          </a:xfrm>
        </p:grpSpPr>
        <p:sp>
          <p:nvSpPr>
            <p:cNvPr id="160" name="Google Shape;160;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dk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1" name="Google Shape;161;p27"/>
            <p:cNvSpPr txBox="1"/>
            <p:nvPr/>
          </p:nvSpPr>
          <p:spPr>
            <a:xfrm>
              <a:off x="76200" y="38100"/>
              <a:ext cx="660400" cy="698500"/>
            </a:xfrm>
            <a:prstGeom prst="rect">
              <a:avLst/>
            </a:prstGeom>
            <a:noFill/>
            <a:ln>
              <a:noFill/>
            </a:ln>
          </p:spPr>
          <p:txBody>
            <a:bodyPr anchorCtr="0" anchor="ctr" bIns="25400" lIns="25400" spcFirstLastPara="1" rIns="25400" wrap="square" tIns="25400">
              <a:noAutofit/>
            </a:bodyPr>
            <a:lstStyle/>
            <a:p>
              <a:pPr indent="0" lvl="0" marL="0" marR="0" rtl="0" algn="ctr">
                <a:lnSpc>
                  <a:spcPct val="166187"/>
                </a:lnSpc>
                <a:spcBef>
                  <a:spcPts val="0"/>
                </a:spcBef>
                <a:spcAft>
                  <a:spcPts val="0"/>
                </a:spcAft>
                <a:buNone/>
              </a:pPr>
              <a:r>
                <a:t/>
              </a:r>
              <a:endParaRPr sz="800">
                <a:solidFill>
                  <a:schemeClr val="dk1"/>
                </a:solidFill>
                <a:latin typeface="Calibri"/>
                <a:ea typeface="Calibri"/>
                <a:cs typeface="Calibri"/>
                <a:sym typeface="Calibri"/>
              </a:endParaRPr>
            </a:p>
          </p:txBody>
        </p:sp>
      </p:grpSp>
      <p:sp>
        <p:nvSpPr>
          <p:cNvPr id="162" name="Google Shape;162;p27"/>
          <p:cNvSpPr/>
          <p:nvPr/>
        </p:nvSpPr>
        <p:spPr>
          <a:xfrm>
            <a:off x="677493" y="1775432"/>
            <a:ext cx="410078" cy="351642"/>
          </a:xfrm>
          <a:custGeom>
            <a:rect b="b" l="l" r="r" t="t"/>
            <a:pathLst>
              <a:path extrusionOk="0" h="703284" w="820156">
                <a:moveTo>
                  <a:pt x="0" y="0"/>
                </a:moveTo>
                <a:lnTo>
                  <a:pt x="820156" y="0"/>
                </a:lnTo>
                <a:lnTo>
                  <a:pt x="820156" y="703285"/>
                </a:lnTo>
                <a:lnTo>
                  <a:pt x="0" y="703285"/>
                </a:lnTo>
                <a:lnTo>
                  <a:pt x="0" y="0"/>
                </a:lnTo>
                <a:close/>
              </a:path>
            </a:pathLst>
          </a:custGeom>
          <a:blipFill rotWithShape="1">
            <a:blip r:embed="rId3">
              <a:alphaModFix/>
            </a:blip>
            <a:stretch>
              <a:fillRect b="0" l="0" r="0" t="0"/>
            </a:stretch>
          </a:blipFill>
          <a:ln>
            <a:noFill/>
          </a:ln>
        </p:spPr>
      </p:sp>
      <p:sp>
        <p:nvSpPr>
          <p:cNvPr id="163" name="Google Shape;163;p27"/>
          <p:cNvSpPr/>
          <p:nvPr/>
        </p:nvSpPr>
        <p:spPr>
          <a:xfrm>
            <a:off x="685957" y="2552189"/>
            <a:ext cx="393149" cy="391183"/>
          </a:xfrm>
          <a:custGeom>
            <a:rect b="b" l="l" r="r" t="t"/>
            <a:pathLst>
              <a:path extrusionOk="0" h="782366" w="786298">
                <a:moveTo>
                  <a:pt x="0" y="0"/>
                </a:moveTo>
                <a:lnTo>
                  <a:pt x="786298" y="0"/>
                </a:lnTo>
                <a:lnTo>
                  <a:pt x="786298" y="782366"/>
                </a:lnTo>
                <a:lnTo>
                  <a:pt x="0" y="782366"/>
                </a:lnTo>
                <a:lnTo>
                  <a:pt x="0" y="0"/>
                </a:lnTo>
                <a:close/>
              </a:path>
            </a:pathLst>
          </a:custGeom>
          <a:blipFill rotWithShape="1">
            <a:blip r:embed="rId4">
              <a:alphaModFix/>
            </a:blip>
            <a:stretch>
              <a:fillRect b="0" l="0" r="0" t="0"/>
            </a:stretch>
          </a:blipFill>
          <a:ln>
            <a:noFill/>
          </a:ln>
        </p:spPr>
      </p:sp>
      <p:sp>
        <p:nvSpPr>
          <p:cNvPr id="164" name="Google Shape;164;p27"/>
          <p:cNvSpPr/>
          <p:nvPr/>
        </p:nvSpPr>
        <p:spPr>
          <a:xfrm flipH="1">
            <a:off x="699301" y="3439762"/>
            <a:ext cx="367801" cy="361364"/>
          </a:xfrm>
          <a:custGeom>
            <a:rect b="b" l="l" r="r" t="t"/>
            <a:pathLst>
              <a:path extrusionOk="0" h="722728" w="735601">
                <a:moveTo>
                  <a:pt x="735601" y="0"/>
                </a:moveTo>
                <a:lnTo>
                  <a:pt x="0" y="0"/>
                </a:lnTo>
                <a:lnTo>
                  <a:pt x="0" y="722728"/>
                </a:lnTo>
                <a:lnTo>
                  <a:pt x="735601" y="722728"/>
                </a:lnTo>
                <a:lnTo>
                  <a:pt x="735601" y="0"/>
                </a:lnTo>
                <a:close/>
              </a:path>
            </a:pathLst>
          </a:custGeom>
          <a:blipFill rotWithShape="1">
            <a:blip r:embed="rId5">
              <a:alphaModFix/>
            </a:blip>
            <a:stretch>
              <a:fillRect b="0" l="0" r="0" t="0"/>
            </a:stretch>
          </a:blip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65" name="Google Shape;165;p27"/>
          <p:cNvSpPr/>
          <p:nvPr/>
        </p:nvSpPr>
        <p:spPr>
          <a:xfrm>
            <a:off x="3250685" y="1742012"/>
            <a:ext cx="330993" cy="352590"/>
          </a:xfrm>
          <a:custGeom>
            <a:rect b="b" l="l" r="r" t="t"/>
            <a:pathLst>
              <a:path extrusionOk="0" h="705180" w="661987">
                <a:moveTo>
                  <a:pt x="0" y="0"/>
                </a:moveTo>
                <a:lnTo>
                  <a:pt x="661987" y="0"/>
                </a:lnTo>
                <a:lnTo>
                  <a:pt x="661987" y="705180"/>
                </a:lnTo>
                <a:lnTo>
                  <a:pt x="0" y="705180"/>
                </a:lnTo>
                <a:lnTo>
                  <a:pt x="0" y="0"/>
                </a:lnTo>
                <a:close/>
              </a:path>
            </a:pathLst>
          </a:custGeom>
          <a:blipFill rotWithShape="1">
            <a:blip r:embed="rId6">
              <a:alphaModFix/>
            </a:blip>
            <a:stretch>
              <a:fillRect b="0" l="0" r="0" t="0"/>
            </a:stretch>
          </a:blip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66" name="Google Shape;166;p27"/>
          <p:cNvSpPr/>
          <p:nvPr/>
        </p:nvSpPr>
        <p:spPr>
          <a:xfrm>
            <a:off x="3233385" y="2554988"/>
            <a:ext cx="365592" cy="357367"/>
          </a:xfrm>
          <a:custGeom>
            <a:rect b="b" l="l" r="r" t="t"/>
            <a:pathLst>
              <a:path extrusionOk="0" h="714734" w="731185">
                <a:moveTo>
                  <a:pt x="0" y="0"/>
                </a:moveTo>
                <a:lnTo>
                  <a:pt x="731185" y="0"/>
                </a:lnTo>
                <a:lnTo>
                  <a:pt x="731185" y="714733"/>
                </a:lnTo>
                <a:lnTo>
                  <a:pt x="0" y="714733"/>
                </a:lnTo>
                <a:lnTo>
                  <a:pt x="0" y="0"/>
                </a:lnTo>
                <a:close/>
              </a:path>
            </a:pathLst>
          </a:custGeom>
          <a:blipFill rotWithShape="1">
            <a:blip r:embed="rId7">
              <a:alphaModFix/>
            </a:blip>
            <a:stretch>
              <a:fillRect b="0" l="0" r="0" t="0"/>
            </a:stretch>
          </a:blip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67" name="Google Shape;167;p27"/>
          <p:cNvSpPr/>
          <p:nvPr/>
        </p:nvSpPr>
        <p:spPr>
          <a:xfrm>
            <a:off x="3209778" y="3426821"/>
            <a:ext cx="412807" cy="394231"/>
          </a:xfrm>
          <a:custGeom>
            <a:rect b="b" l="l" r="r" t="t"/>
            <a:pathLst>
              <a:path extrusionOk="0" h="788462" w="825615">
                <a:moveTo>
                  <a:pt x="0" y="0"/>
                </a:moveTo>
                <a:lnTo>
                  <a:pt x="825615" y="0"/>
                </a:lnTo>
                <a:lnTo>
                  <a:pt x="825615" y="788462"/>
                </a:lnTo>
                <a:lnTo>
                  <a:pt x="0" y="788462"/>
                </a:lnTo>
                <a:lnTo>
                  <a:pt x="0" y="0"/>
                </a:lnTo>
                <a:close/>
              </a:path>
            </a:pathLst>
          </a:custGeom>
          <a:blipFill rotWithShape="1">
            <a:blip r:embed="rId8">
              <a:alphaModFix/>
            </a:blip>
            <a:stretch>
              <a:fillRect b="0" l="0" r="0" t="0"/>
            </a:stretch>
          </a:blip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68" name="Google Shape;168;p27"/>
          <p:cNvSpPr/>
          <p:nvPr/>
        </p:nvSpPr>
        <p:spPr>
          <a:xfrm flipH="1">
            <a:off x="0" y="0"/>
            <a:ext cx="7239307" cy="633440"/>
          </a:xfrm>
          <a:custGeom>
            <a:rect b="b" l="l" r="r" t="t"/>
            <a:pathLst>
              <a:path extrusionOk="0" h="1266879" w="14478614">
                <a:moveTo>
                  <a:pt x="14478614" y="0"/>
                </a:moveTo>
                <a:lnTo>
                  <a:pt x="0" y="0"/>
                </a:lnTo>
                <a:lnTo>
                  <a:pt x="0" y="1266879"/>
                </a:lnTo>
                <a:lnTo>
                  <a:pt x="14478614" y="1266879"/>
                </a:lnTo>
                <a:lnTo>
                  <a:pt x="14478614" y="0"/>
                </a:lnTo>
                <a:close/>
              </a:path>
            </a:pathLst>
          </a:custGeom>
          <a:solidFill>
            <a:schemeClr val="lt1"/>
          </a:solidFill>
          <a:ln>
            <a:noFill/>
          </a:ln>
        </p:spPr>
      </p:sp>
      <p:sp>
        <p:nvSpPr>
          <p:cNvPr id="169" name="Google Shape;169;p27"/>
          <p:cNvSpPr txBox="1"/>
          <p:nvPr/>
        </p:nvSpPr>
        <p:spPr>
          <a:xfrm>
            <a:off x="514350" y="491721"/>
            <a:ext cx="4057650" cy="535980"/>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id" sz="3100">
                <a:solidFill>
                  <a:schemeClr val="dk1"/>
                </a:solidFill>
                <a:latin typeface="Poppins"/>
                <a:ea typeface="Poppins"/>
                <a:cs typeface="Poppins"/>
                <a:sym typeface="Poppins"/>
              </a:rPr>
              <a:t>DAFTAR ISI</a:t>
            </a:r>
            <a:endParaRPr sz="700"/>
          </a:p>
        </p:txBody>
      </p:sp>
      <p:sp>
        <p:nvSpPr>
          <p:cNvPr id="170" name="Google Shape;170;p27"/>
          <p:cNvSpPr txBox="1"/>
          <p:nvPr/>
        </p:nvSpPr>
        <p:spPr>
          <a:xfrm>
            <a:off x="1316703" y="1739822"/>
            <a:ext cx="2376977" cy="293093"/>
          </a:xfrm>
          <a:prstGeom prst="rect">
            <a:avLst/>
          </a:prstGeom>
          <a:noFill/>
          <a:ln>
            <a:noFill/>
          </a:ln>
        </p:spPr>
        <p:txBody>
          <a:bodyPr anchorCtr="0" anchor="t" bIns="0" lIns="0" spcFirstLastPara="1" rIns="0" wrap="square" tIns="0">
            <a:spAutoFit/>
          </a:bodyPr>
          <a:lstStyle/>
          <a:p>
            <a:pPr indent="0" lvl="0" marL="0" marR="0" rtl="0" algn="l">
              <a:lnSpc>
                <a:spcPct val="152312"/>
              </a:lnSpc>
              <a:spcBef>
                <a:spcPts val="0"/>
              </a:spcBef>
              <a:spcAft>
                <a:spcPts val="0"/>
              </a:spcAft>
              <a:buNone/>
            </a:pPr>
            <a:r>
              <a:rPr b="1" lang="id" sz="1600">
                <a:solidFill>
                  <a:schemeClr val="dk1"/>
                </a:solidFill>
                <a:latin typeface="Poppins"/>
                <a:ea typeface="Poppins"/>
                <a:cs typeface="Poppins"/>
                <a:sym typeface="Poppins"/>
              </a:rPr>
              <a:t>Intro</a:t>
            </a:r>
            <a:endParaRPr sz="700"/>
          </a:p>
        </p:txBody>
      </p:sp>
      <p:sp>
        <p:nvSpPr>
          <p:cNvPr id="171" name="Google Shape;171;p27"/>
          <p:cNvSpPr txBox="1"/>
          <p:nvPr/>
        </p:nvSpPr>
        <p:spPr>
          <a:xfrm>
            <a:off x="3792357" y="1739822"/>
            <a:ext cx="2376977" cy="298158"/>
          </a:xfrm>
          <a:prstGeom prst="rect">
            <a:avLst/>
          </a:prstGeom>
          <a:noFill/>
          <a:ln>
            <a:noFill/>
          </a:ln>
        </p:spPr>
        <p:txBody>
          <a:bodyPr anchorCtr="0" anchor="t" bIns="0" lIns="0" spcFirstLastPara="1" rIns="0" wrap="square" tIns="0">
            <a:spAutoFit/>
          </a:bodyPr>
          <a:lstStyle/>
          <a:p>
            <a:pPr indent="0" lvl="0" marL="0" marR="0" rtl="0" algn="l">
              <a:lnSpc>
                <a:spcPct val="152312"/>
              </a:lnSpc>
              <a:spcBef>
                <a:spcPts val="0"/>
              </a:spcBef>
              <a:spcAft>
                <a:spcPts val="0"/>
              </a:spcAft>
              <a:buNone/>
            </a:pPr>
            <a:r>
              <a:rPr b="1" lang="id" sz="1600">
                <a:solidFill>
                  <a:schemeClr val="dk1"/>
                </a:solidFill>
                <a:latin typeface="Poppins"/>
                <a:ea typeface="Poppins"/>
                <a:cs typeface="Poppins"/>
                <a:sym typeface="Poppins"/>
              </a:rPr>
              <a:t>Manfaat</a:t>
            </a:r>
            <a:endParaRPr b="1" sz="1600">
              <a:solidFill>
                <a:schemeClr val="dk1"/>
              </a:solidFill>
              <a:latin typeface="Poppins"/>
              <a:ea typeface="Poppins"/>
              <a:cs typeface="Poppins"/>
              <a:sym typeface="Poppins"/>
            </a:endParaRPr>
          </a:p>
        </p:txBody>
      </p:sp>
      <p:sp>
        <p:nvSpPr>
          <p:cNvPr id="172" name="Google Shape;172;p27"/>
          <p:cNvSpPr txBox="1"/>
          <p:nvPr/>
        </p:nvSpPr>
        <p:spPr>
          <a:xfrm>
            <a:off x="1289018" y="2569296"/>
            <a:ext cx="2579368" cy="293093"/>
          </a:xfrm>
          <a:prstGeom prst="rect">
            <a:avLst/>
          </a:prstGeom>
          <a:noFill/>
          <a:ln>
            <a:noFill/>
          </a:ln>
        </p:spPr>
        <p:txBody>
          <a:bodyPr anchorCtr="0" anchor="t" bIns="0" lIns="0" spcFirstLastPara="1" rIns="0" wrap="square" tIns="0">
            <a:spAutoFit/>
          </a:bodyPr>
          <a:lstStyle/>
          <a:p>
            <a:pPr indent="0" lvl="0" marL="0" marR="0" rtl="0" algn="l">
              <a:lnSpc>
                <a:spcPct val="152312"/>
              </a:lnSpc>
              <a:spcBef>
                <a:spcPts val="0"/>
              </a:spcBef>
              <a:spcAft>
                <a:spcPts val="0"/>
              </a:spcAft>
              <a:buNone/>
            </a:pPr>
            <a:r>
              <a:rPr b="1" lang="id" sz="1600">
                <a:solidFill>
                  <a:schemeClr val="dk1"/>
                </a:solidFill>
                <a:latin typeface="Poppins"/>
                <a:ea typeface="Poppins"/>
                <a:cs typeface="Poppins"/>
                <a:sym typeface="Poppins"/>
              </a:rPr>
              <a:t>Visi Kami</a:t>
            </a:r>
            <a:endParaRPr sz="700"/>
          </a:p>
        </p:txBody>
      </p:sp>
      <p:sp>
        <p:nvSpPr>
          <p:cNvPr id="173" name="Google Shape;173;p27"/>
          <p:cNvSpPr txBox="1"/>
          <p:nvPr/>
        </p:nvSpPr>
        <p:spPr>
          <a:xfrm>
            <a:off x="3844841" y="2569296"/>
            <a:ext cx="2060659" cy="293093"/>
          </a:xfrm>
          <a:prstGeom prst="rect">
            <a:avLst/>
          </a:prstGeom>
          <a:noFill/>
          <a:ln>
            <a:noFill/>
          </a:ln>
        </p:spPr>
        <p:txBody>
          <a:bodyPr anchorCtr="0" anchor="t" bIns="0" lIns="0" spcFirstLastPara="1" rIns="0" wrap="square" tIns="0">
            <a:spAutoFit/>
          </a:bodyPr>
          <a:lstStyle/>
          <a:p>
            <a:pPr indent="0" lvl="0" marL="0" marR="0" rtl="0" algn="l">
              <a:lnSpc>
                <a:spcPct val="152312"/>
              </a:lnSpc>
              <a:spcBef>
                <a:spcPts val="0"/>
              </a:spcBef>
              <a:spcAft>
                <a:spcPts val="0"/>
              </a:spcAft>
              <a:buNone/>
            </a:pPr>
            <a:r>
              <a:rPr b="1" lang="id" sz="1600">
                <a:solidFill>
                  <a:schemeClr val="dk1"/>
                </a:solidFill>
                <a:latin typeface="Poppins"/>
                <a:ea typeface="Poppins"/>
                <a:cs typeface="Poppins"/>
                <a:sym typeface="Poppins"/>
              </a:rPr>
              <a:t>Riview Klien Kami</a:t>
            </a:r>
            <a:endParaRPr sz="700"/>
          </a:p>
        </p:txBody>
      </p:sp>
      <p:sp>
        <p:nvSpPr>
          <p:cNvPr id="174" name="Google Shape;174;p27"/>
          <p:cNvSpPr txBox="1"/>
          <p:nvPr/>
        </p:nvSpPr>
        <p:spPr>
          <a:xfrm>
            <a:off x="1282944" y="3445453"/>
            <a:ext cx="2376977" cy="293093"/>
          </a:xfrm>
          <a:prstGeom prst="rect">
            <a:avLst/>
          </a:prstGeom>
          <a:noFill/>
          <a:ln>
            <a:noFill/>
          </a:ln>
        </p:spPr>
        <p:txBody>
          <a:bodyPr anchorCtr="0" anchor="t" bIns="0" lIns="0" spcFirstLastPara="1" rIns="0" wrap="square" tIns="0">
            <a:spAutoFit/>
          </a:bodyPr>
          <a:lstStyle/>
          <a:p>
            <a:pPr indent="0" lvl="0" marL="0" marR="0" rtl="0" algn="l">
              <a:lnSpc>
                <a:spcPct val="152312"/>
              </a:lnSpc>
              <a:spcBef>
                <a:spcPts val="0"/>
              </a:spcBef>
              <a:spcAft>
                <a:spcPts val="0"/>
              </a:spcAft>
              <a:buNone/>
            </a:pPr>
            <a:r>
              <a:rPr b="1" lang="id" sz="1600">
                <a:solidFill>
                  <a:schemeClr val="dk1"/>
                </a:solidFill>
                <a:latin typeface="Poppins"/>
                <a:ea typeface="Poppins"/>
                <a:cs typeface="Poppins"/>
                <a:sym typeface="Poppins"/>
              </a:rPr>
              <a:t>Layanan Kami</a:t>
            </a:r>
            <a:endParaRPr sz="700"/>
          </a:p>
        </p:txBody>
      </p:sp>
      <p:sp>
        <p:nvSpPr>
          <p:cNvPr id="175" name="Google Shape;175;p27"/>
          <p:cNvSpPr txBox="1"/>
          <p:nvPr/>
        </p:nvSpPr>
        <p:spPr>
          <a:xfrm>
            <a:off x="3806477" y="3431344"/>
            <a:ext cx="2376977" cy="293093"/>
          </a:xfrm>
          <a:prstGeom prst="rect">
            <a:avLst/>
          </a:prstGeom>
          <a:noFill/>
          <a:ln>
            <a:noFill/>
          </a:ln>
        </p:spPr>
        <p:txBody>
          <a:bodyPr anchorCtr="0" anchor="t" bIns="0" lIns="0" spcFirstLastPara="1" rIns="0" wrap="square" tIns="0">
            <a:spAutoFit/>
          </a:bodyPr>
          <a:lstStyle/>
          <a:p>
            <a:pPr indent="0" lvl="0" marL="0" marR="0" rtl="0" algn="l">
              <a:lnSpc>
                <a:spcPct val="152312"/>
              </a:lnSpc>
              <a:spcBef>
                <a:spcPts val="0"/>
              </a:spcBef>
              <a:spcAft>
                <a:spcPts val="0"/>
              </a:spcAft>
              <a:buNone/>
            </a:pPr>
            <a:r>
              <a:rPr b="1" lang="id" sz="1600">
                <a:solidFill>
                  <a:schemeClr val="dk1"/>
                </a:solidFill>
                <a:latin typeface="Poppins"/>
                <a:ea typeface="Poppins"/>
                <a:cs typeface="Poppins"/>
                <a:sym typeface="Poppins"/>
              </a:rPr>
              <a:t>Kontak Kami</a:t>
            </a:r>
            <a:endParaRPr sz="700"/>
          </a:p>
        </p:txBody>
      </p:sp>
      <p:pic>
        <p:nvPicPr>
          <p:cNvPr id="176" name="Google Shape;176;p27"/>
          <p:cNvPicPr preferRelativeResize="0"/>
          <p:nvPr/>
        </p:nvPicPr>
        <p:blipFill rotWithShape="1">
          <a:blip r:embed="rId9">
            <a:alphaModFix/>
          </a:blip>
          <a:srcRect b="6199" l="0" r="0" t="30349"/>
          <a:stretch/>
        </p:blipFill>
        <p:spPr>
          <a:xfrm>
            <a:off x="6004325" y="633450"/>
            <a:ext cx="2946150" cy="28027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p:nvPr/>
        </p:nvSpPr>
        <p:spPr>
          <a:xfrm>
            <a:off x="3918741" y="2615854"/>
            <a:ext cx="3176132" cy="619346"/>
          </a:xfrm>
          <a:custGeom>
            <a:rect b="b" l="l" r="r" t="t"/>
            <a:pathLst>
              <a:path extrusionOk="0" h="1238691" w="6352264">
                <a:moveTo>
                  <a:pt x="0" y="0"/>
                </a:moveTo>
                <a:lnTo>
                  <a:pt x="6352264" y="0"/>
                </a:lnTo>
                <a:lnTo>
                  <a:pt x="6352264" y="1238691"/>
                </a:lnTo>
                <a:lnTo>
                  <a:pt x="0" y="1238691"/>
                </a:lnTo>
                <a:lnTo>
                  <a:pt x="0" y="0"/>
                </a:lnTo>
                <a:close/>
              </a:path>
            </a:pathLst>
          </a:custGeom>
          <a:blipFill rotWithShape="1">
            <a:blip r:embed="rId3">
              <a:alphaModFix/>
            </a:blip>
            <a:stretch>
              <a:fillRect b="0" l="0" r="0" t="0"/>
            </a:stretch>
          </a:blipFill>
          <a:ln>
            <a:noFill/>
          </a:ln>
        </p:spPr>
      </p:sp>
      <p:sp>
        <p:nvSpPr>
          <p:cNvPr id="182" name="Google Shape;182;p28"/>
          <p:cNvSpPr/>
          <p:nvPr/>
        </p:nvSpPr>
        <p:spPr>
          <a:xfrm flipH="1">
            <a:off x="2049127" y="2615854"/>
            <a:ext cx="3176132" cy="619346"/>
          </a:xfrm>
          <a:custGeom>
            <a:rect b="b" l="l" r="r" t="t"/>
            <a:pathLst>
              <a:path extrusionOk="0" h="1238691" w="6352264">
                <a:moveTo>
                  <a:pt x="6352264" y="0"/>
                </a:moveTo>
                <a:lnTo>
                  <a:pt x="0" y="0"/>
                </a:lnTo>
                <a:lnTo>
                  <a:pt x="0" y="1238691"/>
                </a:lnTo>
                <a:lnTo>
                  <a:pt x="6352264" y="1238691"/>
                </a:lnTo>
                <a:lnTo>
                  <a:pt x="6352264" y="0"/>
                </a:lnTo>
                <a:close/>
              </a:path>
            </a:pathLst>
          </a:custGeom>
          <a:blipFill rotWithShape="1">
            <a:blip r:embed="rId3">
              <a:alphaModFix/>
            </a:blip>
            <a:stretch>
              <a:fillRect b="0" l="0" r="0" t="0"/>
            </a:stretch>
          </a:blipFill>
          <a:ln>
            <a:noFill/>
          </a:ln>
        </p:spPr>
      </p:sp>
      <p:sp>
        <p:nvSpPr>
          <p:cNvPr id="183" name="Google Shape;183;p28"/>
          <p:cNvSpPr txBox="1"/>
          <p:nvPr/>
        </p:nvSpPr>
        <p:spPr>
          <a:xfrm>
            <a:off x="2731824" y="2581774"/>
            <a:ext cx="3680354" cy="54768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id" sz="3000">
                <a:solidFill>
                  <a:srgbClr val="002646"/>
                </a:solidFill>
                <a:latin typeface="Poppins"/>
                <a:ea typeface="Poppins"/>
                <a:cs typeface="Poppins"/>
                <a:sym typeface="Poppins"/>
              </a:rPr>
              <a:t>Perkenalan</a:t>
            </a:r>
            <a:endParaRPr sz="700"/>
          </a:p>
        </p:txBody>
      </p:sp>
      <p:sp>
        <p:nvSpPr>
          <p:cNvPr id="184" name="Google Shape;184;p28"/>
          <p:cNvSpPr txBox="1"/>
          <p:nvPr/>
        </p:nvSpPr>
        <p:spPr>
          <a:xfrm>
            <a:off x="2919088" y="1535364"/>
            <a:ext cx="3305823" cy="56419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id" sz="1600">
                <a:solidFill>
                  <a:srgbClr val="000000"/>
                </a:solidFill>
                <a:latin typeface="Poppins SemiBold"/>
                <a:ea typeface="Poppins SemiBold"/>
                <a:cs typeface="Poppins SemiBold"/>
                <a:sym typeface="Poppins SemiBold"/>
              </a:rPr>
              <a:t>PT MUSTIKA PSYCHOLOGY CONSULTING</a:t>
            </a:r>
            <a:endParaRPr sz="700"/>
          </a:p>
        </p:txBody>
      </p:sp>
      <p:sp>
        <p:nvSpPr>
          <p:cNvPr id="185" name="Google Shape;185;p28"/>
          <p:cNvSpPr txBox="1"/>
          <p:nvPr/>
        </p:nvSpPr>
        <p:spPr>
          <a:xfrm>
            <a:off x="3140821" y="2126522"/>
            <a:ext cx="2862357" cy="255969"/>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id" sz="1400">
                <a:solidFill>
                  <a:srgbClr val="000000"/>
                </a:solidFill>
                <a:latin typeface="Poppins"/>
                <a:ea typeface="Poppins"/>
                <a:cs typeface="Poppins"/>
                <a:sym typeface="Poppins"/>
              </a:rPr>
              <a:t>BIRO PSIKOLOGI</a:t>
            </a:r>
            <a:endParaRPr sz="700"/>
          </a:p>
        </p:txBody>
      </p:sp>
      <p:sp>
        <p:nvSpPr>
          <p:cNvPr id="186" name="Google Shape;186;p28"/>
          <p:cNvSpPr txBox="1"/>
          <p:nvPr/>
        </p:nvSpPr>
        <p:spPr>
          <a:xfrm>
            <a:off x="1052153" y="3446973"/>
            <a:ext cx="7039800" cy="9804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lang="id" sz="1300">
                <a:solidFill>
                  <a:srgbClr val="000000"/>
                </a:solidFill>
                <a:latin typeface="Poppins"/>
                <a:ea typeface="Poppins"/>
                <a:cs typeface="Poppins"/>
                <a:sym typeface="Poppins"/>
              </a:rPr>
              <a:t>Biro Mustika Psychology Consulting penyedia layanan psikologi yang fokus pada p</a:t>
            </a:r>
            <a:r>
              <a:rPr lang="id" sz="1300">
                <a:latin typeface="Poppins"/>
                <a:ea typeface="Poppins"/>
                <a:cs typeface="Poppins"/>
                <a:sym typeface="Poppins"/>
              </a:rPr>
              <a:t>engembangan ekosistem inklusi di Sekolah</a:t>
            </a:r>
            <a:r>
              <a:rPr lang="id" sz="1300">
                <a:solidFill>
                  <a:srgbClr val="000000"/>
                </a:solidFill>
                <a:latin typeface="Poppins"/>
                <a:ea typeface="Poppins"/>
                <a:cs typeface="Poppins"/>
                <a:sym typeface="Poppins"/>
              </a:rPr>
              <a:t>. Kami memiliki tim psikolog berlisensi yang berpengalaman dalam memberikan layanan psikotes,</a:t>
            </a:r>
            <a:r>
              <a:rPr lang="id" sz="1300">
                <a:latin typeface="Poppins"/>
                <a:ea typeface="Poppins"/>
                <a:cs typeface="Poppins"/>
                <a:sym typeface="Poppins"/>
              </a:rPr>
              <a:t> konseling, pembuatan kurikulum individual hingga pemetaan siswa serta guru</a:t>
            </a:r>
            <a:endParaRPr sz="700"/>
          </a:p>
        </p:txBody>
      </p:sp>
      <p:pic>
        <p:nvPicPr>
          <p:cNvPr id="187" name="Google Shape;187;p28"/>
          <p:cNvPicPr preferRelativeResize="0"/>
          <p:nvPr/>
        </p:nvPicPr>
        <p:blipFill rotWithShape="1">
          <a:blip r:embed="rId4">
            <a:alphaModFix/>
          </a:blip>
          <a:srcRect b="18657" l="16541" r="20020" t="21982"/>
          <a:stretch/>
        </p:blipFill>
        <p:spPr>
          <a:xfrm>
            <a:off x="4082395" y="285750"/>
            <a:ext cx="979211" cy="89846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9"/>
          <p:cNvSpPr/>
          <p:nvPr/>
        </p:nvSpPr>
        <p:spPr>
          <a:xfrm>
            <a:off x="652344" y="616391"/>
            <a:ext cx="3748456" cy="845076"/>
          </a:xfrm>
          <a:custGeom>
            <a:rect b="b" l="l" r="r" t="t"/>
            <a:pathLst>
              <a:path extrusionOk="0" h="1690152" w="6693671">
                <a:moveTo>
                  <a:pt x="0" y="0"/>
                </a:moveTo>
                <a:lnTo>
                  <a:pt x="6693672" y="0"/>
                </a:lnTo>
                <a:lnTo>
                  <a:pt x="6693672" y="1690152"/>
                </a:lnTo>
                <a:lnTo>
                  <a:pt x="0" y="1690152"/>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93" name="Google Shape;193;p29"/>
          <p:cNvSpPr/>
          <p:nvPr/>
        </p:nvSpPr>
        <p:spPr>
          <a:xfrm>
            <a:off x="657783" y="1523662"/>
            <a:ext cx="3346836" cy="845076"/>
          </a:xfrm>
          <a:custGeom>
            <a:rect b="b" l="l" r="r" t="t"/>
            <a:pathLst>
              <a:path extrusionOk="0" h="1690152" w="6693671">
                <a:moveTo>
                  <a:pt x="0" y="0"/>
                </a:moveTo>
                <a:lnTo>
                  <a:pt x="6693672" y="0"/>
                </a:lnTo>
                <a:lnTo>
                  <a:pt x="6693672" y="1690152"/>
                </a:lnTo>
                <a:lnTo>
                  <a:pt x="0" y="1690152"/>
                </a:lnTo>
                <a:lnTo>
                  <a:pt x="0" y="0"/>
                </a:lnTo>
                <a:close/>
              </a:path>
            </a:pathLst>
          </a:custGeom>
          <a:blipFill rotWithShape="1">
            <a:blip r:embed="rId3">
              <a:alphaModFix/>
            </a:blip>
            <a:stretch>
              <a:fillRect b="0" l="0" r="0" t="0"/>
            </a:stretch>
          </a:blipFill>
          <a:ln>
            <a:noFill/>
          </a:ln>
        </p:spPr>
      </p:sp>
      <p:sp>
        <p:nvSpPr>
          <p:cNvPr id="194" name="Google Shape;194;p29"/>
          <p:cNvSpPr/>
          <p:nvPr/>
        </p:nvSpPr>
        <p:spPr>
          <a:xfrm>
            <a:off x="4767224" y="586650"/>
            <a:ext cx="3346835" cy="845076"/>
          </a:xfrm>
          <a:custGeom>
            <a:rect b="b" l="l" r="r" t="t"/>
            <a:pathLst>
              <a:path extrusionOk="0" h="1690152" w="6693671">
                <a:moveTo>
                  <a:pt x="0" y="0"/>
                </a:moveTo>
                <a:lnTo>
                  <a:pt x="6693671" y="0"/>
                </a:lnTo>
                <a:lnTo>
                  <a:pt x="6693671" y="1690152"/>
                </a:lnTo>
                <a:lnTo>
                  <a:pt x="0" y="1690152"/>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95" name="Google Shape;195;p29"/>
          <p:cNvSpPr/>
          <p:nvPr/>
        </p:nvSpPr>
        <p:spPr>
          <a:xfrm>
            <a:off x="736925" y="653671"/>
            <a:ext cx="762152" cy="762000"/>
          </a:xfrm>
          <a:custGeom>
            <a:rect b="b" l="l" r="r" t="t"/>
            <a:pathLst>
              <a:path extrusionOk="0"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rotWithShape="1">
            <a:blip r:embed="rId4">
              <a:alphaModFix/>
            </a:blip>
            <a:stretch>
              <a:fillRect b="-8" l="0" r="0" t="-8"/>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6" name="Google Shape;196;p29"/>
          <p:cNvSpPr/>
          <p:nvPr/>
        </p:nvSpPr>
        <p:spPr>
          <a:xfrm>
            <a:off x="4832181" y="628702"/>
            <a:ext cx="762152" cy="762000"/>
          </a:xfrm>
          <a:custGeom>
            <a:rect b="b" l="l" r="r" t="t"/>
            <a:pathLst>
              <a:path extrusionOk="0"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rotWithShape="1">
            <a:blip r:embed="rId5">
              <a:alphaModFix/>
            </a:blip>
            <a:stretch>
              <a:fillRect b="-9" l="0" r="0" t="-9"/>
            </a:stretch>
          </a:blip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97" name="Google Shape;197;p29"/>
          <p:cNvSpPr txBox="1"/>
          <p:nvPr/>
        </p:nvSpPr>
        <p:spPr>
          <a:xfrm>
            <a:off x="875600" y="181441"/>
            <a:ext cx="7387500" cy="307800"/>
          </a:xfrm>
          <a:prstGeom prst="rect">
            <a:avLst/>
          </a:prstGeom>
          <a:noFill/>
          <a:ln>
            <a:noFill/>
          </a:ln>
        </p:spPr>
        <p:txBody>
          <a:bodyPr anchorCtr="0" anchor="t" bIns="0" lIns="0" spcFirstLastPara="1" rIns="0" wrap="square" tIns="0">
            <a:spAutoFit/>
          </a:bodyPr>
          <a:lstStyle/>
          <a:p>
            <a:pPr indent="0" lvl="0" marL="0" marR="0" rtl="0" algn="ctr">
              <a:lnSpc>
                <a:spcPct val="165000"/>
              </a:lnSpc>
              <a:spcBef>
                <a:spcPts val="0"/>
              </a:spcBef>
              <a:spcAft>
                <a:spcPts val="0"/>
              </a:spcAft>
              <a:buNone/>
            </a:pPr>
            <a:r>
              <a:rPr b="1" lang="id" sz="2000">
                <a:solidFill>
                  <a:schemeClr val="dk1"/>
                </a:solidFill>
                <a:latin typeface="Poppins"/>
                <a:ea typeface="Poppins"/>
                <a:cs typeface="Poppins"/>
                <a:sym typeface="Poppins"/>
              </a:rPr>
              <a:t>Struktur Tim Kami</a:t>
            </a:r>
            <a:endParaRPr sz="700"/>
          </a:p>
        </p:txBody>
      </p:sp>
      <p:sp>
        <p:nvSpPr>
          <p:cNvPr id="198" name="Google Shape;198;p29"/>
          <p:cNvSpPr txBox="1"/>
          <p:nvPr/>
        </p:nvSpPr>
        <p:spPr>
          <a:xfrm>
            <a:off x="687997" y="569650"/>
            <a:ext cx="7529400" cy="107700"/>
          </a:xfrm>
          <a:prstGeom prst="rect">
            <a:avLst/>
          </a:prstGeom>
          <a:noFill/>
          <a:ln>
            <a:noFill/>
          </a:ln>
        </p:spPr>
        <p:txBody>
          <a:bodyPr anchorCtr="0" anchor="t" bIns="0" lIns="0" spcFirstLastPara="1" rIns="0" wrap="square" tIns="0">
            <a:spAutoFit/>
          </a:bodyPr>
          <a:lstStyle/>
          <a:p>
            <a:pPr indent="0" lvl="0" marL="0" marR="0" rtl="0" algn="ctr">
              <a:lnSpc>
                <a:spcPct val="195950"/>
              </a:lnSpc>
              <a:spcBef>
                <a:spcPts val="0"/>
              </a:spcBef>
              <a:spcAft>
                <a:spcPts val="0"/>
              </a:spcAft>
              <a:buNone/>
            </a:pPr>
            <a:r>
              <a:t/>
            </a:r>
            <a:endParaRPr sz="700"/>
          </a:p>
        </p:txBody>
      </p:sp>
      <p:sp>
        <p:nvSpPr>
          <p:cNvPr id="199" name="Google Shape;199;p29"/>
          <p:cNvSpPr txBox="1"/>
          <p:nvPr/>
        </p:nvSpPr>
        <p:spPr>
          <a:xfrm>
            <a:off x="1655743" y="891350"/>
            <a:ext cx="2107500" cy="1848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id" sz="1200">
                <a:solidFill>
                  <a:srgbClr val="FFFFFF"/>
                </a:solidFill>
                <a:latin typeface="Poppins Medium"/>
                <a:ea typeface="Poppins Medium"/>
                <a:cs typeface="Poppins Medium"/>
                <a:sym typeface="Poppins Medium"/>
              </a:rPr>
              <a:t>Mustika R.I. </a:t>
            </a:r>
            <a:r>
              <a:rPr lang="id" sz="1200">
                <a:solidFill>
                  <a:srgbClr val="FFFFFF"/>
                </a:solidFill>
                <a:latin typeface="Poppins"/>
                <a:ea typeface="Poppins"/>
                <a:cs typeface="Poppins"/>
                <a:sym typeface="Poppins"/>
              </a:rPr>
              <a:t>M.PSi.,Psikolog</a:t>
            </a:r>
            <a:endParaRPr sz="1200">
              <a:solidFill>
                <a:srgbClr val="FFFFFF"/>
              </a:solidFill>
              <a:latin typeface="Poppins"/>
              <a:ea typeface="Poppins"/>
              <a:cs typeface="Poppins"/>
              <a:sym typeface="Poppins"/>
            </a:endParaRPr>
          </a:p>
        </p:txBody>
      </p:sp>
      <p:sp>
        <p:nvSpPr>
          <p:cNvPr id="200" name="Google Shape;200;p29"/>
          <p:cNvSpPr txBox="1"/>
          <p:nvPr/>
        </p:nvSpPr>
        <p:spPr>
          <a:xfrm>
            <a:off x="5772972" y="861619"/>
            <a:ext cx="2107500" cy="1848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id" sz="1200">
                <a:solidFill>
                  <a:srgbClr val="FFFFFF"/>
                </a:solidFill>
                <a:latin typeface="Poppins Medium"/>
                <a:ea typeface="Poppins Medium"/>
                <a:cs typeface="Poppins Medium"/>
                <a:sym typeface="Poppins Medium"/>
              </a:rPr>
              <a:t>Malta Nur Doa, S.Ikom</a:t>
            </a:r>
            <a:endParaRPr sz="1200">
              <a:solidFill>
                <a:srgbClr val="FFFFFF"/>
              </a:solidFill>
              <a:latin typeface="Poppins Medium"/>
              <a:ea typeface="Poppins Medium"/>
              <a:cs typeface="Poppins Medium"/>
              <a:sym typeface="Poppins Medium"/>
            </a:endParaRPr>
          </a:p>
        </p:txBody>
      </p:sp>
      <p:sp>
        <p:nvSpPr>
          <p:cNvPr id="201" name="Google Shape;201;p29"/>
          <p:cNvSpPr txBox="1"/>
          <p:nvPr/>
        </p:nvSpPr>
        <p:spPr>
          <a:xfrm>
            <a:off x="1661183" y="1803393"/>
            <a:ext cx="2107500" cy="1848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id" sz="1200">
                <a:solidFill>
                  <a:srgbClr val="FFFFFF"/>
                </a:solidFill>
                <a:latin typeface="Poppins"/>
                <a:ea typeface="Poppins"/>
                <a:cs typeface="Poppins"/>
                <a:sym typeface="Poppins"/>
              </a:rPr>
              <a:t>Arina Hasya Sabila, S.Psi</a:t>
            </a:r>
            <a:endParaRPr sz="1200">
              <a:solidFill>
                <a:srgbClr val="FFFFFF"/>
              </a:solidFill>
              <a:latin typeface="Poppins"/>
              <a:ea typeface="Poppins"/>
              <a:cs typeface="Poppins"/>
              <a:sym typeface="Poppins"/>
            </a:endParaRPr>
          </a:p>
        </p:txBody>
      </p:sp>
      <p:sp>
        <p:nvSpPr>
          <p:cNvPr id="202" name="Google Shape;202;p29"/>
          <p:cNvSpPr txBox="1"/>
          <p:nvPr/>
        </p:nvSpPr>
        <p:spPr>
          <a:xfrm>
            <a:off x="1661183" y="2121452"/>
            <a:ext cx="19122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id" sz="1000">
                <a:solidFill>
                  <a:srgbClr val="FFFFFF"/>
                </a:solidFill>
                <a:latin typeface="Poppins"/>
                <a:ea typeface="Poppins"/>
                <a:cs typeface="Poppins"/>
                <a:sym typeface="Poppins"/>
              </a:rPr>
              <a:t>Asisten Psikolog / Terapis ABA</a:t>
            </a:r>
            <a:endParaRPr sz="1000">
              <a:solidFill>
                <a:srgbClr val="FFFFFF"/>
              </a:solidFill>
              <a:latin typeface="Poppins"/>
              <a:ea typeface="Poppins"/>
              <a:cs typeface="Poppins"/>
              <a:sym typeface="Poppins"/>
            </a:endParaRPr>
          </a:p>
        </p:txBody>
      </p:sp>
      <p:sp>
        <p:nvSpPr>
          <p:cNvPr id="203" name="Google Shape;203;p29"/>
          <p:cNvSpPr txBox="1"/>
          <p:nvPr/>
        </p:nvSpPr>
        <p:spPr>
          <a:xfrm>
            <a:off x="5864858" y="1179678"/>
            <a:ext cx="19122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id" sz="1000">
                <a:solidFill>
                  <a:srgbClr val="FFFFFF"/>
                </a:solidFill>
                <a:latin typeface="Poppins"/>
                <a:ea typeface="Poppins"/>
                <a:cs typeface="Poppins"/>
                <a:sym typeface="Poppins"/>
              </a:rPr>
              <a:t>Direktur &amp; Founder</a:t>
            </a:r>
            <a:endParaRPr sz="700"/>
          </a:p>
        </p:txBody>
      </p:sp>
      <p:sp>
        <p:nvSpPr>
          <p:cNvPr id="204" name="Google Shape;204;p29"/>
          <p:cNvSpPr txBox="1"/>
          <p:nvPr/>
        </p:nvSpPr>
        <p:spPr>
          <a:xfrm>
            <a:off x="1718824" y="1209409"/>
            <a:ext cx="19122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id" sz="1000">
                <a:solidFill>
                  <a:srgbClr val="FFFFFF"/>
                </a:solidFill>
                <a:latin typeface="Poppins"/>
                <a:ea typeface="Poppins"/>
                <a:cs typeface="Poppins"/>
                <a:sym typeface="Poppins"/>
              </a:rPr>
              <a:t>CEO &amp; Psikolog</a:t>
            </a:r>
            <a:endParaRPr sz="1000">
              <a:solidFill>
                <a:srgbClr val="FFFFFF"/>
              </a:solidFill>
              <a:latin typeface="Poppins"/>
              <a:ea typeface="Poppins"/>
              <a:cs typeface="Poppins"/>
              <a:sym typeface="Poppins"/>
            </a:endParaRPr>
          </a:p>
        </p:txBody>
      </p:sp>
      <p:sp>
        <p:nvSpPr>
          <p:cNvPr id="205" name="Google Shape;205;p29"/>
          <p:cNvSpPr txBox="1"/>
          <p:nvPr/>
        </p:nvSpPr>
        <p:spPr>
          <a:xfrm>
            <a:off x="5813279" y="2182760"/>
            <a:ext cx="19122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id" sz="1000">
                <a:solidFill>
                  <a:srgbClr val="FFFFFF"/>
                </a:solidFill>
                <a:latin typeface="Poppins"/>
                <a:ea typeface="Poppins"/>
                <a:cs typeface="Poppins"/>
                <a:sym typeface="Poppins"/>
              </a:rPr>
              <a:t>Asisten Psikolog</a:t>
            </a:r>
            <a:endParaRPr sz="700"/>
          </a:p>
        </p:txBody>
      </p:sp>
      <p:sp>
        <p:nvSpPr>
          <p:cNvPr id="206" name="Google Shape;206;p29"/>
          <p:cNvSpPr/>
          <p:nvPr/>
        </p:nvSpPr>
        <p:spPr>
          <a:xfrm>
            <a:off x="4761753" y="1519119"/>
            <a:ext cx="3999468" cy="845076"/>
          </a:xfrm>
          <a:custGeom>
            <a:rect b="b" l="l" r="r" t="t"/>
            <a:pathLst>
              <a:path extrusionOk="0" h="1690152" w="6693671">
                <a:moveTo>
                  <a:pt x="0" y="0"/>
                </a:moveTo>
                <a:lnTo>
                  <a:pt x="6693671" y="0"/>
                </a:lnTo>
                <a:lnTo>
                  <a:pt x="6693671" y="1690152"/>
                </a:lnTo>
                <a:lnTo>
                  <a:pt x="0" y="1690152"/>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7" name="Google Shape;207;p29"/>
          <p:cNvSpPr txBox="1"/>
          <p:nvPr/>
        </p:nvSpPr>
        <p:spPr>
          <a:xfrm>
            <a:off x="5826966" y="1794069"/>
            <a:ext cx="2823600" cy="1848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id" sz="1200">
                <a:solidFill>
                  <a:srgbClr val="FFFFFF"/>
                </a:solidFill>
                <a:latin typeface="Poppins Medium"/>
                <a:ea typeface="Poppins Medium"/>
                <a:cs typeface="Poppins Medium"/>
                <a:sym typeface="Poppins Medium"/>
              </a:rPr>
              <a:t>Annisa T., S.Psi, M.Psi, Psikolog</a:t>
            </a:r>
            <a:endParaRPr sz="1200">
              <a:solidFill>
                <a:srgbClr val="FFFFFF"/>
              </a:solidFill>
              <a:latin typeface="Poppins Medium"/>
              <a:ea typeface="Poppins Medium"/>
              <a:cs typeface="Poppins Medium"/>
              <a:sym typeface="Poppins Medium"/>
            </a:endParaRPr>
          </a:p>
        </p:txBody>
      </p:sp>
      <p:sp>
        <p:nvSpPr>
          <p:cNvPr id="208" name="Google Shape;208;p29"/>
          <p:cNvSpPr txBox="1"/>
          <p:nvPr/>
        </p:nvSpPr>
        <p:spPr>
          <a:xfrm>
            <a:off x="6186429" y="2171602"/>
            <a:ext cx="19122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id" sz="1000">
                <a:solidFill>
                  <a:srgbClr val="FFFFFF"/>
                </a:solidFill>
                <a:latin typeface="Poppins"/>
                <a:ea typeface="Poppins"/>
                <a:cs typeface="Poppins"/>
                <a:sym typeface="Poppins"/>
              </a:rPr>
              <a:t>Psikolog Pendidikan</a:t>
            </a:r>
            <a:endParaRPr sz="1000">
              <a:solidFill>
                <a:srgbClr val="FFFFFF"/>
              </a:solidFill>
              <a:latin typeface="Poppins"/>
              <a:ea typeface="Poppins"/>
              <a:cs typeface="Poppins"/>
              <a:sym typeface="Poppins"/>
            </a:endParaRPr>
          </a:p>
        </p:txBody>
      </p:sp>
      <p:pic>
        <p:nvPicPr>
          <p:cNvPr id="209" name="Google Shape;209;p29"/>
          <p:cNvPicPr preferRelativeResize="0"/>
          <p:nvPr/>
        </p:nvPicPr>
        <p:blipFill rotWithShape="1">
          <a:blip r:embed="rId6">
            <a:alphaModFix/>
          </a:blip>
          <a:srcRect b="41050" l="31483" r="26012" t="25275"/>
          <a:stretch/>
        </p:blipFill>
        <p:spPr>
          <a:xfrm>
            <a:off x="711922" y="1576245"/>
            <a:ext cx="733740" cy="726636"/>
          </a:xfrm>
          <a:prstGeom prst="rect">
            <a:avLst/>
          </a:prstGeom>
          <a:noFill/>
          <a:ln>
            <a:noFill/>
          </a:ln>
        </p:spPr>
      </p:pic>
      <p:sp>
        <p:nvSpPr>
          <p:cNvPr id="210" name="Google Shape;210;p29"/>
          <p:cNvSpPr/>
          <p:nvPr/>
        </p:nvSpPr>
        <p:spPr>
          <a:xfrm>
            <a:off x="652340" y="2435754"/>
            <a:ext cx="3346836" cy="845076"/>
          </a:xfrm>
          <a:custGeom>
            <a:rect b="b" l="l" r="r" t="t"/>
            <a:pathLst>
              <a:path extrusionOk="0" h="1690152" w="6693671">
                <a:moveTo>
                  <a:pt x="0" y="0"/>
                </a:moveTo>
                <a:lnTo>
                  <a:pt x="6693672" y="0"/>
                </a:lnTo>
                <a:lnTo>
                  <a:pt x="6693672" y="1690152"/>
                </a:lnTo>
                <a:lnTo>
                  <a:pt x="0" y="1690152"/>
                </a:lnTo>
                <a:lnTo>
                  <a:pt x="0" y="0"/>
                </a:lnTo>
                <a:close/>
              </a:path>
            </a:pathLst>
          </a:custGeom>
          <a:blipFill rotWithShape="1">
            <a:blip r:embed="rId3">
              <a:alphaModFix/>
            </a:blip>
            <a:stretch>
              <a:fillRect b="0" l="0" r="0" t="0"/>
            </a:stretch>
          </a:blipFill>
          <a:ln>
            <a:noFill/>
          </a:ln>
        </p:spPr>
      </p:sp>
      <p:sp>
        <p:nvSpPr>
          <p:cNvPr id="211" name="Google Shape;211;p29"/>
          <p:cNvSpPr txBox="1"/>
          <p:nvPr/>
        </p:nvSpPr>
        <p:spPr>
          <a:xfrm>
            <a:off x="1655740" y="2715485"/>
            <a:ext cx="2107500" cy="1848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id" sz="1200">
                <a:solidFill>
                  <a:srgbClr val="FFFFFF"/>
                </a:solidFill>
                <a:latin typeface="Poppins"/>
                <a:ea typeface="Poppins"/>
                <a:cs typeface="Poppins"/>
                <a:sym typeface="Poppins"/>
              </a:rPr>
              <a:t>Farah Mardhiyah, S.Psi</a:t>
            </a:r>
            <a:endParaRPr sz="1200">
              <a:solidFill>
                <a:srgbClr val="FFFFFF"/>
              </a:solidFill>
              <a:latin typeface="Poppins"/>
              <a:ea typeface="Poppins"/>
              <a:cs typeface="Poppins"/>
              <a:sym typeface="Poppins"/>
            </a:endParaRPr>
          </a:p>
        </p:txBody>
      </p:sp>
      <p:sp>
        <p:nvSpPr>
          <p:cNvPr id="212" name="Google Shape;212;p29"/>
          <p:cNvSpPr txBox="1"/>
          <p:nvPr/>
        </p:nvSpPr>
        <p:spPr>
          <a:xfrm>
            <a:off x="1655740" y="3033544"/>
            <a:ext cx="19122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id" sz="1000">
                <a:solidFill>
                  <a:srgbClr val="FFFFFF"/>
                </a:solidFill>
                <a:latin typeface="Poppins"/>
                <a:ea typeface="Poppins"/>
                <a:cs typeface="Poppins"/>
                <a:sym typeface="Poppins"/>
              </a:rPr>
              <a:t>Asisten Psikolog / Terapis ABA</a:t>
            </a:r>
            <a:endParaRPr sz="1000">
              <a:solidFill>
                <a:srgbClr val="FFFFFF"/>
              </a:solidFill>
              <a:latin typeface="Poppins"/>
              <a:ea typeface="Poppins"/>
              <a:cs typeface="Poppins"/>
              <a:sym typeface="Poppins"/>
            </a:endParaRPr>
          </a:p>
        </p:txBody>
      </p:sp>
      <p:pic>
        <p:nvPicPr>
          <p:cNvPr id="213" name="Google Shape;213;p29"/>
          <p:cNvPicPr preferRelativeResize="0"/>
          <p:nvPr/>
        </p:nvPicPr>
        <p:blipFill rotWithShape="1">
          <a:blip r:embed="rId7">
            <a:alphaModFix/>
          </a:blip>
          <a:srcRect b="34869" l="26409" r="29246" t="39427"/>
          <a:stretch/>
        </p:blipFill>
        <p:spPr>
          <a:xfrm>
            <a:off x="730693" y="2527087"/>
            <a:ext cx="662291" cy="682462"/>
          </a:xfrm>
          <a:prstGeom prst="rect">
            <a:avLst/>
          </a:prstGeom>
          <a:noFill/>
          <a:ln>
            <a:noFill/>
          </a:ln>
        </p:spPr>
      </p:pic>
      <p:sp>
        <p:nvSpPr>
          <p:cNvPr id="214" name="Google Shape;214;p29"/>
          <p:cNvSpPr/>
          <p:nvPr/>
        </p:nvSpPr>
        <p:spPr>
          <a:xfrm>
            <a:off x="4761762" y="2435073"/>
            <a:ext cx="3346836" cy="845076"/>
          </a:xfrm>
          <a:custGeom>
            <a:rect b="b" l="l" r="r" t="t"/>
            <a:pathLst>
              <a:path extrusionOk="0" h="1690152" w="6693671">
                <a:moveTo>
                  <a:pt x="0" y="0"/>
                </a:moveTo>
                <a:lnTo>
                  <a:pt x="6693671" y="0"/>
                </a:lnTo>
                <a:lnTo>
                  <a:pt x="6693671" y="1690152"/>
                </a:lnTo>
                <a:lnTo>
                  <a:pt x="0" y="1690152"/>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5" name="Google Shape;215;p29"/>
          <p:cNvSpPr txBox="1"/>
          <p:nvPr/>
        </p:nvSpPr>
        <p:spPr>
          <a:xfrm>
            <a:off x="5767506" y="2710041"/>
            <a:ext cx="2107500" cy="1848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id" sz="1200">
                <a:solidFill>
                  <a:srgbClr val="FFFFFF"/>
                </a:solidFill>
                <a:latin typeface="Poppins Medium"/>
                <a:ea typeface="Poppins Medium"/>
                <a:cs typeface="Poppins Medium"/>
                <a:sym typeface="Poppins Medium"/>
              </a:rPr>
              <a:t>Ahmad Binsar</a:t>
            </a:r>
            <a:r>
              <a:rPr lang="id" sz="1200">
                <a:solidFill>
                  <a:srgbClr val="FFFFFF"/>
                </a:solidFill>
                <a:latin typeface="Poppins Medium"/>
                <a:ea typeface="Poppins Medium"/>
                <a:cs typeface="Poppins Medium"/>
                <a:sym typeface="Poppins Medium"/>
              </a:rPr>
              <a:t>, S.Psi</a:t>
            </a:r>
            <a:endParaRPr sz="1200">
              <a:solidFill>
                <a:srgbClr val="FFFFFF"/>
              </a:solidFill>
              <a:latin typeface="Poppins Medium"/>
              <a:ea typeface="Poppins Medium"/>
              <a:cs typeface="Poppins Medium"/>
              <a:sym typeface="Poppins Medium"/>
            </a:endParaRPr>
          </a:p>
        </p:txBody>
      </p:sp>
      <p:sp>
        <p:nvSpPr>
          <p:cNvPr id="216" name="Google Shape;216;p29"/>
          <p:cNvSpPr txBox="1"/>
          <p:nvPr/>
        </p:nvSpPr>
        <p:spPr>
          <a:xfrm>
            <a:off x="5859392" y="3028100"/>
            <a:ext cx="19122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id" sz="1000">
                <a:solidFill>
                  <a:srgbClr val="FFFFFF"/>
                </a:solidFill>
                <a:latin typeface="Poppins"/>
                <a:ea typeface="Poppins"/>
                <a:cs typeface="Poppins"/>
                <a:sym typeface="Poppins"/>
              </a:rPr>
              <a:t>Asisten Psikolog</a:t>
            </a:r>
            <a:endParaRPr sz="700"/>
          </a:p>
        </p:txBody>
      </p:sp>
      <p:sp>
        <p:nvSpPr>
          <p:cNvPr id="217" name="Google Shape;217;p29"/>
          <p:cNvSpPr/>
          <p:nvPr/>
        </p:nvSpPr>
        <p:spPr>
          <a:xfrm>
            <a:off x="652340" y="3347824"/>
            <a:ext cx="3346836" cy="845076"/>
          </a:xfrm>
          <a:custGeom>
            <a:rect b="b" l="l" r="r" t="t"/>
            <a:pathLst>
              <a:path extrusionOk="0" h="1690152" w="6693671">
                <a:moveTo>
                  <a:pt x="0" y="0"/>
                </a:moveTo>
                <a:lnTo>
                  <a:pt x="6693672" y="0"/>
                </a:lnTo>
                <a:lnTo>
                  <a:pt x="6693672" y="1690152"/>
                </a:lnTo>
                <a:lnTo>
                  <a:pt x="0" y="1690152"/>
                </a:lnTo>
                <a:lnTo>
                  <a:pt x="0" y="0"/>
                </a:lnTo>
                <a:close/>
              </a:path>
            </a:pathLst>
          </a:custGeom>
          <a:blipFill rotWithShape="1">
            <a:blip r:embed="rId3">
              <a:alphaModFix/>
            </a:blip>
            <a:stretch>
              <a:fillRect b="0" l="0" r="0" t="0"/>
            </a:stretch>
          </a:blipFill>
          <a:ln>
            <a:noFill/>
          </a:ln>
        </p:spPr>
      </p:sp>
      <p:sp>
        <p:nvSpPr>
          <p:cNvPr id="218" name="Google Shape;218;p29"/>
          <p:cNvSpPr txBox="1"/>
          <p:nvPr/>
        </p:nvSpPr>
        <p:spPr>
          <a:xfrm>
            <a:off x="1655740" y="3627555"/>
            <a:ext cx="2107500" cy="1848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id" sz="1200">
                <a:solidFill>
                  <a:srgbClr val="FFFFFF"/>
                </a:solidFill>
                <a:latin typeface="Poppins"/>
                <a:ea typeface="Poppins"/>
                <a:cs typeface="Poppins"/>
                <a:sym typeface="Poppins"/>
              </a:rPr>
              <a:t>Atthar Yazid R, A.Md.Kes</a:t>
            </a:r>
            <a:endParaRPr sz="1200">
              <a:solidFill>
                <a:srgbClr val="FFFFFF"/>
              </a:solidFill>
              <a:latin typeface="Poppins"/>
              <a:ea typeface="Poppins"/>
              <a:cs typeface="Poppins"/>
              <a:sym typeface="Poppins"/>
            </a:endParaRPr>
          </a:p>
        </p:txBody>
      </p:sp>
      <p:sp>
        <p:nvSpPr>
          <p:cNvPr id="219" name="Google Shape;219;p29"/>
          <p:cNvSpPr txBox="1"/>
          <p:nvPr/>
        </p:nvSpPr>
        <p:spPr>
          <a:xfrm>
            <a:off x="1655740" y="3945614"/>
            <a:ext cx="19122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id" sz="1000">
                <a:solidFill>
                  <a:srgbClr val="FFFFFF"/>
                </a:solidFill>
                <a:latin typeface="Poppins"/>
                <a:ea typeface="Poppins"/>
                <a:cs typeface="Poppins"/>
                <a:sym typeface="Poppins"/>
              </a:rPr>
              <a:t>Terapis Wicara</a:t>
            </a:r>
            <a:endParaRPr sz="1000">
              <a:solidFill>
                <a:srgbClr val="FFFFFF"/>
              </a:solidFill>
              <a:latin typeface="Poppins"/>
              <a:ea typeface="Poppins"/>
              <a:cs typeface="Poppins"/>
              <a:sym typeface="Poppins"/>
            </a:endParaRPr>
          </a:p>
        </p:txBody>
      </p:sp>
      <p:pic>
        <p:nvPicPr>
          <p:cNvPr id="220" name="Google Shape;220;p29"/>
          <p:cNvPicPr preferRelativeResize="0"/>
          <p:nvPr/>
        </p:nvPicPr>
        <p:blipFill>
          <a:blip r:embed="rId8">
            <a:alphaModFix/>
          </a:blip>
          <a:stretch>
            <a:fillRect/>
          </a:stretch>
        </p:blipFill>
        <p:spPr>
          <a:xfrm>
            <a:off x="730675" y="3363231"/>
            <a:ext cx="662300" cy="797275"/>
          </a:xfrm>
          <a:prstGeom prst="rect">
            <a:avLst/>
          </a:prstGeom>
          <a:noFill/>
          <a:ln>
            <a:noFill/>
          </a:ln>
        </p:spPr>
      </p:pic>
      <p:pic>
        <p:nvPicPr>
          <p:cNvPr id="221" name="Google Shape;221;p29"/>
          <p:cNvPicPr preferRelativeResize="0"/>
          <p:nvPr/>
        </p:nvPicPr>
        <p:blipFill>
          <a:blip r:embed="rId9">
            <a:alphaModFix/>
          </a:blip>
          <a:stretch>
            <a:fillRect/>
          </a:stretch>
        </p:blipFill>
        <p:spPr>
          <a:xfrm>
            <a:off x="4807828" y="2533788"/>
            <a:ext cx="762150" cy="605246"/>
          </a:xfrm>
          <a:prstGeom prst="rect">
            <a:avLst/>
          </a:prstGeom>
          <a:noFill/>
          <a:ln>
            <a:noFill/>
          </a:ln>
        </p:spPr>
      </p:pic>
      <p:sp>
        <p:nvSpPr>
          <p:cNvPr id="222" name="Google Shape;222;p29"/>
          <p:cNvSpPr/>
          <p:nvPr/>
        </p:nvSpPr>
        <p:spPr>
          <a:xfrm>
            <a:off x="4761772" y="3332966"/>
            <a:ext cx="3346836" cy="845076"/>
          </a:xfrm>
          <a:custGeom>
            <a:rect b="b" l="l" r="r" t="t"/>
            <a:pathLst>
              <a:path extrusionOk="0" h="1690152" w="6693671">
                <a:moveTo>
                  <a:pt x="0" y="0"/>
                </a:moveTo>
                <a:lnTo>
                  <a:pt x="6693672" y="0"/>
                </a:lnTo>
                <a:lnTo>
                  <a:pt x="6693672" y="1690152"/>
                </a:lnTo>
                <a:lnTo>
                  <a:pt x="0" y="1690152"/>
                </a:lnTo>
                <a:lnTo>
                  <a:pt x="0" y="0"/>
                </a:lnTo>
                <a:close/>
              </a:path>
            </a:pathLst>
          </a:custGeom>
          <a:blipFill rotWithShape="1">
            <a:blip r:embed="rId3">
              <a:alphaModFix/>
            </a:blip>
            <a:stretch>
              <a:fillRect b="0" l="0" r="0" t="0"/>
            </a:stretch>
          </a:blipFill>
          <a:ln>
            <a:noFill/>
          </a:ln>
        </p:spPr>
      </p:sp>
      <p:sp>
        <p:nvSpPr>
          <p:cNvPr id="223" name="Google Shape;223;p29"/>
          <p:cNvSpPr txBox="1"/>
          <p:nvPr/>
        </p:nvSpPr>
        <p:spPr>
          <a:xfrm>
            <a:off x="5765172" y="3612697"/>
            <a:ext cx="2107500" cy="1848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id" sz="1200">
                <a:solidFill>
                  <a:srgbClr val="FFFFFF"/>
                </a:solidFill>
                <a:latin typeface="Poppins"/>
                <a:ea typeface="Poppins"/>
                <a:cs typeface="Poppins"/>
                <a:sym typeface="Poppins"/>
              </a:rPr>
              <a:t>Jane Aria </a:t>
            </a:r>
            <a:r>
              <a:rPr lang="id" sz="1200">
                <a:solidFill>
                  <a:srgbClr val="FFFFFF"/>
                </a:solidFill>
                <a:latin typeface="Poppins"/>
                <a:ea typeface="Poppins"/>
                <a:cs typeface="Poppins"/>
                <a:sym typeface="Poppins"/>
              </a:rPr>
              <a:t>, S.Psi</a:t>
            </a:r>
            <a:endParaRPr sz="1200">
              <a:solidFill>
                <a:srgbClr val="FFFFFF"/>
              </a:solidFill>
              <a:latin typeface="Poppins"/>
              <a:ea typeface="Poppins"/>
              <a:cs typeface="Poppins"/>
              <a:sym typeface="Poppins"/>
            </a:endParaRPr>
          </a:p>
        </p:txBody>
      </p:sp>
      <p:sp>
        <p:nvSpPr>
          <p:cNvPr id="224" name="Google Shape;224;p29"/>
          <p:cNvSpPr txBox="1"/>
          <p:nvPr/>
        </p:nvSpPr>
        <p:spPr>
          <a:xfrm>
            <a:off x="5765172" y="3930756"/>
            <a:ext cx="19122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id" sz="1000">
                <a:solidFill>
                  <a:srgbClr val="FFFFFF"/>
                </a:solidFill>
                <a:latin typeface="Poppins"/>
                <a:ea typeface="Poppins"/>
                <a:cs typeface="Poppins"/>
                <a:sym typeface="Poppins"/>
              </a:rPr>
              <a:t>Shadow Teacher</a:t>
            </a:r>
            <a:endParaRPr sz="1000">
              <a:solidFill>
                <a:srgbClr val="FFFFFF"/>
              </a:solidFill>
              <a:latin typeface="Poppins"/>
              <a:ea typeface="Poppins"/>
              <a:cs typeface="Poppins"/>
              <a:sym typeface="Poppins"/>
            </a:endParaRPr>
          </a:p>
        </p:txBody>
      </p:sp>
      <p:pic>
        <p:nvPicPr>
          <p:cNvPr id="225" name="Google Shape;225;p29"/>
          <p:cNvPicPr preferRelativeResize="0"/>
          <p:nvPr/>
        </p:nvPicPr>
        <p:blipFill>
          <a:blip r:embed="rId10">
            <a:alphaModFix/>
          </a:blip>
          <a:stretch>
            <a:fillRect/>
          </a:stretch>
        </p:blipFill>
        <p:spPr>
          <a:xfrm>
            <a:off x="4857752" y="3351018"/>
            <a:ext cx="662299" cy="80890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0"/>
          <p:cNvSpPr/>
          <p:nvPr/>
        </p:nvSpPr>
        <p:spPr>
          <a:xfrm>
            <a:off x="152400" y="1167377"/>
            <a:ext cx="2257700" cy="1727608"/>
          </a:xfrm>
          <a:custGeom>
            <a:rect b="b" l="l" r="r" t="t"/>
            <a:pathLst>
              <a:path extrusionOk="0" h="3816181" w="5218981">
                <a:moveTo>
                  <a:pt x="0" y="0"/>
                </a:moveTo>
                <a:lnTo>
                  <a:pt x="5218981" y="0"/>
                </a:lnTo>
                <a:lnTo>
                  <a:pt x="5218981" y="3816180"/>
                </a:lnTo>
                <a:lnTo>
                  <a:pt x="0" y="3816180"/>
                </a:lnTo>
                <a:lnTo>
                  <a:pt x="0" y="0"/>
                </a:lnTo>
                <a:close/>
              </a:path>
            </a:pathLst>
          </a:custGeom>
          <a:blipFill rotWithShape="1">
            <a:blip r:embed="rId3">
              <a:alphaModFix/>
            </a:blip>
            <a:stretch>
              <a:fillRect b="0" l="0" r="0" t="0"/>
            </a:stretch>
          </a:blipFill>
          <a:ln>
            <a:noFill/>
          </a:ln>
        </p:spPr>
      </p:sp>
      <p:sp>
        <p:nvSpPr>
          <p:cNvPr id="231" name="Google Shape;231;p30"/>
          <p:cNvSpPr/>
          <p:nvPr/>
        </p:nvSpPr>
        <p:spPr>
          <a:xfrm>
            <a:off x="6649435" y="1095591"/>
            <a:ext cx="2243048" cy="3228759"/>
          </a:xfrm>
          <a:custGeom>
            <a:rect b="b" l="l" r="r" t="t"/>
            <a:pathLst>
              <a:path extrusionOk="0" h="6243258" w="4371647">
                <a:moveTo>
                  <a:pt x="0" y="0"/>
                </a:moveTo>
                <a:lnTo>
                  <a:pt x="4371647" y="0"/>
                </a:lnTo>
                <a:lnTo>
                  <a:pt x="4371647" y="6243258"/>
                </a:lnTo>
                <a:lnTo>
                  <a:pt x="0" y="6243258"/>
                </a:lnTo>
                <a:lnTo>
                  <a:pt x="0" y="0"/>
                </a:lnTo>
                <a:close/>
              </a:path>
            </a:pathLst>
          </a:custGeom>
          <a:blipFill rotWithShape="1">
            <a:blip r:embed="rId4">
              <a:alphaModFix/>
            </a:blip>
            <a:stretch>
              <a:fillRect b="0" l="0" r="0" t="0"/>
            </a:stretch>
          </a:blipFill>
          <a:ln cap="flat" cmpd="sng" w="9525">
            <a:solidFill>
              <a:schemeClr val="dk1"/>
            </a:solidFill>
            <a:prstDash val="solid"/>
            <a:round/>
            <a:headEnd len="sm" w="sm" type="none"/>
            <a:tailEnd len="sm" w="sm" type="none"/>
          </a:ln>
        </p:spPr>
      </p:sp>
      <p:sp>
        <p:nvSpPr>
          <p:cNvPr id="232" name="Google Shape;232;p30"/>
          <p:cNvSpPr/>
          <p:nvPr/>
        </p:nvSpPr>
        <p:spPr>
          <a:xfrm>
            <a:off x="9270522" y="1225143"/>
            <a:ext cx="2243049" cy="3179177"/>
          </a:xfrm>
          <a:custGeom>
            <a:rect b="b" l="l" r="r" t="t"/>
            <a:pathLst>
              <a:path extrusionOk="0" h="6358355" w="4486096">
                <a:moveTo>
                  <a:pt x="0" y="0"/>
                </a:moveTo>
                <a:lnTo>
                  <a:pt x="4486096" y="0"/>
                </a:lnTo>
                <a:lnTo>
                  <a:pt x="4486096" y="6358355"/>
                </a:lnTo>
                <a:lnTo>
                  <a:pt x="0" y="6358355"/>
                </a:lnTo>
                <a:lnTo>
                  <a:pt x="0" y="0"/>
                </a:lnTo>
                <a:close/>
              </a:path>
            </a:pathLst>
          </a:custGeom>
          <a:blipFill rotWithShape="1">
            <a:blip r:embed="rId5">
              <a:alphaModFix/>
            </a:blip>
            <a:stretch>
              <a:fillRect b="0" l="0" r="0" t="0"/>
            </a:stretch>
          </a:blipFill>
          <a:ln>
            <a:noFill/>
          </a:ln>
        </p:spPr>
      </p:sp>
      <p:sp>
        <p:nvSpPr>
          <p:cNvPr id="233" name="Google Shape;233;p30"/>
          <p:cNvSpPr txBox="1"/>
          <p:nvPr/>
        </p:nvSpPr>
        <p:spPr>
          <a:xfrm>
            <a:off x="1197898" y="141481"/>
            <a:ext cx="6784053" cy="475804"/>
          </a:xfrm>
          <a:prstGeom prst="rect">
            <a:avLst/>
          </a:prstGeom>
          <a:noFill/>
          <a:ln>
            <a:noFill/>
          </a:ln>
        </p:spPr>
        <p:txBody>
          <a:bodyPr anchorCtr="0" anchor="t" bIns="0" lIns="0" spcFirstLastPara="1" rIns="0" wrap="square" tIns="0">
            <a:spAutoFit/>
          </a:bodyPr>
          <a:lstStyle/>
          <a:p>
            <a:pPr indent="0" lvl="0" marL="0" marR="0" rtl="0" algn="ctr">
              <a:lnSpc>
                <a:spcPct val="209999"/>
              </a:lnSpc>
              <a:spcBef>
                <a:spcPts val="0"/>
              </a:spcBef>
              <a:spcAft>
                <a:spcPts val="0"/>
              </a:spcAft>
              <a:buNone/>
            </a:pPr>
            <a:r>
              <a:rPr b="1" lang="id" sz="2000">
                <a:solidFill>
                  <a:srgbClr val="002646"/>
                </a:solidFill>
                <a:latin typeface="Poppins"/>
                <a:ea typeface="Poppins"/>
                <a:cs typeface="Poppins"/>
                <a:sym typeface="Poppins"/>
              </a:rPr>
              <a:t>Pengenalan Biro Mustika Psychology Consulting</a:t>
            </a:r>
            <a:endParaRPr sz="700"/>
          </a:p>
        </p:txBody>
      </p:sp>
      <p:sp>
        <p:nvSpPr>
          <p:cNvPr id="234" name="Google Shape;234;p30"/>
          <p:cNvSpPr txBox="1"/>
          <p:nvPr/>
        </p:nvSpPr>
        <p:spPr>
          <a:xfrm>
            <a:off x="2843810" y="883003"/>
            <a:ext cx="1706788" cy="20659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id" sz="1200">
                <a:solidFill>
                  <a:srgbClr val="000000"/>
                </a:solidFill>
                <a:latin typeface="Poppins"/>
                <a:ea typeface="Poppins"/>
                <a:cs typeface="Poppins"/>
                <a:sym typeface="Poppins"/>
              </a:rPr>
              <a:t>Surat Izin Praktik</a:t>
            </a:r>
            <a:endParaRPr b="1" sz="1200">
              <a:solidFill>
                <a:srgbClr val="000000"/>
              </a:solidFill>
              <a:latin typeface="Poppins"/>
              <a:ea typeface="Poppins"/>
              <a:cs typeface="Poppins"/>
              <a:sym typeface="Poppins"/>
            </a:endParaRPr>
          </a:p>
        </p:txBody>
      </p:sp>
      <p:sp>
        <p:nvSpPr>
          <p:cNvPr id="235" name="Google Shape;235;p30"/>
          <p:cNvSpPr txBox="1"/>
          <p:nvPr/>
        </p:nvSpPr>
        <p:spPr>
          <a:xfrm>
            <a:off x="6969670" y="735547"/>
            <a:ext cx="1706788" cy="20659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id" sz="1200">
                <a:solidFill>
                  <a:srgbClr val="000000"/>
                </a:solidFill>
                <a:latin typeface="Poppins"/>
                <a:ea typeface="Poppins"/>
                <a:cs typeface="Poppins"/>
                <a:sym typeface="Poppins"/>
              </a:rPr>
              <a:t>Akta Pendirian PT</a:t>
            </a:r>
            <a:endParaRPr sz="700"/>
          </a:p>
        </p:txBody>
      </p:sp>
      <p:sp>
        <p:nvSpPr>
          <p:cNvPr id="236" name="Google Shape;236;p30"/>
          <p:cNvSpPr txBox="1"/>
          <p:nvPr/>
        </p:nvSpPr>
        <p:spPr>
          <a:xfrm>
            <a:off x="9428472" y="937333"/>
            <a:ext cx="1706788" cy="20659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id" sz="1200">
                <a:solidFill>
                  <a:srgbClr val="000000"/>
                </a:solidFill>
                <a:latin typeface="Poppins"/>
                <a:ea typeface="Poppins"/>
                <a:cs typeface="Poppins"/>
                <a:sym typeface="Poppins"/>
              </a:rPr>
              <a:t>PERIZINAN BERUSAHA</a:t>
            </a:r>
            <a:endParaRPr sz="700"/>
          </a:p>
        </p:txBody>
      </p:sp>
      <p:pic>
        <p:nvPicPr>
          <p:cNvPr id="237" name="Google Shape;237;p30"/>
          <p:cNvPicPr preferRelativeResize="0"/>
          <p:nvPr/>
        </p:nvPicPr>
        <p:blipFill rotWithShape="1">
          <a:blip r:embed="rId6">
            <a:alphaModFix/>
          </a:blip>
          <a:srcRect b="0" l="0" r="0" t="0"/>
          <a:stretch/>
        </p:blipFill>
        <p:spPr>
          <a:xfrm>
            <a:off x="6819900" y="3413818"/>
            <a:ext cx="1399346" cy="872432"/>
          </a:xfrm>
          <a:prstGeom prst="rect">
            <a:avLst/>
          </a:prstGeom>
          <a:noFill/>
          <a:ln>
            <a:noFill/>
          </a:ln>
        </p:spPr>
      </p:pic>
      <p:pic>
        <p:nvPicPr>
          <p:cNvPr id="238" name="Google Shape;238;p30"/>
          <p:cNvPicPr preferRelativeResize="0"/>
          <p:nvPr/>
        </p:nvPicPr>
        <p:blipFill rotWithShape="1">
          <a:blip r:embed="rId7">
            <a:alphaModFix/>
          </a:blip>
          <a:srcRect b="0" l="0" r="0" t="0"/>
          <a:stretch/>
        </p:blipFill>
        <p:spPr>
          <a:xfrm>
            <a:off x="4519171" y="1143928"/>
            <a:ext cx="1850357" cy="2638059"/>
          </a:xfrm>
          <a:prstGeom prst="rect">
            <a:avLst/>
          </a:prstGeom>
          <a:noFill/>
          <a:ln cap="flat" cmpd="sng" w="9525">
            <a:solidFill>
              <a:schemeClr val="dk1"/>
            </a:solidFill>
            <a:prstDash val="solid"/>
            <a:round/>
            <a:headEnd len="sm" w="sm" type="none"/>
            <a:tailEnd len="sm" w="sm" type="none"/>
          </a:ln>
        </p:spPr>
      </p:pic>
      <p:pic>
        <p:nvPicPr>
          <p:cNvPr id="239" name="Google Shape;239;p30"/>
          <p:cNvPicPr preferRelativeResize="0"/>
          <p:nvPr/>
        </p:nvPicPr>
        <p:blipFill rotWithShape="1">
          <a:blip r:embed="rId8">
            <a:alphaModFix/>
          </a:blip>
          <a:srcRect b="0" l="0" r="0" t="0"/>
          <a:stretch/>
        </p:blipFill>
        <p:spPr>
          <a:xfrm>
            <a:off x="2483366" y="1156200"/>
            <a:ext cx="1962537" cy="2625787"/>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31"/>
          <p:cNvPicPr preferRelativeResize="0"/>
          <p:nvPr/>
        </p:nvPicPr>
        <p:blipFill>
          <a:blip r:embed="rId3">
            <a:alphaModFix/>
          </a:blip>
          <a:stretch>
            <a:fillRect/>
          </a:stretch>
        </p:blipFill>
        <p:spPr>
          <a:xfrm>
            <a:off x="0" y="0"/>
            <a:ext cx="9144000" cy="514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2"/>
          <p:cNvSpPr txBox="1"/>
          <p:nvPr/>
        </p:nvSpPr>
        <p:spPr>
          <a:xfrm>
            <a:off x="3144643" y="540311"/>
            <a:ext cx="5157887" cy="475772"/>
          </a:xfrm>
          <a:prstGeom prst="rect">
            <a:avLst/>
          </a:prstGeom>
          <a:noFill/>
          <a:ln>
            <a:noFill/>
          </a:ln>
        </p:spPr>
        <p:txBody>
          <a:bodyPr anchorCtr="0" anchor="t" bIns="0" lIns="0" spcFirstLastPara="1" rIns="0" wrap="square" tIns="0">
            <a:spAutoFit/>
          </a:bodyPr>
          <a:lstStyle/>
          <a:p>
            <a:pPr indent="0" lvl="0" marL="0" marR="0" rtl="0" algn="r">
              <a:lnSpc>
                <a:spcPct val="209999"/>
              </a:lnSpc>
              <a:spcBef>
                <a:spcPts val="0"/>
              </a:spcBef>
              <a:spcAft>
                <a:spcPts val="0"/>
              </a:spcAft>
              <a:buNone/>
            </a:pPr>
            <a:r>
              <a:rPr b="1" lang="id" sz="2000">
                <a:solidFill>
                  <a:schemeClr val="dk1"/>
                </a:solidFill>
                <a:latin typeface="Poppins"/>
                <a:ea typeface="Poppins"/>
                <a:cs typeface="Poppins"/>
                <a:sym typeface="Poppins"/>
              </a:rPr>
              <a:t>Visi Kami</a:t>
            </a:r>
            <a:endParaRPr sz="700"/>
          </a:p>
        </p:txBody>
      </p:sp>
      <p:sp>
        <p:nvSpPr>
          <p:cNvPr id="250" name="Google Shape;250;p32"/>
          <p:cNvSpPr txBox="1"/>
          <p:nvPr/>
        </p:nvSpPr>
        <p:spPr>
          <a:xfrm>
            <a:off x="3681947" y="1298978"/>
            <a:ext cx="4620600" cy="2002800"/>
          </a:xfrm>
          <a:prstGeom prst="rect">
            <a:avLst/>
          </a:prstGeom>
          <a:noFill/>
          <a:ln>
            <a:noFill/>
          </a:ln>
        </p:spPr>
        <p:txBody>
          <a:bodyPr anchorCtr="0" anchor="t" bIns="0" lIns="0" spcFirstLastPara="1" rIns="0" wrap="square" tIns="0">
            <a:spAutoFit/>
          </a:bodyPr>
          <a:lstStyle/>
          <a:p>
            <a:pPr indent="0" lvl="0" marL="0" marR="0" rtl="0" algn="just">
              <a:lnSpc>
                <a:spcPct val="140625"/>
              </a:lnSpc>
              <a:spcBef>
                <a:spcPts val="0"/>
              </a:spcBef>
              <a:spcAft>
                <a:spcPts val="0"/>
              </a:spcAft>
              <a:buNone/>
            </a:pPr>
            <a:r>
              <a:rPr lang="id" sz="1200">
                <a:solidFill>
                  <a:schemeClr val="dk1"/>
                </a:solidFill>
                <a:latin typeface="Poppins"/>
                <a:ea typeface="Poppins"/>
                <a:cs typeface="Poppins"/>
                <a:sym typeface="Poppins"/>
              </a:rPr>
              <a:t>Menjadi mitra utama dalam mendukung</a:t>
            </a:r>
            <a:r>
              <a:rPr b="1" lang="id" sz="1200">
                <a:solidFill>
                  <a:schemeClr val="dk1"/>
                </a:solidFill>
                <a:latin typeface="Poppins"/>
                <a:ea typeface="Poppins"/>
                <a:cs typeface="Poppins"/>
                <a:sym typeface="Poppins"/>
              </a:rPr>
              <a:t> ekosistem Inklusi di Sekolah</a:t>
            </a:r>
            <a:r>
              <a:rPr lang="id" sz="1200">
                <a:solidFill>
                  <a:schemeClr val="dk1"/>
                </a:solidFill>
                <a:latin typeface="Poppins"/>
                <a:ea typeface="Poppins"/>
                <a:cs typeface="Poppins"/>
                <a:sym typeface="Poppins"/>
              </a:rPr>
              <a:t>, dengan fokus pada inovasi, kepedulian, dan keberlanjutan. Kami berkomitmen membantu Sekolah menciptakan lingkungan yang sehat secara emosional dan mental untuk mendukung perkembangan siswa. Sebagai biro resmi berbadan hukum di Samarinda, kami siap berkontribusi dalam menghadapi tantangan pendidikan di era baru.</a:t>
            </a:r>
            <a:endParaRPr sz="1200">
              <a:solidFill>
                <a:srgbClr val="000000"/>
              </a:solidFill>
              <a:latin typeface="Poppins"/>
              <a:ea typeface="Poppins"/>
              <a:cs typeface="Poppins"/>
              <a:sym typeface="Poppins"/>
            </a:endParaRPr>
          </a:p>
        </p:txBody>
      </p:sp>
      <p:pic>
        <p:nvPicPr>
          <p:cNvPr id="251" name="Google Shape;251;p32"/>
          <p:cNvPicPr preferRelativeResize="0"/>
          <p:nvPr/>
        </p:nvPicPr>
        <p:blipFill rotWithShape="1">
          <a:blip r:embed="rId3">
            <a:alphaModFix/>
          </a:blip>
          <a:srcRect b="7584" l="0" r="0" t="13171"/>
          <a:stretch/>
        </p:blipFill>
        <p:spPr>
          <a:xfrm>
            <a:off x="345892" y="1298975"/>
            <a:ext cx="2947582" cy="23356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3"/>
          <p:cNvSpPr txBox="1"/>
          <p:nvPr/>
        </p:nvSpPr>
        <p:spPr>
          <a:xfrm>
            <a:off x="2619375" y="747725"/>
            <a:ext cx="6013500" cy="3705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id" sz="1200">
                <a:solidFill>
                  <a:schemeClr val="dk1"/>
                </a:solidFill>
                <a:latin typeface="Poppins"/>
                <a:ea typeface="Poppins"/>
                <a:cs typeface="Poppins"/>
                <a:sym typeface="Poppins"/>
              </a:rPr>
              <a:t>Undang-Undang Nomor 20 Tahun 2003 tentang Sistem Pendidikan Nasional: </a:t>
            </a:r>
            <a:r>
              <a:rPr lang="id" sz="1200">
                <a:solidFill>
                  <a:schemeClr val="dk1"/>
                </a:solidFill>
                <a:latin typeface="Poppins"/>
                <a:ea typeface="Poppins"/>
                <a:cs typeface="Poppins"/>
                <a:sym typeface="Poppins"/>
              </a:rPr>
              <a:t>Undang-undang ini menegaskan pentingnya pendidikan yang bermutu dan inklusif bagi semua anak, tanpa terkecuali. </a:t>
            </a:r>
            <a:endParaRPr sz="900"/>
          </a:p>
          <a:p>
            <a:pPr indent="0" lvl="0" marL="0" marR="0" rtl="0" algn="l">
              <a:spcBef>
                <a:spcPts val="0"/>
              </a:spcBef>
              <a:spcAft>
                <a:spcPts val="0"/>
              </a:spcAft>
              <a:buNone/>
            </a:pPr>
            <a:r>
              <a:t/>
            </a:r>
            <a:endParaRPr b="1" sz="1200">
              <a:solidFill>
                <a:schemeClr val="dk1"/>
              </a:solidFill>
              <a:latin typeface="Poppins"/>
              <a:ea typeface="Poppins"/>
              <a:cs typeface="Poppins"/>
              <a:sym typeface="Poppins"/>
            </a:endParaRPr>
          </a:p>
          <a:p>
            <a:pPr indent="0" lvl="0" marL="0" marR="0" rtl="0" algn="l">
              <a:spcBef>
                <a:spcPts val="0"/>
              </a:spcBef>
              <a:spcAft>
                <a:spcPts val="0"/>
              </a:spcAft>
              <a:buNone/>
            </a:pPr>
            <a:r>
              <a:rPr b="1" lang="id" sz="1200">
                <a:solidFill>
                  <a:schemeClr val="dk1"/>
                </a:solidFill>
                <a:latin typeface="Poppins"/>
                <a:ea typeface="Poppins"/>
                <a:cs typeface="Poppins"/>
                <a:sym typeface="Poppins"/>
              </a:rPr>
              <a:t>Peraturan Pemerintah Nomor 57 Tahun 2021 tentang Standar Nasional Pendidikan: </a:t>
            </a:r>
            <a:r>
              <a:rPr lang="id" sz="1200">
                <a:solidFill>
                  <a:schemeClr val="dk1"/>
                </a:solidFill>
                <a:latin typeface="Poppins"/>
                <a:ea typeface="Poppins"/>
                <a:cs typeface="Poppins"/>
                <a:sym typeface="Poppins"/>
              </a:rPr>
              <a:t>Peraturan ini mengatur standar-standar yang harus dipenuhi oleh satuan pendidikan, termasuk standar layanan khusus bagi peserta didik yang memiliki kebutuhan khusus.</a:t>
            </a:r>
            <a:endParaRPr sz="900"/>
          </a:p>
          <a:p>
            <a:pPr indent="0" lvl="0" marL="0" marR="0" rtl="0" algn="l">
              <a:spcBef>
                <a:spcPts val="0"/>
              </a:spcBef>
              <a:spcAft>
                <a:spcPts val="0"/>
              </a:spcAft>
              <a:buNone/>
            </a:pPr>
            <a:r>
              <a:t/>
            </a:r>
            <a:endParaRPr sz="1200">
              <a:solidFill>
                <a:srgbClr val="000000"/>
              </a:solidFill>
              <a:latin typeface="Poppins"/>
              <a:ea typeface="Poppins"/>
              <a:cs typeface="Poppins"/>
              <a:sym typeface="Poppins"/>
            </a:endParaRPr>
          </a:p>
          <a:p>
            <a:pPr indent="0" lvl="0" marL="0" marR="0" rtl="0" algn="l">
              <a:spcBef>
                <a:spcPts val="0"/>
              </a:spcBef>
              <a:spcAft>
                <a:spcPts val="0"/>
              </a:spcAft>
              <a:buNone/>
            </a:pPr>
            <a:r>
              <a:rPr b="1" lang="id" sz="1200">
                <a:solidFill>
                  <a:schemeClr val="dk1"/>
                </a:solidFill>
                <a:latin typeface="Poppins"/>
                <a:ea typeface="Poppins"/>
                <a:cs typeface="Poppins"/>
                <a:sym typeface="Poppins"/>
              </a:rPr>
              <a:t>Peraturan Walikota (Perwali) Kota Samarinda Nomor 09 Tahun 2023 tentang </a:t>
            </a:r>
            <a:r>
              <a:rPr lang="id" sz="1200">
                <a:solidFill>
                  <a:schemeClr val="dk1"/>
                </a:solidFill>
                <a:latin typeface="Poppins"/>
                <a:ea typeface="Poppins"/>
                <a:cs typeface="Poppins"/>
                <a:sym typeface="Poppins"/>
              </a:rPr>
              <a:t>Pembentukan dan Susunan Organisasi serta Tata Kerja Unit Pelaksana Teknis Daerah Pusat Layanan Disabilitas dan Pendidikan Inklusif pada Dinas Pendidikan dan Kebudayaan</a:t>
            </a:r>
            <a:endParaRPr sz="1200">
              <a:solidFill>
                <a:schemeClr val="dk1"/>
              </a:solidFill>
              <a:latin typeface="Poppins"/>
              <a:ea typeface="Poppins"/>
              <a:cs typeface="Poppins"/>
              <a:sym typeface="Poppins"/>
            </a:endParaRPr>
          </a:p>
          <a:p>
            <a:pPr indent="0" lvl="0" marL="0" marR="0" rtl="0" algn="l">
              <a:spcBef>
                <a:spcPts val="0"/>
              </a:spcBef>
              <a:spcAft>
                <a:spcPts val="0"/>
              </a:spcAft>
              <a:buNone/>
            </a:pPr>
            <a:r>
              <a:t/>
            </a:r>
            <a:endParaRPr b="1" sz="1200">
              <a:solidFill>
                <a:srgbClr val="000000"/>
              </a:solidFill>
              <a:latin typeface="Poppins"/>
              <a:ea typeface="Poppins"/>
              <a:cs typeface="Poppins"/>
              <a:sym typeface="Poppins"/>
            </a:endParaRPr>
          </a:p>
          <a:p>
            <a:pPr indent="0" lvl="0" marL="0" marR="0" rtl="0" algn="just">
              <a:lnSpc>
                <a:spcPct val="168750"/>
              </a:lnSpc>
              <a:spcBef>
                <a:spcPts val="0"/>
              </a:spcBef>
              <a:spcAft>
                <a:spcPts val="0"/>
              </a:spcAft>
              <a:buNone/>
            </a:pPr>
            <a:r>
              <a:rPr b="1" lang="id" sz="1200">
                <a:solidFill>
                  <a:schemeClr val="dk1"/>
                </a:solidFill>
                <a:latin typeface="Poppins"/>
                <a:ea typeface="Poppins"/>
                <a:cs typeface="Poppins"/>
                <a:sym typeface="Poppins"/>
              </a:rPr>
              <a:t>Peraturan Menteri Pendidikan dan Kebudayaan Nomor 1 Tahun 2021 tentang Adaptasi Kebutuhan Khusus pada Pendidikan Inklusif: </a:t>
            </a:r>
            <a:r>
              <a:rPr lang="id" sz="1200">
                <a:solidFill>
                  <a:schemeClr val="dk1"/>
                </a:solidFill>
                <a:latin typeface="Poppins"/>
                <a:ea typeface="Poppins"/>
                <a:cs typeface="Poppins"/>
                <a:sym typeface="Poppins"/>
              </a:rPr>
              <a:t>Peraturan ini memberikan pedoman bagi penyelenggaraan pendidikan inklusif, termasuk peran </a:t>
            </a:r>
            <a:r>
              <a:rPr b="1" lang="id" sz="1200">
                <a:solidFill>
                  <a:schemeClr val="dk1"/>
                </a:solidFill>
                <a:latin typeface="Poppins"/>
                <a:ea typeface="Poppins"/>
                <a:cs typeface="Poppins"/>
                <a:sym typeface="Poppins"/>
              </a:rPr>
              <a:t>Psikolog dalam asesmen dan intervensi</a:t>
            </a:r>
            <a:r>
              <a:rPr lang="id"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p:txBody>
      </p:sp>
      <p:sp>
        <p:nvSpPr>
          <p:cNvPr id="257" name="Google Shape;257;p33"/>
          <p:cNvSpPr txBox="1"/>
          <p:nvPr/>
        </p:nvSpPr>
        <p:spPr>
          <a:xfrm>
            <a:off x="571500" y="241605"/>
            <a:ext cx="8458200" cy="246300"/>
          </a:xfrm>
          <a:prstGeom prst="rect">
            <a:avLst/>
          </a:prstGeom>
          <a:noFill/>
          <a:ln>
            <a:noFill/>
          </a:ln>
        </p:spPr>
        <p:txBody>
          <a:bodyPr anchorCtr="0" anchor="t" bIns="0" lIns="0" spcFirstLastPara="1" rIns="0" wrap="square" tIns="0">
            <a:spAutoFit/>
          </a:bodyPr>
          <a:lstStyle/>
          <a:p>
            <a:pPr indent="0" lvl="0" marL="0" marR="0" rtl="0" algn="l">
              <a:lnSpc>
                <a:spcPct val="262500"/>
              </a:lnSpc>
              <a:spcBef>
                <a:spcPts val="0"/>
              </a:spcBef>
              <a:spcAft>
                <a:spcPts val="0"/>
              </a:spcAft>
              <a:buNone/>
            </a:pPr>
            <a:r>
              <a:rPr b="1" lang="id" sz="1600">
                <a:solidFill>
                  <a:schemeClr val="dk1"/>
                </a:solidFill>
                <a:latin typeface="Poppins"/>
                <a:ea typeface="Poppins"/>
                <a:cs typeface="Poppins"/>
                <a:sym typeface="Poppins"/>
              </a:rPr>
              <a:t>Latar Belakang : Landasan Aturan Pentingnya Kerjasama Psikolog di Sekolah</a:t>
            </a:r>
            <a:endParaRPr b="1" sz="1600">
              <a:solidFill>
                <a:schemeClr val="dk1"/>
              </a:solidFill>
              <a:latin typeface="Poppins"/>
              <a:ea typeface="Poppins"/>
              <a:cs typeface="Poppins"/>
              <a:sym typeface="Poppins"/>
            </a:endParaRPr>
          </a:p>
        </p:txBody>
      </p:sp>
      <p:pic>
        <p:nvPicPr>
          <p:cNvPr descr="Emancipation abstract concept vector illustration. Emancipation day, social equal rights, businesswoman ambition, motivation, girl power, work in office, female success, feminism abstract metaphor." id="258" name="Google Shape;258;p33"/>
          <p:cNvPicPr preferRelativeResize="0"/>
          <p:nvPr/>
        </p:nvPicPr>
        <p:blipFill rotWithShape="1">
          <a:blip r:embed="rId3">
            <a:alphaModFix/>
          </a:blip>
          <a:srcRect b="0" l="0" r="0" t="0"/>
          <a:stretch/>
        </p:blipFill>
        <p:spPr>
          <a:xfrm>
            <a:off x="457200" y="1009650"/>
            <a:ext cx="2162174" cy="21621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Urgensi Pendampingan ABK di Ekosistem Sekolah Inklusi</a:t>
            </a:r>
            <a:endParaRPr b="1" sz="1800">
              <a:solidFill>
                <a:srgbClr val="002646"/>
              </a:solidFill>
              <a:latin typeface="Poppins"/>
              <a:ea typeface="Poppins"/>
              <a:cs typeface="Poppins"/>
              <a:sym typeface="Poppins"/>
            </a:endParaRPr>
          </a:p>
        </p:txBody>
      </p:sp>
      <p:sp>
        <p:nvSpPr>
          <p:cNvPr id="264" name="Google Shape;264;p34"/>
          <p:cNvSpPr txBox="1"/>
          <p:nvPr/>
        </p:nvSpPr>
        <p:spPr>
          <a:xfrm>
            <a:off x="536925" y="610358"/>
            <a:ext cx="8031600" cy="9081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lang="id" sz="1400">
                <a:solidFill>
                  <a:schemeClr val="dk1"/>
                </a:solidFill>
                <a:latin typeface="Calibri"/>
                <a:ea typeface="Calibri"/>
                <a:cs typeface="Calibri"/>
                <a:sym typeface="Calibri"/>
              </a:rPr>
              <a:t>Menjembatani Kesenjangan Akses Pendidikan dan Kebutuhan Tenaga Profesional di Lapangan. Saat ini terdapat lebih dari 2,1 juta anak usia sekolah dengan disabilitas di Indonesia. Namun, ekosistem pendidikan formal saat ini masih menghadapi tantangan besar dalam hal pemerataan akses serta keterbatasan tenaga pendamping ahli di sekolah reguler.</a:t>
            </a:r>
            <a:endParaRPr sz="700"/>
          </a:p>
        </p:txBody>
      </p:sp>
      <p:sp>
        <p:nvSpPr>
          <p:cNvPr id="265" name="Google Shape;265;p34"/>
          <p:cNvSpPr txBox="1"/>
          <p:nvPr/>
        </p:nvSpPr>
        <p:spPr>
          <a:xfrm>
            <a:off x="170840" y="3166636"/>
            <a:ext cx="2635800" cy="477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id" sz="1100"/>
              <a:t>Kesenjangan Akses Pendidikan Formal </a:t>
            </a:r>
            <a:endParaRPr b="1" sz="1100"/>
          </a:p>
        </p:txBody>
      </p:sp>
      <p:sp>
        <p:nvSpPr>
          <p:cNvPr id="266" name="Google Shape;266;p34"/>
          <p:cNvSpPr txBox="1"/>
          <p:nvPr/>
        </p:nvSpPr>
        <p:spPr>
          <a:xfrm>
            <a:off x="79318" y="3466786"/>
            <a:ext cx="2989800" cy="11082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id" sz="900">
                <a:solidFill>
                  <a:schemeClr val="dk1"/>
                </a:solidFill>
              </a:rPr>
              <a:t>Fakta:</a:t>
            </a:r>
            <a:r>
              <a:rPr lang="id" sz="900">
                <a:solidFill>
                  <a:schemeClr val="dk1"/>
                </a:solidFill>
              </a:rPr>
              <a:t> Sebanyak </a:t>
            </a:r>
            <a:r>
              <a:rPr b="1" lang="id" sz="900">
                <a:solidFill>
                  <a:schemeClr val="dk1"/>
                </a:solidFill>
              </a:rPr>
              <a:t>17,85%</a:t>
            </a:r>
            <a:r>
              <a:rPr lang="id" sz="900">
                <a:solidFill>
                  <a:schemeClr val="dk1"/>
                </a:solidFill>
              </a:rPr>
              <a:t> anak penyandang disabilitas usia sekolah belum pernah mengenyam pendidikan formal sama sekali.</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rPr b="1" lang="id" sz="900">
                <a:solidFill>
                  <a:schemeClr val="dk1"/>
                </a:solidFill>
              </a:rPr>
              <a:t>Kondisi saat ini:</a:t>
            </a:r>
            <a:r>
              <a:rPr lang="id" sz="900">
                <a:solidFill>
                  <a:schemeClr val="dk1"/>
                </a:solidFill>
              </a:rPr>
              <a:t> Baru sekitar </a:t>
            </a:r>
            <a:r>
              <a:rPr b="1" lang="id" sz="900">
                <a:solidFill>
                  <a:schemeClr val="dk1"/>
                </a:solidFill>
              </a:rPr>
              <a:t>64%</a:t>
            </a:r>
            <a:r>
              <a:rPr lang="id" sz="900">
                <a:solidFill>
                  <a:schemeClr val="dk1"/>
                </a:solidFill>
              </a:rPr>
              <a:t> anak disabilitas yang terakomodasi di bangku sekolah (SLB maupun Sekolah Inklusi).</a:t>
            </a:r>
            <a:endParaRPr sz="900">
              <a:solidFill>
                <a:schemeClr val="dk1"/>
              </a:solidFill>
            </a:endParaRPr>
          </a:p>
        </p:txBody>
      </p:sp>
      <p:sp>
        <p:nvSpPr>
          <p:cNvPr id="267" name="Google Shape;267;p34"/>
          <p:cNvSpPr txBox="1"/>
          <p:nvPr/>
        </p:nvSpPr>
        <p:spPr>
          <a:xfrm>
            <a:off x="3250433" y="3151974"/>
            <a:ext cx="29898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id" sz="1100"/>
              <a:t>Krisis Guru Pembimbing Khusus (GPK)</a:t>
            </a:r>
            <a:endParaRPr b="1" sz="1100"/>
          </a:p>
        </p:txBody>
      </p:sp>
      <p:sp>
        <p:nvSpPr>
          <p:cNvPr id="268" name="Google Shape;268;p34"/>
          <p:cNvSpPr txBox="1"/>
          <p:nvPr/>
        </p:nvSpPr>
        <p:spPr>
          <a:xfrm>
            <a:off x="3158917" y="3452123"/>
            <a:ext cx="2989800" cy="1246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id" sz="900">
                <a:solidFill>
                  <a:schemeClr val="dk1"/>
                </a:solidFill>
              </a:rPr>
              <a:t>Fakta:</a:t>
            </a:r>
            <a:r>
              <a:rPr lang="id" sz="900">
                <a:solidFill>
                  <a:schemeClr val="dk1"/>
                </a:solidFill>
              </a:rPr>
              <a:t> Terdapat </a:t>
            </a:r>
            <a:r>
              <a:rPr b="1" lang="id" sz="900">
                <a:solidFill>
                  <a:schemeClr val="dk1"/>
                </a:solidFill>
              </a:rPr>
              <a:t>40.164 sekolah</a:t>
            </a:r>
            <a:r>
              <a:rPr lang="id" sz="900">
                <a:solidFill>
                  <a:schemeClr val="dk1"/>
                </a:solidFill>
              </a:rPr>
              <a:t> di Indonesia yang memiliki siswa berkebutuhan khusus.</a:t>
            </a:r>
            <a:endParaRPr sz="900">
              <a:solidFill>
                <a:schemeClr val="dk1"/>
              </a:solidFill>
            </a:endParaRPr>
          </a:p>
          <a:p>
            <a:pPr indent="0" lvl="0" marL="0" rtl="0" algn="l">
              <a:spcBef>
                <a:spcPts val="0"/>
              </a:spcBef>
              <a:spcAft>
                <a:spcPts val="0"/>
              </a:spcAft>
              <a:buClr>
                <a:schemeClr val="dk1"/>
              </a:buClr>
              <a:buSzPts val="800"/>
              <a:buFont typeface="Arial"/>
              <a:buNone/>
            </a:pPr>
            <a:r>
              <a:t/>
            </a:r>
            <a:endParaRPr sz="900">
              <a:solidFill>
                <a:schemeClr val="dk1"/>
              </a:solidFill>
            </a:endParaRPr>
          </a:p>
          <a:p>
            <a:pPr indent="0" lvl="0" marL="0" rtl="0" algn="l">
              <a:spcBef>
                <a:spcPts val="0"/>
              </a:spcBef>
              <a:spcAft>
                <a:spcPts val="0"/>
              </a:spcAft>
              <a:buClr>
                <a:schemeClr val="dk1"/>
              </a:buClr>
              <a:buSzPts val="800"/>
              <a:buFont typeface="Arial"/>
              <a:buNone/>
            </a:pPr>
            <a:r>
              <a:rPr b="1" lang="id" sz="900">
                <a:solidFill>
                  <a:schemeClr val="dk1"/>
                </a:solidFill>
              </a:rPr>
              <a:t>Kondisi saat ini:</a:t>
            </a:r>
            <a:r>
              <a:rPr lang="id" sz="900">
                <a:solidFill>
                  <a:schemeClr val="dk1"/>
                </a:solidFill>
              </a:rPr>
              <a:t> Hanya </a:t>
            </a:r>
            <a:r>
              <a:rPr b="1" lang="id" sz="900">
                <a:solidFill>
                  <a:schemeClr val="dk1"/>
                </a:solidFill>
              </a:rPr>
              <a:t>14,83%</a:t>
            </a:r>
            <a:r>
              <a:rPr lang="id" sz="900">
                <a:solidFill>
                  <a:schemeClr val="dk1"/>
                </a:solidFill>
              </a:rPr>
              <a:t> (5.956 sekolah) yang memiliki Guru Pembimbing Khusus resmi. Mayoritas sekolah inklusi sama sekali belum memiliki tenaga ahli internal</a:t>
            </a:r>
            <a:endParaRPr sz="900">
              <a:solidFill>
                <a:schemeClr val="dk1"/>
              </a:solidFill>
            </a:endParaRPr>
          </a:p>
          <a:p>
            <a:pPr indent="0" lvl="0" marL="0" rtl="0" algn="l">
              <a:spcBef>
                <a:spcPts val="0"/>
              </a:spcBef>
              <a:spcAft>
                <a:spcPts val="0"/>
              </a:spcAft>
              <a:buNone/>
            </a:pPr>
            <a:r>
              <a:t/>
            </a:r>
            <a:endParaRPr b="1" sz="900">
              <a:solidFill>
                <a:schemeClr val="dk1"/>
              </a:solidFill>
            </a:endParaRPr>
          </a:p>
        </p:txBody>
      </p:sp>
      <p:sp>
        <p:nvSpPr>
          <p:cNvPr id="269" name="Google Shape;269;p34"/>
          <p:cNvSpPr txBox="1"/>
          <p:nvPr/>
        </p:nvSpPr>
        <p:spPr>
          <a:xfrm>
            <a:off x="6256798" y="3133669"/>
            <a:ext cx="29898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id" sz="1100"/>
              <a:t>Tingginya Kebutuhan Deteksi Spesifik</a:t>
            </a:r>
            <a:endParaRPr b="1" sz="1100"/>
          </a:p>
        </p:txBody>
      </p:sp>
      <p:sp>
        <p:nvSpPr>
          <p:cNvPr id="270" name="Google Shape;270;p34"/>
          <p:cNvSpPr txBox="1"/>
          <p:nvPr/>
        </p:nvSpPr>
        <p:spPr>
          <a:xfrm>
            <a:off x="6165282" y="3433819"/>
            <a:ext cx="2989800" cy="15237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id" sz="900">
                <a:solidFill>
                  <a:schemeClr val="dk1"/>
                </a:solidFill>
              </a:rPr>
              <a:t>Fakta:</a:t>
            </a:r>
            <a:r>
              <a:rPr lang="id" sz="900">
                <a:solidFill>
                  <a:schemeClr val="dk1"/>
                </a:solidFill>
              </a:rPr>
              <a:t> Kasus tertinggi di sekolah inklusi didominasi oleh </a:t>
            </a:r>
            <a:r>
              <a:rPr b="1" lang="id" sz="900">
                <a:solidFill>
                  <a:schemeClr val="dk1"/>
                </a:solidFill>
              </a:rPr>
              <a:t>Kesulitan Belajar Spesifik (Disleksia, Disgrafia, Diskalkulia)</a:t>
            </a:r>
            <a:r>
              <a:rPr lang="id" sz="900">
                <a:solidFill>
                  <a:schemeClr val="dk1"/>
                </a:solidFill>
              </a:rPr>
              <a:t> yang mencapai 5% - 10% populasi anak, disusul oleh tren peningkatan kasus ADHD, Autisme (ASD), dan </a:t>
            </a:r>
            <a:r>
              <a:rPr i="1" lang="id" sz="900">
                <a:solidFill>
                  <a:schemeClr val="dk1"/>
                </a:solidFill>
              </a:rPr>
              <a:t>Slow Learner</a:t>
            </a:r>
            <a:r>
              <a:rPr lang="id" sz="900">
                <a:solidFill>
                  <a:schemeClr val="dk1"/>
                </a:solidFill>
              </a:rPr>
              <a:t>.</a:t>
            </a:r>
            <a:endParaRPr sz="900">
              <a:solidFill>
                <a:schemeClr val="dk1"/>
              </a:solidFill>
            </a:endParaRPr>
          </a:p>
          <a:p>
            <a:pPr indent="0" lvl="0" marL="0" rtl="0" algn="l">
              <a:spcBef>
                <a:spcPts val="0"/>
              </a:spcBef>
              <a:spcAft>
                <a:spcPts val="0"/>
              </a:spcAft>
              <a:buClr>
                <a:schemeClr val="dk1"/>
              </a:buClr>
              <a:buSzPts val="800"/>
              <a:buFont typeface="Arial"/>
              <a:buNone/>
            </a:pPr>
            <a:r>
              <a:t/>
            </a:r>
            <a:endParaRPr sz="900">
              <a:solidFill>
                <a:schemeClr val="dk1"/>
              </a:solidFill>
            </a:endParaRPr>
          </a:p>
          <a:p>
            <a:pPr indent="0" lvl="0" marL="0" rtl="0" algn="l">
              <a:spcBef>
                <a:spcPts val="0"/>
              </a:spcBef>
              <a:spcAft>
                <a:spcPts val="0"/>
              </a:spcAft>
              <a:buNone/>
            </a:pPr>
            <a:r>
              <a:rPr b="1" lang="id" sz="900">
                <a:solidFill>
                  <a:schemeClr val="dk1"/>
                </a:solidFill>
              </a:rPr>
              <a:t>Kondisi saat ini:</a:t>
            </a:r>
            <a:r>
              <a:rPr lang="id" sz="900">
                <a:solidFill>
                  <a:schemeClr val="dk1"/>
                </a:solidFill>
              </a:rPr>
              <a:t> Sekolah membutuhkan intervensi dari luar—seperti psikolog, terapis, dan </a:t>
            </a:r>
            <a:r>
              <a:rPr i="1" lang="id" sz="900">
                <a:solidFill>
                  <a:schemeClr val="dk1"/>
                </a:solidFill>
              </a:rPr>
              <a:t>shadow teacher</a:t>
            </a:r>
            <a:r>
              <a:rPr lang="id" sz="900">
                <a:solidFill>
                  <a:schemeClr val="dk1"/>
                </a:solidFill>
              </a:rPr>
              <a:t>—untuk membantu adaptasi belajar anak agar tidak dicap "malas" atau tertinggal.</a:t>
            </a:r>
            <a:endParaRPr b="1" sz="1000">
              <a:solidFill>
                <a:schemeClr val="dk1"/>
              </a:solidFill>
            </a:endParaRPr>
          </a:p>
        </p:txBody>
      </p:sp>
      <p:pic>
        <p:nvPicPr>
          <p:cNvPr id="271" name="Google Shape;271;p34"/>
          <p:cNvPicPr preferRelativeResize="0"/>
          <p:nvPr/>
        </p:nvPicPr>
        <p:blipFill>
          <a:blip r:embed="rId3">
            <a:alphaModFix/>
          </a:blip>
          <a:stretch>
            <a:fillRect/>
          </a:stretch>
        </p:blipFill>
        <p:spPr>
          <a:xfrm>
            <a:off x="477309" y="1729620"/>
            <a:ext cx="2022921" cy="1404054"/>
          </a:xfrm>
          <a:prstGeom prst="rect">
            <a:avLst/>
          </a:prstGeom>
          <a:noFill/>
          <a:ln>
            <a:noFill/>
          </a:ln>
        </p:spPr>
      </p:pic>
      <p:pic>
        <p:nvPicPr>
          <p:cNvPr id="272" name="Google Shape;272;p34"/>
          <p:cNvPicPr preferRelativeResize="0"/>
          <p:nvPr/>
        </p:nvPicPr>
        <p:blipFill>
          <a:blip r:embed="rId4">
            <a:alphaModFix/>
          </a:blip>
          <a:stretch>
            <a:fillRect/>
          </a:stretch>
        </p:blipFill>
        <p:spPr>
          <a:xfrm>
            <a:off x="3632608" y="1798358"/>
            <a:ext cx="1878781" cy="1389391"/>
          </a:xfrm>
          <a:prstGeom prst="rect">
            <a:avLst/>
          </a:prstGeom>
          <a:noFill/>
          <a:ln>
            <a:noFill/>
          </a:ln>
        </p:spPr>
      </p:pic>
      <p:pic>
        <p:nvPicPr>
          <p:cNvPr id="273" name="Google Shape;273;p34"/>
          <p:cNvPicPr preferRelativeResize="0"/>
          <p:nvPr/>
        </p:nvPicPr>
        <p:blipFill>
          <a:blip r:embed="rId5">
            <a:alphaModFix/>
          </a:blip>
          <a:stretch>
            <a:fillRect/>
          </a:stretch>
        </p:blipFill>
        <p:spPr>
          <a:xfrm>
            <a:off x="6625454" y="1725141"/>
            <a:ext cx="1895404" cy="137108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5"/>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Profil &amp; Ciri Gangguan Perkembangan Anak di Sekolah Inklusi</a:t>
            </a:r>
            <a:endParaRPr b="1" sz="1800">
              <a:solidFill>
                <a:srgbClr val="002646"/>
              </a:solidFill>
              <a:latin typeface="Poppins"/>
              <a:ea typeface="Poppins"/>
              <a:cs typeface="Poppins"/>
              <a:sym typeface="Poppins"/>
            </a:endParaRPr>
          </a:p>
        </p:txBody>
      </p:sp>
      <p:sp>
        <p:nvSpPr>
          <p:cNvPr id="279" name="Google Shape;279;p35"/>
          <p:cNvSpPr txBox="1"/>
          <p:nvPr/>
        </p:nvSpPr>
        <p:spPr>
          <a:xfrm>
            <a:off x="536925" y="610358"/>
            <a:ext cx="8031600" cy="6927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lang="id" sz="1400">
                <a:solidFill>
                  <a:schemeClr val="dk1"/>
                </a:solidFill>
                <a:latin typeface="Calibri"/>
                <a:ea typeface="Calibri"/>
                <a:cs typeface="Calibri"/>
                <a:sym typeface="Calibri"/>
              </a:rPr>
              <a:t>Daftar Gangguan Yang Paling Banyak Ditemukan Di Sekolah. Deteksi yang tepat oleh Tenaga Professional Psikolog / Dokter Spesialis Jiwa diperlukan Untuk Menegakan Diagnosa Gangguan Siswa. Beberapa Ciri Memiliki Kemiripan Namun, Perlu Penanganan Berbeda</a:t>
            </a:r>
            <a:endParaRPr sz="700"/>
          </a:p>
        </p:txBody>
      </p:sp>
      <p:graphicFrame>
        <p:nvGraphicFramePr>
          <p:cNvPr id="280" name="Google Shape;280;p35"/>
          <p:cNvGraphicFramePr/>
          <p:nvPr/>
        </p:nvGraphicFramePr>
        <p:xfrm>
          <a:off x="197513" y="1667177"/>
          <a:ext cx="3000000" cy="3000000"/>
        </p:xfrm>
        <a:graphic>
          <a:graphicData uri="http://schemas.openxmlformats.org/drawingml/2006/table">
            <a:tbl>
              <a:tblPr>
                <a:noFill/>
                <a:tableStyleId>{6E9BC604-4890-4BE8-8DDB-205DA92A7D25}</a:tableStyleId>
              </a:tblPr>
              <a:tblGrid>
                <a:gridCol w="1644950"/>
                <a:gridCol w="7148675"/>
              </a:tblGrid>
              <a:tr h="200825">
                <a:tc>
                  <a:txBody>
                    <a:bodyPr/>
                    <a:lstStyle/>
                    <a:p>
                      <a:pPr indent="0" lvl="0" marL="0" rtl="0" algn="ctr">
                        <a:lnSpc>
                          <a:spcPct val="115000"/>
                        </a:lnSpc>
                        <a:spcBef>
                          <a:spcPts val="0"/>
                        </a:spcBef>
                        <a:spcAft>
                          <a:spcPts val="0"/>
                        </a:spcAft>
                        <a:buNone/>
                      </a:pPr>
                      <a:r>
                        <a:rPr b="1" lang="id" sz="1000">
                          <a:solidFill>
                            <a:srgbClr val="1F1F1F"/>
                          </a:solidFill>
                        </a:rPr>
                        <a:t>Nama Gangguan</a:t>
                      </a:r>
                      <a:endParaRPr b="1"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solidFill>
                      <a:srgbClr val="FF00FF"/>
                    </a:solidFill>
                  </a:tcPr>
                </a:tc>
                <a:tc>
                  <a:txBody>
                    <a:bodyPr/>
                    <a:lstStyle/>
                    <a:p>
                      <a:pPr indent="0" lvl="0" marL="0" rtl="0" algn="ctr">
                        <a:lnSpc>
                          <a:spcPct val="115000"/>
                        </a:lnSpc>
                        <a:spcBef>
                          <a:spcPts val="0"/>
                        </a:spcBef>
                        <a:spcAft>
                          <a:spcPts val="0"/>
                        </a:spcAft>
                        <a:buNone/>
                      </a:pPr>
                      <a:r>
                        <a:rPr b="1" lang="id" sz="1000">
                          <a:solidFill>
                            <a:srgbClr val="1F1F1F"/>
                          </a:solidFill>
                        </a:rPr>
                        <a:t>Detail Ciri Gangguan</a:t>
                      </a:r>
                      <a:endParaRPr b="1"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solidFill>
                      <a:srgbClr val="FF00FF"/>
                    </a:solidFill>
                  </a:tcPr>
                </a:tc>
              </a:tr>
              <a:tr h="647125">
                <a:tc>
                  <a:txBody>
                    <a:bodyPr/>
                    <a:lstStyle/>
                    <a:p>
                      <a:pPr indent="0" lvl="0" marL="0" rtl="0" algn="l">
                        <a:lnSpc>
                          <a:spcPct val="115000"/>
                        </a:lnSpc>
                        <a:spcBef>
                          <a:spcPts val="0"/>
                        </a:spcBef>
                        <a:spcAft>
                          <a:spcPts val="0"/>
                        </a:spcAft>
                        <a:buNone/>
                      </a:pPr>
                      <a:r>
                        <a:rPr b="1" lang="id" sz="1000">
                          <a:solidFill>
                            <a:srgbClr val="1F1F1F"/>
                          </a:solidFill>
                        </a:rPr>
                        <a:t>ADHD / GPPH</a:t>
                      </a:r>
                      <a:r>
                        <a:rPr lang="id" sz="1000">
                          <a:solidFill>
                            <a:srgbClr val="1F1F1F"/>
                          </a:solidFill>
                        </a:rPr>
                        <a:t> </a:t>
                      </a:r>
                      <a:r>
                        <a:rPr i="1" lang="id" sz="1000">
                          <a:solidFill>
                            <a:srgbClr val="1F1F1F"/>
                          </a:solidFill>
                        </a:rPr>
                        <a:t>(Gangguan Pemusatan Perhatian dan Hiperaktivitas)</a:t>
                      </a:r>
                      <a:endParaRPr i="1"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d" sz="1000">
                          <a:solidFill>
                            <a:srgbClr val="1F1F1F"/>
                          </a:solidFill>
                        </a:rPr>
                        <a:t>* Sangat sulit untuk duduk tenang, sering gelisah, atau menggerak-gerakkan tangan/kaki.</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Mudah teralihkan fokusnya oleh hal-hal kecil di sekitarnya.</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Sering bertindak tanpa berpikir panjang (impulsif) dan sulit mengantre atau menunggu giliran.</a:t>
                      </a:r>
                      <a:endParaRPr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r>
              <a:tr h="814475">
                <a:tc>
                  <a:txBody>
                    <a:bodyPr/>
                    <a:lstStyle/>
                    <a:p>
                      <a:pPr indent="0" lvl="0" marL="0" rtl="0" algn="l">
                        <a:lnSpc>
                          <a:spcPct val="115000"/>
                        </a:lnSpc>
                        <a:spcBef>
                          <a:spcPts val="0"/>
                        </a:spcBef>
                        <a:spcAft>
                          <a:spcPts val="0"/>
                        </a:spcAft>
                        <a:buNone/>
                      </a:pPr>
                      <a:r>
                        <a:rPr b="1" lang="id" sz="1000">
                          <a:solidFill>
                            <a:srgbClr val="1F1F1F"/>
                          </a:solidFill>
                        </a:rPr>
                        <a:t>Autisme / ASD</a:t>
                      </a:r>
                      <a:r>
                        <a:rPr lang="id" sz="1000">
                          <a:solidFill>
                            <a:srgbClr val="1F1F1F"/>
                          </a:solidFill>
                        </a:rPr>
                        <a:t> </a:t>
                      </a:r>
                      <a:r>
                        <a:rPr i="1" lang="id" sz="1000">
                          <a:solidFill>
                            <a:srgbClr val="1F1F1F"/>
                          </a:solidFill>
                        </a:rPr>
                        <a:t>(Autism Spectrum Disorder)</a:t>
                      </a:r>
                      <a:endParaRPr i="1"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d" sz="1000">
                          <a:solidFill>
                            <a:srgbClr val="1F1F1F"/>
                          </a:solidFill>
                        </a:rPr>
                        <a:t>* Kesulitan berinteraksi sosial, seperti jarang menatap mata lawan bicara atau asyik dengan dunianya sendiri.</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Mengalami hambatan dalam berkomunikasi (terlambat bicara atau mengulang-ulang kata yang sama).</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Memiliki perilaku atau minat yang berulang-ulang (misal: mengepak-ngepakkan tangan, menyusun mainan secara garis lurus).</a:t>
                      </a:r>
                      <a:endParaRPr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r>
              <a:tr h="647125">
                <a:tc>
                  <a:txBody>
                    <a:bodyPr/>
                    <a:lstStyle/>
                    <a:p>
                      <a:pPr indent="0" lvl="0" marL="0" rtl="0" algn="l">
                        <a:lnSpc>
                          <a:spcPct val="115000"/>
                        </a:lnSpc>
                        <a:spcBef>
                          <a:spcPts val="0"/>
                        </a:spcBef>
                        <a:spcAft>
                          <a:spcPts val="0"/>
                        </a:spcAft>
                        <a:buNone/>
                      </a:pPr>
                      <a:r>
                        <a:rPr b="1" lang="id" sz="1000">
                          <a:solidFill>
                            <a:srgbClr val="1F1F1F"/>
                          </a:solidFill>
                        </a:rPr>
                        <a:t>Disleksia</a:t>
                      </a:r>
                      <a:r>
                        <a:rPr lang="id" sz="1000">
                          <a:solidFill>
                            <a:srgbClr val="1F1F1F"/>
                          </a:solidFill>
                        </a:rPr>
                        <a:t> </a:t>
                      </a:r>
                      <a:r>
                        <a:rPr i="1" lang="id" sz="1000">
                          <a:solidFill>
                            <a:srgbClr val="1F1F1F"/>
                          </a:solidFill>
                        </a:rPr>
                        <a:t>(Gangguan Belajar Membaca)</a:t>
                      </a:r>
                      <a:endParaRPr i="1"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d" sz="1000">
                          <a:solidFill>
                            <a:srgbClr val="1F1F1F"/>
                          </a:solidFill>
                        </a:rPr>
                        <a:t>* Kesulitan mengenali huruf, mengeja kata, atau membaca dengan lancar.</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Sering kali tertukar saat melihat huruf yang mirip secara visual (seperti </a:t>
                      </a:r>
                      <a:r>
                        <a:rPr b="1" lang="id" sz="1000">
                          <a:solidFill>
                            <a:srgbClr val="1F1F1F"/>
                          </a:solidFill>
                        </a:rPr>
                        <a:t>b</a:t>
                      </a:r>
                      <a:r>
                        <a:rPr lang="id" sz="1000">
                          <a:solidFill>
                            <a:srgbClr val="1F1F1F"/>
                          </a:solidFill>
                        </a:rPr>
                        <a:t> dan </a:t>
                      </a:r>
                      <a:r>
                        <a:rPr b="1" lang="id" sz="1000">
                          <a:solidFill>
                            <a:srgbClr val="1F1F1F"/>
                          </a:solidFill>
                        </a:rPr>
                        <a:t>d</a:t>
                      </a:r>
                      <a:r>
                        <a:rPr lang="id" sz="1000">
                          <a:solidFill>
                            <a:srgbClr val="1F1F1F"/>
                          </a:solidFill>
                        </a:rPr>
                        <a:t>, atau </a:t>
                      </a:r>
                      <a:r>
                        <a:rPr b="1" lang="id" sz="1000">
                          <a:solidFill>
                            <a:srgbClr val="1F1F1F"/>
                          </a:solidFill>
                        </a:rPr>
                        <a:t>p</a:t>
                      </a:r>
                      <a:r>
                        <a:rPr lang="id" sz="1000">
                          <a:solidFill>
                            <a:srgbClr val="1F1F1F"/>
                          </a:solidFill>
                        </a:rPr>
                        <a:t> dan </a:t>
                      </a:r>
                      <a:r>
                        <a:rPr b="1" lang="id" sz="1000">
                          <a:solidFill>
                            <a:srgbClr val="1F1F1F"/>
                          </a:solidFill>
                        </a:rPr>
                        <a:t>q</a:t>
                      </a:r>
                      <a:r>
                        <a:rPr lang="id" sz="1000">
                          <a:solidFill>
                            <a:srgbClr val="1F1F1F"/>
                          </a:solidFill>
                        </a:rPr>
                        <a:t>).</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Butuh waktu lebih lama untuk memahami isi teks yang dibaca.</a:t>
                      </a:r>
                      <a:endParaRPr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Profil &amp; Ciri Gangguan Perkembangan Anak di Sekolah Inklusi</a:t>
            </a:r>
            <a:endParaRPr b="1" sz="1800">
              <a:solidFill>
                <a:srgbClr val="002646"/>
              </a:solidFill>
              <a:latin typeface="Poppins"/>
              <a:ea typeface="Poppins"/>
              <a:cs typeface="Poppins"/>
              <a:sym typeface="Poppins"/>
            </a:endParaRPr>
          </a:p>
        </p:txBody>
      </p:sp>
      <p:graphicFrame>
        <p:nvGraphicFramePr>
          <p:cNvPr id="286" name="Google Shape;286;p36"/>
          <p:cNvGraphicFramePr/>
          <p:nvPr/>
        </p:nvGraphicFramePr>
        <p:xfrm>
          <a:off x="197513" y="744394"/>
          <a:ext cx="3000000" cy="3000000"/>
        </p:xfrm>
        <a:graphic>
          <a:graphicData uri="http://schemas.openxmlformats.org/drawingml/2006/table">
            <a:tbl>
              <a:tblPr>
                <a:noFill/>
                <a:tableStyleId>{6E9BC604-4890-4BE8-8DDB-205DA92A7D25}</a:tableStyleId>
              </a:tblPr>
              <a:tblGrid>
                <a:gridCol w="1912650"/>
                <a:gridCol w="6959900"/>
              </a:tblGrid>
              <a:tr h="258425">
                <a:tc>
                  <a:txBody>
                    <a:bodyPr/>
                    <a:lstStyle/>
                    <a:p>
                      <a:pPr indent="0" lvl="0" marL="0" rtl="0" algn="ctr">
                        <a:lnSpc>
                          <a:spcPct val="115000"/>
                        </a:lnSpc>
                        <a:spcBef>
                          <a:spcPts val="0"/>
                        </a:spcBef>
                        <a:spcAft>
                          <a:spcPts val="0"/>
                        </a:spcAft>
                        <a:buNone/>
                      </a:pPr>
                      <a:r>
                        <a:rPr b="1" lang="id" sz="1000">
                          <a:solidFill>
                            <a:srgbClr val="1F1F1F"/>
                          </a:solidFill>
                        </a:rPr>
                        <a:t>Nama Gangguan</a:t>
                      </a:r>
                      <a:endParaRPr b="1"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solidFill>
                      <a:srgbClr val="FF00FF"/>
                    </a:solidFill>
                  </a:tcPr>
                </a:tc>
                <a:tc>
                  <a:txBody>
                    <a:bodyPr/>
                    <a:lstStyle/>
                    <a:p>
                      <a:pPr indent="0" lvl="0" marL="0" rtl="0" algn="ctr">
                        <a:lnSpc>
                          <a:spcPct val="115000"/>
                        </a:lnSpc>
                        <a:spcBef>
                          <a:spcPts val="0"/>
                        </a:spcBef>
                        <a:spcAft>
                          <a:spcPts val="0"/>
                        </a:spcAft>
                        <a:buNone/>
                      </a:pPr>
                      <a:r>
                        <a:rPr b="1" lang="id" sz="1000">
                          <a:solidFill>
                            <a:srgbClr val="1F1F1F"/>
                          </a:solidFill>
                        </a:rPr>
                        <a:t>Detail Ciri Gangguan</a:t>
                      </a:r>
                      <a:endParaRPr b="1"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solidFill>
                      <a:srgbClr val="FF00FF"/>
                    </a:solidFill>
                  </a:tcPr>
                </a:tc>
              </a:tr>
              <a:tr h="758700">
                <a:tc>
                  <a:txBody>
                    <a:bodyPr/>
                    <a:lstStyle/>
                    <a:p>
                      <a:pPr indent="0" lvl="0" marL="0" rtl="0" algn="l">
                        <a:lnSpc>
                          <a:spcPct val="115000"/>
                        </a:lnSpc>
                        <a:spcBef>
                          <a:spcPts val="0"/>
                        </a:spcBef>
                        <a:spcAft>
                          <a:spcPts val="0"/>
                        </a:spcAft>
                        <a:buNone/>
                      </a:pPr>
                      <a:r>
                        <a:rPr b="1" lang="id" sz="1000">
                          <a:solidFill>
                            <a:srgbClr val="1F1F1F"/>
                          </a:solidFill>
                        </a:rPr>
                        <a:t>Disgrafia</a:t>
                      </a:r>
                      <a:r>
                        <a:rPr lang="id" sz="1000">
                          <a:solidFill>
                            <a:srgbClr val="1F1F1F"/>
                          </a:solidFill>
                        </a:rPr>
                        <a:t> </a:t>
                      </a:r>
                      <a:r>
                        <a:rPr i="1" lang="id" sz="1000">
                          <a:solidFill>
                            <a:srgbClr val="1F1F1F"/>
                          </a:solidFill>
                        </a:rPr>
                        <a:t>(Gangguan Belajar Menulis)</a:t>
                      </a:r>
                      <a:endParaRPr i="1"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d" sz="1000">
                          <a:solidFill>
                            <a:srgbClr val="1F1F1F"/>
                          </a:solidFill>
                        </a:rPr>
                        <a:t>* Tulisan tangan sangat sulit dibaca, ukuran huruf tidak konsisten (besar-kecil tercampur), atau jarak antar kata tidak beraturan.</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Kesulitan memegang pensil dengan benar dan otot tangan cepat lelah saat menulis.</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Sering kesulitan menuangkan ide dari pikiran ke dalam bentuk tulisan.</a:t>
                      </a:r>
                      <a:endParaRPr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r>
              <a:tr h="714050">
                <a:tc>
                  <a:txBody>
                    <a:bodyPr/>
                    <a:lstStyle/>
                    <a:p>
                      <a:pPr indent="0" lvl="0" marL="0" rtl="0" algn="l">
                        <a:lnSpc>
                          <a:spcPct val="115000"/>
                        </a:lnSpc>
                        <a:spcBef>
                          <a:spcPts val="0"/>
                        </a:spcBef>
                        <a:spcAft>
                          <a:spcPts val="0"/>
                        </a:spcAft>
                        <a:buNone/>
                      </a:pPr>
                      <a:r>
                        <a:rPr b="1" lang="id" sz="1000">
                          <a:solidFill>
                            <a:srgbClr val="1F1F1F"/>
                          </a:solidFill>
                        </a:rPr>
                        <a:t>Diskalkulia</a:t>
                      </a:r>
                      <a:r>
                        <a:rPr lang="id" sz="1000">
                          <a:solidFill>
                            <a:srgbClr val="1F1F1F"/>
                          </a:solidFill>
                        </a:rPr>
                        <a:t> </a:t>
                      </a:r>
                      <a:r>
                        <a:rPr i="1" lang="id" sz="1000">
                          <a:solidFill>
                            <a:srgbClr val="1F1F1F"/>
                          </a:solidFill>
                        </a:rPr>
                        <a:t>(Gangguan Belajar Berhitung)</a:t>
                      </a:r>
                      <a:endParaRPr i="1"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d" sz="1000">
                          <a:solidFill>
                            <a:srgbClr val="1F1F1F"/>
                          </a:solidFill>
                        </a:rPr>
                        <a:t>* Kesulitan memahami konsep matematika dasar (seperti lambang tambah 6+9, kurang 5-2, kali 6x9, bagi 5:2.</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Sangat sulit menghitung atau mengingat urutan angka.</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Bingung membedakan konsep visual seperti grafik, waktu (membaca jam), atau nilai mata uang.</a:t>
                      </a:r>
                      <a:endParaRPr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r>
              <a:tr h="647125">
                <a:tc>
                  <a:txBody>
                    <a:bodyPr/>
                    <a:lstStyle/>
                    <a:p>
                      <a:pPr indent="0" lvl="0" marL="0" rtl="0" algn="l">
                        <a:lnSpc>
                          <a:spcPct val="115000"/>
                        </a:lnSpc>
                        <a:spcBef>
                          <a:spcPts val="0"/>
                        </a:spcBef>
                        <a:spcAft>
                          <a:spcPts val="0"/>
                        </a:spcAft>
                        <a:buNone/>
                      </a:pPr>
                      <a:r>
                        <a:rPr b="1" lang="id" sz="1000">
                          <a:solidFill>
                            <a:srgbClr val="1F1F1F"/>
                          </a:solidFill>
                        </a:rPr>
                        <a:t>Speech Delay / Gangguan Bahasa</a:t>
                      </a:r>
                      <a:endParaRPr b="1"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d" sz="1000">
                          <a:solidFill>
                            <a:srgbClr val="1F1F1F"/>
                          </a:solidFill>
                        </a:rPr>
                        <a:t>* Terlambat berbicara dibandingkan anak seusianya.</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Kesulitan menyusun kalimat yang jelas atau memilih kata yang tepat saat ingin menyampaikan sesuatu.</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Sering kali sulit memahami instruksi atau perintah panjang dari guru.</a:t>
                      </a:r>
                      <a:endParaRPr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r>
              <a:tr h="714050">
                <a:tc>
                  <a:txBody>
                    <a:bodyPr/>
                    <a:lstStyle/>
                    <a:p>
                      <a:pPr indent="0" lvl="0" marL="0" rtl="0" algn="l">
                        <a:lnSpc>
                          <a:spcPct val="115000"/>
                        </a:lnSpc>
                        <a:spcBef>
                          <a:spcPts val="0"/>
                        </a:spcBef>
                        <a:spcAft>
                          <a:spcPts val="0"/>
                        </a:spcAft>
                        <a:buNone/>
                      </a:pPr>
                      <a:r>
                        <a:rPr b="1" lang="id" sz="1000">
                          <a:solidFill>
                            <a:srgbClr val="1F1F1F"/>
                          </a:solidFill>
                        </a:rPr>
                        <a:t>Slow Learner</a:t>
                      </a:r>
                      <a:r>
                        <a:rPr lang="id" sz="1000">
                          <a:solidFill>
                            <a:srgbClr val="1F1F1F"/>
                          </a:solidFill>
                        </a:rPr>
                        <a:t> </a:t>
                      </a:r>
                      <a:r>
                        <a:rPr i="1" lang="id" sz="1000">
                          <a:solidFill>
                            <a:srgbClr val="1F1F1F"/>
                          </a:solidFill>
                        </a:rPr>
                        <a:t>(Lamban Belajar)</a:t>
                      </a:r>
                      <a:endParaRPr i="1"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d" sz="1000">
                          <a:solidFill>
                            <a:srgbClr val="1F1F1F"/>
                          </a:solidFill>
                        </a:rPr>
                        <a:t>* Memiliki kemampuan berpikir yang sedikit di bawah rata-rata, namun bukan disabilitas intelektual parah.</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Membutuhkan pengulangan materi berkali-kali dan waktu yang jauh lebih lama untuk memahami pelajaran baru.</a:t>
                      </a:r>
                      <a:endParaRPr sz="1000">
                        <a:solidFill>
                          <a:srgbClr val="1F1F1F"/>
                        </a:solidFill>
                      </a:endParaRPr>
                    </a:p>
                    <a:p>
                      <a:pPr indent="0" lvl="0" marL="0" rtl="0" algn="l">
                        <a:lnSpc>
                          <a:spcPct val="115000"/>
                        </a:lnSpc>
                        <a:spcBef>
                          <a:spcPts val="0"/>
                        </a:spcBef>
                        <a:spcAft>
                          <a:spcPts val="0"/>
                        </a:spcAft>
                        <a:buNone/>
                      </a:pPr>
                      <a:r>
                        <a:t/>
                      </a:r>
                      <a:endParaRPr sz="1000">
                        <a:solidFill>
                          <a:srgbClr val="1F1F1F"/>
                        </a:solidFill>
                      </a:endParaRPr>
                    </a:p>
                    <a:p>
                      <a:pPr indent="0" lvl="0" marL="0" rtl="0" algn="l">
                        <a:lnSpc>
                          <a:spcPct val="115000"/>
                        </a:lnSpc>
                        <a:spcBef>
                          <a:spcPts val="0"/>
                        </a:spcBef>
                        <a:spcAft>
                          <a:spcPts val="0"/>
                        </a:spcAft>
                        <a:buNone/>
                      </a:pPr>
                      <a:r>
                        <a:rPr lang="id" sz="1000">
                          <a:solidFill>
                            <a:srgbClr val="1F1F1F"/>
                          </a:solidFill>
                        </a:rPr>
                        <a:t>* Kesulitan menangkap konsep yang sifatnya abstrak atau rumit.</a:t>
                      </a:r>
                      <a:endParaRPr sz="1000">
                        <a:solidFill>
                          <a:srgbClr val="1F1F1F"/>
                        </a:solidFill>
                      </a:endParaRPr>
                    </a:p>
                  </a:txBody>
                  <a:tcPr marT="57150" marB="57150" marR="85725" marL="85725">
                    <a:lnL cap="flat" cmpd="sng" w="4775">
                      <a:solidFill>
                        <a:srgbClr val="C4C7C5"/>
                      </a:solidFill>
                      <a:prstDash val="solid"/>
                      <a:round/>
                      <a:headEnd len="sm" w="sm" type="none"/>
                      <a:tailEnd len="sm" w="sm" type="none"/>
                    </a:lnL>
                    <a:lnR cap="flat" cmpd="sng" w="4775">
                      <a:solidFill>
                        <a:srgbClr val="C4C7C5"/>
                      </a:solidFill>
                      <a:prstDash val="solid"/>
                      <a:round/>
                      <a:headEnd len="sm" w="sm" type="none"/>
                      <a:tailEnd len="sm" w="sm" type="none"/>
                    </a:lnR>
                    <a:lnT cap="flat" cmpd="sng" w="4775">
                      <a:solidFill>
                        <a:srgbClr val="C4C7C5"/>
                      </a:solidFill>
                      <a:prstDash val="solid"/>
                      <a:round/>
                      <a:headEnd len="sm" w="sm" type="none"/>
                      <a:tailEnd len="sm" w="sm" type="none"/>
                    </a:lnT>
                    <a:lnB cap="flat" cmpd="sng" w="4775">
                      <a:solidFill>
                        <a:srgbClr val="C4C7C5"/>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7"/>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Mengenal Lebih Dekat Peran Shadow Teacher</a:t>
            </a:r>
            <a:endParaRPr b="1" sz="1800">
              <a:solidFill>
                <a:srgbClr val="002646"/>
              </a:solidFill>
              <a:latin typeface="Poppins"/>
              <a:ea typeface="Poppins"/>
              <a:cs typeface="Poppins"/>
              <a:sym typeface="Poppins"/>
            </a:endParaRPr>
          </a:p>
        </p:txBody>
      </p:sp>
      <p:sp>
        <p:nvSpPr>
          <p:cNvPr id="292" name="Google Shape;292;p37"/>
          <p:cNvSpPr txBox="1"/>
          <p:nvPr/>
        </p:nvSpPr>
        <p:spPr>
          <a:xfrm>
            <a:off x="947823" y="738485"/>
            <a:ext cx="7228500" cy="4770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lang="id">
                <a:solidFill>
                  <a:schemeClr val="dk1"/>
                </a:solidFill>
                <a:latin typeface="Calibri"/>
                <a:ea typeface="Calibri"/>
                <a:cs typeface="Calibri"/>
                <a:sym typeface="Calibri"/>
              </a:rPr>
              <a:t>Jembatan Kemandirian Ananda di Sekolah Inklusi. Banyak orang tua yang mengira Shadow Teacher adalah</a:t>
            </a:r>
            <a:r>
              <a:rPr b="1" lang="id">
                <a:solidFill>
                  <a:schemeClr val="dk1"/>
                </a:solidFill>
                <a:latin typeface="Calibri"/>
                <a:ea typeface="Calibri"/>
                <a:cs typeface="Calibri"/>
                <a:sym typeface="Calibri"/>
              </a:rPr>
              <a:t> asisten pribad</a:t>
            </a:r>
            <a:r>
              <a:rPr lang="id">
                <a:solidFill>
                  <a:schemeClr val="dk1"/>
                </a:solidFill>
                <a:latin typeface="Calibri"/>
                <a:ea typeface="Calibri"/>
                <a:cs typeface="Calibri"/>
                <a:sym typeface="Calibri"/>
              </a:rPr>
              <a:t>i yang akan melayani anak. Mari kita luruskan persepsi ini bersama:</a:t>
            </a:r>
            <a:endParaRPr sz="1400">
              <a:solidFill>
                <a:schemeClr val="dk1"/>
              </a:solidFill>
              <a:latin typeface="Calibri"/>
              <a:ea typeface="Calibri"/>
              <a:cs typeface="Calibri"/>
              <a:sym typeface="Calibri"/>
            </a:endParaRPr>
          </a:p>
        </p:txBody>
      </p:sp>
      <p:sp>
        <p:nvSpPr>
          <p:cNvPr id="293" name="Google Shape;293;p37"/>
          <p:cNvSpPr txBox="1"/>
          <p:nvPr/>
        </p:nvSpPr>
        <p:spPr>
          <a:xfrm>
            <a:off x="279600" y="3452555"/>
            <a:ext cx="26979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100">
                <a:solidFill>
                  <a:schemeClr val="dk1"/>
                </a:solidFill>
              </a:rPr>
              <a:t>Bukan Pendamping Fisik (Baby Sitter):</a:t>
            </a:r>
            <a:r>
              <a:rPr lang="id" sz="1100">
                <a:solidFill>
                  <a:schemeClr val="dk1"/>
                </a:solidFill>
              </a:rPr>
              <a:t> </a:t>
            </a:r>
            <a:r>
              <a:rPr i="1" lang="id" sz="1100">
                <a:solidFill>
                  <a:schemeClr val="dk1"/>
                </a:solidFill>
              </a:rPr>
              <a:t>Shadow teacher</a:t>
            </a:r>
            <a:r>
              <a:rPr lang="id" sz="1100">
                <a:solidFill>
                  <a:schemeClr val="dk1"/>
                </a:solidFill>
              </a:rPr>
              <a:t> tidak bertugas untuk menyuapi, menggendong, atau mengerjakan tugas sekolah Ananda.</a:t>
            </a:r>
            <a:endParaRPr/>
          </a:p>
        </p:txBody>
      </p:sp>
      <p:sp>
        <p:nvSpPr>
          <p:cNvPr id="294" name="Google Shape;294;p37"/>
          <p:cNvSpPr txBox="1"/>
          <p:nvPr/>
        </p:nvSpPr>
        <p:spPr>
          <a:xfrm>
            <a:off x="3214724" y="3412665"/>
            <a:ext cx="26979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100">
                <a:solidFill>
                  <a:schemeClr val="dk1"/>
                </a:solidFill>
              </a:rPr>
              <a:t>Melainkan Fasilitator Klinis:</a:t>
            </a:r>
            <a:r>
              <a:rPr lang="id" sz="1100">
                <a:solidFill>
                  <a:schemeClr val="dk1"/>
                </a:solidFill>
              </a:rPr>
              <a:t> Mereka adalah tenaga profesional (Latar belakang Psikologi/PAUD/BK) yang bertugas </a:t>
            </a:r>
            <a:r>
              <a:rPr b="1" lang="id" sz="1100">
                <a:solidFill>
                  <a:schemeClr val="dk1"/>
                </a:solidFill>
              </a:rPr>
              <a:t>memodifikasi instruksi guru</a:t>
            </a:r>
            <a:r>
              <a:rPr lang="id" sz="1100">
                <a:solidFill>
                  <a:schemeClr val="dk1"/>
                </a:solidFill>
              </a:rPr>
              <a:t> agar dipahami Ananda, mengelola emosi (tantrum), dan membangun interaksi sosial dengan teman sekelas.</a:t>
            </a:r>
            <a:endParaRPr/>
          </a:p>
        </p:txBody>
      </p:sp>
      <p:sp>
        <p:nvSpPr>
          <p:cNvPr id="295" name="Google Shape;295;p37"/>
          <p:cNvSpPr txBox="1"/>
          <p:nvPr/>
        </p:nvSpPr>
        <p:spPr>
          <a:xfrm>
            <a:off x="6291884" y="3374493"/>
            <a:ext cx="26979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100">
                <a:solidFill>
                  <a:schemeClr val="dk1"/>
                </a:solidFill>
              </a:rPr>
              <a:t>Target Akhir adalah "Menghilang" (</a:t>
            </a:r>
            <a:r>
              <a:rPr b="1" i="1" lang="id" sz="1100">
                <a:solidFill>
                  <a:schemeClr val="dk1"/>
                </a:solidFill>
              </a:rPr>
              <a:t>Fading</a:t>
            </a:r>
            <a:r>
              <a:rPr b="1" lang="id" sz="1100">
                <a:solidFill>
                  <a:schemeClr val="dk1"/>
                </a:solidFill>
              </a:rPr>
              <a:t>):</a:t>
            </a:r>
            <a:r>
              <a:rPr lang="id" sz="1100">
                <a:solidFill>
                  <a:schemeClr val="dk1"/>
                </a:solidFill>
              </a:rPr>
              <a:t> Keberadaan </a:t>
            </a:r>
            <a:r>
              <a:rPr i="1" lang="id" sz="1100">
                <a:solidFill>
                  <a:schemeClr val="dk1"/>
                </a:solidFill>
              </a:rPr>
              <a:t>shadow</a:t>
            </a:r>
            <a:r>
              <a:rPr lang="id" sz="1100">
                <a:solidFill>
                  <a:schemeClr val="dk1"/>
                </a:solidFill>
              </a:rPr>
              <a:t> bersifat sementara. Seiring meningkatnya kemandirian Ananda, </a:t>
            </a:r>
            <a:r>
              <a:rPr i="1" lang="id" sz="1100">
                <a:solidFill>
                  <a:schemeClr val="dk1"/>
                </a:solidFill>
              </a:rPr>
              <a:t>shadow</a:t>
            </a:r>
            <a:r>
              <a:rPr lang="id" sz="1100">
                <a:solidFill>
                  <a:schemeClr val="dk1"/>
                </a:solidFill>
              </a:rPr>
              <a:t> akan mengurangi bantuan secara bertahap hingga Ananda bisa mandiri seutuhnya di kelas.</a:t>
            </a:r>
            <a:endParaRPr/>
          </a:p>
        </p:txBody>
      </p:sp>
      <p:pic>
        <p:nvPicPr>
          <p:cNvPr id="296" name="Google Shape;296;p37"/>
          <p:cNvPicPr preferRelativeResize="0"/>
          <p:nvPr/>
        </p:nvPicPr>
        <p:blipFill>
          <a:blip r:embed="rId3">
            <a:alphaModFix/>
          </a:blip>
          <a:stretch>
            <a:fillRect/>
          </a:stretch>
        </p:blipFill>
        <p:spPr>
          <a:xfrm>
            <a:off x="197525" y="1778809"/>
            <a:ext cx="2779976" cy="1517587"/>
          </a:xfrm>
          <a:prstGeom prst="rect">
            <a:avLst/>
          </a:prstGeom>
          <a:noFill/>
          <a:ln>
            <a:noFill/>
          </a:ln>
        </p:spPr>
      </p:pic>
      <p:pic>
        <p:nvPicPr>
          <p:cNvPr id="297" name="Google Shape;297;p37"/>
          <p:cNvPicPr preferRelativeResize="0"/>
          <p:nvPr/>
        </p:nvPicPr>
        <p:blipFill rotWithShape="1">
          <a:blip r:embed="rId4">
            <a:alphaModFix/>
          </a:blip>
          <a:srcRect b="17878" l="0" r="0" t="28820"/>
          <a:stretch/>
        </p:blipFill>
        <p:spPr>
          <a:xfrm>
            <a:off x="3414725" y="1763934"/>
            <a:ext cx="1899121" cy="1517599"/>
          </a:xfrm>
          <a:prstGeom prst="rect">
            <a:avLst/>
          </a:prstGeom>
          <a:noFill/>
          <a:ln>
            <a:noFill/>
          </a:ln>
        </p:spPr>
      </p:pic>
      <p:pic>
        <p:nvPicPr>
          <p:cNvPr id="298" name="Google Shape;298;p37"/>
          <p:cNvPicPr preferRelativeResize="0"/>
          <p:nvPr/>
        </p:nvPicPr>
        <p:blipFill>
          <a:blip r:embed="rId5">
            <a:alphaModFix/>
          </a:blip>
          <a:stretch>
            <a:fillRect/>
          </a:stretch>
        </p:blipFill>
        <p:spPr>
          <a:xfrm>
            <a:off x="6201125" y="1777974"/>
            <a:ext cx="2481048" cy="1369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8"/>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Mengapa Pendampingan &amp; Terapi Sangat Diperlukan? </a:t>
            </a:r>
            <a:endParaRPr b="1" sz="1800">
              <a:solidFill>
                <a:srgbClr val="002646"/>
              </a:solidFill>
              <a:latin typeface="Poppins"/>
              <a:ea typeface="Poppins"/>
              <a:cs typeface="Poppins"/>
              <a:sym typeface="Poppins"/>
            </a:endParaRPr>
          </a:p>
        </p:txBody>
      </p:sp>
      <p:sp>
        <p:nvSpPr>
          <p:cNvPr id="304" name="Google Shape;304;p38"/>
          <p:cNvSpPr txBox="1"/>
          <p:nvPr/>
        </p:nvSpPr>
        <p:spPr>
          <a:xfrm>
            <a:off x="947823" y="738485"/>
            <a:ext cx="7228500" cy="6927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lang="id">
                <a:solidFill>
                  <a:schemeClr val="dk1"/>
                </a:solidFill>
                <a:latin typeface="Calibri"/>
                <a:ea typeface="Calibri"/>
                <a:cs typeface="Calibri"/>
                <a:sym typeface="Calibri"/>
              </a:rPr>
              <a:t>Menyelaraskan Struktur Klinik ke dalam Ruang Kelas. Sekolah reguler memiliki tantangan sosial dan sensorik yang sangat kompleks bagi anak dengan indikasi ABK. Inilah alasan mengapa intervensi ini krusial:</a:t>
            </a:r>
            <a:endParaRPr sz="1400">
              <a:solidFill>
                <a:schemeClr val="dk1"/>
              </a:solidFill>
              <a:latin typeface="Calibri"/>
              <a:ea typeface="Calibri"/>
              <a:cs typeface="Calibri"/>
              <a:sym typeface="Calibri"/>
            </a:endParaRPr>
          </a:p>
        </p:txBody>
      </p:sp>
      <p:sp>
        <p:nvSpPr>
          <p:cNvPr id="305" name="Google Shape;305;p38"/>
          <p:cNvSpPr txBox="1"/>
          <p:nvPr/>
        </p:nvSpPr>
        <p:spPr>
          <a:xfrm>
            <a:off x="279600" y="3452555"/>
            <a:ext cx="26979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100">
                <a:solidFill>
                  <a:schemeClr val="dk1"/>
                </a:solidFill>
              </a:rPr>
              <a:t>Menurunkan Kecemasan Performa (</a:t>
            </a:r>
            <a:r>
              <a:rPr b="1" i="1" lang="id" sz="1100">
                <a:solidFill>
                  <a:schemeClr val="dk1"/>
                </a:solidFill>
              </a:rPr>
              <a:t>Performance Anxiety</a:t>
            </a:r>
            <a:r>
              <a:rPr b="1" lang="id" sz="1100">
                <a:solidFill>
                  <a:schemeClr val="dk1"/>
                </a:solidFill>
              </a:rPr>
              <a:t>):</a:t>
            </a:r>
            <a:r>
              <a:rPr lang="id" sz="1100">
                <a:solidFill>
                  <a:schemeClr val="dk1"/>
                </a:solidFill>
              </a:rPr>
              <a:t> Tuntutan kelas yang tinggi sering memicu stres pada anak. </a:t>
            </a:r>
            <a:r>
              <a:rPr i="1" lang="id" sz="1100">
                <a:solidFill>
                  <a:schemeClr val="dk1"/>
                </a:solidFill>
              </a:rPr>
              <a:t>Shadow</a:t>
            </a:r>
            <a:r>
              <a:rPr lang="id" sz="1100">
                <a:solidFill>
                  <a:schemeClr val="dk1"/>
                </a:solidFill>
              </a:rPr>
              <a:t> hadir untuk memecah tugas besar menjadi kecil (</a:t>
            </a:r>
            <a:r>
              <a:rPr i="1" lang="id" sz="1100">
                <a:solidFill>
                  <a:schemeClr val="dk1"/>
                </a:solidFill>
              </a:rPr>
              <a:t>Task Slicing</a:t>
            </a:r>
            <a:r>
              <a:rPr lang="id" sz="1100">
                <a:solidFill>
                  <a:schemeClr val="dk1"/>
                </a:solidFill>
              </a:rPr>
              <a:t>) agar anak merasa mampu dan tidak tantrum </a:t>
            </a:r>
            <a:endParaRPr/>
          </a:p>
        </p:txBody>
      </p:sp>
      <p:sp>
        <p:nvSpPr>
          <p:cNvPr id="306" name="Google Shape;306;p38"/>
          <p:cNvSpPr txBox="1"/>
          <p:nvPr/>
        </p:nvSpPr>
        <p:spPr>
          <a:xfrm>
            <a:off x="3214724" y="3412665"/>
            <a:ext cx="26979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100">
                <a:solidFill>
                  <a:schemeClr val="dk1"/>
                </a:solidFill>
              </a:rPr>
              <a:t>Mencegah Overload Sensorik:</a:t>
            </a:r>
            <a:r>
              <a:rPr lang="id" sz="1100">
                <a:solidFill>
                  <a:schemeClr val="dk1"/>
                </a:solidFill>
              </a:rPr>
              <a:t> Kelas yang bising dan ramai dapat memicu </a:t>
            </a:r>
            <a:r>
              <a:rPr i="1" lang="id" sz="1100">
                <a:solidFill>
                  <a:schemeClr val="dk1"/>
                </a:solidFill>
              </a:rPr>
              <a:t>stimming</a:t>
            </a:r>
            <a:r>
              <a:rPr lang="id" sz="1100">
                <a:solidFill>
                  <a:schemeClr val="dk1"/>
                </a:solidFill>
              </a:rPr>
              <a:t> atau emosi tidak stabil. </a:t>
            </a:r>
            <a:r>
              <a:rPr i="1" lang="id" sz="1100">
                <a:solidFill>
                  <a:schemeClr val="dk1"/>
                </a:solidFill>
              </a:rPr>
              <a:t>Shadow</a:t>
            </a:r>
            <a:r>
              <a:rPr lang="id" sz="1100">
                <a:solidFill>
                  <a:schemeClr val="dk1"/>
                </a:solidFill>
              </a:rPr>
              <a:t> terlatih mendeteksi pemicu (</a:t>
            </a:r>
            <a:r>
              <a:rPr i="1" lang="id" sz="1100">
                <a:solidFill>
                  <a:schemeClr val="dk1"/>
                </a:solidFill>
              </a:rPr>
              <a:t>Antecedent</a:t>
            </a:r>
            <a:r>
              <a:rPr lang="id" sz="1100">
                <a:solidFill>
                  <a:schemeClr val="dk1"/>
                </a:solidFill>
              </a:rPr>
              <a:t>) dan memberikan jeda gerak (</a:t>
            </a:r>
            <a:r>
              <a:rPr i="1" lang="id" sz="1100">
                <a:solidFill>
                  <a:schemeClr val="dk1"/>
                </a:solidFill>
              </a:rPr>
              <a:t>Kinesthetic Breaks</a:t>
            </a:r>
            <a:r>
              <a:rPr lang="id" sz="1100">
                <a:solidFill>
                  <a:schemeClr val="dk1"/>
                </a:solidFill>
              </a:rPr>
              <a:t>) sebelum emosi anak meledak </a:t>
            </a:r>
            <a:endParaRPr/>
          </a:p>
        </p:txBody>
      </p:sp>
      <p:sp>
        <p:nvSpPr>
          <p:cNvPr id="307" name="Google Shape;307;p38"/>
          <p:cNvSpPr txBox="1"/>
          <p:nvPr/>
        </p:nvSpPr>
        <p:spPr>
          <a:xfrm>
            <a:off x="6291884" y="3374493"/>
            <a:ext cx="26979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100">
                <a:solidFill>
                  <a:schemeClr val="dk1"/>
                </a:solidFill>
              </a:rPr>
              <a:t>Mengubah Perilaku Menghindar (</a:t>
            </a:r>
            <a:r>
              <a:rPr b="1" i="1" lang="id" sz="1100">
                <a:solidFill>
                  <a:schemeClr val="dk1"/>
                </a:solidFill>
              </a:rPr>
              <a:t>Escape Behavior</a:t>
            </a:r>
            <a:r>
              <a:rPr b="1" lang="id" sz="1100">
                <a:solidFill>
                  <a:schemeClr val="dk1"/>
                </a:solidFill>
              </a:rPr>
              <a:t>):</a:t>
            </a:r>
            <a:r>
              <a:rPr lang="id" sz="1100">
                <a:solidFill>
                  <a:schemeClr val="dk1"/>
                </a:solidFill>
              </a:rPr>
              <a:t> Tanpa pendampingan, anak cenderung "kabur" dari tugas yang sulit. Bersama </a:t>
            </a:r>
            <a:r>
              <a:rPr i="1" lang="id" sz="1100">
                <a:solidFill>
                  <a:schemeClr val="dk1"/>
                </a:solidFill>
              </a:rPr>
              <a:t>shadow</a:t>
            </a:r>
            <a:r>
              <a:rPr lang="id" sz="1100">
                <a:solidFill>
                  <a:schemeClr val="dk1"/>
                </a:solidFill>
              </a:rPr>
              <a:t>, anak diajarkan kontrak perilaku visual (</a:t>
            </a:r>
            <a:r>
              <a:rPr i="1" lang="id" sz="1100">
                <a:solidFill>
                  <a:schemeClr val="dk1"/>
                </a:solidFill>
              </a:rPr>
              <a:t>First-Then</a:t>
            </a:r>
            <a:r>
              <a:rPr lang="id" sz="1100">
                <a:solidFill>
                  <a:schemeClr val="dk1"/>
                </a:solidFill>
              </a:rPr>
              <a:t>): Belajar dulu, baru mendapatkan </a:t>
            </a:r>
            <a:r>
              <a:rPr i="1" lang="id" sz="1100">
                <a:solidFill>
                  <a:schemeClr val="dk1"/>
                </a:solidFill>
              </a:rPr>
              <a:t>reward</a:t>
            </a:r>
            <a:r>
              <a:rPr lang="id" sz="1100">
                <a:solidFill>
                  <a:schemeClr val="dk1"/>
                </a:solidFill>
              </a:rPr>
              <a:t> mainan. </a:t>
            </a:r>
            <a:endParaRPr/>
          </a:p>
        </p:txBody>
      </p:sp>
      <p:pic>
        <p:nvPicPr>
          <p:cNvPr id="308" name="Google Shape;308;p38"/>
          <p:cNvPicPr preferRelativeResize="0"/>
          <p:nvPr/>
        </p:nvPicPr>
        <p:blipFill rotWithShape="1">
          <a:blip r:embed="rId3">
            <a:alphaModFix/>
          </a:blip>
          <a:srcRect b="38801" l="0" r="0" t="16348"/>
          <a:stretch/>
        </p:blipFill>
        <p:spPr>
          <a:xfrm>
            <a:off x="313725" y="1509850"/>
            <a:ext cx="2392889" cy="1902825"/>
          </a:xfrm>
          <a:prstGeom prst="rect">
            <a:avLst/>
          </a:prstGeom>
          <a:noFill/>
          <a:ln>
            <a:noFill/>
          </a:ln>
        </p:spPr>
      </p:pic>
      <p:pic>
        <p:nvPicPr>
          <p:cNvPr id="309" name="Google Shape;309;p38"/>
          <p:cNvPicPr preferRelativeResize="0"/>
          <p:nvPr/>
        </p:nvPicPr>
        <p:blipFill>
          <a:blip r:embed="rId4">
            <a:alphaModFix/>
          </a:blip>
          <a:stretch>
            <a:fillRect/>
          </a:stretch>
        </p:blipFill>
        <p:spPr>
          <a:xfrm>
            <a:off x="3025114" y="1621835"/>
            <a:ext cx="2857500" cy="1600200"/>
          </a:xfrm>
          <a:prstGeom prst="rect">
            <a:avLst/>
          </a:prstGeom>
          <a:noFill/>
          <a:ln>
            <a:noFill/>
          </a:ln>
        </p:spPr>
      </p:pic>
      <p:pic>
        <p:nvPicPr>
          <p:cNvPr id="310" name="Google Shape;310;p38"/>
          <p:cNvPicPr preferRelativeResize="0"/>
          <p:nvPr/>
        </p:nvPicPr>
        <p:blipFill>
          <a:blip r:embed="rId5">
            <a:alphaModFix/>
          </a:blip>
          <a:stretch>
            <a:fillRect/>
          </a:stretch>
        </p:blipFill>
        <p:spPr>
          <a:xfrm>
            <a:off x="6336461" y="1583585"/>
            <a:ext cx="2462239" cy="163850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9"/>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Membangun Ekosistem Ramah Inklusi</a:t>
            </a:r>
            <a:endParaRPr b="1" sz="1800">
              <a:solidFill>
                <a:srgbClr val="002646"/>
              </a:solidFill>
              <a:latin typeface="Poppins"/>
              <a:ea typeface="Poppins"/>
              <a:cs typeface="Poppins"/>
              <a:sym typeface="Poppins"/>
            </a:endParaRPr>
          </a:p>
        </p:txBody>
      </p:sp>
      <p:sp>
        <p:nvSpPr>
          <p:cNvPr id="316" name="Google Shape;316;p39"/>
          <p:cNvSpPr txBox="1"/>
          <p:nvPr/>
        </p:nvSpPr>
        <p:spPr>
          <a:xfrm>
            <a:off x="408787" y="762675"/>
            <a:ext cx="8495700" cy="4770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lang="id" sz="1400">
                <a:solidFill>
                  <a:schemeClr val="dk1"/>
                </a:solidFill>
                <a:latin typeface="Calibri"/>
                <a:ea typeface="Calibri"/>
                <a:cs typeface="Calibri"/>
                <a:sym typeface="Calibri"/>
              </a:rPr>
              <a:t>Selama ini, tenaga professional dan Sekolah adalah 2 ekosistem yang terpisah. Selayaknya Air dan Minyak. Namun, ini berhasil kami bangun menghadirkan tenaga professional psikolog, terapis hingga shadow di Sekolah</a:t>
            </a:r>
            <a:endParaRPr sz="1400">
              <a:solidFill>
                <a:schemeClr val="dk1"/>
              </a:solidFill>
              <a:latin typeface="Calibri"/>
              <a:ea typeface="Calibri"/>
              <a:cs typeface="Calibri"/>
              <a:sym typeface="Calibri"/>
            </a:endParaRPr>
          </a:p>
        </p:txBody>
      </p:sp>
      <p:sp>
        <p:nvSpPr>
          <p:cNvPr id="317" name="Google Shape;317;p39"/>
          <p:cNvSpPr txBox="1"/>
          <p:nvPr/>
        </p:nvSpPr>
        <p:spPr>
          <a:xfrm>
            <a:off x="294475" y="1427250"/>
            <a:ext cx="35748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chemeClr val="dk1"/>
                </a:solidFill>
              </a:rPr>
              <a:t>Alat Psikotes Lengkap:</a:t>
            </a:r>
            <a:r>
              <a:rPr lang="id" sz="1200">
                <a:solidFill>
                  <a:schemeClr val="dk1"/>
                </a:solidFill>
              </a:rPr>
              <a:t> Lebih dari 100+ Alat Psikotes Berlisensi untuk Anak Pra Sekolah Hingga Dewasa divalidasi oleh Professional Psikolog Berlisensi</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id" sz="1200">
                <a:solidFill>
                  <a:schemeClr val="dk1"/>
                </a:solidFill>
              </a:rPr>
              <a:t>Kurikulum Individu Humanis : </a:t>
            </a:r>
            <a:r>
              <a:rPr lang="id" sz="1200">
                <a:solidFill>
                  <a:schemeClr val="dk1"/>
                </a:solidFill>
              </a:rPr>
              <a:t>Program Belajar dibuat oleh Psikolog Klinis dan Pendidikan disesuaikan dengan diagnosa dan hambatan yang dihadapi anak</a:t>
            </a:r>
            <a:endParaRPr baseline="-25000"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id" sz="1200">
                <a:solidFill>
                  <a:schemeClr val="dk1"/>
                </a:solidFill>
              </a:rPr>
              <a:t>Integrasi Professional dan Guru : </a:t>
            </a:r>
            <a:r>
              <a:rPr lang="id" sz="1200">
                <a:solidFill>
                  <a:schemeClr val="dk1"/>
                </a:solidFill>
              </a:rPr>
              <a:t>Baik tenaga terapis, Guru GPK dan Guru berada pada 1 ekosistem program kurikulum, database dan proses evaluasi yang disesuaikan dengan kondisi anak</a:t>
            </a:r>
            <a:endParaRPr sz="1200">
              <a:solidFill>
                <a:schemeClr val="dk1"/>
              </a:solidFill>
            </a:endParaRPr>
          </a:p>
        </p:txBody>
      </p:sp>
      <p:pic>
        <p:nvPicPr>
          <p:cNvPr id="318" name="Google Shape;318;p39"/>
          <p:cNvPicPr preferRelativeResize="0"/>
          <p:nvPr/>
        </p:nvPicPr>
        <p:blipFill>
          <a:blip r:embed="rId3">
            <a:alphaModFix/>
          </a:blip>
          <a:stretch>
            <a:fillRect/>
          </a:stretch>
        </p:blipFill>
        <p:spPr>
          <a:xfrm>
            <a:off x="4697444" y="1435385"/>
            <a:ext cx="4207160" cy="36915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0"/>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Tantangan Sekolah Dalam Membangun Program Inklusi</a:t>
            </a:r>
            <a:endParaRPr b="1" sz="1800">
              <a:solidFill>
                <a:srgbClr val="002646"/>
              </a:solidFill>
              <a:latin typeface="Poppins"/>
              <a:ea typeface="Poppins"/>
              <a:cs typeface="Poppins"/>
              <a:sym typeface="Poppins"/>
            </a:endParaRPr>
          </a:p>
        </p:txBody>
      </p:sp>
      <p:grpSp>
        <p:nvGrpSpPr>
          <p:cNvPr id="324" name="Google Shape;324;p40"/>
          <p:cNvGrpSpPr/>
          <p:nvPr/>
        </p:nvGrpSpPr>
        <p:grpSpPr>
          <a:xfrm>
            <a:off x="1209743" y="2913949"/>
            <a:ext cx="2941866" cy="1345229"/>
            <a:chOff x="1395848" y="3256486"/>
            <a:chExt cx="2688600" cy="1793639"/>
          </a:xfrm>
        </p:grpSpPr>
        <p:sp>
          <p:nvSpPr>
            <p:cNvPr id="325" name="Google Shape;325;p40"/>
            <p:cNvSpPr txBox="1"/>
            <p:nvPr/>
          </p:nvSpPr>
          <p:spPr>
            <a:xfrm>
              <a:off x="1395848" y="3510825"/>
              <a:ext cx="2688600" cy="15393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id" sz="1200">
                  <a:solidFill>
                    <a:srgbClr val="3F3F3F"/>
                  </a:solidFill>
                  <a:latin typeface="Calibri"/>
                  <a:ea typeface="Calibri"/>
                  <a:cs typeface="Calibri"/>
                  <a:sym typeface="Calibri"/>
                </a:rPr>
                <a:t>Metode identifikasi awal yang digunakan oleh umumnya setiap sekolah tidak efektif dalam mendiagnosa siswa berkebutuhan khusus (non fisik). Seringkali deteksi muncul saat proses belajar sudah mulai dan ini memberatkan sistem yang sedang berjalan</a:t>
              </a:r>
              <a:endParaRPr sz="700"/>
            </a:p>
          </p:txBody>
        </p:sp>
        <p:sp>
          <p:nvSpPr>
            <p:cNvPr id="326" name="Google Shape;326;p40"/>
            <p:cNvSpPr txBox="1"/>
            <p:nvPr/>
          </p:nvSpPr>
          <p:spPr>
            <a:xfrm>
              <a:off x="1395848" y="3256486"/>
              <a:ext cx="2688600" cy="3078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lang="id" sz="1200">
                  <a:solidFill>
                    <a:srgbClr val="3F3F3F"/>
                  </a:solidFill>
                  <a:latin typeface="Calibri"/>
                  <a:ea typeface="Calibri"/>
                  <a:cs typeface="Calibri"/>
                  <a:sym typeface="Calibri"/>
                </a:rPr>
                <a:t>Lemahnya Sistem Identifikasi Awal</a:t>
              </a:r>
              <a:endParaRPr sz="700"/>
            </a:p>
          </p:txBody>
        </p:sp>
      </p:grpSp>
      <p:grpSp>
        <p:nvGrpSpPr>
          <p:cNvPr id="327" name="Google Shape;327;p40"/>
          <p:cNvGrpSpPr/>
          <p:nvPr/>
        </p:nvGrpSpPr>
        <p:grpSpPr>
          <a:xfrm>
            <a:off x="1269529" y="1482788"/>
            <a:ext cx="2882073" cy="1015858"/>
            <a:chOff x="592509" y="1556792"/>
            <a:chExt cx="2361000" cy="1354477"/>
          </a:xfrm>
        </p:grpSpPr>
        <p:sp>
          <p:nvSpPr>
            <p:cNvPr id="328" name="Google Shape;328;p40"/>
            <p:cNvSpPr txBox="1"/>
            <p:nvPr/>
          </p:nvSpPr>
          <p:spPr>
            <a:xfrm>
              <a:off x="592509" y="1864569"/>
              <a:ext cx="2312700" cy="10467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id" sz="1200">
                  <a:solidFill>
                    <a:srgbClr val="262626"/>
                  </a:solidFill>
                  <a:latin typeface="Calibri"/>
                  <a:ea typeface="Calibri"/>
                  <a:cs typeface="Calibri"/>
                  <a:sym typeface="Calibri"/>
                </a:rPr>
                <a:t>Kompetensi dan skill terkait bagaimana menganalisa dan membuat program siswa berkebutuhan khusus tidak diajarkan mendalam dalam Pendidikan Keguruan</a:t>
              </a:r>
              <a:endParaRPr sz="700"/>
            </a:p>
          </p:txBody>
        </p:sp>
        <p:sp>
          <p:nvSpPr>
            <p:cNvPr id="329" name="Google Shape;329;p40"/>
            <p:cNvSpPr txBox="1"/>
            <p:nvPr/>
          </p:nvSpPr>
          <p:spPr>
            <a:xfrm>
              <a:off x="592509" y="1556792"/>
              <a:ext cx="2361000" cy="307800"/>
            </a:xfrm>
            <a:prstGeom prst="rect">
              <a:avLst/>
            </a:prstGeom>
            <a:noFill/>
            <a:ln>
              <a:noFill/>
            </a:ln>
          </p:spPr>
          <p:txBody>
            <a:bodyPr anchorCtr="0" anchor="t" bIns="22850" lIns="81000" spcFirstLastPara="1" rIns="81000" wrap="square" tIns="22850">
              <a:spAutoFit/>
            </a:bodyPr>
            <a:lstStyle/>
            <a:p>
              <a:pPr indent="0" lvl="0" marL="0" marR="0" rtl="0" algn="l">
                <a:spcBef>
                  <a:spcPts val="0"/>
                </a:spcBef>
                <a:spcAft>
                  <a:spcPts val="0"/>
                </a:spcAft>
                <a:buNone/>
              </a:pPr>
              <a:r>
                <a:rPr b="1" lang="id" sz="1200">
                  <a:solidFill>
                    <a:schemeClr val="dk1"/>
                  </a:solidFill>
                  <a:latin typeface="Calibri"/>
                  <a:ea typeface="Calibri"/>
                  <a:cs typeface="Calibri"/>
                  <a:sym typeface="Calibri"/>
                </a:rPr>
                <a:t>Minim Kompetensi dan Skill</a:t>
              </a:r>
              <a:endParaRPr sz="700"/>
            </a:p>
          </p:txBody>
        </p:sp>
      </p:grpSp>
      <p:sp>
        <p:nvSpPr>
          <p:cNvPr id="330" name="Google Shape;330;p40"/>
          <p:cNvSpPr txBox="1"/>
          <p:nvPr/>
        </p:nvSpPr>
        <p:spPr>
          <a:xfrm>
            <a:off x="947823" y="738485"/>
            <a:ext cx="7228500" cy="4770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lang="id">
                <a:solidFill>
                  <a:schemeClr val="dk1"/>
                </a:solidFill>
                <a:latin typeface="Calibri"/>
                <a:ea typeface="Calibri"/>
                <a:cs typeface="Calibri"/>
                <a:sym typeface="Calibri"/>
              </a:rPr>
              <a:t>Mayoritas Guru di Setiap Sekolah tidak memiliki kompetensi dan kemampuan dalam mendiagnosa para siswa</a:t>
            </a:r>
            <a:endParaRPr sz="700"/>
          </a:p>
        </p:txBody>
      </p:sp>
      <p:grpSp>
        <p:nvGrpSpPr>
          <p:cNvPr id="331" name="Google Shape;331;p40"/>
          <p:cNvGrpSpPr/>
          <p:nvPr/>
        </p:nvGrpSpPr>
        <p:grpSpPr>
          <a:xfrm>
            <a:off x="6057882" y="1495382"/>
            <a:ext cx="2941866" cy="975779"/>
            <a:chOff x="1395848" y="3256486"/>
            <a:chExt cx="2688600" cy="1301039"/>
          </a:xfrm>
        </p:grpSpPr>
        <p:sp>
          <p:nvSpPr>
            <p:cNvPr id="332" name="Google Shape;332;p40"/>
            <p:cNvSpPr txBox="1"/>
            <p:nvPr/>
          </p:nvSpPr>
          <p:spPr>
            <a:xfrm>
              <a:off x="1395848" y="3510825"/>
              <a:ext cx="2688600" cy="10467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id" sz="1200">
                  <a:solidFill>
                    <a:srgbClr val="3F3F3F"/>
                  </a:solidFill>
                  <a:latin typeface="Calibri"/>
                  <a:ea typeface="Calibri"/>
                  <a:cs typeface="Calibri"/>
                  <a:sym typeface="Calibri"/>
                </a:rPr>
                <a:t>Banyak Sekolah sudah mengenal dan menggunakan tenaga professional namun, mayoritas terbatas hanya pada proses psikotes</a:t>
              </a:r>
              <a:endParaRPr sz="700"/>
            </a:p>
          </p:txBody>
        </p:sp>
        <p:sp>
          <p:nvSpPr>
            <p:cNvPr id="333" name="Google Shape;333;p40"/>
            <p:cNvSpPr txBox="1"/>
            <p:nvPr/>
          </p:nvSpPr>
          <p:spPr>
            <a:xfrm>
              <a:off x="1395848" y="3256486"/>
              <a:ext cx="2688600" cy="3078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lang="id" sz="1200">
                  <a:solidFill>
                    <a:srgbClr val="3F3F3F"/>
                  </a:solidFill>
                  <a:latin typeface="Calibri"/>
                  <a:ea typeface="Calibri"/>
                  <a:cs typeface="Calibri"/>
                  <a:sym typeface="Calibri"/>
                </a:rPr>
                <a:t>Ketiadaan Mitra Strategis</a:t>
              </a:r>
              <a:endParaRPr b="1" sz="1200">
                <a:solidFill>
                  <a:srgbClr val="3F3F3F"/>
                </a:solidFill>
                <a:latin typeface="Calibri"/>
                <a:ea typeface="Calibri"/>
                <a:cs typeface="Calibri"/>
                <a:sym typeface="Calibri"/>
              </a:endParaRPr>
            </a:p>
          </p:txBody>
        </p:sp>
      </p:grpSp>
      <p:pic>
        <p:nvPicPr>
          <p:cNvPr id="334" name="Google Shape;334;p40"/>
          <p:cNvPicPr preferRelativeResize="0"/>
          <p:nvPr/>
        </p:nvPicPr>
        <p:blipFill>
          <a:blip r:embed="rId3">
            <a:alphaModFix/>
          </a:blip>
          <a:stretch>
            <a:fillRect/>
          </a:stretch>
        </p:blipFill>
        <p:spPr>
          <a:xfrm>
            <a:off x="435732" y="1529155"/>
            <a:ext cx="752925" cy="733121"/>
          </a:xfrm>
          <a:prstGeom prst="rect">
            <a:avLst/>
          </a:prstGeom>
          <a:noFill/>
          <a:ln>
            <a:noFill/>
          </a:ln>
        </p:spPr>
      </p:pic>
      <p:pic>
        <p:nvPicPr>
          <p:cNvPr id="335" name="Google Shape;335;p40"/>
          <p:cNvPicPr preferRelativeResize="0"/>
          <p:nvPr/>
        </p:nvPicPr>
        <p:blipFill>
          <a:blip r:embed="rId4">
            <a:alphaModFix/>
          </a:blip>
          <a:stretch>
            <a:fillRect/>
          </a:stretch>
        </p:blipFill>
        <p:spPr>
          <a:xfrm>
            <a:off x="467511" y="2979982"/>
            <a:ext cx="689375" cy="689400"/>
          </a:xfrm>
          <a:prstGeom prst="rect">
            <a:avLst/>
          </a:prstGeom>
          <a:noFill/>
          <a:ln>
            <a:noFill/>
          </a:ln>
        </p:spPr>
      </p:pic>
      <p:pic>
        <p:nvPicPr>
          <p:cNvPr id="336" name="Google Shape;336;p40"/>
          <p:cNvPicPr preferRelativeResize="0"/>
          <p:nvPr/>
        </p:nvPicPr>
        <p:blipFill rotWithShape="1">
          <a:blip r:embed="rId5">
            <a:alphaModFix/>
          </a:blip>
          <a:srcRect b="9690" l="51924" r="7105" t="11848"/>
          <a:stretch/>
        </p:blipFill>
        <p:spPr>
          <a:xfrm>
            <a:off x="5298725" y="1565662"/>
            <a:ext cx="689375" cy="660088"/>
          </a:xfrm>
          <a:prstGeom prst="rect">
            <a:avLst/>
          </a:prstGeom>
          <a:noFill/>
          <a:ln>
            <a:noFill/>
          </a:ln>
        </p:spPr>
      </p:pic>
      <p:pic>
        <p:nvPicPr>
          <p:cNvPr id="337" name="Google Shape;337;p40"/>
          <p:cNvPicPr preferRelativeResize="0"/>
          <p:nvPr/>
        </p:nvPicPr>
        <p:blipFill>
          <a:blip r:embed="rId6">
            <a:alphaModFix/>
          </a:blip>
          <a:stretch>
            <a:fillRect/>
          </a:stretch>
        </p:blipFill>
        <p:spPr>
          <a:xfrm>
            <a:off x="6057876" y="2659825"/>
            <a:ext cx="2042650" cy="2042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1"/>
          <p:cNvSpPr txBox="1"/>
          <p:nvPr/>
        </p:nvSpPr>
        <p:spPr>
          <a:xfrm>
            <a:off x="197514" y="249492"/>
            <a:ext cx="8370930" cy="46859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Tantangan Orang Tua dalam Mengakses Layanan Psikolog</a:t>
            </a:r>
            <a:endParaRPr b="1" sz="1800">
              <a:solidFill>
                <a:srgbClr val="002646"/>
              </a:solidFill>
              <a:latin typeface="Poppins"/>
              <a:ea typeface="Poppins"/>
              <a:cs typeface="Poppins"/>
              <a:sym typeface="Poppins"/>
            </a:endParaRPr>
          </a:p>
        </p:txBody>
      </p:sp>
      <p:grpSp>
        <p:nvGrpSpPr>
          <p:cNvPr id="343" name="Google Shape;343;p41"/>
          <p:cNvGrpSpPr/>
          <p:nvPr/>
        </p:nvGrpSpPr>
        <p:grpSpPr>
          <a:xfrm>
            <a:off x="947823" y="2913950"/>
            <a:ext cx="2941997" cy="606253"/>
            <a:chOff x="1395848" y="3256486"/>
            <a:chExt cx="2688688" cy="808337"/>
          </a:xfrm>
        </p:grpSpPr>
        <p:sp>
          <p:nvSpPr>
            <p:cNvPr id="344" name="Google Shape;344;p41"/>
            <p:cNvSpPr txBox="1"/>
            <p:nvPr/>
          </p:nvSpPr>
          <p:spPr>
            <a:xfrm>
              <a:off x="1395848" y="3510825"/>
              <a:ext cx="2688688" cy="553998"/>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id" sz="1200">
                  <a:solidFill>
                    <a:srgbClr val="3F3F3F"/>
                  </a:solidFill>
                  <a:latin typeface="Calibri"/>
                  <a:ea typeface="Calibri"/>
                  <a:cs typeface="Calibri"/>
                  <a:sym typeface="Calibri"/>
                </a:rPr>
                <a:t>Konsultasi dengan psikolog sering dianggap mahal</a:t>
              </a:r>
              <a:endParaRPr sz="700"/>
            </a:p>
          </p:txBody>
        </p:sp>
        <p:sp>
          <p:nvSpPr>
            <p:cNvPr id="345" name="Google Shape;345;p41"/>
            <p:cNvSpPr txBox="1"/>
            <p:nvPr/>
          </p:nvSpPr>
          <p:spPr>
            <a:xfrm>
              <a:off x="1395848" y="3256486"/>
              <a:ext cx="2688688" cy="307777"/>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lang="id" sz="1200">
                  <a:solidFill>
                    <a:srgbClr val="3F3F3F"/>
                  </a:solidFill>
                  <a:latin typeface="Calibri"/>
                  <a:ea typeface="Calibri"/>
                  <a:cs typeface="Calibri"/>
                  <a:sym typeface="Calibri"/>
                </a:rPr>
                <a:t>Persepsi harga yang mahal</a:t>
              </a:r>
              <a:endParaRPr sz="700"/>
            </a:p>
          </p:txBody>
        </p:sp>
      </p:grpSp>
      <p:grpSp>
        <p:nvGrpSpPr>
          <p:cNvPr id="346" name="Google Shape;346;p41"/>
          <p:cNvGrpSpPr/>
          <p:nvPr/>
        </p:nvGrpSpPr>
        <p:grpSpPr>
          <a:xfrm>
            <a:off x="1007604" y="1482788"/>
            <a:ext cx="2882216" cy="1200328"/>
            <a:chOff x="592509" y="1556792"/>
            <a:chExt cx="2361075" cy="1600438"/>
          </a:xfrm>
        </p:grpSpPr>
        <p:sp>
          <p:nvSpPr>
            <p:cNvPr id="347" name="Google Shape;347;p41"/>
            <p:cNvSpPr txBox="1"/>
            <p:nvPr/>
          </p:nvSpPr>
          <p:spPr>
            <a:xfrm>
              <a:off x="592509" y="1864569"/>
              <a:ext cx="2312619" cy="1292661"/>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id" sz="1200">
                  <a:solidFill>
                    <a:srgbClr val="262626"/>
                  </a:solidFill>
                  <a:latin typeface="Calibri"/>
                  <a:ea typeface="Calibri"/>
                  <a:cs typeface="Calibri"/>
                  <a:sym typeface="Calibri"/>
                </a:rPr>
                <a:t>Orang tua sibuk dengan pekerjaan dan sulit mengatur waktu konsultasi</a:t>
              </a:r>
              <a:endParaRPr sz="700"/>
            </a:p>
            <a:p>
              <a:pPr indent="0" lvl="0" marL="0" marR="0" rtl="0" algn="l">
                <a:spcBef>
                  <a:spcPts val="0"/>
                </a:spcBef>
                <a:spcAft>
                  <a:spcPts val="0"/>
                </a:spcAft>
                <a:buNone/>
              </a:pPr>
              <a:r>
                <a:t/>
              </a:r>
              <a:endParaRPr sz="1200">
                <a:solidFill>
                  <a:srgbClr val="262626"/>
                </a:solidFill>
                <a:latin typeface="Calibri"/>
                <a:ea typeface="Calibri"/>
                <a:cs typeface="Calibri"/>
                <a:sym typeface="Calibri"/>
              </a:endParaRPr>
            </a:p>
            <a:p>
              <a:pPr indent="0" lvl="0" marL="0" marR="0" rtl="0" algn="l">
                <a:spcBef>
                  <a:spcPts val="0"/>
                </a:spcBef>
                <a:spcAft>
                  <a:spcPts val="0"/>
                </a:spcAft>
                <a:buNone/>
              </a:pPr>
              <a:r>
                <a:rPr lang="id" sz="1200">
                  <a:solidFill>
                    <a:srgbClr val="262626"/>
                  </a:solidFill>
                  <a:latin typeface="Calibri"/>
                  <a:ea typeface="Calibri"/>
                  <a:cs typeface="Calibri"/>
                  <a:sym typeface="Calibri"/>
                </a:rPr>
                <a:t>Psikolog di pusat layanan kesehatan sering memiliki antrean panjang.</a:t>
              </a:r>
              <a:endParaRPr sz="700"/>
            </a:p>
          </p:txBody>
        </p:sp>
        <p:sp>
          <p:nvSpPr>
            <p:cNvPr id="348" name="Google Shape;348;p41"/>
            <p:cNvSpPr txBox="1"/>
            <p:nvPr/>
          </p:nvSpPr>
          <p:spPr>
            <a:xfrm>
              <a:off x="592509" y="1556792"/>
              <a:ext cx="2361075" cy="307777"/>
            </a:xfrm>
            <a:prstGeom prst="rect">
              <a:avLst/>
            </a:prstGeom>
            <a:noFill/>
            <a:ln>
              <a:noFill/>
            </a:ln>
          </p:spPr>
          <p:txBody>
            <a:bodyPr anchorCtr="0" anchor="t" bIns="22850" lIns="81000" spcFirstLastPara="1" rIns="81000" wrap="square" tIns="22850">
              <a:spAutoFit/>
            </a:bodyPr>
            <a:lstStyle/>
            <a:p>
              <a:pPr indent="0" lvl="0" marL="0" marR="0" rtl="0" algn="l">
                <a:spcBef>
                  <a:spcPts val="0"/>
                </a:spcBef>
                <a:spcAft>
                  <a:spcPts val="0"/>
                </a:spcAft>
                <a:buNone/>
              </a:pPr>
              <a:r>
                <a:rPr b="1" lang="id" sz="1200">
                  <a:solidFill>
                    <a:schemeClr val="dk1"/>
                  </a:solidFill>
                  <a:latin typeface="Calibri"/>
                  <a:ea typeface="Calibri"/>
                  <a:cs typeface="Calibri"/>
                  <a:sym typeface="Calibri"/>
                </a:rPr>
                <a:t>Waktu</a:t>
              </a:r>
              <a:endParaRPr sz="700"/>
            </a:p>
          </p:txBody>
        </p:sp>
      </p:grpSp>
      <p:sp>
        <p:nvSpPr>
          <p:cNvPr id="349" name="Google Shape;349;p41"/>
          <p:cNvSpPr txBox="1"/>
          <p:nvPr/>
        </p:nvSpPr>
        <p:spPr>
          <a:xfrm>
            <a:off x="947823" y="738485"/>
            <a:ext cx="7228555" cy="461665"/>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id" sz="1400">
                <a:solidFill>
                  <a:schemeClr val="dk1"/>
                </a:solidFill>
                <a:latin typeface="Calibri"/>
                <a:ea typeface="Calibri"/>
                <a:cs typeface="Calibri"/>
                <a:sym typeface="Calibri"/>
              </a:rPr>
              <a:t>Banyak orang tua dan guru memahami pentingnya psikologi untuk mendukung perkembangan anak, tapi sering terkendala oleh</a:t>
            </a:r>
            <a:endParaRPr sz="700"/>
          </a:p>
        </p:txBody>
      </p:sp>
      <p:sp>
        <p:nvSpPr>
          <p:cNvPr id="350" name="Google Shape;350;p41"/>
          <p:cNvSpPr/>
          <p:nvPr/>
        </p:nvSpPr>
        <p:spPr>
          <a:xfrm rot="2160000">
            <a:off x="495153" y="1565671"/>
            <a:ext cx="368271" cy="397359"/>
          </a:xfrm>
          <a:custGeom>
            <a:rect b="b" l="l" r="r" t="t"/>
            <a:pathLst>
              <a:path extrusionOk="0" h="2951283" w="2735240">
                <a:moveTo>
                  <a:pt x="945240" y="943134"/>
                </a:moveTo>
                <a:cubicBezTo>
                  <a:pt x="504657" y="1263236"/>
                  <a:pt x="406988" y="1879894"/>
                  <a:pt x="727090" y="2320477"/>
                </a:cubicBezTo>
                <a:cubicBezTo>
                  <a:pt x="1047193" y="2761060"/>
                  <a:pt x="1663850" y="2858729"/>
                  <a:pt x="2104434" y="2538627"/>
                </a:cubicBezTo>
                <a:cubicBezTo>
                  <a:pt x="2545017" y="2218524"/>
                  <a:pt x="2642686" y="1601867"/>
                  <a:pt x="2322584" y="1161283"/>
                </a:cubicBezTo>
                <a:cubicBezTo>
                  <a:pt x="2003839" y="722570"/>
                  <a:pt x="1391052" y="623866"/>
                  <a:pt x="951049" y="939346"/>
                </a:cubicBezTo>
                <a:lnTo>
                  <a:pt x="1557721" y="1618250"/>
                </a:lnTo>
                <a:cubicBezTo>
                  <a:pt x="1596798" y="1621348"/>
                  <a:pt x="1633874" y="1641400"/>
                  <a:pt x="1658719" y="1675596"/>
                </a:cubicBezTo>
                <a:cubicBezTo>
                  <a:pt x="1705470" y="1739944"/>
                  <a:pt x="1691206" y="1830007"/>
                  <a:pt x="1626858" y="1876758"/>
                </a:cubicBezTo>
                <a:cubicBezTo>
                  <a:pt x="1562511" y="1923509"/>
                  <a:pt x="1472448" y="1909245"/>
                  <a:pt x="1425696" y="1844897"/>
                </a:cubicBezTo>
                <a:cubicBezTo>
                  <a:pt x="1398776" y="1807844"/>
                  <a:pt x="1392087" y="1762265"/>
                  <a:pt x="1405709" y="1721944"/>
                </a:cubicBezTo>
                <a:lnTo>
                  <a:pt x="950242" y="939871"/>
                </a:lnTo>
                <a:cubicBezTo>
                  <a:pt x="948462" y="940800"/>
                  <a:pt x="946850" y="941964"/>
                  <a:pt x="945240" y="943134"/>
                </a:cubicBezTo>
                <a:close/>
                <a:moveTo>
                  <a:pt x="390013" y="178929"/>
                </a:moveTo>
                <a:cubicBezTo>
                  <a:pt x="223423" y="299964"/>
                  <a:pt x="186493" y="533130"/>
                  <a:pt x="307528" y="699721"/>
                </a:cubicBezTo>
                <a:cubicBezTo>
                  <a:pt x="392822" y="817118"/>
                  <a:pt x="533802" y="870124"/>
                  <a:pt x="667672" y="847235"/>
                </a:cubicBezTo>
                <a:lnTo>
                  <a:pt x="556452" y="694153"/>
                </a:lnTo>
                <a:lnTo>
                  <a:pt x="528500" y="714461"/>
                </a:lnTo>
                <a:cubicBezTo>
                  <a:pt x="498835" y="736014"/>
                  <a:pt x="457314" y="729437"/>
                  <a:pt x="435761" y="699772"/>
                </a:cubicBezTo>
                <a:lnTo>
                  <a:pt x="341779" y="570418"/>
                </a:lnTo>
                <a:cubicBezTo>
                  <a:pt x="320226" y="540753"/>
                  <a:pt x="326803" y="499231"/>
                  <a:pt x="356468" y="477679"/>
                </a:cubicBezTo>
                <a:lnTo>
                  <a:pt x="684509" y="239343"/>
                </a:lnTo>
                <a:cubicBezTo>
                  <a:pt x="714174" y="217790"/>
                  <a:pt x="755695" y="224366"/>
                  <a:pt x="777248" y="254031"/>
                </a:cubicBezTo>
                <a:lnTo>
                  <a:pt x="871230" y="383386"/>
                </a:lnTo>
                <a:cubicBezTo>
                  <a:pt x="892782" y="413051"/>
                  <a:pt x="886206" y="454572"/>
                  <a:pt x="856541" y="476125"/>
                </a:cubicBezTo>
                <a:lnTo>
                  <a:pt x="828590" y="496433"/>
                </a:lnTo>
                <a:lnTo>
                  <a:pt x="939810" y="649514"/>
                </a:lnTo>
                <a:cubicBezTo>
                  <a:pt x="1002947" y="529270"/>
                  <a:pt x="996100" y="378811"/>
                  <a:pt x="910806" y="261414"/>
                </a:cubicBezTo>
                <a:cubicBezTo>
                  <a:pt x="789771" y="94824"/>
                  <a:pt x="556604" y="57894"/>
                  <a:pt x="390013" y="178929"/>
                </a:cubicBezTo>
                <a:close/>
                <a:moveTo>
                  <a:pt x="326716" y="91807"/>
                </a:moveTo>
                <a:cubicBezTo>
                  <a:pt x="541423" y="-64186"/>
                  <a:pt x="841934" y="-16590"/>
                  <a:pt x="997927" y="198117"/>
                </a:cubicBezTo>
                <a:cubicBezTo>
                  <a:pt x="1090326" y="325293"/>
                  <a:pt x="1111296" y="482575"/>
                  <a:pt x="1067359" y="621566"/>
                </a:cubicBezTo>
                <a:cubicBezTo>
                  <a:pt x="1125087" y="596400"/>
                  <a:pt x="1184605" y="577365"/>
                  <a:pt x="1244892" y="563339"/>
                </a:cubicBezTo>
                <a:lnTo>
                  <a:pt x="1244892" y="425809"/>
                </a:lnTo>
                <a:lnTo>
                  <a:pt x="1238396" y="425809"/>
                </a:lnTo>
                <a:cubicBezTo>
                  <a:pt x="1203300" y="425809"/>
                  <a:pt x="1174849" y="397358"/>
                  <a:pt x="1174849" y="362262"/>
                </a:cubicBezTo>
                <a:lnTo>
                  <a:pt x="1174849" y="209229"/>
                </a:lnTo>
                <a:cubicBezTo>
                  <a:pt x="1174849" y="191681"/>
                  <a:pt x="1181962" y="175794"/>
                  <a:pt x="1193462" y="164294"/>
                </a:cubicBezTo>
                <a:cubicBezTo>
                  <a:pt x="1204961" y="152795"/>
                  <a:pt x="1220848" y="145682"/>
                  <a:pt x="1238396" y="145682"/>
                </a:cubicBezTo>
                <a:lnTo>
                  <a:pt x="1484804" y="145682"/>
                </a:lnTo>
                <a:cubicBezTo>
                  <a:pt x="1519900" y="145682"/>
                  <a:pt x="1548351" y="174133"/>
                  <a:pt x="1548351" y="209229"/>
                </a:cubicBezTo>
                <a:lnTo>
                  <a:pt x="1548351" y="362262"/>
                </a:lnTo>
                <a:cubicBezTo>
                  <a:pt x="1548351" y="397358"/>
                  <a:pt x="1519900" y="425809"/>
                  <a:pt x="1484804" y="425809"/>
                </a:cubicBezTo>
                <a:lnTo>
                  <a:pt x="1478305" y="425809"/>
                </a:lnTo>
                <a:lnTo>
                  <a:pt x="1478305" y="531522"/>
                </a:lnTo>
                <a:cubicBezTo>
                  <a:pt x="1867969" y="516696"/>
                  <a:pt x="2257580" y="690299"/>
                  <a:pt x="2504004" y="1029474"/>
                </a:cubicBezTo>
                <a:cubicBezTo>
                  <a:pt x="2896903" y="1570253"/>
                  <a:pt x="2777023" y="2327148"/>
                  <a:pt x="2236244" y="2720047"/>
                </a:cubicBezTo>
                <a:cubicBezTo>
                  <a:pt x="1695464" y="3112946"/>
                  <a:pt x="938569" y="2993066"/>
                  <a:pt x="545670" y="2452287"/>
                </a:cubicBezTo>
                <a:cubicBezTo>
                  <a:pt x="302842" y="2118063"/>
                  <a:pt x="255883" y="1701289"/>
                  <a:pt x="383624" y="1339097"/>
                </a:cubicBezTo>
                <a:lnTo>
                  <a:pt x="271337" y="1301981"/>
                </a:lnTo>
                <a:lnTo>
                  <a:pt x="269200" y="1308446"/>
                </a:lnTo>
                <a:cubicBezTo>
                  <a:pt x="258184" y="1341768"/>
                  <a:pt x="222242" y="1359852"/>
                  <a:pt x="188919" y="1348836"/>
                </a:cubicBezTo>
                <a:lnTo>
                  <a:pt x="43619" y="1300805"/>
                </a:lnTo>
                <a:cubicBezTo>
                  <a:pt x="10297" y="1289790"/>
                  <a:pt x="-7787" y="1253847"/>
                  <a:pt x="3228" y="1220525"/>
                </a:cubicBezTo>
                <a:lnTo>
                  <a:pt x="80565" y="986568"/>
                </a:lnTo>
                <a:cubicBezTo>
                  <a:pt x="86073" y="969906"/>
                  <a:pt x="97812" y="957056"/>
                  <a:pt x="112340" y="949746"/>
                </a:cubicBezTo>
                <a:cubicBezTo>
                  <a:pt x="126869" y="942436"/>
                  <a:pt x="144185" y="940669"/>
                  <a:pt x="160847" y="946177"/>
                </a:cubicBezTo>
                <a:lnTo>
                  <a:pt x="306147" y="994208"/>
                </a:lnTo>
                <a:cubicBezTo>
                  <a:pt x="339468" y="1005223"/>
                  <a:pt x="357552" y="1041166"/>
                  <a:pt x="346537" y="1074488"/>
                </a:cubicBezTo>
                <a:lnTo>
                  <a:pt x="344596" y="1080361"/>
                </a:lnTo>
                <a:lnTo>
                  <a:pt x="482601" y="1125980"/>
                </a:lnTo>
                <a:cubicBezTo>
                  <a:pt x="516519" y="1067404"/>
                  <a:pt x="556040" y="1011588"/>
                  <a:pt x="601675" y="959905"/>
                </a:cubicBezTo>
                <a:cubicBezTo>
                  <a:pt x="455910" y="958740"/>
                  <a:pt x="312806" y="890195"/>
                  <a:pt x="220407" y="763018"/>
                </a:cubicBezTo>
                <a:cubicBezTo>
                  <a:pt x="64413" y="548311"/>
                  <a:pt x="112009" y="247801"/>
                  <a:pt x="326716" y="91807"/>
                </a:cubicBezTo>
                <a:close/>
              </a:path>
            </a:pathLst>
          </a:custGeom>
          <a:solidFill>
            <a:schemeClr val="accent2"/>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sz="2000">
              <a:solidFill>
                <a:schemeClr val="lt1"/>
              </a:solidFill>
              <a:latin typeface="Calibri"/>
              <a:ea typeface="Calibri"/>
              <a:cs typeface="Calibri"/>
              <a:sym typeface="Calibri"/>
            </a:endParaRPr>
          </a:p>
        </p:txBody>
      </p:sp>
      <p:sp>
        <p:nvSpPr>
          <p:cNvPr id="351" name="Google Shape;351;p41"/>
          <p:cNvSpPr/>
          <p:nvPr/>
        </p:nvSpPr>
        <p:spPr>
          <a:xfrm>
            <a:off x="489576" y="2955317"/>
            <a:ext cx="379424" cy="212549"/>
          </a:xfrm>
          <a:custGeom>
            <a:rect b="b" l="l" r="r" t="t"/>
            <a:pathLst>
              <a:path extrusionOk="0" h="2554996" w="4560938">
                <a:moveTo>
                  <a:pt x="2315585" y="1351978"/>
                </a:moveTo>
                <a:lnTo>
                  <a:pt x="2315585" y="1608128"/>
                </a:lnTo>
                <a:cubicBezTo>
                  <a:pt x="2332000" y="1604085"/>
                  <a:pt x="2347685" y="1596777"/>
                  <a:pt x="2361832" y="1586519"/>
                </a:cubicBezTo>
                <a:cubicBezTo>
                  <a:pt x="2403345" y="1556419"/>
                  <a:pt x="2424829" y="1505846"/>
                  <a:pt x="2417675" y="1455070"/>
                </a:cubicBezTo>
                <a:cubicBezTo>
                  <a:pt x="2409025" y="1388817"/>
                  <a:pt x="2368208" y="1366470"/>
                  <a:pt x="2315585" y="1351978"/>
                </a:cubicBezTo>
                <a:close/>
                <a:moveTo>
                  <a:pt x="3612086" y="989467"/>
                </a:moveTo>
                <a:cubicBezTo>
                  <a:pt x="3453010" y="989467"/>
                  <a:pt x="3324054" y="1118423"/>
                  <a:pt x="3324054" y="1277499"/>
                </a:cubicBezTo>
                <a:cubicBezTo>
                  <a:pt x="3324054" y="1436575"/>
                  <a:pt x="3453010" y="1565531"/>
                  <a:pt x="3612086" y="1565531"/>
                </a:cubicBezTo>
                <a:cubicBezTo>
                  <a:pt x="3771162" y="1565531"/>
                  <a:pt x="3900118" y="1436575"/>
                  <a:pt x="3900118" y="1277499"/>
                </a:cubicBezTo>
                <a:cubicBezTo>
                  <a:pt x="3900118" y="1118423"/>
                  <a:pt x="3771162" y="989467"/>
                  <a:pt x="3612086" y="989467"/>
                </a:cubicBezTo>
                <a:close/>
                <a:moveTo>
                  <a:pt x="948854" y="989467"/>
                </a:moveTo>
                <a:cubicBezTo>
                  <a:pt x="789778" y="989467"/>
                  <a:pt x="660822" y="1118423"/>
                  <a:pt x="660822" y="1277499"/>
                </a:cubicBezTo>
                <a:cubicBezTo>
                  <a:pt x="660822" y="1436575"/>
                  <a:pt x="789778" y="1565531"/>
                  <a:pt x="948854" y="1565531"/>
                </a:cubicBezTo>
                <a:cubicBezTo>
                  <a:pt x="1107930" y="1565531"/>
                  <a:pt x="1236886" y="1436575"/>
                  <a:pt x="1236886" y="1277499"/>
                </a:cubicBezTo>
                <a:cubicBezTo>
                  <a:pt x="1236886" y="1118423"/>
                  <a:pt x="1107930" y="989467"/>
                  <a:pt x="948854" y="989467"/>
                </a:cubicBezTo>
                <a:close/>
                <a:moveTo>
                  <a:pt x="2247651" y="946230"/>
                </a:moveTo>
                <a:cubicBezTo>
                  <a:pt x="2230469" y="950266"/>
                  <a:pt x="2214012" y="957763"/>
                  <a:pt x="2199233" y="968479"/>
                </a:cubicBezTo>
                <a:cubicBezTo>
                  <a:pt x="2157721" y="998579"/>
                  <a:pt x="2136236" y="1049152"/>
                  <a:pt x="2143390" y="1099928"/>
                </a:cubicBezTo>
                <a:cubicBezTo>
                  <a:pt x="2157154" y="1167662"/>
                  <a:pt x="2197550" y="1197656"/>
                  <a:pt x="2247651" y="1217102"/>
                </a:cubicBezTo>
                <a:close/>
                <a:moveTo>
                  <a:pt x="2247651" y="785264"/>
                </a:moveTo>
                <a:lnTo>
                  <a:pt x="2315585" y="785264"/>
                </a:lnTo>
                <a:lnTo>
                  <a:pt x="2315585" y="832380"/>
                </a:lnTo>
                <a:cubicBezTo>
                  <a:pt x="2341411" y="835890"/>
                  <a:pt x="2366862" y="843587"/>
                  <a:pt x="2390991" y="855423"/>
                </a:cubicBezTo>
                <a:cubicBezTo>
                  <a:pt x="2474360" y="896319"/>
                  <a:pt x="2528313" y="979930"/>
                  <a:pt x="2531223" y="1072743"/>
                </a:cubicBezTo>
                <a:lnTo>
                  <a:pt x="2418963" y="1076264"/>
                </a:lnTo>
                <a:cubicBezTo>
                  <a:pt x="2417356" y="1025012"/>
                  <a:pt x="2387564" y="978842"/>
                  <a:pt x="2341528" y="956260"/>
                </a:cubicBezTo>
                <a:cubicBezTo>
                  <a:pt x="2333151" y="952151"/>
                  <a:pt x="2324486" y="948946"/>
                  <a:pt x="2315585" y="946938"/>
                </a:cubicBezTo>
                <a:lnTo>
                  <a:pt x="2315585" y="1239083"/>
                </a:lnTo>
                <a:cubicBezTo>
                  <a:pt x="2404308" y="1264638"/>
                  <a:pt x="2499083" y="1293869"/>
                  <a:pt x="2528899" y="1441205"/>
                </a:cubicBezTo>
                <a:cubicBezTo>
                  <a:pt x="2541347" y="1532528"/>
                  <a:pt x="2502457" y="1623287"/>
                  <a:pt x="2427762" y="1677447"/>
                </a:cubicBezTo>
                <a:cubicBezTo>
                  <a:pt x="2394006" y="1701923"/>
                  <a:pt x="2355419" y="1717125"/>
                  <a:pt x="2315585" y="1722661"/>
                </a:cubicBezTo>
                <a:lnTo>
                  <a:pt x="2315585" y="1769734"/>
                </a:lnTo>
                <a:lnTo>
                  <a:pt x="2247651" y="1769734"/>
                </a:lnTo>
                <a:lnTo>
                  <a:pt x="2247651" y="1722944"/>
                </a:lnTo>
                <a:cubicBezTo>
                  <a:pt x="2221084" y="1719537"/>
                  <a:pt x="2194881" y="1711743"/>
                  <a:pt x="2170074" y="1699575"/>
                </a:cubicBezTo>
                <a:cubicBezTo>
                  <a:pt x="2086705" y="1658679"/>
                  <a:pt x="2032752" y="1575069"/>
                  <a:pt x="2029842" y="1482255"/>
                </a:cubicBezTo>
                <a:lnTo>
                  <a:pt x="2142102" y="1478734"/>
                </a:lnTo>
                <a:cubicBezTo>
                  <a:pt x="2143709" y="1529986"/>
                  <a:pt x="2173501" y="1576156"/>
                  <a:pt x="2219537" y="1598738"/>
                </a:cubicBezTo>
                <a:cubicBezTo>
                  <a:pt x="2228602" y="1603184"/>
                  <a:pt x="2238004" y="1606573"/>
                  <a:pt x="2247651" y="1608616"/>
                </a:cubicBezTo>
                <a:lnTo>
                  <a:pt x="2247651" y="1335176"/>
                </a:lnTo>
                <a:cubicBezTo>
                  <a:pt x="2162261" y="1314127"/>
                  <a:pt x="2069489" y="1278142"/>
                  <a:pt x="2032173" y="1115597"/>
                </a:cubicBezTo>
                <a:cubicBezTo>
                  <a:pt x="2019217" y="1023646"/>
                  <a:pt x="2058125" y="932061"/>
                  <a:pt x="2133303" y="877552"/>
                </a:cubicBezTo>
                <a:cubicBezTo>
                  <a:pt x="2167670" y="852632"/>
                  <a:pt x="2207046" y="837325"/>
                  <a:pt x="2247651" y="832077"/>
                </a:cubicBezTo>
                <a:close/>
                <a:moveTo>
                  <a:pt x="2280470" y="617534"/>
                </a:moveTo>
                <a:cubicBezTo>
                  <a:pt x="1915981" y="617534"/>
                  <a:pt x="1620504" y="913011"/>
                  <a:pt x="1620504" y="1277500"/>
                </a:cubicBezTo>
                <a:cubicBezTo>
                  <a:pt x="1620504" y="1641989"/>
                  <a:pt x="1915981" y="1937466"/>
                  <a:pt x="2280470" y="1937466"/>
                </a:cubicBezTo>
                <a:cubicBezTo>
                  <a:pt x="2644959" y="1937466"/>
                  <a:pt x="2940436" y="1641989"/>
                  <a:pt x="2940436" y="1277500"/>
                </a:cubicBezTo>
                <a:cubicBezTo>
                  <a:pt x="2940436" y="913011"/>
                  <a:pt x="2644959" y="617534"/>
                  <a:pt x="2280470" y="617534"/>
                </a:cubicBezTo>
                <a:close/>
                <a:moveTo>
                  <a:pt x="284505" y="265281"/>
                </a:moveTo>
                <a:lnTo>
                  <a:pt x="4276434" y="265281"/>
                </a:lnTo>
                <a:lnTo>
                  <a:pt x="4276434" y="2289716"/>
                </a:lnTo>
                <a:lnTo>
                  <a:pt x="284505" y="2289716"/>
                </a:lnTo>
                <a:close/>
                <a:moveTo>
                  <a:pt x="180344" y="148161"/>
                </a:moveTo>
                <a:lnTo>
                  <a:pt x="180344" y="2406836"/>
                </a:lnTo>
                <a:lnTo>
                  <a:pt x="4380595" y="2406836"/>
                </a:lnTo>
                <a:lnTo>
                  <a:pt x="4380595" y="148161"/>
                </a:lnTo>
                <a:close/>
                <a:moveTo>
                  <a:pt x="0" y="0"/>
                </a:moveTo>
                <a:lnTo>
                  <a:pt x="4560938" y="0"/>
                </a:lnTo>
                <a:lnTo>
                  <a:pt x="4560938" y="2554996"/>
                </a:lnTo>
                <a:lnTo>
                  <a:pt x="0" y="2554996"/>
                </a:lnTo>
                <a:close/>
              </a:path>
            </a:pathLst>
          </a:custGeom>
          <a:solidFill>
            <a:srgbClr val="00B050"/>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sz="2000">
              <a:solidFill>
                <a:schemeClr val="lt1"/>
              </a:solidFill>
              <a:latin typeface="Calibri"/>
              <a:ea typeface="Calibri"/>
              <a:cs typeface="Calibri"/>
              <a:sym typeface="Calibri"/>
            </a:endParaRPr>
          </a:p>
        </p:txBody>
      </p:sp>
      <p:pic>
        <p:nvPicPr>
          <p:cNvPr descr="Late Employee Missing Deadline Concept Professional Workspace Environment" id="352" name="Google Shape;352;p41"/>
          <p:cNvPicPr preferRelativeResize="0"/>
          <p:nvPr/>
        </p:nvPicPr>
        <p:blipFill rotWithShape="1">
          <a:blip r:embed="rId3">
            <a:alphaModFix/>
          </a:blip>
          <a:srcRect b="0" l="0" r="0" t="0"/>
          <a:stretch/>
        </p:blipFill>
        <p:spPr>
          <a:xfrm>
            <a:off x="3968576" y="1576054"/>
            <a:ext cx="1379307" cy="1379275"/>
          </a:xfrm>
          <a:prstGeom prst="rect">
            <a:avLst/>
          </a:prstGeom>
          <a:noFill/>
          <a:ln>
            <a:noFill/>
          </a:ln>
        </p:spPr>
      </p:pic>
      <p:pic>
        <p:nvPicPr>
          <p:cNvPr descr="a man holding a document that says quot dollar quot" id="353" name="Google Shape;353;p41"/>
          <p:cNvPicPr preferRelativeResize="0"/>
          <p:nvPr/>
        </p:nvPicPr>
        <p:blipFill rotWithShape="1">
          <a:blip r:embed="rId4">
            <a:alphaModFix/>
          </a:blip>
          <a:srcRect b="0" l="0" r="0" t="0"/>
          <a:stretch/>
        </p:blipFill>
        <p:spPr>
          <a:xfrm>
            <a:off x="1447800" y="3520203"/>
            <a:ext cx="1216858" cy="1216857"/>
          </a:xfrm>
          <a:prstGeom prst="rect">
            <a:avLst/>
          </a:prstGeom>
          <a:noFill/>
          <a:ln>
            <a:noFill/>
          </a:ln>
        </p:spPr>
      </p:pic>
      <p:grpSp>
        <p:nvGrpSpPr>
          <p:cNvPr id="354" name="Google Shape;354;p41"/>
          <p:cNvGrpSpPr/>
          <p:nvPr/>
        </p:nvGrpSpPr>
        <p:grpSpPr>
          <a:xfrm>
            <a:off x="6057900" y="1495384"/>
            <a:ext cx="2941996" cy="1160250"/>
            <a:chOff x="1395848" y="3256486"/>
            <a:chExt cx="2688688" cy="1547000"/>
          </a:xfrm>
        </p:grpSpPr>
        <p:sp>
          <p:nvSpPr>
            <p:cNvPr id="355" name="Google Shape;355;p41"/>
            <p:cNvSpPr txBox="1"/>
            <p:nvPr/>
          </p:nvSpPr>
          <p:spPr>
            <a:xfrm>
              <a:off x="1395848" y="3510825"/>
              <a:ext cx="2688688" cy="1292661"/>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id" sz="1200">
                  <a:solidFill>
                    <a:srgbClr val="3F3F3F"/>
                  </a:solidFill>
                  <a:latin typeface="Calibri"/>
                  <a:ea typeface="Calibri"/>
                  <a:cs typeface="Calibri"/>
                  <a:sym typeface="Calibri"/>
                </a:rPr>
                <a:t>Guru tidak mendapatkan akses informasi terkait bagaimana analisa terkait siswa yang ditangani psikolog dan bagaimana treatment yang dipelukan untuk siswa dari hasil analisa tersebut</a:t>
              </a:r>
              <a:endParaRPr sz="700"/>
            </a:p>
          </p:txBody>
        </p:sp>
        <p:sp>
          <p:nvSpPr>
            <p:cNvPr id="356" name="Google Shape;356;p41"/>
            <p:cNvSpPr txBox="1"/>
            <p:nvPr/>
          </p:nvSpPr>
          <p:spPr>
            <a:xfrm>
              <a:off x="1395848" y="3256486"/>
              <a:ext cx="2688688" cy="307777"/>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lang="id" sz="1200">
                  <a:solidFill>
                    <a:srgbClr val="3F3F3F"/>
                  </a:solidFill>
                  <a:latin typeface="Calibri"/>
                  <a:ea typeface="Calibri"/>
                  <a:cs typeface="Calibri"/>
                  <a:sym typeface="Calibri"/>
                </a:rPr>
                <a:t>Pertukaran Informasi</a:t>
              </a:r>
              <a:endParaRPr b="1" sz="1200">
                <a:solidFill>
                  <a:srgbClr val="3F3F3F"/>
                </a:solidFill>
                <a:latin typeface="Calibri"/>
                <a:ea typeface="Calibri"/>
                <a:cs typeface="Calibri"/>
                <a:sym typeface="Calibri"/>
              </a:endParaRPr>
            </a:p>
          </p:txBody>
        </p:sp>
      </p:grpSp>
      <p:sp>
        <p:nvSpPr>
          <p:cNvPr id="357" name="Google Shape;357;p41"/>
          <p:cNvSpPr/>
          <p:nvPr/>
        </p:nvSpPr>
        <p:spPr>
          <a:xfrm>
            <a:off x="5638800" y="1530785"/>
            <a:ext cx="359949" cy="355165"/>
          </a:xfrm>
          <a:custGeom>
            <a:rect b="b" l="l" r="r" t="t"/>
            <a:pathLst>
              <a:path extrusionOk="0" h="2880180" w="2844151">
                <a:moveTo>
                  <a:pt x="2390187" y="1502145"/>
                </a:moveTo>
                <a:lnTo>
                  <a:pt x="2844151" y="1530794"/>
                </a:lnTo>
                <a:cubicBezTo>
                  <a:pt x="2804784" y="2154619"/>
                  <a:pt x="2367464" y="2681809"/>
                  <a:pt x="1761650" y="2835749"/>
                </a:cubicBezTo>
                <a:cubicBezTo>
                  <a:pt x="1191486" y="2980631"/>
                  <a:pt x="594633" y="2763755"/>
                  <a:pt x="252983" y="2293680"/>
                </a:cubicBezTo>
                <a:lnTo>
                  <a:pt x="102982" y="2380283"/>
                </a:lnTo>
                <a:lnTo>
                  <a:pt x="104524" y="1603708"/>
                </a:lnTo>
                <a:lnTo>
                  <a:pt x="777828" y="1990661"/>
                </a:lnTo>
                <a:lnTo>
                  <a:pt x="648358" y="2065410"/>
                </a:lnTo>
                <a:cubicBezTo>
                  <a:pt x="886760" y="2358087"/>
                  <a:pt x="1276546" y="2489694"/>
                  <a:pt x="1649627" y="2394891"/>
                </a:cubicBezTo>
                <a:cubicBezTo>
                  <a:pt x="2064076" y="2289577"/>
                  <a:pt x="2363256" y="1928916"/>
                  <a:pt x="2390187" y="1502145"/>
                </a:cubicBezTo>
                <a:close/>
                <a:moveTo>
                  <a:pt x="1424249" y="58"/>
                </a:moveTo>
                <a:cubicBezTo>
                  <a:pt x="1880498" y="-4073"/>
                  <a:pt x="2318325" y="209551"/>
                  <a:pt x="2591169" y="586524"/>
                </a:cubicBezTo>
                <a:lnTo>
                  <a:pt x="2741170" y="499921"/>
                </a:lnTo>
                <a:lnTo>
                  <a:pt x="2739628" y="1276497"/>
                </a:lnTo>
                <a:lnTo>
                  <a:pt x="2066324" y="889544"/>
                </a:lnTo>
                <a:lnTo>
                  <a:pt x="2195793" y="814795"/>
                </a:lnTo>
                <a:cubicBezTo>
                  <a:pt x="1957391" y="522118"/>
                  <a:pt x="1567606" y="390511"/>
                  <a:pt x="1194524" y="485313"/>
                </a:cubicBezTo>
                <a:cubicBezTo>
                  <a:pt x="780075" y="590627"/>
                  <a:pt x="480895" y="951288"/>
                  <a:pt x="453964" y="1378059"/>
                </a:cubicBezTo>
                <a:lnTo>
                  <a:pt x="0" y="1349410"/>
                </a:lnTo>
                <a:cubicBezTo>
                  <a:pt x="39367" y="725585"/>
                  <a:pt x="476687" y="198395"/>
                  <a:pt x="1082501" y="44455"/>
                </a:cubicBezTo>
                <a:cubicBezTo>
                  <a:pt x="1196091" y="15591"/>
                  <a:pt x="1310740" y="1086"/>
                  <a:pt x="1424249" y="58"/>
                </a:cubicBezTo>
                <a:close/>
              </a:path>
            </a:pathLst>
          </a:custGeom>
          <a:solidFill>
            <a:schemeClr val="accent5"/>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pic>
        <p:nvPicPr>
          <p:cNvPr descr="Hand drawn no data illustration" id="358" name="Google Shape;358;p41"/>
          <p:cNvPicPr preferRelativeResize="0"/>
          <p:nvPr/>
        </p:nvPicPr>
        <p:blipFill rotWithShape="1">
          <a:blip r:embed="rId5">
            <a:alphaModFix/>
          </a:blip>
          <a:srcRect b="0" l="0" r="0" t="0"/>
          <a:stretch/>
        </p:blipFill>
        <p:spPr>
          <a:xfrm>
            <a:off x="6074229" y="2762250"/>
            <a:ext cx="1797292" cy="179729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2"/>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rtl="0" algn="ctr">
              <a:lnSpc>
                <a:spcPct val="233333"/>
              </a:lnSpc>
              <a:spcBef>
                <a:spcPts val="0"/>
              </a:spcBef>
              <a:spcAft>
                <a:spcPts val="0"/>
              </a:spcAft>
              <a:buNone/>
            </a:pPr>
            <a:r>
              <a:rPr b="1" lang="id" sz="1800">
                <a:solidFill>
                  <a:srgbClr val="002646"/>
                </a:solidFill>
                <a:latin typeface="Poppins"/>
                <a:ea typeface="Poppins"/>
                <a:cs typeface="Poppins"/>
                <a:sym typeface="Poppins"/>
              </a:rPr>
              <a:t>Bukan Sekedar “Ngetes”, tapi Membangun Ekosistem</a:t>
            </a:r>
            <a:endParaRPr b="1" sz="1800">
              <a:solidFill>
                <a:srgbClr val="002646"/>
              </a:solidFill>
              <a:latin typeface="Poppins"/>
              <a:ea typeface="Poppins"/>
              <a:cs typeface="Poppins"/>
              <a:sym typeface="Poppins"/>
            </a:endParaRPr>
          </a:p>
        </p:txBody>
      </p:sp>
      <p:sp>
        <p:nvSpPr>
          <p:cNvPr id="364" name="Google Shape;364;p42"/>
          <p:cNvSpPr txBox="1"/>
          <p:nvPr/>
        </p:nvSpPr>
        <p:spPr>
          <a:xfrm>
            <a:off x="3559916" y="4132712"/>
            <a:ext cx="1831800" cy="679650"/>
          </a:xfrm>
          <a:prstGeom prst="rect">
            <a:avLst/>
          </a:prstGeom>
          <a:noFill/>
          <a:ln>
            <a:noFill/>
          </a:ln>
        </p:spPr>
        <p:txBody>
          <a:bodyPr anchorCtr="0" anchor="t" bIns="0" lIns="64000" spcFirstLastPara="1" rIns="64000" wrap="square" tIns="64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Psikotes calon dan tenaga pengajar guru </a:t>
            </a:r>
            <a:r>
              <a:rPr lang="id" sz="900">
                <a:solidFill>
                  <a:schemeClr val="dk1"/>
                </a:solidFill>
                <a:latin typeface="Calibri"/>
                <a:ea typeface="Calibri"/>
                <a:cs typeface="Calibri"/>
                <a:sym typeface="Calibri"/>
              </a:rPr>
              <a:t>di Sekolah  (IQ, 16PF dan Kraepelin)</a:t>
            </a:r>
            <a:endParaRPr sz="900">
              <a:solidFill>
                <a:schemeClr val="dk1"/>
              </a:solidFill>
              <a:latin typeface="Calibri"/>
              <a:ea typeface="Calibri"/>
              <a:cs typeface="Calibri"/>
              <a:sym typeface="Calibri"/>
            </a:endParaRPr>
          </a:p>
        </p:txBody>
      </p:sp>
      <p:grpSp>
        <p:nvGrpSpPr>
          <p:cNvPr id="365" name="Google Shape;365;p42"/>
          <p:cNvGrpSpPr/>
          <p:nvPr/>
        </p:nvGrpSpPr>
        <p:grpSpPr>
          <a:xfrm>
            <a:off x="537249" y="838319"/>
            <a:ext cx="7877130" cy="1941793"/>
            <a:chOff x="7698" y="1892667"/>
            <a:chExt cx="15754259" cy="3883586"/>
          </a:xfrm>
        </p:grpSpPr>
        <p:sp>
          <p:nvSpPr>
            <p:cNvPr id="366" name="Google Shape;366;p42"/>
            <p:cNvSpPr/>
            <p:nvPr/>
          </p:nvSpPr>
          <p:spPr>
            <a:xfrm>
              <a:off x="7698" y="4416953"/>
              <a:ext cx="3663600" cy="13593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7" name="Google Shape;367;p42"/>
            <p:cNvSpPr txBox="1"/>
            <p:nvPr/>
          </p:nvSpPr>
          <p:spPr>
            <a:xfrm>
              <a:off x="7698" y="4416953"/>
              <a:ext cx="3663600" cy="1359300"/>
            </a:xfrm>
            <a:prstGeom prst="rect">
              <a:avLst/>
            </a:prstGeom>
            <a:noFill/>
            <a:ln>
              <a:noFill/>
            </a:ln>
          </p:spPr>
          <p:txBody>
            <a:bodyPr anchorCtr="0" anchor="t" bIns="0" lIns="64000" spcFirstLastPara="1" rIns="64000" wrap="square" tIns="64000">
              <a:noAutofit/>
            </a:bodyPr>
            <a:lstStyle/>
            <a:p>
              <a:pPr indent="0" lvl="0" marL="0" marR="0" rtl="0" algn="ctr">
                <a:lnSpc>
                  <a:spcPct val="90000"/>
                </a:lnSpc>
                <a:spcBef>
                  <a:spcPts val="0"/>
                </a:spcBef>
                <a:spcAft>
                  <a:spcPts val="0"/>
                </a:spcAft>
                <a:buClr>
                  <a:schemeClr val="dk1"/>
                </a:buClr>
                <a:buSzPts val="900"/>
                <a:buFont typeface="Calibri"/>
                <a:buNone/>
              </a:pPr>
              <a:r>
                <a:rPr lang="id" sz="900">
                  <a:solidFill>
                    <a:schemeClr val="dk1"/>
                  </a:solidFill>
                  <a:latin typeface="Calibri"/>
                  <a:ea typeface="Calibri"/>
                  <a:cs typeface="Calibri"/>
                  <a:sym typeface="Calibri"/>
                </a:rPr>
                <a:t>Tim kami tenaga professional psikolog klinis </a:t>
              </a:r>
              <a:r>
                <a:rPr b="1" lang="id" sz="900">
                  <a:solidFill>
                    <a:schemeClr val="dk1"/>
                  </a:solidFill>
                  <a:latin typeface="Calibri"/>
                  <a:ea typeface="Calibri"/>
                  <a:cs typeface="Calibri"/>
                  <a:sym typeface="Calibri"/>
                </a:rPr>
                <a:t>berpengalaman lebih dari 7 tahun</a:t>
              </a:r>
              <a:r>
                <a:rPr lang="id" sz="900">
                  <a:solidFill>
                    <a:schemeClr val="dk1"/>
                  </a:solidFill>
                  <a:latin typeface="Calibri"/>
                  <a:ea typeface="Calibri"/>
                  <a:cs typeface="Calibri"/>
                  <a:sym typeface="Calibri"/>
                </a:rPr>
                <a:t>. Berpengalaman di RS Hermina dan Klinik Anisa</a:t>
              </a:r>
              <a:endParaRPr sz="900">
                <a:solidFill>
                  <a:schemeClr val="dk1"/>
                </a:solidFill>
                <a:latin typeface="Calibri"/>
                <a:ea typeface="Calibri"/>
                <a:cs typeface="Calibri"/>
                <a:sym typeface="Calibri"/>
              </a:endParaRPr>
            </a:p>
            <a:p>
              <a:pPr indent="0" lvl="0" marL="0" marR="0" rtl="0" algn="ctr">
                <a:lnSpc>
                  <a:spcPct val="90000"/>
                </a:lnSpc>
                <a:spcBef>
                  <a:spcPts val="300"/>
                </a:spcBef>
                <a:spcAft>
                  <a:spcPts val="0"/>
                </a:spcAft>
                <a:buClr>
                  <a:schemeClr val="dk1"/>
                </a:buClr>
                <a:buSzPts val="900"/>
                <a:buFont typeface="Calibri"/>
                <a:buNone/>
              </a:pPr>
              <a:r>
                <a:t/>
              </a:r>
              <a:endParaRPr sz="900">
                <a:solidFill>
                  <a:schemeClr val="dk1"/>
                </a:solidFill>
                <a:latin typeface="Calibri"/>
                <a:ea typeface="Calibri"/>
                <a:cs typeface="Calibri"/>
                <a:sym typeface="Calibri"/>
              </a:endParaRPr>
            </a:p>
          </p:txBody>
        </p:sp>
        <p:sp>
          <p:nvSpPr>
            <p:cNvPr id="368" name="Google Shape;368;p42"/>
            <p:cNvSpPr/>
            <p:nvPr/>
          </p:nvSpPr>
          <p:spPr>
            <a:xfrm>
              <a:off x="4037918" y="1892667"/>
              <a:ext cx="3663600" cy="2524200"/>
            </a:xfrm>
            <a:prstGeom prst="roundRect">
              <a:avLst>
                <a:gd fmla="val 16667" name="adj"/>
              </a:avLst>
            </a:prstGeom>
            <a:blipFill rotWithShape="1">
              <a:blip r:embed="rId3">
                <a:alphaModFix/>
              </a:blip>
              <a:stretch>
                <a:fillRect b="0" l="-10999" r="-10999" t="0"/>
              </a:stretch>
            </a:blipFill>
            <a:ln cap="flat" cmpd="sng" w="25400">
              <a:solidFill>
                <a:schemeClr val="lt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9" name="Google Shape;369;p42"/>
            <p:cNvSpPr/>
            <p:nvPr/>
          </p:nvSpPr>
          <p:spPr>
            <a:xfrm>
              <a:off x="4037918" y="4416953"/>
              <a:ext cx="3663600" cy="13593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0" name="Google Shape;370;p42"/>
            <p:cNvSpPr txBox="1"/>
            <p:nvPr/>
          </p:nvSpPr>
          <p:spPr>
            <a:xfrm>
              <a:off x="4037918" y="4416953"/>
              <a:ext cx="3663600" cy="1359300"/>
            </a:xfrm>
            <a:prstGeom prst="rect">
              <a:avLst/>
            </a:prstGeom>
            <a:noFill/>
            <a:ln>
              <a:noFill/>
            </a:ln>
          </p:spPr>
          <p:txBody>
            <a:bodyPr anchorCtr="0" anchor="t" bIns="0" lIns="64000" spcFirstLastPara="1" rIns="64000" wrap="square" tIns="64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Alat tes lengkap dan terkomputerasi</a:t>
              </a:r>
              <a:r>
                <a:rPr lang="id" sz="900">
                  <a:solidFill>
                    <a:schemeClr val="dk1"/>
                  </a:solidFill>
                  <a:latin typeface="Calibri"/>
                  <a:ea typeface="Calibri"/>
                  <a:cs typeface="Calibri"/>
                  <a:sym typeface="Calibri"/>
                </a:rPr>
                <a:t>. Sehingga hasil lebih cepat, akurat dan bisa untuk jumlah banyak di satu waktu</a:t>
              </a:r>
              <a:endParaRPr sz="900">
                <a:solidFill>
                  <a:schemeClr val="dk1"/>
                </a:solidFill>
                <a:latin typeface="Calibri"/>
                <a:ea typeface="Calibri"/>
                <a:cs typeface="Calibri"/>
                <a:sym typeface="Calibri"/>
              </a:endParaRPr>
            </a:p>
          </p:txBody>
        </p:sp>
        <p:sp>
          <p:nvSpPr>
            <p:cNvPr id="371" name="Google Shape;371;p42"/>
            <p:cNvSpPr/>
            <p:nvPr/>
          </p:nvSpPr>
          <p:spPr>
            <a:xfrm>
              <a:off x="8068137" y="1892667"/>
              <a:ext cx="3663600" cy="2524200"/>
            </a:xfrm>
            <a:prstGeom prst="roundRect">
              <a:avLst>
                <a:gd fmla="val 16667" name="adj"/>
              </a:avLst>
            </a:prstGeom>
            <a:blipFill rotWithShape="1">
              <a:blip r:embed="rId4">
                <a:alphaModFix/>
              </a:blip>
              <a:stretch>
                <a:fillRect b="0" l="-10999" r="-10999" t="0"/>
              </a:stretch>
            </a:blipFill>
            <a:ln cap="flat" cmpd="sng" w="25400">
              <a:solidFill>
                <a:schemeClr val="lt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2" name="Google Shape;372;p42"/>
            <p:cNvSpPr/>
            <p:nvPr/>
          </p:nvSpPr>
          <p:spPr>
            <a:xfrm>
              <a:off x="8068137" y="4416953"/>
              <a:ext cx="3663600" cy="13593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3" name="Google Shape;373;p42"/>
            <p:cNvSpPr txBox="1"/>
            <p:nvPr/>
          </p:nvSpPr>
          <p:spPr>
            <a:xfrm>
              <a:off x="8068137" y="4416953"/>
              <a:ext cx="3663600" cy="1359300"/>
            </a:xfrm>
            <a:prstGeom prst="rect">
              <a:avLst/>
            </a:prstGeom>
            <a:noFill/>
            <a:ln>
              <a:noFill/>
            </a:ln>
          </p:spPr>
          <p:txBody>
            <a:bodyPr anchorCtr="0" anchor="t" bIns="0" lIns="64000" spcFirstLastPara="1" rIns="64000" wrap="square" tIns="64000">
              <a:noAutofit/>
            </a:bodyPr>
            <a:lstStyle/>
            <a:p>
              <a:pPr indent="0" lvl="0" marL="0" marR="0" rtl="0" algn="ctr">
                <a:lnSpc>
                  <a:spcPct val="90000"/>
                </a:lnSpc>
                <a:spcBef>
                  <a:spcPts val="0"/>
                </a:spcBef>
                <a:spcAft>
                  <a:spcPts val="0"/>
                </a:spcAft>
                <a:buClr>
                  <a:schemeClr val="dk1"/>
                </a:buClr>
                <a:buSzPts val="900"/>
                <a:buFont typeface="Calibri"/>
                <a:buNone/>
              </a:pPr>
              <a:r>
                <a:rPr lang="id" sz="900">
                  <a:solidFill>
                    <a:schemeClr val="dk1"/>
                  </a:solidFill>
                  <a:latin typeface="Calibri"/>
                  <a:ea typeface="Calibri"/>
                  <a:cs typeface="Calibri"/>
                  <a:sym typeface="Calibri"/>
                </a:rPr>
                <a:t>Biro kami telah </a:t>
              </a:r>
              <a:r>
                <a:rPr b="1" lang="id" sz="900">
                  <a:solidFill>
                    <a:schemeClr val="dk1"/>
                  </a:solidFill>
                  <a:latin typeface="Calibri"/>
                  <a:ea typeface="Calibri"/>
                  <a:cs typeface="Calibri"/>
                  <a:sym typeface="Calibri"/>
                </a:rPr>
                <a:t>dipercaya lebih dari 25 Sekolah</a:t>
              </a:r>
              <a:r>
                <a:rPr lang="id" sz="900">
                  <a:solidFill>
                    <a:schemeClr val="dk1"/>
                  </a:solidFill>
                  <a:latin typeface="Calibri"/>
                  <a:ea typeface="Calibri"/>
                  <a:cs typeface="Calibri"/>
                  <a:sym typeface="Calibri"/>
                </a:rPr>
                <a:t> di Samarinda. Mulai dari TK hingga SMA</a:t>
              </a:r>
              <a:endParaRPr sz="700"/>
            </a:p>
          </p:txBody>
        </p:sp>
        <p:sp>
          <p:nvSpPr>
            <p:cNvPr id="374" name="Google Shape;374;p42"/>
            <p:cNvSpPr/>
            <p:nvPr/>
          </p:nvSpPr>
          <p:spPr>
            <a:xfrm>
              <a:off x="12098357" y="1892667"/>
              <a:ext cx="3663600" cy="2524200"/>
            </a:xfrm>
            <a:prstGeom prst="roundRect">
              <a:avLst>
                <a:gd fmla="val 16667" name="adj"/>
              </a:avLst>
            </a:prstGeom>
            <a:blipFill rotWithShape="1">
              <a:blip r:embed="rId5">
                <a:alphaModFix/>
              </a:blip>
              <a:stretch>
                <a:fillRect b="-14999" l="0" r="0" t="-14999"/>
              </a:stretch>
            </a:blipFill>
            <a:ln cap="flat" cmpd="sng" w="25400">
              <a:solidFill>
                <a:schemeClr val="lt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5" name="Google Shape;375;p42"/>
            <p:cNvSpPr/>
            <p:nvPr/>
          </p:nvSpPr>
          <p:spPr>
            <a:xfrm>
              <a:off x="12098357" y="4416953"/>
              <a:ext cx="3663600" cy="13593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6" name="Google Shape;376;p42"/>
            <p:cNvSpPr txBox="1"/>
            <p:nvPr/>
          </p:nvSpPr>
          <p:spPr>
            <a:xfrm>
              <a:off x="12098357" y="4416953"/>
              <a:ext cx="3663600" cy="1359300"/>
            </a:xfrm>
            <a:prstGeom prst="rect">
              <a:avLst/>
            </a:prstGeom>
            <a:noFill/>
            <a:ln>
              <a:noFill/>
            </a:ln>
          </p:spPr>
          <p:txBody>
            <a:bodyPr anchorCtr="0" anchor="t" bIns="0" lIns="64000" spcFirstLastPara="1" rIns="64000" wrap="square" tIns="64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Layanan lengkap</a:t>
              </a:r>
              <a:r>
                <a:rPr lang="id" sz="900">
                  <a:solidFill>
                    <a:schemeClr val="dk1"/>
                  </a:solidFill>
                  <a:latin typeface="Calibri"/>
                  <a:ea typeface="Calibri"/>
                  <a:cs typeface="Calibri"/>
                  <a:sym typeface="Calibri"/>
                </a:rPr>
                <a:t>, mulai dari psikotes, pelatihan guru, kurikulum individu siswa ABK hingga terapi di Sekolah</a:t>
              </a:r>
              <a:endParaRPr sz="900">
                <a:solidFill>
                  <a:schemeClr val="dk1"/>
                </a:solidFill>
                <a:latin typeface="Calibri"/>
                <a:ea typeface="Calibri"/>
                <a:cs typeface="Calibri"/>
                <a:sym typeface="Calibri"/>
              </a:endParaRPr>
            </a:p>
          </p:txBody>
        </p:sp>
        <p:sp>
          <p:nvSpPr>
            <p:cNvPr id="377" name="Google Shape;377;p42"/>
            <p:cNvSpPr/>
            <p:nvPr/>
          </p:nvSpPr>
          <p:spPr>
            <a:xfrm>
              <a:off x="7698" y="1892667"/>
              <a:ext cx="3663600" cy="2524200"/>
            </a:xfrm>
            <a:prstGeom prst="roundRect">
              <a:avLst>
                <a:gd fmla="val 16667" name="adj"/>
              </a:avLst>
            </a:prstGeom>
            <a:blipFill rotWithShape="1">
              <a:blip r:embed="rId6">
                <a:alphaModFix/>
              </a:blip>
              <a:stretch>
                <a:fillRect b="-20001" l="0" r="0" t="-20001"/>
              </a:stretch>
            </a:blipFill>
            <a:ln cap="flat" cmpd="sng" w="25400">
              <a:solidFill>
                <a:schemeClr val="lt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pic>
        <p:nvPicPr>
          <p:cNvPr id="378" name="Google Shape;378;p42"/>
          <p:cNvPicPr preferRelativeResize="0"/>
          <p:nvPr/>
        </p:nvPicPr>
        <p:blipFill>
          <a:blip r:embed="rId7">
            <a:alphaModFix/>
          </a:blip>
          <a:stretch>
            <a:fillRect/>
          </a:stretch>
        </p:blipFill>
        <p:spPr>
          <a:xfrm>
            <a:off x="3403288" y="2886521"/>
            <a:ext cx="2145052" cy="12066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3"/>
          <p:cNvSpPr txBox="1"/>
          <p:nvPr/>
        </p:nvSpPr>
        <p:spPr>
          <a:xfrm>
            <a:off x="197514" y="249492"/>
            <a:ext cx="8370930" cy="46859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Solusi Kami: Psikolog Hadir di Sekolah</a:t>
            </a:r>
            <a:endParaRPr b="1" sz="1800">
              <a:solidFill>
                <a:srgbClr val="002646"/>
              </a:solidFill>
              <a:latin typeface="Poppins"/>
              <a:ea typeface="Poppins"/>
              <a:cs typeface="Poppins"/>
              <a:sym typeface="Poppins"/>
            </a:endParaRPr>
          </a:p>
        </p:txBody>
      </p:sp>
      <p:grpSp>
        <p:nvGrpSpPr>
          <p:cNvPr id="384" name="Google Shape;384;p43"/>
          <p:cNvGrpSpPr/>
          <p:nvPr/>
        </p:nvGrpSpPr>
        <p:grpSpPr>
          <a:xfrm>
            <a:off x="5004048" y="1482788"/>
            <a:ext cx="2941900" cy="606329"/>
            <a:chOff x="1395848" y="3256486"/>
            <a:chExt cx="2688600" cy="808439"/>
          </a:xfrm>
        </p:grpSpPr>
        <p:sp>
          <p:nvSpPr>
            <p:cNvPr id="385" name="Google Shape;385;p43"/>
            <p:cNvSpPr txBox="1"/>
            <p:nvPr/>
          </p:nvSpPr>
          <p:spPr>
            <a:xfrm>
              <a:off x="1395848" y="3510825"/>
              <a:ext cx="2688600" cy="5541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id" sz="1200">
                  <a:solidFill>
                    <a:srgbClr val="3F3F3F"/>
                  </a:solidFill>
                  <a:latin typeface="Calibri"/>
                  <a:ea typeface="Calibri"/>
                  <a:cs typeface="Calibri"/>
                  <a:sym typeface="Calibri"/>
                </a:rPr>
                <a:t>Kesiapan Sekolah</a:t>
              </a:r>
              <a:r>
                <a:rPr lang="id" sz="700"/>
                <a:t>, </a:t>
              </a:r>
              <a:r>
                <a:rPr lang="id" sz="1200">
                  <a:solidFill>
                    <a:srgbClr val="3F3F3F"/>
                  </a:solidFill>
                  <a:latin typeface="Calibri"/>
                  <a:ea typeface="Calibri"/>
                  <a:cs typeface="Calibri"/>
                  <a:sym typeface="Calibri"/>
                </a:rPr>
                <a:t>IQ</a:t>
              </a:r>
              <a:r>
                <a:rPr lang="id" sz="700"/>
                <a:t>, </a:t>
              </a:r>
              <a:r>
                <a:rPr lang="id" sz="1200">
                  <a:solidFill>
                    <a:srgbClr val="3F3F3F"/>
                  </a:solidFill>
                  <a:latin typeface="Calibri"/>
                  <a:ea typeface="Calibri"/>
                  <a:cs typeface="Calibri"/>
                  <a:sym typeface="Calibri"/>
                </a:rPr>
                <a:t>Gaya Belajar, Bakat Minat dan Identifikasi Siswa ABK</a:t>
              </a:r>
              <a:endParaRPr sz="700"/>
            </a:p>
          </p:txBody>
        </p:sp>
        <p:sp>
          <p:nvSpPr>
            <p:cNvPr id="386" name="Google Shape;386;p43"/>
            <p:cNvSpPr txBox="1"/>
            <p:nvPr/>
          </p:nvSpPr>
          <p:spPr>
            <a:xfrm>
              <a:off x="1395848" y="3256486"/>
              <a:ext cx="2688600" cy="3078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lang="id" sz="1200">
                  <a:solidFill>
                    <a:srgbClr val="3F3F3F"/>
                  </a:solidFill>
                  <a:latin typeface="Calibri"/>
                  <a:ea typeface="Calibri"/>
                  <a:cs typeface="Calibri"/>
                  <a:sym typeface="Calibri"/>
                </a:rPr>
                <a:t>Layanan Psikotes, Konseling dan Terapi</a:t>
              </a:r>
              <a:endParaRPr b="1" sz="1200">
                <a:solidFill>
                  <a:srgbClr val="3F3F3F"/>
                </a:solidFill>
                <a:latin typeface="Calibri"/>
                <a:ea typeface="Calibri"/>
                <a:cs typeface="Calibri"/>
                <a:sym typeface="Calibri"/>
              </a:endParaRPr>
            </a:p>
          </p:txBody>
        </p:sp>
      </p:grpSp>
      <p:grpSp>
        <p:nvGrpSpPr>
          <p:cNvPr id="387" name="Google Shape;387;p43"/>
          <p:cNvGrpSpPr/>
          <p:nvPr/>
        </p:nvGrpSpPr>
        <p:grpSpPr>
          <a:xfrm>
            <a:off x="1007604" y="1482788"/>
            <a:ext cx="2882216" cy="1938993"/>
            <a:chOff x="592509" y="1556792"/>
            <a:chExt cx="2361075" cy="2585324"/>
          </a:xfrm>
        </p:grpSpPr>
        <p:sp>
          <p:nvSpPr>
            <p:cNvPr id="388" name="Google Shape;388;p43"/>
            <p:cNvSpPr txBox="1"/>
            <p:nvPr/>
          </p:nvSpPr>
          <p:spPr>
            <a:xfrm>
              <a:off x="592509" y="1864569"/>
              <a:ext cx="2312619" cy="2277547"/>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id" sz="1200">
                  <a:solidFill>
                    <a:srgbClr val="262626"/>
                  </a:solidFill>
                  <a:latin typeface="Calibri"/>
                  <a:ea typeface="Calibri"/>
                  <a:cs typeface="Calibri"/>
                  <a:sym typeface="Calibri"/>
                </a:rPr>
                <a:t>Konsultasi lebih </a:t>
              </a:r>
              <a:r>
                <a:rPr b="1" lang="id" sz="1200">
                  <a:solidFill>
                    <a:srgbClr val="262626"/>
                  </a:solidFill>
                  <a:latin typeface="Calibri"/>
                  <a:ea typeface="Calibri"/>
                  <a:cs typeface="Calibri"/>
                  <a:sym typeface="Calibri"/>
                </a:rPr>
                <a:t>mudah diakses </a:t>
              </a:r>
              <a:r>
                <a:rPr lang="id" sz="1200">
                  <a:solidFill>
                    <a:srgbClr val="262626"/>
                  </a:solidFill>
                  <a:latin typeface="Calibri"/>
                  <a:ea typeface="Calibri"/>
                  <a:cs typeface="Calibri"/>
                  <a:sym typeface="Calibri"/>
                </a:rPr>
                <a:t>dan sesuai dengan waktu anak di sekolah</a:t>
              </a:r>
              <a:endParaRPr sz="700"/>
            </a:p>
            <a:p>
              <a:pPr indent="0" lvl="0" marL="0" marR="0" rtl="0" algn="l">
                <a:spcBef>
                  <a:spcPts val="0"/>
                </a:spcBef>
                <a:spcAft>
                  <a:spcPts val="0"/>
                </a:spcAft>
                <a:buNone/>
              </a:pPr>
              <a:r>
                <a:t/>
              </a:r>
              <a:endParaRPr sz="1200">
                <a:solidFill>
                  <a:srgbClr val="262626"/>
                </a:solidFill>
                <a:latin typeface="Calibri"/>
                <a:ea typeface="Calibri"/>
                <a:cs typeface="Calibri"/>
                <a:sym typeface="Calibri"/>
              </a:endParaRPr>
            </a:p>
            <a:p>
              <a:pPr indent="0" lvl="0" marL="0" marR="0" rtl="0" algn="l">
                <a:spcBef>
                  <a:spcPts val="0"/>
                </a:spcBef>
                <a:spcAft>
                  <a:spcPts val="0"/>
                </a:spcAft>
                <a:buNone/>
              </a:pPr>
              <a:r>
                <a:rPr b="1" lang="id" sz="1200">
                  <a:solidFill>
                    <a:srgbClr val="262626"/>
                  </a:solidFill>
                  <a:latin typeface="Calibri"/>
                  <a:ea typeface="Calibri"/>
                  <a:cs typeface="Calibri"/>
                  <a:sym typeface="Calibri"/>
                </a:rPr>
                <a:t>Harga</a:t>
              </a:r>
              <a:r>
                <a:rPr lang="id" sz="1200">
                  <a:solidFill>
                    <a:srgbClr val="262626"/>
                  </a:solidFill>
                  <a:latin typeface="Calibri"/>
                  <a:ea typeface="Calibri"/>
                  <a:cs typeface="Calibri"/>
                  <a:sym typeface="Calibri"/>
                </a:rPr>
                <a:t> layanan lebih terjangkau dan Sekolah mendapatkan bagi hasil</a:t>
              </a:r>
              <a:endParaRPr sz="700"/>
            </a:p>
            <a:p>
              <a:pPr indent="0" lvl="0" marL="0" marR="0" rtl="0" algn="l">
                <a:spcBef>
                  <a:spcPts val="0"/>
                </a:spcBef>
                <a:spcAft>
                  <a:spcPts val="0"/>
                </a:spcAft>
                <a:buNone/>
              </a:pPr>
              <a:r>
                <a:t/>
              </a:r>
              <a:endParaRPr sz="1200">
                <a:solidFill>
                  <a:srgbClr val="262626"/>
                </a:solidFill>
                <a:latin typeface="Calibri"/>
                <a:ea typeface="Calibri"/>
                <a:cs typeface="Calibri"/>
                <a:sym typeface="Calibri"/>
              </a:endParaRPr>
            </a:p>
            <a:p>
              <a:pPr indent="0" lvl="0" marL="0" marR="0" rtl="0" algn="l">
                <a:spcBef>
                  <a:spcPts val="0"/>
                </a:spcBef>
                <a:spcAft>
                  <a:spcPts val="0"/>
                </a:spcAft>
                <a:buNone/>
              </a:pPr>
              <a:r>
                <a:rPr b="1" lang="id" sz="1200">
                  <a:solidFill>
                    <a:srgbClr val="262626"/>
                  </a:solidFill>
                  <a:latin typeface="Calibri"/>
                  <a:ea typeface="Calibri"/>
                  <a:cs typeface="Calibri"/>
                  <a:sym typeface="Calibri"/>
                </a:rPr>
                <a:t>Integrasi </a:t>
              </a:r>
              <a:r>
                <a:rPr lang="id" sz="1200">
                  <a:solidFill>
                    <a:srgbClr val="262626"/>
                  </a:solidFill>
                  <a:latin typeface="Calibri"/>
                  <a:ea typeface="Calibri"/>
                  <a:cs typeface="Calibri"/>
                  <a:sym typeface="Calibri"/>
                </a:rPr>
                <a:t>komunikasi dan penanganan antara guru, orang tua, dan psikolog dalam memahami potensi dan kebutuhan anak.</a:t>
              </a:r>
              <a:endParaRPr sz="1200">
                <a:solidFill>
                  <a:srgbClr val="262626"/>
                </a:solidFill>
                <a:latin typeface="Calibri"/>
                <a:ea typeface="Calibri"/>
                <a:cs typeface="Calibri"/>
                <a:sym typeface="Calibri"/>
              </a:endParaRPr>
            </a:p>
          </p:txBody>
        </p:sp>
        <p:sp>
          <p:nvSpPr>
            <p:cNvPr id="389" name="Google Shape;389;p43"/>
            <p:cNvSpPr txBox="1"/>
            <p:nvPr/>
          </p:nvSpPr>
          <p:spPr>
            <a:xfrm>
              <a:off x="592509" y="1556792"/>
              <a:ext cx="2361075" cy="307777"/>
            </a:xfrm>
            <a:prstGeom prst="rect">
              <a:avLst/>
            </a:prstGeom>
            <a:noFill/>
            <a:ln>
              <a:noFill/>
            </a:ln>
          </p:spPr>
          <p:txBody>
            <a:bodyPr anchorCtr="0" anchor="t" bIns="22850" lIns="81000" spcFirstLastPara="1" rIns="81000" wrap="square" tIns="22850">
              <a:spAutoFit/>
            </a:bodyPr>
            <a:lstStyle/>
            <a:p>
              <a:pPr indent="0" lvl="0" marL="0" marR="0" rtl="0" algn="l">
                <a:spcBef>
                  <a:spcPts val="0"/>
                </a:spcBef>
                <a:spcAft>
                  <a:spcPts val="0"/>
                </a:spcAft>
                <a:buNone/>
              </a:pPr>
              <a:r>
                <a:rPr b="1" lang="id" sz="1200">
                  <a:solidFill>
                    <a:schemeClr val="dk1"/>
                  </a:solidFill>
                  <a:latin typeface="Calibri"/>
                  <a:ea typeface="Calibri"/>
                  <a:cs typeface="Calibri"/>
                  <a:sym typeface="Calibri"/>
                </a:rPr>
                <a:t>Keuntungan:</a:t>
              </a:r>
              <a:endParaRPr sz="700"/>
            </a:p>
          </p:txBody>
        </p:sp>
      </p:grpSp>
      <p:sp>
        <p:nvSpPr>
          <p:cNvPr id="390" name="Google Shape;390;p43"/>
          <p:cNvSpPr txBox="1"/>
          <p:nvPr/>
        </p:nvSpPr>
        <p:spPr>
          <a:xfrm>
            <a:off x="947823" y="736854"/>
            <a:ext cx="7228555" cy="461665"/>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id" sz="1400">
                <a:solidFill>
                  <a:schemeClr val="dk1"/>
                </a:solidFill>
                <a:latin typeface="Calibri"/>
                <a:ea typeface="Calibri"/>
                <a:cs typeface="Calibri"/>
                <a:sym typeface="Calibri"/>
              </a:rPr>
              <a:t>Kini, dengan kerja sama Biro Mustika dan sekolah, </a:t>
            </a:r>
            <a:r>
              <a:rPr b="1" lang="id" sz="1400">
                <a:solidFill>
                  <a:schemeClr val="dk1"/>
                </a:solidFill>
                <a:latin typeface="Calibri"/>
                <a:ea typeface="Calibri"/>
                <a:cs typeface="Calibri"/>
                <a:sym typeface="Calibri"/>
              </a:rPr>
              <a:t>Psikolog Hadir Langsung Di Sekolah</a:t>
            </a:r>
            <a:r>
              <a:rPr lang="id" sz="1400">
                <a:solidFill>
                  <a:schemeClr val="dk1"/>
                </a:solidFill>
                <a:latin typeface="Calibri"/>
                <a:ea typeface="Calibri"/>
                <a:cs typeface="Calibri"/>
                <a:sym typeface="Calibri"/>
              </a:rPr>
              <a:t>, memudahkan orang tua dan guru untuk mendapatkan layanan psikologi tanpa mengganggu jadwal mereka</a:t>
            </a:r>
            <a:endParaRPr sz="1400">
              <a:solidFill>
                <a:schemeClr val="dk1"/>
              </a:solidFill>
              <a:latin typeface="Calibri"/>
              <a:ea typeface="Calibri"/>
              <a:cs typeface="Calibri"/>
              <a:sym typeface="Calibri"/>
            </a:endParaRPr>
          </a:p>
        </p:txBody>
      </p:sp>
      <p:sp>
        <p:nvSpPr>
          <p:cNvPr id="391" name="Google Shape;391;p43"/>
          <p:cNvSpPr/>
          <p:nvPr/>
        </p:nvSpPr>
        <p:spPr>
          <a:xfrm>
            <a:off x="517913" y="1569478"/>
            <a:ext cx="408206" cy="408207"/>
          </a:xfrm>
          <a:prstGeom prst="heart">
            <a:avLst/>
          </a:prstGeom>
          <a:solidFill>
            <a:srgbClr val="00B0F0"/>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sz="2000">
              <a:solidFill>
                <a:schemeClr val="lt1"/>
              </a:solidFill>
              <a:latin typeface="Calibri"/>
              <a:ea typeface="Calibri"/>
              <a:cs typeface="Calibri"/>
              <a:sym typeface="Calibri"/>
            </a:endParaRPr>
          </a:p>
        </p:txBody>
      </p:sp>
      <p:sp>
        <p:nvSpPr>
          <p:cNvPr id="392" name="Google Shape;392;p43"/>
          <p:cNvSpPr/>
          <p:nvPr/>
        </p:nvSpPr>
        <p:spPr>
          <a:xfrm rot="10800000">
            <a:off x="4559773" y="1569478"/>
            <a:ext cx="366464" cy="397359"/>
          </a:xfrm>
          <a:custGeom>
            <a:rect b="b" l="l" r="r" t="t"/>
            <a:pathLst>
              <a:path extrusionOk="0" h="3207983" w="2958558">
                <a:moveTo>
                  <a:pt x="376920" y="2960896"/>
                </a:moveTo>
                <a:cubicBezTo>
                  <a:pt x="266613" y="2960896"/>
                  <a:pt x="177192" y="2871475"/>
                  <a:pt x="177192" y="2761168"/>
                </a:cubicBezTo>
                <a:cubicBezTo>
                  <a:pt x="177192" y="2650861"/>
                  <a:pt x="266613" y="2561440"/>
                  <a:pt x="376920" y="2561440"/>
                </a:cubicBezTo>
                <a:cubicBezTo>
                  <a:pt x="487227" y="2561440"/>
                  <a:pt x="576648" y="2650861"/>
                  <a:pt x="576648" y="2761168"/>
                </a:cubicBezTo>
                <a:cubicBezTo>
                  <a:pt x="576648" y="2871475"/>
                  <a:pt x="487227" y="2960896"/>
                  <a:pt x="376920" y="2960896"/>
                </a:cubicBezTo>
                <a:close/>
                <a:moveTo>
                  <a:pt x="376921" y="3072323"/>
                </a:moveTo>
                <a:cubicBezTo>
                  <a:pt x="539434" y="3072323"/>
                  <a:pt x="671176" y="2940581"/>
                  <a:pt x="671176" y="2778068"/>
                </a:cubicBezTo>
                <a:cubicBezTo>
                  <a:pt x="671176" y="2615555"/>
                  <a:pt x="539434" y="2483813"/>
                  <a:pt x="376921" y="2483813"/>
                </a:cubicBezTo>
                <a:cubicBezTo>
                  <a:pt x="214408" y="2483813"/>
                  <a:pt x="82666" y="2615555"/>
                  <a:pt x="82666" y="2778068"/>
                </a:cubicBezTo>
                <a:cubicBezTo>
                  <a:pt x="82666" y="2940581"/>
                  <a:pt x="214408" y="3072323"/>
                  <a:pt x="376921" y="3072323"/>
                </a:cubicBezTo>
                <a:close/>
                <a:moveTo>
                  <a:pt x="2379939" y="3207575"/>
                </a:moveTo>
                <a:cubicBezTo>
                  <a:pt x="2342159" y="3210380"/>
                  <a:pt x="2303308" y="3198772"/>
                  <a:pt x="2272342" y="3172087"/>
                </a:cubicBezTo>
                <a:cubicBezTo>
                  <a:pt x="2210411" y="3118717"/>
                  <a:pt x="2203469" y="3025247"/>
                  <a:pt x="2256839" y="2963315"/>
                </a:cubicBezTo>
                <a:cubicBezTo>
                  <a:pt x="2292137" y="2922355"/>
                  <a:pt x="2344975" y="2905450"/>
                  <a:pt x="2394194" y="2916618"/>
                </a:cubicBezTo>
                <a:lnTo>
                  <a:pt x="2482323" y="2842744"/>
                </a:lnTo>
                <a:lnTo>
                  <a:pt x="2486558" y="2847797"/>
                </a:lnTo>
                <a:cubicBezTo>
                  <a:pt x="2638916" y="2767056"/>
                  <a:pt x="2628462" y="2744879"/>
                  <a:pt x="2689889" y="2690172"/>
                </a:cubicBezTo>
                <a:cubicBezTo>
                  <a:pt x="2722819" y="2655246"/>
                  <a:pt x="2732363" y="2657367"/>
                  <a:pt x="2726376" y="2568558"/>
                </a:cubicBezTo>
                <a:lnTo>
                  <a:pt x="2730335" y="2568172"/>
                </a:lnTo>
                <a:lnTo>
                  <a:pt x="2726098" y="2568172"/>
                </a:lnTo>
                <a:lnTo>
                  <a:pt x="2726098" y="2140027"/>
                </a:lnTo>
                <a:lnTo>
                  <a:pt x="2686068" y="2140105"/>
                </a:lnTo>
                <a:cubicBezTo>
                  <a:pt x="2685662" y="1932305"/>
                  <a:pt x="2574529" y="1740506"/>
                  <a:pt x="2394530" y="1636956"/>
                </a:cubicBezTo>
                <a:cubicBezTo>
                  <a:pt x="2214320" y="1533284"/>
                  <a:pt x="1992511" y="1533845"/>
                  <a:pt x="1812826" y="1638426"/>
                </a:cubicBezTo>
                <a:cubicBezTo>
                  <a:pt x="1633353" y="1742884"/>
                  <a:pt x="1523189" y="1935240"/>
                  <a:pt x="1523830" y="2143038"/>
                </a:cubicBezTo>
                <a:lnTo>
                  <a:pt x="1483625" y="2143162"/>
                </a:lnTo>
                <a:lnTo>
                  <a:pt x="1483625" y="2568172"/>
                </a:lnTo>
                <a:lnTo>
                  <a:pt x="1479388" y="2568172"/>
                </a:lnTo>
                <a:lnTo>
                  <a:pt x="1483347" y="2568558"/>
                </a:lnTo>
                <a:cubicBezTo>
                  <a:pt x="1477359" y="2657367"/>
                  <a:pt x="1486903" y="2655246"/>
                  <a:pt x="1519833" y="2690172"/>
                </a:cubicBezTo>
                <a:cubicBezTo>
                  <a:pt x="1581261" y="2744879"/>
                  <a:pt x="1570806" y="2767057"/>
                  <a:pt x="1723166" y="2847797"/>
                </a:cubicBezTo>
                <a:lnTo>
                  <a:pt x="1727402" y="2842744"/>
                </a:lnTo>
                <a:lnTo>
                  <a:pt x="1815530" y="2916618"/>
                </a:lnTo>
                <a:cubicBezTo>
                  <a:pt x="1864749" y="2905450"/>
                  <a:pt x="1917587" y="2922356"/>
                  <a:pt x="1952884" y="2963315"/>
                </a:cubicBezTo>
                <a:cubicBezTo>
                  <a:pt x="2006254" y="3025247"/>
                  <a:pt x="1999313" y="3118717"/>
                  <a:pt x="1937381" y="3172087"/>
                </a:cubicBezTo>
                <a:cubicBezTo>
                  <a:pt x="1906416" y="3198772"/>
                  <a:pt x="1867565" y="3210380"/>
                  <a:pt x="1829785" y="3207575"/>
                </a:cubicBezTo>
                <a:cubicBezTo>
                  <a:pt x="1792004" y="3204769"/>
                  <a:pt x="1755294" y="3187551"/>
                  <a:pt x="1728609" y="3156586"/>
                </a:cubicBezTo>
                <a:cubicBezTo>
                  <a:pt x="1704170" y="3128225"/>
                  <a:pt x="1692377" y="3093251"/>
                  <a:pt x="1694258" y="3058558"/>
                </a:cubicBezTo>
                <a:lnTo>
                  <a:pt x="1607474" y="2985811"/>
                </a:lnTo>
                <a:lnTo>
                  <a:pt x="1609754" y="2983092"/>
                </a:lnTo>
                <a:cubicBezTo>
                  <a:pt x="1505378" y="2914609"/>
                  <a:pt x="1454899" y="2874388"/>
                  <a:pt x="1372959" y="2808609"/>
                </a:cubicBezTo>
                <a:cubicBezTo>
                  <a:pt x="1301402" y="2768123"/>
                  <a:pt x="1295976" y="2652344"/>
                  <a:pt x="1300245" y="2568172"/>
                </a:cubicBezTo>
                <a:lnTo>
                  <a:pt x="1296941" y="2568172"/>
                </a:lnTo>
                <a:lnTo>
                  <a:pt x="1296941" y="2143739"/>
                </a:lnTo>
                <a:lnTo>
                  <a:pt x="1251342" y="2143880"/>
                </a:lnTo>
                <a:cubicBezTo>
                  <a:pt x="1250400" y="1838694"/>
                  <a:pt x="1412261" y="1556194"/>
                  <a:pt x="1675942" y="1402813"/>
                </a:cubicBezTo>
                <a:cubicBezTo>
                  <a:pt x="1778114" y="1343381"/>
                  <a:pt x="1889554" y="1306836"/>
                  <a:pt x="2003205" y="1293823"/>
                </a:cubicBezTo>
                <a:lnTo>
                  <a:pt x="2003205" y="878785"/>
                </a:lnTo>
                <a:lnTo>
                  <a:pt x="1998176" y="878621"/>
                </a:lnTo>
                <a:cubicBezTo>
                  <a:pt x="2009560" y="630102"/>
                  <a:pt x="1847671" y="398939"/>
                  <a:pt x="1584243" y="287563"/>
                </a:cubicBezTo>
                <a:cubicBezTo>
                  <a:pt x="1373323" y="198386"/>
                  <a:pt x="1125012" y="198092"/>
                  <a:pt x="913796" y="286769"/>
                </a:cubicBezTo>
                <a:cubicBezTo>
                  <a:pt x="650203" y="397436"/>
                  <a:pt x="487575" y="627955"/>
                  <a:pt x="497878" y="876315"/>
                </a:cubicBezTo>
                <a:lnTo>
                  <a:pt x="492947" y="876461"/>
                </a:lnTo>
                <a:lnTo>
                  <a:pt x="492947" y="2424958"/>
                </a:lnTo>
                <a:cubicBezTo>
                  <a:pt x="646520" y="2471832"/>
                  <a:pt x="757382" y="2615059"/>
                  <a:pt x="757382" y="2784179"/>
                </a:cubicBezTo>
                <a:cubicBezTo>
                  <a:pt x="757382" y="2993324"/>
                  <a:pt x="587836" y="3162870"/>
                  <a:pt x="378691" y="3162870"/>
                </a:cubicBezTo>
                <a:cubicBezTo>
                  <a:pt x="169546" y="3162870"/>
                  <a:pt x="0" y="2993324"/>
                  <a:pt x="0" y="2784179"/>
                </a:cubicBezTo>
                <a:cubicBezTo>
                  <a:pt x="0" y="2610447"/>
                  <a:pt x="116991" y="2464039"/>
                  <a:pt x="276947" y="2421074"/>
                </a:cubicBezTo>
                <a:lnTo>
                  <a:pt x="276947" y="783746"/>
                </a:lnTo>
                <a:lnTo>
                  <a:pt x="281758" y="783746"/>
                </a:lnTo>
                <a:cubicBezTo>
                  <a:pt x="307533" y="493124"/>
                  <a:pt x="502412" y="231983"/>
                  <a:pt x="801266" y="95774"/>
                </a:cubicBezTo>
                <a:cubicBezTo>
                  <a:pt x="1082323" y="-32324"/>
                  <a:pt x="1416727" y="-31901"/>
                  <a:pt x="1697364" y="96907"/>
                </a:cubicBezTo>
                <a:cubicBezTo>
                  <a:pt x="1994951" y="233494"/>
                  <a:pt x="2188714" y="494056"/>
                  <a:pt x="2214549" y="783746"/>
                </a:cubicBezTo>
                <a:lnTo>
                  <a:pt x="2219205" y="783746"/>
                </a:lnTo>
                <a:lnTo>
                  <a:pt x="2219205" y="1295162"/>
                </a:lnTo>
                <a:cubicBezTo>
                  <a:pt x="2327099" y="1309357"/>
                  <a:pt x="2432799" y="1344641"/>
                  <a:pt x="2530224" y="1400656"/>
                </a:cubicBezTo>
                <a:cubicBezTo>
                  <a:pt x="2794677" y="1552703"/>
                  <a:pt x="2957961" y="1834385"/>
                  <a:pt x="2958558" y="2139573"/>
                </a:cubicBezTo>
                <a:lnTo>
                  <a:pt x="2912782" y="2139663"/>
                </a:lnTo>
                <a:lnTo>
                  <a:pt x="2912782" y="2568172"/>
                </a:lnTo>
                <a:lnTo>
                  <a:pt x="2909478" y="2568172"/>
                </a:lnTo>
                <a:cubicBezTo>
                  <a:pt x="2913747" y="2652344"/>
                  <a:pt x="2908320" y="2768123"/>
                  <a:pt x="2836763" y="2808609"/>
                </a:cubicBezTo>
                <a:cubicBezTo>
                  <a:pt x="2754824" y="2874388"/>
                  <a:pt x="2704345" y="2914609"/>
                  <a:pt x="2599970" y="2983091"/>
                </a:cubicBezTo>
                <a:lnTo>
                  <a:pt x="2602250" y="2985811"/>
                </a:lnTo>
                <a:lnTo>
                  <a:pt x="2515466" y="3058559"/>
                </a:lnTo>
                <a:cubicBezTo>
                  <a:pt x="2517346" y="3093252"/>
                  <a:pt x="2505554" y="3128225"/>
                  <a:pt x="2481114" y="3156586"/>
                </a:cubicBezTo>
                <a:cubicBezTo>
                  <a:pt x="2454429" y="3187551"/>
                  <a:pt x="2417719" y="3204769"/>
                  <a:pt x="2379939" y="3207575"/>
                </a:cubicBezTo>
                <a:close/>
              </a:path>
            </a:pathLst>
          </a:custGeom>
          <a:solidFill>
            <a:srgbClr val="FF0000"/>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sz="2000">
              <a:solidFill>
                <a:schemeClr val="dk1"/>
              </a:solidFill>
              <a:latin typeface="Calibri"/>
              <a:ea typeface="Calibri"/>
              <a:cs typeface="Calibri"/>
              <a:sym typeface="Calibri"/>
            </a:endParaRPr>
          </a:p>
        </p:txBody>
      </p:sp>
      <p:pic>
        <p:nvPicPr>
          <p:cNvPr id="393" name="Google Shape;393;p43"/>
          <p:cNvPicPr preferRelativeResize="0"/>
          <p:nvPr/>
        </p:nvPicPr>
        <p:blipFill rotWithShape="1">
          <a:blip r:embed="rId3">
            <a:alphaModFix/>
          </a:blip>
          <a:srcRect b="6062" l="0" r="0" t="4796"/>
          <a:stretch/>
        </p:blipFill>
        <p:spPr>
          <a:xfrm>
            <a:off x="4572000" y="2177600"/>
            <a:ext cx="3107384" cy="2770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4"/>
          <p:cNvSpPr/>
          <p:nvPr/>
        </p:nvSpPr>
        <p:spPr>
          <a:xfrm>
            <a:off x="4864458" y="3247229"/>
            <a:ext cx="569132" cy="252553"/>
          </a:xfrm>
          <a:custGeom>
            <a:rect b="b" l="l" r="r" t="t"/>
            <a:pathLst>
              <a:path extrusionOk="0" h="505105" w="1138264">
                <a:moveTo>
                  <a:pt x="0" y="0"/>
                </a:moveTo>
                <a:lnTo>
                  <a:pt x="1138265" y="0"/>
                </a:lnTo>
                <a:lnTo>
                  <a:pt x="1138265" y="505105"/>
                </a:lnTo>
                <a:lnTo>
                  <a:pt x="0" y="505105"/>
                </a:lnTo>
                <a:lnTo>
                  <a:pt x="0" y="0"/>
                </a:lnTo>
                <a:close/>
              </a:path>
            </a:pathLst>
          </a:custGeom>
          <a:blipFill rotWithShape="1">
            <a:blip r:embed="rId3">
              <a:alphaModFix/>
            </a:blip>
            <a:stretch>
              <a:fillRect b="0" l="0" r="0" t="0"/>
            </a:stretch>
          </a:blipFill>
          <a:ln>
            <a:noFill/>
          </a:ln>
        </p:spPr>
      </p:sp>
      <p:sp>
        <p:nvSpPr>
          <p:cNvPr id="399" name="Google Shape;399;p44"/>
          <p:cNvSpPr/>
          <p:nvPr/>
        </p:nvSpPr>
        <p:spPr>
          <a:xfrm>
            <a:off x="4793099" y="1753702"/>
            <a:ext cx="634361" cy="613601"/>
          </a:xfrm>
          <a:custGeom>
            <a:rect b="b" l="l" r="r" t="t"/>
            <a:pathLst>
              <a:path extrusionOk="0" h="1227201" w="1268723">
                <a:moveTo>
                  <a:pt x="0" y="0"/>
                </a:moveTo>
                <a:lnTo>
                  <a:pt x="1268723" y="0"/>
                </a:lnTo>
                <a:lnTo>
                  <a:pt x="1268723" y="1227201"/>
                </a:lnTo>
                <a:lnTo>
                  <a:pt x="0" y="1227201"/>
                </a:lnTo>
                <a:lnTo>
                  <a:pt x="0" y="0"/>
                </a:lnTo>
                <a:close/>
              </a:path>
            </a:pathLst>
          </a:custGeom>
          <a:blipFill rotWithShape="1">
            <a:blip r:embed="rId4">
              <a:alphaModFix/>
            </a:blip>
            <a:stretch>
              <a:fillRect b="0" l="0" r="0" t="0"/>
            </a:stretch>
          </a:blipFill>
          <a:ln>
            <a:noFill/>
          </a:ln>
        </p:spPr>
      </p:sp>
      <p:sp>
        <p:nvSpPr>
          <p:cNvPr id="400" name="Google Shape;400;p44"/>
          <p:cNvSpPr txBox="1"/>
          <p:nvPr/>
        </p:nvSpPr>
        <p:spPr>
          <a:xfrm>
            <a:off x="695197" y="502178"/>
            <a:ext cx="50412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id" sz="3000">
                <a:solidFill>
                  <a:schemeClr val="dk1"/>
                </a:solidFill>
                <a:latin typeface="Poppins"/>
                <a:ea typeface="Poppins"/>
                <a:cs typeface="Poppins"/>
                <a:sym typeface="Poppins"/>
              </a:rPr>
              <a:t>Manfaat Memilih Kami</a:t>
            </a:r>
            <a:endParaRPr sz="700"/>
          </a:p>
        </p:txBody>
      </p:sp>
      <p:sp>
        <p:nvSpPr>
          <p:cNvPr id="401" name="Google Shape;401;p44"/>
          <p:cNvSpPr txBox="1"/>
          <p:nvPr/>
        </p:nvSpPr>
        <p:spPr>
          <a:xfrm>
            <a:off x="1635171" y="1421029"/>
            <a:ext cx="3506100" cy="3231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b="1" lang="id" sz="2100">
                <a:solidFill>
                  <a:schemeClr val="dk1"/>
                </a:solidFill>
                <a:latin typeface="Poppins"/>
                <a:ea typeface="Poppins"/>
                <a:cs typeface="Poppins"/>
                <a:sym typeface="Poppins"/>
              </a:rPr>
              <a:t>Akreditasi</a:t>
            </a:r>
            <a:endParaRPr b="1" sz="2100">
              <a:solidFill>
                <a:schemeClr val="dk1"/>
              </a:solidFill>
              <a:latin typeface="Poppins"/>
              <a:ea typeface="Poppins"/>
              <a:cs typeface="Poppins"/>
              <a:sym typeface="Poppins"/>
            </a:endParaRPr>
          </a:p>
        </p:txBody>
      </p:sp>
      <p:sp>
        <p:nvSpPr>
          <p:cNvPr id="402" name="Google Shape;402;p44"/>
          <p:cNvSpPr txBox="1"/>
          <p:nvPr/>
        </p:nvSpPr>
        <p:spPr>
          <a:xfrm>
            <a:off x="5784811" y="1408417"/>
            <a:ext cx="3037800" cy="3231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b="1" lang="id" sz="2100">
                <a:solidFill>
                  <a:schemeClr val="dk1"/>
                </a:solidFill>
                <a:latin typeface="Poppins"/>
                <a:ea typeface="Poppins"/>
                <a:cs typeface="Poppins"/>
                <a:sym typeface="Poppins"/>
              </a:rPr>
              <a:t>Perkembangan Siswa</a:t>
            </a:r>
            <a:endParaRPr b="1" sz="2100">
              <a:solidFill>
                <a:schemeClr val="dk1"/>
              </a:solidFill>
              <a:latin typeface="Poppins"/>
              <a:ea typeface="Poppins"/>
              <a:cs typeface="Poppins"/>
              <a:sym typeface="Poppins"/>
            </a:endParaRPr>
          </a:p>
        </p:txBody>
      </p:sp>
      <p:sp>
        <p:nvSpPr>
          <p:cNvPr id="403" name="Google Shape;403;p44"/>
          <p:cNvSpPr txBox="1"/>
          <p:nvPr/>
        </p:nvSpPr>
        <p:spPr>
          <a:xfrm>
            <a:off x="1635171" y="2854276"/>
            <a:ext cx="3506100" cy="3231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b="1" lang="id" sz="2100">
                <a:solidFill>
                  <a:schemeClr val="dk1"/>
                </a:solidFill>
                <a:latin typeface="Poppins"/>
                <a:ea typeface="Poppins"/>
                <a:cs typeface="Poppins"/>
                <a:sym typeface="Poppins"/>
              </a:rPr>
              <a:t>Image Sekolah</a:t>
            </a:r>
            <a:endParaRPr b="1" sz="2100">
              <a:solidFill>
                <a:schemeClr val="dk1"/>
              </a:solidFill>
              <a:latin typeface="Poppins"/>
              <a:ea typeface="Poppins"/>
              <a:cs typeface="Poppins"/>
              <a:sym typeface="Poppins"/>
            </a:endParaRPr>
          </a:p>
        </p:txBody>
      </p:sp>
      <p:sp>
        <p:nvSpPr>
          <p:cNvPr id="404" name="Google Shape;404;p44"/>
          <p:cNvSpPr txBox="1"/>
          <p:nvPr/>
        </p:nvSpPr>
        <p:spPr>
          <a:xfrm>
            <a:off x="1635171" y="1767678"/>
            <a:ext cx="2710500" cy="912000"/>
          </a:xfrm>
          <a:prstGeom prst="rect">
            <a:avLst/>
          </a:prstGeom>
          <a:noFill/>
          <a:ln>
            <a:noFill/>
          </a:ln>
        </p:spPr>
        <p:txBody>
          <a:bodyPr anchorCtr="0" anchor="t" bIns="0" lIns="0" spcFirstLastPara="1" rIns="0" wrap="square" tIns="0">
            <a:spAutoFit/>
          </a:bodyPr>
          <a:lstStyle/>
          <a:p>
            <a:pPr indent="0" lvl="0" marL="0" marR="0" rtl="0" algn="just">
              <a:lnSpc>
                <a:spcPct val="164150"/>
              </a:lnSpc>
              <a:spcBef>
                <a:spcPts val="0"/>
              </a:spcBef>
              <a:spcAft>
                <a:spcPts val="0"/>
              </a:spcAft>
              <a:buNone/>
            </a:pPr>
            <a:r>
              <a:rPr lang="id" sz="1000">
                <a:solidFill>
                  <a:schemeClr val="dk1"/>
                </a:solidFill>
                <a:latin typeface="Poppins"/>
                <a:ea typeface="Poppins"/>
                <a:cs typeface="Poppins"/>
                <a:sym typeface="Poppins"/>
              </a:rPr>
              <a:t>Peningkatan Nilai Akreditasi:</a:t>
            </a:r>
            <a:endParaRPr sz="700"/>
          </a:p>
          <a:p>
            <a:pPr indent="0" lvl="0" marL="0" marR="0" rtl="0" algn="just">
              <a:lnSpc>
                <a:spcPct val="164150"/>
              </a:lnSpc>
              <a:spcBef>
                <a:spcPts val="0"/>
              </a:spcBef>
              <a:spcAft>
                <a:spcPts val="0"/>
              </a:spcAft>
              <a:buNone/>
            </a:pPr>
            <a:r>
              <a:rPr lang="id" sz="1000">
                <a:solidFill>
                  <a:schemeClr val="dk1"/>
                </a:solidFill>
                <a:latin typeface="Poppins"/>
                <a:ea typeface="Poppins"/>
                <a:cs typeface="Poppins"/>
                <a:sym typeface="Poppins"/>
              </a:rPr>
              <a:t>Memenuhi kriteria akreditasi yang lebih baik. dan memenuhi regulasi Pemerintah untuk Sekolah Inklusi</a:t>
            </a:r>
            <a:endParaRPr sz="1000">
              <a:solidFill>
                <a:schemeClr val="dk1"/>
              </a:solidFill>
              <a:latin typeface="Poppins"/>
              <a:ea typeface="Poppins"/>
              <a:cs typeface="Poppins"/>
              <a:sym typeface="Poppins"/>
            </a:endParaRPr>
          </a:p>
        </p:txBody>
      </p:sp>
      <p:sp>
        <p:nvSpPr>
          <p:cNvPr id="405" name="Google Shape;405;p44"/>
          <p:cNvSpPr txBox="1"/>
          <p:nvPr/>
        </p:nvSpPr>
        <p:spPr>
          <a:xfrm>
            <a:off x="5784811" y="1801056"/>
            <a:ext cx="3037800" cy="1164600"/>
          </a:xfrm>
          <a:prstGeom prst="rect">
            <a:avLst/>
          </a:prstGeom>
          <a:noFill/>
          <a:ln>
            <a:noFill/>
          </a:ln>
        </p:spPr>
        <p:txBody>
          <a:bodyPr anchorCtr="0" anchor="t" bIns="0" lIns="0" spcFirstLastPara="1" rIns="0" wrap="square" tIns="0">
            <a:spAutoFit/>
          </a:bodyPr>
          <a:lstStyle/>
          <a:p>
            <a:pPr indent="0" lvl="0" marL="0" marR="0" rtl="0" algn="just">
              <a:lnSpc>
                <a:spcPct val="164150"/>
              </a:lnSpc>
              <a:spcBef>
                <a:spcPts val="0"/>
              </a:spcBef>
              <a:spcAft>
                <a:spcPts val="0"/>
              </a:spcAft>
              <a:buNone/>
            </a:pPr>
            <a:r>
              <a:rPr lang="id" sz="1000">
                <a:solidFill>
                  <a:schemeClr val="dk1"/>
                </a:solidFill>
                <a:latin typeface="Poppins"/>
                <a:ea typeface="Poppins"/>
                <a:cs typeface="Poppins"/>
                <a:sym typeface="Poppins"/>
              </a:rPr>
              <a:t>Meningkatkan Kualitas Layanan Pendidikan: Membantu perkembangan fisik, emosional, sosial, dan kognitif anak.</a:t>
            </a:r>
            <a:endParaRPr sz="700"/>
          </a:p>
          <a:p>
            <a:pPr indent="0" lvl="0" marL="0" marR="0" rtl="0" algn="just">
              <a:lnSpc>
                <a:spcPct val="164150"/>
              </a:lnSpc>
              <a:spcBef>
                <a:spcPts val="0"/>
              </a:spcBef>
              <a:spcAft>
                <a:spcPts val="0"/>
              </a:spcAft>
              <a:buNone/>
            </a:pPr>
            <a:r>
              <a:rPr lang="id" sz="1000">
                <a:solidFill>
                  <a:schemeClr val="dk1"/>
                </a:solidFill>
                <a:latin typeface="Poppins"/>
                <a:ea typeface="Poppins"/>
                <a:cs typeface="Poppins"/>
                <a:sym typeface="Poppins"/>
              </a:rPr>
              <a:t>Mendeteksi dan menangani masalah psikologis sejak dini.</a:t>
            </a:r>
            <a:endParaRPr sz="700"/>
          </a:p>
        </p:txBody>
      </p:sp>
      <p:sp>
        <p:nvSpPr>
          <p:cNvPr id="406" name="Google Shape;406;p44"/>
          <p:cNvSpPr txBox="1"/>
          <p:nvPr/>
        </p:nvSpPr>
        <p:spPr>
          <a:xfrm>
            <a:off x="1635171" y="3200924"/>
            <a:ext cx="2710500" cy="659400"/>
          </a:xfrm>
          <a:prstGeom prst="rect">
            <a:avLst/>
          </a:prstGeom>
          <a:noFill/>
          <a:ln>
            <a:noFill/>
          </a:ln>
        </p:spPr>
        <p:txBody>
          <a:bodyPr anchorCtr="0" anchor="t" bIns="0" lIns="0" spcFirstLastPara="1" rIns="0" wrap="square" tIns="0">
            <a:spAutoFit/>
          </a:bodyPr>
          <a:lstStyle/>
          <a:p>
            <a:pPr indent="0" lvl="0" marL="0" marR="0" rtl="0" algn="just">
              <a:lnSpc>
                <a:spcPct val="164150"/>
              </a:lnSpc>
              <a:spcBef>
                <a:spcPts val="0"/>
              </a:spcBef>
              <a:spcAft>
                <a:spcPts val="0"/>
              </a:spcAft>
              <a:buNone/>
            </a:pPr>
            <a:r>
              <a:rPr lang="id" sz="1000">
                <a:solidFill>
                  <a:schemeClr val="dk1"/>
                </a:solidFill>
                <a:latin typeface="Poppins"/>
                <a:ea typeface="Poppins"/>
                <a:cs typeface="Poppins"/>
                <a:sym typeface="Poppins"/>
              </a:rPr>
              <a:t>Membangun image dan reputasi yang kuat serta unggul dengan kerja sama dengan psikolog professional</a:t>
            </a:r>
            <a:endParaRPr sz="700"/>
          </a:p>
        </p:txBody>
      </p:sp>
      <p:grpSp>
        <p:nvGrpSpPr>
          <p:cNvPr id="407" name="Google Shape;407;p44"/>
          <p:cNvGrpSpPr/>
          <p:nvPr/>
        </p:nvGrpSpPr>
        <p:grpSpPr>
          <a:xfrm>
            <a:off x="561742" y="1543050"/>
            <a:ext cx="924154" cy="924154"/>
            <a:chOff x="0" y="0"/>
            <a:chExt cx="812800" cy="812800"/>
          </a:xfrm>
        </p:grpSpPr>
        <p:sp>
          <p:nvSpPr>
            <p:cNvPr id="408" name="Google Shape;408;p4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dk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9" name="Google Shape;409;p44"/>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410" name="Google Shape;410;p44"/>
          <p:cNvSpPr/>
          <p:nvPr/>
        </p:nvSpPr>
        <p:spPr>
          <a:xfrm>
            <a:off x="676483" y="1687261"/>
            <a:ext cx="694677" cy="692940"/>
          </a:xfrm>
          <a:custGeom>
            <a:rect b="b" l="l" r="r" t="t"/>
            <a:pathLst>
              <a:path extrusionOk="0" h="1385880" w="1389353">
                <a:moveTo>
                  <a:pt x="0" y="0"/>
                </a:moveTo>
                <a:lnTo>
                  <a:pt x="1389353" y="0"/>
                </a:lnTo>
                <a:lnTo>
                  <a:pt x="1389353" y="1385880"/>
                </a:lnTo>
                <a:lnTo>
                  <a:pt x="0" y="1385880"/>
                </a:lnTo>
                <a:lnTo>
                  <a:pt x="0" y="0"/>
                </a:lnTo>
                <a:close/>
              </a:path>
            </a:pathLst>
          </a:custGeom>
          <a:blipFill rotWithShape="1">
            <a:blip r:embed="rId5">
              <a:alphaModFix/>
            </a:blip>
            <a:stretch>
              <a:fillRect b="0" l="0" r="0" t="0"/>
            </a:stretch>
          </a:blipFill>
          <a:ln>
            <a:noFill/>
          </a:ln>
        </p:spPr>
      </p:sp>
      <p:grpSp>
        <p:nvGrpSpPr>
          <p:cNvPr id="411" name="Google Shape;411;p44"/>
          <p:cNvGrpSpPr/>
          <p:nvPr/>
        </p:nvGrpSpPr>
        <p:grpSpPr>
          <a:xfrm>
            <a:off x="4724400" y="1685692"/>
            <a:ext cx="924154" cy="924154"/>
            <a:chOff x="0" y="0"/>
            <a:chExt cx="812800" cy="812800"/>
          </a:xfrm>
        </p:grpSpPr>
        <p:sp>
          <p:nvSpPr>
            <p:cNvPr id="412" name="Google Shape;412;p4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dk1"/>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413" name="Google Shape;413;p44"/>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414" name="Google Shape;414;p44"/>
          <p:cNvSpPr/>
          <p:nvPr/>
        </p:nvSpPr>
        <p:spPr>
          <a:xfrm>
            <a:off x="4869299" y="1829902"/>
            <a:ext cx="634361" cy="613601"/>
          </a:xfrm>
          <a:custGeom>
            <a:rect b="b" l="l" r="r" t="t"/>
            <a:pathLst>
              <a:path extrusionOk="0" h="1227201" w="1268723">
                <a:moveTo>
                  <a:pt x="0" y="0"/>
                </a:moveTo>
                <a:lnTo>
                  <a:pt x="1268723" y="0"/>
                </a:lnTo>
                <a:lnTo>
                  <a:pt x="1268723" y="1227201"/>
                </a:lnTo>
                <a:lnTo>
                  <a:pt x="0" y="1227201"/>
                </a:lnTo>
                <a:lnTo>
                  <a:pt x="0" y="0"/>
                </a:lnTo>
                <a:close/>
              </a:path>
            </a:pathLst>
          </a:custGeom>
          <a:blipFill rotWithShape="1">
            <a:blip r:embed="rId4">
              <a:alphaModFix/>
            </a:blip>
            <a:stretch>
              <a:fillRect b="0" l="0" r="0" t="0"/>
            </a:stretch>
          </a:blipFill>
          <a:ln>
            <a:noFill/>
          </a:ln>
        </p:spPr>
      </p:sp>
      <p:grpSp>
        <p:nvGrpSpPr>
          <p:cNvPr id="415" name="Google Shape;415;p44"/>
          <p:cNvGrpSpPr/>
          <p:nvPr/>
        </p:nvGrpSpPr>
        <p:grpSpPr>
          <a:xfrm>
            <a:off x="585659" y="2911426"/>
            <a:ext cx="924154" cy="924154"/>
            <a:chOff x="0" y="0"/>
            <a:chExt cx="812800" cy="812800"/>
          </a:xfrm>
        </p:grpSpPr>
        <p:sp>
          <p:nvSpPr>
            <p:cNvPr id="416" name="Google Shape;416;p4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dk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7" name="Google Shape;417;p44"/>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418" name="Google Shape;418;p44"/>
          <p:cNvSpPr/>
          <p:nvPr/>
        </p:nvSpPr>
        <p:spPr>
          <a:xfrm>
            <a:off x="875194" y="3152992"/>
            <a:ext cx="385289" cy="367616"/>
          </a:xfrm>
          <a:custGeom>
            <a:rect b="b" l="l" r="r" t="t"/>
            <a:pathLst>
              <a:path extrusionOk="0" h="2940925" w="3210745">
                <a:moveTo>
                  <a:pt x="340528" y="2526682"/>
                </a:moveTo>
                <a:cubicBezTo>
                  <a:pt x="280875" y="2526682"/>
                  <a:pt x="232516" y="2575041"/>
                  <a:pt x="232516" y="2634694"/>
                </a:cubicBezTo>
                <a:cubicBezTo>
                  <a:pt x="232516" y="2694347"/>
                  <a:pt x="280875" y="2742706"/>
                  <a:pt x="340528" y="2742706"/>
                </a:cubicBezTo>
                <a:cubicBezTo>
                  <a:pt x="400181" y="2742706"/>
                  <a:pt x="448540" y="2694347"/>
                  <a:pt x="448540" y="2634694"/>
                </a:cubicBezTo>
                <a:cubicBezTo>
                  <a:pt x="448540" y="2575041"/>
                  <a:pt x="400181" y="2526682"/>
                  <a:pt x="340528" y="2526682"/>
                </a:cubicBezTo>
                <a:close/>
                <a:moveTo>
                  <a:pt x="1821636" y="152"/>
                </a:moveTo>
                <a:cubicBezTo>
                  <a:pt x="1920275" y="-4956"/>
                  <a:pt x="2051571" y="119306"/>
                  <a:pt x="2102482" y="278737"/>
                </a:cubicBezTo>
                <a:cubicBezTo>
                  <a:pt x="2192513" y="649582"/>
                  <a:pt x="1575154" y="1213351"/>
                  <a:pt x="2006019" y="1236931"/>
                </a:cubicBezTo>
                <a:cubicBezTo>
                  <a:pt x="2310412" y="1206920"/>
                  <a:pt x="2473326" y="1176910"/>
                  <a:pt x="2803442" y="1166192"/>
                </a:cubicBezTo>
                <a:cubicBezTo>
                  <a:pt x="3103547" y="1170479"/>
                  <a:pt x="3152850" y="1361260"/>
                  <a:pt x="3002798" y="1564903"/>
                </a:cubicBezTo>
                <a:cubicBezTo>
                  <a:pt x="3191435" y="1575621"/>
                  <a:pt x="3347919" y="1869296"/>
                  <a:pt x="3022090" y="1989338"/>
                </a:cubicBezTo>
                <a:cubicBezTo>
                  <a:pt x="3332913" y="2182262"/>
                  <a:pt x="3154994" y="2426634"/>
                  <a:pt x="2977074" y="2471650"/>
                </a:cubicBezTo>
                <a:cubicBezTo>
                  <a:pt x="3127127" y="2606697"/>
                  <a:pt x="3109978" y="2709590"/>
                  <a:pt x="2957782" y="2793191"/>
                </a:cubicBezTo>
                <a:cubicBezTo>
                  <a:pt x="2620164" y="2932526"/>
                  <a:pt x="1747715" y="3028988"/>
                  <a:pt x="1253613" y="2818914"/>
                </a:cubicBezTo>
                <a:cubicBezTo>
                  <a:pt x="1018944" y="2738561"/>
                  <a:pt x="869067" y="2654318"/>
                  <a:pt x="700568" y="2648441"/>
                </a:cubicBezTo>
                <a:lnTo>
                  <a:pt x="700568" y="2796242"/>
                </a:lnTo>
                <a:cubicBezTo>
                  <a:pt x="700568" y="2860729"/>
                  <a:pt x="648291" y="2913006"/>
                  <a:pt x="583804" y="2913006"/>
                </a:cubicBezTo>
                <a:lnTo>
                  <a:pt x="0" y="2913006"/>
                </a:lnTo>
                <a:lnTo>
                  <a:pt x="0" y="1400838"/>
                </a:lnTo>
                <a:lnTo>
                  <a:pt x="583804" y="1400838"/>
                </a:lnTo>
                <a:cubicBezTo>
                  <a:pt x="648291" y="1400838"/>
                  <a:pt x="700568" y="1453115"/>
                  <a:pt x="700568" y="1517602"/>
                </a:cubicBezTo>
                <a:lnTo>
                  <a:pt x="700568" y="1571674"/>
                </a:lnTo>
                <a:cubicBezTo>
                  <a:pt x="721537" y="1568378"/>
                  <a:pt x="746526" y="1559634"/>
                  <a:pt x="784162" y="1539180"/>
                </a:cubicBezTo>
                <a:cubicBezTo>
                  <a:pt x="831321" y="1421281"/>
                  <a:pt x="890271" y="1323747"/>
                  <a:pt x="1034964" y="1191915"/>
                </a:cubicBezTo>
                <a:cubicBezTo>
                  <a:pt x="1257900" y="851081"/>
                  <a:pt x="1628744" y="677449"/>
                  <a:pt x="1703770" y="169413"/>
                </a:cubicBezTo>
                <a:cubicBezTo>
                  <a:pt x="1715024" y="52855"/>
                  <a:pt x="1762452" y="3217"/>
                  <a:pt x="1821636" y="152"/>
                </a:cubicBezTo>
                <a:close/>
              </a:path>
            </a:pathLst>
          </a:custGeom>
          <a:solidFill>
            <a:schemeClr val="lt1"/>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5"/>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Harapan Yang Tinggi dan Minimnya Kepatuhan Orang Tua</a:t>
            </a:r>
            <a:endParaRPr b="1" sz="1800">
              <a:solidFill>
                <a:srgbClr val="002646"/>
              </a:solidFill>
              <a:latin typeface="Poppins"/>
              <a:ea typeface="Poppins"/>
              <a:cs typeface="Poppins"/>
              <a:sym typeface="Poppins"/>
            </a:endParaRPr>
          </a:p>
        </p:txBody>
      </p:sp>
      <p:sp>
        <p:nvSpPr>
          <p:cNvPr id="424" name="Google Shape;424;p45"/>
          <p:cNvSpPr txBox="1"/>
          <p:nvPr/>
        </p:nvSpPr>
        <p:spPr>
          <a:xfrm>
            <a:off x="947823" y="738485"/>
            <a:ext cx="7228500" cy="4770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lang="id">
                <a:solidFill>
                  <a:schemeClr val="dk1"/>
                </a:solidFill>
                <a:latin typeface="Calibri"/>
                <a:ea typeface="Calibri"/>
                <a:cs typeface="Calibri"/>
                <a:sym typeface="Calibri"/>
              </a:rPr>
              <a:t>7 dari 10 Orang Tua Tidak Mengerjakan Pengulangan Terapi dari Terapis / Psikolog dan Mayoritas Orang Tua Denial hingga Menaruh Harapan Tinggi pada Anak Berkebutuhan Khusus</a:t>
            </a:r>
            <a:endParaRPr sz="1400">
              <a:solidFill>
                <a:schemeClr val="dk1"/>
              </a:solidFill>
              <a:latin typeface="Calibri"/>
              <a:ea typeface="Calibri"/>
              <a:cs typeface="Calibri"/>
              <a:sym typeface="Calibri"/>
            </a:endParaRPr>
          </a:p>
        </p:txBody>
      </p:sp>
      <p:graphicFrame>
        <p:nvGraphicFramePr>
          <p:cNvPr id="425" name="Google Shape;425;p45"/>
          <p:cNvGraphicFramePr/>
          <p:nvPr/>
        </p:nvGraphicFramePr>
        <p:xfrm>
          <a:off x="299725" y="1427250"/>
          <a:ext cx="3000000" cy="3000000"/>
        </p:xfrm>
        <a:graphic>
          <a:graphicData uri="http://schemas.openxmlformats.org/drawingml/2006/table">
            <a:tbl>
              <a:tblPr>
                <a:noFill/>
                <a:tableStyleId>{CD080B7E-7D66-4D29-9A70-068AC19BCE4E}</a:tableStyleId>
              </a:tblPr>
              <a:tblGrid>
                <a:gridCol w="2790300"/>
                <a:gridCol w="2790300"/>
                <a:gridCol w="2790300"/>
              </a:tblGrid>
              <a:tr h="381000">
                <a:tc>
                  <a:txBody>
                    <a:bodyPr/>
                    <a:lstStyle/>
                    <a:p>
                      <a:pPr indent="0" lvl="0" marL="0" rtl="0" algn="ctr">
                        <a:spcBef>
                          <a:spcPts val="0"/>
                        </a:spcBef>
                        <a:spcAft>
                          <a:spcPts val="0"/>
                        </a:spcAft>
                        <a:buNone/>
                      </a:pPr>
                      <a:r>
                        <a:rPr b="1" lang="id" sz="1300"/>
                        <a:t>Permasalahan</a:t>
                      </a:r>
                      <a:endParaRPr b="1" sz="1300"/>
                    </a:p>
                  </a:txBody>
                  <a:tcPr marT="91425" marB="91425" marR="91425" marL="91425">
                    <a:solidFill>
                      <a:srgbClr val="F4CCCC"/>
                    </a:solidFill>
                  </a:tcPr>
                </a:tc>
                <a:tc>
                  <a:txBody>
                    <a:bodyPr/>
                    <a:lstStyle/>
                    <a:p>
                      <a:pPr indent="0" lvl="0" marL="0" rtl="0" algn="ctr">
                        <a:spcBef>
                          <a:spcPts val="0"/>
                        </a:spcBef>
                        <a:spcAft>
                          <a:spcPts val="0"/>
                        </a:spcAft>
                        <a:buNone/>
                      </a:pPr>
                      <a:r>
                        <a:rPr b="1" lang="id" sz="1300"/>
                        <a:t>Dampak</a:t>
                      </a:r>
                      <a:endParaRPr b="1" sz="1300"/>
                    </a:p>
                  </a:txBody>
                  <a:tcPr marT="91425" marB="91425" marR="91425" marL="91425">
                    <a:solidFill>
                      <a:srgbClr val="FCE5CD"/>
                    </a:solidFill>
                  </a:tcPr>
                </a:tc>
                <a:tc>
                  <a:txBody>
                    <a:bodyPr/>
                    <a:lstStyle/>
                    <a:p>
                      <a:pPr indent="0" lvl="0" marL="0" rtl="0" algn="ctr">
                        <a:spcBef>
                          <a:spcPts val="0"/>
                        </a:spcBef>
                        <a:spcAft>
                          <a:spcPts val="0"/>
                        </a:spcAft>
                        <a:buNone/>
                      </a:pPr>
                      <a:r>
                        <a:rPr b="1" lang="id" sz="1300"/>
                        <a:t>Solusi</a:t>
                      </a:r>
                      <a:endParaRPr b="1" sz="1300"/>
                    </a:p>
                  </a:txBody>
                  <a:tcPr marT="91425" marB="91425" marR="91425" marL="91425">
                    <a:solidFill>
                      <a:srgbClr val="D9EAD3"/>
                    </a:solidFill>
                  </a:tcPr>
                </a:tc>
              </a:tr>
              <a:tr h="381000">
                <a:tc>
                  <a:txBody>
                    <a:bodyPr/>
                    <a:lstStyle/>
                    <a:p>
                      <a:pPr indent="0" lvl="0" marL="0" rtl="0" algn="ctr">
                        <a:spcBef>
                          <a:spcPts val="0"/>
                        </a:spcBef>
                        <a:spcAft>
                          <a:spcPts val="0"/>
                        </a:spcAft>
                        <a:buNone/>
                      </a:pPr>
                      <a:r>
                        <a:rPr lang="id" sz="1300"/>
                        <a:t>Denial &amp; Harapan Terlalu Tinggi</a:t>
                      </a:r>
                      <a:endParaRPr sz="1300"/>
                    </a:p>
                  </a:txBody>
                  <a:tcPr marT="91425" marB="91425" marR="91425" marL="91425">
                    <a:solidFill>
                      <a:srgbClr val="F4CCCC"/>
                    </a:solidFill>
                  </a:tcPr>
                </a:tc>
                <a:tc>
                  <a:txBody>
                    <a:bodyPr/>
                    <a:lstStyle/>
                    <a:p>
                      <a:pPr indent="0" lvl="0" marL="0" rtl="0" algn="ctr">
                        <a:spcBef>
                          <a:spcPts val="0"/>
                        </a:spcBef>
                        <a:spcAft>
                          <a:spcPts val="0"/>
                        </a:spcAft>
                        <a:buNone/>
                      </a:pPr>
                      <a:r>
                        <a:rPr lang="id" sz="1300"/>
                        <a:t>Anak stres, terapi sering putus (gagal mencapai tujuan).</a:t>
                      </a:r>
                      <a:endParaRPr sz="1300"/>
                    </a:p>
                  </a:txBody>
                  <a:tcPr marT="91425" marB="91425" marR="91425" marL="91425">
                    <a:solidFill>
                      <a:srgbClr val="FCE5CD"/>
                    </a:solidFill>
                  </a:tcPr>
                </a:tc>
                <a:tc>
                  <a:txBody>
                    <a:bodyPr/>
                    <a:lstStyle/>
                    <a:p>
                      <a:pPr indent="0" lvl="0" marL="0" rtl="0" algn="ctr">
                        <a:spcBef>
                          <a:spcPts val="0"/>
                        </a:spcBef>
                        <a:spcAft>
                          <a:spcPts val="0"/>
                        </a:spcAft>
                        <a:buNone/>
                      </a:pPr>
                      <a:r>
                        <a:rPr lang="id" sz="1300"/>
                        <a:t>Berikan edukasi dan Pastikan kepatuhan melalui </a:t>
                      </a:r>
                      <a:r>
                        <a:rPr b="1" lang="id" sz="1300"/>
                        <a:t>consent</a:t>
                      </a:r>
                      <a:endParaRPr b="1" sz="1300"/>
                    </a:p>
                  </a:txBody>
                  <a:tcPr marT="91425" marB="91425" marR="91425" marL="91425">
                    <a:solidFill>
                      <a:srgbClr val="D9EAD3"/>
                    </a:solidFill>
                  </a:tcPr>
                </a:tc>
              </a:tr>
              <a:tr h="381000">
                <a:tc>
                  <a:txBody>
                    <a:bodyPr/>
                    <a:lstStyle/>
                    <a:p>
                      <a:pPr indent="0" lvl="0" marL="0" rtl="0" algn="ctr">
                        <a:spcBef>
                          <a:spcPts val="0"/>
                        </a:spcBef>
                        <a:spcAft>
                          <a:spcPts val="0"/>
                        </a:spcAft>
                        <a:buNone/>
                      </a:pPr>
                      <a:r>
                        <a:rPr lang="id" sz="1300"/>
                        <a:t>Malas Ulang Latihan di Rumah (Tidak Konsisten)</a:t>
                      </a:r>
                      <a:endParaRPr sz="1300"/>
                    </a:p>
                  </a:txBody>
                  <a:tcPr marT="91425" marB="91425" marR="91425" marL="91425">
                    <a:solidFill>
                      <a:srgbClr val="F4CCCC"/>
                    </a:solidFill>
                  </a:tcPr>
                </a:tc>
                <a:tc>
                  <a:txBody>
                    <a:bodyPr/>
                    <a:lstStyle/>
                    <a:p>
                      <a:pPr indent="0" lvl="0" marL="0" rtl="0" algn="ctr">
                        <a:spcBef>
                          <a:spcPts val="0"/>
                        </a:spcBef>
                        <a:spcAft>
                          <a:spcPts val="0"/>
                        </a:spcAft>
                        <a:buNone/>
                      </a:pPr>
                      <a:r>
                        <a:rPr lang="id" sz="1300"/>
                        <a:t>Keterampilan yang diajarkan di cepat hilang, kemajuan 50% lebih lambat.</a:t>
                      </a:r>
                      <a:endParaRPr sz="1300"/>
                    </a:p>
                  </a:txBody>
                  <a:tcPr marT="91425" marB="91425" marR="91425" marL="91425">
                    <a:solidFill>
                      <a:srgbClr val="FCE5CD"/>
                    </a:solidFill>
                  </a:tcPr>
                </a:tc>
                <a:tc>
                  <a:txBody>
                    <a:bodyPr/>
                    <a:lstStyle/>
                    <a:p>
                      <a:pPr indent="0" lvl="0" marL="0" rtl="0" algn="ctr">
                        <a:spcBef>
                          <a:spcPts val="0"/>
                        </a:spcBef>
                        <a:spcAft>
                          <a:spcPts val="0"/>
                        </a:spcAft>
                        <a:buNone/>
                      </a:pPr>
                      <a:r>
                        <a:rPr lang="id" sz="1300"/>
                        <a:t>Membangun ekosistem terapi di Sekolah dan Pengulangan dilakukan Guru / Wali Kelas</a:t>
                      </a:r>
                      <a:endParaRPr sz="1300"/>
                    </a:p>
                  </a:txBody>
                  <a:tcPr marT="91425" marB="91425" marR="91425" marL="91425">
                    <a:solidFill>
                      <a:srgbClr val="D9EAD3"/>
                    </a:solidFill>
                  </a:tcPr>
                </a:tc>
              </a:tr>
              <a:tr h="381000">
                <a:tc>
                  <a:txBody>
                    <a:bodyPr/>
                    <a:lstStyle/>
                    <a:p>
                      <a:pPr indent="0" lvl="0" marL="0" rtl="0" algn="ctr">
                        <a:spcBef>
                          <a:spcPts val="0"/>
                        </a:spcBef>
                        <a:spcAft>
                          <a:spcPts val="0"/>
                        </a:spcAft>
                        <a:buNone/>
                      </a:pPr>
                      <a:r>
                        <a:rPr lang="id" sz="1300"/>
                        <a:t>Orang Tua Sibuk/Tidak Ada Waktu Dampingi Terapi</a:t>
                      </a:r>
                      <a:endParaRPr sz="1300"/>
                    </a:p>
                  </a:txBody>
                  <a:tcPr marT="91425" marB="91425" marR="91425" marL="91425">
                    <a:solidFill>
                      <a:srgbClr val="F4CCCC"/>
                    </a:solidFill>
                  </a:tcPr>
                </a:tc>
                <a:tc>
                  <a:txBody>
                    <a:bodyPr/>
                    <a:lstStyle/>
                    <a:p>
                      <a:pPr indent="0" lvl="0" marL="0" rtl="0" algn="ctr">
                        <a:spcBef>
                          <a:spcPts val="0"/>
                        </a:spcBef>
                        <a:spcAft>
                          <a:spcPts val="0"/>
                        </a:spcAft>
                        <a:buNone/>
                      </a:pPr>
                      <a:r>
                        <a:rPr lang="id" sz="1300"/>
                        <a:t>Anak kehilangan banyak waktu stimulasi yang krusial</a:t>
                      </a:r>
                      <a:endParaRPr sz="1300"/>
                    </a:p>
                  </a:txBody>
                  <a:tcPr marT="91425" marB="91425" marR="91425" marL="91425">
                    <a:solidFill>
                      <a:srgbClr val="FCE5CD"/>
                    </a:solidFill>
                  </a:tcPr>
                </a:tc>
                <a:tc>
                  <a:txBody>
                    <a:bodyPr/>
                    <a:lstStyle/>
                    <a:p>
                      <a:pPr indent="0" lvl="0" marL="0" rtl="0" algn="l">
                        <a:spcBef>
                          <a:spcPts val="0"/>
                        </a:spcBef>
                        <a:spcAft>
                          <a:spcPts val="0"/>
                        </a:spcAft>
                        <a:buNone/>
                      </a:pPr>
                      <a:r>
                        <a:rPr lang="id" sz="1300">
                          <a:solidFill>
                            <a:schemeClr val="dk1"/>
                          </a:solidFill>
                        </a:rPr>
                        <a:t>Terapi di s</a:t>
                      </a:r>
                      <a:r>
                        <a:rPr lang="id" sz="1300">
                          <a:solidFill>
                            <a:schemeClr val="dk1"/>
                          </a:solidFill>
                        </a:rPr>
                        <a:t>ekolah dan tanpa menganggu kesibukan orang tua</a:t>
                      </a:r>
                      <a:endParaRPr sz="1300"/>
                    </a:p>
                  </a:txBody>
                  <a:tcPr marT="91425" marB="91425" marR="91425" marL="91425">
                    <a:solidFill>
                      <a:srgbClr val="D9EAD3"/>
                    </a:solidFill>
                  </a:tcPr>
                </a:tc>
              </a:tr>
            </a:tbl>
          </a:graphicData>
        </a:graphic>
      </p:graphicFrame>
      <p:pic>
        <p:nvPicPr>
          <p:cNvPr id="426" name="Google Shape;426;p45"/>
          <p:cNvPicPr preferRelativeResize="0"/>
          <p:nvPr/>
        </p:nvPicPr>
        <p:blipFill>
          <a:blip r:embed="rId3">
            <a:alphaModFix/>
          </a:blip>
          <a:stretch>
            <a:fillRect/>
          </a:stretch>
        </p:blipFill>
        <p:spPr>
          <a:xfrm>
            <a:off x="809702" y="3935182"/>
            <a:ext cx="1809885" cy="1156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6"/>
          <p:cNvSpPr txBox="1"/>
          <p:nvPr>
            <p:ph type="title"/>
          </p:nvPr>
        </p:nvSpPr>
        <p:spPr>
          <a:xfrm>
            <a:off x="628650" y="118723"/>
            <a:ext cx="7756200" cy="670800"/>
          </a:xfrm>
          <a:prstGeom prst="rect">
            <a:avLst/>
          </a:prstGeom>
          <a:noFill/>
          <a:ln>
            <a:noFill/>
          </a:ln>
        </p:spPr>
        <p:txBody>
          <a:bodyPr anchorCtr="0" anchor="ctr" bIns="22850" lIns="45725" spcFirstLastPara="1" rIns="45725" wrap="square" tIns="22850">
            <a:normAutofit/>
          </a:bodyPr>
          <a:lstStyle/>
          <a:p>
            <a:pPr indent="0" lvl="0" marL="0" rtl="0" algn="ctr">
              <a:spcBef>
                <a:spcPts val="0"/>
              </a:spcBef>
              <a:spcAft>
                <a:spcPts val="0"/>
              </a:spcAft>
              <a:buClr>
                <a:schemeClr val="dk1"/>
              </a:buClr>
              <a:buSzPts val="2000"/>
              <a:buFont typeface="Poppins"/>
              <a:buNone/>
            </a:pPr>
            <a:r>
              <a:rPr b="1" lang="id" sz="2000">
                <a:latin typeface="Poppins"/>
                <a:ea typeface="Poppins"/>
                <a:cs typeface="Poppins"/>
                <a:sym typeface="Poppins"/>
              </a:rPr>
              <a:t>Perbandingan</a:t>
            </a:r>
            <a:r>
              <a:rPr b="1" lang="id" sz="2000">
                <a:latin typeface="Poppins"/>
                <a:ea typeface="Poppins"/>
                <a:cs typeface="Poppins"/>
                <a:sym typeface="Poppins"/>
              </a:rPr>
              <a:t> Sistem Identifikasi</a:t>
            </a:r>
            <a:endParaRPr b="1" sz="2000">
              <a:latin typeface="Poppins"/>
              <a:ea typeface="Poppins"/>
              <a:cs typeface="Poppins"/>
              <a:sym typeface="Poppins"/>
            </a:endParaRPr>
          </a:p>
        </p:txBody>
      </p:sp>
      <p:graphicFrame>
        <p:nvGraphicFramePr>
          <p:cNvPr id="432" name="Google Shape;432;p46"/>
          <p:cNvGraphicFramePr/>
          <p:nvPr/>
        </p:nvGraphicFramePr>
        <p:xfrm>
          <a:off x="152400" y="789550"/>
          <a:ext cx="3000000" cy="3000000"/>
        </p:xfrm>
        <a:graphic>
          <a:graphicData uri="http://schemas.openxmlformats.org/drawingml/2006/table">
            <a:tbl>
              <a:tblPr>
                <a:noFill/>
                <a:tableStyleId>{6E9BC604-4890-4BE8-8DDB-205DA92A7D25}</a:tableStyleId>
              </a:tblPr>
              <a:tblGrid>
                <a:gridCol w="1468825"/>
                <a:gridCol w="2135100"/>
                <a:gridCol w="2362250"/>
                <a:gridCol w="2725650"/>
              </a:tblGrid>
              <a:tr h="401150">
                <a:tc>
                  <a:txBody>
                    <a:bodyPr/>
                    <a:lstStyle/>
                    <a:p>
                      <a:pPr indent="0" lvl="0" marL="0" rtl="0" algn="ctr">
                        <a:lnSpc>
                          <a:spcPct val="115000"/>
                        </a:lnSpc>
                        <a:spcBef>
                          <a:spcPts val="0"/>
                        </a:spcBef>
                        <a:spcAft>
                          <a:spcPts val="0"/>
                        </a:spcAft>
                        <a:buNone/>
                      </a:pPr>
                      <a:r>
                        <a:rPr b="1" lang="id" sz="1000"/>
                        <a:t>Aspek Perbandingan</a:t>
                      </a:r>
                      <a:endParaRPr b="1"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rtl="0" algn="ctr">
                        <a:lnSpc>
                          <a:spcPct val="115000"/>
                        </a:lnSpc>
                        <a:spcBef>
                          <a:spcPts val="0"/>
                        </a:spcBef>
                        <a:spcAft>
                          <a:spcPts val="0"/>
                        </a:spcAft>
                        <a:buNone/>
                      </a:pPr>
                      <a:r>
                        <a:rPr b="1" lang="id" sz="1000"/>
                        <a:t>🚫 Sistem Saat Ini (Internal Sekolah)</a:t>
                      </a:r>
                      <a:endParaRPr b="1"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id" sz="1000"/>
                        <a:t>⚖️ Sistem Kombinasi (Internal + Sebagian Psikotes)</a:t>
                      </a:r>
                      <a:endParaRPr b="1"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id" sz="1000"/>
                        <a:t>✅ Sistem Full (Semua Siswa Psikotes)</a:t>
                      </a:r>
                      <a:endParaRPr b="1"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401150">
                <a:tc>
                  <a:txBody>
                    <a:bodyPr/>
                    <a:lstStyle/>
                    <a:p>
                      <a:pPr indent="0" lvl="0" marL="0" rtl="0" algn="l">
                        <a:lnSpc>
                          <a:spcPct val="115000"/>
                        </a:lnSpc>
                        <a:spcBef>
                          <a:spcPts val="0"/>
                        </a:spcBef>
                        <a:spcAft>
                          <a:spcPts val="0"/>
                        </a:spcAft>
                        <a:buNone/>
                      </a:pPr>
                      <a:r>
                        <a:rPr b="1" lang="id" sz="1000"/>
                        <a:t>Dasar Penilaian</a:t>
                      </a:r>
                      <a:endParaRPr b="1"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rtl="0" algn="ctr">
                        <a:lnSpc>
                          <a:spcPct val="115000"/>
                        </a:lnSpc>
                        <a:spcBef>
                          <a:spcPts val="0"/>
                        </a:spcBef>
                        <a:spcAft>
                          <a:spcPts val="0"/>
                        </a:spcAft>
                        <a:buNone/>
                      </a:pPr>
                      <a:r>
                        <a:rPr lang="id" sz="1000"/>
                        <a:t>Observasi Guru dan Wawancara (Subjektif)</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id" sz="1000"/>
                        <a:t>Observasi Guru + Tes Psikologi (hanya sampel)</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id" sz="1000"/>
                        <a:t>Tes Psikologi Standar (Obyektif &amp; Valid)</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600350">
                <a:tc>
                  <a:txBody>
                    <a:bodyPr/>
                    <a:lstStyle/>
                    <a:p>
                      <a:pPr indent="0" lvl="0" marL="0" rtl="0" algn="l">
                        <a:lnSpc>
                          <a:spcPct val="115000"/>
                        </a:lnSpc>
                        <a:spcBef>
                          <a:spcPts val="0"/>
                        </a:spcBef>
                        <a:spcAft>
                          <a:spcPts val="0"/>
                        </a:spcAft>
                        <a:buNone/>
                      </a:pPr>
                      <a:r>
                        <a:rPr b="1" lang="id" sz="1000"/>
                        <a:t>Identifikasi ABK (Akurasi)</a:t>
                      </a:r>
                      <a:endParaRPr b="1"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rtl="0" algn="ctr">
                        <a:lnSpc>
                          <a:spcPct val="115000"/>
                        </a:lnSpc>
                        <a:spcBef>
                          <a:spcPts val="0"/>
                        </a:spcBef>
                        <a:spcAft>
                          <a:spcPts val="0"/>
                        </a:spcAft>
                        <a:buNone/>
                      </a:pPr>
                      <a:r>
                        <a:rPr lang="id" sz="1000"/>
                        <a:t>Rendah (Sering miss atau salah diagnosis oleh guru).</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id" sz="1000"/>
                        <a:t>Sedang (Hanya mendeteksi ABK yang gejalanya jelas).</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id" sz="1000"/>
                        <a:t>Tinggi/Optimal. Mendeteksi ABK tersembunyi (misalnya Gifted with Learning Disability).</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600350">
                <a:tc>
                  <a:txBody>
                    <a:bodyPr/>
                    <a:lstStyle/>
                    <a:p>
                      <a:pPr indent="0" lvl="0" marL="0" rtl="0" algn="l">
                        <a:lnSpc>
                          <a:spcPct val="115000"/>
                        </a:lnSpc>
                        <a:spcBef>
                          <a:spcPts val="0"/>
                        </a:spcBef>
                        <a:spcAft>
                          <a:spcPts val="0"/>
                        </a:spcAft>
                        <a:buNone/>
                      </a:pPr>
                      <a:r>
                        <a:rPr b="1" lang="id" sz="1000"/>
                        <a:t>Identifikasi Siswa Unggul (Superior IQ)</a:t>
                      </a:r>
                      <a:endParaRPr b="1"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rtl="0" algn="ctr">
                        <a:lnSpc>
                          <a:spcPct val="115000"/>
                        </a:lnSpc>
                        <a:spcBef>
                          <a:spcPts val="0"/>
                        </a:spcBef>
                        <a:spcAft>
                          <a:spcPts val="0"/>
                        </a:spcAft>
                        <a:buNone/>
                      </a:pPr>
                      <a:r>
                        <a:rPr lang="id" sz="1000"/>
                        <a:t>Rendah (Hanya berdasarkan prestasi akademik masa lalu).</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id" sz="1000"/>
                        <a:t>Rendah (Siswa unggul tidak di-refer untuk dites, sehingga potensinya tidak terdata).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id" sz="1000"/>
                        <a:t>Tinggi/Optimal. Mengidentifikasi seluruh bibit siswa unggul sejak awal.</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401150">
                <a:tc>
                  <a:txBody>
                    <a:bodyPr/>
                    <a:lstStyle/>
                    <a:p>
                      <a:pPr indent="0" lvl="0" marL="0" rtl="0" algn="l">
                        <a:lnSpc>
                          <a:spcPct val="115000"/>
                        </a:lnSpc>
                        <a:spcBef>
                          <a:spcPts val="0"/>
                        </a:spcBef>
                        <a:spcAft>
                          <a:spcPts val="0"/>
                        </a:spcAft>
                        <a:buNone/>
                      </a:pPr>
                      <a:r>
                        <a:rPr b="1" lang="id" sz="1000"/>
                        <a:t>Manfaat untuk Sekolah</a:t>
                      </a:r>
                      <a:endParaRPr b="1"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rtl="0" algn="ctr">
                        <a:lnSpc>
                          <a:spcPct val="115000"/>
                        </a:lnSpc>
                        <a:spcBef>
                          <a:spcPts val="0"/>
                        </a:spcBef>
                        <a:spcAft>
                          <a:spcPts val="0"/>
                        </a:spcAft>
                        <a:buNone/>
                      </a:pPr>
                      <a:r>
                        <a:rPr lang="id" sz="1000"/>
                        <a:t>Hanya memenuhi syarat administratif penerimaan.</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id" sz="1000"/>
                        <a:t>Hanya meredam masalah ABK yang sudah terdeteksi.</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id" sz="1000"/>
                        <a:t>Dasar untuk Inklusi &amp; Program Unggulan.</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600350">
                <a:tc>
                  <a:txBody>
                    <a:bodyPr/>
                    <a:lstStyle/>
                    <a:p>
                      <a:pPr indent="0" lvl="0" marL="0" rtl="0" algn="l">
                        <a:lnSpc>
                          <a:spcPct val="115000"/>
                        </a:lnSpc>
                        <a:spcBef>
                          <a:spcPts val="0"/>
                        </a:spcBef>
                        <a:spcAft>
                          <a:spcPts val="0"/>
                        </a:spcAft>
                        <a:buNone/>
                      </a:pPr>
                      <a:r>
                        <a:rPr b="1" lang="id" sz="1000"/>
                        <a:t>Kemampuan Sekolah (Strategi)</a:t>
                      </a:r>
                      <a:endParaRPr b="1"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rtl="0" algn="ctr">
                        <a:lnSpc>
                          <a:spcPct val="115000"/>
                        </a:lnSpc>
                        <a:spcBef>
                          <a:spcPts val="0"/>
                        </a:spcBef>
                        <a:spcAft>
                          <a:spcPts val="0"/>
                        </a:spcAft>
                        <a:buNone/>
                      </a:pPr>
                      <a:r>
                        <a:rPr lang="id" sz="1000"/>
                        <a:t>Hanya Reaktif. Sekolah bertindak setelah masalah muncul di kelas.</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id" sz="1000"/>
                        <a:t>Sedikit Proaktif. Sekolah dapat menyiapkan guru untuk ABK yang dicurigai.</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id" sz="1000"/>
                        <a:t>Sangat Proaktif. Sekolah dapat mendesain sistem inklusi dan program akselerasi/pengayaan yang tepat sasaran.</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401150">
                <a:tc>
                  <a:txBody>
                    <a:bodyPr/>
                    <a:lstStyle/>
                    <a:p>
                      <a:pPr indent="0" lvl="0" marL="0" rtl="0" algn="l">
                        <a:lnSpc>
                          <a:spcPct val="115000"/>
                        </a:lnSpc>
                        <a:spcBef>
                          <a:spcPts val="0"/>
                        </a:spcBef>
                        <a:spcAft>
                          <a:spcPts val="0"/>
                        </a:spcAft>
                        <a:buNone/>
                      </a:pPr>
                      <a:r>
                        <a:rPr b="1" lang="id" sz="1000"/>
                        <a:t>Tujuan Akhir</a:t>
                      </a:r>
                      <a:endParaRPr b="1"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rtl="0" algn="ctr">
                        <a:lnSpc>
                          <a:spcPct val="115000"/>
                        </a:lnSpc>
                        <a:spcBef>
                          <a:spcPts val="0"/>
                        </a:spcBef>
                        <a:spcAft>
                          <a:spcPts val="0"/>
                        </a:spcAft>
                        <a:buNone/>
                      </a:pPr>
                      <a:r>
                        <a:rPr lang="id" sz="1000"/>
                        <a:t>Memasukkan siswa.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id" sz="1000"/>
                        <a:t>Mengatasi masalah yang terlihat.</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id" sz="1000"/>
                        <a:t>Membangun sistem sekolah inklusi yang unggul.</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grpSp>
        <p:nvGrpSpPr>
          <p:cNvPr id="437" name="Google Shape;437;p47"/>
          <p:cNvGrpSpPr/>
          <p:nvPr/>
        </p:nvGrpSpPr>
        <p:grpSpPr>
          <a:xfrm>
            <a:off x="473085" y="2828574"/>
            <a:ext cx="6092428" cy="870347"/>
            <a:chOff x="3571" y="615553"/>
            <a:chExt cx="12184856" cy="1740693"/>
          </a:xfrm>
        </p:grpSpPr>
        <p:sp>
          <p:nvSpPr>
            <p:cNvPr id="438" name="Google Shape;438;p47"/>
            <p:cNvSpPr/>
            <p:nvPr/>
          </p:nvSpPr>
          <p:spPr>
            <a:xfrm>
              <a:off x="3571" y="615553"/>
              <a:ext cx="4351734" cy="1740693"/>
            </a:xfrm>
            <a:prstGeom prst="chevron">
              <a:avLst>
                <a:gd fmla="val 50000" name="adj"/>
              </a:avLst>
            </a:prstGeom>
            <a:solidFill>
              <a:schemeClr val="accent1">
                <a:alpha val="89804"/>
              </a:schemeClr>
            </a:solidFill>
            <a:ln cap="flat" cmpd="sng" w="25400">
              <a:solidFill>
                <a:schemeClr val="lt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9" name="Google Shape;439;p47"/>
            <p:cNvSpPr txBox="1"/>
            <p:nvPr/>
          </p:nvSpPr>
          <p:spPr>
            <a:xfrm>
              <a:off x="873918" y="615553"/>
              <a:ext cx="2611041" cy="1740693"/>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Psikotes Siswa Baru dilakukan untuk memfilter siswa ABK sejak awal dan mempersiapkan kelas unggulan</a:t>
              </a:r>
              <a:endParaRPr sz="900">
                <a:solidFill>
                  <a:schemeClr val="dk1"/>
                </a:solidFill>
                <a:latin typeface="Calibri"/>
                <a:ea typeface="Calibri"/>
                <a:cs typeface="Calibri"/>
                <a:sym typeface="Calibri"/>
              </a:endParaRPr>
            </a:p>
          </p:txBody>
        </p:sp>
        <p:sp>
          <p:nvSpPr>
            <p:cNvPr id="440" name="Google Shape;440;p47"/>
            <p:cNvSpPr/>
            <p:nvPr/>
          </p:nvSpPr>
          <p:spPr>
            <a:xfrm>
              <a:off x="3920132" y="615553"/>
              <a:ext cx="4351734" cy="1740693"/>
            </a:xfrm>
            <a:prstGeom prst="chevron">
              <a:avLst>
                <a:gd fmla="val 50000" name="adj"/>
              </a:avLst>
            </a:prstGeom>
            <a:solidFill>
              <a:schemeClr val="accent1">
                <a:alpha val="69804"/>
              </a:schemeClr>
            </a:solidFill>
            <a:ln cap="flat" cmpd="sng" w="25400">
              <a:solidFill>
                <a:schemeClr val="lt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1" name="Google Shape;441;p47"/>
            <p:cNvSpPr txBox="1"/>
            <p:nvPr/>
          </p:nvSpPr>
          <p:spPr>
            <a:xfrm>
              <a:off x="4790479" y="615553"/>
              <a:ext cx="2611041" cy="1740693"/>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Konseling Orang Tua, Guru dan Psikolog. Membangun pemahaman dan komitmen Bersama untuk siswa ABK</a:t>
              </a:r>
              <a:endParaRPr b="1" sz="900">
                <a:solidFill>
                  <a:schemeClr val="dk1"/>
                </a:solidFill>
                <a:latin typeface="Calibri"/>
                <a:ea typeface="Calibri"/>
                <a:cs typeface="Calibri"/>
                <a:sym typeface="Calibri"/>
              </a:endParaRPr>
            </a:p>
          </p:txBody>
        </p:sp>
        <p:sp>
          <p:nvSpPr>
            <p:cNvPr id="442" name="Google Shape;442;p47"/>
            <p:cNvSpPr/>
            <p:nvPr/>
          </p:nvSpPr>
          <p:spPr>
            <a:xfrm>
              <a:off x="7836693" y="615553"/>
              <a:ext cx="4351734" cy="1740693"/>
            </a:xfrm>
            <a:prstGeom prst="chevron">
              <a:avLst>
                <a:gd fmla="val 50000" name="adj"/>
              </a:avLst>
            </a:prstGeom>
            <a:solidFill>
              <a:schemeClr val="accent1">
                <a:alpha val="49804"/>
              </a:schemeClr>
            </a:solidFill>
            <a:ln cap="flat" cmpd="sng" w="25400">
              <a:solidFill>
                <a:schemeClr val="lt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3" name="Google Shape;443;p47"/>
            <p:cNvSpPr txBox="1"/>
            <p:nvPr/>
          </p:nvSpPr>
          <p:spPr>
            <a:xfrm>
              <a:off x="8707040" y="615553"/>
              <a:ext cx="2611041" cy="1740693"/>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Mendampingi Sekolah Membuat Program Kurikulum Individual dan Terapi di Sekolah</a:t>
              </a:r>
              <a:endParaRPr b="1" sz="900">
                <a:solidFill>
                  <a:schemeClr val="dk1"/>
                </a:solidFill>
                <a:latin typeface="Calibri"/>
                <a:ea typeface="Calibri"/>
                <a:cs typeface="Calibri"/>
                <a:sym typeface="Calibri"/>
              </a:endParaRPr>
            </a:p>
          </p:txBody>
        </p:sp>
      </p:grpSp>
      <p:sp>
        <p:nvSpPr>
          <p:cNvPr id="444" name="Google Shape;444;p47"/>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Membangun Ekosistem Inklusi</a:t>
            </a:r>
            <a:endParaRPr b="1" sz="1800">
              <a:solidFill>
                <a:srgbClr val="002646"/>
              </a:solidFill>
              <a:latin typeface="Poppins"/>
              <a:ea typeface="Poppins"/>
              <a:cs typeface="Poppins"/>
              <a:sym typeface="Poppins"/>
            </a:endParaRPr>
          </a:p>
        </p:txBody>
      </p:sp>
      <p:sp>
        <p:nvSpPr>
          <p:cNvPr id="445" name="Google Shape;445;p47"/>
          <p:cNvSpPr txBox="1"/>
          <p:nvPr/>
        </p:nvSpPr>
        <p:spPr>
          <a:xfrm>
            <a:off x="947823" y="738485"/>
            <a:ext cx="7228555" cy="461665"/>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lang="id" sz="1400">
                <a:solidFill>
                  <a:schemeClr val="dk1"/>
                </a:solidFill>
                <a:latin typeface="Calibri"/>
                <a:ea typeface="Calibri"/>
                <a:cs typeface="Calibri"/>
                <a:sym typeface="Calibri"/>
              </a:rPr>
              <a:t>Program Sekolah Inklusi akan optimal melalui wujud dari program yang terintegrasi antara Guru, Orang Tua dan Psikolog sejak siswa baru masuk di Sekolah</a:t>
            </a:r>
            <a:endParaRPr sz="1400">
              <a:solidFill>
                <a:schemeClr val="dk1"/>
              </a:solidFill>
              <a:latin typeface="Calibri"/>
              <a:ea typeface="Calibri"/>
              <a:cs typeface="Calibri"/>
              <a:sym typeface="Calibri"/>
            </a:endParaRPr>
          </a:p>
        </p:txBody>
      </p:sp>
      <p:sp>
        <p:nvSpPr>
          <p:cNvPr id="446" name="Google Shape;446;p47"/>
          <p:cNvSpPr txBox="1"/>
          <p:nvPr/>
        </p:nvSpPr>
        <p:spPr>
          <a:xfrm>
            <a:off x="3429000" y="1321973"/>
            <a:ext cx="1601067" cy="200055"/>
          </a:xfrm>
          <a:prstGeom prst="rect">
            <a:avLst/>
          </a:prstGeom>
          <a:solidFill>
            <a:srgbClr val="DAEEF3"/>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Program Siswa Baru TK - SD</a:t>
            </a:r>
            <a:endParaRPr sz="700"/>
          </a:p>
        </p:txBody>
      </p:sp>
      <p:pic>
        <p:nvPicPr>
          <p:cNvPr id="447" name="Google Shape;447;p47"/>
          <p:cNvPicPr preferRelativeResize="0"/>
          <p:nvPr/>
        </p:nvPicPr>
        <p:blipFill rotWithShape="1">
          <a:blip r:embed="rId3">
            <a:alphaModFix/>
          </a:blip>
          <a:srcRect b="23362" l="15500" r="23000" t="6801"/>
          <a:stretch/>
        </p:blipFill>
        <p:spPr>
          <a:xfrm>
            <a:off x="2532220" y="1694799"/>
            <a:ext cx="1691928" cy="1081925"/>
          </a:xfrm>
          <a:prstGeom prst="rect">
            <a:avLst/>
          </a:prstGeom>
          <a:noFill/>
          <a:ln>
            <a:noFill/>
          </a:ln>
        </p:spPr>
      </p:pic>
      <p:pic>
        <p:nvPicPr>
          <p:cNvPr id="448" name="Google Shape;448;p47"/>
          <p:cNvPicPr preferRelativeResize="0"/>
          <p:nvPr/>
        </p:nvPicPr>
        <p:blipFill rotWithShape="1">
          <a:blip r:embed="rId4">
            <a:alphaModFix/>
          </a:blip>
          <a:srcRect b="0" l="0" r="0" t="0"/>
          <a:stretch/>
        </p:blipFill>
        <p:spPr>
          <a:xfrm>
            <a:off x="7408100" y="1639614"/>
            <a:ext cx="938457" cy="952287"/>
          </a:xfrm>
          <a:prstGeom prst="ellipse">
            <a:avLst/>
          </a:prstGeom>
          <a:noFill/>
          <a:ln>
            <a:noFill/>
          </a:ln>
        </p:spPr>
      </p:pic>
      <p:sp>
        <p:nvSpPr>
          <p:cNvPr id="449" name="Google Shape;449;p47"/>
          <p:cNvSpPr txBox="1"/>
          <p:nvPr/>
        </p:nvSpPr>
        <p:spPr>
          <a:xfrm>
            <a:off x="7000162" y="1318959"/>
            <a:ext cx="1601067" cy="200055"/>
          </a:xfrm>
          <a:prstGeom prst="rect">
            <a:avLst/>
          </a:prstGeom>
          <a:solidFill>
            <a:srgbClr val="DAEEF3"/>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Output Program</a:t>
            </a:r>
            <a:endParaRPr sz="700"/>
          </a:p>
        </p:txBody>
      </p:sp>
      <p:sp>
        <p:nvSpPr>
          <p:cNvPr id="450" name="Google Shape;450;p47"/>
          <p:cNvSpPr txBox="1"/>
          <p:nvPr/>
        </p:nvSpPr>
        <p:spPr>
          <a:xfrm>
            <a:off x="7165522" y="2712501"/>
            <a:ext cx="1447800" cy="461665"/>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900">
                <a:solidFill>
                  <a:schemeClr val="dk1"/>
                </a:solidFill>
                <a:latin typeface="Calibri"/>
                <a:ea typeface="Calibri"/>
                <a:cs typeface="Calibri"/>
                <a:sym typeface="Calibri"/>
              </a:rPr>
              <a:t>Membantu Sekolah Memetakan Siswa Kelas Unggulan</a:t>
            </a:r>
            <a:endParaRPr b="1" sz="900">
              <a:solidFill>
                <a:schemeClr val="dk1"/>
              </a:solidFill>
              <a:latin typeface="Calibri"/>
              <a:ea typeface="Calibri"/>
              <a:cs typeface="Calibri"/>
              <a:sym typeface="Calibri"/>
            </a:endParaRPr>
          </a:p>
        </p:txBody>
      </p:sp>
      <p:pic>
        <p:nvPicPr>
          <p:cNvPr id="451" name="Google Shape;451;p47"/>
          <p:cNvPicPr preferRelativeResize="0"/>
          <p:nvPr/>
        </p:nvPicPr>
        <p:blipFill rotWithShape="1">
          <a:blip r:embed="rId5">
            <a:alphaModFix/>
          </a:blip>
          <a:srcRect b="0" l="0" r="0" t="0"/>
          <a:stretch/>
        </p:blipFill>
        <p:spPr>
          <a:xfrm>
            <a:off x="7408100" y="3323101"/>
            <a:ext cx="1045776" cy="1081914"/>
          </a:xfrm>
          <a:prstGeom prst="ellipse">
            <a:avLst/>
          </a:prstGeom>
          <a:noFill/>
          <a:ln>
            <a:noFill/>
          </a:ln>
        </p:spPr>
      </p:pic>
      <p:sp>
        <p:nvSpPr>
          <p:cNvPr id="452" name="Google Shape;452;p47"/>
          <p:cNvSpPr txBox="1"/>
          <p:nvPr/>
        </p:nvSpPr>
        <p:spPr>
          <a:xfrm>
            <a:off x="7277100" y="4553950"/>
            <a:ext cx="1447800" cy="323165"/>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900">
                <a:solidFill>
                  <a:schemeClr val="dk1"/>
                </a:solidFill>
                <a:latin typeface="Calibri"/>
                <a:ea typeface="Calibri"/>
                <a:cs typeface="Calibri"/>
                <a:sym typeface="Calibri"/>
              </a:rPr>
              <a:t>Membantu Sekolah Mewujukan Ramah Inklusi</a:t>
            </a:r>
            <a:endParaRPr b="1" sz="900">
              <a:solidFill>
                <a:schemeClr val="dk1"/>
              </a:solidFill>
              <a:latin typeface="Calibri"/>
              <a:ea typeface="Calibri"/>
              <a:cs typeface="Calibri"/>
              <a:sym typeface="Calibri"/>
            </a:endParaRPr>
          </a:p>
        </p:txBody>
      </p:sp>
      <p:pic>
        <p:nvPicPr>
          <p:cNvPr id="453" name="Google Shape;453;p47"/>
          <p:cNvPicPr preferRelativeResize="0"/>
          <p:nvPr/>
        </p:nvPicPr>
        <p:blipFill>
          <a:blip r:embed="rId6">
            <a:alphaModFix/>
          </a:blip>
          <a:stretch>
            <a:fillRect/>
          </a:stretch>
        </p:blipFill>
        <p:spPr>
          <a:xfrm>
            <a:off x="344101" y="1664977"/>
            <a:ext cx="1921300" cy="1081925"/>
          </a:xfrm>
          <a:prstGeom prst="rect">
            <a:avLst/>
          </a:prstGeom>
          <a:noFill/>
          <a:ln>
            <a:noFill/>
          </a:ln>
        </p:spPr>
      </p:pic>
      <p:pic>
        <p:nvPicPr>
          <p:cNvPr id="454" name="Google Shape;454;p47"/>
          <p:cNvPicPr preferRelativeResize="0"/>
          <p:nvPr/>
        </p:nvPicPr>
        <p:blipFill>
          <a:blip r:embed="rId7">
            <a:alphaModFix/>
          </a:blip>
          <a:stretch>
            <a:fillRect/>
          </a:stretch>
        </p:blipFill>
        <p:spPr>
          <a:xfrm>
            <a:off x="4572000" y="1626150"/>
            <a:ext cx="1601075" cy="109830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8"/>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ALUR PENANGANAN PROGRAM INKLUSI</a:t>
            </a:r>
            <a:endParaRPr b="1" sz="1800">
              <a:solidFill>
                <a:srgbClr val="002646"/>
              </a:solidFill>
              <a:latin typeface="Poppins"/>
              <a:ea typeface="Poppins"/>
              <a:cs typeface="Poppins"/>
              <a:sym typeface="Poppins"/>
            </a:endParaRPr>
          </a:p>
        </p:txBody>
      </p:sp>
      <p:sp>
        <p:nvSpPr>
          <p:cNvPr id="460" name="Google Shape;460;p48"/>
          <p:cNvSpPr txBox="1"/>
          <p:nvPr/>
        </p:nvSpPr>
        <p:spPr>
          <a:xfrm>
            <a:off x="947823" y="738485"/>
            <a:ext cx="7228500" cy="4770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lang="id" sz="1400">
                <a:solidFill>
                  <a:schemeClr val="dk1"/>
                </a:solidFill>
                <a:latin typeface="Calibri"/>
                <a:ea typeface="Calibri"/>
                <a:cs typeface="Calibri"/>
                <a:sym typeface="Calibri"/>
              </a:rPr>
              <a:t>Program Sekolah Inklusi akan optimal melalui wujud dari program yang terintegrasi antara Guru, Orang Tua dan Psikolog</a:t>
            </a:r>
            <a:r>
              <a:rPr lang="id">
                <a:solidFill>
                  <a:schemeClr val="dk1"/>
                </a:solidFill>
                <a:latin typeface="Calibri"/>
                <a:ea typeface="Calibri"/>
                <a:cs typeface="Calibri"/>
                <a:sym typeface="Calibri"/>
              </a:rPr>
              <a:t> serta saling berkolaborasi satu sama lain</a:t>
            </a:r>
            <a:endParaRPr sz="1400">
              <a:solidFill>
                <a:schemeClr val="dk1"/>
              </a:solidFill>
              <a:latin typeface="Calibri"/>
              <a:ea typeface="Calibri"/>
              <a:cs typeface="Calibri"/>
              <a:sym typeface="Calibri"/>
            </a:endParaRPr>
          </a:p>
        </p:txBody>
      </p:sp>
      <p:pic>
        <p:nvPicPr>
          <p:cNvPr id="461" name="Google Shape;461;p48"/>
          <p:cNvPicPr preferRelativeResize="0"/>
          <p:nvPr/>
        </p:nvPicPr>
        <p:blipFill rotWithShape="1">
          <a:blip r:embed="rId3">
            <a:alphaModFix/>
          </a:blip>
          <a:srcRect b="0" l="0" r="20306" t="0"/>
          <a:stretch/>
        </p:blipFill>
        <p:spPr>
          <a:xfrm>
            <a:off x="1517350" y="2799749"/>
            <a:ext cx="833100" cy="588677"/>
          </a:xfrm>
          <a:prstGeom prst="rect">
            <a:avLst/>
          </a:prstGeom>
          <a:noFill/>
          <a:ln>
            <a:noFill/>
          </a:ln>
        </p:spPr>
      </p:pic>
      <p:pic>
        <p:nvPicPr>
          <p:cNvPr id="462" name="Google Shape;462;p48"/>
          <p:cNvPicPr preferRelativeResize="0"/>
          <p:nvPr/>
        </p:nvPicPr>
        <p:blipFill rotWithShape="1">
          <a:blip r:embed="rId4">
            <a:alphaModFix/>
          </a:blip>
          <a:srcRect b="7724" l="0" r="0" t="36945"/>
          <a:stretch/>
        </p:blipFill>
        <p:spPr>
          <a:xfrm>
            <a:off x="6654450" y="3868600"/>
            <a:ext cx="777001" cy="644863"/>
          </a:xfrm>
          <a:prstGeom prst="rect">
            <a:avLst/>
          </a:prstGeom>
          <a:noFill/>
          <a:ln>
            <a:noFill/>
          </a:ln>
        </p:spPr>
      </p:pic>
      <p:sp>
        <p:nvSpPr>
          <p:cNvPr id="463" name="Google Shape;463;p48"/>
          <p:cNvSpPr txBox="1"/>
          <p:nvPr/>
        </p:nvSpPr>
        <p:spPr>
          <a:xfrm>
            <a:off x="330820" y="2371650"/>
            <a:ext cx="833100" cy="354000"/>
          </a:xfrm>
          <a:prstGeom prst="rect">
            <a:avLst/>
          </a:prstGeom>
          <a:solidFill>
            <a:schemeClr val="lt2"/>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Data Siswa dari Sekolah</a:t>
            </a:r>
            <a:endParaRPr sz="700"/>
          </a:p>
        </p:txBody>
      </p:sp>
      <p:sp>
        <p:nvSpPr>
          <p:cNvPr id="464" name="Google Shape;464;p48"/>
          <p:cNvSpPr txBox="1"/>
          <p:nvPr/>
        </p:nvSpPr>
        <p:spPr>
          <a:xfrm>
            <a:off x="6534707" y="1520696"/>
            <a:ext cx="1601100" cy="200100"/>
          </a:xfrm>
          <a:prstGeom prst="rect">
            <a:avLst/>
          </a:prstGeom>
          <a:solidFill>
            <a:srgbClr val="DAEEF3"/>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Evaluasi per 3 Bulan</a:t>
            </a:r>
            <a:endParaRPr sz="700"/>
          </a:p>
        </p:txBody>
      </p:sp>
      <p:sp>
        <p:nvSpPr>
          <p:cNvPr id="465" name="Google Shape;465;p48"/>
          <p:cNvSpPr txBox="1"/>
          <p:nvPr/>
        </p:nvSpPr>
        <p:spPr>
          <a:xfrm>
            <a:off x="1501470" y="2371650"/>
            <a:ext cx="833100" cy="354000"/>
          </a:xfrm>
          <a:prstGeom prst="rect">
            <a:avLst/>
          </a:prstGeom>
          <a:solidFill>
            <a:srgbClr val="DAEEF3"/>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Psikotes Siswa</a:t>
            </a:r>
            <a:endParaRPr sz="700"/>
          </a:p>
        </p:txBody>
      </p:sp>
      <p:sp>
        <p:nvSpPr>
          <p:cNvPr id="466" name="Google Shape;466;p48"/>
          <p:cNvSpPr txBox="1"/>
          <p:nvPr/>
        </p:nvSpPr>
        <p:spPr>
          <a:xfrm>
            <a:off x="3953358" y="2766350"/>
            <a:ext cx="833100" cy="354000"/>
          </a:xfrm>
          <a:prstGeom prst="rect">
            <a:avLst/>
          </a:prstGeom>
          <a:solidFill>
            <a:srgbClr val="DAEEF3"/>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Konseling Bersama</a:t>
            </a:r>
            <a:endParaRPr sz="700"/>
          </a:p>
        </p:txBody>
      </p:sp>
      <p:sp>
        <p:nvSpPr>
          <p:cNvPr id="467" name="Google Shape;467;p48"/>
          <p:cNvSpPr txBox="1"/>
          <p:nvPr/>
        </p:nvSpPr>
        <p:spPr>
          <a:xfrm>
            <a:off x="2750820" y="1743537"/>
            <a:ext cx="833100" cy="200100"/>
          </a:xfrm>
          <a:prstGeom prst="rect">
            <a:avLst/>
          </a:prstGeom>
          <a:solidFill>
            <a:srgbClr val="D9EAD3"/>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Siswa Normal</a:t>
            </a:r>
            <a:endParaRPr sz="700"/>
          </a:p>
        </p:txBody>
      </p:sp>
      <p:sp>
        <p:nvSpPr>
          <p:cNvPr id="468" name="Google Shape;468;p48"/>
          <p:cNvSpPr txBox="1"/>
          <p:nvPr/>
        </p:nvSpPr>
        <p:spPr>
          <a:xfrm>
            <a:off x="2750820" y="2445591"/>
            <a:ext cx="938400" cy="200100"/>
          </a:xfrm>
          <a:prstGeom prst="rect">
            <a:avLst/>
          </a:prstGeom>
          <a:solidFill>
            <a:srgbClr val="C9DAF8"/>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Siswa Superior</a:t>
            </a:r>
            <a:endParaRPr sz="700"/>
          </a:p>
        </p:txBody>
      </p:sp>
      <p:sp>
        <p:nvSpPr>
          <p:cNvPr id="469" name="Google Shape;469;p48"/>
          <p:cNvSpPr txBox="1"/>
          <p:nvPr/>
        </p:nvSpPr>
        <p:spPr>
          <a:xfrm>
            <a:off x="2750820" y="3180475"/>
            <a:ext cx="938400" cy="507900"/>
          </a:xfrm>
          <a:prstGeom prst="rect">
            <a:avLst/>
          </a:prstGeom>
          <a:solidFill>
            <a:srgbClr val="FCE5CD"/>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Siswa Berkebutuhan Khusus</a:t>
            </a:r>
            <a:endParaRPr sz="700"/>
          </a:p>
        </p:txBody>
      </p:sp>
      <p:cxnSp>
        <p:nvCxnSpPr>
          <p:cNvPr id="470" name="Google Shape;470;p48"/>
          <p:cNvCxnSpPr>
            <a:stCxn id="463" idx="3"/>
            <a:endCxn id="465" idx="1"/>
          </p:cNvCxnSpPr>
          <p:nvPr/>
        </p:nvCxnSpPr>
        <p:spPr>
          <a:xfrm>
            <a:off x="1163920" y="2548650"/>
            <a:ext cx="337500" cy="0"/>
          </a:xfrm>
          <a:prstGeom prst="straightConnector1">
            <a:avLst/>
          </a:prstGeom>
          <a:noFill/>
          <a:ln cap="flat" cmpd="sng" w="9525">
            <a:solidFill>
              <a:schemeClr val="dk2"/>
            </a:solidFill>
            <a:prstDash val="solid"/>
            <a:round/>
            <a:headEnd len="med" w="med" type="none"/>
            <a:tailEnd len="med" w="med" type="none"/>
          </a:ln>
        </p:spPr>
      </p:cxnSp>
      <p:cxnSp>
        <p:nvCxnSpPr>
          <p:cNvPr id="471" name="Google Shape;471;p48"/>
          <p:cNvCxnSpPr>
            <a:stCxn id="465" idx="3"/>
            <a:endCxn id="468" idx="1"/>
          </p:cNvCxnSpPr>
          <p:nvPr/>
        </p:nvCxnSpPr>
        <p:spPr>
          <a:xfrm flipH="1" rot="10800000">
            <a:off x="2334570" y="2545650"/>
            <a:ext cx="416100" cy="3000"/>
          </a:xfrm>
          <a:prstGeom prst="straightConnector1">
            <a:avLst/>
          </a:prstGeom>
          <a:noFill/>
          <a:ln cap="flat" cmpd="sng" w="9525">
            <a:solidFill>
              <a:schemeClr val="dk2"/>
            </a:solidFill>
            <a:prstDash val="solid"/>
            <a:round/>
            <a:headEnd len="med" w="med" type="none"/>
            <a:tailEnd len="med" w="med" type="none"/>
          </a:ln>
        </p:spPr>
      </p:cxnSp>
      <p:cxnSp>
        <p:nvCxnSpPr>
          <p:cNvPr id="472" name="Google Shape;472;p48"/>
          <p:cNvCxnSpPr>
            <a:stCxn id="465" idx="3"/>
            <a:endCxn id="467" idx="1"/>
          </p:cNvCxnSpPr>
          <p:nvPr/>
        </p:nvCxnSpPr>
        <p:spPr>
          <a:xfrm flipH="1" rot="10800000">
            <a:off x="2334570" y="1843650"/>
            <a:ext cx="416400" cy="705000"/>
          </a:xfrm>
          <a:prstGeom prst="bentConnector3">
            <a:avLst>
              <a:gd fmla="val 49982" name="adj1"/>
            </a:avLst>
          </a:prstGeom>
          <a:noFill/>
          <a:ln cap="flat" cmpd="sng" w="9525">
            <a:solidFill>
              <a:schemeClr val="dk2"/>
            </a:solidFill>
            <a:prstDash val="solid"/>
            <a:round/>
            <a:headEnd len="med" w="med" type="none"/>
            <a:tailEnd len="med" w="med" type="none"/>
          </a:ln>
        </p:spPr>
      </p:cxnSp>
      <p:cxnSp>
        <p:nvCxnSpPr>
          <p:cNvPr id="473" name="Google Shape;473;p48"/>
          <p:cNvCxnSpPr>
            <a:stCxn id="465" idx="3"/>
            <a:endCxn id="469" idx="1"/>
          </p:cNvCxnSpPr>
          <p:nvPr/>
        </p:nvCxnSpPr>
        <p:spPr>
          <a:xfrm>
            <a:off x="2334570" y="2548650"/>
            <a:ext cx="416400" cy="885900"/>
          </a:xfrm>
          <a:prstGeom prst="bentConnector3">
            <a:avLst>
              <a:gd fmla="val 49982" name="adj1"/>
            </a:avLst>
          </a:prstGeom>
          <a:noFill/>
          <a:ln cap="flat" cmpd="sng" w="9525">
            <a:solidFill>
              <a:schemeClr val="dk2"/>
            </a:solidFill>
            <a:prstDash val="solid"/>
            <a:round/>
            <a:headEnd len="med" w="med" type="none"/>
            <a:tailEnd len="med" w="med" type="none"/>
          </a:ln>
        </p:spPr>
      </p:cxnSp>
      <p:cxnSp>
        <p:nvCxnSpPr>
          <p:cNvPr id="474" name="Google Shape;474;p48"/>
          <p:cNvCxnSpPr>
            <a:stCxn id="468" idx="3"/>
            <a:endCxn id="466" idx="1"/>
          </p:cNvCxnSpPr>
          <p:nvPr/>
        </p:nvCxnSpPr>
        <p:spPr>
          <a:xfrm>
            <a:off x="3689220" y="2545641"/>
            <a:ext cx="264000" cy="397800"/>
          </a:xfrm>
          <a:prstGeom prst="bentConnector3">
            <a:avLst>
              <a:gd fmla="val 50026" name="adj1"/>
            </a:avLst>
          </a:prstGeom>
          <a:noFill/>
          <a:ln cap="flat" cmpd="sng" w="9525">
            <a:solidFill>
              <a:schemeClr val="dk2"/>
            </a:solidFill>
            <a:prstDash val="solid"/>
            <a:round/>
            <a:headEnd len="med" w="med" type="none"/>
            <a:tailEnd len="med" w="med" type="none"/>
          </a:ln>
        </p:spPr>
      </p:cxnSp>
      <p:cxnSp>
        <p:nvCxnSpPr>
          <p:cNvPr id="475" name="Google Shape;475;p48"/>
          <p:cNvCxnSpPr>
            <a:stCxn id="469" idx="3"/>
            <a:endCxn id="466" idx="1"/>
          </p:cNvCxnSpPr>
          <p:nvPr/>
        </p:nvCxnSpPr>
        <p:spPr>
          <a:xfrm flipH="1" rot="10800000">
            <a:off x="3689220" y="2943325"/>
            <a:ext cx="264000" cy="491100"/>
          </a:xfrm>
          <a:prstGeom prst="bentConnector3">
            <a:avLst>
              <a:gd fmla="val 50026" name="adj1"/>
            </a:avLst>
          </a:prstGeom>
          <a:noFill/>
          <a:ln cap="flat" cmpd="sng" w="9525">
            <a:solidFill>
              <a:schemeClr val="dk2"/>
            </a:solidFill>
            <a:prstDash val="solid"/>
            <a:round/>
            <a:headEnd len="med" w="med" type="none"/>
            <a:tailEnd len="med" w="med" type="none"/>
          </a:ln>
        </p:spPr>
      </p:cxnSp>
      <p:sp>
        <p:nvSpPr>
          <p:cNvPr id="476" name="Google Shape;476;p48"/>
          <p:cNvSpPr txBox="1"/>
          <p:nvPr/>
        </p:nvSpPr>
        <p:spPr>
          <a:xfrm>
            <a:off x="5284333" y="1925939"/>
            <a:ext cx="938400" cy="354000"/>
          </a:xfrm>
          <a:prstGeom prst="rect">
            <a:avLst/>
          </a:prstGeom>
          <a:solidFill>
            <a:srgbClr val="C9DAF8"/>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Program Belajar Khusus</a:t>
            </a:r>
            <a:endParaRPr sz="700"/>
          </a:p>
        </p:txBody>
      </p:sp>
      <p:sp>
        <p:nvSpPr>
          <p:cNvPr id="477" name="Google Shape;477;p48"/>
          <p:cNvSpPr txBox="1"/>
          <p:nvPr/>
        </p:nvSpPr>
        <p:spPr>
          <a:xfrm>
            <a:off x="3900720" y="1665189"/>
            <a:ext cx="938400" cy="354000"/>
          </a:xfrm>
          <a:prstGeom prst="rect">
            <a:avLst/>
          </a:prstGeom>
          <a:solidFill>
            <a:srgbClr val="D9EAD3"/>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Seminar Parenting</a:t>
            </a:r>
            <a:endParaRPr sz="700"/>
          </a:p>
        </p:txBody>
      </p:sp>
      <p:cxnSp>
        <p:nvCxnSpPr>
          <p:cNvPr id="478" name="Google Shape;478;p48"/>
          <p:cNvCxnSpPr>
            <a:stCxn id="467" idx="3"/>
            <a:endCxn id="477" idx="1"/>
          </p:cNvCxnSpPr>
          <p:nvPr/>
        </p:nvCxnSpPr>
        <p:spPr>
          <a:xfrm flipH="1" rot="10800000">
            <a:off x="3583920" y="1842087"/>
            <a:ext cx="316800" cy="1500"/>
          </a:xfrm>
          <a:prstGeom prst="straightConnector1">
            <a:avLst/>
          </a:prstGeom>
          <a:noFill/>
          <a:ln cap="flat" cmpd="sng" w="9525">
            <a:solidFill>
              <a:schemeClr val="dk2"/>
            </a:solidFill>
            <a:prstDash val="solid"/>
            <a:round/>
            <a:headEnd len="med" w="med" type="none"/>
            <a:tailEnd len="med" w="med" type="none"/>
          </a:ln>
        </p:spPr>
      </p:cxnSp>
      <p:cxnSp>
        <p:nvCxnSpPr>
          <p:cNvPr id="479" name="Google Shape;479;p48"/>
          <p:cNvCxnSpPr>
            <a:stCxn id="466" idx="0"/>
            <a:endCxn id="476" idx="1"/>
          </p:cNvCxnSpPr>
          <p:nvPr/>
        </p:nvCxnSpPr>
        <p:spPr>
          <a:xfrm rot="-5400000">
            <a:off x="4495458" y="1977500"/>
            <a:ext cx="663300" cy="914400"/>
          </a:xfrm>
          <a:prstGeom prst="curvedConnector2">
            <a:avLst/>
          </a:prstGeom>
          <a:noFill/>
          <a:ln cap="flat" cmpd="sng" w="9525">
            <a:solidFill>
              <a:schemeClr val="dk2"/>
            </a:solidFill>
            <a:prstDash val="solid"/>
            <a:round/>
            <a:headEnd len="med" w="med" type="none"/>
            <a:tailEnd len="med" w="med" type="none"/>
          </a:ln>
        </p:spPr>
      </p:cxnSp>
      <p:sp>
        <p:nvSpPr>
          <p:cNvPr id="480" name="Google Shape;480;p48"/>
          <p:cNvSpPr txBox="1"/>
          <p:nvPr/>
        </p:nvSpPr>
        <p:spPr>
          <a:xfrm>
            <a:off x="4017583" y="3334366"/>
            <a:ext cx="938400" cy="507900"/>
          </a:xfrm>
          <a:prstGeom prst="rect">
            <a:avLst/>
          </a:prstGeom>
          <a:solidFill>
            <a:srgbClr val="F4CCCC"/>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Gangguan Perilaku / Belajar</a:t>
            </a:r>
            <a:endParaRPr sz="700"/>
          </a:p>
        </p:txBody>
      </p:sp>
      <p:cxnSp>
        <p:nvCxnSpPr>
          <p:cNvPr id="481" name="Google Shape;481;p48"/>
          <p:cNvCxnSpPr>
            <a:stCxn id="466" idx="2"/>
            <a:endCxn id="480" idx="1"/>
          </p:cNvCxnSpPr>
          <p:nvPr/>
        </p:nvCxnSpPr>
        <p:spPr>
          <a:xfrm rot="5400000">
            <a:off x="3959808" y="3178250"/>
            <a:ext cx="468000" cy="352200"/>
          </a:xfrm>
          <a:prstGeom prst="curvedConnector4">
            <a:avLst>
              <a:gd fmla="val 22865" name="adj1"/>
              <a:gd fmla="val 167646" name="adj2"/>
            </a:avLst>
          </a:prstGeom>
          <a:noFill/>
          <a:ln cap="flat" cmpd="sng" w="9525">
            <a:solidFill>
              <a:schemeClr val="dk2"/>
            </a:solidFill>
            <a:prstDash val="solid"/>
            <a:round/>
            <a:headEnd len="med" w="med" type="none"/>
            <a:tailEnd len="med" w="med" type="none"/>
          </a:ln>
        </p:spPr>
      </p:cxnSp>
      <p:sp>
        <p:nvSpPr>
          <p:cNvPr id="482" name="Google Shape;482;p48"/>
          <p:cNvSpPr txBox="1"/>
          <p:nvPr/>
        </p:nvSpPr>
        <p:spPr>
          <a:xfrm>
            <a:off x="5291991" y="2814600"/>
            <a:ext cx="1250400" cy="200100"/>
          </a:xfrm>
          <a:prstGeom prst="rect">
            <a:avLst/>
          </a:prstGeom>
          <a:solidFill>
            <a:srgbClr val="D5A6BD"/>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Terapi Konseling</a:t>
            </a:r>
            <a:endParaRPr sz="700"/>
          </a:p>
        </p:txBody>
      </p:sp>
      <p:sp>
        <p:nvSpPr>
          <p:cNvPr id="483" name="Google Shape;483;p48"/>
          <p:cNvSpPr txBox="1"/>
          <p:nvPr/>
        </p:nvSpPr>
        <p:spPr>
          <a:xfrm>
            <a:off x="5284316" y="3090593"/>
            <a:ext cx="1250400" cy="200100"/>
          </a:xfrm>
          <a:prstGeom prst="rect">
            <a:avLst/>
          </a:prstGeom>
          <a:solidFill>
            <a:srgbClr val="D5A6BD"/>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Program Sanksi Sosial</a:t>
            </a:r>
            <a:endParaRPr sz="700"/>
          </a:p>
        </p:txBody>
      </p:sp>
      <p:sp>
        <p:nvSpPr>
          <p:cNvPr id="484" name="Google Shape;484;p48"/>
          <p:cNvSpPr txBox="1"/>
          <p:nvPr/>
        </p:nvSpPr>
        <p:spPr>
          <a:xfrm>
            <a:off x="5284316" y="3366586"/>
            <a:ext cx="1250400" cy="200100"/>
          </a:xfrm>
          <a:prstGeom prst="rect">
            <a:avLst/>
          </a:prstGeom>
          <a:solidFill>
            <a:srgbClr val="D5A6BD"/>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Kurikulum Individu</a:t>
            </a:r>
            <a:endParaRPr sz="700"/>
          </a:p>
        </p:txBody>
      </p:sp>
      <p:sp>
        <p:nvSpPr>
          <p:cNvPr id="485" name="Google Shape;485;p48"/>
          <p:cNvSpPr txBox="1"/>
          <p:nvPr/>
        </p:nvSpPr>
        <p:spPr>
          <a:xfrm>
            <a:off x="5284316" y="3654999"/>
            <a:ext cx="1250400" cy="200100"/>
          </a:xfrm>
          <a:prstGeom prst="rect">
            <a:avLst/>
          </a:prstGeom>
          <a:solidFill>
            <a:srgbClr val="D5A6BD"/>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Terapi Perilaku</a:t>
            </a:r>
            <a:endParaRPr sz="700"/>
          </a:p>
        </p:txBody>
      </p:sp>
      <p:sp>
        <p:nvSpPr>
          <p:cNvPr id="486" name="Google Shape;486;p48"/>
          <p:cNvSpPr txBox="1"/>
          <p:nvPr/>
        </p:nvSpPr>
        <p:spPr>
          <a:xfrm>
            <a:off x="5291991" y="3930358"/>
            <a:ext cx="1250400" cy="200100"/>
          </a:xfrm>
          <a:prstGeom prst="rect">
            <a:avLst/>
          </a:prstGeom>
          <a:solidFill>
            <a:srgbClr val="D5A6BD"/>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Terapi Wicara</a:t>
            </a:r>
            <a:endParaRPr sz="700"/>
          </a:p>
        </p:txBody>
      </p:sp>
      <p:sp>
        <p:nvSpPr>
          <p:cNvPr id="487" name="Google Shape;487;p48"/>
          <p:cNvSpPr txBox="1"/>
          <p:nvPr/>
        </p:nvSpPr>
        <p:spPr>
          <a:xfrm>
            <a:off x="5284316" y="4205717"/>
            <a:ext cx="1250400" cy="200100"/>
          </a:xfrm>
          <a:prstGeom prst="rect">
            <a:avLst/>
          </a:prstGeom>
          <a:solidFill>
            <a:srgbClr val="D5A6BD"/>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Guru Shadow</a:t>
            </a:r>
            <a:endParaRPr sz="700"/>
          </a:p>
        </p:txBody>
      </p:sp>
      <p:sp>
        <p:nvSpPr>
          <p:cNvPr id="488" name="Google Shape;488;p48"/>
          <p:cNvSpPr txBox="1"/>
          <p:nvPr/>
        </p:nvSpPr>
        <p:spPr>
          <a:xfrm>
            <a:off x="5300791" y="2536199"/>
            <a:ext cx="1250400" cy="200100"/>
          </a:xfrm>
          <a:prstGeom prst="rect">
            <a:avLst/>
          </a:prstGeom>
          <a:solidFill>
            <a:srgbClr val="D5A6BD"/>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Consent Ortu</a:t>
            </a:r>
            <a:endParaRPr sz="700"/>
          </a:p>
        </p:txBody>
      </p:sp>
      <p:cxnSp>
        <p:nvCxnSpPr>
          <p:cNvPr id="489" name="Google Shape;489;p48"/>
          <p:cNvCxnSpPr>
            <a:stCxn id="480" idx="3"/>
            <a:endCxn id="488" idx="1"/>
          </p:cNvCxnSpPr>
          <p:nvPr/>
        </p:nvCxnSpPr>
        <p:spPr>
          <a:xfrm flipH="1" rot="10800000">
            <a:off x="4955983" y="2636116"/>
            <a:ext cx="344700" cy="952200"/>
          </a:xfrm>
          <a:prstGeom prst="curvedConnector3">
            <a:avLst>
              <a:gd fmla="val 50016" name="adj1"/>
            </a:avLst>
          </a:prstGeom>
          <a:noFill/>
          <a:ln cap="flat" cmpd="sng" w="9525">
            <a:solidFill>
              <a:schemeClr val="dk2"/>
            </a:solidFill>
            <a:prstDash val="solid"/>
            <a:round/>
            <a:headEnd len="med" w="med" type="none"/>
            <a:tailEnd len="med" w="med" type="none"/>
          </a:ln>
        </p:spPr>
      </p:cxnSp>
      <p:cxnSp>
        <p:nvCxnSpPr>
          <p:cNvPr id="490" name="Google Shape;490;p48"/>
          <p:cNvCxnSpPr>
            <a:stCxn id="480" idx="3"/>
            <a:endCxn id="482" idx="1"/>
          </p:cNvCxnSpPr>
          <p:nvPr/>
        </p:nvCxnSpPr>
        <p:spPr>
          <a:xfrm flipH="1" rot="10800000">
            <a:off x="4955983" y="2914516"/>
            <a:ext cx="336000" cy="673800"/>
          </a:xfrm>
          <a:prstGeom prst="curvedConnector3">
            <a:avLst>
              <a:gd fmla="val 50001" name="adj1"/>
            </a:avLst>
          </a:prstGeom>
          <a:noFill/>
          <a:ln cap="flat" cmpd="sng" w="9525">
            <a:solidFill>
              <a:schemeClr val="dk2"/>
            </a:solidFill>
            <a:prstDash val="solid"/>
            <a:round/>
            <a:headEnd len="med" w="med" type="none"/>
            <a:tailEnd len="med" w="med" type="none"/>
          </a:ln>
        </p:spPr>
      </p:cxnSp>
      <p:cxnSp>
        <p:nvCxnSpPr>
          <p:cNvPr id="491" name="Google Shape;491;p48"/>
          <p:cNvCxnSpPr>
            <a:stCxn id="480" idx="3"/>
          </p:cNvCxnSpPr>
          <p:nvPr/>
        </p:nvCxnSpPr>
        <p:spPr>
          <a:xfrm flipH="1" rot="10800000">
            <a:off x="4955983" y="3269716"/>
            <a:ext cx="333000" cy="3186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492" name="Google Shape;492;p48"/>
          <p:cNvCxnSpPr>
            <a:stCxn id="480" idx="3"/>
            <a:endCxn id="484" idx="1"/>
          </p:cNvCxnSpPr>
          <p:nvPr/>
        </p:nvCxnSpPr>
        <p:spPr>
          <a:xfrm flipH="1" rot="10800000">
            <a:off x="4955983" y="3466516"/>
            <a:ext cx="328200" cy="121800"/>
          </a:xfrm>
          <a:prstGeom prst="curvedConnector3">
            <a:avLst>
              <a:gd fmla="val 50020" name="adj1"/>
            </a:avLst>
          </a:prstGeom>
          <a:noFill/>
          <a:ln cap="flat" cmpd="sng" w="9525">
            <a:solidFill>
              <a:schemeClr val="dk2"/>
            </a:solidFill>
            <a:prstDash val="solid"/>
            <a:round/>
            <a:headEnd len="med" w="med" type="none"/>
            <a:tailEnd len="med" w="med" type="none"/>
          </a:ln>
        </p:spPr>
      </p:cxnSp>
      <p:cxnSp>
        <p:nvCxnSpPr>
          <p:cNvPr id="493" name="Google Shape;493;p48"/>
          <p:cNvCxnSpPr>
            <a:stCxn id="480" idx="3"/>
          </p:cNvCxnSpPr>
          <p:nvPr/>
        </p:nvCxnSpPr>
        <p:spPr>
          <a:xfrm>
            <a:off x="4955983" y="3588316"/>
            <a:ext cx="359100" cy="2559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494" name="Google Shape;494;p48"/>
          <p:cNvCxnSpPr>
            <a:stCxn id="480" idx="3"/>
            <a:endCxn id="486" idx="1"/>
          </p:cNvCxnSpPr>
          <p:nvPr/>
        </p:nvCxnSpPr>
        <p:spPr>
          <a:xfrm>
            <a:off x="4955983" y="3588316"/>
            <a:ext cx="336000" cy="442200"/>
          </a:xfrm>
          <a:prstGeom prst="curvedConnector3">
            <a:avLst>
              <a:gd fmla="val 50001" name="adj1"/>
            </a:avLst>
          </a:prstGeom>
          <a:noFill/>
          <a:ln cap="flat" cmpd="sng" w="9525">
            <a:solidFill>
              <a:schemeClr val="dk2"/>
            </a:solidFill>
            <a:prstDash val="solid"/>
            <a:round/>
            <a:headEnd len="med" w="med" type="none"/>
            <a:tailEnd len="med" w="med" type="none"/>
          </a:ln>
        </p:spPr>
      </p:cxnSp>
      <p:cxnSp>
        <p:nvCxnSpPr>
          <p:cNvPr id="495" name="Google Shape;495;p48"/>
          <p:cNvCxnSpPr>
            <a:stCxn id="480" idx="3"/>
            <a:endCxn id="487" idx="1"/>
          </p:cNvCxnSpPr>
          <p:nvPr/>
        </p:nvCxnSpPr>
        <p:spPr>
          <a:xfrm>
            <a:off x="4955983" y="3588316"/>
            <a:ext cx="328200" cy="717600"/>
          </a:xfrm>
          <a:prstGeom prst="curvedConnector3">
            <a:avLst>
              <a:gd fmla="val 50020" name="adj1"/>
            </a:avLst>
          </a:prstGeom>
          <a:noFill/>
          <a:ln cap="flat" cmpd="sng" w="9525">
            <a:solidFill>
              <a:schemeClr val="dk2"/>
            </a:solidFill>
            <a:prstDash val="solid"/>
            <a:round/>
            <a:headEnd len="med" w="med" type="none"/>
            <a:tailEnd len="med" w="med" type="none"/>
          </a:ln>
        </p:spPr>
      </p:cxnSp>
      <p:sp>
        <p:nvSpPr>
          <p:cNvPr id="496" name="Google Shape;496;p48"/>
          <p:cNvSpPr txBox="1"/>
          <p:nvPr/>
        </p:nvSpPr>
        <p:spPr>
          <a:xfrm>
            <a:off x="6987108" y="1848991"/>
            <a:ext cx="938400" cy="354000"/>
          </a:xfrm>
          <a:prstGeom prst="rect">
            <a:avLst/>
          </a:prstGeom>
          <a:solidFill>
            <a:srgbClr val="CFE2F3"/>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Perilaku Siswa Kooperatif</a:t>
            </a:r>
            <a:endParaRPr sz="700"/>
          </a:p>
        </p:txBody>
      </p:sp>
      <p:cxnSp>
        <p:nvCxnSpPr>
          <p:cNvPr id="497" name="Google Shape;497;p48"/>
          <p:cNvCxnSpPr>
            <a:stCxn id="496" idx="1"/>
            <a:endCxn id="484" idx="3"/>
          </p:cNvCxnSpPr>
          <p:nvPr/>
        </p:nvCxnSpPr>
        <p:spPr>
          <a:xfrm flipH="1">
            <a:off x="6534708" y="2025991"/>
            <a:ext cx="452400" cy="1440600"/>
          </a:xfrm>
          <a:prstGeom prst="curvedConnector3">
            <a:avLst>
              <a:gd fmla="val 49999" name="adj1"/>
            </a:avLst>
          </a:prstGeom>
          <a:noFill/>
          <a:ln cap="flat" cmpd="sng" w="9525">
            <a:solidFill>
              <a:schemeClr val="dk2"/>
            </a:solidFill>
            <a:prstDash val="solid"/>
            <a:round/>
            <a:headEnd len="med" w="med" type="none"/>
            <a:tailEnd len="med" w="med" type="none"/>
          </a:ln>
        </p:spPr>
      </p:cxnSp>
      <p:pic>
        <p:nvPicPr>
          <p:cNvPr id="498" name="Google Shape;498;p48"/>
          <p:cNvPicPr preferRelativeResize="0"/>
          <p:nvPr/>
        </p:nvPicPr>
        <p:blipFill>
          <a:blip r:embed="rId5">
            <a:alphaModFix/>
          </a:blip>
          <a:stretch>
            <a:fillRect/>
          </a:stretch>
        </p:blipFill>
        <p:spPr>
          <a:xfrm>
            <a:off x="8071768" y="1837347"/>
            <a:ext cx="664147" cy="717600"/>
          </a:xfrm>
          <a:prstGeom prst="rect">
            <a:avLst/>
          </a:prstGeom>
          <a:noFill/>
          <a:ln>
            <a:noFill/>
          </a:ln>
        </p:spPr>
      </p:pic>
      <p:sp>
        <p:nvSpPr>
          <p:cNvPr id="499" name="Google Shape;499;p48"/>
          <p:cNvSpPr txBox="1"/>
          <p:nvPr/>
        </p:nvSpPr>
        <p:spPr>
          <a:xfrm>
            <a:off x="7047933" y="2714791"/>
            <a:ext cx="938400" cy="354000"/>
          </a:xfrm>
          <a:prstGeom prst="rect">
            <a:avLst/>
          </a:prstGeom>
          <a:solidFill>
            <a:srgbClr val="FFD966"/>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Perilaku Siswa Non Kooperatif</a:t>
            </a:r>
            <a:endParaRPr sz="700"/>
          </a:p>
        </p:txBody>
      </p:sp>
      <p:sp>
        <p:nvSpPr>
          <p:cNvPr id="500" name="Google Shape;500;p48"/>
          <p:cNvSpPr txBox="1"/>
          <p:nvPr/>
        </p:nvSpPr>
        <p:spPr>
          <a:xfrm>
            <a:off x="7669041" y="3176824"/>
            <a:ext cx="1250400" cy="200100"/>
          </a:xfrm>
          <a:prstGeom prst="rect">
            <a:avLst/>
          </a:prstGeom>
          <a:solidFill>
            <a:srgbClr val="D5A6BD"/>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Intervensi Psikolog</a:t>
            </a:r>
            <a:endParaRPr sz="700"/>
          </a:p>
        </p:txBody>
      </p:sp>
      <p:sp>
        <p:nvSpPr>
          <p:cNvPr id="501" name="Google Shape;501;p48"/>
          <p:cNvSpPr txBox="1"/>
          <p:nvPr/>
        </p:nvSpPr>
        <p:spPr>
          <a:xfrm>
            <a:off x="7734314" y="3580599"/>
            <a:ext cx="1250400" cy="200100"/>
          </a:xfrm>
          <a:prstGeom prst="rect">
            <a:avLst/>
          </a:prstGeom>
          <a:solidFill>
            <a:srgbClr val="F4CCCC"/>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Sanksi Administratif</a:t>
            </a:r>
            <a:endParaRPr sz="700"/>
          </a:p>
        </p:txBody>
      </p:sp>
      <p:cxnSp>
        <p:nvCxnSpPr>
          <p:cNvPr id="502" name="Google Shape;502;p48"/>
          <p:cNvCxnSpPr>
            <a:stCxn id="488" idx="3"/>
            <a:endCxn id="499" idx="1"/>
          </p:cNvCxnSpPr>
          <p:nvPr/>
        </p:nvCxnSpPr>
        <p:spPr>
          <a:xfrm>
            <a:off x="6551191" y="2636249"/>
            <a:ext cx="496800" cy="255600"/>
          </a:xfrm>
          <a:prstGeom prst="curvedConnector3">
            <a:avLst>
              <a:gd fmla="val 49994" name="adj1"/>
            </a:avLst>
          </a:prstGeom>
          <a:noFill/>
          <a:ln cap="flat" cmpd="sng" w="9525">
            <a:solidFill>
              <a:schemeClr val="dk2"/>
            </a:solidFill>
            <a:prstDash val="solid"/>
            <a:round/>
            <a:headEnd len="med" w="med" type="none"/>
            <a:tailEnd len="med" w="med" type="none"/>
          </a:ln>
        </p:spPr>
      </p:cxnSp>
      <p:cxnSp>
        <p:nvCxnSpPr>
          <p:cNvPr id="503" name="Google Shape;503;p48"/>
          <p:cNvCxnSpPr>
            <a:stCxn id="499" idx="2"/>
            <a:endCxn id="500" idx="0"/>
          </p:cNvCxnSpPr>
          <p:nvPr/>
        </p:nvCxnSpPr>
        <p:spPr>
          <a:xfrm flipH="1" rot="-5400000">
            <a:off x="7851633" y="2734291"/>
            <a:ext cx="108000" cy="777000"/>
          </a:xfrm>
          <a:prstGeom prst="curvedConnector3">
            <a:avLst>
              <a:gd fmla="val 50015" name="adj1"/>
            </a:avLst>
          </a:prstGeom>
          <a:noFill/>
          <a:ln cap="flat" cmpd="sng" w="9525">
            <a:solidFill>
              <a:schemeClr val="dk2"/>
            </a:solidFill>
            <a:prstDash val="solid"/>
            <a:round/>
            <a:headEnd len="med" w="med" type="none"/>
            <a:tailEnd len="med" w="med" type="none"/>
          </a:ln>
        </p:spPr>
      </p:cxnSp>
      <p:cxnSp>
        <p:nvCxnSpPr>
          <p:cNvPr id="504" name="Google Shape;504;p48"/>
          <p:cNvCxnSpPr>
            <a:stCxn id="499" idx="2"/>
            <a:endCxn id="501" idx="1"/>
          </p:cNvCxnSpPr>
          <p:nvPr/>
        </p:nvCxnSpPr>
        <p:spPr>
          <a:xfrm flipH="1" rot="-5400000">
            <a:off x="7319733" y="3266191"/>
            <a:ext cx="612000" cy="217200"/>
          </a:xfrm>
          <a:prstGeom prst="curvedConnector2">
            <a:avLst/>
          </a:prstGeom>
          <a:noFill/>
          <a:ln cap="flat" cmpd="sng" w="9525">
            <a:solidFill>
              <a:schemeClr val="dk2"/>
            </a:solidFill>
            <a:prstDash val="solid"/>
            <a:round/>
            <a:headEnd len="med" w="med" type="none"/>
            <a:tailEnd len="med" w="med" type="none"/>
          </a:ln>
        </p:spPr>
      </p:cxnSp>
      <p:pic>
        <p:nvPicPr>
          <p:cNvPr id="505" name="Google Shape;505;p48"/>
          <p:cNvPicPr preferRelativeResize="0"/>
          <p:nvPr/>
        </p:nvPicPr>
        <p:blipFill>
          <a:blip r:embed="rId6">
            <a:alphaModFix/>
          </a:blip>
          <a:stretch>
            <a:fillRect/>
          </a:stretch>
        </p:blipFill>
        <p:spPr>
          <a:xfrm>
            <a:off x="7986318" y="3865593"/>
            <a:ext cx="938400" cy="938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pic>
        <p:nvPicPr>
          <p:cNvPr id="510" name="Google Shape;510;p49"/>
          <p:cNvPicPr preferRelativeResize="0"/>
          <p:nvPr/>
        </p:nvPicPr>
        <p:blipFill rotWithShape="1">
          <a:blip r:embed="rId3">
            <a:alphaModFix/>
          </a:blip>
          <a:srcRect b="0" l="0" r="0" t="9281"/>
          <a:stretch/>
        </p:blipFill>
        <p:spPr>
          <a:xfrm>
            <a:off x="0" y="474049"/>
            <a:ext cx="9144000" cy="4633751"/>
          </a:xfrm>
          <a:prstGeom prst="rect">
            <a:avLst/>
          </a:prstGeom>
          <a:noFill/>
          <a:ln>
            <a:noFill/>
          </a:ln>
        </p:spPr>
      </p:pic>
      <p:sp>
        <p:nvSpPr>
          <p:cNvPr id="511" name="Google Shape;511;p49"/>
          <p:cNvSpPr txBox="1"/>
          <p:nvPr/>
        </p:nvSpPr>
        <p:spPr>
          <a:xfrm>
            <a:off x="406387" y="118946"/>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ALUR PENANGANAN PROGRAM INKLUSI</a:t>
            </a:r>
            <a:endParaRPr b="1" sz="1800">
              <a:solidFill>
                <a:srgbClr val="002646"/>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0"/>
          <p:cNvSpPr txBox="1"/>
          <p:nvPr>
            <p:ph type="title"/>
          </p:nvPr>
        </p:nvSpPr>
        <p:spPr>
          <a:xfrm>
            <a:off x="628650" y="118723"/>
            <a:ext cx="7756200" cy="670800"/>
          </a:xfrm>
          <a:prstGeom prst="rect">
            <a:avLst/>
          </a:prstGeom>
          <a:noFill/>
          <a:ln>
            <a:noFill/>
          </a:ln>
        </p:spPr>
        <p:txBody>
          <a:bodyPr anchorCtr="0" anchor="ctr" bIns="22850" lIns="45725" spcFirstLastPara="1" rIns="45725" wrap="square" tIns="22850">
            <a:normAutofit/>
          </a:bodyPr>
          <a:lstStyle/>
          <a:p>
            <a:pPr indent="0" lvl="0" marL="0" rtl="0" algn="ctr">
              <a:spcBef>
                <a:spcPts val="0"/>
              </a:spcBef>
              <a:spcAft>
                <a:spcPts val="0"/>
              </a:spcAft>
              <a:buClr>
                <a:schemeClr val="dk1"/>
              </a:buClr>
              <a:buSzPts val="2000"/>
              <a:buFont typeface="Poppins"/>
              <a:buNone/>
            </a:pPr>
            <a:r>
              <a:rPr b="1" lang="id" sz="2000">
                <a:latin typeface="Poppins"/>
                <a:ea typeface="Poppins"/>
                <a:cs typeface="Poppins"/>
                <a:sym typeface="Poppins"/>
              </a:rPr>
              <a:t>Rekomendasi Program Psikolog Klinis di Sekolah</a:t>
            </a:r>
            <a:endParaRPr b="1" sz="2000">
              <a:latin typeface="Poppins"/>
              <a:ea typeface="Poppins"/>
              <a:cs typeface="Poppins"/>
              <a:sym typeface="Poppins"/>
            </a:endParaRPr>
          </a:p>
        </p:txBody>
      </p:sp>
      <p:grpSp>
        <p:nvGrpSpPr>
          <p:cNvPr id="517" name="Google Shape;517;p50"/>
          <p:cNvGrpSpPr/>
          <p:nvPr/>
        </p:nvGrpSpPr>
        <p:grpSpPr>
          <a:xfrm>
            <a:off x="1103010" y="1114215"/>
            <a:ext cx="7109600" cy="3670414"/>
            <a:chOff x="343597" y="2639"/>
            <a:chExt cx="14219199" cy="7340829"/>
          </a:xfrm>
        </p:grpSpPr>
        <p:sp>
          <p:nvSpPr>
            <p:cNvPr id="518" name="Google Shape;518;p50"/>
            <p:cNvSpPr/>
            <p:nvPr/>
          </p:nvSpPr>
          <p:spPr>
            <a:xfrm>
              <a:off x="343597" y="2639"/>
              <a:ext cx="3306600" cy="2278200"/>
            </a:xfrm>
            <a:prstGeom prst="roundRect">
              <a:avLst>
                <a:gd fmla="val 16667" name="adj"/>
              </a:avLst>
            </a:prstGeom>
            <a:blipFill rotWithShape="1">
              <a:blip r:embed="rId3">
                <a:alphaModFix/>
              </a:blip>
              <a:stretch>
                <a:fillRect b="-4999" l="0" r="0" t="-4999"/>
              </a:stretch>
            </a:blipFill>
            <a:ln cap="flat" cmpd="sng" w="25400">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19" name="Google Shape;519;p50"/>
            <p:cNvSpPr/>
            <p:nvPr/>
          </p:nvSpPr>
          <p:spPr>
            <a:xfrm>
              <a:off x="343597" y="2280971"/>
              <a:ext cx="3306600" cy="12267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20" name="Google Shape;520;p50"/>
            <p:cNvSpPr txBox="1"/>
            <p:nvPr/>
          </p:nvSpPr>
          <p:spPr>
            <a:xfrm>
              <a:off x="343597" y="2280971"/>
              <a:ext cx="3306600" cy="1226700"/>
            </a:xfrm>
            <a:prstGeom prst="rect">
              <a:avLst/>
            </a:prstGeom>
            <a:noFill/>
            <a:ln>
              <a:noFill/>
            </a:ln>
          </p:spPr>
          <p:txBody>
            <a:bodyPr anchorCtr="0" anchor="t" bIns="0" lIns="64000" spcFirstLastPara="1" rIns="64000" wrap="square" tIns="64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Screening Kognitif dan Karakter Siswa</a:t>
              </a:r>
              <a:endParaRPr b="1" sz="900">
                <a:solidFill>
                  <a:schemeClr val="dk1"/>
                </a:solidFill>
                <a:latin typeface="Calibri"/>
                <a:ea typeface="Calibri"/>
                <a:cs typeface="Calibri"/>
                <a:sym typeface="Calibri"/>
              </a:endParaRPr>
            </a:p>
          </p:txBody>
        </p:sp>
        <p:sp>
          <p:nvSpPr>
            <p:cNvPr id="521" name="Google Shape;521;p50"/>
            <p:cNvSpPr/>
            <p:nvPr/>
          </p:nvSpPr>
          <p:spPr>
            <a:xfrm>
              <a:off x="3981130" y="2639"/>
              <a:ext cx="3306600" cy="2278200"/>
            </a:xfrm>
            <a:prstGeom prst="roundRect">
              <a:avLst>
                <a:gd fmla="val 16667" name="adj"/>
              </a:avLst>
            </a:prstGeom>
            <a:blipFill rotWithShape="1">
              <a:blip r:embed="rId4">
                <a:alphaModFix/>
              </a:blip>
              <a:stretch>
                <a:fillRect b="0" l="-1000" r="-1000" t="0"/>
              </a:stretch>
            </a:blipFill>
            <a:ln cap="flat" cmpd="sng" w="25400">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22" name="Google Shape;522;p50"/>
            <p:cNvSpPr/>
            <p:nvPr/>
          </p:nvSpPr>
          <p:spPr>
            <a:xfrm>
              <a:off x="3981130" y="2280971"/>
              <a:ext cx="3306600" cy="12267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23" name="Google Shape;523;p50"/>
            <p:cNvSpPr txBox="1"/>
            <p:nvPr/>
          </p:nvSpPr>
          <p:spPr>
            <a:xfrm>
              <a:off x="3981130" y="2280971"/>
              <a:ext cx="3306600" cy="1226700"/>
            </a:xfrm>
            <a:prstGeom prst="rect">
              <a:avLst/>
            </a:prstGeom>
            <a:noFill/>
            <a:ln>
              <a:noFill/>
            </a:ln>
          </p:spPr>
          <p:txBody>
            <a:bodyPr anchorCtr="0" anchor="t" bIns="0" lIns="64000" spcFirstLastPara="1" rIns="64000" wrap="square" tIns="64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Pendampingan Program Kurikulum Inklusi</a:t>
              </a:r>
              <a:endParaRPr b="1" sz="900">
                <a:solidFill>
                  <a:schemeClr val="dk1"/>
                </a:solidFill>
                <a:latin typeface="Calibri"/>
                <a:ea typeface="Calibri"/>
                <a:cs typeface="Calibri"/>
                <a:sym typeface="Calibri"/>
              </a:endParaRPr>
            </a:p>
          </p:txBody>
        </p:sp>
        <p:sp>
          <p:nvSpPr>
            <p:cNvPr id="524" name="Google Shape;524;p50"/>
            <p:cNvSpPr/>
            <p:nvPr/>
          </p:nvSpPr>
          <p:spPr>
            <a:xfrm>
              <a:off x="7618663" y="2639"/>
              <a:ext cx="3306600" cy="2278200"/>
            </a:xfrm>
            <a:prstGeom prst="roundRect">
              <a:avLst>
                <a:gd fmla="val 16667" name="adj"/>
              </a:avLst>
            </a:prstGeom>
            <a:blipFill rotWithShape="1">
              <a:blip r:embed="rId5">
                <a:alphaModFix/>
              </a:blip>
              <a:stretch>
                <a:fillRect b="0" l="-10999" r="-10999" t="0"/>
              </a:stretch>
            </a:blipFill>
            <a:ln cap="flat" cmpd="sng" w="25400">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25" name="Google Shape;525;p50"/>
            <p:cNvSpPr/>
            <p:nvPr/>
          </p:nvSpPr>
          <p:spPr>
            <a:xfrm>
              <a:off x="7618663" y="2280971"/>
              <a:ext cx="3306600" cy="12267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26" name="Google Shape;526;p50"/>
            <p:cNvSpPr txBox="1"/>
            <p:nvPr/>
          </p:nvSpPr>
          <p:spPr>
            <a:xfrm>
              <a:off x="7618663" y="2280971"/>
              <a:ext cx="3306600" cy="1226700"/>
            </a:xfrm>
            <a:prstGeom prst="rect">
              <a:avLst/>
            </a:prstGeom>
            <a:noFill/>
            <a:ln>
              <a:noFill/>
            </a:ln>
          </p:spPr>
          <p:txBody>
            <a:bodyPr anchorCtr="0" anchor="t" bIns="0" lIns="64000" spcFirstLastPara="1" rIns="64000" wrap="square" tIns="64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Psikolog bersama Sekolah Konseling Bersama untuk Program Inklusi</a:t>
              </a:r>
              <a:endParaRPr b="1" sz="900">
                <a:solidFill>
                  <a:schemeClr val="dk1"/>
                </a:solidFill>
                <a:latin typeface="Calibri"/>
                <a:ea typeface="Calibri"/>
                <a:cs typeface="Calibri"/>
                <a:sym typeface="Calibri"/>
              </a:endParaRPr>
            </a:p>
          </p:txBody>
        </p:sp>
        <p:sp>
          <p:nvSpPr>
            <p:cNvPr id="527" name="Google Shape;527;p50"/>
            <p:cNvSpPr/>
            <p:nvPr/>
          </p:nvSpPr>
          <p:spPr>
            <a:xfrm>
              <a:off x="11256196" y="2639"/>
              <a:ext cx="3306600" cy="2278200"/>
            </a:xfrm>
            <a:prstGeom prst="roundRect">
              <a:avLst>
                <a:gd fmla="val 16667" name="adj"/>
              </a:avLst>
            </a:prstGeom>
            <a:blipFill rotWithShape="1">
              <a:blip r:embed="rId6">
                <a:alphaModFix/>
              </a:blip>
              <a:stretch>
                <a:fillRect b="-3000" l="0" r="0" t="-3000"/>
              </a:stretch>
            </a:blipFill>
            <a:ln cap="flat" cmpd="sng" w="25400">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28" name="Google Shape;528;p50"/>
            <p:cNvSpPr/>
            <p:nvPr/>
          </p:nvSpPr>
          <p:spPr>
            <a:xfrm>
              <a:off x="11256196" y="2280971"/>
              <a:ext cx="3306600" cy="12267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29" name="Google Shape;529;p50"/>
            <p:cNvSpPr txBox="1"/>
            <p:nvPr/>
          </p:nvSpPr>
          <p:spPr>
            <a:xfrm>
              <a:off x="11256196" y="2280971"/>
              <a:ext cx="3306600" cy="1226700"/>
            </a:xfrm>
            <a:prstGeom prst="rect">
              <a:avLst/>
            </a:prstGeom>
            <a:noFill/>
            <a:ln>
              <a:noFill/>
            </a:ln>
          </p:spPr>
          <p:txBody>
            <a:bodyPr anchorCtr="0" anchor="t" bIns="0" lIns="64000" spcFirstLastPara="1" rIns="64000" wrap="square" tIns="64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Fasilitasi jenis terapi yang tepat untuk siswa program Inklusi (Berbasis ABA)</a:t>
              </a:r>
              <a:endParaRPr b="1" sz="900">
                <a:solidFill>
                  <a:schemeClr val="dk1"/>
                </a:solidFill>
                <a:latin typeface="Calibri"/>
                <a:ea typeface="Calibri"/>
                <a:cs typeface="Calibri"/>
                <a:sym typeface="Calibri"/>
              </a:endParaRPr>
            </a:p>
          </p:txBody>
        </p:sp>
        <p:sp>
          <p:nvSpPr>
            <p:cNvPr id="530" name="Google Shape;530;p50"/>
            <p:cNvSpPr/>
            <p:nvPr/>
          </p:nvSpPr>
          <p:spPr>
            <a:xfrm>
              <a:off x="3981130" y="3838437"/>
              <a:ext cx="3306600" cy="2278200"/>
            </a:xfrm>
            <a:prstGeom prst="roundRect">
              <a:avLst>
                <a:gd fmla="val 16667" name="adj"/>
              </a:avLst>
            </a:prstGeom>
            <a:blipFill rotWithShape="1">
              <a:blip r:embed="rId7">
                <a:alphaModFix/>
              </a:blip>
              <a:stretch>
                <a:fillRect b="0" l="-2000" r="-2000" t="0"/>
              </a:stretch>
            </a:blipFill>
            <a:ln cap="flat" cmpd="sng" w="25400">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31" name="Google Shape;531;p50"/>
            <p:cNvSpPr/>
            <p:nvPr/>
          </p:nvSpPr>
          <p:spPr>
            <a:xfrm>
              <a:off x="3981130" y="6116768"/>
              <a:ext cx="3306600" cy="12267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32" name="Google Shape;532;p50"/>
            <p:cNvSpPr txBox="1"/>
            <p:nvPr/>
          </p:nvSpPr>
          <p:spPr>
            <a:xfrm>
              <a:off x="3981130" y="6116768"/>
              <a:ext cx="3306600" cy="1226700"/>
            </a:xfrm>
            <a:prstGeom prst="rect">
              <a:avLst/>
            </a:prstGeom>
            <a:noFill/>
            <a:ln>
              <a:noFill/>
            </a:ln>
          </p:spPr>
          <p:txBody>
            <a:bodyPr anchorCtr="0" anchor="t" bIns="0" lIns="64000" spcFirstLastPara="1" rIns="64000" wrap="square" tIns="64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Fasilitasi Parenting Seminar untuk Program di Rumah</a:t>
              </a:r>
              <a:endParaRPr b="1" sz="900">
                <a:solidFill>
                  <a:schemeClr val="dk1"/>
                </a:solidFill>
                <a:latin typeface="Calibri"/>
                <a:ea typeface="Calibri"/>
                <a:cs typeface="Calibri"/>
                <a:sym typeface="Calibri"/>
              </a:endParaRPr>
            </a:p>
          </p:txBody>
        </p:sp>
        <p:sp>
          <p:nvSpPr>
            <p:cNvPr id="533" name="Google Shape;533;p50"/>
            <p:cNvSpPr/>
            <p:nvPr/>
          </p:nvSpPr>
          <p:spPr>
            <a:xfrm>
              <a:off x="7618663" y="3838437"/>
              <a:ext cx="3306600" cy="2278200"/>
            </a:xfrm>
            <a:prstGeom prst="roundRect">
              <a:avLst>
                <a:gd fmla="val 16667" name="adj"/>
              </a:avLst>
            </a:prstGeom>
            <a:blipFill rotWithShape="1">
              <a:blip r:embed="rId8">
                <a:alphaModFix/>
              </a:blip>
              <a:stretch>
                <a:fillRect b="0" l="-3000" r="-3000" t="0"/>
              </a:stretch>
            </a:blipFill>
            <a:ln cap="flat" cmpd="sng" w="25400">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34" name="Google Shape;534;p50"/>
            <p:cNvSpPr/>
            <p:nvPr/>
          </p:nvSpPr>
          <p:spPr>
            <a:xfrm>
              <a:off x="7618663" y="6116768"/>
              <a:ext cx="3306600" cy="12267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35" name="Google Shape;535;p50"/>
            <p:cNvSpPr txBox="1"/>
            <p:nvPr/>
          </p:nvSpPr>
          <p:spPr>
            <a:xfrm>
              <a:off x="7618663" y="6116768"/>
              <a:ext cx="3306600" cy="1226700"/>
            </a:xfrm>
            <a:prstGeom prst="rect">
              <a:avLst/>
            </a:prstGeom>
            <a:noFill/>
            <a:ln>
              <a:noFill/>
            </a:ln>
          </p:spPr>
          <p:txBody>
            <a:bodyPr anchorCtr="0" anchor="t" bIns="0" lIns="64000" spcFirstLastPara="1" rIns="64000" wrap="square" tIns="64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Monitoring Perkembangan Hasil Capaian Anak baik Akademik dan Kemandirian</a:t>
              </a:r>
              <a:endParaRPr b="1" sz="900">
                <a:solidFill>
                  <a:schemeClr val="dk1"/>
                </a:solidFill>
                <a:latin typeface="Calibri"/>
                <a:ea typeface="Calibri"/>
                <a:cs typeface="Calibri"/>
                <a:sym typeface="Calibri"/>
              </a:endParaRPr>
            </a:p>
          </p:txBody>
        </p:sp>
      </p:grpSp>
      <p:pic>
        <p:nvPicPr>
          <p:cNvPr id="536" name="Google Shape;536;p50"/>
          <p:cNvPicPr preferRelativeResize="0"/>
          <p:nvPr/>
        </p:nvPicPr>
        <p:blipFill rotWithShape="1">
          <a:blip r:embed="rId9">
            <a:alphaModFix/>
          </a:blip>
          <a:srcRect b="0" l="0" r="0" t="0"/>
          <a:stretch/>
        </p:blipFill>
        <p:spPr>
          <a:xfrm>
            <a:off x="7696200" y="50985"/>
            <a:ext cx="957396" cy="90023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grpSp>
        <p:nvGrpSpPr>
          <p:cNvPr id="541" name="Google Shape;541;p51"/>
          <p:cNvGrpSpPr/>
          <p:nvPr/>
        </p:nvGrpSpPr>
        <p:grpSpPr>
          <a:xfrm>
            <a:off x="573285" y="2937982"/>
            <a:ext cx="6092428" cy="870347"/>
            <a:chOff x="3571" y="615553"/>
            <a:chExt cx="12184856" cy="1740693"/>
          </a:xfrm>
        </p:grpSpPr>
        <p:sp>
          <p:nvSpPr>
            <p:cNvPr id="542" name="Google Shape;542;p51"/>
            <p:cNvSpPr/>
            <p:nvPr/>
          </p:nvSpPr>
          <p:spPr>
            <a:xfrm>
              <a:off x="3571" y="615553"/>
              <a:ext cx="4351734" cy="1740693"/>
            </a:xfrm>
            <a:prstGeom prst="chevron">
              <a:avLst>
                <a:gd fmla="val 50000" name="adj"/>
              </a:avLst>
            </a:prstGeom>
            <a:solidFill>
              <a:schemeClr val="lt1"/>
            </a:solidFill>
            <a:ln cap="flat" cmpd="sng" w="25400">
              <a:solidFill>
                <a:srgbClr val="DF873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solidFill>
                  <a:schemeClr val="dk1"/>
                </a:solidFill>
              </a:endParaRPr>
            </a:p>
          </p:txBody>
        </p:sp>
        <p:sp>
          <p:nvSpPr>
            <p:cNvPr id="543" name="Google Shape;543;p51"/>
            <p:cNvSpPr txBox="1"/>
            <p:nvPr/>
          </p:nvSpPr>
          <p:spPr>
            <a:xfrm>
              <a:off x="873918" y="615553"/>
              <a:ext cx="2611041" cy="1740693"/>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alibri"/>
                <a:buNone/>
              </a:pPr>
              <a:r>
                <a:rPr b="1" lang="id" sz="900">
                  <a:solidFill>
                    <a:schemeClr val="dk1"/>
                  </a:solidFill>
                  <a:latin typeface="Calibri"/>
                  <a:ea typeface="Calibri"/>
                  <a:cs typeface="Calibri"/>
                  <a:sym typeface="Calibri"/>
                </a:rPr>
                <a:t>Psikotes siswa dilakukan untuk memetakan IQ dan Gaya Belajar Siswa</a:t>
              </a:r>
              <a:endParaRPr sz="900">
                <a:solidFill>
                  <a:schemeClr val="dk1"/>
                </a:solidFill>
                <a:latin typeface="Calibri"/>
                <a:ea typeface="Calibri"/>
                <a:cs typeface="Calibri"/>
                <a:sym typeface="Calibri"/>
              </a:endParaRPr>
            </a:p>
          </p:txBody>
        </p:sp>
        <p:sp>
          <p:nvSpPr>
            <p:cNvPr id="544" name="Google Shape;544;p51"/>
            <p:cNvSpPr/>
            <p:nvPr/>
          </p:nvSpPr>
          <p:spPr>
            <a:xfrm>
              <a:off x="3920132" y="615553"/>
              <a:ext cx="4351734" cy="1740693"/>
            </a:xfrm>
            <a:prstGeom prst="chevron">
              <a:avLst>
                <a:gd fmla="val 50000" name="adj"/>
              </a:avLst>
            </a:prstGeom>
            <a:solidFill>
              <a:schemeClr val="lt1"/>
            </a:solidFill>
            <a:ln cap="flat" cmpd="sng" w="25400">
              <a:solidFill>
                <a:srgbClr val="DF873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solidFill>
                  <a:schemeClr val="dk1"/>
                </a:solidFill>
              </a:endParaRPr>
            </a:p>
          </p:txBody>
        </p:sp>
        <p:sp>
          <p:nvSpPr>
            <p:cNvPr id="545" name="Google Shape;545;p51"/>
            <p:cNvSpPr txBox="1"/>
            <p:nvPr/>
          </p:nvSpPr>
          <p:spPr>
            <a:xfrm>
              <a:off x="4790479" y="615553"/>
              <a:ext cx="2611041" cy="1740693"/>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alibri"/>
                <a:buNone/>
              </a:pPr>
              <a:r>
                <a:rPr b="1" lang="id" sz="900">
                  <a:solidFill>
                    <a:schemeClr val="dk1"/>
                  </a:solidFill>
                  <a:latin typeface="Calibri"/>
                  <a:ea typeface="Calibri"/>
                  <a:cs typeface="Calibri"/>
                  <a:sym typeface="Calibri"/>
                </a:rPr>
                <a:t>Konseling Orang Tua, Guru dan Psikolog, pemecahan siswa yang mengalami masalah dalam belajar</a:t>
              </a:r>
              <a:endParaRPr b="1" sz="900">
                <a:solidFill>
                  <a:schemeClr val="dk1"/>
                </a:solidFill>
                <a:latin typeface="Calibri"/>
                <a:ea typeface="Calibri"/>
                <a:cs typeface="Calibri"/>
                <a:sym typeface="Calibri"/>
              </a:endParaRPr>
            </a:p>
          </p:txBody>
        </p:sp>
        <p:sp>
          <p:nvSpPr>
            <p:cNvPr id="546" name="Google Shape;546;p51"/>
            <p:cNvSpPr/>
            <p:nvPr/>
          </p:nvSpPr>
          <p:spPr>
            <a:xfrm>
              <a:off x="7836693" y="615553"/>
              <a:ext cx="4351734" cy="1740693"/>
            </a:xfrm>
            <a:prstGeom prst="chevron">
              <a:avLst>
                <a:gd fmla="val 50000" name="adj"/>
              </a:avLst>
            </a:prstGeom>
            <a:solidFill>
              <a:schemeClr val="lt1"/>
            </a:solidFill>
            <a:ln cap="flat" cmpd="sng" w="25400">
              <a:solidFill>
                <a:srgbClr val="DF873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solidFill>
                  <a:schemeClr val="dk1"/>
                </a:solidFill>
              </a:endParaRPr>
            </a:p>
          </p:txBody>
        </p:sp>
        <p:sp>
          <p:nvSpPr>
            <p:cNvPr id="547" name="Google Shape;547;p51"/>
            <p:cNvSpPr txBox="1"/>
            <p:nvPr/>
          </p:nvSpPr>
          <p:spPr>
            <a:xfrm>
              <a:off x="8707040" y="615553"/>
              <a:ext cx="2611041" cy="1740693"/>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alibri"/>
                <a:buNone/>
              </a:pPr>
              <a:r>
                <a:rPr b="1" lang="id" sz="900">
                  <a:solidFill>
                    <a:schemeClr val="dk1"/>
                  </a:solidFill>
                  <a:latin typeface="Calibri"/>
                  <a:ea typeface="Calibri"/>
                  <a:cs typeface="Calibri"/>
                  <a:sym typeface="Calibri"/>
                </a:rPr>
                <a:t>Mendampingi Sekolah Membuat program belajar unggul sesuai gaya belajar siswa dan Terapi di Sekolah</a:t>
              </a:r>
              <a:endParaRPr b="1" sz="900">
                <a:solidFill>
                  <a:schemeClr val="dk1"/>
                </a:solidFill>
                <a:latin typeface="Calibri"/>
                <a:ea typeface="Calibri"/>
                <a:cs typeface="Calibri"/>
                <a:sym typeface="Calibri"/>
              </a:endParaRPr>
            </a:p>
          </p:txBody>
        </p:sp>
      </p:grpSp>
      <p:sp>
        <p:nvSpPr>
          <p:cNvPr id="548" name="Google Shape;548;p51"/>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Membangun Program Belajar Sesuai Gaya Belajar Anak</a:t>
            </a:r>
            <a:endParaRPr b="1" sz="1800">
              <a:solidFill>
                <a:srgbClr val="002646"/>
              </a:solidFill>
              <a:latin typeface="Poppins"/>
              <a:ea typeface="Poppins"/>
              <a:cs typeface="Poppins"/>
              <a:sym typeface="Poppins"/>
            </a:endParaRPr>
          </a:p>
        </p:txBody>
      </p:sp>
      <p:sp>
        <p:nvSpPr>
          <p:cNvPr id="549" name="Google Shape;549;p51"/>
          <p:cNvSpPr txBox="1"/>
          <p:nvPr/>
        </p:nvSpPr>
        <p:spPr>
          <a:xfrm>
            <a:off x="947823" y="738485"/>
            <a:ext cx="7228500" cy="4770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lang="id">
                <a:solidFill>
                  <a:schemeClr val="dk1"/>
                </a:solidFill>
                <a:latin typeface="Calibri"/>
                <a:ea typeface="Calibri"/>
                <a:cs typeface="Calibri"/>
                <a:sym typeface="Calibri"/>
              </a:rPr>
              <a:t>70% Siswa belajar tidak sesuai dengan Gaya Belajar Mereka. Guru sering mengeluh siswa terlihat malas / tidak bersemangat. Kenyataan yang kami temui, siswa jenuh khususnya siswa Kinestetik</a:t>
            </a:r>
            <a:endParaRPr sz="1400">
              <a:solidFill>
                <a:schemeClr val="dk1"/>
              </a:solidFill>
              <a:latin typeface="Calibri"/>
              <a:ea typeface="Calibri"/>
              <a:cs typeface="Calibri"/>
              <a:sym typeface="Calibri"/>
            </a:endParaRPr>
          </a:p>
        </p:txBody>
      </p:sp>
      <p:sp>
        <p:nvSpPr>
          <p:cNvPr id="550" name="Google Shape;550;p51"/>
          <p:cNvSpPr txBox="1"/>
          <p:nvPr/>
        </p:nvSpPr>
        <p:spPr>
          <a:xfrm>
            <a:off x="2377092" y="1446588"/>
            <a:ext cx="2086500" cy="200100"/>
          </a:xfrm>
          <a:prstGeom prst="rect">
            <a:avLst/>
          </a:prstGeom>
          <a:solidFill>
            <a:srgbClr val="FBD4B4"/>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Program Advance (mulai kelas SD)</a:t>
            </a:r>
            <a:endParaRPr sz="700"/>
          </a:p>
        </p:txBody>
      </p:sp>
      <p:sp>
        <p:nvSpPr>
          <p:cNvPr id="551" name="Google Shape;551;p51"/>
          <p:cNvSpPr txBox="1"/>
          <p:nvPr/>
        </p:nvSpPr>
        <p:spPr>
          <a:xfrm>
            <a:off x="7000162" y="1318959"/>
            <a:ext cx="1601067" cy="200055"/>
          </a:xfrm>
          <a:prstGeom prst="rect">
            <a:avLst/>
          </a:prstGeom>
          <a:solidFill>
            <a:srgbClr val="FBD4B4"/>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Output Program</a:t>
            </a:r>
            <a:endParaRPr sz="700"/>
          </a:p>
        </p:txBody>
      </p:sp>
      <p:sp>
        <p:nvSpPr>
          <p:cNvPr id="552" name="Google Shape;552;p51"/>
          <p:cNvSpPr txBox="1"/>
          <p:nvPr/>
        </p:nvSpPr>
        <p:spPr>
          <a:xfrm>
            <a:off x="7165522" y="2712501"/>
            <a:ext cx="1447800" cy="323165"/>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900">
                <a:solidFill>
                  <a:schemeClr val="dk1"/>
                </a:solidFill>
                <a:latin typeface="Calibri"/>
                <a:ea typeface="Calibri"/>
                <a:cs typeface="Calibri"/>
                <a:sym typeface="Calibri"/>
              </a:rPr>
              <a:t>Membantu Sekolah Memetakan Potensi Siswa</a:t>
            </a:r>
            <a:endParaRPr b="1" sz="900">
              <a:solidFill>
                <a:schemeClr val="dk1"/>
              </a:solidFill>
              <a:latin typeface="Calibri"/>
              <a:ea typeface="Calibri"/>
              <a:cs typeface="Calibri"/>
              <a:sym typeface="Calibri"/>
            </a:endParaRPr>
          </a:p>
        </p:txBody>
      </p:sp>
      <p:sp>
        <p:nvSpPr>
          <p:cNvPr id="553" name="Google Shape;553;p51"/>
          <p:cNvSpPr txBox="1"/>
          <p:nvPr/>
        </p:nvSpPr>
        <p:spPr>
          <a:xfrm>
            <a:off x="7209588" y="4521293"/>
            <a:ext cx="1447800" cy="323165"/>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900">
                <a:solidFill>
                  <a:schemeClr val="dk1"/>
                </a:solidFill>
                <a:latin typeface="Calibri"/>
                <a:ea typeface="Calibri"/>
                <a:cs typeface="Calibri"/>
                <a:sym typeface="Calibri"/>
              </a:rPr>
              <a:t>Mengatasi Gangguan Belajar Pada Anak</a:t>
            </a:r>
            <a:endParaRPr b="1" sz="900">
              <a:solidFill>
                <a:schemeClr val="dk1"/>
              </a:solidFill>
              <a:latin typeface="Calibri"/>
              <a:ea typeface="Calibri"/>
              <a:cs typeface="Calibri"/>
              <a:sym typeface="Calibri"/>
            </a:endParaRPr>
          </a:p>
        </p:txBody>
      </p:sp>
      <p:pic>
        <p:nvPicPr>
          <p:cNvPr id="554" name="Google Shape;554;p51"/>
          <p:cNvPicPr preferRelativeResize="0"/>
          <p:nvPr/>
        </p:nvPicPr>
        <p:blipFill rotWithShape="1">
          <a:blip r:embed="rId3">
            <a:alphaModFix/>
          </a:blip>
          <a:srcRect b="0" l="0" r="0" t="0"/>
          <a:stretch/>
        </p:blipFill>
        <p:spPr>
          <a:xfrm>
            <a:off x="7423336" y="1614567"/>
            <a:ext cx="932172" cy="1018641"/>
          </a:xfrm>
          <a:prstGeom prst="ellipse">
            <a:avLst/>
          </a:prstGeom>
          <a:noFill/>
          <a:ln>
            <a:noFill/>
          </a:ln>
        </p:spPr>
      </p:pic>
      <p:pic>
        <p:nvPicPr>
          <p:cNvPr id="555" name="Google Shape;555;p51"/>
          <p:cNvPicPr preferRelativeResize="0"/>
          <p:nvPr/>
        </p:nvPicPr>
        <p:blipFill rotWithShape="1">
          <a:blip r:embed="rId4">
            <a:alphaModFix/>
          </a:blip>
          <a:srcRect b="0" l="0" r="8567" t="0"/>
          <a:stretch/>
        </p:blipFill>
        <p:spPr>
          <a:xfrm>
            <a:off x="7157357" y="3204287"/>
            <a:ext cx="1552261" cy="1148386"/>
          </a:xfrm>
          <a:prstGeom prst="ellipse">
            <a:avLst/>
          </a:prstGeom>
          <a:noFill/>
          <a:ln>
            <a:noFill/>
          </a:ln>
        </p:spPr>
      </p:pic>
      <p:pic>
        <p:nvPicPr>
          <p:cNvPr id="556" name="Google Shape;556;p51"/>
          <p:cNvPicPr preferRelativeResize="0"/>
          <p:nvPr/>
        </p:nvPicPr>
        <p:blipFill rotWithShape="1">
          <a:blip r:embed="rId5">
            <a:alphaModFix/>
          </a:blip>
          <a:srcRect b="0" l="0" r="11489" t="0"/>
          <a:stretch/>
        </p:blipFill>
        <p:spPr>
          <a:xfrm>
            <a:off x="573275" y="1848275"/>
            <a:ext cx="1601076" cy="1018626"/>
          </a:xfrm>
          <a:prstGeom prst="rect">
            <a:avLst/>
          </a:prstGeom>
          <a:noFill/>
          <a:ln>
            <a:noFill/>
          </a:ln>
        </p:spPr>
      </p:pic>
      <p:pic>
        <p:nvPicPr>
          <p:cNvPr id="557" name="Google Shape;557;p51"/>
          <p:cNvPicPr preferRelativeResize="0"/>
          <p:nvPr/>
        </p:nvPicPr>
        <p:blipFill rotWithShape="1">
          <a:blip r:embed="rId6">
            <a:alphaModFix/>
          </a:blip>
          <a:srcRect b="22162" l="8416" r="25625" t="2763"/>
          <a:stretch/>
        </p:blipFill>
        <p:spPr>
          <a:xfrm>
            <a:off x="2601607" y="1848287"/>
            <a:ext cx="1587548" cy="1018624"/>
          </a:xfrm>
          <a:prstGeom prst="rect">
            <a:avLst/>
          </a:prstGeom>
          <a:noFill/>
          <a:ln>
            <a:noFill/>
          </a:ln>
        </p:spPr>
      </p:pic>
      <p:pic>
        <p:nvPicPr>
          <p:cNvPr id="558" name="Google Shape;558;p51"/>
          <p:cNvPicPr preferRelativeResize="0"/>
          <p:nvPr/>
        </p:nvPicPr>
        <p:blipFill rotWithShape="1">
          <a:blip r:embed="rId7">
            <a:alphaModFix/>
          </a:blip>
          <a:srcRect b="10679" l="0" r="0" t="23803"/>
          <a:stretch/>
        </p:blipFill>
        <p:spPr>
          <a:xfrm>
            <a:off x="4776925" y="1848275"/>
            <a:ext cx="1141753" cy="10186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grpSp>
        <p:nvGrpSpPr>
          <p:cNvPr id="563" name="Google Shape;563;p52"/>
          <p:cNvGrpSpPr/>
          <p:nvPr/>
        </p:nvGrpSpPr>
        <p:grpSpPr>
          <a:xfrm>
            <a:off x="573285" y="3042162"/>
            <a:ext cx="6092461" cy="870300"/>
            <a:chOff x="3571" y="615553"/>
            <a:chExt cx="12184922" cy="1740600"/>
          </a:xfrm>
        </p:grpSpPr>
        <p:sp>
          <p:nvSpPr>
            <p:cNvPr id="564" name="Google Shape;564;p52"/>
            <p:cNvSpPr/>
            <p:nvPr/>
          </p:nvSpPr>
          <p:spPr>
            <a:xfrm>
              <a:off x="3571" y="615553"/>
              <a:ext cx="4351800" cy="1740600"/>
            </a:xfrm>
            <a:prstGeom prst="chevron">
              <a:avLst>
                <a:gd fmla="val 50000" name="adj"/>
              </a:avLst>
            </a:prstGeom>
            <a:solidFill>
              <a:schemeClr val="lt1"/>
            </a:solidFill>
            <a:ln cap="flat" cmpd="sng" w="25400">
              <a:solidFill>
                <a:srgbClr val="DF873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solidFill>
                  <a:schemeClr val="dk1"/>
                </a:solidFill>
              </a:endParaRPr>
            </a:p>
          </p:txBody>
        </p:sp>
        <p:sp>
          <p:nvSpPr>
            <p:cNvPr id="565" name="Google Shape;565;p52"/>
            <p:cNvSpPr txBox="1"/>
            <p:nvPr/>
          </p:nvSpPr>
          <p:spPr>
            <a:xfrm>
              <a:off x="873918" y="615553"/>
              <a:ext cx="2610900" cy="1740600"/>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alibri"/>
                <a:buNone/>
              </a:pPr>
              <a:r>
                <a:rPr b="1" lang="id" sz="900">
                  <a:solidFill>
                    <a:schemeClr val="dk1"/>
                  </a:solidFill>
                  <a:latin typeface="Calibri"/>
                  <a:ea typeface="Calibri"/>
                  <a:cs typeface="Calibri"/>
                  <a:sym typeface="Calibri"/>
                </a:rPr>
                <a:t>Psikotes siswa SMP kelas 3 hingga SMA untuk memetakan IQ, Bakat Minat dan Gaya Belajar</a:t>
              </a:r>
              <a:endParaRPr sz="900">
                <a:solidFill>
                  <a:schemeClr val="dk1"/>
                </a:solidFill>
                <a:latin typeface="Calibri"/>
                <a:ea typeface="Calibri"/>
                <a:cs typeface="Calibri"/>
                <a:sym typeface="Calibri"/>
              </a:endParaRPr>
            </a:p>
          </p:txBody>
        </p:sp>
        <p:sp>
          <p:nvSpPr>
            <p:cNvPr id="566" name="Google Shape;566;p52"/>
            <p:cNvSpPr/>
            <p:nvPr/>
          </p:nvSpPr>
          <p:spPr>
            <a:xfrm>
              <a:off x="3920132" y="615553"/>
              <a:ext cx="4351800" cy="1740600"/>
            </a:xfrm>
            <a:prstGeom prst="chevron">
              <a:avLst>
                <a:gd fmla="val 50000" name="adj"/>
              </a:avLst>
            </a:prstGeom>
            <a:solidFill>
              <a:schemeClr val="lt1"/>
            </a:solidFill>
            <a:ln cap="flat" cmpd="sng" w="25400">
              <a:solidFill>
                <a:srgbClr val="DF873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solidFill>
                  <a:schemeClr val="dk1"/>
                </a:solidFill>
              </a:endParaRPr>
            </a:p>
          </p:txBody>
        </p:sp>
        <p:sp>
          <p:nvSpPr>
            <p:cNvPr id="567" name="Google Shape;567;p52"/>
            <p:cNvSpPr txBox="1"/>
            <p:nvPr/>
          </p:nvSpPr>
          <p:spPr>
            <a:xfrm>
              <a:off x="4790479" y="615553"/>
              <a:ext cx="2610900" cy="1740600"/>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alibri"/>
                <a:buNone/>
              </a:pPr>
              <a:r>
                <a:rPr b="1" lang="id" sz="900">
                  <a:solidFill>
                    <a:schemeClr val="dk1"/>
                  </a:solidFill>
                  <a:latin typeface="Calibri"/>
                  <a:ea typeface="Calibri"/>
                  <a:cs typeface="Calibri"/>
                  <a:sym typeface="Calibri"/>
                </a:rPr>
                <a:t>Sosialisasi bersama Siswa, Guru BK dan Psikolog terkait Hasil Psikotes</a:t>
              </a:r>
              <a:endParaRPr b="1" sz="900">
                <a:solidFill>
                  <a:schemeClr val="dk1"/>
                </a:solidFill>
                <a:latin typeface="Calibri"/>
                <a:ea typeface="Calibri"/>
                <a:cs typeface="Calibri"/>
                <a:sym typeface="Calibri"/>
              </a:endParaRPr>
            </a:p>
          </p:txBody>
        </p:sp>
        <p:sp>
          <p:nvSpPr>
            <p:cNvPr id="568" name="Google Shape;568;p52"/>
            <p:cNvSpPr/>
            <p:nvPr/>
          </p:nvSpPr>
          <p:spPr>
            <a:xfrm>
              <a:off x="7836693" y="615553"/>
              <a:ext cx="4351800" cy="1740600"/>
            </a:xfrm>
            <a:prstGeom prst="chevron">
              <a:avLst>
                <a:gd fmla="val 50000" name="adj"/>
              </a:avLst>
            </a:prstGeom>
            <a:solidFill>
              <a:schemeClr val="lt1"/>
            </a:solidFill>
            <a:ln cap="flat" cmpd="sng" w="25400">
              <a:solidFill>
                <a:srgbClr val="DF873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solidFill>
                  <a:schemeClr val="dk1"/>
                </a:solidFill>
              </a:endParaRPr>
            </a:p>
          </p:txBody>
        </p:sp>
        <p:sp>
          <p:nvSpPr>
            <p:cNvPr id="569" name="Google Shape;569;p52"/>
            <p:cNvSpPr txBox="1"/>
            <p:nvPr/>
          </p:nvSpPr>
          <p:spPr>
            <a:xfrm>
              <a:off x="8707040" y="615553"/>
              <a:ext cx="2610900" cy="1740600"/>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alibri"/>
                <a:buNone/>
              </a:pPr>
              <a:r>
                <a:rPr b="1" lang="id" sz="900">
                  <a:solidFill>
                    <a:schemeClr val="dk1"/>
                  </a:solidFill>
                  <a:latin typeface="Calibri"/>
                  <a:ea typeface="Calibri"/>
                  <a:cs typeface="Calibri"/>
                  <a:sym typeface="Calibri"/>
                </a:rPr>
                <a:t>Sekolah memetakan siswa baik untuk persiapan SMA, persiapan Perguruan TInggi untuk Tes TPA</a:t>
              </a:r>
              <a:endParaRPr b="1" sz="900">
                <a:solidFill>
                  <a:schemeClr val="dk1"/>
                </a:solidFill>
                <a:latin typeface="Calibri"/>
                <a:ea typeface="Calibri"/>
                <a:cs typeface="Calibri"/>
                <a:sym typeface="Calibri"/>
              </a:endParaRPr>
            </a:p>
          </p:txBody>
        </p:sp>
      </p:grpSp>
      <p:sp>
        <p:nvSpPr>
          <p:cNvPr id="570" name="Google Shape;570;p52"/>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Membantu Siswa Memilih SMA/K hingga Perkuliahan dan Karir</a:t>
            </a:r>
            <a:endParaRPr b="1" sz="1800">
              <a:solidFill>
                <a:srgbClr val="002646"/>
              </a:solidFill>
              <a:latin typeface="Poppins"/>
              <a:ea typeface="Poppins"/>
              <a:cs typeface="Poppins"/>
              <a:sym typeface="Poppins"/>
            </a:endParaRPr>
          </a:p>
        </p:txBody>
      </p:sp>
      <p:sp>
        <p:nvSpPr>
          <p:cNvPr id="571" name="Google Shape;571;p52"/>
          <p:cNvSpPr txBox="1"/>
          <p:nvPr/>
        </p:nvSpPr>
        <p:spPr>
          <a:xfrm>
            <a:off x="957748" y="664060"/>
            <a:ext cx="7228500" cy="6927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lang="id">
                <a:solidFill>
                  <a:schemeClr val="dk1"/>
                </a:solidFill>
                <a:latin typeface="Calibri"/>
                <a:ea typeface="Calibri"/>
                <a:cs typeface="Calibri"/>
                <a:sym typeface="Calibri"/>
              </a:rPr>
              <a:t>Pada tahun 2017, angka mismatch tenaga kerja di Indonesia dilaporkan mencapai 67%.Data BPS pada tahun 2018 juga mengindikasikan bahwa hampir 50% dari lulusan perguruan tinggi di Indonesia mengalami ketidakcocokan antara pekerjaan dengan latar pendidikan mereka</a:t>
            </a:r>
            <a:endParaRPr sz="1400">
              <a:solidFill>
                <a:schemeClr val="dk1"/>
              </a:solidFill>
              <a:latin typeface="Calibri"/>
              <a:ea typeface="Calibri"/>
              <a:cs typeface="Calibri"/>
              <a:sym typeface="Calibri"/>
            </a:endParaRPr>
          </a:p>
        </p:txBody>
      </p:sp>
      <p:sp>
        <p:nvSpPr>
          <p:cNvPr id="572" name="Google Shape;572;p52"/>
          <p:cNvSpPr txBox="1"/>
          <p:nvPr/>
        </p:nvSpPr>
        <p:spPr>
          <a:xfrm>
            <a:off x="2227314" y="1494098"/>
            <a:ext cx="2318700" cy="200100"/>
          </a:xfrm>
          <a:prstGeom prst="rect">
            <a:avLst/>
          </a:prstGeom>
          <a:solidFill>
            <a:srgbClr val="A4C2F4"/>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Program Advance (SMP - SMA)</a:t>
            </a:r>
            <a:endParaRPr sz="700"/>
          </a:p>
        </p:txBody>
      </p:sp>
      <p:sp>
        <p:nvSpPr>
          <p:cNvPr id="573" name="Google Shape;573;p52"/>
          <p:cNvSpPr txBox="1"/>
          <p:nvPr/>
        </p:nvSpPr>
        <p:spPr>
          <a:xfrm>
            <a:off x="7000162" y="1423138"/>
            <a:ext cx="1601100" cy="200100"/>
          </a:xfrm>
          <a:prstGeom prst="rect">
            <a:avLst/>
          </a:prstGeom>
          <a:solidFill>
            <a:srgbClr val="C9DAF8"/>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Output Program</a:t>
            </a:r>
            <a:endParaRPr sz="700"/>
          </a:p>
        </p:txBody>
      </p:sp>
      <p:sp>
        <p:nvSpPr>
          <p:cNvPr id="574" name="Google Shape;574;p52"/>
          <p:cNvSpPr txBox="1"/>
          <p:nvPr/>
        </p:nvSpPr>
        <p:spPr>
          <a:xfrm>
            <a:off x="7165522" y="2816680"/>
            <a:ext cx="1447800" cy="4617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900">
                <a:solidFill>
                  <a:schemeClr val="dk1"/>
                </a:solidFill>
                <a:latin typeface="Calibri"/>
                <a:ea typeface="Calibri"/>
                <a:cs typeface="Calibri"/>
                <a:sym typeface="Calibri"/>
              </a:rPr>
              <a:t>Membantu Sekolah Persiapan SMA/Penjurusan Kelas</a:t>
            </a:r>
            <a:endParaRPr b="1" sz="900">
              <a:solidFill>
                <a:schemeClr val="dk1"/>
              </a:solidFill>
              <a:latin typeface="Calibri"/>
              <a:ea typeface="Calibri"/>
              <a:cs typeface="Calibri"/>
              <a:sym typeface="Calibri"/>
            </a:endParaRPr>
          </a:p>
        </p:txBody>
      </p:sp>
      <p:sp>
        <p:nvSpPr>
          <p:cNvPr id="575" name="Google Shape;575;p52"/>
          <p:cNvSpPr txBox="1"/>
          <p:nvPr/>
        </p:nvSpPr>
        <p:spPr>
          <a:xfrm>
            <a:off x="7209588" y="4625472"/>
            <a:ext cx="1447800" cy="3231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900">
                <a:solidFill>
                  <a:schemeClr val="dk1"/>
                </a:solidFill>
                <a:latin typeface="Calibri"/>
                <a:ea typeface="Calibri"/>
                <a:cs typeface="Calibri"/>
                <a:sym typeface="Calibri"/>
              </a:rPr>
              <a:t>Mempersiapkan TPA dan Perguruan TInggi</a:t>
            </a:r>
            <a:endParaRPr b="1" sz="900">
              <a:solidFill>
                <a:schemeClr val="dk1"/>
              </a:solidFill>
              <a:latin typeface="Calibri"/>
              <a:ea typeface="Calibri"/>
              <a:cs typeface="Calibri"/>
              <a:sym typeface="Calibri"/>
            </a:endParaRPr>
          </a:p>
        </p:txBody>
      </p:sp>
      <p:pic>
        <p:nvPicPr>
          <p:cNvPr id="576" name="Google Shape;576;p52"/>
          <p:cNvPicPr preferRelativeResize="0"/>
          <p:nvPr/>
        </p:nvPicPr>
        <p:blipFill rotWithShape="1">
          <a:blip r:embed="rId3">
            <a:alphaModFix/>
          </a:blip>
          <a:srcRect b="0" l="31418" r="0" t="10241"/>
          <a:stretch/>
        </p:blipFill>
        <p:spPr>
          <a:xfrm>
            <a:off x="832055" y="1985584"/>
            <a:ext cx="1305776" cy="963451"/>
          </a:xfrm>
          <a:prstGeom prst="rect">
            <a:avLst/>
          </a:prstGeom>
          <a:noFill/>
          <a:ln>
            <a:noFill/>
          </a:ln>
        </p:spPr>
      </p:pic>
      <p:pic>
        <p:nvPicPr>
          <p:cNvPr id="577" name="Google Shape;577;p52"/>
          <p:cNvPicPr preferRelativeResize="0"/>
          <p:nvPr/>
        </p:nvPicPr>
        <p:blipFill>
          <a:blip r:embed="rId4">
            <a:alphaModFix/>
          </a:blip>
          <a:stretch>
            <a:fillRect/>
          </a:stretch>
        </p:blipFill>
        <p:spPr>
          <a:xfrm>
            <a:off x="2700676" y="4078275"/>
            <a:ext cx="2555349" cy="870300"/>
          </a:xfrm>
          <a:prstGeom prst="rect">
            <a:avLst/>
          </a:prstGeom>
          <a:noFill/>
          <a:ln>
            <a:noFill/>
          </a:ln>
        </p:spPr>
      </p:pic>
      <p:pic>
        <p:nvPicPr>
          <p:cNvPr id="578" name="Google Shape;578;p52"/>
          <p:cNvPicPr preferRelativeResize="0"/>
          <p:nvPr/>
        </p:nvPicPr>
        <p:blipFill rotWithShape="1">
          <a:blip r:embed="rId5">
            <a:alphaModFix/>
          </a:blip>
          <a:srcRect b="0" l="0" r="19808" t="0"/>
          <a:stretch/>
        </p:blipFill>
        <p:spPr>
          <a:xfrm>
            <a:off x="2700675" y="1985575"/>
            <a:ext cx="1371992" cy="963451"/>
          </a:xfrm>
          <a:prstGeom prst="rect">
            <a:avLst/>
          </a:prstGeom>
          <a:noFill/>
          <a:ln>
            <a:noFill/>
          </a:ln>
        </p:spPr>
      </p:pic>
      <p:pic>
        <p:nvPicPr>
          <p:cNvPr id="579" name="Google Shape;579;p52"/>
          <p:cNvPicPr preferRelativeResize="0"/>
          <p:nvPr/>
        </p:nvPicPr>
        <p:blipFill>
          <a:blip r:embed="rId6">
            <a:alphaModFix/>
          </a:blip>
          <a:stretch>
            <a:fillRect/>
          </a:stretch>
        </p:blipFill>
        <p:spPr>
          <a:xfrm>
            <a:off x="4635528" y="1994947"/>
            <a:ext cx="1205606" cy="963450"/>
          </a:xfrm>
          <a:prstGeom prst="rect">
            <a:avLst/>
          </a:prstGeom>
          <a:noFill/>
          <a:ln>
            <a:noFill/>
          </a:ln>
        </p:spPr>
      </p:pic>
      <p:pic>
        <p:nvPicPr>
          <p:cNvPr id="580" name="Google Shape;580;p52"/>
          <p:cNvPicPr preferRelativeResize="0"/>
          <p:nvPr/>
        </p:nvPicPr>
        <p:blipFill>
          <a:blip r:embed="rId7">
            <a:alphaModFix/>
          </a:blip>
          <a:stretch>
            <a:fillRect/>
          </a:stretch>
        </p:blipFill>
        <p:spPr>
          <a:xfrm>
            <a:off x="6873098" y="1853213"/>
            <a:ext cx="2120802" cy="963450"/>
          </a:xfrm>
          <a:prstGeom prst="rect">
            <a:avLst/>
          </a:prstGeom>
          <a:noFill/>
          <a:ln>
            <a:noFill/>
          </a:ln>
        </p:spPr>
      </p:pic>
      <p:pic>
        <p:nvPicPr>
          <p:cNvPr id="581" name="Google Shape;581;p52"/>
          <p:cNvPicPr preferRelativeResize="0"/>
          <p:nvPr/>
        </p:nvPicPr>
        <p:blipFill rotWithShape="1">
          <a:blip r:embed="rId8">
            <a:alphaModFix/>
          </a:blip>
          <a:srcRect b="26449" l="0" r="0" t="0"/>
          <a:stretch/>
        </p:blipFill>
        <p:spPr>
          <a:xfrm>
            <a:off x="7307550" y="3410134"/>
            <a:ext cx="1205600" cy="116719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grpSp>
        <p:nvGrpSpPr>
          <p:cNvPr id="586" name="Google Shape;586;p53"/>
          <p:cNvGrpSpPr/>
          <p:nvPr/>
        </p:nvGrpSpPr>
        <p:grpSpPr>
          <a:xfrm>
            <a:off x="573285" y="2684974"/>
            <a:ext cx="6092461" cy="870300"/>
            <a:chOff x="3571" y="615553"/>
            <a:chExt cx="12184922" cy="1740600"/>
          </a:xfrm>
        </p:grpSpPr>
        <p:sp>
          <p:nvSpPr>
            <p:cNvPr id="587" name="Google Shape;587;p53"/>
            <p:cNvSpPr/>
            <p:nvPr/>
          </p:nvSpPr>
          <p:spPr>
            <a:xfrm>
              <a:off x="3571" y="615553"/>
              <a:ext cx="4351800" cy="1740600"/>
            </a:xfrm>
            <a:prstGeom prst="chevron">
              <a:avLst>
                <a:gd fmla="val 50000" name="adj"/>
              </a:avLst>
            </a:prstGeom>
            <a:solidFill>
              <a:srgbClr val="EAD1DC"/>
            </a:solidFill>
            <a:ln cap="flat" cmpd="sng" w="25400">
              <a:solidFill>
                <a:schemeClr val="lt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88" name="Google Shape;588;p53"/>
            <p:cNvSpPr txBox="1"/>
            <p:nvPr/>
          </p:nvSpPr>
          <p:spPr>
            <a:xfrm>
              <a:off x="873918" y="615553"/>
              <a:ext cx="2610900" cy="1740600"/>
            </a:xfrm>
            <a:prstGeom prst="rect">
              <a:avLst/>
            </a:prstGeom>
            <a:solidFill>
              <a:srgbClr val="EAD1DC"/>
            </a:solid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Psikotes calon dan tenaga pengajar guru di Sekolah IQ, 16PF dan Kraepelin</a:t>
              </a:r>
              <a:endParaRPr sz="900">
                <a:solidFill>
                  <a:schemeClr val="dk1"/>
                </a:solidFill>
                <a:latin typeface="Calibri"/>
                <a:ea typeface="Calibri"/>
                <a:cs typeface="Calibri"/>
                <a:sym typeface="Calibri"/>
              </a:endParaRPr>
            </a:p>
          </p:txBody>
        </p:sp>
        <p:sp>
          <p:nvSpPr>
            <p:cNvPr id="589" name="Google Shape;589;p53"/>
            <p:cNvSpPr/>
            <p:nvPr/>
          </p:nvSpPr>
          <p:spPr>
            <a:xfrm>
              <a:off x="3920132" y="615553"/>
              <a:ext cx="4351800" cy="1740600"/>
            </a:xfrm>
            <a:prstGeom prst="chevron">
              <a:avLst>
                <a:gd fmla="val 50000" name="adj"/>
              </a:avLst>
            </a:prstGeom>
            <a:solidFill>
              <a:srgbClr val="EAD1DC"/>
            </a:solidFill>
            <a:ln cap="flat" cmpd="sng" w="25400">
              <a:solidFill>
                <a:schemeClr val="lt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0" name="Google Shape;590;p53"/>
            <p:cNvSpPr txBox="1"/>
            <p:nvPr/>
          </p:nvSpPr>
          <p:spPr>
            <a:xfrm>
              <a:off x="4790479" y="615553"/>
              <a:ext cx="2610900" cy="1740600"/>
            </a:xfrm>
            <a:prstGeom prst="rect">
              <a:avLst/>
            </a:prstGeom>
            <a:solidFill>
              <a:srgbClr val="EAD1DC"/>
            </a:solid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Guru Inklusi akan mendapatkan wawancara mendalam dan diskusi</a:t>
              </a:r>
              <a:endParaRPr b="1" sz="900">
                <a:solidFill>
                  <a:schemeClr val="dk1"/>
                </a:solidFill>
                <a:latin typeface="Calibri"/>
                <a:ea typeface="Calibri"/>
                <a:cs typeface="Calibri"/>
                <a:sym typeface="Calibri"/>
              </a:endParaRPr>
            </a:p>
          </p:txBody>
        </p:sp>
        <p:sp>
          <p:nvSpPr>
            <p:cNvPr id="591" name="Google Shape;591;p53"/>
            <p:cNvSpPr/>
            <p:nvPr/>
          </p:nvSpPr>
          <p:spPr>
            <a:xfrm>
              <a:off x="7836693" y="615553"/>
              <a:ext cx="4351800" cy="1740600"/>
            </a:xfrm>
            <a:prstGeom prst="chevron">
              <a:avLst>
                <a:gd fmla="val 50000" name="adj"/>
              </a:avLst>
            </a:prstGeom>
            <a:solidFill>
              <a:srgbClr val="EAD1DC"/>
            </a:solidFill>
            <a:ln cap="flat" cmpd="sng" w="25400">
              <a:solidFill>
                <a:schemeClr val="lt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2" name="Google Shape;592;p53"/>
            <p:cNvSpPr txBox="1"/>
            <p:nvPr/>
          </p:nvSpPr>
          <p:spPr>
            <a:xfrm>
              <a:off x="8707040" y="615553"/>
              <a:ext cx="2610900" cy="1740600"/>
            </a:xfrm>
            <a:prstGeom prst="rect">
              <a:avLst/>
            </a:prstGeom>
            <a:solidFill>
              <a:srgbClr val="EAD1DC"/>
            </a:solid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dk1"/>
                </a:buClr>
                <a:buSzPts val="900"/>
                <a:buFont typeface="Calibri"/>
                <a:buNone/>
              </a:pPr>
              <a:r>
                <a:rPr b="1" lang="id" sz="900">
                  <a:solidFill>
                    <a:schemeClr val="dk1"/>
                  </a:solidFill>
                  <a:latin typeface="Calibri"/>
                  <a:ea typeface="Calibri"/>
                  <a:cs typeface="Calibri"/>
                  <a:sym typeface="Calibri"/>
                </a:rPr>
                <a:t>Merekomendasikan pemetaan guru sesuai hasil psikotes dan wawancara sesuai standar kelas</a:t>
              </a:r>
              <a:endParaRPr b="1" sz="900">
                <a:solidFill>
                  <a:schemeClr val="dk1"/>
                </a:solidFill>
                <a:latin typeface="Calibri"/>
                <a:ea typeface="Calibri"/>
                <a:cs typeface="Calibri"/>
                <a:sym typeface="Calibri"/>
              </a:endParaRPr>
            </a:p>
          </p:txBody>
        </p:sp>
      </p:grpSp>
      <p:sp>
        <p:nvSpPr>
          <p:cNvPr id="593" name="Google Shape;593;p53"/>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Membantu Memetakan Guru di Sekolah</a:t>
            </a:r>
            <a:endParaRPr b="1" sz="1800">
              <a:solidFill>
                <a:srgbClr val="002646"/>
              </a:solidFill>
              <a:latin typeface="Poppins"/>
              <a:ea typeface="Poppins"/>
              <a:cs typeface="Poppins"/>
              <a:sym typeface="Poppins"/>
            </a:endParaRPr>
          </a:p>
        </p:txBody>
      </p:sp>
      <p:sp>
        <p:nvSpPr>
          <p:cNvPr id="594" name="Google Shape;594;p53"/>
          <p:cNvSpPr txBox="1"/>
          <p:nvPr/>
        </p:nvSpPr>
        <p:spPr>
          <a:xfrm>
            <a:off x="947823" y="637462"/>
            <a:ext cx="7228500" cy="6927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lang="id">
                <a:solidFill>
                  <a:schemeClr val="dk1"/>
                </a:solidFill>
                <a:latin typeface="Calibri"/>
                <a:ea typeface="Calibri"/>
                <a:cs typeface="Calibri"/>
                <a:sym typeface="Calibri"/>
              </a:rPr>
              <a:t>Program inklusi membutuhkan guru kelas dan shadow yang memiliki karakter yang berbeda dengan guru untuk kelas unggulan. Pemetaan yang tidak tepat akan berdampak pada psikis guru dan perkembangan siswa</a:t>
            </a:r>
            <a:endParaRPr sz="1400">
              <a:solidFill>
                <a:schemeClr val="dk1"/>
              </a:solidFill>
              <a:latin typeface="Calibri"/>
              <a:ea typeface="Calibri"/>
              <a:cs typeface="Calibri"/>
              <a:sym typeface="Calibri"/>
            </a:endParaRPr>
          </a:p>
        </p:txBody>
      </p:sp>
      <p:sp>
        <p:nvSpPr>
          <p:cNvPr id="595" name="Google Shape;595;p53"/>
          <p:cNvSpPr txBox="1"/>
          <p:nvPr/>
        </p:nvSpPr>
        <p:spPr>
          <a:xfrm>
            <a:off x="7000162" y="1318959"/>
            <a:ext cx="1601100" cy="200100"/>
          </a:xfrm>
          <a:prstGeom prst="rect">
            <a:avLst/>
          </a:prstGeom>
          <a:solidFill>
            <a:srgbClr val="DAEEF3"/>
          </a:solid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1000">
                <a:solidFill>
                  <a:schemeClr val="dk1"/>
                </a:solidFill>
                <a:latin typeface="Calibri"/>
                <a:ea typeface="Calibri"/>
                <a:cs typeface="Calibri"/>
                <a:sym typeface="Calibri"/>
              </a:rPr>
              <a:t>Output Program</a:t>
            </a:r>
            <a:endParaRPr sz="700"/>
          </a:p>
        </p:txBody>
      </p:sp>
      <p:sp>
        <p:nvSpPr>
          <p:cNvPr id="596" name="Google Shape;596;p53"/>
          <p:cNvSpPr txBox="1"/>
          <p:nvPr/>
        </p:nvSpPr>
        <p:spPr>
          <a:xfrm>
            <a:off x="7165522" y="2712501"/>
            <a:ext cx="1447800" cy="3231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900">
                <a:solidFill>
                  <a:schemeClr val="dk1"/>
                </a:solidFill>
                <a:latin typeface="Calibri"/>
                <a:ea typeface="Calibri"/>
                <a:cs typeface="Calibri"/>
                <a:sym typeface="Calibri"/>
              </a:rPr>
              <a:t>Memetakan Guru Sesuai Karakter dan Kompetensi</a:t>
            </a:r>
            <a:endParaRPr b="1" sz="900">
              <a:solidFill>
                <a:schemeClr val="dk1"/>
              </a:solidFill>
              <a:latin typeface="Calibri"/>
              <a:ea typeface="Calibri"/>
              <a:cs typeface="Calibri"/>
              <a:sym typeface="Calibri"/>
            </a:endParaRPr>
          </a:p>
        </p:txBody>
      </p:sp>
      <p:sp>
        <p:nvSpPr>
          <p:cNvPr id="597" name="Google Shape;597;p53"/>
          <p:cNvSpPr txBox="1"/>
          <p:nvPr/>
        </p:nvSpPr>
        <p:spPr>
          <a:xfrm>
            <a:off x="7277100" y="4553950"/>
            <a:ext cx="1447800" cy="3231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900">
                <a:solidFill>
                  <a:schemeClr val="dk1"/>
                </a:solidFill>
                <a:latin typeface="Calibri"/>
                <a:ea typeface="Calibri"/>
                <a:cs typeface="Calibri"/>
                <a:sym typeface="Calibri"/>
              </a:rPr>
              <a:t>Meningkatkan Semangat Guru dan Siswa</a:t>
            </a:r>
            <a:endParaRPr b="1" sz="900">
              <a:solidFill>
                <a:schemeClr val="dk1"/>
              </a:solidFill>
              <a:latin typeface="Calibri"/>
              <a:ea typeface="Calibri"/>
              <a:cs typeface="Calibri"/>
              <a:sym typeface="Calibri"/>
            </a:endParaRPr>
          </a:p>
        </p:txBody>
      </p:sp>
      <p:pic>
        <p:nvPicPr>
          <p:cNvPr id="598" name="Google Shape;598;p53"/>
          <p:cNvPicPr preferRelativeResize="0"/>
          <p:nvPr/>
        </p:nvPicPr>
        <p:blipFill rotWithShape="1">
          <a:blip r:embed="rId3">
            <a:alphaModFix/>
          </a:blip>
          <a:srcRect b="29416" l="0" r="0" t="25640"/>
          <a:stretch/>
        </p:blipFill>
        <p:spPr>
          <a:xfrm>
            <a:off x="789775" y="1519050"/>
            <a:ext cx="1409699" cy="1124810"/>
          </a:xfrm>
          <a:prstGeom prst="rect">
            <a:avLst/>
          </a:prstGeom>
          <a:noFill/>
          <a:ln>
            <a:noFill/>
          </a:ln>
        </p:spPr>
      </p:pic>
      <p:pic>
        <p:nvPicPr>
          <p:cNvPr id="599" name="Google Shape;599;p53"/>
          <p:cNvPicPr preferRelativeResize="0"/>
          <p:nvPr/>
        </p:nvPicPr>
        <p:blipFill rotWithShape="1">
          <a:blip r:embed="rId4">
            <a:alphaModFix/>
          </a:blip>
          <a:srcRect b="26243" l="11413" r="28548" t="0"/>
          <a:stretch/>
        </p:blipFill>
        <p:spPr>
          <a:xfrm>
            <a:off x="2599825" y="1522075"/>
            <a:ext cx="1601100" cy="1108953"/>
          </a:xfrm>
          <a:prstGeom prst="rect">
            <a:avLst/>
          </a:prstGeom>
          <a:noFill/>
          <a:ln>
            <a:noFill/>
          </a:ln>
        </p:spPr>
      </p:pic>
      <p:pic>
        <p:nvPicPr>
          <p:cNvPr id="600" name="Google Shape;600;p53"/>
          <p:cNvPicPr preferRelativeResize="0"/>
          <p:nvPr/>
        </p:nvPicPr>
        <p:blipFill rotWithShape="1">
          <a:blip r:embed="rId5">
            <a:alphaModFix/>
          </a:blip>
          <a:srcRect b="0" l="21161" r="0" t="0"/>
          <a:stretch/>
        </p:blipFill>
        <p:spPr>
          <a:xfrm>
            <a:off x="4754575" y="1522075"/>
            <a:ext cx="1409700" cy="1100344"/>
          </a:xfrm>
          <a:prstGeom prst="rect">
            <a:avLst/>
          </a:prstGeom>
          <a:noFill/>
          <a:ln>
            <a:noFill/>
          </a:ln>
        </p:spPr>
      </p:pic>
      <p:pic>
        <p:nvPicPr>
          <p:cNvPr id="601" name="Google Shape;601;p53"/>
          <p:cNvPicPr preferRelativeResize="0"/>
          <p:nvPr/>
        </p:nvPicPr>
        <p:blipFill>
          <a:blip r:embed="rId6">
            <a:alphaModFix/>
          </a:blip>
          <a:stretch>
            <a:fillRect/>
          </a:stretch>
        </p:blipFill>
        <p:spPr>
          <a:xfrm>
            <a:off x="7138599" y="1622249"/>
            <a:ext cx="1409700" cy="1055926"/>
          </a:xfrm>
          <a:prstGeom prst="rect">
            <a:avLst/>
          </a:prstGeom>
          <a:noFill/>
          <a:ln>
            <a:noFill/>
          </a:ln>
        </p:spPr>
      </p:pic>
      <p:pic>
        <p:nvPicPr>
          <p:cNvPr id="602" name="Google Shape;602;p53"/>
          <p:cNvPicPr preferRelativeResize="0"/>
          <p:nvPr/>
        </p:nvPicPr>
        <p:blipFill>
          <a:blip r:embed="rId7">
            <a:alphaModFix/>
          </a:blip>
          <a:stretch>
            <a:fillRect/>
          </a:stretch>
        </p:blipFill>
        <p:spPr>
          <a:xfrm>
            <a:off x="7165525" y="3274452"/>
            <a:ext cx="1447800" cy="116403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54"/>
          <p:cNvSpPr txBox="1"/>
          <p:nvPr/>
        </p:nvSpPr>
        <p:spPr>
          <a:xfrm>
            <a:off x="197514" y="249492"/>
            <a:ext cx="8370900" cy="277200"/>
          </a:xfrm>
          <a:prstGeom prst="rect">
            <a:avLst/>
          </a:prstGeom>
          <a:noFill/>
          <a:ln>
            <a:noFill/>
          </a:ln>
        </p:spPr>
        <p:txBody>
          <a:bodyPr anchorCtr="0" anchor="t" bIns="0" lIns="0" spcFirstLastPara="1" rIns="0" wrap="square" tIns="0">
            <a:spAutoFit/>
          </a:bodyPr>
          <a:lstStyle/>
          <a:p>
            <a:pPr indent="0" lvl="0" marL="0" marR="0" rtl="0" algn="ctr">
              <a:lnSpc>
                <a:spcPct val="233333"/>
              </a:lnSpc>
              <a:spcBef>
                <a:spcPts val="0"/>
              </a:spcBef>
              <a:spcAft>
                <a:spcPts val="0"/>
              </a:spcAft>
              <a:buNone/>
            </a:pPr>
            <a:r>
              <a:rPr b="1" lang="id" sz="1800">
                <a:solidFill>
                  <a:srgbClr val="002646"/>
                </a:solidFill>
                <a:latin typeface="Poppins"/>
                <a:ea typeface="Poppins"/>
                <a:cs typeface="Poppins"/>
                <a:sym typeface="Poppins"/>
              </a:rPr>
              <a:t>Pemetaan Kriteria Guru di Sekolah</a:t>
            </a:r>
            <a:endParaRPr b="1" sz="1800">
              <a:solidFill>
                <a:srgbClr val="002646"/>
              </a:solidFill>
              <a:latin typeface="Poppins"/>
              <a:ea typeface="Poppins"/>
              <a:cs typeface="Poppins"/>
              <a:sym typeface="Poppins"/>
            </a:endParaRPr>
          </a:p>
        </p:txBody>
      </p:sp>
      <p:graphicFrame>
        <p:nvGraphicFramePr>
          <p:cNvPr id="608" name="Google Shape;608;p54"/>
          <p:cNvGraphicFramePr/>
          <p:nvPr/>
        </p:nvGraphicFramePr>
        <p:xfrm>
          <a:off x="197905" y="1323050"/>
          <a:ext cx="3000000" cy="3000000"/>
        </p:xfrm>
        <a:graphic>
          <a:graphicData uri="http://schemas.openxmlformats.org/drawingml/2006/table">
            <a:tbl>
              <a:tblPr>
                <a:noFill/>
                <a:tableStyleId>{6E9BC604-4890-4BE8-8DDB-205DA92A7D25}</a:tableStyleId>
              </a:tblPr>
              <a:tblGrid>
                <a:gridCol w="1676200"/>
                <a:gridCol w="1067475"/>
                <a:gridCol w="2126225"/>
                <a:gridCol w="1370275"/>
                <a:gridCol w="2508000"/>
              </a:tblGrid>
              <a:tr h="320900">
                <a:tc>
                  <a:txBody>
                    <a:bodyPr/>
                    <a:lstStyle/>
                    <a:p>
                      <a:pPr indent="0" lvl="0" marL="0" rtl="0" algn="ctr">
                        <a:spcBef>
                          <a:spcPts val="0"/>
                        </a:spcBef>
                        <a:spcAft>
                          <a:spcPts val="0"/>
                        </a:spcAft>
                        <a:buNone/>
                      </a:pPr>
                      <a:r>
                        <a:rPr b="1" lang="id" sz="1100"/>
                        <a:t>Kategori Guru</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id" sz="1100"/>
                        <a:t>CFIT 3A (IQ)</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id" sz="1100"/>
                        <a:t>16PF (Faktor Utama)</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b="1" lang="id" sz="1100"/>
                        <a:t>Kraepelin</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id" sz="1100"/>
                        <a:t>Catatan Kriteria</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D1DC"/>
                    </a:solidFill>
                  </a:tcPr>
                </a:tc>
              </a:tr>
              <a:tr h="1088325">
                <a:tc>
                  <a:txBody>
                    <a:bodyPr/>
                    <a:lstStyle/>
                    <a:p>
                      <a:pPr indent="0" lvl="0" marL="0" rtl="0" algn="l">
                        <a:spcBef>
                          <a:spcPts val="0"/>
                        </a:spcBef>
                        <a:spcAft>
                          <a:spcPts val="0"/>
                        </a:spcAft>
                        <a:buNone/>
                      </a:pPr>
                      <a:r>
                        <a:rPr b="1" lang="id" sz="1100"/>
                        <a:t>Guru Kelas Unggulan </a:t>
                      </a:r>
                      <a:r>
                        <a:rPr lang="id" sz="1100"/>
                        <a:t>(Akademis Tinggi)</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d" sz="1100"/>
                        <a:t>≥ 110 </a:t>
                      </a:r>
                      <a:endParaRPr sz="1100"/>
                    </a:p>
                    <a:p>
                      <a:pPr indent="0" lvl="0" marL="0" rtl="0" algn="l">
                        <a:spcBef>
                          <a:spcPts val="0"/>
                        </a:spcBef>
                        <a:spcAft>
                          <a:spcPts val="0"/>
                        </a:spcAft>
                        <a:buNone/>
                      </a:pPr>
                      <a:r>
                        <a:rPr lang="id" sz="1100"/>
                        <a:t>(Above Average – Superior)</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d" sz="1100"/>
                        <a:t>- Reasoning tinggi (B) - Rule-Consciousness tinggi (G) - Perfectionism moderat-tinggi (Q3) - Emotional Stability (C) baik</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d" sz="1100"/>
                        <a:t>- Kecepatan kerja tinggi </a:t>
                      </a:r>
                      <a:endParaRPr sz="1100"/>
                    </a:p>
                    <a:p>
                      <a:pPr indent="0" lvl="0" marL="0" rtl="0" algn="l">
                        <a:spcBef>
                          <a:spcPts val="0"/>
                        </a:spcBef>
                        <a:spcAft>
                          <a:spcPts val="0"/>
                        </a:spcAft>
                        <a:buNone/>
                      </a:pPr>
                      <a:r>
                        <a:rPr lang="id" sz="1100"/>
                        <a:t>- Ketelitian tinggi</a:t>
                      </a:r>
                      <a:endParaRPr sz="1100"/>
                    </a:p>
                    <a:p>
                      <a:pPr indent="0" lvl="0" marL="0" rtl="0" algn="l">
                        <a:spcBef>
                          <a:spcPts val="0"/>
                        </a:spcBef>
                        <a:spcAft>
                          <a:spcPts val="0"/>
                        </a:spcAft>
                        <a:buNone/>
                      </a:pPr>
                      <a:r>
                        <a:rPr lang="id" sz="1100"/>
                        <a:t> - Konsistensi baik</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spcBef>
                          <a:spcPts val="0"/>
                        </a:spcBef>
                        <a:spcAft>
                          <a:spcPts val="0"/>
                        </a:spcAft>
                        <a:buNone/>
                      </a:pPr>
                      <a:r>
                        <a:rPr lang="id" sz="1100"/>
                        <a:t>Dibutuhkan untuk mengajar siswa dengan kemampuan akademis di atas rata-rata; mampu memberi tantangan intelektual, konsisten dalam standar tinggi.</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65425">
                <a:tc>
                  <a:txBody>
                    <a:bodyPr/>
                    <a:lstStyle/>
                    <a:p>
                      <a:pPr indent="0" lvl="0" marL="0" rtl="0" algn="l">
                        <a:spcBef>
                          <a:spcPts val="0"/>
                        </a:spcBef>
                        <a:spcAft>
                          <a:spcPts val="0"/>
                        </a:spcAft>
                        <a:buNone/>
                      </a:pPr>
                      <a:r>
                        <a:rPr b="1" lang="id" sz="1100"/>
                        <a:t>Guru Kelas Reguler </a:t>
                      </a:r>
                      <a:r>
                        <a:rPr lang="id" sz="1100"/>
                        <a:t>(Mayoritas Siswa Rata-rata)</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d" sz="1100"/>
                        <a:t>90–110 (Average – Low Average)</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d" sz="1100"/>
                        <a:t>- Warmth tinggi (A) - Liveliness (F) sedang-tinggi - Social Boldness (H) baik - Sensitivity (I) seimbang</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d" sz="1100"/>
                        <a:t>- Konsistensi baik</a:t>
                      </a:r>
                      <a:endParaRPr sz="1100"/>
                    </a:p>
                    <a:p>
                      <a:pPr indent="0" lvl="0" marL="0" rtl="0" algn="l">
                        <a:spcBef>
                          <a:spcPts val="0"/>
                        </a:spcBef>
                        <a:spcAft>
                          <a:spcPts val="0"/>
                        </a:spcAft>
                        <a:buNone/>
                      </a:pPr>
                      <a:r>
                        <a:rPr lang="id" sz="1100"/>
                        <a:t>- Tempo kerja sedang</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spcBef>
                          <a:spcPts val="0"/>
                        </a:spcBef>
                        <a:spcAft>
                          <a:spcPts val="0"/>
                        </a:spcAft>
                        <a:buNone/>
                      </a:pPr>
                      <a:r>
                        <a:rPr lang="id" sz="1100"/>
                        <a:t>Cocok untuk mayoritas kelas, mampu membangun relasi positif, energik, dan mampu mengelola kelas heterogen secara umum.</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30675">
                <a:tc>
                  <a:txBody>
                    <a:bodyPr/>
                    <a:lstStyle/>
                    <a:p>
                      <a:pPr indent="0" lvl="0" marL="0" rtl="0" algn="l">
                        <a:spcBef>
                          <a:spcPts val="0"/>
                        </a:spcBef>
                        <a:spcAft>
                          <a:spcPts val="0"/>
                        </a:spcAft>
                        <a:buNone/>
                      </a:pPr>
                      <a:r>
                        <a:rPr b="1" lang="id" sz="1100"/>
                        <a:t>Guru Kelas Inklusi </a:t>
                      </a:r>
                      <a:r>
                        <a:rPr lang="id" sz="1100"/>
                        <a:t>(Siswa ABK: ADHD/ASD level 1)</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id" sz="1100">
                          <a:solidFill>
                            <a:schemeClr val="dk1"/>
                          </a:solidFill>
                        </a:rPr>
                        <a:t>90–110 (Average – Low Average)</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d" sz="1100"/>
                        <a:t>- Sensitivity sangat tinggi (I) - Emotional Stability tinggi (C) - Warmth tinggi (A) - Tension rendah (Q4) - Vigilance moderat (L)</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d" sz="1100"/>
                        <a:t>- Ketelitian baik </a:t>
                      </a:r>
                      <a:endParaRPr sz="1100"/>
                    </a:p>
                    <a:p>
                      <a:pPr indent="0" lvl="0" marL="0" rtl="0" algn="l">
                        <a:spcBef>
                          <a:spcPts val="0"/>
                        </a:spcBef>
                        <a:spcAft>
                          <a:spcPts val="0"/>
                        </a:spcAft>
                        <a:buNone/>
                      </a:pPr>
                      <a:r>
                        <a:rPr lang="id" sz="1100"/>
                        <a:t>- Konsistensi tinggi </a:t>
                      </a:r>
                      <a:endParaRPr sz="1100"/>
                    </a:p>
                    <a:p>
                      <a:pPr indent="0" lvl="0" marL="0" rtl="0" algn="l">
                        <a:spcBef>
                          <a:spcPts val="0"/>
                        </a:spcBef>
                        <a:spcAft>
                          <a:spcPts val="0"/>
                        </a:spcAft>
                        <a:buNone/>
                      </a:pPr>
                      <a:r>
                        <a:rPr lang="id" sz="1100"/>
                        <a:t>- Daya tahan baik</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spcBef>
                          <a:spcPts val="0"/>
                        </a:spcBef>
                        <a:spcAft>
                          <a:spcPts val="0"/>
                        </a:spcAft>
                        <a:buNone/>
                      </a:pPr>
                      <a:r>
                        <a:rPr lang="id" sz="1100"/>
                        <a:t>Dibutuhkan empati, kesabaran, regulasi emosi baik, serta kestabilan untuk menghadapi siswa berkebutuhan khusus. IQ tidak perlu sangat tinggi, yang lebih penting adalah pengendalian diri dan konsistensi.</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609" name="Google Shape;609;p54"/>
          <p:cNvPicPr preferRelativeResize="0"/>
          <p:nvPr/>
        </p:nvPicPr>
        <p:blipFill rotWithShape="1">
          <a:blip r:embed="rId3">
            <a:alphaModFix/>
          </a:blip>
          <a:srcRect b="8917" l="0" r="0" t="0"/>
          <a:stretch/>
        </p:blipFill>
        <p:spPr>
          <a:xfrm>
            <a:off x="6555225" y="117493"/>
            <a:ext cx="1183400" cy="10778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55"/>
          <p:cNvSpPr txBox="1"/>
          <p:nvPr/>
        </p:nvSpPr>
        <p:spPr>
          <a:xfrm>
            <a:off x="1524000" y="250623"/>
            <a:ext cx="6819900" cy="461409"/>
          </a:xfrm>
          <a:prstGeom prst="rect">
            <a:avLst/>
          </a:prstGeom>
          <a:noFill/>
          <a:ln>
            <a:noFill/>
          </a:ln>
        </p:spPr>
        <p:txBody>
          <a:bodyPr anchorCtr="0" anchor="t" bIns="0" lIns="0" spcFirstLastPara="1" rIns="0" wrap="square" tIns="0">
            <a:spAutoFit/>
          </a:bodyPr>
          <a:lstStyle/>
          <a:p>
            <a:pPr indent="0" lvl="0" marL="0" marR="0" rtl="0" algn="l">
              <a:lnSpc>
                <a:spcPct val="262500"/>
              </a:lnSpc>
              <a:spcBef>
                <a:spcPts val="0"/>
              </a:spcBef>
              <a:spcAft>
                <a:spcPts val="0"/>
              </a:spcAft>
              <a:buNone/>
            </a:pPr>
            <a:r>
              <a:rPr b="1" lang="id" sz="1600">
                <a:solidFill>
                  <a:srgbClr val="002646"/>
                </a:solidFill>
                <a:latin typeface="Poppins"/>
                <a:ea typeface="Poppins"/>
                <a:cs typeface="Poppins"/>
                <a:sym typeface="Poppins"/>
              </a:rPr>
              <a:t>Mengapa Biro Mustika Adalah Pilihan Tepat untuk Sekolah Anda</a:t>
            </a:r>
            <a:endParaRPr sz="700"/>
          </a:p>
        </p:txBody>
      </p:sp>
      <p:graphicFrame>
        <p:nvGraphicFramePr>
          <p:cNvPr id="616" name="Google Shape;616;p55"/>
          <p:cNvGraphicFramePr/>
          <p:nvPr/>
        </p:nvGraphicFramePr>
        <p:xfrm>
          <a:off x="838200" y="1329866"/>
          <a:ext cx="3000000" cy="3000000"/>
        </p:xfrm>
        <a:graphic>
          <a:graphicData uri="http://schemas.openxmlformats.org/drawingml/2006/table">
            <a:tbl>
              <a:tblPr>
                <a:noFill/>
                <a:tableStyleId>{F6FEB8D4-92E1-4C12-95A0-862D060FE08F}</a:tableStyleId>
              </a:tblPr>
              <a:tblGrid>
                <a:gridCol w="1349025"/>
                <a:gridCol w="3073725"/>
                <a:gridCol w="3159125"/>
              </a:tblGrid>
              <a:tr h="210400">
                <a:tc>
                  <a:txBody>
                    <a:bodyPr/>
                    <a:lstStyle/>
                    <a:p>
                      <a:pPr indent="0" lvl="0" marL="0" marR="0" rtl="0" algn="ctr">
                        <a:spcBef>
                          <a:spcPts val="0"/>
                        </a:spcBef>
                        <a:spcAft>
                          <a:spcPts val="0"/>
                        </a:spcAft>
                        <a:buNone/>
                      </a:pPr>
                      <a:r>
                        <a:rPr b="1" lang="id" sz="1200" u="none" cap="none" strike="noStrike"/>
                        <a:t>Aspek</a:t>
                      </a:r>
                      <a:endParaRPr b="1" i="0" sz="1200" u="none" cap="none" strike="noStrike">
                        <a:solidFill>
                          <a:srgbClr val="000000"/>
                        </a:solidFill>
                        <a:latin typeface="Calibri"/>
                        <a:ea typeface="Calibri"/>
                        <a:cs typeface="Calibri"/>
                        <a:sym typeface="Calibri"/>
                      </a:endParaRPr>
                    </a:p>
                  </a:txBody>
                  <a:tcPr marT="2700" marB="0" marR="2700" marL="2700" anchor="ctr">
                    <a:solidFill>
                      <a:srgbClr val="EAF1DD"/>
                    </a:solidFill>
                  </a:tcPr>
                </a:tc>
                <a:tc>
                  <a:txBody>
                    <a:bodyPr/>
                    <a:lstStyle/>
                    <a:p>
                      <a:pPr indent="0" lvl="0" marL="0" marR="0" rtl="0" algn="ctr">
                        <a:spcBef>
                          <a:spcPts val="0"/>
                        </a:spcBef>
                        <a:spcAft>
                          <a:spcPts val="0"/>
                        </a:spcAft>
                        <a:buNone/>
                      </a:pPr>
                      <a:r>
                        <a:rPr b="1" lang="id" sz="1200" u="none" cap="none" strike="noStrike"/>
                        <a:t>Biro Mustika Psychology Consulting</a:t>
                      </a:r>
                      <a:endParaRPr b="1" i="0" sz="1200" u="none" cap="none" strike="noStrike">
                        <a:solidFill>
                          <a:srgbClr val="000000"/>
                        </a:solidFill>
                        <a:latin typeface="Calibri"/>
                        <a:ea typeface="Calibri"/>
                        <a:cs typeface="Calibri"/>
                        <a:sym typeface="Calibri"/>
                      </a:endParaRPr>
                    </a:p>
                  </a:txBody>
                  <a:tcPr marT="2700" marB="0" marR="2700" marL="2700" anchor="ctr"/>
                </a:tc>
                <a:tc>
                  <a:txBody>
                    <a:bodyPr/>
                    <a:lstStyle/>
                    <a:p>
                      <a:pPr indent="0" lvl="0" marL="0" marR="0" rtl="0" algn="ctr">
                        <a:spcBef>
                          <a:spcPts val="0"/>
                        </a:spcBef>
                        <a:spcAft>
                          <a:spcPts val="0"/>
                        </a:spcAft>
                        <a:buNone/>
                      </a:pPr>
                      <a:r>
                        <a:rPr b="1" lang="id" sz="1200" u="none" cap="none" strike="noStrike"/>
                        <a:t>Biro Psikologi Lain</a:t>
                      </a:r>
                      <a:endParaRPr b="1" i="0" sz="1200" u="none" cap="none" strike="noStrike">
                        <a:solidFill>
                          <a:srgbClr val="000000"/>
                        </a:solidFill>
                        <a:latin typeface="Calibri"/>
                        <a:ea typeface="Calibri"/>
                        <a:cs typeface="Calibri"/>
                        <a:sym typeface="Calibri"/>
                      </a:endParaRPr>
                    </a:p>
                  </a:txBody>
                  <a:tcPr marT="2700" marB="0" marR="2700" marL="2700" anchor="ctr">
                    <a:solidFill>
                      <a:srgbClr val="FDE9D8"/>
                    </a:solidFill>
                  </a:tcPr>
                </a:tc>
              </a:tr>
              <a:tr h="315600">
                <a:tc>
                  <a:txBody>
                    <a:bodyPr/>
                    <a:lstStyle/>
                    <a:p>
                      <a:pPr indent="0" lvl="0" marL="0" marR="0" rtl="0" algn="ctr">
                        <a:spcBef>
                          <a:spcPts val="0"/>
                        </a:spcBef>
                        <a:spcAft>
                          <a:spcPts val="0"/>
                        </a:spcAft>
                        <a:buNone/>
                      </a:pPr>
                      <a:r>
                        <a:rPr b="1" lang="id" sz="1000" u="none" cap="none" strike="noStrike"/>
                        <a:t>Harga</a:t>
                      </a:r>
                      <a:endParaRPr b="1" i="0" sz="1000" u="none" cap="none" strike="noStrike">
                        <a:solidFill>
                          <a:srgbClr val="000000"/>
                        </a:solidFill>
                        <a:latin typeface="Calibri"/>
                        <a:ea typeface="Calibri"/>
                        <a:cs typeface="Calibri"/>
                        <a:sym typeface="Calibri"/>
                      </a:endParaRPr>
                    </a:p>
                  </a:txBody>
                  <a:tcPr marT="2700" marB="0" marR="2700" marL="2700" anchor="ctr">
                    <a:solidFill>
                      <a:srgbClr val="EAF1DD"/>
                    </a:solidFill>
                  </a:tcPr>
                </a:tc>
                <a:tc>
                  <a:txBody>
                    <a:bodyPr/>
                    <a:lstStyle/>
                    <a:p>
                      <a:pPr indent="0" lvl="0" marL="0" marR="0" rtl="0" algn="ctr">
                        <a:spcBef>
                          <a:spcPts val="0"/>
                        </a:spcBef>
                        <a:spcAft>
                          <a:spcPts val="0"/>
                        </a:spcAft>
                        <a:buNone/>
                      </a:pPr>
                      <a:r>
                        <a:rPr b="1" lang="id" sz="1000" u="none" cap="none" strike="noStrike"/>
                        <a:t>Lebih terjangkau </a:t>
                      </a:r>
                      <a:r>
                        <a:rPr lang="id" sz="1000" u="none" cap="none" strike="noStrike"/>
                        <a:t>dengan layanan berkualitas</a:t>
                      </a:r>
                      <a:endParaRPr b="0" i="0" sz="1000" u="none" cap="none" strike="noStrike">
                        <a:solidFill>
                          <a:srgbClr val="000000"/>
                        </a:solidFill>
                        <a:latin typeface="Calibri"/>
                        <a:ea typeface="Calibri"/>
                        <a:cs typeface="Calibri"/>
                        <a:sym typeface="Calibri"/>
                      </a:endParaRPr>
                    </a:p>
                  </a:txBody>
                  <a:tcPr marT="2700" marB="0" marR="2700" marL="2700" anchor="ctr"/>
                </a:tc>
                <a:tc>
                  <a:txBody>
                    <a:bodyPr/>
                    <a:lstStyle/>
                    <a:p>
                      <a:pPr indent="0" lvl="0" marL="0" marR="0" rtl="0" algn="ctr">
                        <a:spcBef>
                          <a:spcPts val="0"/>
                        </a:spcBef>
                        <a:spcAft>
                          <a:spcPts val="0"/>
                        </a:spcAft>
                        <a:buNone/>
                      </a:pPr>
                      <a:r>
                        <a:rPr lang="id" sz="1000" u="none" cap="none" strike="noStrike"/>
                        <a:t>Harga cenderung lebih tinggi tanpa fleksibilitas dalam layanan</a:t>
                      </a:r>
                      <a:endParaRPr b="0" i="0" sz="1000" u="none" cap="none" strike="noStrike">
                        <a:solidFill>
                          <a:srgbClr val="000000"/>
                        </a:solidFill>
                        <a:latin typeface="Calibri"/>
                        <a:ea typeface="Calibri"/>
                        <a:cs typeface="Calibri"/>
                        <a:sym typeface="Calibri"/>
                      </a:endParaRPr>
                    </a:p>
                  </a:txBody>
                  <a:tcPr marT="2700" marB="0" marR="2700" marL="2700" anchor="ctr">
                    <a:solidFill>
                      <a:srgbClr val="FDE9D8"/>
                    </a:solidFill>
                  </a:tcPr>
                </a:tc>
              </a:tr>
              <a:tr h="420800">
                <a:tc>
                  <a:txBody>
                    <a:bodyPr/>
                    <a:lstStyle/>
                    <a:p>
                      <a:pPr indent="0" lvl="0" marL="0" marR="0" rtl="0" algn="ctr">
                        <a:spcBef>
                          <a:spcPts val="0"/>
                        </a:spcBef>
                        <a:spcAft>
                          <a:spcPts val="0"/>
                        </a:spcAft>
                        <a:buNone/>
                      </a:pPr>
                      <a:r>
                        <a:rPr b="1" lang="id" sz="1000" u="none" cap="none" strike="noStrike"/>
                        <a:t>Kemudahan Layanan</a:t>
                      </a:r>
                      <a:endParaRPr b="1" i="0" sz="1000" u="none" cap="none" strike="noStrike">
                        <a:solidFill>
                          <a:srgbClr val="000000"/>
                        </a:solidFill>
                        <a:latin typeface="Calibri"/>
                        <a:ea typeface="Calibri"/>
                        <a:cs typeface="Calibri"/>
                        <a:sym typeface="Calibri"/>
                      </a:endParaRPr>
                    </a:p>
                  </a:txBody>
                  <a:tcPr marT="2700" marB="0" marR="2700" marL="2700" anchor="ctr">
                    <a:solidFill>
                      <a:srgbClr val="EAF1DD"/>
                    </a:solidFill>
                  </a:tcPr>
                </a:tc>
                <a:tc>
                  <a:txBody>
                    <a:bodyPr/>
                    <a:lstStyle/>
                    <a:p>
                      <a:pPr indent="0" lvl="0" marL="0" marR="0" rtl="0" algn="ctr">
                        <a:spcBef>
                          <a:spcPts val="0"/>
                        </a:spcBef>
                        <a:spcAft>
                          <a:spcPts val="0"/>
                        </a:spcAft>
                        <a:buNone/>
                      </a:pPr>
                      <a:r>
                        <a:rPr lang="id" sz="1000" u="none" cap="none" strike="noStrike"/>
                        <a:t>Layanan hadir langsung ke sekolah, </a:t>
                      </a:r>
                      <a:r>
                        <a:rPr b="1" lang="id" sz="1000" u="none" cap="none" strike="noStrike"/>
                        <a:t>lebih mudah dan fleksibel </a:t>
                      </a:r>
                      <a:r>
                        <a:rPr lang="id" sz="1000" u="none" cap="none" strike="noStrike"/>
                        <a:t>bagi siswa, orang tua serta pihak sekolah</a:t>
                      </a:r>
                      <a:endParaRPr b="0" i="0" sz="1000" u="none" cap="none" strike="noStrike">
                        <a:solidFill>
                          <a:srgbClr val="000000"/>
                        </a:solidFill>
                        <a:latin typeface="Calibri"/>
                        <a:ea typeface="Calibri"/>
                        <a:cs typeface="Calibri"/>
                        <a:sym typeface="Calibri"/>
                      </a:endParaRPr>
                    </a:p>
                  </a:txBody>
                  <a:tcPr marT="2700" marB="0" marR="2700" marL="2700" anchor="ctr"/>
                </a:tc>
                <a:tc>
                  <a:txBody>
                    <a:bodyPr/>
                    <a:lstStyle/>
                    <a:p>
                      <a:pPr indent="0" lvl="0" marL="0" marR="0" rtl="0" algn="ctr">
                        <a:spcBef>
                          <a:spcPts val="0"/>
                        </a:spcBef>
                        <a:spcAft>
                          <a:spcPts val="0"/>
                        </a:spcAft>
                        <a:buNone/>
                      </a:pPr>
                      <a:r>
                        <a:rPr lang="id" sz="1000" u="none" cap="none" strike="noStrike"/>
                        <a:t>Klien harus datang ke lokasi biro, menyulitkan orang tua siswa yang bekerja dan memiliki keterbatasan waktu</a:t>
                      </a:r>
                      <a:endParaRPr b="0" i="0" sz="1000" u="none" cap="none" strike="noStrike">
                        <a:solidFill>
                          <a:srgbClr val="000000"/>
                        </a:solidFill>
                        <a:latin typeface="Calibri"/>
                        <a:ea typeface="Calibri"/>
                        <a:cs typeface="Calibri"/>
                        <a:sym typeface="Calibri"/>
                      </a:endParaRPr>
                    </a:p>
                  </a:txBody>
                  <a:tcPr marT="2700" marB="0" marR="2700" marL="2700" anchor="ctr">
                    <a:solidFill>
                      <a:srgbClr val="FDE9D8"/>
                    </a:solidFill>
                  </a:tcPr>
                </a:tc>
              </a:tr>
              <a:tr h="526025">
                <a:tc>
                  <a:txBody>
                    <a:bodyPr/>
                    <a:lstStyle/>
                    <a:p>
                      <a:pPr indent="0" lvl="0" marL="0" marR="0" rtl="0" algn="ctr">
                        <a:spcBef>
                          <a:spcPts val="0"/>
                        </a:spcBef>
                        <a:spcAft>
                          <a:spcPts val="0"/>
                        </a:spcAft>
                        <a:buNone/>
                      </a:pPr>
                      <a:r>
                        <a:rPr b="1" lang="id" sz="1000" u="none" cap="none" strike="noStrike"/>
                        <a:t>Akses Informasi</a:t>
                      </a:r>
                      <a:endParaRPr b="1" i="0" sz="1000" u="none" cap="none" strike="noStrike">
                        <a:solidFill>
                          <a:srgbClr val="000000"/>
                        </a:solidFill>
                        <a:latin typeface="Calibri"/>
                        <a:ea typeface="Calibri"/>
                        <a:cs typeface="Calibri"/>
                        <a:sym typeface="Calibri"/>
                      </a:endParaRPr>
                    </a:p>
                  </a:txBody>
                  <a:tcPr marT="2700" marB="0" marR="2700" marL="2700" anchor="ctr">
                    <a:solidFill>
                      <a:srgbClr val="EAF1DD"/>
                    </a:solidFill>
                  </a:tcPr>
                </a:tc>
                <a:tc>
                  <a:txBody>
                    <a:bodyPr/>
                    <a:lstStyle/>
                    <a:p>
                      <a:pPr indent="0" lvl="0" marL="0" marR="0" rtl="0" algn="ctr">
                        <a:spcBef>
                          <a:spcPts val="0"/>
                        </a:spcBef>
                        <a:spcAft>
                          <a:spcPts val="0"/>
                        </a:spcAft>
                        <a:buNone/>
                      </a:pPr>
                      <a:r>
                        <a:rPr b="1" lang="id" sz="1000" u="none" cap="none" strike="noStrike"/>
                        <a:t>Memberikan akses informasi langsung </a:t>
                      </a:r>
                      <a:r>
                        <a:rPr lang="id" sz="1000" u="none" cap="none" strike="noStrike"/>
                        <a:t>kepada sekolah dan guru terkait hasil analisis dan rekomendasi penanganan siswa</a:t>
                      </a:r>
                      <a:endParaRPr b="0" i="0" sz="1000" u="none" cap="none" strike="noStrike">
                        <a:solidFill>
                          <a:srgbClr val="000000"/>
                        </a:solidFill>
                        <a:latin typeface="Calibri"/>
                        <a:ea typeface="Calibri"/>
                        <a:cs typeface="Calibri"/>
                        <a:sym typeface="Calibri"/>
                      </a:endParaRPr>
                    </a:p>
                  </a:txBody>
                  <a:tcPr marT="2700" marB="0" marR="2700" marL="2700" anchor="ctr"/>
                </a:tc>
                <a:tc>
                  <a:txBody>
                    <a:bodyPr/>
                    <a:lstStyle/>
                    <a:p>
                      <a:pPr indent="0" lvl="0" marL="0" marR="0" rtl="0" algn="ctr">
                        <a:spcBef>
                          <a:spcPts val="0"/>
                        </a:spcBef>
                        <a:spcAft>
                          <a:spcPts val="0"/>
                        </a:spcAft>
                        <a:buNone/>
                      </a:pPr>
                      <a:r>
                        <a:rPr lang="id" sz="1000" u="none" cap="none" strike="noStrike"/>
                        <a:t>Tidak semua biro memberikan akses informasi detail secara langsung, terbatas pada hasil tes</a:t>
                      </a:r>
                      <a:endParaRPr b="0" i="0" sz="1000" u="none" cap="none" strike="noStrike">
                        <a:solidFill>
                          <a:srgbClr val="000000"/>
                        </a:solidFill>
                        <a:latin typeface="Calibri"/>
                        <a:ea typeface="Calibri"/>
                        <a:cs typeface="Calibri"/>
                        <a:sym typeface="Calibri"/>
                      </a:endParaRPr>
                    </a:p>
                  </a:txBody>
                  <a:tcPr marT="2700" marB="0" marR="2700" marL="2700" anchor="ctr">
                    <a:solidFill>
                      <a:srgbClr val="FDE9D8"/>
                    </a:solidFill>
                  </a:tcPr>
                </a:tc>
              </a:tr>
              <a:tr h="420800">
                <a:tc>
                  <a:txBody>
                    <a:bodyPr/>
                    <a:lstStyle/>
                    <a:p>
                      <a:pPr indent="0" lvl="0" marL="0" marR="0" rtl="0" algn="ctr">
                        <a:spcBef>
                          <a:spcPts val="0"/>
                        </a:spcBef>
                        <a:spcAft>
                          <a:spcPts val="0"/>
                        </a:spcAft>
                        <a:buNone/>
                      </a:pPr>
                      <a:r>
                        <a:rPr b="1" lang="id" sz="1000" u="none" cap="none" strike="noStrike"/>
                        <a:t>Integrasi Informasi</a:t>
                      </a:r>
                      <a:endParaRPr b="1" i="0" sz="1000" u="none" cap="none" strike="noStrike">
                        <a:solidFill>
                          <a:srgbClr val="000000"/>
                        </a:solidFill>
                        <a:latin typeface="Calibri"/>
                        <a:ea typeface="Calibri"/>
                        <a:cs typeface="Calibri"/>
                        <a:sym typeface="Calibri"/>
                      </a:endParaRPr>
                    </a:p>
                  </a:txBody>
                  <a:tcPr marT="2700" marB="0" marR="2700" marL="2700" anchor="ctr">
                    <a:solidFill>
                      <a:srgbClr val="EAF1DD"/>
                    </a:solidFill>
                  </a:tcPr>
                </a:tc>
                <a:tc>
                  <a:txBody>
                    <a:bodyPr/>
                    <a:lstStyle/>
                    <a:p>
                      <a:pPr indent="0" lvl="0" marL="0" marR="0" rtl="0" algn="ctr">
                        <a:spcBef>
                          <a:spcPts val="0"/>
                        </a:spcBef>
                        <a:spcAft>
                          <a:spcPts val="0"/>
                        </a:spcAft>
                        <a:buNone/>
                      </a:pPr>
                      <a:r>
                        <a:rPr lang="id" sz="1000" u="none" cap="none" strike="noStrike"/>
                        <a:t>Tersedia program </a:t>
                      </a:r>
                      <a:r>
                        <a:rPr b="1" lang="id" sz="1000" u="none" cap="none" strike="noStrike"/>
                        <a:t>kolaborasi</a:t>
                      </a:r>
                      <a:r>
                        <a:rPr lang="id" sz="1000" u="none" cap="none" strike="noStrike"/>
                        <a:t> antara guru, orang tua, dan psikolog untuk pengembangan siswa</a:t>
                      </a:r>
                      <a:endParaRPr b="0" i="0" sz="1000" u="none" cap="none" strike="noStrike">
                        <a:solidFill>
                          <a:srgbClr val="000000"/>
                        </a:solidFill>
                        <a:latin typeface="Calibri"/>
                        <a:ea typeface="Calibri"/>
                        <a:cs typeface="Calibri"/>
                        <a:sym typeface="Calibri"/>
                      </a:endParaRPr>
                    </a:p>
                  </a:txBody>
                  <a:tcPr marT="2700" marB="0" marR="2700" marL="2700" anchor="ctr"/>
                </a:tc>
                <a:tc>
                  <a:txBody>
                    <a:bodyPr/>
                    <a:lstStyle/>
                    <a:p>
                      <a:pPr indent="0" lvl="0" marL="0" marR="0" rtl="0" algn="ctr">
                        <a:spcBef>
                          <a:spcPts val="0"/>
                        </a:spcBef>
                        <a:spcAft>
                          <a:spcPts val="0"/>
                        </a:spcAft>
                        <a:buNone/>
                      </a:pPr>
                      <a:r>
                        <a:rPr lang="id" sz="1000" u="none" cap="none" strike="noStrike"/>
                        <a:t>Layanan konsultasi sering kali tidak terintegrasi secara langsung dengan pihak sekolah atau orang tua siswa</a:t>
                      </a:r>
                      <a:endParaRPr b="0" i="0" sz="1000" u="none" cap="none" strike="noStrike">
                        <a:solidFill>
                          <a:srgbClr val="000000"/>
                        </a:solidFill>
                        <a:latin typeface="Calibri"/>
                        <a:ea typeface="Calibri"/>
                        <a:cs typeface="Calibri"/>
                        <a:sym typeface="Calibri"/>
                      </a:endParaRPr>
                    </a:p>
                  </a:txBody>
                  <a:tcPr marT="2700" marB="0" marR="2700" marL="2700" anchor="ctr">
                    <a:solidFill>
                      <a:srgbClr val="FDE9D8"/>
                    </a:solidFill>
                  </a:tcPr>
                </a:tc>
              </a:tr>
              <a:tr h="373450">
                <a:tc>
                  <a:txBody>
                    <a:bodyPr/>
                    <a:lstStyle/>
                    <a:p>
                      <a:pPr indent="0" lvl="0" marL="0" marR="0" rtl="0" algn="ctr">
                        <a:spcBef>
                          <a:spcPts val="0"/>
                        </a:spcBef>
                        <a:spcAft>
                          <a:spcPts val="0"/>
                        </a:spcAft>
                        <a:buNone/>
                      </a:pPr>
                      <a:r>
                        <a:rPr b="1" lang="id" sz="1000" u="none" cap="none" strike="noStrike"/>
                        <a:t>Lisensi dan Legalitas</a:t>
                      </a:r>
                      <a:endParaRPr b="1" i="0" sz="1000" u="none" cap="none" strike="noStrike">
                        <a:solidFill>
                          <a:srgbClr val="000000"/>
                        </a:solidFill>
                        <a:latin typeface="Calibri"/>
                        <a:ea typeface="Calibri"/>
                        <a:cs typeface="Calibri"/>
                        <a:sym typeface="Calibri"/>
                      </a:endParaRPr>
                    </a:p>
                  </a:txBody>
                  <a:tcPr marT="2700" marB="0" marR="2700" marL="2700" anchor="ctr">
                    <a:solidFill>
                      <a:srgbClr val="EAF1DD"/>
                    </a:solidFill>
                  </a:tcPr>
                </a:tc>
                <a:tc>
                  <a:txBody>
                    <a:bodyPr/>
                    <a:lstStyle/>
                    <a:p>
                      <a:pPr indent="0" lvl="0" marL="0" marR="0" rtl="0" algn="ctr">
                        <a:spcBef>
                          <a:spcPts val="0"/>
                        </a:spcBef>
                        <a:spcAft>
                          <a:spcPts val="0"/>
                        </a:spcAft>
                        <a:buNone/>
                      </a:pPr>
                      <a:r>
                        <a:rPr b="1" lang="id" sz="1000" u="none" cap="none" strike="noStrike"/>
                        <a:t>Tersertifikasi</a:t>
                      </a:r>
                      <a:r>
                        <a:rPr lang="id" sz="1000" u="none" cap="none" strike="noStrike"/>
                        <a:t> oleh HIMPSI, Dinas Kesehatan, dan berbadan hukum PT</a:t>
                      </a:r>
                      <a:endParaRPr b="0" i="0" sz="1000" u="none" cap="none" strike="noStrike">
                        <a:solidFill>
                          <a:srgbClr val="000000"/>
                        </a:solidFill>
                        <a:latin typeface="Calibri"/>
                        <a:ea typeface="Calibri"/>
                        <a:cs typeface="Calibri"/>
                        <a:sym typeface="Calibri"/>
                      </a:endParaRPr>
                    </a:p>
                  </a:txBody>
                  <a:tcPr marT="2700" marB="0" marR="2700" marL="2700" anchor="ctr"/>
                </a:tc>
                <a:tc>
                  <a:txBody>
                    <a:bodyPr/>
                    <a:lstStyle/>
                    <a:p>
                      <a:pPr indent="0" lvl="0" marL="0" marR="0" rtl="0" algn="ctr">
                        <a:spcBef>
                          <a:spcPts val="0"/>
                        </a:spcBef>
                        <a:spcAft>
                          <a:spcPts val="0"/>
                        </a:spcAft>
                        <a:buNone/>
                      </a:pPr>
                      <a:r>
                        <a:rPr lang="id" sz="1000" u="none" cap="none" strike="noStrike"/>
                        <a:t>Beberapa biro tidak memiliki lisensi praktek penuh atau legalitas berbadan hukum</a:t>
                      </a:r>
                      <a:endParaRPr b="0" i="0" sz="1000" u="none" cap="none" strike="noStrike">
                        <a:solidFill>
                          <a:srgbClr val="000000"/>
                        </a:solidFill>
                        <a:latin typeface="Calibri"/>
                        <a:ea typeface="Calibri"/>
                        <a:cs typeface="Calibri"/>
                        <a:sym typeface="Calibri"/>
                      </a:endParaRPr>
                    </a:p>
                  </a:txBody>
                  <a:tcPr marT="2700" marB="0" marR="2700" marL="2700" anchor="ctr">
                    <a:solidFill>
                      <a:srgbClr val="FDE9D8"/>
                    </a:solidFill>
                  </a:tcPr>
                </a:tc>
              </a:tr>
              <a:tr h="420800">
                <a:tc>
                  <a:txBody>
                    <a:bodyPr/>
                    <a:lstStyle/>
                    <a:p>
                      <a:pPr indent="0" lvl="0" marL="0" marR="0" rtl="0" algn="ctr">
                        <a:spcBef>
                          <a:spcPts val="0"/>
                        </a:spcBef>
                        <a:spcAft>
                          <a:spcPts val="0"/>
                        </a:spcAft>
                        <a:buNone/>
                      </a:pPr>
                      <a:r>
                        <a:rPr b="1" lang="id" sz="1000" u="none" cap="none" strike="noStrike"/>
                        <a:t>Layanan Intervensi</a:t>
                      </a:r>
                      <a:endParaRPr b="1" i="0" sz="1000" u="none" cap="none" strike="noStrike">
                        <a:solidFill>
                          <a:srgbClr val="000000"/>
                        </a:solidFill>
                        <a:latin typeface="Calibri"/>
                        <a:ea typeface="Calibri"/>
                        <a:cs typeface="Calibri"/>
                        <a:sym typeface="Calibri"/>
                      </a:endParaRPr>
                    </a:p>
                  </a:txBody>
                  <a:tcPr marT="2700" marB="0" marR="2700" marL="2700" anchor="ctr">
                    <a:solidFill>
                      <a:srgbClr val="EAF1DD"/>
                    </a:solidFill>
                  </a:tcPr>
                </a:tc>
                <a:tc>
                  <a:txBody>
                    <a:bodyPr/>
                    <a:lstStyle/>
                    <a:p>
                      <a:pPr indent="0" lvl="0" marL="0" marR="0" rtl="0" algn="ctr">
                        <a:spcBef>
                          <a:spcPts val="0"/>
                        </a:spcBef>
                        <a:spcAft>
                          <a:spcPts val="0"/>
                        </a:spcAft>
                        <a:buNone/>
                      </a:pPr>
                      <a:r>
                        <a:rPr lang="id" sz="1000" u="none" cap="none" strike="noStrike"/>
                        <a:t>Menyediakan akses </a:t>
                      </a:r>
                      <a:r>
                        <a:rPr b="1" lang="id" sz="1000" u="none" cap="none" strike="noStrike"/>
                        <a:t>layanan terapi perilaku di sekolah </a:t>
                      </a:r>
                      <a:r>
                        <a:rPr lang="id" sz="1000" u="none" cap="none" strike="noStrike"/>
                        <a:t>untuk kemudahan intervensi dan tindak lanjut yang efektif</a:t>
                      </a:r>
                      <a:endParaRPr b="0" i="0" sz="1000" u="none" cap="none" strike="noStrike">
                        <a:solidFill>
                          <a:srgbClr val="000000"/>
                        </a:solidFill>
                        <a:latin typeface="Calibri"/>
                        <a:ea typeface="Calibri"/>
                        <a:cs typeface="Calibri"/>
                        <a:sym typeface="Calibri"/>
                      </a:endParaRPr>
                    </a:p>
                  </a:txBody>
                  <a:tcPr marT="2700" marB="0" marR="2700" marL="2700" anchor="ctr"/>
                </a:tc>
                <a:tc>
                  <a:txBody>
                    <a:bodyPr/>
                    <a:lstStyle/>
                    <a:p>
                      <a:pPr indent="0" lvl="0" marL="0" marR="0" rtl="0" algn="ctr">
                        <a:spcBef>
                          <a:spcPts val="0"/>
                        </a:spcBef>
                        <a:spcAft>
                          <a:spcPts val="0"/>
                        </a:spcAft>
                        <a:buNone/>
                      </a:pPr>
                      <a:r>
                        <a:rPr lang="id" sz="1000" u="none" cap="none" strike="noStrike"/>
                        <a:t>Tidak semua biro memiliki psikolog stand by di tempat, keterbatasan kapabilitas untuk analisis dan intervensi</a:t>
                      </a:r>
                      <a:endParaRPr b="0" i="0" sz="1000" u="none" cap="none" strike="noStrike">
                        <a:solidFill>
                          <a:srgbClr val="000000"/>
                        </a:solidFill>
                        <a:latin typeface="Calibri"/>
                        <a:ea typeface="Calibri"/>
                        <a:cs typeface="Calibri"/>
                        <a:sym typeface="Calibri"/>
                      </a:endParaRPr>
                    </a:p>
                  </a:txBody>
                  <a:tcPr marT="2700" marB="0" marR="2700" marL="2700" anchor="ctr">
                    <a:solidFill>
                      <a:srgbClr val="FDE9D8"/>
                    </a:solidFill>
                  </a:tcPr>
                </a:tc>
              </a:tr>
              <a:tr h="420800">
                <a:tc>
                  <a:txBody>
                    <a:bodyPr/>
                    <a:lstStyle/>
                    <a:p>
                      <a:pPr indent="0" lvl="0" marL="0" marR="0" rtl="0" algn="ctr">
                        <a:spcBef>
                          <a:spcPts val="0"/>
                        </a:spcBef>
                        <a:spcAft>
                          <a:spcPts val="0"/>
                        </a:spcAft>
                        <a:buNone/>
                      </a:pPr>
                      <a:r>
                        <a:rPr b="1" lang="id" sz="1000" u="none" cap="none" strike="noStrike"/>
                        <a:t>Manfaat Kerjasama</a:t>
                      </a:r>
                      <a:endParaRPr b="1" i="0" sz="1000" u="none" cap="none" strike="noStrike">
                        <a:solidFill>
                          <a:srgbClr val="000000"/>
                        </a:solidFill>
                        <a:latin typeface="Calibri"/>
                        <a:ea typeface="Calibri"/>
                        <a:cs typeface="Calibri"/>
                        <a:sym typeface="Calibri"/>
                      </a:endParaRPr>
                    </a:p>
                  </a:txBody>
                  <a:tcPr marT="2700" marB="0" marR="2700" marL="2700" anchor="ctr">
                    <a:solidFill>
                      <a:srgbClr val="EAF1DD"/>
                    </a:solidFill>
                  </a:tcPr>
                </a:tc>
                <a:tc>
                  <a:txBody>
                    <a:bodyPr/>
                    <a:lstStyle/>
                    <a:p>
                      <a:pPr indent="0" lvl="0" marL="0" marR="0" rtl="0" algn="ctr">
                        <a:spcBef>
                          <a:spcPts val="0"/>
                        </a:spcBef>
                        <a:spcAft>
                          <a:spcPts val="0"/>
                        </a:spcAft>
                        <a:buNone/>
                      </a:pPr>
                      <a:r>
                        <a:rPr b="1" lang="id" sz="1000"/>
                        <a:t>Membangun Ekosistem End to End Inklusi</a:t>
                      </a:r>
                      <a:endParaRPr b="0" i="0" sz="1000" u="none" cap="none" strike="noStrike">
                        <a:solidFill>
                          <a:srgbClr val="000000"/>
                        </a:solidFill>
                        <a:latin typeface="Calibri"/>
                        <a:ea typeface="Calibri"/>
                        <a:cs typeface="Calibri"/>
                        <a:sym typeface="Calibri"/>
                      </a:endParaRPr>
                    </a:p>
                  </a:txBody>
                  <a:tcPr marT="2700" marB="0" marR="2700" marL="2700" anchor="ctr"/>
                </a:tc>
                <a:tc>
                  <a:txBody>
                    <a:bodyPr/>
                    <a:lstStyle/>
                    <a:p>
                      <a:pPr indent="0" lvl="0" marL="0" marR="0" rtl="0" algn="ctr">
                        <a:spcBef>
                          <a:spcPts val="0"/>
                        </a:spcBef>
                        <a:spcAft>
                          <a:spcPts val="0"/>
                        </a:spcAft>
                        <a:buNone/>
                      </a:pPr>
                      <a:r>
                        <a:rPr lang="id" sz="1000" u="none" cap="none" strike="noStrike"/>
                        <a:t>Biro lain umumnya </a:t>
                      </a:r>
                      <a:r>
                        <a:rPr lang="id" sz="1000"/>
                        <a:t>hanya menawarkan program psikotes</a:t>
                      </a:r>
                      <a:endParaRPr b="0" i="0" sz="1000" u="none" cap="none" strike="noStrike">
                        <a:solidFill>
                          <a:srgbClr val="000000"/>
                        </a:solidFill>
                        <a:latin typeface="Calibri"/>
                        <a:ea typeface="Calibri"/>
                        <a:cs typeface="Calibri"/>
                        <a:sym typeface="Calibri"/>
                      </a:endParaRPr>
                    </a:p>
                  </a:txBody>
                  <a:tcPr marT="2700" marB="0" marR="2700" marL="2700" anchor="ctr">
                    <a:solidFill>
                      <a:srgbClr val="FDE9D8"/>
                    </a:solidFill>
                  </a:tcPr>
                </a:tc>
              </a:tr>
            </a:tbl>
          </a:graphicData>
        </a:graphic>
      </p:graphicFrame>
      <p:sp>
        <p:nvSpPr>
          <p:cNvPr id="617" name="Google Shape;617;p55"/>
          <p:cNvSpPr/>
          <p:nvPr/>
        </p:nvSpPr>
        <p:spPr>
          <a:xfrm>
            <a:off x="463256" y="1962150"/>
            <a:ext cx="298744" cy="273639"/>
          </a:xfrm>
          <a:custGeom>
            <a:rect b="b" l="l" r="r" t="t"/>
            <a:pathLst>
              <a:path extrusionOk="0" h="2940925" w="3210745">
                <a:moveTo>
                  <a:pt x="340528" y="2526682"/>
                </a:moveTo>
                <a:cubicBezTo>
                  <a:pt x="280875" y="2526682"/>
                  <a:pt x="232516" y="2575041"/>
                  <a:pt x="232516" y="2634694"/>
                </a:cubicBezTo>
                <a:cubicBezTo>
                  <a:pt x="232516" y="2694347"/>
                  <a:pt x="280875" y="2742706"/>
                  <a:pt x="340528" y="2742706"/>
                </a:cubicBezTo>
                <a:cubicBezTo>
                  <a:pt x="400181" y="2742706"/>
                  <a:pt x="448540" y="2694347"/>
                  <a:pt x="448540" y="2634694"/>
                </a:cubicBezTo>
                <a:cubicBezTo>
                  <a:pt x="448540" y="2575041"/>
                  <a:pt x="400181" y="2526682"/>
                  <a:pt x="340528" y="2526682"/>
                </a:cubicBezTo>
                <a:close/>
                <a:moveTo>
                  <a:pt x="1821636" y="152"/>
                </a:moveTo>
                <a:cubicBezTo>
                  <a:pt x="1920275" y="-4956"/>
                  <a:pt x="2051571" y="119306"/>
                  <a:pt x="2102482" y="278737"/>
                </a:cubicBezTo>
                <a:cubicBezTo>
                  <a:pt x="2192513" y="649582"/>
                  <a:pt x="1575154" y="1213351"/>
                  <a:pt x="2006019" y="1236931"/>
                </a:cubicBezTo>
                <a:cubicBezTo>
                  <a:pt x="2310412" y="1206920"/>
                  <a:pt x="2473326" y="1176910"/>
                  <a:pt x="2803442" y="1166192"/>
                </a:cubicBezTo>
                <a:cubicBezTo>
                  <a:pt x="3103547" y="1170479"/>
                  <a:pt x="3152850" y="1361260"/>
                  <a:pt x="3002798" y="1564903"/>
                </a:cubicBezTo>
                <a:cubicBezTo>
                  <a:pt x="3191435" y="1575621"/>
                  <a:pt x="3347919" y="1869296"/>
                  <a:pt x="3022090" y="1989338"/>
                </a:cubicBezTo>
                <a:cubicBezTo>
                  <a:pt x="3332913" y="2182262"/>
                  <a:pt x="3154994" y="2426634"/>
                  <a:pt x="2977074" y="2471650"/>
                </a:cubicBezTo>
                <a:cubicBezTo>
                  <a:pt x="3127127" y="2606697"/>
                  <a:pt x="3109978" y="2709590"/>
                  <a:pt x="2957782" y="2793191"/>
                </a:cubicBezTo>
                <a:cubicBezTo>
                  <a:pt x="2620164" y="2932526"/>
                  <a:pt x="1747715" y="3028988"/>
                  <a:pt x="1253613" y="2818914"/>
                </a:cubicBezTo>
                <a:cubicBezTo>
                  <a:pt x="1018944" y="2738561"/>
                  <a:pt x="869067" y="2654318"/>
                  <a:pt x="700568" y="2648441"/>
                </a:cubicBezTo>
                <a:lnTo>
                  <a:pt x="700568" y="2796242"/>
                </a:lnTo>
                <a:cubicBezTo>
                  <a:pt x="700568" y="2860729"/>
                  <a:pt x="648291" y="2913006"/>
                  <a:pt x="583804" y="2913006"/>
                </a:cubicBezTo>
                <a:lnTo>
                  <a:pt x="0" y="2913006"/>
                </a:lnTo>
                <a:lnTo>
                  <a:pt x="0" y="1400838"/>
                </a:lnTo>
                <a:lnTo>
                  <a:pt x="583804" y="1400838"/>
                </a:lnTo>
                <a:cubicBezTo>
                  <a:pt x="648291" y="1400838"/>
                  <a:pt x="700568" y="1453115"/>
                  <a:pt x="700568" y="1517602"/>
                </a:cubicBezTo>
                <a:lnTo>
                  <a:pt x="700568" y="1571674"/>
                </a:lnTo>
                <a:cubicBezTo>
                  <a:pt x="721537" y="1568378"/>
                  <a:pt x="746526" y="1559634"/>
                  <a:pt x="784162" y="1539180"/>
                </a:cubicBezTo>
                <a:cubicBezTo>
                  <a:pt x="831321" y="1421281"/>
                  <a:pt x="890271" y="1323747"/>
                  <a:pt x="1034964" y="1191915"/>
                </a:cubicBezTo>
                <a:cubicBezTo>
                  <a:pt x="1257900" y="851081"/>
                  <a:pt x="1628744" y="677449"/>
                  <a:pt x="1703770" y="169413"/>
                </a:cubicBezTo>
                <a:cubicBezTo>
                  <a:pt x="1715024" y="52855"/>
                  <a:pt x="1762452" y="3217"/>
                  <a:pt x="1821636" y="152"/>
                </a:cubicBezTo>
                <a:close/>
              </a:path>
            </a:pathLst>
          </a:custGeom>
          <a:solidFill>
            <a:schemeClr val="accent1"/>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18" name="Google Shape;618;p55"/>
          <p:cNvSpPr/>
          <p:nvPr/>
        </p:nvSpPr>
        <p:spPr>
          <a:xfrm>
            <a:off x="495444" y="1657350"/>
            <a:ext cx="252949" cy="141699"/>
          </a:xfrm>
          <a:custGeom>
            <a:rect b="b" l="l" r="r" t="t"/>
            <a:pathLst>
              <a:path extrusionOk="0" h="2554996" w="4560938">
                <a:moveTo>
                  <a:pt x="2315585" y="1351978"/>
                </a:moveTo>
                <a:lnTo>
                  <a:pt x="2315585" y="1608128"/>
                </a:lnTo>
                <a:cubicBezTo>
                  <a:pt x="2332000" y="1604085"/>
                  <a:pt x="2347685" y="1596777"/>
                  <a:pt x="2361832" y="1586519"/>
                </a:cubicBezTo>
                <a:cubicBezTo>
                  <a:pt x="2403345" y="1556419"/>
                  <a:pt x="2424829" y="1505846"/>
                  <a:pt x="2417675" y="1455070"/>
                </a:cubicBezTo>
                <a:cubicBezTo>
                  <a:pt x="2409025" y="1388817"/>
                  <a:pt x="2368208" y="1366470"/>
                  <a:pt x="2315585" y="1351978"/>
                </a:cubicBezTo>
                <a:close/>
                <a:moveTo>
                  <a:pt x="3612086" y="989467"/>
                </a:moveTo>
                <a:cubicBezTo>
                  <a:pt x="3453010" y="989467"/>
                  <a:pt x="3324054" y="1118423"/>
                  <a:pt x="3324054" y="1277499"/>
                </a:cubicBezTo>
                <a:cubicBezTo>
                  <a:pt x="3324054" y="1436575"/>
                  <a:pt x="3453010" y="1565531"/>
                  <a:pt x="3612086" y="1565531"/>
                </a:cubicBezTo>
                <a:cubicBezTo>
                  <a:pt x="3771162" y="1565531"/>
                  <a:pt x="3900118" y="1436575"/>
                  <a:pt x="3900118" y="1277499"/>
                </a:cubicBezTo>
                <a:cubicBezTo>
                  <a:pt x="3900118" y="1118423"/>
                  <a:pt x="3771162" y="989467"/>
                  <a:pt x="3612086" y="989467"/>
                </a:cubicBezTo>
                <a:close/>
                <a:moveTo>
                  <a:pt x="948854" y="989467"/>
                </a:moveTo>
                <a:cubicBezTo>
                  <a:pt x="789778" y="989467"/>
                  <a:pt x="660822" y="1118423"/>
                  <a:pt x="660822" y="1277499"/>
                </a:cubicBezTo>
                <a:cubicBezTo>
                  <a:pt x="660822" y="1436575"/>
                  <a:pt x="789778" y="1565531"/>
                  <a:pt x="948854" y="1565531"/>
                </a:cubicBezTo>
                <a:cubicBezTo>
                  <a:pt x="1107930" y="1565531"/>
                  <a:pt x="1236886" y="1436575"/>
                  <a:pt x="1236886" y="1277499"/>
                </a:cubicBezTo>
                <a:cubicBezTo>
                  <a:pt x="1236886" y="1118423"/>
                  <a:pt x="1107930" y="989467"/>
                  <a:pt x="948854" y="989467"/>
                </a:cubicBezTo>
                <a:close/>
                <a:moveTo>
                  <a:pt x="2247651" y="946230"/>
                </a:moveTo>
                <a:cubicBezTo>
                  <a:pt x="2230469" y="950266"/>
                  <a:pt x="2214012" y="957763"/>
                  <a:pt x="2199233" y="968479"/>
                </a:cubicBezTo>
                <a:cubicBezTo>
                  <a:pt x="2157721" y="998579"/>
                  <a:pt x="2136236" y="1049152"/>
                  <a:pt x="2143390" y="1099928"/>
                </a:cubicBezTo>
                <a:cubicBezTo>
                  <a:pt x="2157154" y="1167662"/>
                  <a:pt x="2197550" y="1197656"/>
                  <a:pt x="2247651" y="1217102"/>
                </a:cubicBezTo>
                <a:close/>
                <a:moveTo>
                  <a:pt x="2247651" y="785264"/>
                </a:moveTo>
                <a:lnTo>
                  <a:pt x="2315585" y="785264"/>
                </a:lnTo>
                <a:lnTo>
                  <a:pt x="2315585" y="832380"/>
                </a:lnTo>
                <a:cubicBezTo>
                  <a:pt x="2341411" y="835890"/>
                  <a:pt x="2366862" y="843587"/>
                  <a:pt x="2390991" y="855423"/>
                </a:cubicBezTo>
                <a:cubicBezTo>
                  <a:pt x="2474360" y="896319"/>
                  <a:pt x="2528313" y="979930"/>
                  <a:pt x="2531223" y="1072743"/>
                </a:cubicBezTo>
                <a:lnTo>
                  <a:pt x="2418963" y="1076264"/>
                </a:lnTo>
                <a:cubicBezTo>
                  <a:pt x="2417356" y="1025012"/>
                  <a:pt x="2387564" y="978842"/>
                  <a:pt x="2341528" y="956260"/>
                </a:cubicBezTo>
                <a:cubicBezTo>
                  <a:pt x="2333151" y="952151"/>
                  <a:pt x="2324486" y="948946"/>
                  <a:pt x="2315585" y="946938"/>
                </a:cubicBezTo>
                <a:lnTo>
                  <a:pt x="2315585" y="1239083"/>
                </a:lnTo>
                <a:cubicBezTo>
                  <a:pt x="2404308" y="1264638"/>
                  <a:pt x="2499083" y="1293869"/>
                  <a:pt x="2528899" y="1441205"/>
                </a:cubicBezTo>
                <a:cubicBezTo>
                  <a:pt x="2541347" y="1532528"/>
                  <a:pt x="2502457" y="1623287"/>
                  <a:pt x="2427762" y="1677447"/>
                </a:cubicBezTo>
                <a:cubicBezTo>
                  <a:pt x="2394006" y="1701923"/>
                  <a:pt x="2355419" y="1717125"/>
                  <a:pt x="2315585" y="1722661"/>
                </a:cubicBezTo>
                <a:lnTo>
                  <a:pt x="2315585" y="1769734"/>
                </a:lnTo>
                <a:lnTo>
                  <a:pt x="2247651" y="1769734"/>
                </a:lnTo>
                <a:lnTo>
                  <a:pt x="2247651" y="1722944"/>
                </a:lnTo>
                <a:cubicBezTo>
                  <a:pt x="2221084" y="1719537"/>
                  <a:pt x="2194881" y="1711743"/>
                  <a:pt x="2170074" y="1699575"/>
                </a:cubicBezTo>
                <a:cubicBezTo>
                  <a:pt x="2086705" y="1658679"/>
                  <a:pt x="2032752" y="1575069"/>
                  <a:pt x="2029842" y="1482255"/>
                </a:cubicBezTo>
                <a:lnTo>
                  <a:pt x="2142102" y="1478734"/>
                </a:lnTo>
                <a:cubicBezTo>
                  <a:pt x="2143709" y="1529986"/>
                  <a:pt x="2173501" y="1576156"/>
                  <a:pt x="2219537" y="1598738"/>
                </a:cubicBezTo>
                <a:cubicBezTo>
                  <a:pt x="2228602" y="1603184"/>
                  <a:pt x="2238004" y="1606573"/>
                  <a:pt x="2247651" y="1608616"/>
                </a:cubicBezTo>
                <a:lnTo>
                  <a:pt x="2247651" y="1335176"/>
                </a:lnTo>
                <a:cubicBezTo>
                  <a:pt x="2162261" y="1314127"/>
                  <a:pt x="2069489" y="1278142"/>
                  <a:pt x="2032173" y="1115597"/>
                </a:cubicBezTo>
                <a:cubicBezTo>
                  <a:pt x="2019217" y="1023646"/>
                  <a:pt x="2058125" y="932061"/>
                  <a:pt x="2133303" y="877552"/>
                </a:cubicBezTo>
                <a:cubicBezTo>
                  <a:pt x="2167670" y="852632"/>
                  <a:pt x="2207046" y="837325"/>
                  <a:pt x="2247651" y="832077"/>
                </a:cubicBezTo>
                <a:close/>
                <a:moveTo>
                  <a:pt x="2280470" y="617534"/>
                </a:moveTo>
                <a:cubicBezTo>
                  <a:pt x="1915981" y="617534"/>
                  <a:pt x="1620504" y="913011"/>
                  <a:pt x="1620504" y="1277500"/>
                </a:cubicBezTo>
                <a:cubicBezTo>
                  <a:pt x="1620504" y="1641989"/>
                  <a:pt x="1915981" y="1937466"/>
                  <a:pt x="2280470" y="1937466"/>
                </a:cubicBezTo>
                <a:cubicBezTo>
                  <a:pt x="2644959" y="1937466"/>
                  <a:pt x="2940436" y="1641989"/>
                  <a:pt x="2940436" y="1277500"/>
                </a:cubicBezTo>
                <a:cubicBezTo>
                  <a:pt x="2940436" y="913011"/>
                  <a:pt x="2644959" y="617534"/>
                  <a:pt x="2280470" y="617534"/>
                </a:cubicBezTo>
                <a:close/>
                <a:moveTo>
                  <a:pt x="284505" y="265281"/>
                </a:moveTo>
                <a:lnTo>
                  <a:pt x="4276434" y="265281"/>
                </a:lnTo>
                <a:lnTo>
                  <a:pt x="4276434" y="2289716"/>
                </a:lnTo>
                <a:lnTo>
                  <a:pt x="284505" y="2289716"/>
                </a:lnTo>
                <a:close/>
                <a:moveTo>
                  <a:pt x="180344" y="148161"/>
                </a:moveTo>
                <a:lnTo>
                  <a:pt x="180344" y="2406836"/>
                </a:lnTo>
                <a:lnTo>
                  <a:pt x="4380595" y="2406836"/>
                </a:lnTo>
                <a:lnTo>
                  <a:pt x="4380595" y="148161"/>
                </a:lnTo>
                <a:close/>
                <a:moveTo>
                  <a:pt x="0" y="0"/>
                </a:moveTo>
                <a:lnTo>
                  <a:pt x="4560938" y="0"/>
                </a:lnTo>
                <a:lnTo>
                  <a:pt x="4560938" y="2554996"/>
                </a:lnTo>
                <a:lnTo>
                  <a:pt x="0" y="2554996"/>
                </a:lnTo>
                <a:close/>
              </a:path>
            </a:pathLst>
          </a:custGeom>
          <a:solidFill>
            <a:srgbClr val="92D050"/>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19" name="Google Shape;619;p55"/>
          <p:cNvSpPr/>
          <p:nvPr/>
        </p:nvSpPr>
        <p:spPr>
          <a:xfrm>
            <a:off x="484689" y="4171950"/>
            <a:ext cx="202110" cy="201892"/>
          </a:xfrm>
          <a:custGeom>
            <a:rect b="b" l="l" r="r" t="t"/>
            <a:pathLst>
              <a:path extrusionOk="0" h="3225610" w="3229104">
                <a:moveTo>
                  <a:pt x="2311104" y="907633"/>
                </a:moveTo>
                <a:lnTo>
                  <a:pt x="3229104" y="907633"/>
                </a:lnTo>
                <a:lnTo>
                  <a:pt x="1769979" y="3097491"/>
                </a:lnTo>
                <a:close/>
                <a:moveTo>
                  <a:pt x="823" y="907633"/>
                </a:moveTo>
                <a:lnTo>
                  <a:pt x="918823" y="907633"/>
                </a:lnTo>
                <a:lnTo>
                  <a:pt x="1498048" y="3135591"/>
                </a:lnTo>
                <a:close/>
                <a:moveTo>
                  <a:pt x="1036980" y="907632"/>
                </a:moveTo>
                <a:lnTo>
                  <a:pt x="2192122" y="907632"/>
                </a:lnTo>
                <a:lnTo>
                  <a:pt x="1614551" y="3225610"/>
                </a:lnTo>
                <a:close/>
                <a:moveTo>
                  <a:pt x="2769693" y="0"/>
                </a:moveTo>
                <a:lnTo>
                  <a:pt x="3229104" y="792088"/>
                </a:lnTo>
                <a:lnTo>
                  <a:pt x="2310282" y="792088"/>
                </a:lnTo>
                <a:close/>
                <a:moveTo>
                  <a:pt x="1732713" y="0"/>
                </a:moveTo>
                <a:lnTo>
                  <a:pt x="2651535" y="0"/>
                </a:lnTo>
                <a:lnTo>
                  <a:pt x="2192124" y="792088"/>
                </a:lnTo>
                <a:close/>
                <a:moveTo>
                  <a:pt x="1614553" y="0"/>
                </a:moveTo>
                <a:lnTo>
                  <a:pt x="2073964" y="792088"/>
                </a:lnTo>
                <a:lnTo>
                  <a:pt x="1155142" y="792088"/>
                </a:lnTo>
                <a:close/>
                <a:moveTo>
                  <a:pt x="577571" y="0"/>
                </a:moveTo>
                <a:lnTo>
                  <a:pt x="1496393" y="0"/>
                </a:lnTo>
                <a:lnTo>
                  <a:pt x="1036982" y="792088"/>
                </a:lnTo>
                <a:close/>
                <a:moveTo>
                  <a:pt x="459411" y="0"/>
                </a:moveTo>
                <a:lnTo>
                  <a:pt x="918822" y="792088"/>
                </a:lnTo>
                <a:lnTo>
                  <a:pt x="0" y="792088"/>
                </a:lnTo>
                <a:close/>
              </a:path>
            </a:pathLst>
          </a:custGeom>
          <a:solidFill>
            <a:srgbClr val="FFC000"/>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20" name="Google Shape;620;p55"/>
          <p:cNvSpPr/>
          <p:nvPr/>
        </p:nvSpPr>
        <p:spPr>
          <a:xfrm flipH="1">
            <a:off x="495300" y="2913592"/>
            <a:ext cx="252317" cy="208146"/>
          </a:xfrm>
          <a:custGeom>
            <a:rect b="b" l="l" r="r" t="t"/>
            <a:pathLst>
              <a:path extrusionOk="0" h="2654282" w="3217557">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accent4"/>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21" name="Google Shape;621;p55"/>
          <p:cNvSpPr/>
          <p:nvPr/>
        </p:nvSpPr>
        <p:spPr>
          <a:xfrm>
            <a:off x="488211" y="3749241"/>
            <a:ext cx="248835" cy="209717"/>
          </a:xfrm>
          <a:custGeom>
            <a:rect b="b" l="l" r="r" t="t"/>
            <a:pathLst>
              <a:path extrusionOk="0" h="2730652" w="3240000">
                <a:moveTo>
                  <a:pt x="1452811" y="1541940"/>
                </a:moveTo>
                <a:lnTo>
                  <a:pt x="1452811" y="1831951"/>
                </a:lnTo>
                <a:lnTo>
                  <a:pt x="1162800" y="1831951"/>
                </a:lnTo>
                <a:lnTo>
                  <a:pt x="1162800" y="2166329"/>
                </a:lnTo>
                <a:lnTo>
                  <a:pt x="1452811" y="2166329"/>
                </a:lnTo>
                <a:lnTo>
                  <a:pt x="1452811" y="2456340"/>
                </a:lnTo>
                <a:lnTo>
                  <a:pt x="1787189" y="2456340"/>
                </a:lnTo>
                <a:lnTo>
                  <a:pt x="1787189" y="2166329"/>
                </a:lnTo>
                <a:lnTo>
                  <a:pt x="2077200" y="2166329"/>
                </a:lnTo>
                <a:lnTo>
                  <a:pt x="2077200" y="1831951"/>
                </a:lnTo>
                <a:lnTo>
                  <a:pt x="1787189" y="1831951"/>
                </a:lnTo>
                <a:lnTo>
                  <a:pt x="1787189" y="1541940"/>
                </a:lnTo>
                <a:close/>
                <a:moveTo>
                  <a:pt x="0" y="1278453"/>
                </a:moveTo>
                <a:lnTo>
                  <a:pt x="3240000" y="1278453"/>
                </a:lnTo>
                <a:lnTo>
                  <a:pt x="3240000" y="2376509"/>
                </a:lnTo>
                <a:cubicBezTo>
                  <a:pt x="3240000" y="2572097"/>
                  <a:pt x="3081445" y="2730652"/>
                  <a:pt x="2885857" y="2730652"/>
                </a:cubicBezTo>
                <a:lnTo>
                  <a:pt x="354143" y="2730652"/>
                </a:lnTo>
                <a:cubicBezTo>
                  <a:pt x="158555" y="2730652"/>
                  <a:pt x="0" y="2572097"/>
                  <a:pt x="0" y="2376509"/>
                </a:cubicBezTo>
                <a:close/>
                <a:moveTo>
                  <a:pt x="1001150" y="200505"/>
                </a:moveTo>
                <a:cubicBezTo>
                  <a:pt x="933045" y="200505"/>
                  <a:pt x="877834" y="255715"/>
                  <a:pt x="877834" y="323821"/>
                </a:cubicBezTo>
                <a:lnTo>
                  <a:pt x="877834" y="605836"/>
                </a:lnTo>
                <a:lnTo>
                  <a:pt x="2362163" y="605836"/>
                </a:lnTo>
                <a:lnTo>
                  <a:pt x="2362163" y="323821"/>
                </a:lnTo>
                <a:cubicBezTo>
                  <a:pt x="2362163" y="255715"/>
                  <a:pt x="2306952" y="200505"/>
                  <a:pt x="2238846" y="200505"/>
                </a:cubicBezTo>
                <a:close/>
                <a:moveTo>
                  <a:pt x="843301" y="0"/>
                </a:moveTo>
                <a:lnTo>
                  <a:pt x="2396696" y="0"/>
                </a:lnTo>
                <a:cubicBezTo>
                  <a:pt x="2488075" y="0"/>
                  <a:pt x="2562152" y="74077"/>
                  <a:pt x="2562152" y="165456"/>
                </a:cubicBezTo>
                <a:lnTo>
                  <a:pt x="2562152" y="605836"/>
                </a:lnTo>
                <a:lnTo>
                  <a:pt x="2885857" y="605836"/>
                </a:lnTo>
                <a:cubicBezTo>
                  <a:pt x="3081445" y="605836"/>
                  <a:pt x="3240000" y="764391"/>
                  <a:pt x="3240000" y="959979"/>
                </a:cubicBezTo>
                <a:lnTo>
                  <a:pt x="3240000" y="1134437"/>
                </a:lnTo>
                <a:lnTo>
                  <a:pt x="0" y="1134437"/>
                </a:lnTo>
                <a:lnTo>
                  <a:pt x="0" y="959979"/>
                </a:lnTo>
                <a:cubicBezTo>
                  <a:pt x="0" y="764391"/>
                  <a:pt x="158555" y="605836"/>
                  <a:pt x="354143" y="605836"/>
                </a:cubicBezTo>
                <a:lnTo>
                  <a:pt x="677845" y="605836"/>
                </a:lnTo>
                <a:lnTo>
                  <a:pt x="677845" y="165456"/>
                </a:lnTo>
                <a:cubicBezTo>
                  <a:pt x="677845" y="74077"/>
                  <a:pt x="751923" y="0"/>
                  <a:pt x="843301" y="0"/>
                </a:cubicBezTo>
                <a:close/>
              </a:path>
            </a:pathLst>
          </a:custGeom>
          <a:solidFill>
            <a:srgbClr val="FF0000"/>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22" name="Google Shape;622;p55"/>
          <p:cNvSpPr/>
          <p:nvPr/>
        </p:nvSpPr>
        <p:spPr>
          <a:xfrm>
            <a:off x="467118" y="3304332"/>
            <a:ext cx="254076" cy="254076"/>
          </a:xfrm>
          <a:custGeom>
            <a:rect b="b" l="l" r="r" t="t"/>
            <a:pathLst>
              <a:path extrusionOk="0" h="3240000" w="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rgbClr val="00B0F0"/>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23" name="Google Shape;623;p55"/>
          <p:cNvSpPr/>
          <p:nvPr/>
        </p:nvSpPr>
        <p:spPr>
          <a:xfrm>
            <a:off x="495300" y="2424385"/>
            <a:ext cx="227980" cy="252442"/>
          </a:xfrm>
          <a:custGeom>
            <a:rect b="b" l="l" r="r" t="t"/>
            <a:pathLst>
              <a:path extrusionOk="0" h="3200962" w="2890784">
                <a:moveTo>
                  <a:pt x="1107828" y="2097026"/>
                </a:moveTo>
                <a:cubicBezTo>
                  <a:pt x="1025313" y="2097026"/>
                  <a:pt x="958422" y="2163918"/>
                  <a:pt x="958422" y="2246432"/>
                </a:cubicBezTo>
                <a:cubicBezTo>
                  <a:pt x="958422" y="2302715"/>
                  <a:pt x="989545" y="2351730"/>
                  <a:pt x="1036589" y="2375275"/>
                </a:cubicBezTo>
                <a:lnTo>
                  <a:pt x="985421" y="2684898"/>
                </a:lnTo>
                <a:lnTo>
                  <a:pt x="1230235" y="2684898"/>
                </a:lnTo>
                <a:lnTo>
                  <a:pt x="1179067" y="2375275"/>
                </a:lnTo>
                <a:cubicBezTo>
                  <a:pt x="1226111" y="2351730"/>
                  <a:pt x="1257233" y="2302715"/>
                  <a:pt x="1257233" y="2246432"/>
                </a:cubicBezTo>
                <a:cubicBezTo>
                  <a:pt x="1257233" y="2163918"/>
                  <a:pt x="1190342" y="2097026"/>
                  <a:pt x="1107828" y="2097026"/>
                </a:cubicBezTo>
                <a:close/>
                <a:moveTo>
                  <a:pt x="2199259" y="56"/>
                </a:moveTo>
                <a:cubicBezTo>
                  <a:pt x="2572924" y="-4720"/>
                  <a:pt x="2881009" y="291773"/>
                  <a:pt x="2890561" y="665346"/>
                </a:cubicBezTo>
                <a:lnTo>
                  <a:pt x="2843000" y="666562"/>
                </a:lnTo>
                <a:lnTo>
                  <a:pt x="2890784" y="666562"/>
                </a:lnTo>
                <a:lnTo>
                  <a:pt x="2890784" y="1580962"/>
                </a:lnTo>
                <a:lnTo>
                  <a:pt x="2625345" y="1580962"/>
                </a:lnTo>
                <a:lnTo>
                  <a:pt x="2625345" y="672127"/>
                </a:lnTo>
                <a:lnTo>
                  <a:pt x="2623811" y="672166"/>
                </a:lnTo>
                <a:cubicBezTo>
                  <a:pt x="2617992" y="444585"/>
                  <a:pt x="2430306" y="263961"/>
                  <a:pt x="2202670" y="266871"/>
                </a:cubicBezTo>
                <a:cubicBezTo>
                  <a:pt x="1975033" y="269781"/>
                  <a:pt x="1792025" y="455143"/>
                  <a:pt x="1792025" y="682798"/>
                </a:cubicBezTo>
                <a:lnTo>
                  <a:pt x="1790626" y="682798"/>
                </a:lnTo>
                <a:lnTo>
                  <a:pt x="1790626"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1525187" y="1580962"/>
                </a:lnTo>
                <a:lnTo>
                  <a:pt x="1525187" y="676764"/>
                </a:lnTo>
                <a:lnTo>
                  <a:pt x="1525791" y="676764"/>
                </a:lnTo>
                <a:cubicBezTo>
                  <a:pt x="1528430" y="305830"/>
                  <a:pt x="1827609" y="4806"/>
                  <a:pt x="2199259" y="56"/>
                </a:cubicBezTo>
                <a:close/>
              </a:path>
            </a:pathLst>
          </a:custGeom>
          <a:solidFill>
            <a:srgbClr val="FFC000"/>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pic>
        <p:nvPicPr>
          <p:cNvPr descr="Product quality concept illustration" id="624" name="Google Shape;624;p55"/>
          <p:cNvPicPr preferRelativeResize="0"/>
          <p:nvPr/>
        </p:nvPicPr>
        <p:blipFill rotWithShape="1">
          <a:blip r:embed="rId3">
            <a:alphaModFix/>
          </a:blip>
          <a:srcRect b="0" l="0" r="0" t="0"/>
          <a:stretch/>
        </p:blipFill>
        <p:spPr>
          <a:xfrm>
            <a:off x="152400" y="34466"/>
            <a:ext cx="1295400" cy="1295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56"/>
          <p:cNvSpPr/>
          <p:nvPr/>
        </p:nvSpPr>
        <p:spPr>
          <a:xfrm>
            <a:off x="6300555" y="824319"/>
            <a:ext cx="405565" cy="408629"/>
          </a:xfrm>
          <a:custGeom>
            <a:rect b="b" l="l" r="r" t="t"/>
            <a:pathLst>
              <a:path extrusionOk="0" h="817258" w="811129">
                <a:moveTo>
                  <a:pt x="0" y="0"/>
                </a:moveTo>
                <a:lnTo>
                  <a:pt x="811129" y="0"/>
                </a:lnTo>
                <a:lnTo>
                  <a:pt x="811129" y="817258"/>
                </a:lnTo>
                <a:lnTo>
                  <a:pt x="0" y="817258"/>
                </a:lnTo>
                <a:lnTo>
                  <a:pt x="0" y="0"/>
                </a:lnTo>
                <a:close/>
              </a:path>
            </a:pathLst>
          </a:custGeom>
          <a:blipFill rotWithShape="1">
            <a:blip r:embed="rId3">
              <a:alphaModFix/>
            </a:blip>
            <a:stretch>
              <a:fillRect b="0" l="0" r="0" t="0"/>
            </a:stretch>
          </a:blipFill>
          <a:ln>
            <a:noFill/>
          </a:ln>
        </p:spPr>
      </p:sp>
      <p:sp>
        <p:nvSpPr>
          <p:cNvPr id="630" name="Google Shape;630;p56"/>
          <p:cNvSpPr/>
          <p:nvPr/>
        </p:nvSpPr>
        <p:spPr>
          <a:xfrm>
            <a:off x="2217826" y="694883"/>
            <a:ext cx="441148" cy="414680"/>
          </a:xfrm>
          <a:custGeom>
            <a:rect b="b" l="l" r="r" t="t"/>
            <a:pathLst>
              <a:path extrusionOk="0" h="829359" w="882296">
                <a:moveTo>
                  <a:pt x="0" y="0"/>
                </a:moveTo>
                <a:lnTo>
                  <a:pt x="882296" y="0"/>
                </a:lnTo>
                <a:lnTo>
                  <a:pt x="882296" y="829358"/>
                </a:lnTo>
                <a:lnTo>
                  <a:pt x="0" y="829358"/>
                </a:lnTo>
                <a:lnTo>
                  <a:pt x="0" y="0"/>
                </a:lnTo>
                <a:close/>
              </a:path>
            </a:pathLst>
          </a:custGeom>
          <a:blipFill rotWithShape="1">
            <a:blip r:embed="rId4">
              <a:alphaModFix/>
            </a:blip>
            <a:stretch>
              <a:fillRect b="0" l="0" r="0" t="0"/>
            </a:stretch>
          </a:blipFill>
          <a:ln>
            <a:noFill/>
          </a:ln>
        </p:spPr>
      </p:sp>
      <p:sp>
        <p:nvSpPr>
          <p:cNvPr id="631" name="Google Shape;631;p56"/>
          <p:cNvSpPr txBox="1"/>
          <p:nvPr/>
        </p:nvSpPr>
        <p:spPr>
          <a:xfrm>
            <a:off x="662429" y="232322"/>
            <a:ext cx="7605300" cy="246300"/>
          </a:xfrm>
          <a:prstGeom prst="rect">
            <a:avLst/>
          </a:prstGeom>
          <a:noFill/>
          <a:ln>
            <a:noFill/>
          </a:ln>
        </p:spPr>
        <p:txBody>
          <a:bodyPr anchorCtr="0" anchor="t" bIns="0" lIns="0" spcFirstLastPara="1" rIns="0" wrap="square" tIns="0">
            <a:spAutoFit/>
          </a:bodyPr>
          <a:lstStyle/>
          <a:p>
            <a:pPr indent="0" lvl="0" marL="0" marR="0" rtl="0" algn="ctr">
              <a:lnSpc>
                <a:spcPct val="262500"/>
              </a:lnSpc>
              <a:spcBef>
                <a:spcPts val="0"/>
              </a:spcBef>
              <a:spcAft>
                <a:spcPts val="0"/>
              </a:spcAft>
              <a:buNone/>
            </a:pPr>
            <a:r>
              <a:rPr b="1" lang="id" sz="1600">
                <a:solidFill>
                  <a:srgbClr val="002646"/>
                </a:solidFill>
                <a:latin typeface="Poppins"/>
                <a:ea typeface="Poppins"/>
                <a:cs typeface="Poppins"/>
                <a:sym typeface="Poppins"/>
              </a:rPr>
              <a:t>Layanan Lengkap dan Harga Terjangkau</a:t>
            </a:r>
            <a:endParaRPr b="1" sz="1600">
              <a:solidFill>
                <a:srgbClr val="002646"/>
              </a:solidFill>
              <a:latin typeface="Poppins"/>
              <a:ea typeface="Poppins"/>
              <a:cs typeface="Poppins"/>
              <a:sym typeface="Poppins"/>
            </a:endParaRPr>
          </a:p>
        </p:txBody>
      </p:sp>
      <p:sp>
        <p:nvSpPr>
          <p:cNvPr id="632" name="Google Shape;632;p56"/>
          <p:cNvSpPr txBox="1"/>
          <p:nvPr/>
        </p:nvSpPr>
        <p:spPr>
          <a:xfrm>
            <a:off x="4625909" y="2215357"/>
            <a:ext cx="2006100" cy="1386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lang="id" sz="900">
                <a:solidFill>
                  <a:srgbClr val="002646"/>
                </a:solidFill>
                <a:latin typeface="Open Sans"/>
                <a:ea typeface="Open Sans"/>
                <a:cs typeface="Open Sans"/>
                <a:sym typeface="Open Sans"/>
              </a:rPr>
              <a:t>Konseling Bersama Guru dan Ortu</a:t>
            </a:r>
            <a:endParaRPr b="1" sz="900">
              <a:solidFill>
                <a:srgbClr val="002646"/>
              </a:solidFill>
              <a:latin typeface="Open Sans"/>
              <a:ea typeface="Open Sans"/>
              <a:cs typeface="Open Sans"/>
              <a:sym typeface="Open Sans"/>
            </a:endParaRPr>
          </a:p>
        </p:txBody>
      </p:sp>
      <p:sp>
        <p:nvSpPr>
          <p:cNvPr id="633" name="Google Shape;633;p56"/>
          <p:cNvSpPr txBox="1"/>
          <p:nvPr/>
        </p:nvSpPr>
        <p:spPr>
          <a:xfrm>
            <a:off x="2676225" y="2215550"/>
            <a:ext cx="1895700" cy="3324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lang="id" sz="900">
                <a:solidFill>
                  <a:srgbClr val="002646"/>
                </a:solidFill>
                <a:latin typeface="Open Sans"/>
                <a:ea typeface="Open Sans"/>
                <a:cs typeface="Open Sans"/>
                <a:sym typeface="Open Sans"/>
              </a:rPr>
              <a:t>Terapi Perilaku berbasis ABA di Sekolah</a:t>
            </a:r>
            <a:endParaRPr b="1" sz="900">
              <a:solidFill>
                <a:srgbClr val="002646"/>
              </a:solidFill>
              <a:latin typeface="Open Sans"/>
              <a:ea typeface="Open Sans"/>
              <a:cs typeface="Open Sans"/>
              <a:sym typeface="Open Sans"/>
            </a:endParaRPr>
          </a:p>
        </p:txBody>
      </p:sp>
      <p:graphicFrame>
        <p:nvGraphicFramePr>
          <p:cNvPr id="634" name="Google Shape;634;p56"/>
          <p:cNvGraphicFramePr/>
          <p:nvPr/>
        </p:nvGraphicFramePr>
        <p:xfrm>
          <a:off x="1638300" y="3058680"/>
          <a:ext cx="3000000" cy="3000000"/>
        </p:xfrm>
        <a:graphic>
          <a:graphicData uri="http://schemas.openxmlformats.org/drawingml/2006/table">
            <a:tbl>
              <a:tblPr bandRow="1" firstRow="1">
                <a:noFill/>
                <a:tableStyleId>{7B4CBEDC-F230-4469-94D7-31141786522C}</a:tableStyleId>
              </a:tblPr>
              <a:tblGrid>
                <a:gridCol w="2491750"/>
                <a:gridCol w="1072725"/>
                <a:gridCol w="1257300"/>
              </a:tblGrid>
              <a:tr h="185425">
                <a:tc>
                  <a:txBody>
                    <a:bodyPr/>
                    <a:lstStyle/>
                    <a:p>
                      <a:pPr indent="0" lvl="0" marL="0" marR="0" rtl="0" algn="ctr">
                        <a:spcBef>
                          <a:spcPts val="0"/>
                        </a:spcBef>
                        <a:spcAft>
                          <a:spcPts val="0"/>
                        </a:spcAft>
                        <a:buNone/>
                      </a:pPr>
                      <a:r>
                        <a:rPr lang="id" sz="1200" u="none" cap="none" strike="noStrike"/>
                        <a:t>Jenis Layanan</a:t>
                      </a:r>
                      <a:endParaRPr sz="1200" u="none" cap="none" strike="noStrike"/>
                    </a:p>
                  </a:txBody>
                  <a:tcPr marT="22875" marB="22875" marR="45725" marL="45725"/>
                </a:tc>
                <a:tc>
                  <a:txBody>
                    <a:bodyPr/>
                    <a:lstStyle/>
                    <a:p>
                      <a:pPr indent="0" lvl="0" marL="0" marR="0" rtl="0" algn="ctr">
                        <a:spcBef>
                          <a:spcPts val="0"/>
                        </a:spcBef>
                        <a:spcAft>
                          <a:spcPts val="0"/>
                        </a:spcAft>
                        <a:buNone/>
                      </a:pPr>
                      <a:r>
                        <a:rPr lang="id" sz="1200" u="none" cap="none" strike="noStrike"/>
                        <a:t> Harga Biro Lain</a:t>
                      </a:r>
                      <a:endParaRPr sz="1200" u="none" cap="none" strike="noStrike"/>
                    </a:p>
                  </a:txBody>
                  <a:tcPr marT="22875" marB="22875" marR="45725" marL="45725">
                    <a:solidFill>
                      <a:srgbClr val="E36C09"/>
                    </a:solidFill>
                  </a:tcPr>
                </a:tc>
                <a:tc>
                  <a:txBody>
                    <a:bodyPr/>
                    <a:lstStyle/>
                    <a:p>
                      <a:pPr indent="0" lvl="0" marL="0" marR="0" rtl="0" algn="ctr">
                        <a:spcBef>
                          <a:spcPts val="0"/>
                        </a:spcBef>
                        <a:spcAft>
                          <a:spcPts val="0"/>
                        </a:spcAft>
                        <a:buNone/>
                      </a:pPr>
                      <a:r>
                        <a:rPr lang="id" sz="1200" u="none" cap="none" strike="noStrike"/>
                        <a:t>Harga Biro Mustika</a:t>
                      </a:r>
                      <a:endParaRPr sz="1200" u="none" cap="none" strike="noStrike"/>
                    </a:p>
                  </a:txBody>
                  <a:tcPr marT="22875" marB="22875" marR="45725" marL="45725"/>
                </a:tc>
              </a:tr>
              <a:tr h="99050">
                <a:tc>
                  <a:txBody>
                    <a:bodyPr/>
                    <a:lstStyle/>
                    <a:p>
                      <a:pPr indent="0" lvl="0" marL="0" marR="0" rtl="0" algn="l">
                        <a:spcBef>
                          <a:spcPts val="0"/>
                        </a:spcBef>
                        <a:spcAft>
                          <a:spcPts val="0"/>
                        </a:spcAft>
                        <a:buNone/>
                      </a:pPr>
                      <a:r>
                        <a:rPr lang="id" sz="1200" u="none" cap="none" strike="noStrike"/>
                        <a:t>Tes IQ dan Kesiapan Sekolah</a:t>
                      </a:r>
                      <a:endParaRPr sz="1200"/>
                    </a:p>
                  </a:txBody>
                  <a:tcPr marT="22875" marB="22875" marR="45725" marL="45725"/>
                </a:tc>
                <a:tc>
                  <a:txBody>
                    <a:bodyPr/>
                    <a:lstStyle/>
                    <a:p>
                      <a:pPr indent="0" lvl="0" marL="0" marR="0" rtl="0" algn="ctr">
                        <a:spcBef>
                          <a:spcPts val="0"/>
                        </a:spcBef>
                        <a:spcAft>
                          <a:spcPts val="0"/>
                        </a:spcAft>
                        <a:buNone/>
                      </a:pPr>
                      <a:r>
                        <a:rPr lang="id" sz="1200"/>
                        <a:t>450K – 600K</a:t>
                      </a:r>
                      <a:endParaRPr sz="1200"/>
                    </a:p>
                  </a:txBody>
                  <a:tcPr marT="22875" marB="22875" marR="45725" marL="45725">
                    <a:solidFill>
                      <a:srgbClr val="FBD4B4"/>
                    </a:solidFill>
                  </a:tcPr>
                </a:tc>
                <a:tc>
                  <a:txBody>
                    <a:bodyPr/>
                    <a:lstStyle/>
                    <a:p>
                      <a:pPr indent="0" lvl="0" marL="0" marR="0" rtl="0" algn="ctr">
                        <a:spcBef>
                          <a:spcPts val="0"/>
                        </a:spcBef>
                        <a:spcAft>
                          <a:spcPts val="0"/>
                        </a:spcAft>
                        <a:buNone/>
                      </a:pPr>
                      <a:r>
                        <a:rPr lang="id" sz="1200"/>
                        <a:t>250K</a:t>
                      </a:r>
                      <a:endParaRPr sz="1200"/>
                    </a:p>
                  </a:txBody>
                  <a:tcPr marT="22875" marB="22875" marR="45725" marL="45725">
                    <a:solidFill>
                      <a:srgbClr val="DAE5F1"/>
                    </a:solidFill>
                  </a:tcPr>
                </a:tc>
              </a:tr>
              <a:tr h="99050">
                <a:tc>
                  <a:txBody>
                    <a:bodyPr/>
                    <a:lstStyle/>
                    <a:p>
                      <a:pPr indent="0" lvl="0" marL="0" marR="0" rtl="0" algn="l">
                        <a:spcBef>
                          <a:spcPts val="0"/>
                        </a:spcBef>
                        <a:spcAft>
                          <a:spcPts val="0"/>
                        </a:spcAft>
                        <a:buNone/>
                      </a:pPr>
                      <a:r>
                        <a:rPr lang="id" sz="1200"/>
                        <a:t>Tes IQ dan Gaya Belajar</a:t>
                      </a:r>
                      <a:endParaRPr sz="1200"/>
                    </a:p>
                  </a:txBody>
                  <a:tcPr marT="22875" marB="22875" marR="45725" marL="45725"/>
                </a:tc>
                <a:tc>
                  <a:txBody>
                    <a:bodyPr/>
                    <a:lstStyle/>
                    <a:p>
                      <a:pPr indent="0" lvl="0" marL="0" marR="0" rtl="0" algn="ctr">
                        <a:spcBef>
                          <a:spcPts val="0"/>
                        </a:spcBef>
                        <a:spcAft>
                          <a:spcPts val="0"/>
                        </a:spcAft>
                        <a:buNone/>
                      </a:pPr>
                      <a:r>
                        <a:rPr lang="id" sz="1200"/>
                        <a:t>900K – 1,500K</a:t>
                      </a:r>
                      <a:endParaRPr sz="1200"/>
                    </a:p>
                  </a:txBody>
                  <a:tcPr marT="22875" marB="22875" marR="45725" marL="45725">
                    <a:solidFill>
                      <a:srgbClr val="FBD4B4"/>
                    </a:solidFill>
                  </a:tcPr>
                </a:tc>
                <a:tc>
                  <a:txBody>
                    <a:bodyPr/>
                    <a:lstStyle/>
                    <a:p>
                      <a:pPr indent="0" lvl="0" marL="0" marR="0" rtl="0" algn="ctr">
                        <a:spcBef>
                          <a:spcPts val="0"/>
                        </a:spcBef>
                        <a:spcAft>
                          <a:spcPts val="0"/>
                        </a:spcAft>
                        <a:buNone/>
                      </a:pPr>
                      <a:r>
                        <a:rPr lang="id" sz="1200"/>
                        <a:t>300K</a:t>
                      </a:r>
                      <a:endParaRPr sz="1200"/>
                    </a:p>
                  </a:txBody>
                  <a:tcPr marT="22875" marB="22875" marR="45725" marL="45725">
                    <a:solidFill>
                      <a:srgbClr val="DAE5F1"/>
                    </a:solidFill>
                  </a:tcPr>
                </a:tc>
              </a:tr>
              <a:tr h="99050">
                <a:tc>
                  <a:txBody>
                    <a:bodyPr/>
                    <a:lstStyle/>
                    <a:p>
                      <a:pPr indent="0" lvl="0" marL="0" marR="0" rtl="0" algn="l">
                        <a:spcBef>
                          <a:spcPts val="0"/>
                        </a:spcBef>
                        <a:spcAft>
                          <a:spcPts val="0"/>
                        </a:spcAft>
                        <a:buNone/>
                      </a:pPr>
                      <a:r>
                        <a:rPr lang="id" sz="1200"/>
                        <a:t>Tes IQ, Gaya Belajar dan Bakat Minat</a:t>
                      </a:r>
                      <a:endParaRPr sz="1200"/>
                    </a:p>
                  </a:txBody>
                  <a:tcPr marT="22875" marB="22875" marR="45725" marL="45725"/>
                </a:tc>
                <a:tc>
                  <a:txBody>
                    <a:bodyPr/>
                    <a:lstStyle/>
                    <a:p>
                      <a:pPr indent="0" lvl="0" marL="0" rtl="0" algn="ctr">
                        <a:spcBef>
                          <a:spcPts val="0"/>
                        </a:spcBef>
                        <a:spcAft>
                          <a:spcPts val="0"/>
                        </a:spcAft>
                        <a:buClr>
                          <a:schemeClr val="dk1"/>
                        </a:buClr>
                        <a:buFont typeface="Arial"/>
                        <a:buNone/>
                      </a:pPr>
                      <a:r>
                        <a:rPr lang="id" sz="1200"/>
                        <a:t>900K – 1,500K</a:t>
                      </a:r>
                      <a:endParaRPr sz="1200"/>
                    </a:p>
                  </a:txBody>
                  <a:tcPr marT="22875" marB="22875" marR="45725" marL="45725">
                    <a:solidFill>
                      <a:srgbClr val="FBD4B4"/>
                    </a:solidFill>
                  </a:tcPr>
                </a:tc>
                <a:tc>
                  <a:txBody>
                    <a:bodyPr/>
                    <a:lstStyle/>
                    <a:p>
                      <a:pPr indent="0" lvl="0" marL="0" rtl="0" algn="ctr">
                        <a:spcBef>
                          <a:spcPts val="0"/>
                        </a:spcBef>
                        <a:spcAft>
                          <a:spcPts val="0"/>
                        </a:spcAft>
                        <a:buClr>
                          <a:schemeClr val="dk1"/>
                        </a:buClr>
                        <a:buFont typeface="Arial"/>
                        <a:buNone/>
                      </a:pPr>
                      <a:r>
                        <a:rPr lang="id" sz="1200"/>
                        <a:t>300K</a:t>
                      </a:r>
                      <a:endParaRPr sz="1200"/>
                    </a:p>
                  </a:txBody>
                  <a:tcPr marT="22875" marB="22875" marR="45725" marL="45725">
                    <a:solidFill>
                      <a:srgbClr val="DAE5F1"/>
                    </a:solidFill>
                  </a:tcPr>
                </a:tc>
              </a:tr>
              <a:tr h="99050">
                <a:tc>
                  <a:txBody>
                    <a:bodyPr/>
                    <a:lstStyle/>
                    <a:p>
                      <a:pPr indent="0" lvl="0" marL="0" marR="0" rtl="0" algn="l">
                        <a:spcBef>
                          <a:spcPts val="0"/>
                        </a:spcBef>
                        <a:spcAft>
                          <a:spcPts val="0"/>
                        </a:spcAft>
                        <a:buNone/>
                      </a:pPr>
                      <a:r>
                        <a:rPr lang="id" sz="1200"/>
                        <a:t>Terapi Perilaku per sesi/jam</a:t>
                      </a:r>
                      <a:endParaRPr sz="1200"/>
                    </a:p>
                  </a:txBody>
                  <a:tcPr marT="22875" marB="22875" marR="45725" marL="45725"/>
                </a:tc>
                <a:tc>
                  <a:txBody>
                    <a:bodyPr/>
                    <a:lstStyle/>
                    <a:p>
                      <a:pPr indent="0" lvl="0" marL="0" marR="0" rtl="0" algn="ctr">
                        <a:spcBef>
                          <a:spcPts val="0"/>
                        </a:spcBef>
                        <a:spcAft>
                          <a:spcPts val="0"/>
                        </a:spcAft>
                        <a:buNone/>
                      </a:pPr>
                      <a:r>
                        <a:rPr lang="id" sz="1200"/>
                        <a:t>250K – 300K</a:t>
                      </a:r>
                      <a:endParaRPr sz="1200"/>
                    </a:p>
                  </a:txBody>
                  <a:tcPr marT="22875" marB="22875" marR="45725" marL="45725">
                    <a:solidFill>
                      <a:srgbClr val="FBD4B4"/>
                    </a:solidFill>
                  </a:tcPr>
                </a:tc>
                <a:tc>
                  <a:txBody>
                    <a:bodyPr/>
                    <a:lstStyle/>
                    <a:p>
                      <a:pPr indent="0" lvl="0" marL="0" marR="0" rtl="0" algn="ctr">
                        <a:spcBef>
                          <a:spcPts val="0"/>
                        </a:spcBef>
                        <a:spcAft>
                          <a:spcPts val="0"/>
                        </a:spcAft>
                        <a:buNone/>
                      </a:pPr>
                      <a:r>
                        <a:rPr lang="id" sz="1200"/>
                        <a:t>200K</a:t>
                      </a:r>
                      <a:endParaRPr sz="1200"/>
                    </a:p>
                  </a:txBody>
                  <a:tcPr marT="22875" marB="22875" marR="45725" marL="45725">
                    <a:solidFill>
                      <a:srgbClr val="DAE5F1"/>
                    </a:solidFill>
                  </a:tcPr>
                </a:tc>
              </a:tr>
              <a:tr h="99050">
                <a:tc>
                  <a:txBody>
                    <a:bodyPr/>
                    <a:lstStyle/>
                    <a:p>
                      <a:pPr indent="0" lvl="0" marL="0" marR="0" rtl="0" algn="l">
                        <a:spcBef>
                          <a:spcPts val="0"/>
                        </a:spcBef>
                        <a:spcAft>
                          <a:spcPts val="0"/>
                        </a:spcAft>
                        <a:buNone/>
                      </a:pPr>
                      <a:r>
                        <a:rPr lang="id" sz="1200"/>
                        <a:t>Tes Talent Mapping</a:t>
                      </a:r>
                      <a:endParaRPr sz="1200"/>
                    </a:p>
                  </a:txBody>
                  <a:tcPr marT="22875" marB="22875" marR="45725" marL="45725"/>
                </a:tc>
                <a:tc>
                  <a:txBody>
                    <a:bodyPr/>
                    <a:lstStyle/>
                    <a:p>
                      <a:pPr indent="0" lvl="0" marL="0" marR="0" rtl="0" algn="ctr">
                        <a:spcBef>
                          <a:spcPts val="0"/>
                        </a:spcBef>
                        <a:spcAft>
                          <a:spcPts val="0"/>
                        </a:spcAft>
                        <a:buNone/>
                      </a:pPr>
                      <a:r>
                        <a:rPr lang="id" sz="1200"/>
                        <a:t>600K - 750K</a:t>
                      </a:r>
                      <a:endParaRPr sz="1200"/>
                    </a:p>
                  </a:txBody>
                  <a:tcPr marT="22875" marB="22875" marR="45725" marL="45725">
                    <a:solidFill>
                      <a:srgbClr val="FBD4B4"/>
                    </a:solidFill>
                  </a:tcPr>
                </a:tc>
                <a:tc>
                  <a:txBody>
                    <a:bodyPr/>
                    <a:lstStyle/>
                    <a:p>
                      <a:pPr indent="0" lvl="0" marL="0" marR="0" rtl="0" algn="ctr">
                        <a:spcBef>
                          <a:spcPts val="0"/>
                        </a:spcBef>
                        <a:spcAft>
                          <a:spcPts val="0"/>
                        </a:spcAft>
                        <a:buNone/>
                      </a:pPr>
                      <a:r>
                        <a:rPr lang="id" sz="1200"/>
                        <a:t>400K</a:t>
                      </a:r>
                      <a:endParaRPr sz="1200"/>
                    </a:p>
                  </a:txBody>
                  <a:tcPr marT="22875" marB="22875" marR="45725" marL="45725">
                    <a:solidFill>
                      <a:srgbClr val="DAE5F1"/>
                    </a:solidFill>
                  </a:tcPr>
                </a:tc>
              </a:tr>
            </a:tbl>
          </a:graphicData>
        </a:graphic>
      </p:graphicFrame>
      <p:sp>
        <p:nvSpPr>
          <p:cNvPr id="635" name="Google Shape;635;p56"/>
          <p:cNvSpPr txBox="1"/>
          <p:nvPr/>
        </p:nvSpPr>
        <p:spPr>
          <a:xfrm>
            <a:off x="190500" y="2190750"/>
            <a:ext cx="2364600" cy="1386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lang="id" sz="900">
                <a:solidFill>
                  <a:srgbClr val="002646"/>
                </a:solidFill>
                <a:latin typeface="Open Sans"/>
                <a:ea typeface="Open Sans"/>
                <a:cs typeface="Open Sans"/>
                <a:sym typeface="Open Sans"/>
              </a:rPr>
              <a:t>Psikote</a:t>
            </a:r>
            <a:r>
              <a:rPr b="1" lang="id" sz="900">
                <a:solidFill>
                  <a:srgbClr val="002646"/>
                </a:solidFill>
                <a:latin typeface="Open Sans"/>
                <a:ea typeface="Open Sans"/>
                <a:cs typeface="Open Sans"/>
                <a:sym typeface="Open Sans"/>
              </a:rPr>
              <a:t>s berbasis Digital</a:t>
            </a:r>
            <a:endParaRPr b="1" sz="900">
              <a:solidFill>
                <a:srgbClr val="002646"/>
              </a:solidFill>
              <a:latin typeface="Open Sans"/>
              <a:ea typeface="Open Sans"/>
              <a:cs typeface="Open Sans"/>
              <a:sym typeface="Open Sans"/>
            </a:endParaRPr>
          </a:p>
        </p:txBody>
      </p:sp>
      <p:sp>
        <p:nvSpPr>
          <p:cNvPr id="636" name="Google Shape;636;p56"/>
          <p:cNvSpPr txBox="1"/>
          <p:nvPr/>
        </p:nvSpPr>
        <p:spPr>
          <a:xfrm>
            <a:off x="6833651" y="2262675"/>
            <a:ext cx="2006100" cy="5265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lang="id" sz="900">
                <a:solidFill>
                  <a:srgbClr val="002646"/>
                </a:solidFill>
                <a:latin typeface="Open Sans"/>
                <a:ea typeface="Open Sans"/>
                <a:cs typeface="Open Sans"/>
                <a:sym typeface="Open Sans"/>
              </a:rPr>
              <a:t>Pelatihan dan Pengembangan Kurikulum di Sekolah Berbasis Inklusi untuk Guru</a:t>
            </a:r>
            <a:endParaRPr sz="700"/>
          </a:p>
        </p:txBody>
      </p:sp>
      <p:pic>
        <p:nvPicPr>
          <p:cNvPr id="637" name="Google Shape;637;p56"/>
          <p:cNvPicPr preferRelativeResize="0"/>
          <p:nvPr/>
        </p:nvPicPr>
        <p:blipFill rotWithShape="1">
          <a:blip r:embed="rId5">
            <a:alphaModFix/>
          </a:blip>
          <a:srcRect b="17878" l="0" r="0" t="28820"/>
          <a:stretch/>
        </p:blipFill>
        <p:spPr>
          <a:xfrm>
            <a:off x="2701175" y="757700"/>
            <a:ext cx="1678875" cy="1341601"/>
          </a:xfrm>
          <a:prstGeom prst="rect">
            <a:avLst/>
          </a:prstGeom>
          <a:noFill/>
          <a:ln>
            <a:noFill/>
          </a:ln>
        </p:spPr>
      </p:pic>
      <p:pic>
        <p:nvPicPr>
          <p:cNvPr id="638" name="Google Shape;638;p56"/>
          <p:cNvPicPr preferRelativeResize="0"/>
          <p:nvPr/>
        </p:nvPicPr>
        <p:blipFill rotWithShape="1">
          <a:blip r:embed="rId6">
            <a:alphaModFix/>
          </a:blip>
          <a:srcRect b="39114" l="0" r="0" t="14945"/>
          <a:stretch/>
        </p:blipFill>
        <p:spPr>
          <a:xfrm>
            <a:off x="401725" y="721685"/>
            <a:ext cx="1729349" cy="1410390"/>
          </a:xfrm>
          <a:prstGeom prst="rect">
            <a:avLst/>
          </a:prstGeom>
          <a:noFill/>
          <a:ln>
            <a:noFill/>
          </a:ln>
        </p:spPr>
      </p:pic>
      <p:pic>
        <p:nvPicPr>
          <p:cNvPr id="639" name="Google Shape;639;p56"/>
          <p:cNvPicPr preferRelativeResize="0"/>
          <p:nvPr/>
        </p:nvPicPr>
        <p:blipFill rotWithShape="1">
          <a:blip r:embed="rId7">
            <a:alphaModFix/>
          </a:blip>
          <a:srcRect b="0" l="0" r="11918" t="0"/>
          <a:stretch/>
        </p:blipFill>
        <p:spPr>
          <a:xfrm>
            <a:off x="6803901" y="824328"/>
            <a:ext cx="1953284" cy="1248700"/>
          </a:xfrm>
          <a:prstGeom prst="rect">
            <a:avLst/>
          </a:prstGeom>
          <a:noFill/>
          <a:ln>
            <a:noFill/>
          </a:ln>
        </p:spPr>
      </p:pic>
      <p:pic>
        <p:nvPicPr>
          <p:cNvPr id="640" name="Google Shape;640;p56"/>
          <p:cNvPicPr preferRelativeResize="0"/>
          <p:nvPr/>
        </p:nvPicPr>
        <p:blipFill rotWithShape="1">
          <a:blip r:embed="rId8">
            <a:alphaModFix/>
          </a:blip>
          <a:srcRect b="22162" l="8416" r="25625" t="2763"/>
          <a:stretch/>
        </p:blipFill>
        <p:spPr>
          <a:xfrm>
            <a:off x="4599317" y="824323"/>
            <a:ext cx="1946132" cy="12486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grpSp>
        <p:nvGrpSpPr>
          <p:cNvPr id="645" name="Google Shape;645;p57"/>
          <p:cNvGrpSpPr/>
          <p:nvPr/>
        </p:nvGrpSpPr>
        <p:grpSpPr>
          <a:xfrm>
            <a:off x="0" y="2736907"/>
            <a:ext cx="9143820" cy="2406547"/>
            <a:chOff x="0" y="-38100"/>
            <a:chExt cx="4816593" cy="1267671"/>
          </a:xfrm>
        </p:grpSpPr>
        <p:sp>
          <p:nvSpPr>
            <p:cNvPr id="646" name="Google Shape;646;p57"/>
            <p:cNvSpPr/>
            <p:nvPr/>
          </p:nvSpPr>
          <p:spPr>
            <a:xfrm>
              <a:off x="0" y="0"/>
              <a:ext cx="4816592" cy="1229571"/>
            </a:xfrm>
            <a:custGeom>
              <a:rect b="b" l="l" r="r" t="t"/>
              <a:pathLst>
                <a:path extrusionOk="0" h="1229571" w="4816592">
                  <a:moveTo>
                    <a:pt x="0" y="0"/>
                  </a:moveTo>
                  <a:lnTo>
                    <a:pt x="4816592" y="0"/>
                  </a:lnTo>
                  <a:lnTo>
                    <a:pt x="4816592" y="1229571"/>
                  </a:lnTo>
                  <a:lnTo>
                    <a:pt x="0" y="1229571"/>
                  </a:lnTo>
                  <a:close/>
                </a:path>
              </a:pathLst>
            </a:custGeom>
            <a:solidFill>
              <a:schemeClr val="lt1"/>
            </a:solidFill>
            <a:ln cap="flat" cmpd="sng" w="25400">
              <a:solidFill>
                <a:schemeClr val="dk1"/>
              </a:solidFill>
              <a:prstDash val="solid"/>
              <a:round/>
              <a:headEnd len="sm" w="sm" type="none"/>
              <a:tailEnd len="sm" w="sm" type="none"/>
            </a:ln>
          </p:spPr>
        </p:sp>
        <p:sp>
          <p:nvSpPr>
            <p:cNvPr id="647" name="Google Shape;647;p57"/>
            <p:cNvSpPr txBox="1"/>
            <p:nvPr/>
          </p:nvSpPr>
          <p:spPr>
            <a:xfrm>
              <a:off x="0" y="-38100"/>
              <a:ext cx="4816593" cy="1267671"/>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sz="900">
                <a:solidFill>
                  <a:schemeClr val="dk1"/>
                </a:solidFill>
                <a:latin typeface="Calibri"/>
                <a:ea typeface="Calibri"/>
                <a:cs typeface="Calibri"/>
                <a:sym typeface="Calibri"/>
              </a:endParaRPr>
            </a:p>
          </p:txBody>
        </p:sp>
      </p:grpSp>
      <p:sp>
        <p:nvSpPr>
          <p:cNvPr id="648" name="Google Shape;648;p57"/>
          <p:cNvSpPr/>
          <p:nvPr/>
        </p:nvSpPr>
        <p:spPr>
          <a:xfrm>
            <a:off x="1742100" y="3428407"/>
            <a:ext cx="842067" cy="166320"/>
          </a:xfrm>
          <a:custGeom>
            <a:rect b="b" l="l" r="r" t="t"/>
            <a:pathLst>
              <a:path extrusionOk="0" h="332640" w="1860922">
                <a:moveTo>
                  <a:pt x="0" y="0"/>
                </a:moveTo>
                <a:lnTo>
                  <a:pt x="1860922" y="0"/>
                </a:lnTo>
                <a:lnTo>
                  <a:pt x="1860922" y="332639"/>
                </a:lnTo>
                <a:lnTo>
                  <a:pt x="0" y="332639"/>
                </a:lnTo>
                <a:lnTo>
                  <a:pt x="0" y="0"/>
                </a:lnTo>
                <a:close/>
              </a:path>
            </a:pathLst>
          </a:custGeom>
          <a:blipFill rotWithShape="1">
            <a:blip r:embed="rId3">
              <a:alphaModFix/>
            </a:blip>
            <a:stretch>
              <a:fillRect b="0" l="0" r="0" t="0"/>
            </a:stretch>
          </a:blipFill>
          <a:ln>
            <a:noFill/>
          </a:ln>
        </p:spPr>
      </p:sp>
      <p:sp>
        <p:nvSpPr>
          <p:cNvPr id="649" name="Google Shape;649;p57"/>
          <p:cNvSpPr txBox="1"/>
          <p:nvPr/>
        </p:nvSpPr>
        <p:spPr>
          <a:xfrm>
            <a:off x="1354738" y="209550"/>
            <a:ext cx="6648816" cy="490134"/>
          </a:xfrm>
          <a:prstGeom prst="rect">
            <a:avLst/>
          </a:prstGeom>
          <a:noFill/>
          <a:ln>
            <a:noFill/>
          </a:ln>
        </p:spPr>
        <p:txBody>
          <a:bodyPr anchorCtr="0" anchor="t" bIns="0" lIns="0" spcFirstLastPara="1" rIns="0" wrap="square" tIns="0">
            <a:spAutoFit/>
          </a:bodyPr>
          <a:lstStyle/>
          <a:p>
            <a:pPr indent="0" lvl="0" marL="0" marR="0" rtl="0" algn="ctr">
              <a:lnSpc>
                <a:spcPct val="209999"/>
              </a:lnSpc>
              <a:spcBef>
                <a:spcPts val="0"/>
              </a:spcBef>
              <a:spcAft>
                <a:spcPts val="0"/>
              </a:spcAft>
              <a:buNone/>
            </a:pPr>
            <a:r>
              <a:rPr b="1" lang="id" sz="2000">
                <a:solidFill>
                  <a:schemeClr val="dk1"/>
                </a:solidFill>
                <a:latin typeface="Poppins"/>
                <a:ea typeface="Poppins"/>
                <a:cs typeface="Poppins"/>
                <a:sym typeface="Poppins"/>
              </a:rPr>
              <a:t>Aktifitas dan Review Klien Kami</a:t>
            </a:r>
            <a:endParaRPr sz="700"/>
          </a:p>
        </p:txBody>
      </p:sp>
      <p:sp>
        <p:nvSpPr>
          <p:cNvPr id="650" name="Google Shape;650;p57"/>
          <p:cNvSpPr txBox="1"/>
          <p:nvPr/>
        </p:nvSpPr>
        <p:spPr>
          <a:xfrm>
            <a:off x="100550" y="3685216"/>
            <a:ext cx="4471500" cy="1366500"/>
          </a:xfrm>
          <a:prstGeom prst="rect">
            <a:avLst/>
          </a:prstGeom>
          <a:noFill/>
          <a:ln>
            <a:noFill/>
          </a:ln>
        </p:spPr>
        <p:txBody>
          <a:bodyPr anchorCtr="0" anchor="t" bIns="0" lIns="0" spcFirstLastPara="1" rIns="0" wrap="square" tIns="0">
            <a:spAutoFit/>
          </a:bodyPr>
          <a:lstStyle/>
          <a:p>
            <a:pPr indent="0" lvl="0" marL="0" marR="0" rtl="0" algn="ctr">
              <a:lnSpc>
                <a:spcPct val="147722"/>
              </a:lnSpc>
              <a:spcBef>
                <a:spcPts val="0"/>
              </a:spcBef>
              <a:spcAft>
                <a:spcPts val="0"/>
              </a:spcAft>
              <a:buNone/>
            </a:pPr>
            <a:r>
              <a:rPr lang="id" sz="900">
                <a:solidFill>
                  <a:schemeClr val="dk1"/>
                </a:solidFill>
                <a:latin typeface="Open Sans"/>
                <a:ea typeface="Open Sans"/>
                <a:cs typeface="Open Sans"/>
                <a:sym typeface="Open Sans"/>
              </a:rPr>
              <a:t>Alhamdulillah Terima Kasih atas kerjasamanya Biro Mustika  dengan Yayasan Daarul Hijrah sebagai mitra dari biro psikolog di sekolah kami. Alhamdulillah kami sangat terbantu sekali dengan kerjasama ini. Karena beliau sangat profesional sekali dalam memberikan asesmen kepada siswa siswi kami sehingga kami lebih mudah dalam memberikan sistem pembelajaran yg tepat kepada siswa siswi kami dan lebih mengetahui potensi anak didik kami. Semoga Biro Mustika semakin berkah usahanya dan memberikan banyak manfaat</a:t>
            </a:r>
            <a:endParaRPr sz="900">
              <a:solidFill>
                <a:schemeClr val="dk1"/>
              </a:solidFill>
              <a:latin typeface="Open Sans"/>
              <a:ea typeface="Open Sans"/>
              <a:cs typeface="Open Sans"/>
              <a:sym typeface="Open Sans"/>
            </a:endParaRPr>
          </a:p>
        </p:txBody>
      </p:sp>
      <p:sp>
        <p:nvSpPr>
          <p:cNvPr id="651" name="Google Shape;651;p57"/>
          <p:cNvSpPr txBox="1"/>
          <p:nvPr/>
        </p:nvSpPr>
        <p:spPr>
          <a:xfrm>
            <a:off x="1046121" y="2909225"/>
            <a:ext cx="2385900" cy="412500"/>
          </a:xfrm>
          <a:prstGeom prst="rect">
            <a:avLst/>
          </a:prstGeom>
          <a:noFill/>
          <a:ln>
            <a:noFill/>
          </a:ln>
        </p:spPr>
        <p:txBody>
          <a:bodyPr anchorCtr="0" anchor="t" bIns="0" lIns="0" spcFirstLastPara="1" rIns="0" wrap="square" tIns="0">
            <a:spAutoFit/>
          </a:bodyPr>
          <a:lstStyle/>
          <a:p>
            <a:pPr indent="0" lvl="0" marL="0" marR="0" rtl="0" algn="ctr">
              <a:lnSpc>
                <a:spcPct val="167950"/>
              </a:lnSpc>
              <a:spcBef>
                <a:spcPts val="0"/>
              </a:spcBef>
              <a:spcAft>
                <a:spcPts val="0"/>
              </a:spcAft>
              <a:buNone/>
            </a:pPr>
            <a:r>
              <a:rPr b="1" lang="id" sz="1000">
                <a:solidFill>
                  <a:schemeClr val="dk1"/>
                </a:solidFill>
                <a:latin typeface="Open Sans"/>
                <a:ea typeface="Open Sans"/>
                <a:cs typeface="Open Sans"/>
                <a:sym typeface="Open Sans"/>
              </a:rPr>
              <a:t>Riris Rachmawaty</a:t>
            </a:r>
            <a:endParaRPr b="1" sz="1000">
              <a:solidFill>
                <a:schemeClr val="dk1"/>
              </a:solidFill>
              <a:latin typeface="Open Sans"/>
              <a:ea typeface="Open Sans"/>
              <a:cs typeface="Open Sans"/>
              <a:sym typeface="Open Sans"/>
            </a:endParaRPr>
          </a:p>
          <a:p>
            <a:pPr indent="0" lvl="0" marL="0" marR="0" rtl="0" algn="ctr">
              <a:lnSpc>
                <a:spcPct val="167950"/>
              </a:lnSpc>
              <a:spcBef>
                <a:spcPts val="0"/>
              </a:spcBef>
              <a:spcAft>
                <a:spcPts val="0"/>
              </a:spcAft>
              <a:buNone/>
            </a:pPr>
            <a:r>
              <a:rPr b="1" lang="id" sz="1000">
                <a:solidFill>
                  <a:schemeClr val="dk1"/>
                </a:solidFill>
                <a:latin typeface="Open Sans"/>
                <a:ea typeface="Open Sans"/>
                <a:cs typeface="Open Sans"/>
                <a:sym typeface="Open Sans"/>
              </a:rPr>
              <a:t>Kepala Sekolah Darul Hijrah</a:t>
            </a:r>
            <a:endParaRPr sz="700"/>
          </a:p>
        </p:txBody>
      </p:sp>
      <p:sp>
        <p:nvSpPr>
          <p:cNvPr id="652" name="Google Shape;652;p57"/>
          <p:cNvSpPr txBox="1"/>
          <p:nvPr/>
        </p:nvSpPr>
        <p:spPr>
          <a:xfrm>
            <a:off x="256792" y="2218972"/>
            <a:ext cx="1642800" cy="3231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900">
                <a:solidFill>
                  <a:schemeClr val="dk1"/>
                </a:solidFill>
                <a:latin typeface="Open Sans"/>
                <a:ea typeface="Open Sans"/>
                <a:cs typeface="Open Sans"/>
                <a:sym typeface="Open Sans"/>
              </a:rPr>
              <a:t>Pelatihan Guru Inklusi</a:t>
            </a:r>
            <a:br>
              <a:rPr b="1" lang="id" sz="900">
                <a:solidFill>
                  <a:schemeClr val="dk1"/>
                </a:solidFill>
                <a:latin typeface="Open Sans"/>
                <a:ea typeface="Open Sans"/>
                <a:cs typeface="Open Sans"/>
                <a:sym typeface="Open Sans"/>
              </a:rPr>
            </a:br>
            <a:r>
              <a:rPr b="1" lang="id" sz="900">
                <a:solidFill>
                  <a:schemeClr val="dk1"/>
                </a:solidFill>
                <a:latin typeface="Open Sans"/>
                <a:ea typeface="Open Sans"/>
                <a:cs typeface="Open Sans"/>
                <a:sym typeface="Open Sans"/>
              </a:rPr>
              <a:t>TKIT Bunga Harapan</a:t>
            </a:r>
            <a:endParaRPr sz="900">
              <a:solidFill>
                <a:schemeClr val="dk1"/>
              </a:solidFill>
              <a:latin typeface="Calibri"/>
              <a:ea typeface="Calibri"/>
              <a:cs typeface="Calibri"/>
              <a:sym typeface="Calibri"/>
            </a:endParaRPr>
          </a:p>
        </p:txBody>
      </p:sp>
      <p:sp>
        <p:nvSpPr>
          <p:cNvPr id="653" name="Google Shape;653;p57"/>
          <p:cNvSpPr txBox="1"/>
          <p:nvPr/>
        </p:nvSpPr>
        <p:spPr>
          <a:xfrm>
            <a:off x="5418200" y="2231450"/>
            <a:ext cx="1603200" cy="3231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900">
                <a:solidFill>
                  <a:schemeClr val="dk1"/>
                </a:solidFill>
                <a:latin typeface="Open Sans"/>
                <a:ea typeface="Open Sans"/>
                <a:cs typeface="Open Sans"/>
                <a:sym typeface="Open Sans"/>
              </a:rPr>
              <a:t>Tes  IQ dan Minat Bakat </a:t>
            </a:r>
            <a:endParaRPr sz="700"/>
          </a:p>
          <a:p>
            <a:pPr indent="0" lvl="0" marL="0" marR="0" rtl="0" algn="ctr">
              <a:spcBef>
                <a:spcPts val="0"/>
              </a:spcBef>
              <a:spcAft>
                <a:spcPts val="0"/>
              </a:spcAft>
              <a:buNone/>
            </a:pPr>
            <a:r>
              <a:rPr b="1" lang="id" sz="900">
                <a:solidFill>
                  <a:schemeClr val="dk1"/>
                </a:solidFill>
                <a:latin typeface="Open Sans"/>
                <a:ea typeface="Open Sans"/>
                <a:cs typeface="Open Sans"/>
                <a:sym typeface="Open Sans"/>
              </a:rPr>
              <a:t>SMA Negeri 1, 2, 3 dan 12</a:t>
            </a:r>
            <a:endParaRPr sz="900">
              <a:solidFill>
                <a:schemeClr val="dk1"/>
              </a:solidFill>
              <a:latin typeface="Calibri"/>
              <a:ea typeface="Calibri"/>
              <a:cs typeface="Calibri"/>
              <a:sym typeface="Calibri"/>
            </a:endParaRPr>
          </a:p>
        </p:txBody>
      </p:sp>
      <p:sp>
        <p:nvSpPr>
          <p:cNvPr id="654" name="Google Shape;654;p57"/>
          <p:cNvSpPr txBox="1"/>
          <p:nvPr/>
        </p:nvSpPr>
        <p:spPr>
          <a:xfrm>
            <a:off x="2014403" y="2202927"/>
            <a:ext cx="1642800" cy="3231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900">
                <a:solidFill>
                  <a:schemeClr val="dk1"/>
                </a:solidFill>
                <a:latin typeface="Open Sans"/>
                <a:ea typeface="Open Sans"/>
                <a:cs typeface="Open Sans"/>
                <a:sym typeface="Open Sans"/>
              </a:rPr>
              <a:t>Seminar Parenting </a:t>
            </a:r>
            <a:endParaRPr sz="700"/>
          </a:p>
          <a:p>
            <a:pPr indent="0" lvl="0" marL="0" marR="0" rtl="0" algn="ctr">
              <a:spcBef>
                <a:spcPts val="0"/>
              </a:spcBef>
              <a:spcAft>
                <a:spcPts val="0"/>
              </a:spcAft>
              <a:buNone/>
            </a:pPr>
            <a:r>
              <a:rPr b="1" lang="id" sz="900">
                <a:solidFill>
                  <a:schemeClr val="dk1"/>
                </a:solidFill>
                <a:latin typeface="Open Sans"/>
                <a:ea typeface="Open Sans"/>
                <a:cs typeface="Open Sans"/>
                <a:sym typeface="Open Sans"/>
              </a:rPr>
              <a:t>SD Cita Hati &amp; Budi Bakti</a:t>
            </a:r>
            <a:endParaRPr sz="900">
              <a:solidFill>
                <a:schemeClr val="dk1"/>
              </a:solidFill>
              <a:latin typeface="Calibri"/>
              <a:ea typeface="Calibri"/>
              <a:cs typeface="Calibri"/>
              <a:sym typeface="Calibri"/>
            </a:endParaRPr>
          </a:p>
        </p:txBody>
      </p:sp>
      <p:sp>
        <p:nvSpPr>
          <p:cNvPr id="655" name="Google Shape;655;p57"/>
          <p:cNvSpPr txBox="1"/>
          <p:nvPr/>
        </p:nvSpPr>
        <p:spPr>
          <a:xfrm>
            <a:off x="3759123" y="2237071"/>
            <a:ext cx="1642800" cy="3231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900">
                <a:solidFill>
                  <a:schemeClr val="dk1"/>
                </a:solidFill>
                <a:latin typeface="Open Sans"/>
                <a:ea typeface="Open Sans"/>
                <a:cs typeface="Open Sans"/>
                <a:sym typeface="Open Sans"/>
              </a:rPr>
              <a:t>Tes Kesiapan Sekolah Darul Falah 3</a:t>
            </a:r>
            <a:endParaRPr sz="900">
              <a:solidFill>
                <a:schemeClr val="dk1"/>
              </a:solidFill>
              <a:latin typeface="Calibri"/>
              <a:ea typeface="Calibri"/>
              <a:cs typeface="Calibri"/>
              <a:sym typeface="Calibri"/>
            </a:endParaRPr>
          </a:p>
        </p:txBody>
      </p:sp>
      <p:pic>
        <p:nvPicPr>
          <p:cNvPr id="656" name="Google Shape;656;p57"/>
          <p:cNvPicPr preferRelativeResize="0"/>
          <p:nvPr/>
        </p:nvPicPr>
        <p:blipFill rotWithShape="1">
          <a:blip r:embed="rId4">
            <a:alphaModFix/>
          </a:blip>
          <a:srcRect b="0" l="20442" r="0" t="0"/>
          <a:stretch/>
        </p:blipFill>
        <p:spPr>
          <a:xfrm>
            <a:off x="5418158" y="944210"/>
            <a:ext cx="1603120" cy="1135974"/>
          </a:xfrm>
          <a:prstGeom prst="rect">
            <a:avLst/>
          </a:prstGeom>
          <a:noFill/>
          <a:ln>
            <a:noFill/>
          </a:ln>
        </p:spPr>
      </p:pic>
      <p:pic>
        <p:nvPicPr>
          <p:cNvPr id="657" name="Google Shape;657;p57"/>
          <p:cNvPicPr preferRelativeResize="0"/>
          <p:nvPr/>
        </p:nvPicPr>
        <p:blipFill rotWithShape="1">
          <a:blip r:embed="rId5">
            <a:alphaModFix/>
          </a:blip>
          <a:srcRect b="0" l="12538" r="20808" t="0"/>
          <a:stretch/>
        </p:blipFill>
        <p:spPr>
          <a:xfrm>
            <a:off x="2053484" y="876413"/>
            <a:ext cx="1522643" cy="1286754"/>
          </a:xfrm>
          <a:prstGeom prst="rect">
            <a:avLst/>
          </a:prstGeom>
          <a:noFill/>
          <a:ln>
            <a:noFill/>
          </a:ln>
        </p:spPr>
      </p:pic>
      <p:pic>
        <p:nvPicPr>
          <p:cNvPr id="658" name="Google Shape;658;p57"/>
          <p:cNvPicPr preferRelativeResize="0"/>
          <p:nvPr/>
        </p:nvPicPr>
        <p:blipFill rotWithShape="1">
          <a:blip r:embed="rId6">
            <a:alphaModFix/>
          </a:blip>
          <a:srcRect b="0" l="10443" r="25216" t="0"/>
          <a:stretch/>
        </p:blipFill>
        <p:spPr>
          <a:xfrm>
            <a:off x="3763863" y="879638"/>
            <a:ext cx="1466552" cy="1283524"/>
          </a:xfrm>
          <a:prstGeom prst="rect">
            <a:avLst/>
          </a:prstGeom>
          <a:noFill/>
          <a:ln>
            <a:noFill/>
          </a:ln>
        </p:spPr>
      </p:pic>
      <p:sp>
        <p:nvSpPr>
          <p:cNvPr id="659" name="Google Shape;659;p57"/>
          <p:cNvSpPr txBox="1"/>
          <p:nvPr/>
        </p:nvSpPr>
        <p:spPr>
          <a:xfrm>
            <a:off x="5081950" y="2797650"/>
            <a:ext cx="1811100" cy="22164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Times New Roman"/>
              <a:buAutoNum type="arabicPeriod"/>
            </a:pPr>
            <a:r>
              <a:rPr lang="id" sz="1100">
                <a:solidFill>
                  <a:schemeClr val="dk1"/>
                </a:solidFill>
                <a:latin typeface="Times New Roman"/>
                <a:ea typeface="Times New Roman"/>
                <a:cs typeface="Times New Roman"/>
                <a:sym typeface="Times New Roman"/>
              </a:rPr>
              <a:t>SLB Mutmainah</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AutoNum type="arabicPeriod"/>
            </a:pPr>
            <a:r>
              <a:rPr lang="id" sz="1100">
                <a:solidFill>
                  <a:schemeClr val="dk1"/>
                </a:solidFill>
                <a:latin typeface="Times New Roman"/>
                <a:ea typeface="Times New Roman"/>
                <a:cs typeface="Times New Roman"/>
                <a:sym typeface="Times New Roman"/>
              </a:rPr>
              <a:t>KB Al Muna</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AutoNum type="arabicPeriod"/>
            </a:pPr>
            <a:r>
              <a:rPr lang="id" sz="1100">
                <a:solidFill>
                  <a:schemeClr val="dk1"/>
                </a:solidFill>
                <a:latin typeface="Times New Roman"/>
                <a:ea typeface="Times New Roman"/>
                <a:cs typeface="Times New Roman"/>
                <a:sym typeface="Times New Roman"/>
              </a:rPr>
              <a:t>TK Ibnu Sina</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AutoNum type="arabicPeriod"/>
            </a:pPr>
            <a:r>
              <a:rPr lang="id" sz="1100">
                <a:solidFill>
                  <a:schemeClr val="dk1"/>
                </a:solidFill>
                <a:latin typeface="Times New Roman"/>
                <a:ea typeface="Times New Roman"/>
                <a:cs typeface="Times New Roman"/>
                <a:sym typeface="Times New Roman"/>
              </a:rPr>
              <a:t>KB Asy Syifa</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AutoNum type="arabicPeriod"/>
            </a:pPr>
            <a:r>
              <a:rPr lang="id" sz="1100">
                <a:solidFill>
                  <a:schemeClr val="dk1"/>
                </a:solidFill>
                <a:latin typeface="Times New Roman"/>
                <a:ea typeface="Times New Roman"/>
                <a:cs typeface="Times New Roman"/>
                <a:sym typeface="Times New Roman"/>
              </a:rPr>
              <a:t>KB Khasanah</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AutoNum type="arabicPeriod"/>
            </a:pPr>
            <a:r>
              <a:rPr lang="id" sz="1100">
                <a:solidFill>
                  <a:schemeClr val="dk1"/>
                </a:solidFill>
                <a:latin typeface="Times New Roman"/>
                <a:ea typeface="Times New Roman"/>
                <a:cs typeface="Times New Roman"/>
                <a:sym typeface="Times New Roman"/>
              </a:rPr>
              <a:t>KB Al Ikhlas</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AutoNum type="arabicPeriod"/>
            </a:pPr>
            <a:r>
              <a:rPr lang="id" sz="1100">
                <a:solidFill>
                  <a:schemeClr val="dk1"/>
                </a:solidFill>
                <a:latin typeface="Times New Roman"/>
                <a:ea typeface="Times New Roman"/>
                <a:cs typeface="Times New Roman"/>
                <a:sym typeface="Times New Roman"/>
              </a:rPr>
              <a:t>TK ABA 3</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AutoNum type="arabicPeriod"/>
            </a:pPr>
            <a:r>
              <a:rPr lang="id" sz="1100">
                <a:solidFill>
                  <a:schemeClr val="dk1"/>
                </a:solidFill>
                <a:latin typeface="Times New Roman"/>
                <a:ea typeface="Times New Roman"/>
                <a:cs typeface="Times New Roman"/>
                <a:sym typeface="Times New Roman"/>
              </a:rPr>
              <a:t>TK ABA 14</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AutoNum type="arabicPeriod"/>
            </a:pPr>
            <a:r>
              <a:rPr lang="id" sz="1100">
                <a:solidFill>
                  <a:schemeClr val="dk1"/>
                </a:solidFill>
                <a:latin typeface="Times New Roman"/>
                <a:ea typeface="Times New Roman"/>
                <a:cs typeface="Times New Roman"/>
                <a:sym typeface="Times New Roman"/>
              </a:rPr>
              <a:t>TK Darul Hijrah</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AutoNum type="arabicPeriod"/>
            </a:pPr>
            <a:r>
              <a:rPr lang="id" sz="1100">
                <a:solidFill>
                  <a:schemeClr val="dk1"/>
                </a:solidFill>
                <a:latin typeface="Times New Roman"/>
                <a:ea typeface="Times New Roman"/>
                <a:cs typeface="Times New Roman"/>
                <a:sym typeface="Times New Roman"/>
              </a:rPr>
              <a:t>TK Bunga Harapan</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AutoNum type="arabicPeriod"/>
            </a:pPr>
            <a:r>
              <a:rPr lang="id" sz="1100">
                <a:solidFill>
                  <a:schemeClr val="dk1"/>
                </a:solidFill>
                <a:latin typeface="Times New Roman"/>
                <a:ea typeface="Times New Roman"/>
                <a:cs typeface="Times New Roman"/>
                <a:sym typeface="Times New Roman"/>
              </a:rPr>
              <a:t>TK Negeri 2</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AutoNum type="arabicPeriod"/>
            </a:pPr>
            <a:r>
              <a:rPr lang="id" sz="1100">
                <a:solidFill>
                  <a:schemeClr val="dk1"/>
                </a:solidFill>
                <a:latin typeface="Times New Roman"/>
                <a:ea typeface="Times New Roman"/>
                <a:cs typeface="Times New Roman"/>
                <a:sym typeface="Times New Roman"/>
              </a:rPr>
              <a:t>TK Darul Falah 3</a:t>
            </a:r>
            <a:endParaRPr/>
          </a:p>
        </p:txBody>
      </p:sp>
      <p:sp>
        <p:nvSpPr>
          <p:cNvPr id="660" name="Google Shape;660;p57"/>
          <p:cNvSpPr txBox="1"/>
          <p:nvPr/>
        </p:nvSpPr>
        <p:spPr>
          <a:xfrm>
            <a:off x="6932203" y="2792250"/>
            <a:ext cx="20271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d" sz="1100">
                <a:solidFill>
                  <a:schemeClr val="dk1"/>
                </a:solidFill>
                <a:latin typeface="Times New Roman"/>
                <a:ea typeface="Times New Roman"/>
                <a:cs typeface="Times New Roman"/>
                <a:sym typeface="Times New Roman"/>
              </a:rPr>
              <a:t>13. </a:t>
            </a:r>
            <a:r>
              <a:rPr lang="id" sz="1100">
                <a:solidFill>
                  <a:schemeClr val="dk1"/>
                </a:solidFill>
                <a:latin typeface="Times New Roman"/>
                <a:ea typeface="Times New Roman"/>
                <a:cs typeface="Times New Roman"/>
                <a:sym typeface="Times New Roman"/>
              </a:rPr>
              <a:t>TK Darul Falah </a:t>
            </a:r>
            <a:r>
              <a:rPr lang="id" sz="1100">
                <a:solidFill>
                  <a:schemeClr val="dk1"/>
                </a:solidFill>
                <a:latin typeface="Times New Roman"/>
                <a:ea typeface="Times New Roman"/>
                <a:cs typeface="Times New Roman"/>
                <a:sym typeface="Times New Roman"/>
              </a:rPr>
              <a:t>9</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id" sz="1100">
                <a:solidFill>
                  <a:schemeClr val="dk1"/>
                </a:solidFill>
                <a:latin typeface="Times New Roman"/>
                <a:ea typeface="Times New Roman"/>
                <a:cs typeface="Times New Roman"/>
                <a:sym typeface="Times New Roman"/>
              </a:rPr>
              <a:t>14. </a:t>
            </a:r>
            <a:r>
              <a:rPr lang="id" sz="1100">
                <a:solidFill>
                  <a:schemeClr val="dk1"/>
                </a:solidFill>
                <a:latin typeface="Times New Roman"/>
                <a:ea typeface="Times New Roman"/>
                <a:cs typeface="Times New Roman"/>
                <a:sym typeface="Times New Roman"/>
              </a:rPr>
              <a:t>TK IT Ar Rajwaa</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id" sz="1100">
                <a:solidFill>
                  <a:schemeClr val="dk1"/>
                </a:solidFill>
                <a:latin typeface="Times New Roman"/>
                <a:ea typeface="Times New Roman"/>
                <a:cs typeface="Times New Roman"/>
                <a:sym typeface="Times New Roman"/>
              </a:rPr>
              <a:t>15. SD Darul Hijrah</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id" sz="1100">
                <a:solidFill>
                  <a:schemeClr val="dk1"/>
                </a:solidFill>
                <a:latin typeface="Times New Roman"/>
                <a:ea typeface="Times New Roman"/>
                <a:cs typeface="Times New Roman"/>
                <a:sym typeface="Times New Roman"/>
              </a:rPr>
              <a:t>16. SD Budi Bakti</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id" sz="1100">
                <a:solidFill>
                  <a:schemeClr val="dk1"/>
                </a:solidFill>
                <a:latin typeface="Times New Roman"/>
                <a:ea typeface="Times New Roman"/>
                <a:cs typeface="Times New Roman"/>
                <a:sym typeface="Times New Roman"/>
              </a:rPr>
              <a:t>17 SD Cita Hati</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id" sz="1100">
                <a:solidFill>
                  <a:schemeClr val="dk1"/>
                </a:solidFill>
                <a:latin typeface="Times New Roman"/>
                <a:ea typeface="Times New Roman"/>
                <a:cs typeface="Times New Roman"/>
                <a:sym typeface="Times New Roman"/>
              </a:rPr>
              <a:t>18. SD Al Fatih</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id" sz="1100">
                <a:solidFill>
                  <a:schemeClr val="dk1"/>
                </a:solidFill>
                <a:latin typeface="Times New Roman"/>
                <a:ea typeface="Times New Roman"/>
                <a:cs typeface="Times New Roman"/>
                <a:sym typeface="Times New Roman"/>
              </a:rPr>
              <a:t>19. SD Muhammadiyah 5</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id" sz="1100">
                <a:solidFill>
                  <a:schemeClr val="dk1"/>
                </a:solidFill>
                <a:latin typeface="Times New Roman"/>
                <a:ea typeface="Times New Roman"/>
                <a:cs typeface="Times New Roman"/>
                <a:sym typeface="Times New Roman"/>
              </a:rPr>
              <a:t>20. SMA Negeri 1</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id" sz="1100">
                <a:solidFill>
                  <a:schemeClr val="dk1"/>
                </a:solidFill>
                <a:latin typeface="Times New Roman"/>
                <a:ea typeface="Times New Roman"/>
                <a:cs typeface="Times New Roman"/>
                <a:sym typeface="Times New Roman"/>
              </a:rPr>
              <a:t>21. SMA Negeri 2</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id" sz="1100">
                <a:solidFill>
                  <a:schemeClr val="dk1"/>
                </a:solidFill>
                <a:latin typeface="Times New Roman"/>
                <a:ea typeface="Times New Roman"/>
                <a:cs typeface="Times New Roman"/>
                <a:sym typeface="Times New Roman"/>
              </a:rPr>
              <a:t>22. SMA Negeri 3</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id" sz="1100">
                <a:solidFill>
                  <a:schemeClr val="dk1"/>
                </a:solidFill>
                <a:latin typeface="Times New Roman"/>
                <a:ea typeface="Times New Roman"/>
                <a:cs typeface="Times New Roman"/>
                <a:sym typeface="Times New Roman"/>
              </a:rPr>
              <a:t>23. SMA Negeri 12</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id" sz="1100">
                <a:solidFill>
                  <a:schemeClr val="dk1"/>
                </a:solidFill>
                <a:latin typeface="Times New Roman"/>
                <a:ea typeface="Times New Roman"/>
                <a:cs typeface="Times New Roman"/>
                <a:sym typeface="Times New Roman"/>
              </a:rPr>
              <a:t>24. SMA Cita Hati</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id" sz="1100">
                <a:solidFill>
                  <a:schemeClr val="dk1"/>
                </a:solidFill>
                <a:latin typeface="Times New Roman"/>
                <a:ea typeface="Times New Roman"/>
                <a:cs typeface="Times New Roman"/>
                <a:sym typeface="Times New Roman"/>
              </a:rPr>
              <a:t>25. SMA Budi Bakti</a:t>
            </a:r>
            <a:endParaRPr sz="1100">
              <a:solidFill>
                <a:schemeClr val="dk1"/>
              </a:solidFill>
              <a:latin typeface="Times New Roman"/>
              <a:ea typeface="Times New Roman"/>
              <a:cs typeface="Times New Roman"/>
              <a:sym typeface="Times New Roman"/>
            </a:endParaRPr>
          </a:p>
        </p:txBody>
      </p:sp>
      <p:pic>
        <p:nvPicPr>
          <p:cNvPr id="661" name="Google Shape;661;p57"/>
          <p:cNvPicPr preferRelativeResize="0"/>
          <p:nvPr/>
        </p:nvPicPr>
        <p:blipFill rotWithShape="1">
          <a:blip r:embed="rId7">
            <a:alphaModFix/>
          </a:blip>
          <a:srcRect b="0" l="0" r="11918" t="0"/>
          <a:stretch/>
        </p:blipFill>
        <p:spPr>
          <a:xfrm>
            <a:off x="262600" y="926738"/>
            <a:ext cx="1603124" cy="1024854"/>
          </a:xfrm>
          <a:prstGeom prst="rect">
            <a:avLst/>
          </a:prstGeom>
          <a:noFill/>
          <a:ln>
            <a:noFill/>
          </a:ln>
        </p:spPr>
      </p:pic>
      <p:pic>
        <p:nvPicPr>
          <p:cNvPr id="662" name="Google Shape;662;p57"/>
          <p:cNvPicPr preferRelativeResize="0"/>
          <p:nvPr/>
        </p:nvPicPr>
        <p:blipFill rotWithShape="1">
          <a:blip r:embed="rId8">
            <a:alphaModFix/>
          </a:blip>
          <a:srcRect b="0" l="0" r="19808" t="0"/>
          <a:stretch/>
        </p:blipFill>
        <p:spPr>
          <a:xfrm>
            <a:off x="7209000" y="911375"/>
            <a:ext cx="1642800" cy="1153611"/>
          </a:xfrm>
          <a:prstGeom prst="rect">
            <a:avLst/>
          </a:prstGeom>
          <a:noFill/>
          <a:ln>
            <a:noFill/>
          </a:ln>
        </p:spPr>
      </p:pic>
      <p:sp>
        <p:nvSpPr>
          <p:cNvPr id="663" name="Google Shape;663;p57"/>
          <p:cNvSpPr txBox="1"/>
          <p:nvPr/>
        </p:nvSpPr>
        <p:spPr>
          <a:xfrm>
            <a:off x="7261450" y="2239388"/>
            <a:ext cx="1603200" cy="3231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id" sz="900">
                <a:solidFill>
                  <a:schemeClr val="dk1"/>
                </a:solidFill>
                <a:latin typeface="Open Sans"/>
                <a:ea typeface="Open Sans"/>
                <a:cs typeface="Open Sans"/>
                <a:sym typeface="Open Sans"/>
              </a:rPr>
              <a:t>Konseling Minat Bakat</a:t>
            </a:r>
            <a:br>
              <a:rPr b="1" lang="id" sz="900">
                <a:solidFill>
                  <a:schemeClr val="dk1"/>
                </a:solidFill>
                <a:latin typeface="Open Sans"/>
                <a:ea typeface="Open Sans"/>
                <a:cs typeface="Open Sans"/>
                <a:sym typeface="Open Sans"/>
              </a:rPr>
            </a:br>
            <a:r>
              <a:rPr b="1" lang="id" sz="900">
                <a:solidFill>
                  <a:schemeClr val="dk1"/>
                </a:solidFill>
                <a:latin typeface="Open Sans"/>
                <a:ea typeface="Open Sans"/>
                <a:cs typeface="Open Sans"/>
                <a:sym typeface="Open Sans"/>
              </a:rPr>
              <a:t>SMAN 3</a:t>
            </a:r>
            <a:endParaRPr sz="9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58"/>
          <p:cNvSpPr/>
          <p:nvPr/>
        </p:nvSpPr>
        <p:spPr>
          <a:xfrm>
            <a:off x="989914" y="2692907"/>
            <a:ext cx="665448" cy="665447"/>
          </a:xfrm>
          <a:custGeom>
            <a:rect b="b" l="l" r="r" t="t"/>
            <a:pathLst>
              <a:path extrusionOk="0" h="1330895" w="1330895">
                <a:moveTo>
                  <a:pt x="0" y="0"/>
                </a:moveTo>
                <a:lnTo>
                  <a:pt x="1330895" y="0"/>
                </a:lnTo>
                <a:lnTo>
                  <a:pt x="1330895" y="1330895"/>
                </a:lnTo>
                <a:lnTo>
                  <a:pt x="0" y="1330895"/>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669" name="Google Shape;669;p58"/>
          <p:cNvSpPr/>
          <p:nvPr/>
        </p:nvSpPr>
        <p:spPr>
          <a:xfrm>
            <a:off x="989914" y="3587570"/>
            <a:ext cx="665448" cy="665447"/>
          </a:xfrm>
          <a:custGeom>
            <a:rect b="b" l="l" r="r" t="t"/>
            <a:pathLst>
              <a:path extrusionOk="0" h="1330895" w="1330895">
                <a:moveTo>
                  <a:pt x="0" y="0"/>
                </a:moveTo>
                <a:lnTo>
                  <a:pt x="1330895" y="0"/>
                </a:lnTo>
                <a:lnTo>
                  <a:pt x="1330895" y="1330895"/>
                </a:lnTo>
                <a:lnTo>
                  <a:pt x="0" y="1330895"/>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670" name="Google Shape;670;p58"/>
          <p:cNvSpPr/>
          <p:nvPr/>
        </p:nvSpPr>
        <p:spPr>
          <a:xfrm>
            <a:off x="4774682" y="2692907"/>
            <a:ext cx="665447" cy="665447"/>
          </a:xfrm>
          <a:custGeom>
            <a:rect b="b" l="l" r="r" t="t"/>
            <a:pathLst>
              <a:path extrusionOk="0" h="1330895" w="1330895">
                <a:moveTo>
                  <a:pt x="0" y="0"/>
                </a:moveTo>
                <a:lnTo>
                  <a:pt x="1330895" y="0"/>
                </a:lnTo>
                <a:lnTo>
                  <a:pt x="1330895" y="1330895"/>
                </a:lnTo>
                <a:lnTo>
                  <a:pt x="0" y="1330895"/>
                </a:lnTo>
                <a:lnTo>
                  <a:pt x="0" y="0"/>
                </a:lnTo>
                <a:close/>
              </a:path>
            </a:pathLst>
          </a:custGeom>
          <a:blipFill rotWithShape="1">
            <a:blip r:embed="rId5">
              <a:alphaModFix/>
            </a:blip>
            <a:stretch>
              <a:fillRect b="0" l="0" r="0" t="0"/>
            </a:stretch>
          </a:blipFill>
          <a:ln>
            <a:noFill/>
          </a:ln>
        </p:spPr>
      </p:sp>
      <p:sp>
        <p:nvSpPr>
          <p:cNvPr id="671" name="Google Shape;671;p58"/>
          <p:cNvSpPr/>
          <p:nvPr/>
        </p:nvSpPr>
        <p:spPr>
          <a:xfrm>
            <a:off x="4774682" y="3587570"/>
            <a:ext cx="665447" cy="665447"/>
          </a:xfrm>
          <a:custGeom>
            <a:rect b="b" l="l" r="r" t="t"/>
            <a:pathLst>
              <a:path extrusionOk="0" h="1330895" w="1330895">
                <a:moveTo>
                  <a:pt x="0" y="0"/>
                </a:moveTo>
                <a:lnTo>
                  <a:pt x="1330895" y="0"/>
                </a:lnTo>
                <a:lnTo>
                  <a:pt x="1330895" y="1330895"/>
                </a:lnTo>
                <a:lnTo>
                  <a:pt x="0" y="1330895"/>
                </a:lnTo>
                <a:lnTo>
                  <a:pt x="0" y="0"/>
                </a:lnTo>
                <a:close/>
              </a:path>
            </a:pathLst>
          </a:custGeom>
          <a:blipFill rotWithShape="1">
            <a:blip r:embed="rId6">
              <a:alphaModFix/>
            </a:blip>
            <a:stretch>
              <a:fillRect b="0" l="0" r="0" t="0"/>
            </a:stretch>
          </a:blipFill>
          <a:ln>
            <a:noFill/>
          </a:ln>
        </p:spPr>
      </p:sp>
      <p:sp>
        <p:nvSpPr>
          <p:cNvPr id="672" name="Google Shape;672;p58"/>
          <p:cNvSpPr/>
          <p:nvPr/>
        </p:nvSpPr>
        <p:spPr>
          <a:xfrm rot="5400000">
            <a:off x="6498327" y="2391728"/>
            <a:ext cx="5143500" cy="360045"/>
          </a:xfrm>
          <a:custGeom>
            <a:rect b="b" l="l" r="r" t="t"/>
            <a:pathLst>
              <a:path extrusionOk="0" h="720090" w="10287000">
                <a:moveTo>
                  <a:pt x="0" y="0"/>
                </a:moveTo>
                <a:lnTo>
                  <a:pt x="10287000" y="0"/>
                </a:lnTo>
                <a:lnTo>
                  <a:pt x="10287000" y="720090"/>
                </a:lnTo>
                <a:lnTo>
                  <a:pt x="0" y="720090"/>
                </a:lnTo>
                <a:lnTo>
                  <a:pt x="0" y="0"/>
                </a:lnTo>
                <a:close/>
              </a:path>
            </a:pathLst>
          </a:custGeom>
          <a:blipFill rotWithShape="1">
            <a:blip r:embed="rId7">
              <a:alphaModFix/>
            </a:blip>
            <a:stretch>
              <a:fillRect b="0" l="0" r="0" t="0"/>
            </a:stretch>
          </a:blipFill>
          <a:ln>
            <a:noFill/>
          </a:ln>
        </p:spPr>
      </p:sp>
      <p:cxnSp>
        <p:nvCxnSpPr>
          <p:cNvPr id="673" name="Google Shape;673;p58"/>
          <p:cNvCxnSpPr/>
          <p:nvPr/>
        </p:nvCxnSpPr>
        <p:spPr>
          <a:xfrm>
            <a:off x="3900785" y="1934588"/>
            <a:ext cx="1342430" cy="0"/>
          </a:xfrm>
          <a:prstGeom prst="straightConnector1">
            <a:avLst/>
          </a:prstGeom>
          <a:noFill/>
          <a:ln cap="flat" cmpd="sng" w="47625">
            <a:solidFill>
              <a:srgbClr val="002646"/>
            </a:solidFill>
            <a:prstDash val="solid"/>
            <a:round/>
            <a:headEnd len="sm" w="sm" type="none"/>
            <a:tailEnd len="sm" w="sm" type="none"/>
          </a:ln>
        </p:spPr>
      </p:cxnSp>
      <p:sp>
        <p:nvSpPr>
          <p:cNvPr id="674" name="Google Shape;674;p58"/>
          <p:cNvSpPr txBox="1"/>
          <p:nvPr/>
        </p:nvSpPr>
        <p:spPr>
          <a:xfrm>
            <a:off x="1765061" y="2725132"/>
            <a:ext cx="2853374" cy="22066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id" sz="1200">
                <a:solidFill>
                  <a:schemeClr val="dk1"/>
                </a:solidFill>
                <a:latin typeface="Poppins"/>
                <a:ea typeface="Poppins"/>
                <a:cs typeface="Poppins"/>
                <a:sym typeface="Poppins"/>
              </a:rPr>
              <a:t>Our Telephone</a:t>
            </a:r>
            <a:endParaRPr sz="700"/>
          </a:p>
        </p:txBody>
      </p:sp>
      <p:sp>
        <p:nvSpPr>
          <p:cNvPr id="675" name="Google Shape;675;p58"/>
          <p:cNvSpPr txBox="1"/>
          <p:nvPr/>
        </p:nvSpPr>
        <p:spPr>
          <a:xfrm>
            <a:off x="1765061" y="2925619"/>
            <a:ext cx="2853300" cy="21540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lang="id">
                <a:solidFill>
                  <a:schemeClr val="dk1"/>
                </a:solidFill>
                <a:latin typeface="Poppins Medium"/>
                <a:ea typeface="Poppins Medium"/>
                <a:cs typeface="Poppins Medium"/>
                <a:sym typeface="Poppins Medium"/>
              </a:rPr>
              <a:t>0822-1377-3806</a:t>
            </a:r>
            <a:endParaRPr sz="700"/>
          </a:p>
        </p:txBody>
      </p:sp>
      <p:sp>
        <p:nvSpPr>
          <p:cNvPr id="676" name="Google Shape;676;p58"/>
          <p:cNvSpPr txBox="1"/>
          <p:nvPr/>
        </p:nvSpPr>
        <p:spPr>
          <a:xfrm>
            <a:off x="1765061" y="3901244"/>
            <a:ext cx="2638146" cy="237789"/>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lang="id" sz="1400">
                <a:solidFill>
                  <a:schemeClr val="dk1"/>
                </a:solidFill>
                <a:latin typeface="Poppins Medium"/>
                <a:ea typeface="Poppins Medium"/>
                <a:cs typeface="Poppins Medium"/>
                <a:sym typeface="Poppins Medium"/>
              </a:rPr>
              <a:t>psikologmustika@gmail.com</a:t>
            </a:r>
            <a:endParaRPr sz="700"/>
          </a:p>
        </p:txBody>
      </p:sp>
      <p:sp>
        <p:nvSpPr>
          <p:cNvPr id="677" name="Google Shape;677;p58"/>
          <p:cNvSpPr txBox="1"/>
          <p:nvPr/>
        </p:nvSpPr>
        <p:spPr>
          <a:xfrm>
            <a:off x="5549667" y="2725132"/>
            <a:ext cx="2853373" cy="22066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id" sz="1200">
                <a:solidFill>
                  <a:schemeClr val="dk1"/>
                </a:solidFill>
                <a:latin typeface="Poppins"/>
                <a:ea typeface="Poppins"/>
                <a:cs typeface="Poppins"/>
                <a:sym typeface="Poppins"/>
              </a:rPr>
              <a:t>Our Website</a:t>
            </a:r>
            <a:endParaRPr sz="700"/>
          </a:p>
        </p:txBody>
      </p:sp>
      <p:sp>
        <p:nvSpPr>
          <p:cNvPr id="678" name="Google Shape;678;p58"/>
          <p:cNvSpPr txBox="1"/>
          <p:nvPr/>
        </p:nvSpPr>
        <p:spPr>
          <a:xfrm>
            <a:off x="5549667" y="2925619"/>
            <a:ext cx="2853300" cy="21540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lang="id">
                <a:solidFill>
                  <a:schemeClr val="dk1"/>
                </a:solidFill>
                <a:latin typeface="Poppins Medium"/>
                <a:ea typeface="Poppins Medium"/>
                <a:cs typeface="Poppins Medium"/>
                <a:sym typeface="Poppins Medium"/>
              </a:rPr>
              <a:t>psikologmustika</a:t>
            </a:r>
            <a:r>
              <a:rPr lang="id" sz="1400">
                <a:solidFill>
                  <a:schemeClr val="dk1"/>
                </a:solidFill>
                <a:latin typeface="Poppins Medium"/>
                <a:ea typeface="Poppins Medium"/>
                <a:cs typeface="Poppins Medium"/>
                <a:sym typeface="Poppins Medium"/>
              </a:rPr>
              <a:t>.com </a:t>
            </a:r>
            <a:endParaRPr sz="700"/>
          </a:p>
        </p:txBody>
      </p:sp>
      <p:sp>
        <p:nvSpPr>
          <p:cNvPr id="679" name="Google Shape;679;p58"/>
          <p:cNvSpPr txBox="1"/>
          <p:nvPr/>
        </p:nvSpPr>
        <p:spPr>
          <a:xfrm>
            <a:off x="1765061" y="3699631"/>
            <a:ext cx="2853374" cy="22066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id" sz="1200">
                <a:solidFill>
                  <a:schemeClr val="dk1"/>
                </a:solidFill>
                <a:latin typeface="Poppins"/>
                <a:ea typeface="Poppins"/>
                <a:cs typeface="Poppins"/>
                <a:sym typeface="Poppins"/>
              </a:rPr>
              <a:t>Our Email</a:t>
            </a:r>
            <a:endParaRPr sz="700"/>
          </a:p>
        </p:txBody>
      </p:sp>
      <p:sp>
        <p:nvSpPr>
          <p:cNvPr id="680" name="Google Shape;680;p58"/>
          <p:cNvSpPr txBox="1"/>
          <p:nvPr/>
        </p:nvSpPr>
        <p:spPr>
          <a:xfrm>
            <a:off x="5549667" y="3699631"/>
            <a:ext cx="2853373" cy="22066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id" sz="1200">
                <a:solidFill>
                  <a:schemeClr val="dk1"/>
                </a:solidFill>
                <a:latin typeface="Poppins"/>
                <a:ea typeface="Poppins"/>
                <a:cs typeface="Poppins"/>
                <a:sym typeface="Poppins"/>
              </a:rPr>
              <a:t>Our Company Address</a:t>
            </a:r>
            <a:endParaRPr sz="700"/>
          </a:p>
        </p:txBody>
      </p:sp>
      <p:sp>
        <p:nvSpPr>
          <p:cNvPr id="681" name="Google Shape;681;p58"/>
          <p:cNvSpPr txBox="1"/>
          <p:nvPr/>
        </p:nvSpPr>
        <p:spPr>
          <a:xfrm>
            <a:off x="1247592" y="1119430"/>
            <a:ext cx="6648816" cy="51167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id" sz="3000">
                <a:solidFill>
                  <a:schemeClr val="dk1"/>
                </a:solidFill>
                <a:latin typeface="Poppins"/>
                <a:ea typeface="Poppins"/>
                <a:cs typeface="Poppins"/>
                <a:sym typeface="Poppins"/>
              </a:rPr>
              <a:t>Kontak Kami</a:t>
            </a:r>
            <a:endParaRPr sz="7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59"/>
          <p:cNvSpPr txBox="1"/>
          <p:nvPr/>
        </p:nvSpPr>
        <p:spPr>
          <a:xfrm>
            <a:off x="550955" y="1189350"/>
            <a:ext cx="8160300" cy="923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lang="id" sz="6000">
                <a:solidFill>
                  <a:schemeClr val="dk1"/>
                </a:solidFill>
                <a:latin typeface="Poppins Medium"/>
                <a:ea typeface="Poppins Medium"/>
                <a:cs typeface="Poppins Medium"/>
                <a:sym typeface="Poppins Medium"/>
              </a:rPr>
              <a:t>0822-1377-3806</a:t>
            </a:r>
            <a:endParaRPr sz="6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