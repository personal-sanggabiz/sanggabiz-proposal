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Mont 1 Bold" charset="1" panose="00000900000000000000"/>
      <p:regular r:id="rId45"/>
    </p:embeddedFont>
    <p:embeddedFont>
      <p:font typeface="Mont 1" charset="1" panose="00000700000000000000"/>
      <p:regular r:id="rId46"/>
    </p:embeddedFont>
    <p:embeddedFont>
      <p:font typeface="Mont 2 Heavy" charset="1" panose="00000A00000000000000"/>
      <p:regular r:id="rId47"/>
    </p:embeddedFont>
    <p:embeddedFont>
      <p:font typeface="Mont 1 Heavy" charset="1" panose="00000A00000000000000"/>
      <p:regular r:id="rId48"/>
    </p:embeddedFont>
    <p:embeddedFont>
      <p:font typeface="Mont 2" charset="1" panose="00000500000000000000"/>
      <p:regular r:id="rId49"/>
    </p:embeddedFont>
    <p:embeddedFont>
      <p:font typeface="Mont 2 Bold" charset="1" panose="00000800000000000000"/>
      <p:regular r:id="rId50"/>
    </p:embeddedFont>
    <p:embeddedFont>
      <p:font typeface="Foda Display" charset="1" panose="00000000000000000000"/>
      <p:regular r:id="rId51"/>
    </p:embeddedFont>
    <p:embeddedFont>
      <p:font typeface="Poppins Bold" charset="1" panose="00000800000000000000"/>
      <p:regular r:id="rId52"/>
    </p:embeddedFont>
    <p:embeddedFont>
      <p:font typeface="Montserrat Medium" charset="1" panose="00000600000000000000"/>
      <p:regular r:id="rId53"/>
    </p:embeddedFont>
    <p:embeddedFont>
      <p:font typeface="Poppins" charset="1" panose="00000500000000000000"/>
      <p:regular r:id="rId54"/>
    </p:embeddedFont>
    <p:embeddedFont>
      <p:font typeface="Oswald Bold" charset="1" panose="00000800000000000000"/>
      <p:regular r:id="rId55"/>
    </p:embeddedFont>
    <p:embeddedFont>
      <p:font typeface="Nunito Bold" charset="1" panose="00000000000000000000"/>
      <p:regular r:id="rId56"/>
    </p:embeddedFont>
    <p:embeddedFont>
      <p:font typeface="Nunito" charset="1" panose="00000000000000000000"/>
      <p:regular r:id="rId57"/>
    </p:embeddedFont>
    <p:embeddedFont>
      <p:font typeface="Playfair Display Bold" charset="1" panose="00000000000000000000"/>
      <p:regular r:id="rId58"/>
    </p:embeddedFont>
    <p:embeddedFont>
      <p:font typeface="Mont 1 Italics" charset="1" panose="00000700000000000000"/>
      <p:regular r:id="rId59"/>
    </p:embeddedFont>
    <p:embeddedFont>
      <p:font typeface="Canva Sans Bold" charset="1" panose="020B0803030501040103"/>
      <p:regular r:id="rId60"/>
    </p:embeddedFont>
    <p:embeddedFont>
      <p:font typeface="Mont 1 Bold Italics" charset="1" panose="00000900000000000000"/>
      <p:regular r:id="rId61"/>
    </p:embeddedFont>
    <p:embeddedFont>
      <p:font typeface="Mont 1 Semi-Bold" charset="1" panose="0000080000000000000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 Id="rId6" Target="../media/image12.jpeg" Type="http://schemas.openxmlformats.org/officeDocument/2006/relationships/image"/><Relationship Id="rId7" Target="../media/image13.jpeg" Type="http://schemas.openxmlformats.org/officeDocument/2006/relationships/image"/><Relationship Id="rId8"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2" Target="../media/image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png" Type="http://schemas.openxmlformats.org/officeDocument/2006/relationships/image"/><Relationship Id="rId12" Target="../media/image45.png" Type="http://schemas.openxmlformats.org/officeDocument/2006/relationships/image"/><Relationship Id="rId13" Target="../media/image46.png" Type="http://schemas.openxmlformats.org/officeDocument/2006/relationships/image"/><Relationship Id="rId14" Target="../media/image47.png" Type="http://schemas.openxmlformats.org/officeDocument/2006/relationships/image"/><Relationship Id="rId15" Target="../media/image48.png" Type="http://schemas.openxmlformats.org/officeDocument/2006/relationships/image"/><Relationship Id="rId16" Target="../media/image49.png" Type="http://schemas.openxmlformats.org/officeDocument/2006/relationships/image"/><Relationship Id="rId17" Target="../media/image50.png" Type="http://schemas.openxmlformats.org/officeDocument/2006/relationships/image"/><Relationship Id="rId18" Target="../media/image51.png" Type="http://schemas.openxmlformats.org/officeDocument/2006/relationships/image"/><Relationship Id="rId19" Target="../media/image52.png" Type="http://schemas.openxmlformats.org/officeDocument/2006/relationships/image"/><Relationship Id="rId2" Target="../media/image1.png" Type="http://schemas.openxmlformats.org/officeDocument/2006/relationships/image"/><Relationship Id="rId20" Target="../media/image53.png" Type="http://schemas.openxmlformats.org/officeDocument/2006/relationships/image"/><Relationship Id="rId21" Target="../media/image54.png" Type="http://schemas.openxmlformats.org/officeDocument/2006/relationships/image"/><Relationship Id="rId22" Target="../media/image55.png" Type="http://schemas.openxmlformats.org/officeDocument/2006/relationships/image"/><Relationship Id="rId23" Target="../media/image56.png" Type="http://schemas.openxmlformats.org/officeDocument/2006/relationships/image"/><Relationship Id="rId24" Target="../media/image57.png" Type="http://schemas.openxmlformats.org/officeDocument/2006/relationships/image"/><Relationship Id="rId25" Target="../media/image58.png" Type="http://schemas.openxmlformats.org/officeDocument/2006/relationships/image"/><Relationship Id="rId26" Target="../media/image59.png" Type="http://schemas.openxmlformats.org/officeDocument/2006/relationships/image"/><Relationship Id="rId27" Target="../media/image60.png" Type="http://schemas.openxmlformats.org/officeDocument/2006/relationships/image"/><Relationship Id="rId28" Target="../media/image61.png" Type="http://schemas.openxmlformats.org/officeDocument/2006/relationships/image"/><Relationship Id="rId29" Target="../media/image62.png" Type="http://schemas.openxmlformats.org/officeDocument/2006/relationships/image"/><Relationship Id="rId3" Target="../media/image36.jpeg" Type="http://schemas.openxmlformats.org/officeDocument/2006/relationships/image"/><Relationship Id="rId30" Target="../media/image63.png" Type="http://schemas.openxmlformats.org/officeDocument/2006/relationships/image"/><Relationship Id="rId31" Target="../media/image64.png" Type="http://schemas.openxmlformats.org/officeDocument/2006/relationships/image"/><Relationship Id="rId32" Target="../media/image65.png" Type="http://schemas.openxmlformats.org/officeDocument/2006/relationships/image"/><Relationship Id="rId33" Target="../media/image66.png" Type="http://schemas.openxmlformats.org/officeDocument/2006/relationships/image"/><Relationship Id="rId34" Target="../media/image67.png" Type="http://schemas.openxmlformats.org/officeDocument/2006/relationships/image"/><Relationship Id="rId35" Target="../media/image68.png" Type="http://schemas.openxmlformats.org/officeDocument/2006/relationships/image"/><Relationship Id="rId36" Target="../media/image69.png" Type="http://schemas.openxmlformats.org/officeDocument/2006/relationships/image"/><Relationship Id="rId37" Target="../media/image70.png" Type="http://schemas.openxmlformats.org/officeDocument/2006/relationships/image"/><Relationship Id="rId38" Target="../media/image71.png" Type="http://schemas.openxmlformats.org/officeDocument/2006/relationships/image"/><Relationship Id="rId39" Target="../media/image72.png" Type="http://schemas.openxmlformats.org/officeDocument/2006/relationships/image"/><Relationship Id="rId4" Target="../media/image37.jpeg" Type="http://schemas.openxmlformats.org/officeDocument/2006/relationships/image"/><Relationship Id="rId40" Target="../media/image73.png" Type="http://schemas.openxmlformats.org/officeDocument/2006/relationships/image"/><Relationship Id="rId41" Target="../media/image74.png" Type="http://schemas.openxmlformats.org/officeDocument/2006/relationships/image"/><Relationship Id="rId42" Target="../media/image75.png" Type="http://schemas.openxmlformats.org/officeDocument/2006/relationships/image"/><Relationship Id="rId43" Target="../media/image76.pn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7.png" Type="http://schemas.openxmlformats.org/officeDocument/2006/relationships/image"/><Relationship Id="rId4" Target="../media/image7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 Id="rId5" Target="../media/image39.jpeg" Type="http://schemas.openxmlformats.org/officeDocument/2006/relationships/image"/><Relationship Id="rId6" Target="../media/image40.png" Type="http://schemas.openxmlformats.org/officeDocument/2006/relationships/image"/><Relationship Id="rId7" Target="../media/image79.jpeg" Type="http://schemas.openxmlformats.org/officeDocument/2006/relationships/image"/><Relationship Id="rId8" Target="../media/image4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drive.google.com/file/d/1xBr4a8rVvBLdgH1W3ATXhEbk-WFFsBti/view?usp=sharing" TargetMode="External" Type="http://schemas.openxmlformats.org/officeDocument/2006/relationships/hyperlink"/><Relationship Id="rId11" Target="https://drive.google.com/file/d/1xBr4a8rVvBLdgH1W3ATXhEbk-WFFsBti/view?usp=sharing" TargetMode="External" Type="http://schemas.openxmlformats.org/officeDocument/2006/relationships/hyperlink"/><Relationship Id="rId12" Target="https://drive.google.com/file/d/1xBr4a8rVvBLdgH1W3ATXhEbk-WFFsBti/view?usp=sharing" TargetMode="External" Type="http://schemas.openxmlformats.org/officeDocument/2006/relationships/hyperlink"/><Relationship Id="rId2" Target="../media/image80.png" Type="http://schemas.openxmlformats.org/officeDocument/2006/relationships/image"/><Relationship Id="rId3" Target="../media/image81.png" Type="http://schemas.openxmlformats.org/officeDocument/2006/relationships/image"/><Relationship Id="rId4" Target="../media/image82.png" Type="http://schemas.openxmlformats.org/officeDocument/2006/relationships/image"/><Relationship Id="rId5" Target="https://drive.google.com/file/d/1O_D5Zu6XfYNpaNEkp1a1VoR2ORmr_TUS/view?usp=sharing" TargetMode="External" Type="http://schemas.openxmlformats.org/officeDocument/2006/relationships/hyperlink"/><Relationship Id="rId6" Target="https://drive.google.com/file/d/1O_D5Zu6XfYNpaNEkp1a1VoR2ORmr_TUS/view?usp=sharing" TargetMode="External" Type="http://schemas.openxmlformats.org/officeDocument/2006/relationships/hyperlink"/><Relationship Id="rId7" Target="https://drive.google.com/file/d/12wYcFa2z0uW8S6axhS6epT60ENUWPAci/view?usp=sharing" TargetMode="External" Type="http://schemas.openxmlformats.org/officeDocument/2006/relationships/hyperlink"/><Relationship Id="rId8" Target="https://drive.google.com/file/d/12wYcFa2z0uW8S6axhS6epT60ENUWPAci/view?usp=sharing" TargetMode="External" Type="http://schemas.openxmlformats.org/officeDocument/2006/relationships/hyperlink"/><Relationship Id="rId9" Target="https://drive.google.com/file/d/12wYcFa2z0uW8S6axhS6epT60ENUWPAci/view?usp=sharing"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3.png" Type="http://schemas.openxmlformats.org/officeDocument/2006/relationships/image"/><Relationship Id="rId3" Target="../media/image8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png" Type="http://schemas.openxmlformats.org/officeDocument/2006/relationships/image"/><Relationship Id="rId4" Target="../media/image8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png" Type="http://schemas.openxmlformats.org/officeDocument/2006/relationships/image"/><Relationship Id="rId4" Target="../media/image90.png" Type="http://schemas.openxmlformats.org/officeDocument/2006/relationships/image"/><Relationship Id="rId5" Target="../media/image9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 Id="rId3" Target="https://drive.google.com/file/d/188TM-3RZPbCgtcnDjAqDoCihppb8ujXK/view?usp=drive_link" TargetMode="External" Type="http://schemas.openxmlformats.org/officeDocument/2006/relationships/hyperlink"/><Relationship Id="rId4" Target="../media/image93.png" Type="http://schemas.openxmlformats.org/officeDocument/2006/relationships/image"/><Relationship Id="rId5" Target="https://drive.google.com/file/d/1CrZtWSEDORnwMbUQdGN1ib7LN99AaEkJ/view?usp=drive_link"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 Id="rId3" Target="../media/image9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3.jpeg" Type="http://schemas.openxmlformats.org/officeDocument/2006/relationships/image"/><Relationship Id="rId11" Target="../media/image104.png" Type="http://schemas.openxmlformats.org/officeDocument/2006/relationships/image"/><Relationship Id="rId12" Target="../media/image105.svg" Type="http://schemas.openxmlformats.org/officeDocument/2006/relationships/image"/><Relationship Id="rId13" Target="../media/image106.png" Type="http://schemas.openxmlformats.org/officeDocument/2006/relationships/image"/><Relationship Id="rId14" Target="../media/image107.svg" Type="http://schemas.openxmlformats.org/officeDocument/2006/relationships/image"/><Relationship Id="rId15" Target="../media/image108.png" Type="http://schemas.openxmlformats.org/officeDocument/2006/relationships/image"/><Relationship Id="rId16" Target="../media/image109.svg" Type="http://schemas.openxmlformats.org/officeDocument/2006/relationships/image"/><Relationship Id="rId17" Target="../media/image110.png" Type="http://schemas.openxmlformats.org/officeDocument/2006/relationships/image"/><Relationship Id="rId18" Target="../media/image111.svg" Type="http://schemas.openxmlformats.org/officeDocument/2006/relationships/image"/><Relationship Id="rId2" Target="../media/image1.png" Type="http://schemas.openxmlformats.org/officeDocument/2006/relationships/image"/><Relationship Id="rId3" Target="../media/image96.png" Type="http://schemas.openxmlformats.org/officeDocument/2006/relationships/image"/><Relationship Id="rId4" Target="../media/image97.jpeg" Type="http://schemas.openxmlformats.org/officeDocument/2006/relationships/image"/><Relationship Id="rId5" Target="../media/image98.jpeg" Type="http://schemas.openxmlformats.org/officeDocument/2006/relationships/image"/><Relationship Id="rId6" Target="../media/image99.jpeg" Type="http://schemas.openxmlformats.org/officeDocument/2006/relationships/image"/><Relationship Id="rId7" Target="../media/image100.jpeg" Type="http://schemas.openxmlformats.org/officeDocument/2006/relationships/image"/><Relationship Id="rId8" Target="../media/image101.jpeg" Type="http://schemas.openxmlformats.org/officeDocument/2006/relationships/image"/><Relationship Id="rId9" Target="../media/image10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11" Target="../media/image108.png" Type="http://schemas.openxmlformats.org/officeDocument/2006/relationships/image"/><Relationship Id="rId12" Target="../media/image109.svg" Type="http://schemas.openxmlformats.org/officeDocument/2006/relationships/image"/><Relationship Id="rId13" Target="../media/image110.png" Type="http://schemas.openxmlformats.org/officeDocument/2006/relationships/image"/><Relationship Id="rId14" Target="../media/image111.svg" Type="http://schemas.openxmlformats.org/officeDocument/2006/relationships/image"/><Relationship Id="rId15" Target="../media/image116.png" Type="http://schemas.openxmlformats.org/officeDocument/2006/relationships/image"/><Relationship Id="rId2" Target="../media/image1.png" Type="http://schemas.openxmlformats.org/officeDocument/2006/relationships/image"/><Relationship Id="rId3" Target="../media/image112.jpeg" Type="http://schemas.openxmlformats.org/officeDocument/2006/relationships/image"/><Relationship Id="rId4" Target="../media/image113.jpeg" Type="http://schemas.openxmlformats.org/officeDocument/2006/relationships/image"/><Relationship Id="rId5" Target="../media/image114.jpeg" Type="http://schemas.openxmlformats.org/officeDocument/2006/relationships/image"/><Relationship Id="rId6" Target="../media/image115.jpe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0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4.jpeg" Type="http://schemas.openxmlformats.org/officeDocument/2006/relationships/image"/><Relationship Id="rId11" Target="../media/image104.png" Type="http://schemas.openxmlformats.org/officeDocument/2006/relationships/image"/><Relationship Id="rId12" Target="../media/image105.svg" Type="http://schemas.openxmlformats.org/officeDocument/2006/relationships/image"/><Relationship Id="rId13" Target="../media/image106.png" Type="http://schemas.openxmlformats.org/officeDocument/2006/relationships/image"/><Relationship Id="rId14" Target="../media/image107.svg" Type="http://schemas.openxmlformats.org/officeDocument/2006/relationships/image"/><Relationship Id="rId15" Target="../media/image108.png" Type="http://schemas.openxmlformats.org/officeDocument/2006/relationships/image"/><Relationship Id="rId16" Target="../media/image109.svg" Type="http://schemas.openxmlformats.org/officeDocument/2006/relationships/image"/><Relationship Id="rId17" Target="../media/image110.png" Type="http://schemas.openxmlformats.org/officeDocument/2006/relationships/image"/><Relationship Id="rId18" Target="../media/image111.svg" Type="http://schemas.openxmlformats.org/officeDocument/2006/relationships/image"/><Relationship Id="rId19" Target="../media/image74.png" Type="http://schemas.openxmlformats.org/officeDocument/2006/relationships/image"/><Relationship Id="rId2" Target="../media/image1.png" Type="http://schemas.openxmlformats.org/officeDocument/2006/relationships/image"/><Relationship Id="rId3" Target="../media/image117.jpeg" Type="http://schemas.openxmlformats.org/officeDocument/2006/relationships/image"/><Relationship Id="rId4" Target="../media/image118.jpeg" Type="http://schemas.openxmlformats.org/officeDocument/2006/relationships/image"/><Relationship Id="rId5" Target="../media/image119.jpeg" Type="http://schemas.openxmlformats.org/officeDocument/2006/relationships/image"/><Relationship Id="rId6" Target="../media/image120.jpeg" Type="http://schemas.openxmlformats.org/officeDocument/2006/relationships/image"/><Relationship Id="rId7" Target="../media/image121.jpeg" Type="http://schemas.openxmlformats.org/officeDocument/2006/relationships/image"/><Relationship Id="rId8" Target="../media/image122.jpeg" Type="http://schemas.openxmlformats.org/officeDocument/2006/relationships/image"/><Relationship Id="rId9" Target="../media/image12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11" Target="../media/image108.png" Type="http://schemas.openxmlformats.org/officeDocument/2006/relationships/image"/><Relationship Id="rId12" Target="../media/image109.svg" Type="http://schemas.openxmlformats.org/officeDocument/2006/relationships/image"/><Relationship Id="rId13" Target="../media/image110.png" Type="http://schemas.openxmlformats.org/officeDocument/2006/relationships/image"/><Relationship Id="rId14" Target="../media/image111.svg" Type="http://schemas.openxmlformats.org/officeDocument/2006/relationships/image"/><Relationship Id="rId15" Target="../media/image129.png" Type="http://schemas.openxmlformats.org/officeDocument/2006/relationships/image"/><Relationship Id="rId2" Target="../media/image1.png" Type="http://schemas.openxmlformats.org/officeDocument/2006/relationships/image"/><Relationship Id="rId3" Target="../media/image125.png" Type="http://schemas.openxmlformats.org/officeDocument/2006/relationships/image"/><Relationship Id="rId4" Target="../media/image126.png" Type="http://schemas.openxmlformats.org/officeDocument/2006/relationships/image"/><Relationship Id="rId5" Target="../media/image127.png" Type="http://schemas.openxmlformats.org/officeDocument/2006/relationships/image"/><Relationship Id="rId6" Target="../media/image128.pn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0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5.svg" Type="http://schemas.openxmlformats.org/officeDocument/2006/relationships/image"/><Relationship Id="rId11" Target="../media/image106.png" Type="http://schemas.openxmlformats.org/officeDocument/2006/relationships/image"/><Relationship Id="rId12" Target="../media/image107.svg" Type="http://schemas.openxmlformats.org/officeDocument/2006/relationships/image"/><Relationship Id="rId13" Target="../media/image108.png" Type="http://schemas.openxmlformats.org/officeDocument/2006/relationships/image"/><Relationship Id="rId14" Target="../media/image109.svg" Type="http://schemas.openxmlformats.org/officeDocument/2006/relationships/image"/><Relationship Id="rId15" Target="../media/image110.png" Type="http://schemas.openxmlformats.org/officeDocument/2006/relationships/image"/><Relationship Id="rId16" Target="../media/image111.svg" Type="http://schemas.openxmlformats.org/officeDocument/2006/relationships/image"/><Relationship Id="rId17" Target="../media/image129.png" Type="http://schemas.openxmlformats.org/officeDocument/2006/relationships/image"/><Relationship Id="rId2" Target="../media/image1.png" Type="http://schemas.openxmlformats.org/officeDocument/2006/relationships/image"/><Relationship Id="rId3" Target="../media/image130.jpeg" Type="http://schemas.openxmlformats.org/officeDocument/2006/relationships/image"/><Relationship Id="rId4" Target="../media/image131.jpeg" Type="http://schemas.openxmlformats.org/officeDocument/2006/relationships/image"/><Relationship Id="rId5" Target="../media/image132.jpeg" Type="http://schemas.openxmlformats.org/officeDocument/2006/relationships/image"/><Relationship Id="rId6" Target="../media/image133.jpeg" Type="http://schemas.openxmlformats.org/officeDocument/2006/relationships/image"/><Relationship Id="rId7" Target="../media/image134.jpeg" Type="http://schemas.openxmlformats.org/officeDocument/2006/relationships/image"/><Relationship Id="rId8" Target="../media/image135.jpeg" Type="http://schemas.openxmlformats.org/officeDocument/2006/relationships/image"/><Relationship Id="rId9" Target="../media/image10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11" Target="../media/image108.png" Type="http://schemas.openxmlformats.org/officeDocument/2006/relationships/image"/><Relationship Id="rId12" Target="../media/image109.svg" Type="http://schemas.openxmlformats.org/officeDocument/2006/relationships/image"/><Relationship Id="rId13" Target="../media/image110.png" Type="http://schemas.openxmlformats.org/officeDocument/2006/relationships/image"/><Relationship Id="rId14" Target="../media/image111.svg" Type="http://schemas.openxmlformats.org/officeDocument/2006/relationships/image"/><Relationship Id="rId15" Target="../media/image129.png" Type="http://schemas.openxmlformats.org/officeDocument/2006/relationships/image"/><Relationship Id="rId2" Target="../media/image1.png" Type="http://schemas.openxmlformats.org/officeDocument/2006/relationships/image"/><Relationship Id="rId3" Target="../media/image125.png" Type="http://schemas.openxmlformats.org/officeDocument/2006/relationships/image"/><Relationship Id="rId4" Target="../media/image126.png" Type="http://schemas.openxmlformats.org/officeDocument/2006/relationships/image"/><Relationship Id="rId5" Target="../media/image127.png" Type="http://schemas.openxmlformats.org/officeDocument/2006/relationships/image"/><Relationship Id="rId6" Target="../media/image128.pn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0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8.png" Type="http://schemas.openxmlformats.org/officeDocument/2006/relationships/image"/><Relationship Id="rId11" Target="../media/image109.svg" Type="http://schemas.openxmlformats.org/officeDocument/2006/relationships/image"/><Relationship Id="rId12" Target="../media/image110.png" Type="http://schemas.openxmlformats.org/officeDocument/2006/relationships/image"/><Relationship Id="rId13" Target="../media/image111.svg" Type="http://schemas.openxmlformats.org/officeDocument/2006/relationships/image"/><Relationship Id="rId2" Target="../media/image1.png" Type="http://schemas.openxmlformats.org/officeDocument/2006/relationships/image"/><Relationship Id="rId3" Target="../media/image136.jpeg" Type="http://schemas.openxmlformats.org/officeDocument/2006/relationships/image"/><Relationship Id="rId4" Target="../media/image137.jpeg" Type="http://schemas.openxmlformats.org/officeDocument/2006/relationships/image"/><Relationship Id="rId5" Target="../media/image138.jpeg" Type="http://schemas.openxmlformats.org/officeDocument/2006/relationships/image"/><Relationship Id="rId6" Target="../media/image104.png" Type="http://schemas.openxmlformats.org/officeDocument/2006/relationships/image"/><Relationship Id="rId7" Target="../media/image105.svg" Type="http://schemas.openxmlformats.org/officeDocument/2006/relationships/image"/><Relationship Id="rId8" Target="../media/image106.png" Type="http://schemas.openxmlformats.org/officeDocument/2006/relationships/image"/><Relationship Id="rId9" Target="../media/image10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8.png" Type="http://schemas.openxmlformats.org/officeDocument/2006/relationships/image"/><Relationship Id="rId11" Target="../media/image109.svg" Type="http://schemas.openxmlformats.org/officeDocument/2006/relationships/image"/><Relationship Id="rId12" Target="../media/image110.png" Type="http://schemas.openxmlformats.org/officeDocument/2006/relationships/image"/><Relationship Id="rId13" Target="../media/image111.svg" Type="http://schemas.openxmlformats.org/officeDocument/2006/relationships/image"/><Relationship Id="rId14" Target="../media/image139.png" Type="http://schemas.openxmlformats.org/officeDocument/2006/relationships/image"/><Relationship Id="rId2" Target="../media/image1.png" Type="http://schemas.openxmlformats.org/officeDocument/2006/relationships/image"/><Relationship Id="rId3" Target="../media/image136.jpeg" Type="http://schemas.openxmlformats.org/officeDocument/2006/relationships/image"/><Relationship Id="rId4" Target="../media/image137.jpeg" Type="http://schemas.openxmlformats.org/officeDocument/2006/relationships/image"/><Relationship Id="rId5" Target="../media/image138.jpeg" Type="http://schemas.openxmlformats.org/officeDocument/2006/relationships/image"/><Relationship Id="rId6" Target="../media/image104.png" Type="http://schemas.openxmlformats.org/officeDocument/2006/relationships/image"/><Relationship Id="rId7" Target="../media/image105.svg" Type="http://schemas.openxmlformats.org/officeDocument/2006/relationships/image"/><Relationship Id="rId8" Target="../media/image106.png" Type="http://schemas.openxmlformats.org/officeDocument/2006/relationships/image"/><Relationship Id="rId9" Target="../media/image10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4.png" Type="http://schemas.openxmlformats.org/officeDocument/2006/relationships/image"/><Relationship Id="rId11" Target="../media/image105.svg" Type="http://schemas.openxmlformats.org/officeDocument/2006/relationships/image"/><Relationship Id="rId12" Target="../media/image106.png" Type="http://schemas.openxmlformats.org/officeDocument/2006/relationships/image"/><Relationship Id="rId13" Target="../media/image107.svg" Type="http://schemas.openxmlformats.org/officeDocument/2006/relationships/image"/><Relationship Id="rId14" Target="../media/image108.png" Type="http://schemas.openxmlformats.org/officeDocument/2006/relationships/image"/><Relationship Id="rId15" Target="../media/image109.svg" Type="http://schemas.openxmlformats.org/officeDocument/2006/relationships/image"/><Relationship Id="rId16" Target="../media/image110.png" Type="http://schemas.openxmlformats.org/officeDocument/2006/relationships/image"/><Relationship Id="rId17" Target="../media/image111.svg" Type="http://schemas.openxmlformats.org/officeDocument/2006/relationships/image"/><Relationship Id="rId2" Target="../media/image1.png" Type="http://schemas.openxmlformats.org/officeDocument/2006/relationships/image"/><Relationship Id="rId3" Target="../media/image140.png" Type="http://schemas.openxmlformats.org/officeDocument/2006/relationships/image"/><Relationship Id="rId4" Target="../media/image141.jpeg" Type="http://schemas.openxmlformats.org/officeDocument/2006/relationships/image"/><Relationship Id="rId5" Target="../media/image142.jpeg" Type="http://schemas.openxmlformats.org/officeDocument/2006/relationships/image"/><Relationship Id="rId6" Target="../media/image143.jpeg" Type="http://schemas.openxmlformats.org/officeDocument/2006/relationships/image"/><Relationship Id="rId7" Target="../media/image144.jpeg" Type="http://schemas.openxmlformats.org/officeDocument/2006/relationships/image"/><Relationship Id="rId8" Target="../media/image145.jpeg" Type="http://schemas.openxmlformats.org/officeDocument/2006/relationships/image"/><Relationship Id="rId9" Target="../media/image146.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11" Target="../media/image108.png" Type="http://schemas.openxmlformats.org/officeDocument/2006/relationships/image"/><Relationship Id="rId12" Target="../media/image109.svg" Type="http://schemas.openxmlformats.org/officeDocument/2006/relationships/image"/><Relationship Id="rId13" Target="../media/image110.png" Type="http://schemas.openxmlformats.org/officeDocument/2006/relationships/image"/><Relationship Id="rId14" Target="../media/image111.svg" Type="http://schemas.openxmlformats.org/officeDocument/2006/relationships/image"/><Relationship Id="rId15" Target="../media/image147.png" Type="http://schemas.openxmlformats.org/officeDocument/2006/relationships/image"/><Relationship Id="rId2" Target="../media/image1.pn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0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svg" Type="http://schemas.openxmlformats.org/officeDocument/2006/relationships/image"/><Relationship Id="rId11" Target="../media/image110.png" Type="http://schemas.openxmlformats.org/officeDocument/2006/relationships/image"/><Relationship Id="rId12" Target="../media/image111.svg" Type="http://schemas.openxmlformats.org/officeDocument/2006/relationships/image"/><Relationship Id="rId13" Target="../media/image148.png" Type="http://schemas.openxmlformats.org/officeDocument/2006/relationships/image"/><Relationship Id="rId2" Target="../media/image1.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06.png" Type="http://schemas.openxmlformats.org/officeDocument/2006/relationships/image"/><Relationship Id="rId8" Target="../media/image107.svg" Type="http://schemas.openxmlformats.org/officeDocument/2006/relationships/image"/><Relationship Id="rId9" Target="../media/image10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0.png" Type="http://schemas.openxmlformats.org/officeDocument/2006/relationships/image"/><Relationship Id="rId11" Target="../media/image111.svg" Type="http://schemas.openxmlformats.org/officeDocument/2006/relationships/image"/><Relationship Id="rId12" Target="../media/image150.png" Type="http://schemas.openxmlformats.org/officeDocument/2006/relationships/image"/><Relationship Id="rId2" Target="../media/image1.png" Type="http://schemas.openxmlformats.org/officeDocument/2006/relationships/image"/><Relationship Id="rId3" Target="../media/image149.png" Type="http://schemas.openxmlformats.org/officeDocument/2006/relationships/image"/><Relationship Id="rId4" Target="../media/image104.png" Type="http://schemas.openxmlformats.org/officeDocument/2006/relationships/image"/><Relationship Id="rId5" Target="../media/image105.svg" Type="http://schemas.openxmlformats.org/officeDocument/2006/relationships/image"/><Relationship Id="rId6" Target="../media/image106.png" Type="http://schemas.openxmlformats.org/officeDocument/2006/relationships/image"/><Relationship Id="rId7" Target="../media/image107.svg" Type="http://schemas.openxmlformats.org/officeDocument/2006/relationships/image"/><Relationship Id="rId8" Target="../media/image108.png" Type="http://schemas.openxmlformats.org/officeDocument/2006/relationships/image"/><Relationship Id="rId9" Target="../media/image109.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4.png" Type="http://schemas.openxmlformats.org/officeDocument/2006/relationships/image"/><Relationship Id="rId11" Target="../media/image105.svg" Type="http://schemas.openxmlformats.org/officeDocument/2006/relationships/image"/><Relationship Id="rId12" Target="../media/image106.png" Type="http://schemas.openxmlformats.org/officeDocument/2006/relationships/image"/><Relationship Id="rId13" Target="../media/image107.svg" Type="http://schemas.openxmlformats.org/officeDocument/2006/relationships/image"/><Relationship Id="rId14" Target="../media/image108.png" Type="http://schemas.openxmlformats.org/officeDocument/2006/relationships/image"/><Relationship Id="rId15" Target="../media/image109.svg" Type="http://schemas.openxmlformats.org/officeDocument/2006/relationships/image"/><Relationship Id="rId16" Target="../media/image110.png" Type="http://schemas.openxmlformats.org/officeDocument/2006/relationships/image"/><Relationship Id="rId17" Target="../media/image111.svg" Type="http://schemas.openxmlformats.org/officeDocument/2006/relationships/image"/><Relationship Id="rId18" Target="../media/image152.png" Type="http://schemas.openxmlformats.org/officeDocument/2006/relationships/image"/><Relationship Id="rId19" Target="../media/image153.png" Type="http://schemas.openxmlformats.org/officeDocument/2006/relationships/image"/><Relationship Id="rId2" Target="../media/image151.png" Type="http://schemas.openxmlformats.org/officeDocument/2006/relationships/image"/><Relationship Id="rId20" Target="../media/image154.pn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 Id="rId7" Target="../media/image40.png" Type="http://schemas.openxmlformats.org/officeDocument/2006/relationships/image"/><Relationship Id="rId8" Target="../media/image79.jpeg" Type="http://schemas.openxmlformats.org/officeDocument/2006/relationships/image"/><Relationship Id="rId9"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4.png" Type="http://schemas.openxmlformats.org/officeDocument/2006/relationships/image"/><Relationship Id="rId11" Target="../media/image105.svg" Type="http://schemas.openxmlformats.org/officeDocument/2006/relationships/image"/><Relationship Id="rId12" Target="../media/image155.png" Type="http://schemas.openxmlformats.org/officeDocument/2006/relationships/image"/><Relationship Id="rId13" Target="../media/image156.svg" Type="http://schemas.openxmlformats.org/officeDocument/2006/relationships/image"/><Relationship Id="rId14" Target="../media/image106.png" Type="http://schemas.openxmlformats.org/officeDocument/2006/relationships/image"/><Relationship Id="rId15" Target="../media/image107.svg" Type="http://schemas.openxmlformats.org/officeDocument/2006/relationships/image"/><Relationship Id="rId16" Target="../media/image108.png" Type="http://schemas.openxmlformats.org/officeDocument/2006/relationships/image"/><Relationship Id="rId17" Target="../media/image109.svg" Type="http://schemas.openxmlformats.org/officeDocument/2006/relationships/image"/><Relationship Id="rId2" Target="../media/image151.pn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 Id="rId7" Target="../media/image40.png" Type="http://schemas.openxmlformats.org/officeDocument/2006/relationships/image"/><Relationship Id="rId8" Target="../media/image79.jpeg" Type="http://schemas.openxmlformats.org/officeDocument/2006/relationships/image"/><Relationship Id="rId9" Target="../media/image4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7.png" Type="http://schemas.openxmlformats.org/officeDocument/2006/relationships/image"/><Relationship Id="rId4" Target="../media/image158.jpeg" Type="http://schemas.openxmlformats.org/officeDocument/2006/relationships/image"/><Relationship Id="rId5" Target="../media/image159.jpeg" Type="http://schemas.openxmlformats.org/officeDocument/2006/relationships/image"/><Relationship Id="rId6" Target="../media/image160.jpeg" Type="http://schemas.openxmlformats.org/officeDocument/2006/relationships/image"/><Relationship Id="rId7" Target="../media/image16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2.png" Type="http://schemas.openxmlformats.org/officeDocument/2006/relationships/image"/><Relationship Id="rId4" Target="../media/image163.png" Type="http://schemas.openxmlformats.org/officeDocument/2006/relationships/image"/><Relationship Id="rId5" Target="../media/image164.png" Type="http://schemas.openxmlformats.org/officeDocument/2006/relationships/image"/><Relationship Id="rId6" Target="../media/image165.png" Type="http://schemas.openxmlformats.org/officeDocument/2006/relationships/image"/><Relationship Id="rId7" Target="../media/image15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 Id="rId5" Target="../media/image39.jpeg" Type="http://schemas.openxmlformats.org/officeDocument/2006/relationships/image"/><Relationship Id="rId6" Target="../media/image166.png" Type="http://schemas.openxmlformats.org/officeDocument/2006/relationships/image"/><Relationship Id="rId7" Target="../media/image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7.png" Type="http://schemas.openxmlformats.org/officeDocument/2006/relationships/image"/><Relationship Id="rId4" Target="../media/image41.png" Type="http://schemas.openxmlformats.org/officeDocument/2006/relationships/image"/><Relationship Id="rId5" Target="../media/image40.png" Type="http://schemas.openxmlformats.org/officeDocument/2006/relationships/image"/><Relationship Id="rId6" Target="../media/image168.png" Type="http://schemas.openxmlformats.org/officeDocument/2006/relationships/image"/><Relationship Id="rId7" Target="../media/image16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7.jpeg" Type="http://schemas.openxmlformats.org/officeDocument/2006/relationships/image"/><Relationship Id="rId4" Target="../media/image138.jpeg" Type="http://schemas.openxmlformats.org/officeDocument/2006/relationships/image"/><Relationship Id="rId5" Target="../media/image136.jpeg" Type="http://schemas.openxmlformats.org/officeDocument/2006/relationships/image"/><Relationship Id="rId6" Target="../media/image170.png" Type="http://schemas.openxmlformats.org/officeDocument/2006/relationships/image"/><Relationship Id="rId7" Target="../media/image17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2.png" Type="http://schemas.openxmlformats.org/officeDocument/2006/relationships/image"/><Relationship Id="rId4" Target="../media/image173.jpeg" Type="http://schemas.openxmlformats.org/officeDocument/2006/relationships/image"/><Relationship Id="rId5" Target="../media/image174.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9.png" Type="http://schemas.openxmlformats.org/officeDocument/2006/relationships/image"/><Relationship Id="rId4" Target="../media/image17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3.jpeg" Type="http://schemas.openxmlformats.org/officeDocument/2006/relationships/image"/><Relationship Id="rId2" Target="../media/image1.png" Type="http://schemas.openxmlformats.org/officeDocument/2006/relationships/image"/><Relationship Id="rId3" Target="../media/image176.png" Type="http://schemas.openxmlformats.org/officeDocument/2006/relationships/image"/><Relationship Id="rId4" Target="../media/image177.png" Type="http://schemas.openxmlformats.org/officeDocument/2006/relationships/image"/><Relationship Id="rId5" Target="../media/image178.png" Type="http://schemas.openxmlformats.org/officeDocument/2006/relationships/image"/><Relationship Id="rId6" Target="../media/image179.jpeg" Type="http://schemas.openxmlformats.org/officeDocument/2006/relationships/image"/><Relationship Id="rId7" Target="../media/image180.jpeg" Type="http://schemas.openxmlformats.org/officeDocument/2006/relationships/image"/><Relationship Id="rId8" Target="../media/image181.jpeg" Type="http://schemas.openxmlformats.org/officeDocument/2006/relationships/image"/><Relationship Id="rId9" Target="../media/image18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4.png" Type="http://schemas.openxmlformats.org/officeDocument/2006/relationships/image"/><Relationship Id="rId4" Target="../media/image185.png" Type="http://schemas.openxmlformats.org/officeDocument/2006/relationships/image"/><Relationship Id="rId5" Target="../media/image186.png" Type="http://schemas.openxmlformats.org/officeDocument/2006/relationships/image"/><Relationship Id="rId6" Target="../media/image187.png" Type="http://schemas.openxmlformats.org/officeDocument/2006/relationships/image"/><Relationship Id="rId7" Target="../media/image18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193.png" Type="http://schemas.openxmlformats.org/officeDocument/2006/relationships/image"/><Relationship Id="rId12" Target="../media/image43.png" Type="http://schemas.openxmlformats.org/officeDocument/2006/relationships/image"/><Relationship Id="rId13" Target="../media/image44.png" Type="http://schemas.openxmlformats.org/officeDocument/2006/relationships/image"/><Relationship Id="rId14" Target="../media/image45.png" Type="http://schemas.openxmlformats.org/officeDocument/2006/relationships/image"/><Relationship Id="rId15" Target="../media/image46.png" Type="http://schemas.openxmlformats.org/officeDocument/2006/relationships/image"/><Relationship Id="rId16" Target="../media/image47.png" Type="http://schemas.openxmlformats.org/officeDocument/2006/relationships/image"/><Relationship Id="rId17" Target="../media/image72.png" Type="http://schemas.openxmlformats.org/officeDocument/2006/relationships/image"/><Relationship Id="rId18" Target="../media/image48.png" Type="http://schemas.openxmlformats.org/officeDocument/2006/relationships/image"/><Relationship Id="rId19" Target="../media/image49.png" Type="http://schemas.openxmlformats.org/officeDocument/2006/relationships/image"/><Relationship Id="rId2" Target="../media/image1.png" Type="http://schemas.openxmlformats.org/officeDocument/2006/relationships/image"/><Relationship Id="rId20" Target="../media/image51.png" Type="http://schemas.openxmlformats.org/officeDocument/2006/relationships/image"/><Relationship Id="rId21" Target="../media/image52.png" Type="http://schemas.openxmlformats.org/officeDocument/2006/relationships/image"/><Relationship Id="rId22" Target="../media/image73.png" Type="http://schemas.openxmlformats.org/officeDocument/2006/relationships/image"/><Relationship Id="rId23" Target="../media/image53.png" Type="http://schemas.openxmlformats.org/officeDocument/2006/relationships/image"/><Relationship Id="rId24" Target="../media/image54.png" Type="http://schemas.openxmlformats.org/officeDocument/2006/relationships/image"/><Relationship Id="rId25" Target="../media/image55.png" Type="http://schemas.openxmlformats.org/officeDocument/2006/relationships/image"/><Relationship Id="rId26" Target="../media/image56.png" Type="http://schemas.openxmlformats.org/officeDocument/2006/relationships/image"/><Relationship Id="rId27" Target="../media/image57.png" Type="http://schemas.openxmlformats.org/officeDocument/2006/relationships/image"/><Relationship Id="rId28" Target="../media/image58.png" Type="http://schemas.openxmlformats.org/officeDocument/2006/relationships/image"/><Relationship Id="rId29" Target="../media/image59.png" Type="http://schemas.openxmlformats.org/officeDocument/2006/relationships/image"/><Relationship Id="rId3" Target="../media/image189.png" Type="http://schemas.openxmlformats.org/officeDocument/2006/relationships/image"/><Relationship Id="rId30" Target="../media/image60.png" Type="http://schemas.openxmlformats.org/officeDocument/2006/relationships/image"/><Relationship Id="rId4" Target="../media/image190.svg" Type="http://schemas.openxmlformats.org/officeDocument/2006/relationships/image"/><Relationship Id="rId5" Target="../media/image191.png" Type="http://schemas.openxmlformats.org/officeDocument/2006/relationships/image"/><Relationship Id="rId6" Target="../media/image192.png" Type="http://schemas.openxmlformats.org/officeDocument/2006/relationships/image"/><Relationship Id="rId7" Target="../media/image50.png" Type="http://schemas.openxmlformats.org/officeDocument/2006/relationships/image"/><Relationship Id="rId8" Target="../media/image154.png" Type="http://schemas.openxmlformats.org/officeDocument/2006/relationships/image"/><Relationship Id="rId9" Target="../media/image15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4.png" Type="http://schemas.openxmlformats.org/officeDocument/2006/relationships/image"/><Relationship Id="rId4" Target="../media/image195.png" Type="http://schemas.openxmlformats.org/officeDocument/2006/relationships/image"/><Relationship Id="rId5" Target="../media/image196.svg" Type="http://schemas.openxmlformats.org/officeDocument/2006/relationships/image"/><Relationship Id="rId6" Target="../media/image197.png" Type="http://schemas.openxmlformats.org/officeDocument/2006/relationships/image"/><Relationship Id="rId7" Target="../media/image198.svg" Type="http://schemas.openxmlformats.org/officeDocument/2006/relationships/image"/><Relationship Id="rId8" Target="../media/image199.png" Type="http://schemas.openxmlformats.org/officeDocument/2006/relationships/image"/><Relationship Id="rId9" Target="../media/image20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50000">
              <a:srgbClr val="092647">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1255162" y="2833743"/>
            <a:ext cx="8973442" cy="9688906"/>
          </a:xfrm>
          <a:custGeom>
            <a:avLst/>
            <a:gdLst/>
            <a:ahLst/>
            <a:cxnLst/>
            <a:rect r="r" b="b" t="t" l="l"/>
            <a:pathLst>
              <a:path h="9688906" w="8973442">
                <a:moveTo>
                  <a:pt x="0" y="0"/>
                </a:moveTo>
                <a:lnTo>
                  <a:pt x="8973442" y="0"/>
                </a:lnTo>
                <a:lnTo>
                  <a:pt x="8973442" y="9688906"/>
                </a:lnTo>
                <a:lnTo>
                  <a:pt x="0" y="9688906"/>
                </a:lnTo>
                <a:lnTo>
                  <a:pt x="0" y="0"/>
                </a:lnTo>
                <a:close/>
              </a:path>
            </a:pathLst>
          </a:custGeom>
          <a:blipFill>
            <a:blip r:embed="rId2">
              <a:alphaModFix amt="5000"/>
            </a:blip>
            <a:stretch>
              <a:fillRect l="0" t="0" r="-364400" b="0"/>
            </a:stretch>
          </a:blipFill>
        </p:spPr>
      </p:sp>
      <p:grpSp>
        <p:nvGrpSpPr>
          <p:cNvPr name="Group 3" id="3"/>
          <p:cNvGrpSpPr/>
          <p:nvPr/>
        </p:nvGrpSpPr>
        <p:grpSpPr>
          <a:xfrm rot="674272">
            <a:off x="12214236" y="-3759514"/>
            <a:ext cx="3401138" cy="5101707"/>
            <a:chOff x="0" y="0"/>
            <a:chExt cx="6350000" cy="9525000"/>
          </a:xfrm>
        </p:grpSpPr>
        <p:sp>
          <p:nvSpPr>
            <p:cNvPr name="Freeform 4" id="4"/>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3"/>
              <a:stretch>
                <a:fillRect l="-62570" t="0" r="-62570" b="0"/>
              </a:stretch>
            </a:blipFill>
            <a:ln w="28575" cap="sq">
              <a:solidFill>
                <a:srgbClr val="FFFFFF"/>
              </a:solidFill>
              <a:prstDash val="solid"/>
              <a:miter/>
            </a:ln>
          </p:spPr>
        </p:sp>
      </p:grpSp>
      <p:grpSp>
        <p:nvGrpSpPr>
          <p:cNvPr name="Group 5" id="5"/>
          <p:cNvGrpSpPr/>
          <p:nvPr/>
        </p:nvGrpSpPr>
        <p:grpSpPr>
          <a:xfrm rot="674272">
            <a:off x="11137185" y="1661184"/>
            <a:ext cx="3401138" cy="5101707"/>
            <a:chOff x="0" y="0"/>
            <a:chExt cx="6350000" cy="9525000"/>
          </a:xfrm>
        </p:grpSpPr>
        <p:sp>
          <p:nvSpPr>
            <p:cNvPr name="Freeform 6" id="6"/>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4"/>
              <a:stretch>
                <a:fillRect l="-62781" t="0" r="-62781" b="0"/>
              </a:stretch>
            </a:blipFill>
            <a:ln w="28575" cap="sq">
              <a:solidFill>
                <a:srgbClr val="FFFFFF"/>
              </a:solidFill>
              <a:prstDash val="solid"/>
              <a:miter/>
            </a:ln>
          </p:spPr>
        </p:sp>
      </p:grpSp>
      <p:sp>
        <p:nvSpPr>
          <p:cNvPr name="Freeform 7" id="7"/>
          <p:cNvSpPr/>
          <p:nvPr/>
        </p:nvSpPr>
        <p:spPr>
          <a:xfrm flipH="false" flipV="false" rot="0">
            <a:off x="838200" y="732392"/>
            <a:ext cx="2490694" cy="592616"/>
          </a:xfrm>
          <a:custGeom>
            <a:avLst/>
            <a:gdLst/>
            <a:ahLst/>
            <a:cxnLst/>
            <a:rect r="r" b="b" t="t" l="l"/>
            <a:pathLst>
              <a:path h="592616" w="2490694">
                <a:moveTo>
                  <a:pt x="0" y="0"/>
                </a:moveTo>
                <a:lnTo>
                  <a:pt x="2490694" y="0"/>
                </a:lnTo>
                <a:lnTo>
                  <a:pt x="2490694" y="592616"/>
                </a:lnTo>
                <a:lnTo>
                  <a:pt x="0" y="592616"/>
                </a:lnTo>
                <a:lnTo>
                  <a:pt x="0" y="0"/>
                </a:lnTo>
                <a:close/>
              </a:path>
            </a:pathLst>
          </a:custGeom>
          <a:blipFill>
            <a:blip r:embed="rId2"/>
            <a:stretch>
              <a:fillRect l="-2336" t="0" r="0" b="0"/>
            </a:stretch>
          </a:blipFill>
        </p:spPr>
      </p:sp>
      <p:grpSp>
        <p:nvGrpSpPr>
          <p:cNvPr name="Group 8" id="8"/>
          <p:cNvGrpSpPr/>
          <p:nvPr/>
        </p:nvGrpSpPr>
        <p:grpSpPr>
          <a:xfrm rot="674272">
            <a:off x="10060135" y="7081883"/>
            <a:ext cx="3401138" cy="5101707"/>
            <a:chOff x="0" y="0"/>
            <a:chExt cx="6350000" cy="9525000"/>
          </a:xfrm>
        </p:grpSpPr>
        <p:sp>
          <p:nvSpPr>
            <p:cNvPr name="Freeform 9" id="9"/>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5"/>
              <a:stretch>
                <a:fillRect l="-100000" t="0" r="-100000" b="0"/>
              </a:stretch>
            </a:blipFill>
            <a:ln w="28575" cap="sq">
              <a:solidFill>
                <a:srgbClr val="FFFFFF"/>
              </a:solidFill>
              <a:prstDash val="solid"/>
              <a:miter/>
            </a:ln>
          </p:spPr>
        </p:sp>
      </p:grpSp>
      <p:grpSp>
        <p:nvGrpSpPr>
          <p:cNvPr name="Group 10" id="10"/>
          <p:cNvGrpSpPr/>
          <p:nvPr/>
        </p:nvGrpSpPr>
        <p:grpSpPr>
          <a:xfrm rot="674272">
            <a:off x="15432970" y="124651"/>
            <a:ext cx="3401138" cy="5101707"/>
            <a:chOff x="0" y="0"/>
            <a:chExt cx="6350000" cy="9525000"/>
          </a:xfrm>
        </p:grpSpPr>
        <p:sp>
          <p:nvSpPr>
            <p:cNvPr name="Freeform 11" id="11"/>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6"/>
              <a:stretch>
                <a:fillRect l="-62781" t="0" r="-62781" b="0"/>
              </a:stretch>
            </a:blipFill>
            <a:ln w="28575" cap="sq">
              <a:solidFill>
                <a:srgbClr val="FFFFFF"/>
              </a:solidFill>
              <a:prstDash val="solid"/>
              <a:miter/>
            </a:ln>
          </p:spPr>
        </p:sp>
      </p:grpSp>
      <p:grpSp>
        <p:nvGrpSpPr>
          <p:cNvPr name="Group 12" id="12"/>
          <p:cNvGrpSpPr/>
          <p:nvPr/>
        </p:nvGrpSpPr>
        <p:grpSpPr>
          <a:xfrm rot="674272">
            <a:off x="14355919" y="5545349"/>
            <a:ext cx="3401138" cy="5101707"/>
            <a:chOff x="0" y="0"/>
            <a:chExt cx="6350000" cy="9525000"/>
          </a:xfrm>
        </p:grpSpPr>
        <p:sp>
          <p:nvSpPr>
            <p:cNvPr name="Freeform 13" id="13"/>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7"/>
              <a:stretch>
                <a:fillRect l="-62781" t="0" r="-62781" b="0"/>
              </a:stretch>
            </a:blipFill>
            <a:ln w="28575" cap="sq">
              <a:solidFill>
                <a:srgbClr val="FFFFFF"/>
              </a:solidFill>
              <a:prstDash val="solid"/>
              <a:miter/>
            </a:ln>
          </p:spPr>
        </p:sp>
      </p:grpSp>
      <p:grpSp>
        <p:nvGrpSpPr>
          <p:cNvPr name="Group 14" id="14"/>
          <p:cNvGrpSpPr/>
          <p:nvPr/>
        </p:nvGrpSpPr>
        <p:grpSpPr>
          <a:xfrm rot="674272">
            <a:off x="17735686" y="8606955"/>
            <a:ext cx="3401138" cy="5101707"/>
            <a:chOff x="0" y="0"/>
            <a:chExt cx="6350000" cy="9525000"/>
          </a:xfrm>
        </p:grpSpPr>
        <p:sp>
          <p:nvSpPr>
            <p:cNvPr name="Freeform 15" id="15"/>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8"/>
              <a:stretch>
                <a:fillRect l="-62570" t="0" r="-62570" b="0"/>
              </a:stretch>
            </a:blipFill>
            <a:ln w="28575" cap="sq">
              <a:solidFill>
                <a:srgbClr val="FFFFFF"/>
              </a:solidFill>
              <a:prstDash val="solid"/>
              <a:miter/>
            </a:ln>
          </p:spPr>
        </p:sp>
      </p:grpSp>
      <p:grpSp>
        <p:nvGrpSpPr>
          <p:cNvPr name="Group 16" id="16"/>
          <p:cNvGrpSpPr/>
          <p:nvPr/>
        </p:nvGrpSpPr>
        <p:grpSpPr>
          <a:xfrm rot="0">
            <a:off x="1160001" y="8530075"/>
            <a:ext cx="5254087" cy="636484"/>
            <a:chOff x="0" y="0"/>
            <a:chExt cx="1788498" cy="216660"/>
          </a:xfrm>
        </p:grpSpPr>
        <p:sp>
          <p:nvSpPr>
            <p:cNvPr name="Freeform 17" id="17"/>
            <p:cNvSpPr/>
            <p:nvPr/>
          </p:nvSpPr>
          <p:spPr>
            <a:xfrm flipH="false" flipV="false" rot="0">
              <a:off x="0" y="0"/>
              <a:ext cx="1788498" cy="216660"/>
            </a:xfrm>
            <a:custGeom>
              <a:avLst/>
              <a:gdLst/>
              <a:ahLst/>
              <a:cxnLst/>
              <a:rect r="r" b="b" t="t" l="l"/>
              <a:pathLst>
                <a:path h="216660" w="1788498">
                  <a:moveTo>
                    <a:pt x="75149" y="0"/>
                  </a:moveTo>
                  <a:lnTo>
                    <a:pt x="1713349" y="0"/>
                  </a:lnTo>
                  <a:cubicBezTo>
                    <a:pt x="1733280" y="0"/>
                    <a:pt x="1752394" y="7917"/>
                    <a:pt x="1766488" y="22011"/>
                  </a:cubicBezTo>
                  <a:cubicBezTo>
                    <a:pt x="1780581" y="36104"/>
                    <a:pt x="1788498" y="55218"/>
                    <a:pt x="1788498" y="75149"/>
                  </a:cubicBezTo>
                  <a:lnTo>
                    <a:pt x="1788498" y="141511"/>
                  </a:lnTo>
                  <a:cubicBezTo>
                    <a:pt x="1788498" y="183015"/>
                    <a:pt x="1754853" y="216660"/>
                    <a:pt x="1713349" y="216660"/>
                  </a:cubicBezTo>
                  <a:lnTo>
                    <a:pt x="75149" y="216660"/>
                  </a:lnTo>
                  <a:cubicBezTo>
                    <a:pt x="55218" y="216660"/>
                    <a:pt x="36104" y="208743"/>
                    <a:pt x="22011" y="194649"/>
                  </a:cubicBezTo>
                  <a:cubicBezTo>
                    <a:pt x="7917" y="180556"/>
                    <a:pt x="0" y="161442"/>
                    <a:pt x="0" y="141511"/>
                  </a:cubicBezTo>
                  <a:lnTo>
                    <a:pt x="0" y="75149"/>
                  </a:lnTo>
                  <a:cubicBezTo>
                    <a:pt x="0" y="55218"/>
                    <a:pt x="7917" y="36104"/>
                    <a:pt x="22011" y="22011"/>
                  </a:cubicBezTo>
                  <a:cubicBezTo>
                    <a:pt x="36104" y="7917"/>
                    <a:pt x="55218" y="0"/>
                    <a:pt x="75149" y="0"/>
                  </a:cubicBezTo>
                  <a:close/>
                </a:path>
              </a:pathLst>
            </a:custGeom>
            <a:solidFill>
              <a:srgbClr val="073763"/>
            </a:solidFill>
            <a:ln w="38100" cap="rnd">
              <a:gradFill>
                <a:gsLst>
                  <a:gs pos="0">
                    <a:srgbClr val="092647">
                      <a:alpha val="100000"/>
                    </a:srgbClr>
                  </a:gs>
                  <a:gs pos="100000">
                    <a:srgbClr val="0A396D">
                      <a:alpha val="100000"/>
                    </a:srgbClr>
                  </a:gs>
                </a:gsLst>
                <a:lin ang="5400000"/>
              </a:gradFill>
              <a:prstDash val="solid"/>
              <a:round/>
            </a:ln>
          </p:spPr>
        </p:sp>
        <p:sp>
          <p:nvSpPr>
            <p:cNvPr name="TextBox 18" id="18"/>
            <p:cNvSpPr txBox="true"/>
            <p:nvPr/>
          </p:nvSpPr>
          <p:spPr>
            <a:xfrm>
              <a:off x="0" y="-38100"/>
              <a:ext cx="1788498" cy="254760"/>
            </a:xfrm>
            <a:prstGeom prst="rect">
              <a:avLst/>
            </a:prstGeom>
          </p:spPr>
          <p:txBody>
            <a:bodyPr anchor="ctr" rtlCol="false" tIns="39305" lIns="39305" bIns="39305" rIns="39305"/>
            <a:lstStyle/>
            <a:p>
              <a:pPr algn="ctr">
                <a:lnSpc>
                  <a:spcPts val="2660"/>
                </a:lnSpc>
              </a:pPr>
            </a:p>
          </p:txBody>
        </p:sp>
      </p:grpSp>
      <p:sp>
        <p:nvSpPr>
          <p:cNvPr name="TextBox 19" id="19"/>
          <p:cNvSpPr txBox="true"/>
          <p:nvPr/>
        </p:nvSpPr>
        <p:spPr>
          <a:xfrm rot="0">
            <a:off x="1457413" y="8573154"/>
            <a:ext cx="1404668" cy="593405"/>
          </a:xfrm>
          <a:prstGeom prst="rect">
            <a:avLst/>
          </a:prstGeom>
        </p:spPr>
        <p:txBody>
          <a:bodyPr anchor="t" rtlCol="false" tIns="0" lIns="0" bIns="0" rIns="0">
            <a:spAutoFit/>
          </a:bodyPr>
          <a:lstStyle/>
          <a:p>
            <a:pPr algn="ctr">
              <a:lnSpc>
                <a:spcPts val="4497"/>
              </a:lnSpc>
              <a:spcBef>
                <a:spcPct val="0"/>
              </a:spcBef>
            </a:pPr>
            <a:r>
              <a:rPr lang="en-US" b="true" sz="3979">
                <a:solidFill>
                  <a:srgbClr val="FFFFFF"/>
                </a:solidFill>
                <a:latin typeface="Mont 1 Bold"/>
                <a:ea typeface="Mont 1 Bold"/>
                <a:cs typeface="Mont 1 Bold"/>
                <a:sym typeface="Mont 1 Bold"/>
              </a:rPr>
              <a:t>100</a:t>
            </a:r>
            <a:r>
              <a:rPr lang="en-US" b="true" sz="3979">
                <a:solidFill>
                  <a:srgbClr val="FFFFFF"/>
                </a:solidFill>
                <a:latin typeface="Mont 1 Bold"/>
                <a:ea typeface="Mont 1 Bold"/>
                <a:cs typeface="Mont 1 Bold"/>
                <a:sym typeface="Mont 1 Bold"/>
              </a:rPr>
              <a:t>++</a:t>
            </a:r>
          </a:p>
        </p:txBody>
      </p:sp>
      <p:sp>
        <p:nvSpPr>
          <p:cNvPr name="TextBox 20" id="20"/>
          <p:cNvSpPr txBox="true"/>
          <p:nvPr/>
        </p:nvSpPr>
        <p:spPr>
          <a:xfrm rot="0">
            <a:off x="3022861" y="8600667"/>
            <a:ext cx="3229488" cy="485775"/>
          </a:xfrm>
          <a:prstGeom prst="rect">
            <a:avLst/>
          </a:prstGeom>
        </p:spPr>
        <p:txBody>
          <a:bodyPr anchor="t" rtlCol="false" tIns="0" lIns="0" bIns="0" rIns="0">
            <a:spAutoFit/>
          </a:bodyPr>
          <a:lstStyle/>
          <a:p>
            <a:pPr algn="l">
              <a:lnSpc>
                <a:spcPts val="1919"/>
              </a:lnSpc>
            </a:pPr>
            <a:r>
              <a:rPr lang="en-US" sz="1599">
                <a:solidFill>
                  <a:srgbClr val="FAF7FC"/>
                </a:solidFill>
                <a:latin typeface="Mont 1"/>
                <a:ea typeface="Mont 1"/>
                <a:cs typeface="Mont 1"/>
                <a:sym typeface="Mont 1"/>
              </a:rPr>
              <a:t>Great Organisations and Companies </a:t>
            </a:r>
            <a:r>
              <a:rPr lang="en-US" sz="1599">
                <a:solidFill>
                  <a:srgbClr val="FAF7FC"/>
                </a:solidFill>
                <a:latin typeface="Mont 1"/>
                <a:ea typeface="Mont 1"/>
                <a:cs typeface="Mont 1"/>
                <a:sym typeface="Mont 1"/>
              </a:rPr>
              <a:t>Using Our Services</a:t>
            </a:r>
          </a:p>
        </p:txBody>
      </p:sp>
      <p:sp>
        <p:nvSpPr>
          <p:cNvPr name="TextBox 21" id="21"/>
          <p:cNvSpPr txBox="true"/>
          <p:nvPr/>
        </p:nvSpPr>
        <p:spPr>
          <a:xfrm rot="0">
            <a:off x="1028700" y="1977346"/>
            <a:ext cx="9643974" cy="1145563"/>
          </a:xfrm>
          <a:prstGeom prst="rect">
            <a:avLst/>
          </a:prstGeom>
        </p:spPr>
        <p:txBody>
          <a:bodyPr anchor="t" rtlCol="false" tIns="0" lIns="0" bIns="0" rIns="0">
            <a:spAutoFit/>
          </a:bodyPr>
          <a:lstStyle/>
          <a:p>
            <a:pPr algn="l">
              <a:lnSpc>
                <a:spcPts val="8810"/>
              </a:lnSpc>
            </a:pPr>
            <a:r>
              <a:rPr lang="en-US" sz="7796" b="true">
                <a:solidFill>
                  <a:srgbClr val="FAF7FC"/>
                </a:solidFill>
                <a:latin typeface="Mont 1 Bold"/>
                <a:ea typeface="Mont 1 Bold"/>
                <a:cs typeface="Mont 1 Bold"/>
                <a:sym typeface="Mont 1 Bold"/>
              </a:rPr>
              <a:t>Company Profile</a:t>
            </a:r>
          </a:p>
        </p:txBody>
      </p:sp>
      <p:sp>
        <p:nvSpPr>
          <p:cNvPr name="TextBox 22" id="22"/>
          <p:cNvSpPr txBox="true"/>
          <p:nvPr/>
        </p:nvSpPr>
        <p:spPr>
          <a:xfrm rot="0">
            <a:off x="1028700" y="3497663"/>
            <a:ext cx="9927186" cy="2003427"/>
          </a:xfrm>
          <a:prstGeom prst="rect">
            <a:avLst/>
          </a:prstGeom>
        </p:spPr>
        <p:txBody>
          <a:bodyPr anchor="t" rtlCol="false" tIns="0" lIns="0" bIns="0" rIns="0">
            <a:spAutoFit/>
          </a:bodyPr>
          <a:lstStyle/>
          <a:p>
            <a:pPr algn="l">
              <a:lnSpc>
                <a:spcPts val="14449"/>
              </a:lnSpc>
            </a:pPr>
            <a:r>
              <a:rPr lang="en-US" sz="8499" b="true">
                <a:solidFill>
                  <a:srgbClr val="FFFFFF"/>
                </a:solidFill>
                <a:latin typeface="Mont 2 Heavy"/>
                <a:ea typeface="Mont 2 Heavy"/>
                <a:cs typeface="Mont 2 Heavy"/>
                <a:sym typeface="Mont 2 Heavy"/>
              </a:rPr>
              <a:t>TRAINING</a:t>
            </a:r>
          </a:p>
        </p:txBody>
      </p:sp>
      <p:sp>
        <p:nvSpPr>
          <p:cNvPr name="TextBox 23" id="23"/>
          <p:cNvSpPr txBox="true"/>
          <p:nvPr/>
        </p:nvSpPr>
        <p:spPr>
          <a:xfrm rot="0">
            <a:off x="1028700" y="5015196"/>
            <a:ext cx="6568604" cy="1590675"/>
          </a:xfrm>
          <a:prstGeom prst="rect">
            <a:avLst/>
          </a:prstGeom>
        </p:spPr>
        <p:txBody>
          <a:bodyPr anchor="t" rtlCol="false" tIns="0" lIns="0" bIns="0" rIns="0">
            <a:spAutoFit/>
          </a:bodyPr>
          <a:lstStyle/>
          <a:p>
            <a:pPr algn="ctr">
              <a:lnSpc>
                <a:spcPts val="10199"/>
              </a:lnSpc>
              <a:spcBef>
                <a:spcPct val="0"/>
              </a:spcBef>
            </a:pPr>
            <a:r>
              <a:rPr lang="en-US" b="true" sz="8499" spc="84">
                <a:solidFill>
                  <a:srgbClr val="FFFFFF"/>
                </a:solidFill>
                <a:latin typeface="Mont 2 Heavy"/>
                <a:ea typeface="Mont 2 Heavy"/>
                <a:cs typeface="Mont 2 Heavy"/>
                <a:sym typeface="Mont 2 Heavy"/>
              </a:rPr>
              <a:t>PORTFOLIO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50000">
              <a:srgbClr val="092647">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28086" y="658095"/>
            <a:ext cx="3467054" cy="1627084"/>
            <a:chOff x="0" y="0"/>
            <a:chExt cx="1180190" cy="553862"/>
          </a:xfrm>
        </p:grpSpPr>
        <p:sp>
          <p:nvSpPr>
            <p:cNvPr name="Freeform 3" id="3"/>
            <p:cNvSpPr/>
            <p:nvPr/>
          </p:nvSpPr>
          <p:spPr>
            <a:xfrm flipH="false" flipV="false" rot="0">
              <a:off x="0" y="0"/>
              <a:ext cx="1180190" cy="553862"/>
            </a:xfrm>
            <a:custGeom>
              <a:avLst/>
              <a:gdLst/>
              <a:ahLst/>
              <a:cxnLst/>
              <a:rect r="r" b="b" t="t" l="l"/>
              <a:pathLst>
                <a:path h="553862" w="1180190">
                  <a:moveTo>
                    <a:pt x="113883" y="0"/>
                  </a:moveTo>
                  <a:lnTo>
                    <a:pt x="1066307" y="0"/>
                  </a:lnTo>
                  <a:cubicBezTo>
                    <a:pt x="1096510" y="0"/>
                    <a:pt x="1125477" y="11998"/>
                    <a:pt x="1146834" y="33356"/>
                  </a:cubicBezTo>
                  <a:cubicBezTo>
                    <a:pt x="1168191" y="54713"/>
                    <a:pt x="1180190" y="83679"/>
                    <a:pt x="1180190" y="113883"/>
                  </a:cubicBezTo>
                  <a:lnTo>
                    <a:pt x="1180190" y="439979"/>
                  </a:lnTo>
                  <a:cubicBezTo>
                    <a:pt x="1180190" y="470182"/>
                    <a:pt x="1168191" y="499149"/>
                    <a:pt x="1146834" y="520506"/>
                  </a:cubicBezTo>
                  <a:cubicBezTo>
                    <a:pt x="1125477" y="541863"/>
                    <a:pt x="1096510" y="553862"/>
                    <a:pt x="1066307" y="553862"/>
                  </a:cubicBezTo>
                  <a:lnTo>
                    <a:pt x="113883" y="553862"/>
                  </a:lnTo>
                  <a:cubicBezTo>
                    <a:pt x="83679" y="553862"/>
                    <a:pt x="54713" y="541863"/>
                    <a:pt x="33356" y="520506"/>
                  </a:cubicBezTo>
                  <a:cubicBezTo>
                    <a:pt x="11998" y="499149"/>
                    <a:pt x="0" y="470182"/>
                    <a:pt x="0" y="439979"/>
                  </a:cubicBezTo>
                  <a:lnTo>
                    <a:pt x="0" y="113883"/>
                  </a:lnTo>
                  <a:cubicBezTo>
                    <a:pt x="0" y="83679"/>
                    <a:pt x="11998" y="54713"/>
                    <a:pt x="33356" y="33356"/>
                  </a:cubicBezTo>
                  <a:cubicBezTo>
                    <a:pt x="54713" y="11998"/>
                    <a:pt x="83679" y="0"/>
                    <a:pt x="113883" y="0"/>
                  </a:cubicBezTo>
                  <a:close/>
                </a:path>
              </a:pathLst>
            </a:custGeom>
            <a:gradFill rotWithShape="true">
              <a:gsLst>
                <a:gs pos="0">
                  <a:srgbClr val="0A396D">
                    <a:alpha val="100000"/>
                  </a:srgbClr>
                </a:gs>
                <a:gs pos="100000">
                  <a:srgbClr val="092647">
                    <a:alpha val="100000"/>
                  </a:srgbClr>
                </a:gs>
              </a:gsLst>
              <a:lin ang="5400000"/>
            </a:gradFill>
            <a:ln w="9525" cap="rnd">
              <a:solidFill>
                <a:srgbClr val="FAF7FC"/>
              </a:solidFill>
              <a:prstDash val="solid"/>
              <a:round/>
            </a:ln>
          </p:spPr>
        </p:sp>
        <p:sp>
          <p:nvSpPr>
            <p:cNvPr name="TextBox 4" id="4"/>
            <p:cNvSpPr txBox="true"/>
            <p:nvPr/>
          </p:nvSpPr>
          <p:spPr>
            <a:xfrm>
              <a:off x="0" y="-38100"/>
              <a:ext cx="1180190" cy="591962"/>
            </a:xfrm>
            <a:prstGeom prst="rect">
              <a:avLst/>
            </a:prstGeom>
          </p:spPr>
          <p:txBody>
            <a:bodyPr anchor="ctr" rtlCol="false" tIns="39305" lIns="39305" bIns="39305" rIns="39305"/>
            <a:lstStyle/>
            <a:p>
              <a:pPr algn="ctr">
                <a:lnSpc>
                  <a:spcPts val="2660"/>
                </a:lnSpc>
              </a:pPr>
            </a:p>
          </p:txBody>
        </p:sp>
      </p:grpSp>
      <p:grpSp>
        <p:nvGrpSpPr>
          <p:cNvPr name="Group 5" id="5"/>
          <p:cNvGrpSpPr/>
          <p:nvPr/>
        </p:nvGrpSpPr>
        <p:grpSpPr>
          <a:xfrm rot="0">
            <a:off x="806165" y="1315605"/>
            <a:ext cx="10622696" cy="8052578"/>
            <a:chOff x="0" y="0"/>
            <a:chExt cx="3272132" cy="2480453"/>
          </a:xfrm>
        </p:grpSpPr>
        <p:sp>
          <p:nvSpPr>
            <p:cNvPr name="Freeform 6" id="6"/>
            <p:cNvSpPr/>
            <p:nvPr/>
          </p:nvSpPr>
          <p:spPr>
            <a:xfrm flipH="false" flipV="false" rot="0">
              <a:off x="0" y="0"/>
              <a:ext cx="3272132" cy="2480453"/>
            </a:xfrm>
            <a:custGeom>
              <a:avLst/>
              <a:gdLst/>
              <a:ahLst/>
              <a:cxnLst/>
              <a:rect r="r" b="b" t="t" l="l"/>
              <a:pathLst>
                <a:path h="2480453" w="3272132">
                  <a:moveTo>
                    <a:pt x="26966" y="0"/>
                  </a:moveTo>
                  <a:lnTo>
                    <a:pt x="3245166" y="0"/>
                  </a:lnTo>
                  <a:cubicBezTo>
                    <a:pt x="3252317" y="0"/>
                    <a:pt x="3259176" y="2841"/>
                    <a:pt x="3264234" y="7898"/>
                  </a:cubicBezTo>
                  <a:cubicBezTo>
                    <a:pt x="3269291" y="12955"/>
                    <a:pt x="3272132" y="19814"/>
                    <a:pt x="3272132" y="26966"/>
                  </a:cubicBezTo>
                  <a:lnTo>
                    <a:pt x="3272132" y="2453487"/>
                  </a:lnTo>
                  <a:cubicBezTo>
                    <a:pt x="3272132" y="2460639"/>
                    <a:pt x="3269291" y="2467497"/>
                    <a:pt x="3264234" y="2472555"/>
                  </a:cubicBezTo>
                  <a:cubicBezTo>
                    <a:pt x="3259176" y="2477612"/>
                    <a:pt x="3252317" y="2480453"/>
                    <a:pt x="3245166" y="2480453"/>
                  </a:cubicBezTo>
                  <a:lnTo>
                    <a:pt x="26966" y="2480453"/>
                  </a:lnTo>
                  <a:cubicBezTo>
                    <a:pt x="19814" y="2480453"/>
                    <a:pt x="12955" y="2477612"/>
                    <a:pt x="7898" y="2472555"/>
                  </a:cubicBezTo>
                  <a:cubicBezTo>
                    <a:pt x="2841" y="2467497"/>
                    <a:pt x="0" y="2460639"/>
                    <a:pt x="0" y="2453487"/>
                  </a:cubicBezTo>
                  <a:lnTo>
                    <a:pt x="0" y="26966"/>
                  </a:lnTo>
                  <a:cubicBezTo>
                    <a:pt x="0" y="19814"/>
                    <a:pt x="2841" y="12955"/>
                    <a:pt x="7898" y="7898"/>
                  </a:cubicBezTo>
                  <a:cubicBezTo>
                    <a:pt x="12955" y="2841"/>
                    <a:pt x="19814" y="0"/>
                    <a:pt x="26966" y="0"/>
                  </a:cubicBezTo>
                  <a:close/>
                </a:path>
              </a:pathLst>
            </a:custGeom>
            <a:solidFill>
              <a:srgbClr val="FFFFFF"/>
            </a:solidFill>
            <a:ln w="104775" cap="rnd">
              <a:gradFill>
                <a:gsLst>
                  <a:gs pos="0">
                    <a:srgbClr val="092647">
                      <a:alpha val="100000"/>
                    </a:srgbClr>
                  </a:gs>
                  <a:gs pos="100000">
                    <a:srgbClr val="0A396D">
                      <a:alpha val="100000"/>
                    </a:srgbClr>
                  </a:gs>
                </a:gsLst>
                <a:lin ang="5400000"/>
              </a:gradFill>
              <a:prstDash val="solid"/>
              <a:round/>
            </a:ln>
          </p:spPr>
        </p:sp>
        <p:sp>
          <p:nvSpPr>
            <p:cNvPr name="TextBox 7" id="7"/>
            <p:cNvSpPr txBox="true"/>
            <p:nvPr/>
          </p:nvSpPr>
          <p:spPr>
            <a:xfrm>
              <a:off x="0" y="-57150"/>
              <a:ext cx="3272132" cy="2537603"/>
            </a:xfrm>
            <a:prstGeom prst="rect">
              <a:avLst/>
            </a:prstGeom>
          </p:spPr>
          <p:txBody>
            <a:bodyPr anchor="ctr" rtlCol="false" tIns="50437" lIns="50437" bIns="50437" rIns="50437"/>
            <a:lstStyle/>
            <a:p>
              <a:pPr algn="ctr">
                <a:lnSpc>
                  <a:spcPts val="2007"/>
                </a:lnSpc>
              </a:pPr>
            </a:p>
          </p:txBody>
        </p:sp>
      </p:grpSp>
      <p:grpSp>
        <p:nvGrpSpPr>
          <p:cNvPr name="Group 8" id="8"/>
          <p:cNvGrpSpPr/>
          <p:nvPr/>
        </p:nvGrpSpPr>
        <p:grpSpPr>
          <a:xfrm rot="0">
            <a:off x="12223206" y="9263735"/>
            <a:ext cx="3467054" cy="636484"/>
            <a:chOff x="0" y="0"/>
            <a:chExt cx="4622738" cy="848645"/>
          </a:xfrm>
        </p:grpSpPr>
        <p:grpSp>
          <p:nvGrpSpPr>
            <p:cNvPr name="Group 9" id="9"/>
            <p:cNvGrpSpPr/>
            <p:nvPr/>
          </p:nvGrpSpPr>
          <p:grpSpPr>
            <a:xfrm rot="0">
              <a:off x="0" y="0"/>
              <a:ext cx="4622738" cy="848645"/>
              <a:chOff x="0" y="0"/>
              <a:chExt cx="1180190" cy="216660"/>
            </a:xfrm>
          </p:grpSpPr>
          <p:sp>
            <p:nvSpPr>
              <p:cNvPr name="Freeform 10" id="10"/>
              <p:cNvSpPr/>
              <p:nvPr/>
            </p:nvSpPr>
            <p:spPr>
              <a:xfrm flipH="false" flipV="false" rot="0">
                <a:off x="0" y="0"/>
                <a:ext cx="1180190" cy="216660"/>
              </a:xfrm>
              <a:custGeom>
                <a:avLst/>
                <a:gdLst/>
                <a:ahLst/>
                <a:cxnLst/>
                <a:rect r="r" b="b" t="t" l="l"/>
                <a:pathLst>
                  <a:path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rotWithShape="true">
                <a:gsLst>
                  <a:gs pos="0">
                    <a:srgbClr val="0A396D">
                      <a:alpha val="100000"/>
                    </a:srgbClr>
                  </a:gs>
                  <a:gs pos="100000">
                    <a:srgbClr val="092647">
                      <a:alpha val="100000"/>
                    </a:srgbClr>
                  </a:gs>
                </a:gsLst>
                <a:lin ang="5400000"/>
              </a:gradFill>
              <a:ln w="9525" cap="rnd">
                <a:solidFill>
                  <a:srgbClr val="FAF7FC"/>
                </a:solidFill>
                <a:prstDash val="solid"/>
                <a:round/>
              </a:ln>
            </p:spPr>
          </p:sp>
          <p:sp>
            <p:nvSpPr>
              <p:cNvPr name="TextBox 11" id="11"/>
              <p:cNvSpPr txBox="true"/>
              <p:nvPr/>
            </p:nvSpPr>
            <p:spPr>
              <a:xfrm>
                <a:off x="0" y="-38100"/>
                <a:ext cx="1180190" cy="254760"/>
              </a:xfrm>
              <a:prstGeom prst="rect">
                <a:avLst/>
              </a:prstGeom>
            </p:spPr>
            <p:txBody>
              <a:bodyPr anchor="ctr" rtlCol="false" tIns="39305" lIns="39305" bIns="39305" rIns="39305"/>
              <a:lstStyle/>
              <a:p>
                <a:pPr algn="ctr">
                  <a:lnSpc>
                    <a:spcPts val="2660"/>
                  </a:lnSpc>
                </a:pPr>
              </a:p>
            </p:txBody>
          </p:sp>
        </p:grpSp>
        <p:sp>
          <p:nvSpPr>
            <p:cNvPr name="TextBox 12" id="12"/>
            <p:cNvSpPr txBox="true"/>
            <p:nvPr/>
          </p:nvSpPr>
          <p:spPr>
            <a:xfrm rot="0">
              <a:off x="441589" y="36596"/>
              <a:ext cx="3739561" cy="695222"/>
            </a:xfrm>
            <a:prstGeom prst="rect">
              <a:avLst/>
            </a:prstGeom>
          </p:spPr>
          <p:txBody>
            <a:bodyPr anchor="t" rtlCol="false" tIns="0" lIns="0" bIns="0" rIns="0">
              <a:spAutoFit/>
            </a:bodyPr>
            <a:lstStyle/>
            <a:p>
              <a:pPr algn="ctr">
                <a:lnSpc>
                  <a:spcPts val="4503"/>
                </a:lnSpc>
              </a:pPr>
              <a:r>
                <a:rPr lang="en-US" b="true" sz="3002" spc="30">
                  <a:solidFill>
                    <a:srgbClr val="FFFFFF"/>
                  </a:solidFill>
                  <a:latin typeface="Mont 1 Bold"/>
                  <a:ea typeface="Mont 1 Bold"/>
                  <a:cs typeface="Mont 1 Bold"/>
                  <a:sym typeface="Mont 1 Bold"/>
                </a:rPr>
                <a:t>#TerimaBeres</a:t>
              </a:r>
            </a:p>
          </p:txBody>
        </p:sp>
      </p:grpSp>
      <p:grpSp>
        <p:nvGrpSpPr>
          <p:cNvPr name="Group 13" id="13"/>
          <p:cNvGrpSpPr>
            <a:grpSpLocks noChangeAspect="true"/>
          </p:cNvGrpSpPr>
          <p:nvPr/>
        </p:nvGrpSpPr>
        <p:grpSpPr>
          <a:xfrm rot="0">
            <a:off x="2119855" y="2854756"/>
            <a:ext cx="2049780" cy="1175729"/>
            <a:chOff x="0" y="0"/>
            <a:chExt cx="7981950" cy="4578350"/>
          </a:xfrm>
        </p:grpSpPr>
        <p:sp>
          <p:nvSpPr>
            <p:cNvPr name="Freeform 14" id="14"/>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15" id="15"/>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16" id="16"/>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17" id="17"/>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18" id="18"/>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2"/>
              <a:stretch>
                <a:fillRect l="-8764" t="0" r="-8764" b="0"/>
              </a:stretch>
            </a:blipFill>
          </p:spPr>
        </p:sp>
      </p:grpSp>
      <p:grpSp>
        <p:nvGrpSpPr>
          <p:cNvPr name="Group 19" id="19"/>
          <p:cNvGrpSpPr>
            <a:grpSpLocks noChangeAspect="true"/>
          </p:cNvGrpSpPr>
          <p:nvPr/>
        </p:nvGrpSpPr>
        <p:grpSpPr>
          <a:xfrm rot="0">
            <a:off x="1525393" y="4754376"/>
            <a:ext cx="2049780" cy="1175729"/>
            <a:chOff x="0" y="0"/>
            <a:chExt cx="7981950" cy="4578350"/>
          </a:xfrm>
        </p:grpSpPr>
        <p:sp>
          <p:nvSpPr>
            <p:cNvPr name="Freeform 20" id="20"/>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21" id="21"/>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22" id="22"/>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23" id="23"/>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24" id="24"/>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3228" r="0" b="-3228"/>
              </a:stretch>
            </a:blipFill>
          </p:spPr>
        </p:sp>
      </p:grpSp>
      <p:grpSp>
        <p:nvGrpSpPr>
          <p:cNvPr name="Group 25" id="25"/>
          <p:cNvGrpSpPr>
            <a:grpSpLocks noChangeAspect="true"/>
          </p:cNvGrpSpPr>
          <p:nvPr/>
        </p:nvGrpSpPr>
        <p:grpSpPr>
          <a:xfrm rot="0">
            <a:off x="5092426" y="6713370"/>
            <a:ext cx="2049780" cy="1175729"/>
            <a:chOff x="0" y="0"/>
            <a:chExt cx="7981950" cy="4578350"/>
          </a:xfrm>
        </p:grpSpPr>
        <p:sp>
          <p:nvSpPr>
            <p:cNvPr name="Freeform 26" id="26"/>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27" id="27"/>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28" id="28"/>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29" id="29"/>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30" id="30"/>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4"/>
              <a:stretch>
                <a:fillRect l="0" t="-3328" r="0" b="-3328"/>
              </a:stretch>
            </a:blipFill>
          </p:spPr>
        </p:sp>
      </p:grpSp>
      <p:grpSp>
        <p:nvGrpSpPr>
          <p:cNvPr name="Group 31" id="31"/>
          <p:cNvGrpSpPr>
            <a:grpSpLocks noChangeAspect="true"/>
          </p:cNvGrpSpPr>
          <p:nvPr/>
        </p:nvGrpSpPr>
        <p:grpSpPr>
          <a:xfrm rot="0">
            <a:off x="5092820" y="2779925"/>
            <a:ext cx="2049387" cy="1175503"/>
            <a:chOff x="0" y="0"/>
            <a:chExt cx="7981950" cy="4578350"/>
          </a:xfrm>
        </p:grpSpPr>
        <p:sp>
          <p:nvSpPr>
            <p:cNvPr name="Freeform 32" id="32"/>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D2A4E"/>
            </a:solidFill>
          </p:spPr>
        </p:sp>
        <p:sp>
          <p:nvSpPr>
            <p:cNvPr name="Freeform 33" id="33"/>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34" id="34"/>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35" id="35"/>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36" id="36"/>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5"/>
              <a:stretch>
                <a:fillRect l="0" t="-3328" r="0" b="-3328"/>
              </a:stretch>
            </a:blipFill>
          </p:spPr>
        </p:sp>
      </p:grpSp>
      <p:grpSp>
        <p:nvGrpSpPr>
          <p:cNvPr name="Group 37" id="37"/>
          <p:cNvGrpSpPr>
            <a:grpSpLocks noChangeAspect="true"/>
          </p:cNvGrpSpPr>
          <p:nvPr/>
        </p:nvGrpSpPr>
        <p:grpSpPr>
          <a:xfrm rot="0">
            <a:off x="8302041" y="3350044"/>
            <a:ext cx="2049780" cy="1175729"/>
            <a:chOff x="0" y="0"/>
            <a:chExt cx="7981950" cy="4578350"/>
          </a:xfrm>
        </p:grpSpPr>
        <p:sp>
          <p:nvSpPr>
            <p:cNvPr name="Freeform 38" id="3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39" id="3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40" id="4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41" id="4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42" id="4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6"/>
              <a:stretch>
                <a:fillRect l="0" t="-3228" r="0" b="-3228"/>
              </a:stretch>
            </a:blipFill>
          </p:spPr>
        </p:sp>
      </p:grpSp>
      <p:grpSp>
        <p:nvGrpSpPr>
          <p:cNvPr name="Group 43" id="43"/>
          <p:cNvGrpSpPr>
            <a:grpSpLocks noChangeAspect="true"/>
          </p:cNvGrpSpPr>
          <p:nvPr/>
        </p:nvGrpSpPr>
        <p:grpSpPr>
          <a:xfrm rot="0">
            <a:off x="8302041" y="6065166"/>
            <a:ext cx="2049780" cy="1175729"/>
            <a:chOff x="0" y="0"/>
            <a:chExt cx="7981950" cy="4578350"/>
          </a:xfrm>
        </p:grpSpPr>
        <p:sp>
          <p:nvSpPr>
            <p:cNvPr name="Freeform 44" id="44"/>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45" id="45"/>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46" id="46"/>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47" id="47"/>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48" id="48"/>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7"/>
              <a:stretch>
                <a:fillRect l="0" t="-3228" r="0" b="-3228"/>
              </a:stretch>
            </a:blipFill>
          </p:spPr>
        </p:sp>
      </p:grpSp>
      <p:sp>
        <p:nvSpPr>
          <p:cNvPr name="Freeform 49" id="49"/>
          <p:cNvSpPr/>
          <p:nvPr/>
        </p:nvSpPr>
        <p:spPr>
          <a:xfrm>
            <a:off x="6117513" y="3955428"/>
            <a:ext cx="0" cy="626773"/>
          </a:xfrm>
          <a:custGeom>
            <a:avLst/>
            <a:gdLst/>
            <a:ahLst/>
            <a:cxnLst/>
            <a:rect r="r" b="b" t="t" l="l"/>
            <a:pathLst>
              <a:path h="626773" w="0">
                <a:moveTo>
                  <a:pt x="0" y="626774"/>
                </a:moveTo>
                <a:lnTo>
                  <a:pt x="0" y="0"/>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Freeform 50" id="50"/>
          <p:cNvSpPr/>
          <p:nvPr/>
        </p:nvSpPr>
        <p:spPr>
          <a:xfrm>
            <a:off x="7483822" y="4575079"/>
            <a:ext cx="732950" cy="888019"/>
          </a:xfrm>
          <a:custGeom>
            <a:avLst/>
            <a:gdLst/>
            <a:ahLst/>
            <a:cxnLst/>
            <a:rect r="r" b="b" t="t" l="l"/>
            <a:pathLst>
              <a:path h="888019" w="732950">
                <a:moveTo>
                  <a:pt x="0" y="888019"/>
                </a:moveTo>
                <a:lnTo>
                  <a:pt x="0" y="666015"/>
                </a:lnTo>
                <a:cubicBezTo>
                  <a:pt x="0" y="607135"/>
                  <a:pt x="23390" y="550667"/>
                  <a:pt x="65024" y="509033"/>
                </a:cubicBezTo>
                <a:cubicBezTo>
                  <a:pt x="106658" y="467399"/>
                  <a:pt x="163126" y="444010"/>
                  <a:pt x="222005" y="444010"/>
                </a:cubicBezTo>
                <a:lnTo>
                  <a:pt x="510946" y="444010"/>
                </a:lnTo>
                <a:cubicBezTo>
                  <a:pt x="569824" y="444010"/>
                  <a:pt x="626292" y="420620"/>
                  <a:pt x="667926" y="378986"/>
                </a:cubicBezTo>
                <a:cubicBezTo>
                  <a:pt x="709560" y="337352"/>
                  <a:pt x="732950" y="280884"/>
                  <a:pt x="732950" y="222005"/>
                </a:cubicBezTo>
                <a:lnTo>
                  <a:pt x="732950" y="0"/>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Freeform 51" id="51"/>
          <p:cNvSpPr/>
          <p:nvPr/>
        </p:nvSpPr>
        <p:spPr>
          <a:xfrm>
            <a:off x="7483822" y="5463098"/>
            <a:ext cx="771743" cy="1777797"/>
          </a:xfrm>
          <a:custGeom>
            <a:avLst/>
            <a:gdLst/>
            <a:ahLst/>
            <a:cxnLst/>
            <a:rect r="r" b="b" t="t" l="l"/>
            <a:pathLst>
              <a:path h="1777797" w="771743">
                <a:moveTo>
                  <a:pt x="0" y="0"/>
                </a:moveTo>
                <a:lnTo>
                  <a:pt x="0" y="660299"/>
                </a:lnTo>
                <a:cubicBezTo>
                  <a:pt x="0" y="786551"/>
                  <a:pt x="102348" y="888899"/>
                  <a:pt x="228600" y="888899"/>
                </a:cubicBezTo>
                <a:lnTo>
                  <a:pt x="543143" y="888899"/>
                </a:lnTo>
                <a:cubicBezTo>
                  <a:pt x="669395" y="888899"/>
                  <a:pt x="771743" y="991246"/>
                  <a:pt x="771743" y="1117499"/>
                </a:cubicBezTo>
                <a:lnTo>
                  <a:pt x="771743" y="1777797"/>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Freeform 52" id="52"/>
          <p:cNvSpPr/>
          <p:nvPr/>
        </p:nvSpPr>
        <p:spPr>
          <a:xfrm>
            <a:off x="4224373" y="4069062"/>
            <a:ext cx="526831" cy="1394036"/>
          </a:xfrm>
          <a:custGeom>
            <a:avLst/>
            <a:gdLst/>
            <a:ahLst/>
            <a:cxnLst/>
            <a:rect r="r" b="b" t="t" l="l"/>
            <a:pathLst>
              <a:path h="1394036" w="526831">
                <a:moveTo>
                  <a:pt x="526831" y="1394036"/>
                </a:moveTo>
                <a:lnTo>
                  <a:pt x="526831" y="925618"/>
                </a:lnTo>
                <a:cubicBezTo>
                  <a:pt x="526831" y="799366"/>
                  <a:pt x="424484" y="697018"/>
                  <a:pt x="298231" y="697018"/>
                </a:cubicBezTo>
                <a:lnTo>
                  <a:pt x="228600" y="697018"/>
                </a:lnTo>
                <a:cubicBezTo>
                  <a:pt x="102347" y="697018"/>
                  <a:pt x="0" y="594671"/>
                  <a:pt x="0" y="468418"/>
                </a:cubicBezTo>
                <a:lnTo>
                  <a:pt x="0" y="0"/>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Freeform 53" id="53"/>
          <p:cNvSpPr/>
          <p:nvPr/>
        </p:nvSpPr>
        <p:spPr>
          <a:xfrm>
            <a:off x="6117317" y="5717221"/>
            <a:ext cx="196" cy="996149"/>
          </a:xfrm>
          <a:custGeom>
            <a:avLst/>
            <a:gdLst/>
            <a:ahLst/>
            <a:cxnLst/>
            <a:rect r="r" b="b" t="t" l="l"/>
            <a:pathLst>
              <a:path h="996149" w="196">
                <a:moveTo>
                  <a:pt x="196" y="0"/>
                </a:moveTo>
                <a:lnTo>
                  <a:pt x="196" y="497977"/>
                </a:lnTo>
                <a:cubicBezTo>
                  <a:pt x="196" y="498031"/>
                  <a:pt x="152" y="498075"/>
                  <a:pt x="98" y="498075"/>
                </a:cubicBezTo>
                <a:lnTo>
                  <a:pt x="98" y="498075"/>
                </a:lnTo>
                <a:cubicBezTo>
                  <a:pt x="44" y="498075"/>
                  <a:pt x="0" y="498119"/>
                  <a:pt x="0" y="498173"/>
                </a:cubicBezTo>
                <a:lnTo>
                  <a:pt x="0" y="996149"/>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TextBox 54" id="54"/>
          <p:cNvSpPr txBox="true"/>
          <p:nvPr/>
        </p:nvSpPr>
        <p:spPr>
          <a:xfrm rot="0">
            <a:off x="1120313" y="672564"/>
            <a:ext cx="2804671" cy="542848"/>
          </a:xfrm>
          <a:prstGeom prst="rect">
            <a:avLst/>
          </a:prstGeom>
        </p:spPr>
        <p:txBody>
          <a:bodyPr anchor="t" rtlCol="false" tIns="0" lIns="0" bIns="0" rIns="0">
            <a:spAutoFit/>
          </a:bodyPr>
          <a:lstStyle/>
          <a:p>
            <a:pPr algn="ctr">
              <a:lnSpc>
                <a:spcPts val="4503"/>
              </a:lnSpc>
            </a:pPr>
            <a:r>
              <a:rPr lang="en-US" b="true" sz="3002" spc="30">
                <a:solidFill>
                  <a:srgbClr val="FFFFFF"/>
                </a:solidFill>
                <a:latin typeface="Mont 1 Bold"/>
                <a:ea typeface="Mont 1 Bold"/>
                <a:cs typeface="Mont 1 Bold"/>
                <a:sym typeface="Mont 1 Bold"/>
              </a:rPr>
              <a:t>Our Services</a:t>
            </a:r>
          </a:p>
        </p:txBody>
      </p:sp>
      <p:sp>
        <p:nvSpPr>
          <p:cNvPr name="Freeform 55" id="55"/>
          <p:cNvSpPr/>
          <p:nvPr/>
        </p:nvSpPr>
        <p:spPr>
          <a:xfrm flipH="false" flipV="false" rot="0">
            <a:off x="828086" y="95714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8"/>
            <a:stretch>
              <a:fillRect l="-2336" t="0" r="0" b="0"/>
            </a:stretch>
          </a:blipFill>
        </p:spPr>
      </p:sp>
      <p:grpSp>
        <p:nvGrpSpPr>
          <p:cNvPr name="Group 56" id="56"/>
          <p:cNvGrpSpPr/>
          <p:nvPr/>
        </p:nvGrpSpPr>
        <p:grpSpPr>
          <a:xfrm rot="0">
            <a:off x="4216192" y="5203098"/>
            <a:ext cx="3713766" cy="732679"/>
            <a:chOff x="0" y="0"/>
            <a:chExt cx="1180190" cy="232836"/>
          </a:xfrm>
        </p:grpSpPr>
        <p:sp>
          <p:nvSpPr>
            <p:cNvPr name="Freeform 57" id="57"/>
            <p:cNvSpPr/>
            <p:nvPr/>
          </p:nvSpPr>
          <p:spPr>
            <a:xfrm flipH="false" flipV="false" rot="0">
              <a:off x="0" y="0"/>
              <a:ext cx="1180190" cy="232836"/>
            </a:xfrm>
            <a:custGeom>
              <a:avLst/>
              <a:gdLst/>
              <a:ahLst/>
              <a:cxnLst/>
              <a:rect r="r" b="b" t="t" l="l"/>
              <a:pathLst>
                <a:path h="232836" w="1180190">
                  <a:moveTo>
                    <a:pt x="106317" y="0"/>
                  </a:moveTo>
                  <a:lnTo>
                    <a:pt x="1073872" y="0"/>
                  </a:lnTo>
                  <a:cubicBezTo>
                    <a:pt x="1132590" y="0"/>
                    <a:pt x="1180190" y="47600"/>
                    <a:pt x="1180190" y="106317"/>
                  </a:cubicBezTo>
                  <a:lnTo>
                    <a:pt x="1180190" y="126519"/>
                  </a:lnTo>
                  <a:cubicBezTo>
                    <a:pt x="1180190" y="185236"/>
                    <a:pt x="1132590" y="232836"/>
                    <a:pt x="1073872" y="232836"/>
                  </a:cubicBezTo>
                  <a:lnTo>
                    <a:pt x="106317" y="232836"/>
                  </a:lnTo>
                  <a:cubicBezTo>
                    <a:pt x="47600" y="232836"/>
                    <a:pt x="0" y="185236"/>
                    <a:pt x="0" y="126519"/>
                  </a:cubicBezTo>
                  <a:lnTo>
                    <a:pt x="0" y="106317"/>
                  </a:lnTo>
                  <a:cubicBezTo>
                    <a:pt x="0" y="47600"/>
                    <a:pt x="47600" y="0"/>
                    <a:pt x="106317" y="0"/>
                  </a:cubicBezTo>
                  <a:close/>
                </a:path>
              </a:pathLst>
            </a:custGeom>
            <a:gradFill rotWithShape="true">
              <a:gsLst>
                <a:gs pos="0">
                  <a:srgbClr val="0A396D">
                    <a:alpha val="100000"/>
                  </a:srgbClr>
                </a:gs>
                <a:gs pos="100000">
                  <a:srgbClr val="092647">
                    <a:alpha val="100000"/>
                  </a:srgbClr>
                </a:gs>
              </a:gsLst>
              <a:lin ang="5400000"/>
            </a:gradFill>
            <a:ln w="9525" cap="rnd">
              <a:solidFill>
                <a:srgbClr val="FAF7FC"/>
              </a:solidFill>
              <a:prstDash val="solid"/>
              <a:round/>
            </a:ln>
          </p:spPr>
        </p:sp>
        <p:sp>
          <p:nvSpPr>
            <p:cNvPr name="TextBox 58" id="58"/>
            <p:cNvSpPr txBox="true"/>
            <p:nvPr/>
          </p:nvSpPr>
          <p:spPr>
            <a:xfrm>
              <a:off x="0" y="-38100"/>
              <a:ext cx="1180190" cy="270936"/>
            </a:xfrm>
            <a:prstGeom prst="rect">
              <a:avLst/>
            </a:prstGeom>
          </p:spPr>
          <p:txBody>
            <a:bodyPr anchor="ctr" rtlCol="false" tIns="42102" lIns="42102" bIns="42102" rIns="42102"/>
            <a:lstStyle/>
            <a:p>
              <a:pPr algn="ctr">
                <a:lnSpc>
                  <a:spcPts val="2659"/>
                </a:lnSpc>
              </a:pPr>
            </a:p>
          </p:txBody>
        </p:sp>
      </p:grpSp>
      <p:sp>
        <p:nvSpPr>
          <p:cNvPr name="Freeform 59" id="59"/>
          <p:cNvSpPr/>
          <p:nvPr/>
        </p:nvSpPr>
        <p:spPr>
          <a:xfrm flipH="false" flipV="false" rot="0">
            <a:off x="4872585" y="5253815"/>
            <a:ext cx="2489856" cy="592416"/>
          </a:xfrm>
          <a:custGeom>
            <a:avLst/>
            <a:gdLst/>
            <a:ahLst/>
            <a:cxnLst/>
            <a:rect r="r" b="b" t="t" l="l"/>
            <a:pathLst>
              <a:path h="592416" w="2489856">
                <a:moveTo>
                  <a:pt x="0" y="0"/>
                </a:moveTo>
                <a:lnTo>
                  <a:pt x="2489856" y="0"/>
                </a:lnTo>
                <a:lnTo>
                  <a:pt x="2489856" y="592416"/>
                </a:lnTo>
                <a:lnTo>
                  <a:pt x="0" y="592416"/>
                </a:lnTo>
                <a:lnTo>
                  <a:pt x="0" y="0"/>
                </a:lnTo>
                <a:close/>
              </a:path>
            </a:pathLst>
          </a:custGeom>
          <a:blipFill>
            <a:blip r:embed="rId8"/>
            <a:stretch>
              <a:fillRect l="-2336" t="0" r="0" b="0"/>
            </a:stretch>
          </a:blipFill>
        </p:spPr>
      </p:sp>
      <p:sp>
        <p:nvSpPr>
          <p:cNvPr name="TextBox 60" id="60"/>
          <p:cNvSpPr txBox="true"/>
          <p:nvPr/>
        </p:nvSpPr>
        <p:spPr>
          <a:xfrm rot="0">
            <a:off x="12223206" y="3382292"/>
            <a:ext cx="5539990" cy="5582097"/>
          </a:xfrm>
          <a:prstGeom prst="rect">
            <a:avLst/>
          </a:prstGeom>
        </p:spPr>
        <p:txBody>
          <a:bodyPr anchor="t" rtlCol="false" tIns="0" lIns="0" bIns="0" rIns="0">
            <a:spAutoFit/>
          </a:bodyPr>
          <a:lstStyle/>
          <a:p>
            <a:pPr algn="just">
              <a:lnSpc>
                <a:spcPts val="3749"/>
              </a:lnSpc>
            </a:pPr>
            <a:r>
              <a:rPr lang="en-US" b="true" sz="2499" spc="24">
                <a:solidFill>
                  <a:srgbClr val="FFFFFF"/>
                </a:solidFill>
                <a:latin typeface="Mont 1 Bold"/>
                <a:ea typeface="Mont 1 Bold"/>
                <a:cs typeface="Mont 1 Bold"/>
                <a:sym typeface="Mont 1 Bold"/>
              </a:rPr>
              <a:t>Sanggabiz</a:t>
            </a:r>
            <a:r>
              <a:rPr lang="en-US" sz="2499" spc="24">
                <a:solidFill>
                  <a:srgbClr val="FFFFFF"/>
                </a:solidFill>
                <a:latin typeface="Mont 1"/>
                <a:ea typeface="Mont 1"/>
                <a:cs typeface="Mont 1"/>
                <a:sym typeface="Mont 1"/>
              </a:rPr>
              <a:t> adalah solusi bisnis virtual yang menyediakan layanan </a:t>
            </a:r>
            <a:r>
              <a:rPr lang="en-US" b="true" sz="2499" spc="24">
                <a:solidFill>
                  <a:srgbClr val="FFFFFF"/>
                </a:solidFill>
                <a:latin typeface="Mont 1 Bold"/>
                <a:ea typeface="Mont 1 Bold"/>
                <a:cs typeface="Mont 1 Bold"/>
                <a:sym typeface="Mont 1 Bold"/>
              </a:rPr>
              <a:t>departemen-as-a-service,</a:t>
            </a:r>
            <a:r>
              <a:rPr lang="en-US" sz="2499" spc="24">
                <a:solidFill>
                  <a:srgbClr val="FFFFFF"/>
                </a:solidFill>
                <a:latin typeface="Mont 1"/>
                <a:ea typeface="Mont 1"/>
                <a:cs typeface="Mont 1"/>
                <a:sym typeface="Mont 1"/>
              </a:rPr>
              <a:t> termasuk Keuangan, SDM, Layanan Pelanggan, Pemasaran, Manajemen Proyek, Administrasi, dan Operasional dengan memberdayakan wanita/ibu dan penyandang disabilitas. Kami membantu Anda </a:t>
            </a:r>
            <a:r>
              <a:rPr lang="en-US" b="true" sz="2499" spc="24">
                <a:solidFill>
                  <a:srgbClr val="FFFFFF"/>
                </a:solidFill>
                <a:latin typeface="Mont 1 Bold"/>
                <a:ea typeface="Mont 1 Bold"/>
                <a:cs typeface="Mont 1 Bold"/>
                <a:sym typeface="Mont 1 Bold"/>
              </a:rPr>
              <a:t>menghemat hingga 80% biaya tenaga kerja</a:t>
            </a:r>
            <a:r>
              <a:rPr lang="en-US" sz="2499" spc="24">
                <a:solidFill>
                  <a:srgbClr val="FFFFFF"/>
                </a:solidFill>
                <a:latin typeface="Mont 1"/>
                <a:ea typeface="Mont 1"/>
                <a:cs typeface="Mont 1"/>
                <a:sym typeface="Mont 1"/>
              </a:rPr>
              <a:t>.</a:t>
            </a:r>
          </a:p>
        </p:txBody>
      </p:sp>
      <p:sp>
        <p:nvSpPr>
          <p:cNvPr name="TextBox 61" id="61"/>
          <p:cNvSpPr txBox="true"/>
          <p:nvPr/>
        </p:nvSpPr>
        <p:spPr>
          <a:xfrm rot="0">
            <a:off x="12223206" y="1343759"/>
            <a:ext cx="5011980" cy="2000250"/>
          </a:xfrm>
          <a:prstGeom prst="rect">
            <a:avLst/>
          </a:prstGeom>
        </p:spPr>
        <p:txBody>
          <a:bodyPr anchor="t" rtlCol="false" tIns="0" lIns="0" bIns="0" rIns="0">
            <a:spAutoFit/>
          </a:bodyPr>
          <a:lstStyle/>
          <a:p>
            <a:pPr algn="l">
              <a:lnSpc>
                <a:spcPts val="7523"/>
              </a:lnSpc>
            </a:pPr>
            <a:r>
              <a:rPr lang="en-US" sz="6270" spc="62" b="true">
                <a:solidFill>
                  <a:srgbClr val="FFFFFF"/>
                </a:solidFill>
                <a:latin typeface="Mont 1 Heavy"/>
                <a:ea typeface="Mont 1 Heavy"/>
                <a:cs typeface="Mont 1 Heavy"/>
                <a:sym typeface="Mont 1 Heavy"/>
              </a:rPr>
              <a:t>What is Sanggabiz?</a:t>
            </a:r>
          </a:p>
        </p:txBody>
      </p:sp>
      <p:sp>
        <p:nvSpPr>
          <p:cNvPr name="TextBox 62" id="62"/>
          <p:cNvSpPr txBox="true"/>
          <p:nvPr/>
        </p:nvSpPr>
        <p:spPr>
          <a:xfrm rot="0">
            <a:off x="1469934" y="2059484"/>
            <a:ext cx="2699701" cy="631091"/>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Operation Excellence</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SOP</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Operation Admin</a:t>
            </a:r>
          </a:p>
        </p:txBody>
      </p:sp>
      <p:sp>
        <p:nvSpPr>
          <p:cNvPr name="TextBox 63" id="63"/>
          <p:cNvSpPr txBox="true"/>
          <p:nvPr/>
        </p:nvSpPr>
        <p:spPr>
          <a:xfrm rot="0">
            <a:off x="5231003" y="1614209"/>
            <a:ext cx="2149336" cy="1050125"/>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Billing Management</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Banking/Payment</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Sales Invoice</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Accounting</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Tax Support</a:t>
            </a:r>
          </a:p>
        </p:txBody>
      </p:sp>
      <p:sp>
        <p:nvSpPr>
          <p:cNvPr name="TextBox 64" id="64"/>
          <p:cNvSpPr txBox="true"/>
          <p:nvPr/>
        </p:nvSpPr>
        <p:spPr>
          <a:xfrm rot="0">
            <a:off x="8153091" y="2245338"/>
            <a:ext cx="3059231" cy="1050125"/>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SosMed Content Management</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SosMed Ads Management</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Marketing Performance</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SEO/SEM</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Personal Branding</a:t>
            </a:r>
          </a:p>
        </p:txBody>
      </p:sp>
      <p:sp>
        <p:nvSpPr>
          <p:cNvPr name="TextBox 65" id="65"/>
          <p:cNvSpPr txBox="true"/>
          <p:nvPr/>
        </p:nvSpPr>
        <p:spPr>
          <a:xfrm rot="0">
            <a:off x="8153091" y="7639058"/>
            <a:ext cx="3059231" cy="840307"/>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Payroll</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HR Admin</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Personal Income Tax</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Recruitmen</a:t>
            </a:r>
          </a:p>
        </p:txBody>
      </p:sp>
      <p:sp>
        <p:nvSpPr>
          <p:cNvPr name="TextBox 66" id="66"/>
          <p:cNvSpPr txBox="true"/>
          <p:nvPr/>
        </p:nvSpPr>
        <p:spPr>
          <a:xfrm rot="0">
            <a:off x="5157541" y="8239698"/>
            <a:ext cx="2772417" cy="630865"/>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Customer service</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Knowledge Management</a:t>
            </a:r>
          </a:p>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Training</a:t>
            </a:r>
          </a:p>
        </p:txBody>
      </p:sp>
      <p:sp>
        <p:nvSpPr>
          <p:cNvPr name="TextBox 67" id="67"/>
          <p:cNvSpPr txBox="true"/>
          <p:nvPr/>
        </p:nvSpPr>
        <p:spPr>
          <a:xfrm rot="0">
            <a:off x="1181100" y="6249540"/>
            <a:ext cx="3059231" cy="212057"/>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Project Management</a:t>
            </a:r>
          </a:p>
        </p:txBody>
      </p:sp>
      <p:grpSp>
        <p:nvGrpSpPr>
          <p:cNvPr name="Group 68" id="68"/>
          <p:cNvGrpSpPr>
            <a:grpSpLocks noChangeAspect="true"/>
          </p:cNvGrpSpPr>
          <p:nvPr/>
        </p:nvGrpSpPr>
        <p:grpSpPr>
          <a:xfrm rot="0">
            <a:off x="1677793" y="6804497"/>
            <a:ext cx="2049780" cy="1175729"/>
            <a:chOff x="0" y="0"/>
            <a:chExt cx="7981950" cy="4578350"/>
          </a:xfrm>
        </p:grpSpPr>
        <p:sp>
          <p:nvSpPr>
            <p:cNvPr name="Freeform 69" id="69"/>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F7E9D"/>
            </a:solidFill>
          </p:spPr>
        </p:sp>
        <p:sp>
          <p:nvSpPr>
            <p:cNvPr name="Freeform 70" id="70"/>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71" id="71"/>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72" id="72"/>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73" id="73"/>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3228" r="0" b="-3228"/>
              </a:stretch>
            </a:blipFill>
          </p:spPr>
        </p:sp>
      </p:grpSp>
      <p:sp>
        <p:nvSpPr>
          <p:cNvPr name="Freeform 74" id="74"/>
          <p:cNvSpPr/>
          <p:nvPr/>
        </p:nvSpPr>
        <p:spPr>
          <a:xfrm>
            <a:off x="3935539" y="5550023"/>
            <a:ext cx="937046" cy="2452128"/>
          </a:xfrm>
          <a:custGeom>
            <a:avLst/>
            <a:gdLst/>
            <a:ahLst/>
            <a:cxnLst/>
            <a:rect r="r" b="b" t="t" l="l"/>
            <a:pathLst>
              <a:path h="2452128" w="937046">
                <a:moveTo>
                  <a:pt x="937046" y="0"/>
                </a:moveTo>
                <a:lnTo>
                  <a:pt x="822746" y="0"/>
                </a:lnTo>
                <a:cubicBezTo>
                  <a:pt x="792431" y="0"/>
                  <a:pt x="763359" y="12043"/>
                  <a:pt x="741924" y="33478"/>
                </a:cubicBezTo>
                <a:cubicBezTo>
                  <a:pt x="720488" y="54913"/>
                  <a:pt x="708446" y="83986"/>
                  <a:pt x="708446" y="114300"/>
                </a:cubicBezTo>
                <a:lnTo>
                  <a:pt x="708446" y="2223528"/>
                </a:lnTo>
                <a:cubicBezTo>
                  <a:pt x="708446" y="2284157"/>
                  <a:pt x="684361" y="2342302"/>
                  <a:pt x="641491" y="2385172"/>
                </a:cubicBezTo>
                <a:cubicBezTo>
                  <a:pt x="598620" y="2428044"/>
                  <a:pt x="540474" y="2452128"/>
                  <a:pt x="479846" y="2452128"/>
                </a:cubicBezTo>
                <a:lnTo>
                  <a:pt x="0" y="2452128"/>
                </a:lnTo>
              </a:path>
            </a:pathLst>
          </a:custGeom>
          <a:ln cap="rnd" w="19050">
            <a:gradFill>
              <a:gsLst>
                <a:gs pos="0">
                  <a:srgbClr val="092647">
                    <a:alpha val="100000"/>
                  </a:srgbClr>
                </a:gs>
                <a:gs pos="100000">
                  <a:srgbClr val="0A396D">
                    <a:alpha val="100000"/>
                  </a:srgbClr>
                </a:gs>
              </a:gsLst>
              <a:lin ang="5400000"/>
            </a:gradFill>
            <a:prstDash val="solid"/>
            <a:headEnd type="none" len="sm" w="sm"/>
            <a:tailEnd type="none" len="sm" w="sm"/>
          </a:ln>
        </p:spPr>
      </p:sp>
      <p:sp>
        <p:nvSpPr>
          <p:cNvPr name="TextBox 75" id="75"/>
          <p:cNvSpPr txBox="true"/>
          <p:nvPr/>
        </p:nvSpPr>
        <p:spPr>
          <a:xfrm rot="0">
            <a:off x="1333500" y="8299661"/>
            <a:ext cx="3059231" cy="211982"/>
          </a:xfrm>
          <a:prstGeom prst="rect">
            <a:avLst/>
          </a:prstGeom>
        </p:spPr>
        <p:txBody>
          <a:bodyPr anchor="t" rtlCol="false" tIns="0" lIns="0" bIns="0" rIns="0">
            <a:spAutoFit/>
          </a:bodyPr>
          <a:lstStyle/>
          <a:p>
            <a:pPr algn="just" marL="280669" indent="-140335" lvl="1">
              <a:lnSpc>
                <a:spcPts val="1689"/>
              </a:lnSpc>
              <a:buFont typeface="Arial"/>
              <a:buChar char="•"/>
            </a:pPr>
            <a:r>
              <a:rPr lang="en-US" b="true" sz="1299" spc="12">
                <a:solidFill>
                  <a:srgbClr val="0D2A4E"/>
                </a:solidFill>
                <a:latin typeface="Mont 1 Bold"/>
                <a:ea typeface="Mont 1 Bold"/>
                <a:cs typeface="Mont 1 Bold"/>
                <a:sym typeface="Mont 1 Bold"/>
              </a:rPr>
              <a:t>Telemarketing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2647">
                <a:alpha val="100000"/>
              </a:srgbClr>
            </a:gs>
            <a:gs pos="100000">
              <a:srgbClr val="0A396D">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374190" y="173546"/>
            <a:ext cx="2763436" cy="657510"/>
          </a:xfrm>
          <a:custGeom>
            <a:avLst/>
            <a:gdLst/>
            <a:ahLst/>
            <a:cxnLst/>
            <a:rect r="r" b="b" t="t" l="l"/>
            <a:pathLst>
              <a:path h="657510" w="2763436">
                <a:moveTo>
                  <a:pt x="0" y="0"/>
                </a:moveTo>
                <a:lnTo>
                  <a:pt x="2763437" y="0"/>
                </a:lnTo>
                <a:lnTo>
                  <a:pt x="2763437" y="657510"/>
                </a:lnTo>
                <a:lnTo>
                  <a:pt x="0" y="657510"/>
                </a:lnTo>
                <a:lnTo>
                  <a:pt x="0" y="0"/>
                </a:lnTo>
                <a:close/>
              </a:path>
            </a:pathLst>
          </a:custGeom>
          <a:blipFill>
            <a:blip r:embed="rId2"/>
            <a:stretch>
              <a:fillRect l="-2336" t="0" r="0" b="0"/>
            </a:stretch>
          </a:blipFill>
        </p:spPr>
      </p:sp>
      <p:grpSp>
        <p:nvGrpSpPr>
          <p:cNvPr name="Group 3" id="3"/>
          <p:cNvGrpSpPr/>
          <p:nvPr/>
        </p:nvGrpSpPr>
        <p:grpSpPr>
          <a:xfrm rot="0">
            <a:off x="1532092" y="1956342"/>
            <a:ext cx="4920320" cy="8140158"/>
            <a:chOff x="0" y="0"/>
            <a:chExt cx="799453" cy="1322612"/>
          </a:xfrm>
        </p:grpSpPr>
        <p:sp>
          <p:nvSpPr>
            <p:cNvPr name="Freeform 4" id="4"/>
            <p:cNvSpPr/>
            <p:nvPr/>
          </p:nvSpPr>
          <p:spPr>
            <a:xfrm flipH="false" flipV="false" rot="0">
              <a:off x="0" y="0"/>
              <a:ext cx="799453" cy="1322612"/>
            </a:xfrm>
            <a:custGeom>
              <a:avLst/>
              <a:gdLst/>
              <a:ahLst/>
              <a:cxnLst/>
              <a:rect r="r" b="b" t="t" l="l"/>
              <a:pathLst>
                <a:path h="1322612" w="799453">
                  <a:moveTo>
                    <a:pt x="47204" y="0"/>
                  </a:moveTo>
                  <a:lnTo>
                    <a:pt x="752249" y="0"/>
                  </a:lnTo>
                  <a:cubicBezTo>
                    <a:pt x="778319" y="0"/>
                    <a:pt x="799453" y="21134"/>
                    <a:pt x="799453" y="47204"/>
                  </a:cubicBezTo>
                  <a:lnTo>
                    <a:pt x="799453" y="1275408"/>
                  </a:lnTo>
                  <a:cubicBezTo>
                    <a:pt x="799453" y="1287927"/>
                    <a:pt x="794480" y="1299934"/>
                    <a:pt x="785627" y="1308786"/>
                  </a:cubicBezTo>
                  <a:cubicBezTo>
                    <a:pt x="776775" y="1317639"/>
                    <a:pt x="764768" y="1322612"/>
                    <a:pt x="752249" y="1322612"/>
                  </a:cubicBezTo>
                  <a:lnTo>
                    <a:pt x="47204" y="1322612"/>
                  </a:lnTo>
                  <a:cubicBezTo>
                    <a:pt x="34685" y="1322612"/>
                    <a:pt x="22678" y="1317639"/>
                    <a:pt x="13826" y="1308786"/>
                  </a:cubicBezTo>
                  <a:cubicBezTo>
                    <a:pt x="4973" y="1299934"/>
                    <a:pt x="0" y="1287927"/>
                    <a:pt x="0" y="1275408"/>
                  </a:cubicBezTo>
                  <a:lnTo>
                    <a:pt x="0" y="47204"/>
                  </a:lnTo>
                  <a:cubicBezTo>
                    <a:pt x="0" y="34685"/>
                    <a:pt x="4973" y="22678"/>
                    <a:pt x="13826" y="13826"/>
                  </a:cubicBezTo>
                  <a:cubicBezTo>
                    <a:pt x="22678" y="4973"/>
                    <a:pt x="34685" y="0"/>
                    <a:pt x="47204" y="0"/>
                  </a:cubicBezTo>
                  <a:close/>
                </a:path>
              </a:pathLst>
            </a:custGeom>
            <a:solidFill>
              <a:srgbClr val="2F7E9D"/>
            </a:solidFill>
            <a:ln w="66675" cap="rnd">
              <a:solidFill>
                <a:srgbClr val="FFFFFF"/>
              </a:solidFill>
              <a:prstDash val="solid"/>
              <a:round/>
            </a:ln>
          </p:spPr>
        </p:sp>
        <p:sp>
          <p:nvSpPr>
            <p:cNvPr name="TextBox 5" id="5"/>
            <p:cNvSpPr txBox="true"/>
            <p:nvPr/>
          </p:nvSpPr>
          <p:spPr>
            <a:xfrm>
              <a:off x="0" y="-19050"/>
              <a:ext cx="799453" cy="1341662"/>
            </a:xfrm>
            <a:prstGeom prst="rect">
              <a:avLst/>
            </a:prstGeom>
          </p:spPr>
          <p:txBody>
            <a:bodyPr anchor="ctr" rtlCol="false" tIns="106338" lIns="106338" bIns="106338" rIns="106338"/>
            <a:lstStyle/>
            <a:p>
              <a:pPr algn="ctr">
                <a:lnSpc>
                  <a:spcPts val="1916"/>
                </a:lnSpc>
              </a:pPr>
            </a:p>
          </p:txBody>
        </p:sp>
      </p:grpSp>
      <p:grpSp>
        <p:nvGrpSpPr>
          <p:cNvPr name="Group 6" id="6"/>
          <p:cNvGrpSpPr/>
          <p:nvPr/>
        </p:nvGrpSpPr>
        <p:grpSpPr>
          <a:xfrm rot="0">
            <a:off x="2187284" y="1516522"/>
            <a:ext cx="3503127" cy="744271"/>
            <a:chOff x="0" y="0"/>
            <a:chExt cx="562413" cy="119490"/>
          </a:xfrm>
        </p:grpSpPr>
        <p:sp>
          <p:nvSpPr>
            <p:cNvPr name="Freeform 7" id="7"/>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8" id="8"/>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grpSp>
        <p:nvGrpSpPr>
          <p:cNvPr name="Group 9" id="9"/>
          <p:cNvGrpSpPr/>
          <p:nvPr/>
        </p:nvGrpSpPr>
        <p:grpSpPr>
          <a:xfrm rot="0">
            <a:off x="6785786" y="1956342"/>
            <a:ext cx="4916452" cy="8140158"/>
            <a:chOff x="0" y="0"/>
            <a:chExt cx="798825" cy="1322612"/>
          </a:xfrm>
        </p:grpSpPr>
        <p:sp>
          <p:nvSpPr>
            <p:cNvPr name="Freeform 10" id="10"/>
            <p:cNvSpPr/>
            <p:nvPr/>
          </p:nvSpPr>
          <p:spPr>
            <a:xfrm flipH="false" flipV="false" rot="0">
              <a:off x="0" y="0"/>
              <a:ext cx="798825" cy="1322612"/>
            </a:xfrm>
            <a:custGeom>
              <a:avLst/>
              <a:gdLst/>
              <a:ahLst/>
              <a:cxnLst/>
              <a:rect r="r" b="b" t="t" l="l"/>
              <a:pathLst>
                <a:path h="1322612" w="798825">
                  <a:moveTo>
                    <a:pt x="47241" y="0"/>
                  </a:moveTo>
                  <a:lnTo>
                    <a:pt x="751584" y="0"/>
                  </a:lnTo>
                  <a:cubicBezTo>
                    <a:pt x="764113" y="0"/>
                    <a:pt x="776129" y="4977"/>
                    <a:pt x="784988" y="13837"/>
                  </a:cubicBezTo>
                  <a:cubicBezTo>
                    <a:pt x="793847" y="22696"/>
                    <a:pt x="798825" y="34712"/>
                    <a:pt x="798825" y="47241"/>
                  </a:cubicBezTo>
                  <a:lnTo>
                    <a:pt x="798825" y="1275371"/>
                  </a:lnTo>
                  <a:cubicBezTo>
                    <a:pt x="798825" y="1287900"/>
                    <a:pt x="793847" y="1299916"/>
                    <a:pt x="784988" y="1308775"/>
                  </a:cubicBezTo>
                  <a:cubicBezTo>
                    <a:pt x="776129" y="1317635"/>
                    <a:pt x="764113" y="1322612"/>
                    <a:pt x="751584" y="1322612"/>
                  </a:cubicBezTo>
                  <a:lnTo>
                    <a:pt x="47241" y="1322612"/>
                  </a:lnTo>
                  <a:cubicBezTo>
                    <a:pt x="21150" y="1322612"/>
                    <a:pt x="0" y="1301461"/>
                    <a:pt x="0" y="1275371"/>
                  </a:cubicBezTo>
                  <a:lnTo>
                    <a:pt x="0" y="47241"/>
                  </a:lnTo>
                  <a:cubicBezTo>
                    <a:pt x="0" y="34712"/>
                    <a:pt x="4977" y="22696"/>
                    <a:pt x="13837" y="13837"/>
                  </a:cubicBezTo>
                  <a:cubicBezTo>
                    <a:pt x="22696" y="4977"/>
                    <a:pt x="34712" y="0"/>
                    <a:pt x="47241" y="0"/>
                  </a:cubicBezTo>
                  <a:close/>
                </a:path>
              </a:pathLst>
            </a:custGeom>
            <a:solidFill>
              <a:srgbClr val="2F7E9D"/>
            </a:solidFill>
            <a:ln w="66675" cap="rnd">
              <a:solidFill>
                <a:srgbClr val="FFFFFF"/>
              </a:solidFill>
              <a:prstDash val="solid"/>
              <a:round/>
            </a:ln>
          </p:spPr>
        </p:sp>
        <p:sp>
          <p:nvSpPr>
            <p:cNvPr name="TextBox 11" id="11"/>
            <p:cNvSpPr txBox="true"/>
            <p:nvPr/>
          </p:nvSpPr>
          <p:spPr>
            <a:xfrm>
              <a:off x="0" y="-19050"/>
              <a:ext cx="798825" cy="1341662"/>
            </a:xfrm>
            <a:prstGeom prst="rect">
              <a:avLst/>
            </a:prstGeom>
          </p:spPr>
          <p:txBody>
            <a:bodyPr anchor="ctr" rtlCol="false" tIns="106338" lIns="106338" bIns="106338" rIns="106338"/>
            <a:lstStyle/>
            <a:p>
              <a:pPr algn="ctr">
                <a:lnSpc>
                  <a:spcPts val="1916"/>
                </a:lnSpc>
              </a:pPr>
            </a:p>
          </p:txBody>
        </p:sp>
      </p:grpSp>
      <p:sp>
        <p:nvSpPr>
          <p:cNvPr name="Freeform 12" id="12"/>
          <p:cNvSpPr/>
          <p:nvPr/>
        </p:nvSpPr>
        <p:spPr>
          <a:xfrm flipH="false" flipV="false" rot="0">
            <a:off x="7091928" y="2422373"/>
            <a:ext cx="745942" cy="1018036"/>
          </a:xfrm>
          <a:custGeom>
            <a:avLst/>
            <a:gdLst/>
            <a:ahLst/>
            <a:cxnLst/>
            <a:rect r="r" b="b" t="t" l="l"/>
            <a:pathLst>
              <a:path h="1018036" w="745942">
                <a:moveTo>
                  <a:pt x="0" y="0"/>
                </a:moveTo>
                <a:lnTo>
                  <a:pt x="745943" y="0"/>
                </a:lnTo>
                <a:lnTo>
                  <a:pt x="745943" y="1018036"/>
                </a:lnTo>
                <a:lnTo>
                  <a:pt x="0" y="10180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7120486" y="5417538"/>
            <a:ext cx="750083" cy="751449"/>
          </a:xfrm>
          <a:custGeom>
            <a:avLst/>
            <a:gdLst/>
            <a:ahLst/>
            <a:cxnLst/>
            <a:rect r="r" b="b" t="t" l="l"/>
            <a:pathLst>
              <a:path h="751449" w="750083">
                <a:moveTo>
                  <a:pt x="0" y="0"/>
                </a:moveTo>
                <a:lnTo>
                  <a:pt x="750083" y="0"/>
                </a:lnTo>
                <a:lnTo>
                  <a:pt x="750083" y="751449"/>
                </a:lnTo>
                <a:lnTo>
                  <a:pt x="0" y="751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7091928" y="6668394"/>
            <a:ext cx="750083" cy="405045"/>
          </a:xfrm>
          <a:custGeom>
            <a:avLst/>
            <a:gdLst/>
            <a:ahLst/>
            <a:cxnLst/>
            <a:rect r="r" b="b" t="t" l="l"/>
            <a:pathLst>
              <a:path h="405045" w="750083">
                <a:moveTo>
                  <a:pt x="0" y="0"/>
                </a:moveTo>
                <a:lnTo>
                  <a:pt x="750083" y="0"/>
                </a:lnTo>
                <a:lnTo>
                  <a:pt x="750083" y="405045"/>
                </a:lnTo>
                <a:lnTo>
                  <a:pt x="0" y="405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7120486" y="4344233"/>
            <a:ext cx="491496" cy="702137"/>
          </a:xfrm>
          <a:custGeom>
            <a:avLst/>
            <a:gdLst/>
            <a:ahLst/>
            <a:cxnLst/>
            <a:rect r="r" b="b" t="t" l="l"/>
            <a:pathLst>
              <a:path h="702137" w="491496">
                <a:moveTo>
                  <a:pt x="0" y="0"/>
                </a:moveTo>
                <a:lnTo>
                  <a:pt x="491496" y="0"/>
                </a:lnTo>
                <a:lnTo>
                  <a:pt x="491496" y="702137"/>
                </a:lnTo>
                <a:lnTo>
                  <a:pt x="0" y="7021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7120486" y="8226459"/>
            <a:ext cx="750083" cy="851801"/>
          </a:xfrm>
          <a:custGeom>
            <a:avLst/>
            <a:gdLst/>
            <a:ahLst/>
            <a:cxnLst/>
            <a:rect r="r" b="b" t="t" l="l"/>
            <a:pathLst>
              <a:path h="851801" w="750083">
                <a:moveTo>
                  <a:pt x="0" y="0"/>
                </a:moveTo>
                <a:lnTo>
                  <a:pt x="750083" y="0"/>
                </a:lnTo>
                <a:lnTo>
                  <a:pt x="750083" y="851801"/>
                </a:lnTo>
                <a:lnTo>
                  <a:pt x="0" y="8518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7" id="17"/>
          <p:cNvGrpSpPr/>
          <p:nvPr/>
        </p:nvGrpSpPr>
        <p:grpSpPr>
          <a:xfrm rot="0">
            <a:off x="7518668" y="1516522"/>
            <a:ext cx="3503127" cy="744271"/>
            <a:chOff x="0" y="0"/>
            <a:chExt cx="562413" cy="119490"/>
          </a:xfrm>
        </p:grpSpPr>
        <p:sp>
          <p:nvSpPr>
            <p:cNvPr name="Freeform 18" id="18"/>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19" id="19"/>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sp>
        <p:nvSpPr>
          <p:cNvPr name="Freeform 20" id="20"/>
          <p:cNvSpPr/>
          <p:nvPr/>
        </p:nvSpPr>
        <p:spPr>
          <a:xfrm flipH="false" flipV="false" rot="0">
            <a:off x="1838234" y="2527494"/>
            <a:ext cx="745942" cy="1018036"/>
          </a:xfrm>
          <a:custGeom>
            <a:avLst/>
            <a:gdLst/>
            <a:ahLst/>
            <a:cxnLst/>
            <a:rect r="r" b="b" t="t" l="l"/>
            <a:pathLst>
              <a:path h="1018036" w="745942">
                <a:moveTo>
                  <a:pt x="0" y="0"/>
                </a:moveTo>
                <a:lnTo>
                  <a:pt x="745942" y="0"/>
                </a:lnTo>
                <a:lnTo>
                  <a:pt x="745942" y="1018035"/>
                </a:lnTo>
                <a:lnTo>
                  <a:pt x="0" y="10180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1866791" y="5417538"/>
            <a:ext cx="750083" cy="751449"/>
          </a:xfrm>
          <a:custGeom>
            <a:avLst/>
            <a:gdLst/>
            <a:ahLst/>
            <a:cxnLst/>
            <a:rect r="r" b="b" t="t" l="l"/>
            <a:pathLst>
              <a:path h="751449" w="750083">
                <a:moveTo>
                  <a:pt x="0" y="0"/>
                </a:moveTo>
                <a:lnTo>
                  <a:pt x="750083" y="0"/>
                </a:lnTo>
                <a:lnTo>
                  <a:pt x="750083" y="751449"/>
                </a:lnTo>
                <a:lnTo>
                  <a:pt x="0" y="751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866791" y="6668394"/>
            <a:ext cx="750083" cy="405045"/>
          </a:xfrm>
          <a:custGeom>
            <a:avLst/>
            <a:gdLst/>
            <a:ahLst/>
            <a:cxnLst/>
            <a:rect r="r" b="b" t="t" l="l"/>
            <a:pathLst>
              <a:path h="405045" w="750083">
                <a:moveTo>
                  <a:pt x="0" y="0"/>
                </a:moveTo>
                <a:lnTo>
                  <a:pt x="750083" y="0"/>
                </a:lnTo>
                <a:lnTo>
                  <a:pt x="750083" y="405045"/>
                </a:lnTo>
                <a:lnTo>
                  <a:pt x="0" y="405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838234" y="4344233"/>
            <a:ext cx="493652" cy="705217"/>
          </a:xfrm>
          <a:custGeom>
            <a:avLst/>
            <a:gdLst/>
            <a:ahLst/>
            <a:cxnLst/>
            <a:rect r="r" b="b" t="t" l="l"/>
            <a:pathLst>
              <a:path h="705217" w="493652">
                <a:moveTo>
                  <a:pt x="0" y="0"/>
                </a:moveTo>
                <a:lnTo>
                  <a:pt x="493652" y="0"/>
                </a:lnTo>
                <a:lnTo>
                  <a:pt x="493652" y="705217"/>
                </a:lnTo>
                <a:lnTo>
                  <a:pt x="0" y="7052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0">
            <a:off x="1866791" y="8226459"/>
            <a:ext cx="750083" cy="851801"/>
          </a:xfrm>
          <a:custGeom>
            <a:avLst/>
            <a:gdLst/>
            <a:ahLst/>
            <a:cxnLst/>
            <a:rect r="r" b="b" t="t" l="l"/>
            <a:pathLst>
              <a:path h="851801" w="750083">
                <a:moveTo>
                  <a:pt x="0" y="0"/>
                </a:moveTo>
                <a:lnTo>
                  <a:pt x="750083" y="0"/>
                </a:lnTo>
                <a:lnTo>
                  <a:pt x="750083" y="851801"/>
                </a:lnTo>
                <a:lnTo>
                  <a:pt x="0" y="8518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5" id="25"/>
          <p:cNvGrpSpPr/>
          <p:nvPr/>
        </p:nvGrpSpPr>
        <p:grpSpPr>
          <a:xfrm rot="0">
            <a:off x="12035614" y="1905401"/>
            <a:ext cx="4902267" cy="8191099"/>
            <a:chOff x="0" y="0"/>
            <a:chExt cx="796520" cy="1330889"/>
          </a:xfrm>
        </p:grpSpPr>
        <p:sp>
          <p:nvSpPr>
            <p:cNvPr name="Freeform 26" id="26"/>
            <p:cNvSpPr/>
            <p:nvPr/>
          </p:nvSpPr>
          <p:spPr>
            <a:xfrm flipH="false" flipV="false" rot="0">
              <a:off x="0" y="0"/>
              <a:ext cx="796520" cy="1330889"/>
            </a:xfrm>
            <a:custGeom>
              <a:avLst/>
              <a:gdLst/>
              <a:ahLst/>
              <a:cxnLst/>
              <a:rect r="r" b="b" t="t" l="l"/>
              <a:pathLst>
                <a:path h="1330889" w="796520">
                  <a:moveTo>
                    <a:pt x="47378" y="0"/>
                  </a:moveTo>
                  <a:lnTo>
                    <a:pt x="749142" y="0"/>
                  </a:lnTo>
                  <a:cubicBezTo>
                    <a:pt x="775308" y="0"/>
                    <a:pt x="796520" y="21212"/>
                    <a:pt x="796520" y="47378"/>
                  </a:cubicBezTo>
                  <a:lnTo>
                    <a:pt x="796520" y="1283511"/>
                  </a:lnTo>
                  <a:cubicBezTo>
                    <a:pt x="796520" y="1309677"/>
                    <a:pt x="775308" y="1330889"/>
                    <a:pt x="749142" y="1330889"/>
                  </a:cubicBezTo>
                  <a:lnTo>
                    <a:pt x="47378" y="1330889"/>
                  </a:lnTo>
                  <a:cubicBezTo>
                    <a:pt x="21212" y="1330889"/>
                    <a:pt x="0" y="1309677"/>
                    <a:pt x="0" y="1283511"/>
                  </a:cubicBezTo>
                  <a:lnTo>
                    <a:pt x="0" y="47378"/>
                  </a:lnTo>
                  <a:cubicBezTo>
                    <a:pt x="0" y="21212"/>
                    <a:pt x="21212" y="0"/>
                    <a:pt x="47378" y="0"/>
                  </a:cubicBezTo>
                  <a:close/>
                </a:path>
              </a:pathLst>
            </a:custGeom>
            <a:solidFill>
              <a:srgbClr val="2F7E9D"/>
            </a:solidFill>
            <a:ln w="66675" cap="rnd">
              <a:solidFill>
                <a:srgbClr val="FFFFFF"/>
              </a:solidFill>
              <a:prstDash val="solid"/>
              <a:round/>
            </a:ln>
          </p:spPr>
        </p:sp>
        <p:sp>
          <p:nvSpPr>
            <p:cNvPr name="TextBox 27" id="27"/>
            <p:cNvSpPr txBox="true"/>
            <p:nvPr/>
          </p:nvSpPr>
          <p:spPr>
            <a:xfrm>
              <a:off x="0" y="-19050"/>
              <a:ext cx="796520" cy="1349939"/>
            </a:xfrm>
            <a:prstGeom prst="rect">
              <a:avLst/>
            </a:prstGeom>
          </p:spPr>
          <p:txBody>
            <a:bodyPr anchor="ctr" rtlCol="false" tIns="106338" lIns="106338" bIns="106338" rIns="106338"/>
            <a:lstStyle/>
            <a:p>
              <a:pPr algn="ctr">
                <a:lnSpc>
                  <a:spcPts val="1916"/>
                </a:lnSpc>
              </a:pPr>
            </a:p>
          </p:txBody>
        </p:sp>
      </p:grpSp>
      <p:grpSp>
        <p:nvGrpSpPr>
          <p:cNvPr name="Group 28" id="28"/>
          <p:cNvGrpSpPr/>
          <p:nvPr/>
        </p:nvGrpSpPr>
        <p:grpSpPr>
          <a:xfrm rot="0">
            <a:off x="12798638" y="1533266"/>
            <a:ext cx="3503127" cy="744271"/>
            <a:chOff x="0" y="0"/>
            <a:chExt cx="562413" cy="119490"/>
          </a:xfrm>
        </p:grpSpPr>
        <p:sp>
          <p:nvSpPr>
            <p:cNvPr name="Freeform 29" id="29"/>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30" id="30"/>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sp>
        <p:nvSpPr>
          <p:cNvPr name="Freeform 31" id="31"/>
          <p:cNvSpPr/>
          <p:nvPr/>
        </p:nvSpPr>
        <p:spPr>
          <a:xfrm flipH="false" flipV="false" rot="0">
            <a:off x="12311871" y="2406601"/>
            <a:ext cx="745942" cy="1018036"/>
          </a:xfrm>
          <a:custGeom>
            <a:avLst/>
            <a:gdLst/>
            <a:ahLst/>
            <a:cxnLst/>
            <a:rect r="r" b="b" t="t" l="l"/>
            <a:pathLst>
              <a:path h="1018036" w="745942">
                <a:moveTo>
                  <a:pt x="0" y="0"/>
                </a:moveTo>
                <a:lnTo>
                  <a:pt x="745942" y="0"/>
                </a:lnTo>
                <a:lnTo>
                  <a:pt x="745942" y="1018035"/>
                </a:lnTo>
                <a:lnTo>
                  <a:pt x="0" y="10180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12340428" y="5366597"/>
            <a:ext cx="750083" cy="751449"/>
          </a:xfrm>
          <a:custGeom>
            <a:avLst/>
            <a:gdLst/>
            <a:ahLst/>
            <a:cxnLst/>
            <a:rect r="r" b="b" t="t" l="l"/>
            <a:pathLst>
              <a:path h="751449" w="750083">
                <a:moveTo>
                  <a:pt x="0" y="0"/>
                </a:moveTo>
                <a:lnTo>
                  <a:pt x="750083" y="0"/>
                </a:lnTo>
                <a:lnTo>
                  <a:pt x="750083" y="751450"/>
                </a:lnTo>
                <a:lnTo>
                  <a:pt x="0" y="7514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0">
            <a:off x="12340428" y="6617454"/>
            <a:ext cx="750083" cy="405045"/>
          </a:xfrm>
          <a:custGeom>
            <a:avLst/>
            <a:gdLst/>
            <a:ahLst/>
            <a:cxnLst/>
            <a:rect r="r" b="b" t="t" l="l"/>
            <a:pathLst>
              <a:path h="405045" w="750083">
                <a:moveTo>
                  <a:pt x="0" y="0"/>
                </a:moveTo>
                <a:lnTo>
                  <a:pt x="750083" y="0"/>
                </a:lnTo>
                <a:lnTo>
                  <a:pt x="750083" y="405045"/>
                </a:lnTo>
                <a:lnTo>
                  <a:pt x="0" y="405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12468644" y="4332701"/>
            <a:ext cx="493652" cy="705217"/>
          </a:xfrm>
          <a:custGeom>
            <a:avLst/>
            <a:gdLst/>
            <a:ahLst/>
            <a:cxnLst/>
            <a:rect r="r" b="b" t="t" l="l"/>
            <a:pathLst>
              <a:path h="705217" w="493652">
                <a:moveTo>
                  <a:pt x="0" y="0"/>
                </a:moveTo>
                <a:lnTo>
                  <a:pt x="493652" y="0"/>
                </a:lnTo>
                <a:lnTo>
                  <a:pt x="493652" y="705216"/>
                </a:lnTo>
                <a:lnTo>
                  <a:pt x="0" y="7052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2378514" y="8226459"/>
            <a:ext cx="750083" cy="851801"/>
          </a:xfrm>
          <a:custGeom>
            <a:avLst/>
            <a:gdLst/>
            <a:ahLst/>
            <a:cxnLst/>
            <a:rect r="r" b="b" t="t" l="l"/>
            <a:pathLst>
              <a:path h="851801" w="750083">
                <a:moveTo>
                  <a:pt x="0" y="0"/>
                </a:moveTo>
                <a:lnTo>
                  <a:pt x="750083" y="0"/>
                </a:lnTo>
                <a:lnTo>
                  <a:pt x="750083" y="851801"/>
                </a:lnTo>
                <a:lnTo>
                  <a:pt x="0" y="8518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6" id="36"/>
          <p:cNvSpPr txBox="true"/>
          <p:nvPr/>
        </p:nvSpPr>
        <p:spPr>
          <a:xfrm rot="0">
            <a:off x="8042421" y="2413194"/>
            <a:ext cx="2979375" cy="14173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Experts in Marketing, Customer Retention, Digital Product, Operations, Career Dev</a:t>
            </a:r>
          </a:p>
        </p:txBody>
      </p:sp>
      <p:sp>
        <p:nvSpPr>
          <p:cNvPr name="TextBox 37" id="37"/>
          <p:cNvSpPr txBox="true"/>
          <p:nvPr/>
        </p:nvSpPr>
        <p:spPr>
          <a:xfrm rot="0">
            <a:off x="8075119" y="5276029"/>
            <a:ext cx="2946677" cy="10744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Academia, Government, Manufacturing, Retail, Technology</a:t>
            </a:r>
          </a:p>
        </p:txBody>
      </p:sp>
      <p:sp>
        <p:nvSpPr>
          <p:cNvPr name="TextBox 38" id="38"/>
          <p:cNvSpPr txBox="true"/>
          <p:nvPr/>
        </p:nvSpPr>
        <p:spPr>
          <a:xfrm rot="0">
            <a:off x="8046561" y="6498890"/>
            <a:ext cx="2946677" cy="14173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Rey.ID, KitaBisa, Indosat Ooredoo Hutchison, Amar Bank,  Glints, UMY, Inspirasi Foundation</a:t>
            </a:r>
          </a:p>
        </p:txBody>
      </p:sp>
      <p:sp>
        <p:nvSpPr>
          <p:cNvPr name="TextBox 39" id="39"/>
          <p:cNvSpPr txBox="true"/>
          <p:nvPr/>
        </p:nvSpPr>
        <p:spPr>
          <a:xfrm rot="0">
            <a:off x="8030193" y="4218401"/>
            <a:ext cx="2480078" cy="7315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Semarang, Jakarta, Yogyakarta</a:t>
            </a:r>
          </a:p>
        </p:txBody>
      </p:sp>
      <p:sp>
        <p:nvSpPr>
          <p:cNvPr name="TextBox 40" id="40"/>
          <p:cNvSpPr txBox="true"/>
          <p:nvPr/>
        </p:nvSpPr>
        <p:spPr>
          <a:xfrm rot="0">
            <a:off x="7837871" y="8137781"/>
            <a:ext cx="3617595" cy="1760220"/>
          </a:xfrm>
          <a:prstGeom prst="rect">
            <a:avLst/>
          </a:prstGeom>
        </p:spPr>
        <p:txBody>
          <a:bodyPr anchor="t" rtlCol="false" tIns="0" lIns="0" bIns="0" rIns="0">
            <a:spAutoFit/>
          </a:bodyPr>
          <a:lstStyle/>
          <a:p>
            <a:pPr algn="just" marL="388620" indent="-194310" lvl="1">
              <a:lnSpc>
                <a:spcPts val="2700"/>
              </a:lnSpc>
              <a:buFont typeface="Arial"/>
              <a:buChar char="•"/>
            </a:pPr>
            <a:r>
              <a:rPr lang="en-US" sz="1800" spc="18">
                <a:solidFill>
                  <a:srgbClr val="FFFFFF"/>
                </a:solidFill>
                <a:latin typeface="Mont 2"/>
                <a:ea typeface="Mont 2"/>
                <a:cs typeface="Mont 2"/>
                <a:sym typeface="Mont 2"/>
              </a:rPr>
              <a:t>Social Media Mgt</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Customer Retention</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Digital Finance System</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Organizational Innovation</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Finance/Accounting/Tax</a:t>
            </a:r>
          </a:p>
        </p:txBody>
      </p:sp>
      <p:sp>
        <p:nvSpPr>
          <p:cNvPr name="TextBox 41" id="41"/>
          <p:cNvSpPr txBox="true"/>
          <p:nvPr/>
        </p:nvSpPr>
        <p:spPr>
          <a:xfrm rot="0">
            <a:off x="1532092" y="330851"/>
            <a:ext cx="15223817" cy="1023746"/>
          </a:xfrm>
          <a:prstGeom prst="rect">
            <a:avLst/>
          </a:prstGeom>
        </p:spPr>
        <p:txBody>
          <a:bodyPr anchor="t" rtlCol="false" tIns="0" lIns="0" bIns="0" rIns="0">
            <a:spAutoFit/>
          </a:bodyPr>
          <a:lstStyle/>
          <a:p>
            <a:pPr algn="ctr">
              <a:lnSpc>
                <a:spcPts val="6383"/>
              </a:lnSpc>
            </a:pPr>
            <a:r>
              <a:rPr lang="en-US" b="true" sz="5599" spc="-207">
                <a:solidFill>
                  <a:srgbClr val="FFFFFF"/>
                </a:solidFill>
                <a:latin typeface="Mont 2 Bold"/>
                <a:ea typeface="Mont 2 Bold"/>
                <a:cs typeface="Mont 2 Bold"/>
                <a:sym typeface="Mont 2 Bold"/>
              </a:rPr>
              <a:t>What Our Experts Have Done</a:t>
            </a:r>
          </a:p>
        </p:txBody>
      </p:sp>
      <p:sp>
        <p:nvSpPr>
          <p:cNvPr name="TextBox 42" id="42"/>
          <p:cNvSpPr txBox="true"/>
          <p:nvPr/>
        </p:nvSpPr>
        <p:spPr>
          <a:xfrm rot="0">
            <a:off x="1929241" y="1640035"/>
            <a:ext cx="3942145" cy="445008"/>
          </a:xfrm>
          <a:prstGeom prst="rect">
            <a:avLst/>
          </a:prstGeom>
        </p:spPr>
        <p:txBody>
          <a:bodyPr anchor="t" rtlCol="false" tIns="0" lIns="0" bIns="0" rIns="0">
            <a:spAutoFit/>
          </a:bodyPr>
          <a:lstStyle/>
          <a:p>
            <a:pPr algn="ctr">
              <a:lnSpc>
                <a:spcPts val="2975"/>
              </a:lnSpc>
            </a:pPr>
            <a:r>
              <a:rPr lang="en-US" b="true" sz="2399" spc="23">
                <a:solidFill>
                  <a:srgbClr val="000000"/>
                </a:solidFill>
                <a:latin typeface="Mont 2 Bold"/>
                <a:ea typeface="Mont 2 Bold"/>
                <a:cs typeface="Mont 2 Bold"/>
                <a:sym typeface="Mont 2 Bold"/>
              </a:rPr>
              <a:t>Consulting</a:t>
            </a:r>
          </a:p>
        </p:txBody>
      </p:sp>
      <p:sp>
        <p:nvSpPr>
          <p:cNvPr name="TextBox 43" id="43"/>
          <p:cNvSpPr txBox="true"/>
          <p:nvPr/>
        </p:nvSpPr>
        <p:spPr>
          <a:xfrm rot="0">
            <a:off x="7299159" y="1623291"/>
            <a:ext cx="3942145" cy="445008"/>
          </a:xfrm>
          <a:prstGeom prst="rect">
            <a:avLst/>
          </a:prstGeom>
        </p:spPr>
        <p:txBody>
          <a:bodyPr anchor="t" rtlCol="false" tIns="0" lIns="0" bIns="0" rIns="0">
            <a:spAutoFit/>
          </a:bodyPr>
          <a:lstStyle/>
          <a:p>
            <a:pPr algn="ctr">
              <a:lnSpc>
                <a:spcPts val="2975"/>
              </a:lnSpc>
            </a:pPr>
            <a:r>
              <a:rPr lang="en-US" b="true" sz="2399" spc="23">
                <a:solidFill>
                  <a:srgbClr val="000000"/>
                </a:solidFill>
                <a:latin typeface="Mont 2 Bold"/>
                <a:ea typeface="Mont 2 Bold"/>
                <a:cs typeface="Mont 2 Bold"/>
                <a:sym typeface="Mont 2 Bold"/>
              </a:rPr>
              <a:t>Training</a:t>
            </a:r>
          </a:p>
        </p:txBody>
      </p:sp>
      <p:sp>
        <p:nvSpPr>
          <p:cNvPr name="TextBox 44" id="44"/>
          <p:cNvSpPr txBox="true"/>
          <p:nvPr/>
        </p:nvSpPr>
        <p:spPr>
          <a:xfrm rot="0">
            <a:off x="2788726" y="2413194"/>
            <a:ext cx="2722326" cy="14173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Experts in Marketing, Business Roadmap, Operations, Sales Strategy, Finance/Tax</a:t>
            </a:r>
          </a:p>
        </p:txBody>
      </p:sp>
      <p:sp>
        <p:nvSpPr>
          <p:cNvPr name="TextBox 45" id="45"/>
          <p:cNvSpPr txBox="true"/>
          <p:nvPr/>
        </p:nvSpPr>
        <p:spPr>
          <a:xfrm rot="0">
            <a:off x="2821424" y="5276029"/>
            <a:ext cx="2480078" cy="10744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Manufacturing, Technology, Retail, Government</a:t>
            </a:r>
          </a:p>
        </p:txBody>
      </p:sp>
      <p:sp>
        <p:nvSpPr>
          <p:cNvPr name="TextBox 46" id="46"/>
          <p:cNvSpPr txBox="true"/>
          <p:nvPr/>
        </p:nvSpPr>
        <p:spPr>
          <a:xfrm rot="0">
            <a:off x="2821424" y="6542439"/>
            <a:ext cx="2689628" cy="10744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Amazon Alexa, Yakes Pertamina, Pemkot Yogyakarta, PT PIM</a:t>
            </a:r>
          </a:p>
        </p:txBody>
      </p:sp>
      <p:sp>
        <p:nvSpPr>
          <p:cNvPr name="TextBox 47" id="47"/>
          <p:cNvSpPr txBox="true"/>
          <p:nvPr/>
        </p:nvSpPr>
        <p:spPr>
          <a:xfrm rot="0">
            <a:off x="2788726" y="4218401"/>
            <a:ext cx="2480078" cy="7315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Cambridge, Jakarta, Yogyakarta, Aceh</a:t>
            </a:r>
          </a:p>
        </p:txBody>
      </p:sp>
      <p:sp>
        <p:nvSpPr>
          <p:cNvPr name="TextBox 48" id="48"/>
          <p:cNvSpPr txBox="true"/>
          <p:nvPr/>
        </p:nvSpPr>
        <p:spPr>
          <a:xfrm rot="0">
            <a:off x="2584176" y="8137781"/>
            <a:ext cx="3232553" cy="1417320"/>
          </a:xfrm>
          <a:prstGeom prst="rect">
            <a:avLst/>
          </a:prstGeom>
        </p:spPr>
        <p:txBody>
          <a:bodyPr anchor="t" rtlCol="false" tIns="0" lIns="0" bIns="0" rIns="0">
            <a:spAutoFit/>
          </a:bodyPr>
          <a:lstStyle/>
          <a:p>
            <a:pPr algn="just" marL="388620" indent="-194310" lvl="1">
              <a:lnSpc>
                <a:spcPts val="2700"/>
              </a:lnSpc>
              <a:buFont typeface="Arial"/>
              <a:buChar char="•"/>
            </a:pPr>
            <a:r>
              <a:rPr lang="en-US" sz="1800" spc="18">
                <a:solidFill>
                  <a:srgbClr val="FFFFFF"/>
                </a:solidFill>
                <a:latin typeface="Mont 2"/>
                <a:ea typeface="Mont 2"/>
                <a:cs typeface="Mont 2"/>
                <a:sym typeface="Mont 2"/>
              </a:rPr>
              <a:t>Customer Retention</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Operations Healthiness</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Workforce Analysis</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Business Diagnostics</a:t>
            </a:r>
          </a:p>
        </p:txBody>
      </p:sp>
      <p:sp>
        <p:nvSpPr>
          <p:cNvPr name="TextBox 49" id="49"/>
          <p:cNvSpPr txBox="true"/>
          <p:nvPr/>
        </p:nvSpPr>
        <p:spPr>
          <a:xfrm rot="0">
            <a:off x="12668803" y="1640035"/>
            <a:ext cx="3942145" cy="445008"/>
          </a:xfrm>
          <a:prstGeom prst="rect">
            <a:avLst/>
          </a:prstGeom>
        </p:spPr>
        <p:txBody>
          <a:bodyPr anchor="t" rtlCol="false" tIns="0" lIns="0" bIns="0" rIns="0">
            <a:spAutoFit/>
          </a:bodyPr>
          <a:lstStyle/>
          <a:p>
            <a:pPr algn="ctr">
              <a:lnSpc>
                <a:spcPts val="2975"/>
              </a:lnSpc>
            </a:pPr>
            <a:r>
              <a:rPr lang="en-US" b="true" sz="2399" spc="23">
                <a:solidFill>
                  <a:srgbClr val="000000"/>
                </a:solidFill>
                <a:latin typeface="Mont 2 Bold"/>
                <a:ea typeface="Mont 2 Bold"/>
                <a:cs typeface="Mont 2 Bold"/>
                <a:sym typeface="Mont 2 Bold"/>
              </a:rPr>
              <a:t>Ops &amp; System Mgt</a:t>
            </a:r>
          </a:p>
        </p:txBody>
      </p:sp>
      <p:sp>
        <p:nvSpPr>
          <p:cNvPr name="TextBox 50" id="50"/>
          <p:cNvSpPr txBox="true"/>
          <p:nvPr/>
        </p:nvSpPr>
        <p:spPr>
          <a:xfrm rot="0">
            <a:off x="13257838" y="2413194"/>
            <a:ext cx="3494203" cy="17602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Experts in Finance/Acct/Tax, HR, Operations, Customer Support, User Acquisition, Telemarketing, System Monitoring &amp; Implementation</a:t>
            </a:r>
          </a:p>
        </p:txBody>
      </p:sp>
      <p:sp>
        <p:nvSpPr>
          <p:cNvPr name="TextBox 51" id="51"/>
          <p:cNvSpPr txBox="true"/>
          <p:nvPr/>
        </p:nvSpPr>
        <p:spPr>
          <a:xfrm rot="0">
            <a:off x="13295061" y="5225089"/>
            <a:ext cx="3315887" cy="10744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Manufacturing, Fashion, Technology, Retail, F&amp;B, Government, Family Office</a:t>
            </a:r>
          </a:p>
        </p:txBody>
      </p:sp>
      <p:sp>
        <p:nvSpPr>
          <p:cNvPr name="TextBox 52" id="52"/>
          <p:cNvSpPr txBox="true"/>
          <p:nvPr/>
        </p:nvSpPr>
        <p:spPr>
          <a:xfrm rot="0">
            <a:off x="13295061" y="6542439"/>
            <a:ext cx="3315887" cy="14173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Supra, KitaBisa, Rey, One Click Life, Alterra, Riliv, AJS, Wiratama Institute, Freesa, Lingo Talk, Inisago, Kuncie</a:t>
            </a:r>
          </a:p>
        </p:txBody>
      </p:sp>
      <p:sp>
        <p:nvSpPr>
          <p:cNvPr name="TextBox 53" id="53"/>
          <p:cNvSpPr txBox="true"/>
          <p:nvPr/>
        </p:nvSpPr>
        <p:spPr>
          <a:xfrm rot="0">
            <a:off x="13257976" y="4218401"/>
            <a:ext cx="2480078" cy="731520"/>
          </a:xfrm>
          <a:prstGeom prst="rect">
            <a:avLst/>
          </a:prstGeom>
        </p:spPr>
        <p:txBody>
          <a:bodyPr anchor="t" rtlCol="false" tIns="0" lIns="0" bIns="0" rIns="0">
            <a:spAutoFit/>
          </a:bodyPr>
          <a:lstStyle/>
          <a:p>
            <a:pPr algn="just">
              <a:lnSpc>
                <a:spcPts val="2700"/>
              </a:lnSpc>
            </a:pPr>
            <a:r>
              <a:rPr lang="en-US" sz="1800" spc="18">
                <a:solidFill>
                  <a:srgbClr val="FFFFFF"/>
                </a:solidFill>
                <a:latin typeface="Mont 2"/>
                <a:ea typeface="Mont 2"/>
                <a:cs typeface="Mont 2"/>
                <a:sym typeface="Mont 2"/>
              </a:rPr>
              <a:t>Cambridge, Jakarta, Yogyakarta, Aceh</a:t>
            </a:r>
          </a:p>
        </p:txBody>
      </p:sp>
      <p:sp>
        <p:nvSpPr>
          <p:cNvPr name="TextBox 54" id="54"/>
          <p:cNvSpPr txBox="true"/>
          <p:nvPr/>
        </p:nvSpPr>
        <p:spPr>
          <a:xfrm rot="0">
            <a:off x="13092889" y="8112159"/>
            <a:ext cx="3659152" cy="1760220"/>
          </a:xfrm>
          <a:prstGeom prst="rect">
            <a:avLst/>
          </a:prstGeom>
        </p:spPr>
        <p:txBody>
          <a:bodyPr anchor="t" rtlCol="false" tIns="0" lIns="0" bIns="0" rIns="0">
            <a:spAutoFit/>
          </a:bodyPr>
          <a:lstStyle/>
          <a:p>
            <a:pPr algn="just" marL="388620" indent="-194310" lvl="1">
              <a:lnSpc>
                <a:spcPts val="2700"/>
              </a:lnSpc>
              <a:buFont typeface="Arial"/>
              <a:buChar char="•"/>
            </a:pPr>
            <a:r>
              <a:rPr lang="en-US" sz="1800" spc="18">
                <a:solidFill>
                  <a:srgbClr val="FFFFFF"/>
                </a:solidFill>
                <a:latin typeface="Mont 2"/>
                <a:ea typeface="Mont 2"/>
                <a:cs typeface="Mont 2"/>
                <a:sym typeface="Mont 2"/>
              </a:rPr>
              <a:t>Customer Support</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HR Ops and Recruitment</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Invoicing/AR/Disbursement</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Customer Research</a:t>
            </a:r>
          </a:p>
          <a:p>
            <a:pPr algn="just" marL="388620" indent="-194310" lvl="1">
              <a:lnSpc>
                <a:spcPts val="2700"/>
              </a:lnSpc>
              <a:buFont typeface="Arial"/>
              <a:buChar char="•"/>
            </a:pPr>
            <a:r>
              <a:rPr lang="en-US" sz="1800" spc="18">
                <a:solidFill>
                  <a:srgbClr val="FFFFFF"/>
                </a:solidFill>
                <a:latin typeface="Mont 2"/>
                <a:ea typeface="Mont 2"/>
                <a:cs typeface="Mont 2"/>
                <a:sym typeface="Mont 2"/>
              </a:rPr>
              <a:t>Telemarketing B2C/B2B</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2647">
                <a:alpha val="100000"/>
              </a:srgbClr>
            </a:gs>
            <a:gs pos="100000">
              <a:srgbClr val="0A396D">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38140" y="2352845"/>
            <a:ext cx="1271546" cy="1399225"/>
          </a:xfrm>
          <a:custGeom>
            <a:avLst/>
            <a:gdLst/>
            <a:ahLst/>
            <a:cxnLst/>
            <a:rect r="r" b="b" t="t" l="l"/>
            <a:pathLst>
              <a:path h="1399225" w="1271546">
                <a:moveTo>
                  <a:pt x="0" y="0"/>
                </a:moveTo>
                <a:lnTo>
                  <a:pt x="1271547" y="0"/>
                </a:lnTo>
                <a:lnTo>
                  <a:pt x="1271547" y="1399225"/>
                </a:lnTo>
                <a:lnTo>
                  <a:pt x="0" y="13992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94387" y="2188317"/>
            <a:ext cx="1353813" cy="1390309"/>
          </a:xfrm>
          <a:custGeom>
            <a:avLst/>
            <a:gdLst/>
            <a:ahLst/>
            <a:cxnLst/>
            <a:rect r="r" b="b" t="t" l="l"/>
            <a:pathLst>
              <a:path h="1390309" w="1353813">
                <a:moveTo>
                  <a:pt x="0" y="0"/>
                </a:moveTo>
                <a:lnTo>
                  <a:pt x="1353813" y="0"/>
                </a:lnTo>
                <a:lnTo>
                  <a:pt x="1353813" y="1390309"/>
                </a:lnTo>
                <a:lnTo>
                  <a:pt x="0" y="1390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0625" y="5890560"/>
            <a:ext cx="1450195" cy="1686274"/>
          </a:xfrm>
          <a:custGeom>
            <a:avLst/>
            <a:gdLst/>
            <a:ahLst/>
            <a:cxnLst/>
            <a:rect r="r" b="b" t="t" l="l"/>
            <a:pathLst>
              <a:path h="1686274" w="1450195">
                <a:moveTo>
                  <a:pt x="0" y="0"/>
                </a:moveTo>
                <a:lnTo>
                  <a:pt x="1450195" y="0"/>
                </a:lnTo>
                <a:lnTo>
                  <a:pt x="1450195" y="1686274"/>
                </a:lnTo>
                <a:lnTo>
                  <a:pt x="0" y="16862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148945" y="2352845"/>
            <a:ext cx="1664679" cy="1664679"/>
          </a:xfrm>
          <a:custGeom>
            <a:avLst/>
            <a:gdLst/>
            <a:ahLst/>
            <a:cxnLst/>
            <a:rect r="r" b="b" t="t" l="l"/>
            <a:pathLst>
              <a:path h="1664679" w="1664679">
                <a:moveTo>
                  <a:pt x="0" y="0"/>
                </a:moveTo>
                <a:lnTo>
                  <a:pt x="1664679" y="0"/>
                </a:lnTo>
                <a:lnTo>
                  <a:pt x="1664679" y="1664679"/>
                </a:lnTo>
                <a:lnTo>
                  <a:pt x="0" y="16646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189483" y="5890560"/>
            <a:ext cx="1739770" cy="1622335"/>
          </a:xfrm>
          <a:custGeom>
            <a:avLst/>
            <a:gdLst/>
            <a:ahLst/>
            <a:cxnLst/>
            <a:rect r="r" b="b" t="t" l="l"/>
            <a:pathLst>
              <a:path h="1622335" w="1739770">
                <a:moveTo>
                  <a:pt x="0" y="0"/>
                </a:moveTo>
                <a:lnTo>
                  <a:pt x="1739769" y="0"/>
                </a:lnTo>
                <a:lnTo>
                  <a:pt x="1739769" y="1622336"/>
                </a:lnTo>
                <a:lnTo>
                  <a:pt x="0" y="16223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094387" y="6207243"/>
            <a:ext cx="1664679" cy="1052909"/>
          </a:xfrm>
          <a:custGeom>
            <a:avLst/>
            <a:gdLst/>
            <a:ahLst/>
            <a:cxnLst/>
            <a:rect r="r" b="b" t="t" l="l"/>
            <a:pathLst>
              <a:path h="1052909" w="1664679">
                <a:moveTo>
                  <a:pt x="0" y="0"/>
                </a:moveTo>
                <a:lnTo>
                  <a:pt x="1664679" y="0"/>
                </a:lnTo>
                <a:lnTo>
                  <a:pt x="1664679" y="1052909"/>
                </a:lnTo>
                <a:lnTo>
                  <a:pt x="0" y="10529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4060293" y="542925"/>
            <a:ext cx="10167414" cy="962025"/>
          </a:xfrm>
          <a:prstGeom prst="rect">
            <a:avLst/>
          </a:prstGeom>
        </p:spPr>
        <p:txBody>
          <a:bodyPr anchor="t" rtlCol="false" tIns="0" lIns="0" bIns="0" rIns="0">
            <a:spAutoFit/>
          </a:bodyPr>
          <a:lstStyle/>
          <a:p>
            <a:pPr algn="ctr">
              <a:lnSpc>
                <a:spcPts val="7523"/>
              </a:lnSpc>
            </a:pPr>
            <a:r>
              <a:rPr lang="en-US" b="true" sz="6270" spc="62">
                <a:solidFill>
                  <a:srgbClr val="FFFFFF"/>
                </a:solidFill>
                <a:latin typeface="Mont 1 Heavy"/>
                <a:ea typeface="Mont 1 Heavy"/>
                <a:cs typeface="Mont 1 Heavy"/>
                <a:sym typeface="Mont 1 Heavy"/>
              </a:rPr>
              <a:t>Sanggabiz in Numbers</a:t>
            </a:r>
          </a:p>
        </p:txBody>
      </p:sp>
      <p:sp>
        <p:nvSpPr>
          <p:cNvPr name="TextBox 9" id="9"/>
          <p:cNvSpPr txBox="true"/>
          <p:nvPr/>
        </p:nvSpPr>
        <p:spPr>
          <a:xfrm rot="0">
            <a:off x="601933" y="3851092"/>
            <a:ext cx="3343962" cy="886944"/>
          </a:xfrm>
          <a:prstGeom prst="rect">
            <a:avLst/>
          </a:prstGeom>
        </p:spPr>
        <p:txBody>
          <a:bodyPr anchor="t" rtlCol="false" tIns="0" lIns="0" bIns="0" rIns="0">
            <a:spAutoFit/>
          </a:bodyPr>
          <a:lstStyle/>
          <a:p>
            <a:pPr algn="ctr">
              <a:lnSpc>
                <a:spcPts val="2279"/>
              </a:lnSpc>
            </a:pPr>
            <a:r>
              <a:rPr lang="en-US" b="true" sz="1899" spc="18">
                <a:solidFill>
                  <a:srgbClr val="FFFFFF"/>
                </a:solidFill>
                <a:latin typeface="Mont 1 Heavy"/>
                <a:ea typeface="Mont 1 Heavy"/>
                <a:cs typeface="Mont 1 Heavy"/>
                <a:sym typeface="Mont 1 Heavy"/>
              </a:rPr>
              <a:t>Mitra Engagement</a:t>
            </a:r>
          </a:p>
          <a:p>
            <a:pPr algn="ctr">
              <a:lnSpc>
                <a:spcPts val="2279"/>
              </a:lnSpc>
            </a:pPr>
            <a:r>
              <a:rPr lang="en-US" sz="1899" spc="18">
                <a:solidFill>
                  <a:srgbClr val="FFFFFF"/>
                </a:solidFill>
                <a:latin typeface="Mont 1"/>
                <a:ea typeface="Mont 1"/>
                <a:cs typeface="Mont 1"/>
                <a:sym typeface="Mont 1"/>
              </a:rPr>
              <a:t>(Private Sector &amp; Government)</a:t>
            </a:r>
          </a:p>
        </p:txBody>
      </p:sp>
      <p:sp>
        <p:nvSpPr>
          <p:cNvPr name="TextBox 10" id="10"/>
          <p:cNvSpPr txBox="true"/>
          <p:nvPr/>
        </p:nvSpPr>
        <p:spPr>
          <a:xfrm rot="0">
            <a:off x="3258003" y="2709371"/>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6.000+</a:t>
            </a:r>
          </a:p>
        </p:txBody>
      </p:sp>
      <p:sp>
        <p:nvSpPr>
          <p:cNvPr name="TextBox 11" id="11"/>
          <p:cNvSpPr txBox="true"/>
          <p:nvPr/>
        </p:nvSpPr>
        <p:spPr>
          <a:xfrm rot="0">
            <a:off x="12172841" y="3851092"/>
            <a:ext cx="3343962" cy="588299"/>
          </a:xfrm>
          <a:prstGeom prst="rect">
            <a:avLst/>
          </a:prstGeom>
        </p:spPr>
        <p:txBody>
          <a:bodyPr anchor="t" rtlCol="false" tIns="0" lIns="0" bIns="0" rIns="0">
            <a:spAutoFit/>
          </a:bodyPr>
          <a:lstStyle/>
          <a:p>
            <a:pPr algn="ctr">
              <a:lnSpc>
                <a:spcPts val="2279"/>
              </a:lnSpc>
            </a:pPr>
            <a:r>
              <a:rPr lang="en-US" b="true" sz="1899" spc="18">
                <a:solidFill>
                  <a:srgbClr val="FFFFFF"/>
                </a:solidFill>
                <a:latin typeface="Mont 1 Heavy"/>
                <a:ea typeface="Mont 1 Heavy"/>
                <a:cs typeface="Mont 1 Heavy"/>
                <a:sym typeface="Mont 1 Heavy"/>
              </a:rPr>
              <a:t>Total User</a:t>
            </a:r>
          </a:p>
          <a:p>
            <a:pPr algn="ctr">
              <a:lnSpc>
                <a:spcPts val="2279"/>
              </a:lnSpc>
            </a:pPr>
            <a:r>
              <a:rPr lang="en-US" sz="1899" spc="18">
                <a:solidFill>
                  <a:srgbClr val="FFFFFF"/>
                </a:solidFill>
                <a:latin typeface="Mont 1"/>
                <a:ea typeface="Mont 1"/>
                <a:cs typeface="Mont 1"/>
                <a:sym typeface="Mont 1"/>
              </a:rPr>
              <a:t>(B2C, B2B, B2G)</a:t>
            </a:r>
          </a:p>
        </p:txBody>
      </p:sp>
      <p:sp>
        <p:nvSpPr>
          <p:cNvPr name="TextBox 12" id="12"/>
          <p:cNvSpPr txBox="true"/>
          <p:nvPr/>
        </p:nvSpPr>
        <p:spPr>
          <a:xfrm rot="0">
            <a:off x="14759066" y="2543738"/>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11000+</a:t>
            </a:r>
          </a:p>
        </p:txBody>
      </p:sp>
      <p:sp>
        <p:nvSpPr>
          <p:cNvPr name="TextBox 13" id="13"/>
          <p:cNvSpPr txBox="true"/>
          <p:nvPr/>
        </p:nvSpPr>
        <p:spPr>
          <a:xfrm rot="0">
            <a:off x="601933" y="7675856"/>
            <a:ext cx="3343962" cy="299008"/>
          </a:xfrm>
          <a:prstGeom prst="rect">
            <a:avLst/>
          </a:prstGeom>
        </p:spPr>
        <p:txBody>
          <a:bodyPr anchor="t" rtlCol="false" tIns="0" lIns="0" bIns="0" rIns="0">
            <a:spAutoFit/>
          </a:bodyPr>
          <a:lstStyle/>
          <a:p>
            <a:pPr algn="ctr">
              <a:lnSpc>
                <a:spcPts val="2279"/>
              </a:lnSpc>
            </a:pPr>
            <a:r>
              <a:rPr lang="en-US" b="true" sz="1899" spc="18">
                <a:solidFill>
                  <a:srgbClr val="FFFFFF"/>
                </a:solidFill>
                <a:latin typeface="Mont 1 Heavy"/>
                <a:ea typeface="Mont 1 Heavy"/>
                <a:cs typeface="Mont 1 Heavy"/>
                <a:sym typeface="Mont 1 Heavy"/>
              </a:rPr>
              <a:t>Total Community Partners</a:t>
            </a:r>
          </a:p>
        </p:txBody>
      </p:sp>
      <p:sp>
        <p:nvSpPr>
          <p:cNvPr name="TextBox 14" id="14"/>
          <p:cNvSpPr txBox="true"/>
          <p:nvPr/>
        </p:nvSpPr>
        <p:spPr>
          <a:xfrm rot="0">
            <a:off x="3261686" y="6262370"/>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100+</a:t>
            </a:r>
          </a:p>
        </p:txBody>
      </p:sp>
      <p:sp>
        <p:nvSpPr>
          <p:cNvPr name="TextBox 15" id="15"/>
          <p:cNvSpPr txBox="true"/>
          <p:nvPr/>
        </p:nvSpPr>
        <p:spPr>
          <a:xfrm rot="0">
            <a:off x="6387387" y="4133083"/>
            <a:ext cx="3343962" cy="299008"/>
          </a:xfrm>
          <a:prstGeom prst="rect">
            <a:avLst/>
          </a:prstGeom>
        </p:spPr>
        <p:txBody>
          <a:bodyPr anchor="t" rtlCol="false" tIns="0" lIns="0" bIns="0" rIns="0">
            <a:spAutoFit/>
          </a:bodyPr>
          <a:lstStyle/>
          <a:p>
            <a:pPr algn="ctr">
              <a:lnSpc>
                <a:spcPts val="2279"/>
              </a:lnSpc>
            </a:pPr>
            <a:r>
              <a:rPr lang="en-US" b="true" sz="1899" spc="18">
                <a:solidFill>
                  <a:srgbClr val="FFFFFF"/>
                </a:solidFill>
                <a:latin typeface="Mont 1 Bold"/>
                <a:ea typeface="Mont 1 Bold"/>
                <a:cs typeface="Mont 1 Bold"/>
                <a:sym typeface="Mont 1 Bold"/>
              </a:rPr>
              <a:t>Channel Media Partner</a:t>
            </a:r>
          </a:p>
        </p:txBody>
      </p:sp>
      <p:sp>
        <p:nvSpPr>
          <p:cNvPr name="TextBox 16" id="16"/>
          <p:cNvSpPr txBox="true"/>
          <p:nvPr/>
        </p:nvSpPr>
        <p:spPr>
          <a:xfrm rot="0">
            <a:off x="8973612" y="2757382"/>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400+</a:t>
            </a:r>
          </a:p>
        </p:txBody>
      </p:sp>
      <p:sp>
        <p:nvSpPr>
          <p:cNvPr name="TextBox 17" id="17"/>
          <p:cNvSpPr txBox="true"/>
          <p:nvPr/>
        </p:nvSpPr>
        <p:spPr>
          <a:xfrm rot="0">
            <a:off x="6298765" y="7784358"/>
            <a:ext cx="3521204" cy="314325"/>
          </a:xfrm>
          <a:prstGeom prst="rect">
            <a:avLst/>
          </a:prstGeom>
        </p:spPr>
        <p:txBody>
          <a:bodyPr anchor="t" rtlCol="false" tIns="0" lIns="0" bIns="0" rIns="0">
            <a:spAutoFit/>
          </a:bodyPr>
          <a:lstStyle/>
          <a:p>
            <a:pPr algn="ctr">
              <a:lnSpc>
                <a:spcPts val="2400"/>
              </a:lnSpc>
            </a:pPr>
            <a:r>
              <a:rPr lang="en-US" b="true" sz="2000" spc="20">
                <a:solidFill>
                  <a:srgbClr val="FFFFFF"/>
                </a:solidFill>
                <a:latin typeface="Mont 1 Bold"/>
                <a:ea typeface="Mont 1 Bold"/>
                <a:cs typeface="Mont 1 Bold"/>
                <a:sym typeface="Mont 1 Bold"/>
              </a:rPr>
              <a:t>Total Project and Service</a:t>
            </a:r>
          </a:p>
        </p:txBody>
      </p:sp>
      <p:sp>
        <p:nvSpPr>
          <p:cNvPr name="TextBox 18" id="18"/>
          <p:cNvSpPr txBox="true"/>
          <p:nvPr/>
        </p:nvSpPr>
        <p:spPr>
          <a:xfrm rot="0">
            <a:off x="9034404" y="6300155"/>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400+</a:t>
            </a:r>
          </a:p>
        </p:txBody>
      </p:sp>
      <p:sp>
        <p:nvSpPr>
          <p:cNvPr name="TextBox 19" id="19"/>
          <p:cNvSpPr txBox="true"/>
          <p:nvPr/>
        </p:nvSpPr>
        <p:spPr>
          <a:xfrm rot="0">
            <a:off x="12220898" y="7386372"/>
            <a:ext cx="3343962" cy="588492"/>
          </a:xfrm>
          <a:prstGeom prst="rect">
            <a:avLst/>
          </a:prstGeom>
        </p:spPr>
        <p:txBody>
          <a:bodyPr anchor="t" rtlCol="false" tIns="0" lIns="0" bIns="0" rIns="0">
            <a:spAutoFit/>
          </a:bodyPr>
          <a:lstStyle/>
          <a:p>
            <a:pPr algn="ctr">
              <a:lnSpc>
                <a:spcPts val="2279"/>
              </a:lnSpc>
            </a:pPr>
            <a:r>
              <a:rPr lang="en-US" b="true" sz="1899" spc="18">
                <a:solidFill>
                  <a:srgbClr val="FFFFFF"/>
                </a:solidFill>
                <a:latin typeface="Mont 1 Heavy"/>
                <a:ea typeface="Mont 1 Heavy"/>
                <a:cs typeface="Mont 1 Heavy"/>
                <a:sym typeface="Mont 1 Heavy"/>
              </a:rPr>
              <a:t>Total Team</a:t>
            </a:r>
          </a:p>
          <a:p>
            <a:pPr algn="ctr">
              <a:lnSpc>
                <a:spcPts val="2279"/>
              </a:lnSpc>
            </a:pPr>
            <a:r>
              <a:rPr lang="en-US" sz="1899" spc="18">
                <a:solidFill>
                  <a:srgbClr val="FFFFFF"/>
                </a:solidFill>
                <a:latin typeface="Mont 1"/>
                <a:ea typeface="Mont 1"/>
                <a:cs typeface="Mont 1"/>
                <a:sym typeface="Mont 1"/>
              </a:rPr>
              <a:t>(Expert &amp; Trainer)</a:t>
            </a:r>
          </a:p>
        </p:txBody>
      </p:sp>
      <p:sp>
        <p:nvSpPr>
          <p:cNvPr name="TextBox 20" id="20"/>
          <p:cNvSpPr txBox="true"/>
          <p:nvPr/>
        </p:nvSpPr>
        <p:spPr>
          <a:xfrm rot="0">
            <a:off x="14807123" y="6079018"/>
            <a:ext cx="2878944" cy="932651"/>
          </a:xfrm>
          <a:prstGeom prst="rect">
            <a:avLst/>
          </a:prstGeom>
        </p:spPr>
        <p:txBody>
          <a:bodyPr anchor="t" rtlCol="false" tIns="0" lIns="0" bIns="0" rIns="0">
            <a:spAutoFit/>
          </a:bodyPr>
          <a:lstStyle/>
          <a:p>
            <a:pPr algn="ctr">
              <a:lnSpc>
                <a:spcPts val="7145"/>
              </a:lnSpc>
            </a:pPr>
            <a:r>
              <a:rPr lang="en-US" b="true" sz="5954" spc="59">
                <a:solidFill>
                  <a:srgbClr val="FFFFFF"/>
                </a:solidFill>
                <a:latin typeface="Mont 1 Heavy"/>
                <a:ea typeface="Mont 1 Heavy"/>
                <a:cs typeface="Mont 1 Heavy"/>
                <a:sym typeface="Mont 1 Heavy"/>
              </a:rPr>
              <a:t>500+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grpSp>
        <p:nvGrpSpPr>
          <p:cNvPr name="Group 3" id="3"/>
          <p:cNvGrpSpPr/>
          <p:nvPr/>
        </p:nvGrpSpPr>
        <p:grpSpPr>
          <a:xfrm rot="0">
            <a:off x="-2072827" y="0"/>
            <a:ext cx="23452021" cy="10287000"/>
            <a:chOff x="0" y="0"/>
            <a:chExt cx="31269361" cy="13716000"/>
          </a:xfrm>
        </p:grpSpPr>
        <p:sp>
          <p:nvSpPr>
            <p:cNvPr name="Freeform 4" id="4"/>
            <p:cNvSpPr/>
            <p:nvPr/>
          </p:nvSpPr>
          <p:spPr>
            <a:xfrm flipH="false" flipV="false" rot="0">
              <a:off x="2763770" y="0"/>
              <a:ext cx="3623371" cy="6441548"/>
            </a:xfrm>
            <a:custGeom>
              <a:avLst/>
              <a:gdLst/>
              <a:ahLst/>
              <a:cxnLst/>
              <a:rect r="r" b="b" t="t" l="l"/>
              <a:pathLst>
                <a:path h="6441548" w="3623371">
                  <a:moveTo>
                    <a:pt x="0" y="0"/>
                  </a:moveTo>
                  <a:lnTo>
                    <a:pt x="3623370" y="0"/>
                  </a:lnTo>
                  <a:lnTo>
                    <a:pt x="3623370" y="6441548"/>
                  </a:lnTo>
                  <a:lnTo>
                    <a:pt x="0" y="6441548"/>
                  </a:lnTo>
                  <a:lnTo>
                    <a:pt x="0" y="0"/>
                  </a:lnTo>
                  <a:close/>
                </a:path>
              </a:pathLst>
            </a:custGeom>
            <a:blipFill>
              <a:blip r:embed="rId3"/>
              <a:stretch>
                <a:fillRect l="0" t="0" r="0" b="0"/>
              </a:stretch>
            </a:blipFill>
          </p:spPr>
        </p:sp>
        <p:sp>
          <p:nvSpPr>
            <p:cNvPr name="Freeform 5" id="5"/>
            <p:cNvSpPr/>
            <p:nvPr/>
          </p:nvSpPr>
          <p:spPr>
            <a:xfrm flipH="false" flipV="false" rot="0">
              <a:off x="6387140" y="0"/>
              <a:ext cx="10637098" cy="6441548"/>
            </a:xfrm>
            <a:custGeom>
              <a:avLst/>
              <a:gdLst/>
              <a:ahLst/>
              <a:cxnLst/>
              <a:rect r="r" b="b" t="t" l="l"/>
              <a:pathLst>
                <a:path h="6441548" w="10637098">
                  <a:moveTo>
                    <a:pt x="0" y="0"/>
                  </a:moveTo>
                  <a:lnTo>
                    <a:pt x="10637098" y="0"/>
                  </a:lnTo>
                  <a:lnTo>
                    <a:pt x="10637098" y="6441548"/>
                  </a:lnTo>
                  <a:lnTo>
                    <a:pt x="0" y="6441548"/>
                  </a:lnTo>
                  <a:lnTo>
                    <a:pt x="0" y="0"/>
                  </a:lnTo>
                  <a:close/>
                </a:path>
              </a:pathLst>
            </a:custGeom>
            <a:blipFill>
              <a:blip r:embed="rId4"/>
              <a:stretch>
                <a:fillRect l="-7657" t="0" r="0" b="0"/>
              </a:stretch>
            </a:blipFill>
          </p:spPr>
        </p:sp>
        <p:sp>
          <p:nvSpPr>
            <p:cNvPr name="Freeform 6" id="6"/>
            <p:cNvSpPr/>
            <p:nvPr/>
          </p:nvSpPr>
          <p:spPr>
            <a:xfrm flipH="false" flipV="false" rot="0">
              <a:off x="0" y="6441548"/>
              <a:ext cx="12932359" cy="7274452"/>
            </a:xfrm>
            <a:custGeom>
              <a:avLst/>
              <a:gdLst/>
              <a:ahLst/>
              <a:cxnLst/>
              <a:rect r="r" b="b" t="t" l="l"/>
              <a:pathLst>
                <a:path h="7274452" w="12932359">
                  <a:moveTo>
                    <a:pt x="0" y="0"/>
                  </a:moveTo>
                  <a:lnTo>
                    <a:pt x="12932359" y="0"/>
                  </a:lnTo>
                  <a:lnTo>
                    <a:pt x="12932359" y="7274452"/>
                  </a:lnTo>
                  <a:lnTo>
                    <a:pt x="0" y="7274452"/>
                  </a:lnTo>
                  <a:lnTo>
                    <a:pt x="0" y="0"/>
                  </a:lnTo>
                  <a:close/>
                </a:path>
              </a:pathLst>
            </a:custGeom>
            <a:blipFill>
              <a:blip r:embed="rId5"/>
              <a:stretch>
                <a:fillRect l="0" t="0" r="0" b="0"/>
              </a:stretch>
            </a:blipFill>
          </p:spPr>
        </p:sp>
        <p:sp>
          <p:nvSpPr>
            <p:cNvPr name="Freeform 7" id="7"/>
            <p:cNvSpPr/>
            <p:nvPr/>
          </p:nvSpPr>
          <p:spPr>
            <a:xfrm flipH="false" flipV="false" rot="0">
              <a:off x="12932359" y="6441548"/>
              <a:ext cx="4091879" cy="7274452"/>
            </a:xfrm>
            <a:custGeom>
              <a:avLst/>
              <a:gdLst/>
              <a:ahLst/>
              <a:cxnLst/>
              <a:rect r="r" b="b" t="t" l="l"/>
              <a:pathLst>
                <a:path h="7274452" w="4091879">
                  <a:moveTo>
                    <a:pt x="0" y="0"/>
                  </a:moveTo>
                  <a:lnTo>
                    <a:pt x="4091879" y="0"/>
                  </a:lnTo>
                  <a:lnTo>
                    <a:pt x="4091879" y="7274452"/>
                  </a:lnTo>
                  <a:lnTo>
                    <a:pt x="0" y="7274452"/>
                  </a:lnTo>
                  <a:lnTo>
                    <a:pt x="0" y="0"/>
                  </a:lnTo>
                  <a:close/>
                </a:path>
              </a:pathLst>
            </a:custGeom>
            <a:blipFill>
              <a:blip r:embed="rId6"/>
              <a:stretch>
                <a:fillRect l="0" t="0" r="0" b="0"/>
              </a:stretch>
            </a:blipFill>
          </p:spPr>
        </p:sp>
        <p:sp>
          <p:nvSpPr>
            <p:cNvPr name="Freeform 8" id="8"/>
            <p:cNvSpPr/>
            <p:nvPr/>
          </p:nvSpPr>
          <p:spPr>
            <a:xfrm flipH="false" flipV="false" rot="0">
              <a:off x="17024238" y="0"/>
              <a:ext cx="5135054" cy="6858000"/>
            </a:xfrm>
            <a:custGeom>
              <a:avLst/>
              <a:gdLst/>
              <a:ahLst/>
              <a:cxnLst/>
              <a:rect r="r" b="b" t="t" l="l"/>
              <a:pathLst>
                <a:path h="6858000" w="5135054">
                  <a:moveTo>
                    <a:pt x="0" y="0"/>
                  </a:moveTo>
                  <a:lnTo>
                    <a:pt x="5135054" y="0"/>
                  </a:lnTo>
                  <a:lnTo>
                    <a:pt x="5135054" y="6858000"/>
                  </a:lnTo>
                  <a:lnTo>
                    <a:pt x="0" y="6858000"/>
                  </a:lnTo>
                  <a:lnTo>
                    <a:pt x="0" y="0"/>
                  </a:lnTo>
                  <a:close/>
                </a:path>
              </a:pathLst>
            </a:custGeom>
            <a:blipFill>
              <a:blip r:embed="rId7"/>
              <a:stretch>
                <a:fillRect l="0" t="0" r="0" b="0"/>
              </a:stretch>
            </a:blipFill>
          </p:spPr>
        </p:sp>
        <p:sp>
          <p:nvSpPr>
            <p:cNvPr name="Freeform 9" id="9"/>
            <p:cNvSpPr/>
            <p:nvPr/>
          </p:nvSpPr>
          <p:spPr>
            <a:xfrm flipH="false" flipV="false" rot="0">
              <a:off x="22159292" y="12078"/>
              <a:ext cx="9110069" cy="6845922"/>
            </a:xfrm>
            <a:custGeom>
              <a:avLst/>
              <a:gdLst/>
              <a:ahLst/>
              <a:cxnLst/>
              <a:rect r="r" b="b" t="t" l="l"/>
              <a:pathLst>
                <a:path h="6845922" w="9110069">
                  <a:moveTo>
                    <a:pt x="0" y="0"/>
                  </a:moveTo>
                  <a:lnTo>
                    <a:pt x="9110069" y="0"/>
                  </a:lnTo>
                  <a:lnTo>
                    <a:pt x="9110069" y="6845922"/>
                  </a:lnTo>
                  <a:lnTo>
                    <a:pt x="0" y="6845922"/>
                  </a:lnTo>
                  <a:lnTo>
                    <a:pt x="0" y="0"/>
                  </a:lnTo>
                  <a:close/>
                </a:path>
              </a:pathLst>
            </a:custGeom>
            <a:blipFill>
              <a:blip r:embed="rId8"/>
              <a:stretch>
                <a:fillRect l="0" t="0" r="0" b="0"/>
              </a:stretch>
            </a:blipFill>
          </p:spPr>
        </p:sp>
        <p:sp>
          <p:nvSpPr>
            <p:cNvPr name="Freeform 10" id="10"/>
            <p:cNvSpPr/>
            <p:nvPr/>
          </p:nvSpPr>
          <p:spPr>
            <a:xfrm flipH="false" flipV="false" rot="0">
              <a:off x="17024238" y="6858000"/>
              <a:ext cx="9110069" cy="6845922"/>
            </a:xfrm>
            <a:custGeom>
              <a:avLst/>
              <a:gdLst/>
              <a:ahLst/>
              <a:cxnLst/>
              <a:rect r="r" b="b" t="t" l="l"/>
              <a:pathLst>
                <a:path h="6845922" w="9110069">
                  <a:moveTo>
                    <a:pt x="0" y="0"/>
                  </a:moveTo>
                  <a:lnTo>
                    <a:pt x="9110069" y="0"/>
                  </a:lnTo>
                  <a:lnTo>
                    <a:pt x="9110069" y="6845922"/>
                  </a:lnTo>
                  <a:lnTo>
                    <a:pt x="0" y="6845922"/>
                  </a:lnTo>
                  <a:lnTo>
                    <a:pt x="0" y="0"/>
                  </a:lnTo>
                  <a:close/>
                </a:path>
              </a:pathLst>
            </a:custGeom>
            <a:blipFill>
              <a:blip r:embed="rId8"/>
              <a:stretch>
                <a:fillRect l="0" t="0" r="0" b="0"/>
              </a:stretch>
            </a:blipFill>
          </p:spPr>
        </p:sp>
        <p:sp>
          <p:nvSpPr>
            <p:cNvPr name="Freeform 11" id="11"/>
            <p:cNvSpPr/>
            <p:nvPr/>
          </p:nvSpPr>
          <p:spPr>
            <a:xfrm flipH="false" flipV="false" rot="0">
              <a:off x="26134307" y="6858000"/>
              <a:ext cx="5135054" cy="6858000"/>
            </a:xfrm>
            <a:custGeom>
              <a:avLst/>
              <a:gdLst/>
              <a:ahLst/>
              <a:cxnLst/>
              <a:rect r="r" b="b" t="t" l="l"/>
              <a:pathLst>
                <a:path h="6858000" w="5135054">
                  <a:moveTo>
                    <a:pt x="0" y="0"/>
                  </a:moveTo>
                  <a:lnTo>
                    <a:pt x="5135054" y="0"/>
                  </a:lnTo>
                  <a:lnTo>
                    <a:pt x="5135054" y="6858000"/>
                  </a:lnTo>
                  <a:lnTo>
                    <a:pt x="0" y="6858000"/>
                  </a:lnTo>
                  <a:lnTo>
                    <a:pt x="0" y="0"/>
                  </a:lnTo>
                  <a:close/>
                </a:path>
              </a:pathLst>
            </a:custGeom>
            <a:blipFill>
              <a:blip r:embed="rId7"/>
              <a:stretch>
                <a:fillRect l="0" t="0" r="0" b="0"/>
              </a:stretch>
            </a:blipFill>
          </p:spPr>
        </p:sp>
      </p:grpSp>
      <p:grpSp>
        <p:nvGrpSpPr>
          <p:cNvPr name="Group 12" id="12"/>
          <p:cNvGrpSpPr/>
          <p:nvPr/>
        </p:nvGrpSpPr>
        <p:grpSpPr>
          <a:xfrm rot="0">
            <a:off x="931191" y="2106647"/>
            <a:ext cx="16425618" cy="7599979"/>
            <a:chOff x="0" y="0"/>
            <a:chExt cx="4326089" cy="2001641"/>
          </a:xfrm>
        </p:grpSpPr>
        <p:sp>
          <p:nvSpPr>
            <p:cNvPr name="Freeform 13" id="13"/>
            <p:cNvSpPr/>
            <p:nvPr/>
          </p:nvSpPr>
          <p:spPr>
            <a:xfrm flipH="false" flipV="false" rot="0">
              <a:off x="0" y="0"/>
              <a:ext cx="4326089" cy="2001641"/>
            </a:xfrm>
            <a:custGeom>
              <a:avLst/>
              <a:gdLst/>
              <a:ahLst/>
              <a:cxnLst/>
              <a:rect r="r" b="b" t="t" l="l"/>
              <a:pathLst>
                <a:path h="2001641" w="4326089">
                  <a:moveTo>
                    <a:pt x="0" y="0"/>
                  </a:moveTo>
                  <a:lnTo>
                    <a:pt x="4326089" y="0"/>
                  </a:lnTo>
                  <a:lnTo>
                    <a:pt x="4326089" y="2001641"/>
                  </a:lnTo>
                  <a:lnTo>
                    <a:pt x="0" y="2001641"/>
                  </a:lnTo>
                  <a:close/>
                </a:path>
              </a:pathLst>
            </a:custGeom>
            <a:solidFill>
              <a:srgbClr val="FFFFFF">
                <a:alpha val="89804"/>
              </a:srgbClr>
            </a:solidFill>
          </p:spPr>
        </p:sp>
        <p:sp>
          <p:nvSpPr>
            <p:cNvPr name="TextBox 14" id="14"/>
            <p:cNvSpPr txBox="true"/>
            <p:nvPr/>
          </p:nvSpPr>
          <p:spPr>
            <a:xfrm>
              <a:off x="0" y="-114300"/>
              <a:ext cx="4326089" cy="2115941"/>
            </a:xfrm>
            <a:prstGeom prst="rect">
              <a:avLst/>
            </a:prstGeom>
          </p:spPr>
          <p:txBody>
            <a:bodyPr anchor="ctr" rtlCol="false" tIns="50800" lIns="50800" bIns="50800" rIns="50800"/>
            <a:lstStyle/>
            <a:p>
              <a:pPr algn="ctr">
                <a:lnSpc>
                  <a:spcPts val="2700"/>
                </a:lnSpc>
              </a:pPr>
            </a:p>
          </p:txBody>
        </p:sp>
      </p:grpSp>
      <p:sp>
        <p:nvSpPr>
          <p:cNvPr name="TextBox 15" id="15"/>
          <p:cNvSpPr txBox="true"/>
          <p:nvPr/>
        </p:nvSpPr>
        <p:spPr>
          <a:xfrm rot="0">
            <a:off x="1247300" y="263062"/>
            <a:ext cx="15793400" cy="1312201"/>
          </a:xfrm>
          <a:prstGeom prst="rect">
            <a:avLst/>
          </a:prstGeom>
        </p:spPr>
        <p:txBody>
          <a:bodyPr anchor="t" rtlCol="false" tIns="0" lIns="0" bIns="0" rIns="0">
            <a:spAutoFit/>
          </a:bodyPr>
          <a:lstStyle/>
          <a:p>
            <a:pPr algn="ctr">
              <a:lnSpc>
                <a:spcPts val="8208"/>
              </a:lnSpc>
            </a:pPr>
            <a:r>
              <a:rPr lang="en-US" b="true" sz="7200" spc="-266">
                <a:solidFill>
                  <a:srgbClr val="FFFFFF"/>
                </a:solidFill>
                <a:latin typeface="Mont 2 Bold"/>
                <a:ea typeface="Mont 2 Bold"/>
                <a:cs typeface="Mont 2 Bold"/>
                <a:sym typeface="Mont 2 Bold"/>
              </a:rPr>
              <a:t>TRUSTED BY LEADING COMPANIES</a:t>
            </a:r>
          </a:p>
        </p:txBody>
      </p:sp>
      <p:sp>
        <p:nvSpPr>
          <p:cNvPr name="TextBox 16" id="16"/>
          <p:cNvSpPr txBox="true"/>
          <p:nvPr/>
        </p:nvSpPr>
        <p:spPr>
          <a:xfrm rot="0">
            <a:off x="8742885" y="9195816"/>
            <a:ext cx="8378349" cy="371475"/>
          </a:xfrm>
          <a:prstGeom prst="rect">
            <a:avLst/>
          </a:prstGeom>
        </p:spPr>
        <p:txBody>
          <a:bodyPr anchor="t" rtlCol="false" tIns="0" lIns="0" bIns="0" rIns="0">
            <a:spAutoFit/>
          </a:bodyPr>
          <a:lstStyle/>
          <a:p>
            <a:pPr algn="r">
              <a:lnSpc>
                <a:spcPts val="2879"/>
              </a:lnSpc>
            </a:pPr>
            <a:r>
              <a:rPr lang="en-US" b="true" sz="2400" spc="24">
                <a:solidFill>
                  <a:srgbClr val="073763"/>
                </a:solidFill>
                <a:latin typeface="Mont 1 Bold"/>
                <a:ea typeface="Mont 1 Bold"/>
                <a:cs typeface="Mont 1 Bold"/>
                <a:sym typeface="Mont 1 Bold"/>
              </a:rPr>
              <a:t>and many more training events and collaborations!</a:t>
            </a:r>
          </a:p>
        </p:txBody>
      </p:sp>
      <p:sp>
        <p:nvSpPr>
          <p:cNvPr name="Freeform 17" id="17"/>
          <p:cNvSpPr/>
          <p:nvPr/>
        </p:nvSpPr>
        <p:spPr>
          <a:xfrm flipH="false" flipV="false" rot="0">
            <a:off x="8586746" y="5396157"/>
            <a:ext cx="2087167" cy="688765"/>
          </a:xfrm>
          <a:custGeom>
            <a:avLst/>
            <a:gdLst/>
            <a:ahLst/>
            <a:cxnLst/>
            <a:rect r="r" b="b" t="t" l="l"/>
            <a:pathLst>
              <a:path h="688765" w="2087167">
                <a:moveTo>
                  <a:pt x="0" y="0"/>
                </a:moveTo>
                <a:lnTo>
                  <a:pt x="2087167" y="0"/>
                </a:lnTo>
                <a:lnTo>
                  <a:pt x="2087167" y="688765"/>
                </a:lnTo>
                <a:lnTo>
                  <a:pt x="0" y="688765"/>
                </a:lnTo>
                <a:lnTo>
                  <a:pt x="0" y="0"/>
                </a:lnTo>
                <a:close/>
              </a:path>
            </a:pathLst>
          </a:custGeom>
          <a:blipFill>
            <a:blip r:embed="rId9"/>
            <a:stretch>
              <a:fillRect l="0" t="0" r="0" b="0"/>
            </a:stretch>
          </a:blipFill>
        </p:spPr>
      </p:sp>
      <p:sp>
        <p:nvSpPr>
          <p:cNvPr name="Freeform 18" id="18"/>
          <p:cNvSpPr/>
          <p:nvPr/>
        </p:nvSpPr>
        <p:spPr>
          <a:xfrm flipH="false" flipV="false" rot="0">
            <a:off x="15698519" y="6592564"/>
            <a:ext cx="1333819" cy="484047"/>
          </a:xfrm>
          <a:custGeom>
            <a:avLst/>
            <a:gdLst/>
            <a:ahLst/>
            <a:cxnLst/>
            <a:rect r="r" b="b" t="t" l="l"/>
            <a:pathLst>
              <a:path h="484047" w="1333819">
                <a:moveTo>
                  <a:pt x="0" y="0"/>
                </a:moveTo>
                <a:lnTo>
                  <a:pt x="1333819" y="0"/>
                </a:lnTo>
                <a:lnTo>
                  <a:pt x="1333819" y="484047"/>
                </a:lnTo>
                <a:lnTo>
                  <a:pt x="0" y="484047"/>
                </a:lnTo>
                <a:lnTo>
                  <a:pt x="0" y="0"/>
                </a:lnTo>
                <a:close/>
              </a:path>
            </a:pathLst>
          </a:custGeom>
          <a:blipFill>
            <a:blip r:embed="rId10"/>
            <a:stretch>
              <a:fillRect l="0" t="0" r="0" b="0"/>
            </a:stretch>
          </a:blipFill>
        </p:spPr>
      </p:sp>
      <p:sp>
        <p:nvSpPr>
          <p:cNvPr name="Freeform 19" id="19"/>
          <p:cNvSpPr/>
          <p:nvPr/>
        </p:nvSpPr>
        <p:spPr>
          <a:xfrm flipH="false" flipV="false" rot="0">
            <a:off x="7473558" y="4243735"/>
            <a:ext cx="1460283" cy="741093"/>
          </a:xfrm>
          <a:custGeom>
            <a:avLst/>
            <a:gdLst/>
            <a:ahLst/>
            <a:cxnLst/>
            <a:rect r="r" b="b" t="t" l="l"/>
            <a:pathLst>
              <a:path h="741093" w="1460283">
                <a:moveTo>
                  <a:pt x="0" y="0"/>
                </a:moveTo>
                <a:lnTo>
                  <a:pt x="1460283" y="0"/>
                </a:lnTo>
                <a:lnTo>
                  <a:pt x="1460283" y="741093"/>
                </a:lnTo>
                <a:lnTo>
                  <a:pt x="0" y="741093"/>
                </a:lnTo>
                <a:lnTo>
                  <a:pt x="0" y="0"/>
                </a:lnTo>
                <a:close/>
              </a:path>
            </a:pathLst>
          </a:custGeom>
          <a:blipFill>
            <a:blip r:embed="rId11"/>
            <a:stretch>
              <a:fillRect l="0" t="0" r="0" b="0"/>
            </a:stretch>
          </a:blipFill>
        </p:spPr>
      </p:sp>
      <p:sp>
        <p:nvSpPr>
          <p:cNvPr name="Freeform 20" id="20"/>
          <p:cNvSpPr/>
          <p:nvPr/>
        </p:nvSpPr>
        <p:spPr>
          <a:xfrm flipH="false" flipV="false" rot="0">
            <a:off x="6535274" y="7378977"/>
            <a:ext cx="1039460" cy="1039460"/>
          </a:xfrm>
          <a:custGeom>
            <a:avLst/>
            <a:gdLst/>
            <a:ahLst/>
            <a:cxnLst/>
            <a:rect r="r" b="b" t="t" l="l"/>
            <a:pathLst>
              <a:path h="1039460" w="1039460">
                <a:moveTo>
                  <a:pt x="0" y="0"/>
                </a:moveTo>
                <a:lnTo>
                  <a:pt x="1039460" y="0"/>
                </a:lnTo>
                <a:lnTo>
                  <a:pt x="1039460" y="1039460"/>
                </a:lnTo>
                <a:lnTo>
                  <a:pt x="0" y="1039460"/>
                </a:lnTo>
                <a:lnTo>
                  <a:pt x="0" y="0"/>
                </a:lnTo>
                <a:close/>
              </a:path>
            </a:pathLst>
          </a:custGeom>
          <a:blipFill>
            <a:blip r:embed="rId12"/>
            <a:stretch>
              <a:fillRect l="0" t="0" r="0" b="0"/>
            </a:stretch>
          </a:blipFill>
        </p:spPr>
      </p:sp>
      <p:sp>
        <p:nvSpPr>
          <p:cNvPr name="Freeform 21" id="21"/>
          <p:cNvSpPr/>
          <p:nvPr/>
        </p:nvSpPr>
        <p:spPr>
          <a:xfrm flipH="false" flipV="false" rot="0">
            <a:off x="12104864" y="4131301"/>
            <a:ext cx="3330838" cy="853527"/>
          </a:xfrm>
          <a:custGeom>
            <a:avLst/>
            <a:gdLst/>
            <a:ahLst/>
            <a:cxnLst/>
            <a:rect r="r" b="b" t="t" l="l"/>
            <a:pathLst>
              <a:path h="853527" w="3330838">
                <a:moveTo>
                  <a:pt x="0" y="0"/>
                </a:moveTo>
                <a:lnTo>
                  <a:pt x="3330838" y="0"/>
                </a:lnTo>
                <a:lnTo>
                  <a:pt x="3330838" y="853527"/>
                </a:lnTo>
                <a:lnTo>
                  <a:pt x="0" y="853527"/>
                </a:lnTo>
                <a:lnTo>
                  <a:pt x="0" y="0"/>
                </a:lnTo>
                <a:close/>
              </a:path>
            </a:pathLst>
          </a:custGeom>
          <a:blipFill>
            <a:blip r:embed="rId13"/>
            <a:stretch>
              <a:fillRect l="0" t="0" r="0" b="0"/>
            </a:stretch>
          </a:blipFill>
        </p:spPr>
      </p:sp>
      <p:sp>
        <p:nvSpPr>
          <p:cNvPr name="Freeform 22" id="22"/>
          <p:cNvSpPr/>
          <p:nvPr/>
        </p:nvSpPr>
        <p:spPr>
          <a:xfrm flipH="false" flipV="false" rot="0">
            <a:off x="9119842" y="6304056"/>
            <a:ext cx="2085978" cy="1021260"/>
          </a:xfrm>
          <a:custGeom>
            <a:avLst/>
            <a:gdLst/>
            <a:ahLst/>
            <a:cxnLst/>
            <a:rect r="r" b="b" t="t" l="l"/>
            <a:pathLst>
              <a:path h="1021260" w="2085978">
                <a:moveTo>
                  <a:pt x="0" y="0"/>
                </a:moveTo>
                <a:lnTo>
                  <a:pt x="2085977" y="0"/>
                </a:lnTo>
                <a:lnTo>
                  <a:pt x="2085977" y="1021260"/>
                </a:lnTo>
                <a:lnTo>
                  <a:pt x="0" y="1021260"/>
                </a:lnTo>
                <a:lnTo>
                  <a:pt x="0" y="0"/>
                </a:lnTo>
                <a:close/>
              </a:path>
            </a:pathLst>
          </a:custGeom>
          <a:blipFill>
            <a:blip r:embed="rId14"/>
            <a:stretch>
              <a:fillRect l="-11113" t="-23069" r="-18620" b="-25985"/>
            </a:stretch>
          </a:blipFill>
        </p:spPr>
      </p:sp>
      <p:sp>
        <p:nvSpPr>
          <p:cNvPr name="Freeform 23" id="23"/>
          <p:cNvSpPr/>
          <p:nvPr/>
        </p:nvSpPr>
        <p:spPr>
          <a:xfrm flipH="false" flipV="false" rot="0">
            <a:off x="5339558" y="4131301"/>
            <a:ext cx="2063778" cy="878812"/>
          </a:xfrm>
          <a:custGeom>
            <a:avLst/>
            <a:gdLst/>
            <a:ahLst/>
            <a:cxnLst/>
            <a:rect r="r" b="b" t="t" l="l"/>
            <a:pathLst>
              <a:path h="878812" w="2063778">
                <a:moveTo>
                  <a:pt x="0" y="0"/>
                </a:moveTo>
                <a:lnTo>
                  <a:pt x="2063777" y="0"/>
                </a:lnTo>
                <a:lnTo>
                  <a:pt x="2063777" y="878812"/>
                </a:lnTo>
                <a:lnTo>
                  <a:pt x="0" y="878812"/>
                </a:lnTo>
                <a:lnTo>
                  <a:pt x="0" y="0"/>
                </a:lnTo>
                <a:close/>
              </a:path>
            </a:pathLst>
          </a:custGeom>
          <a:blipFill>
            <a:blip r:embed="rId15"/>
            <a:stretch>
              <a:fillRect l="0" t="-70124" r="-817" b="-66631"/>
            </a:stretch>
          </a:blipFill>
        </p:spPr>
      </p:sp>
      <p:sp>
        <p:nvSpPr>
          <p:cNvPr name="Freeform 24" id="24"/>
          <p:cNvSpPr/>
          <p:nvPr/>
        </p:nvSpPr>
        <p:spPr>
          <a:xfrm flipH="false" flipV="false" rot="0">
            <a:off x="5982309" y="5262718"/>
            <a:ext cx="2856766" cy="878456"/>
          </a:xfrm>
          <a:custGeom>
            <a:avLst/>
            <a:gdLst/>
            <a:ahLst/>
            <a:cxnLst/>
            <a:rect r="r" b="b" t="t" l="l"/>
            <a:pathLst>
              <a:path h="878456" w="2856766">
                <a:moveTo>
                  <a:pt x="0" y="0"/>
                </a:moveTo>
                <a:lnTo>
                  <a:pt x="2856766" y="0"/>
                </a:lnTo>
                <a:lnTo>
                  <a:pt x="2856766" y="878456"/>
                </a:lnTo>
                <a:lnTo>
                  <a:pt x="0" y="878456"/>
                </a:lnTo>
                <a:lnTo>
                  <a:pt x="0" y="0"/>
                </a:lnTo>
                <a:close/>
              </a:path>
            </a:pathLst>
          </a:custGeom>
          <a:blipFill>
            <a:blip r:embed="rId16"/>
            <a:stretch>
              <a:fillRect l="0" t="0" r="0" b="0"/>
            </a:stretch>
          </a:blipFill>
        </p:spPr>
      </p:sp>
      <p:sp>
        <p:nvSpPr>
          <p:cNvPr name="Freeform 25" id="25"/>
          <p:cNvSpPr/>
          <p:nvPr/>
        </p:nvSpPr>
        <p:spPr>
          <a:xfrm flipH="false" flipV="false" rot="0">
            <a:off x="15605604" y="4061950"/>
            <a:ext cx="1157758" cy="901270"/>
          </a:xfrm>
          <a:custGeom>
            <a:avLst/>
            <a:gdLst/>
            <a:ahLst/>
            <a:cxnLst/>
            <a:rect r="r" b="b" t="t" l="l"/>
            <a:pathLst>
              <a:path h="901270" w="1157758">
                <a:moveTo>
                  <a:pt x="0" y="0"/>
                </a:moveTo>
                <a:lnTo>
                  <a:pt x="1157758" y="0"/>
                </a:lnTo>
                <a:lnTo>
                  <a:pt x="1157758" y="901270"/>
                </a:lnTo>
                <a:lnTo>
                  <a:pt x="0" y="901270"/>
                </a:lnTo>
                <a:lnTo>
                  <a:pt x="0" y="0"/>
                </a:lnTo>
                <a:close/>
              </a:path>
            </a:pathLst>
          </a:custGeom>
          <a:blipFill>
            <a:blip r:embed="rId17"/>
            <a:stretch>
              <a:fillRect l="0" t="0" r="0" b="0"/>
            </a:stretch>
          </a:blipFill>
        </p:spPr>
      </p:sp>
      <p:sp>
        <p:nvSpPr>
          <p:cNvPr name="Freeform 26" id="26"/>
          <p:cNvSpPr/>
          <p:nvPr/>
        </p:nvSpPr>
        <p:spPr>
          <a:xfrm flipH="false" flipV="false" rot="0">
            <a:off x="13622833" y="5408646"/>
            <a:ext cx="2981120" cy="553224"/>
          </a:xfrm>
          <a:custGeom>
            <a:avLst/>
            <a:gdLst/>
            <a:ahLst/>
            <a:cxnLst/>
            <a:rect r="r" b="b" t="t" l="l"/>
            <a:pathLst>
              <a:path h="553224" w="2981120">
                <a:moveTo>
                  <a:pt x="0" y="0"/>
                </a:moveTo>
                <a:lnTo>
                  <a:pt x="2981120" y="0"/>
                </a:lnTo>
                <a:lnTo>
                  <a:pt x="2981120" y="553224"/>
                </a:lnTo>
                <a:lnTo>
                  <a:pt x="0" y="553224"/>
                </a:lnTo>
                <a:lnTo>
                  <a:pt x="0" y="0"/>
                </a:lnTo>
                <a:close/>
              </a:path>
            </a:pathLst>
          </a:custGeom>
          <a:blipFill>
            <a:blip r:embed="rId18"/>
            <a:stretch>
              <a:fillRect l="-1506" t="-21643" r="0" b="-21643"/>
            </a:stretch>
          </a:blipFill>
        </p:spPr>
      </p:sp>
      <p:sp>
        <p:nvSpPr>
          <p:cNvPr name="Freeform 27" id="27"/>
          <p:cNvSpPr/>
          <p:nvPr/>
        </p:nvSpPr>
        <p:spPr>
          <a:xfrm flipH="false" flipV="false" rot="0">
            <a:off x="3396275" y="6561386"/>
            <a:ext cx="2093941" cy="476372"/>
          </a:xfrm>
          <a:custGeom>
            <a:avLst/>
            <a:gdLst/>
            <a:ahLst/>
            <a:cxnLst/>
            <a:rect r="r" b="b" t="t" l="l"/>
            <a:pathLst>
              <a:path h="476372" w="2093941">
                <a:moveTo>
                  <a:pt x="0" y="0"/>
                </a:moveTo>
                <a:lnTo>
                  <a:pt x="2093941" y="0"/>
                </a:lnTo>
                <a:lnTo>
                  <a:pt x="2093941" y="476372"/>
                </a:lnTo>
                <a:lnTo>
                  <a:pt x="0" y="476372"/>
                </a:lnTo>
                <a:lnTo>
                  <a:pt x="0" y="0"/>
                </a:lnTo>
                <a:close/>
              </a:path>
            </a:pathLst>
          </a:custGeom>
          <a:blipFill>
            <a:blip r:embed="rId19"/>
            <a:stretch>
              <a:fillRect l="0" t="0" r="0" b="0"/>
            </a:stretch>
          </a:blipFill>
        </p:spPr>
      </p:sp>
      <p:sp>
        <p:nvSpPr>
          <p:cNvPr name="Freeform 28" id="28"/>
          <p:cNvSpPr/>
          <p:nvPr/>
        </p:nvSpPr>
        <p:spPr>
          <a:xfrm flipH="false" flipV="false" rot="0">
            <a:off x="13146869" y="2691592"/>
            <a:ext cx="1789439" cy="1089321"/>
          </a:xfrm>
          <a:custGeom>
            <a:avLst/>
            <a:gdLst/>
            <a:ahLst/>
            <a:cxnLst/>
            <a:rect r="r" b="b" t="t" l="l"/>
            <a:pathLst>
              <a:path h="1089321" w="1789439">
                <a:moveTo>
                  <a:pt x="0" y="0"/>
                </a:moveTo>
                <a:lnTo>
                  <a:pt x="1789440" y="0"/>
                </a:lnTo>
                <a:lnTo>
                  <a:pt x="1789440" y="1089321"/>
                </a:lnTo>
                <a:lnTo>
                  <a:pt x="0" y="1089321"/>
                </a:lnTo>
                <a:lnTo>
                  <a:pt x="0" y="0"/>
                </a:lnTo>
                <a:close/>
              </a:path>
            </a:pathLst>
          </a:custGeom>
          <a:blipFill>
            <a:blip r:embed="rId20"/>
            <a:stretch>
              <a:fillRect l="0" t="0" r="0" b="0"/>
            </a:stretch>
          </a:blipFill>
        </p:spPr>
      </p:sp>
      <p:sp>
        <p:nvSpPr>
          <p:cNvPr name="Freeform 29" id="29"/>
          <p:cNvSpPr/>
          <p:nvPr/>
        </p:nvSpPr>
        <p:spPr>
          <a:xfrm flipH="false" flipV="false" rot="0">
            <a:off x="12627265" y="6385182"/>
            <a:ext cx="2698951" cy="774818"/>
          </a:xfrm>
          <a:custGeom>
            <a:avLst/>
            <a:gdLst/>
            <a:ahLst/>
            <a:cxnLst/>
            <a:rect r="r" b="b" t="t" l="l"/>
            <a:pathLst>
              <a:path h="774818" w="2698951">
                <a:moveTo>
                  <a:pt x="0" y="0"/>
                </a:moveTo>
                <a:lnTo>
                  <a:pt x="2698951" y="0"/>
                </a:lnTo>
                <a:lnTo>
                  <a:pt x="2698951" y="774819"/>
                </a:lnTo>
                <a:lnTo>
                  <a:pt x="0" y="774819"/>
                </a:lnTo>
                <a:lnTo>
                  <a:pt x="0" y="0"/>
                </a:lnTo>
                <a:close/>
              </a:path>
            </a:pathLst>
          </a:custGeom>
          <a:blipFill>
            <a:blip r:embed="rId21"/>
            <a:stretch>
              <a:fillRect l="0" t="0" r="0" b="0"/>
            </a:stretch>
          </a:blipFill>
        </p:spPr>
      </p:sp>
      <p:sp>
        <p:nvSpPr>
          <p:cNvPr name="Freeform 30" id="30"/>
          <p:cNvSpPr/>
          <p:nvPr/>
        </p:nvSpPr>
        <p:spPr>
          <a:xfrm flipH="false" flipV="false" rot="0">
            <a:off x="14933474" y="2602597"/>
            <a:ext cx="2423335" cy="1615556"/>
          </a:xfrm>
          <a:custGeom>
            <a:avLst/>
            <a:gdLst/>
            <a:ahLst/>
            <a:cxnLst/>
            <a:rect r="r" b="b" t="t" l="l"/>
            <a:pathLst>
              <a:path h="1615556" w="2423335">
                <a:moveTo>
                  <a:pt x="0" y="0"/>
                </a:moveTo>
                <a:lnTo>
                  <a:pt x="2423335" y="0"/>
                </a:lnTo>
                <a:lnTo>
                  <a:pt x="2423335" y="1615557"/>
                </a:lnTo>
                <a:lnTo>
                  <a:pt x="0" y="1615557"/>
                </a:lnTo>
                <a:lnTo>
                  <a:pt x="0" y="0"/>
                </a:lnTo>
                <a:close/>
              </a:path>
            </a:pathLst>
          </a:custGeom>
          <a:blipFill>
            <a:blip r:embed="rId22"/>
            <a:stretch>
              <a:fillRect l="0" t="0" r="0" b="0"/>
            </a:stretch>
          </a:blipFill>
        </p:spPr>
      </p:sp>
      <p:sp>
        <p:nvSpPr>
          <p:cNvPr name="Freeform 31" id="31"/>
          <p:cNvSpPr/>
          <p:nvPr/>
        </p:nvSpPr>
        <p:spPr>
          <a:xfrm flipH="false" flipV="false" rot="0">
            <a:off x="11447107" y="2899092"/>
            <a:ext cx="1819101" cy="1023244"/>
          </a:xfrm>
          <a:custGeom>
            <a:avLst/>
            <a:gdLst/>
            <a:ahLst/>
            <a:cxnLst/>
            <a:rect r="r" b="b" t="t" l="l"/>
            <a:pathLst>
              <a:path h="1023244" w="1819101">
                <a:moveTo>
                  <a:pt x="0" y="0"/>
                </a:moveTo>
                <a:lnTo>
                  <a:pt x="1819101" y="0"/>
                </a:lnTo>
                <a:lnTo>
                  <a:pt x="1819101" y="1023245"/>
                </a:lnTo>
                <a:lnTo>
                  <a:pt x="0" y="1023245"/>
                </a:lnTo>
                <a:lnTo>
                  <a:pt x="0" y="0"/>
                </a:lnTo>
                <a:close/>
              </a:path>
            </a:pathLst>
          </a:custGeom>
          <a:blipFill>
            <a:blip r:embed="rId23"/>
            <a:stretch>
              <a:fillRect l="0" t="0" r="0" b="0"/>
            </a:stretch>
          </a:blipFill>
        </p:spPr>
      </p:sp>
      <p:sp>
        <p:nvSpPr>
          <p:cNvPr name="Freeform 32" id="32"/>
          <p:cNvSpPr/>
          <p:nvPr/>
        </p:nvSpPr>
        <p:spPr>
          <a:xfrm flipH="false" flipV="false" rot="0">
            <a:off x="10009069" y="3105131"/>
            <a:ext cx="1438038" cy="611166"/>
          </a:xfrm>
          <a:custGeom>
            <a:avLst/>
            <a:gdLst/>
            <a:ahLst/>
            <a:cxnLst/>
            <a:rect r="r" b="b" t="t" l="l"/>
            <a:pathLst>
              <a:path h="611166" w="1438038">
                <a:moveTo>
                  <a:pt x="0" y="0"/>
                </a:moveTo>
                <a:lnTo>
                  <a:pt x="1438038" y="0"/>
                </a:lnTo>
                <a:lnTo>
                  <a:pt x="1438038" y="611167"/>
                </a:lnTo>
                <a:lnTo>
                  <a:pt x="0" y="611167"/>
                </a:lnTo>
                <a:lnTo>
                  <a:pt x="0" y="0"/>
                </a:lnTo>
                <a:close/>
              </a:path>
            </a:pathLst>
          </a:custGeom>
          <a:blipFill>
            <a:blip r:embed="rId24"/>
            <a:stretch>
              <a:fillRect l="0" t="0" r="0" b="0"/>
            </a:stretch>
          </a:blipFill>
        </p:spPr>
      </p:sp>
      <p:sp>
        <p:nvSpPr>
          <p:cNvPr name="Freeform 33" id="33"/>
          <p:cNvSpPr/>
          <p:nvPr/>
        </p:nvSpPr>
        <p:spPr>
          <a:xfrm flipH="false" flipV="false" rot="0">
            <a:off x="1798621" y="5504098"/>
            <a:ext cx="2113064" cy="541473"/>
          </a:xfrm>
          <a:custGeom>
            <a:avLst/>
            <a:gdLst/>
            <a:ahLst/>
            <a:cxnLst/>
            <a:rect r="r" b="b" t="t" l="l"/>
            <a:pathLst>
              <a:path h="541473" w="2113064">
                <a:moveTo>
                  <a:pt x="0" y="0"/>
                </a:moveTo>
                <a:lnTo>
                  <a:pt x="2113064" y="0"/>
                </a:lnTo>
                <a:lnTo>
                  <a:pt x="2113064" y="541473"/>
                </a:lnTo>
                <a:lnTo>
                  <a:pt x="0" y="541473"/>
                </a:lnTo>
                <a:lnTo>
                  <a:pt x="0" y="0"/>
                </a:lnTo>
                <a:close/>
              </a:path>
            </a:pathLst>
          </a:custGeom>
          <a:blipFill>
            <a:blip r:embed="rId25"/>
            <a:stretch>
              <a:fillRect l="0" t="0" r="0" b="0"/>
            </a:stretch>
          </a:blipFill>
        </p:spPr>
      </p:sp>
      <p:sp>
        <p:nvSpPr>
          <p:cNvPr name="Freeform 34" id="34"/>
          <p:cNvSpPr/>
          <p:nvPr/>
        </p:nvSpPr>
        <p:spPr>
          <a:xfrm flipH="false" flipV="false" rot="0">
            <a:off x="1028700" y="6512114"/>
            <a:ext cx="2111825" cy="586004"/>
          </a:xfrm>
          <a:custGeom>
            <a:avLst/>
            <a:gdLst/>
            <a:ahLst/>
            <a:cxnLst/>
            <a:rect r="r" b="b" t="t" l="l"/>
            <a:pathLst>
              <a:path h="586004" w="2111825">
                <a:moveTo>
                  <a:pt x="0" y="0"/>
                </a:moveTo>
                <a:lnTo>
                  <a:pt x="2111825" y="0"/>
                </a:lnTo>
                <a:lnTo>
                  <a:pt x="2111825" y="586004"/>
                </a:lnTo>
                <a:lnTo>
                  <a:pt x="0" y="586004"/>
                </a:lnTo>
                <a:lnTo>
                  <a:pt x="0" y="0"/>
                </a:lnTo>
                <a:close/>
              </a:path>
            </a:pathLst>
          </a:custGeom>
          <a:blipFill>
            <a:blip r:embed="rId26"/>
            <a:stretch>
              <a:fillRect l="0" t="0" r="0" b="0"/>
            </a:stretch>
          </a:blipFill>
        </p:spPr>
      </p:sp>
      <p:sp>
        <p:nvSpPr>
          <p:cNvPr name="Freeform 35" id="35"/>
          <p:cNvSpPr/>
          <p:nvPr/>
        </p:nvSpPr>
        <p:spPr>
          <a:xfrm flipH="false" flipV="false" rot="0">
            <a:off x="10939131" y="5358321"/>
            <a:ext cx="2492734" cy="687249"/>
          </a:xfrm>
          <a:custGeom>
            <a:avLst/>
            <a:gdLst/>
            <a:ahLst/>
            <a:cxnLst/>
            <a:rect r="r" b="b" t="t" l="l"/>
            <a:pathLst>
              <a:path h="687249" w="2492734">
                <a:moveTo>
                  <a:pt x="0" y="0"/>
                </a:moveTo>
                <a:lnTo>
                  <a:pt x="2492735" y="0"/>
                </a:lnTo>
                <a:lnTo>
                  <a:pt x="2492735" y="687250"/>
                </a:lnTo>
                <a:lnTo>
                  <a:pt x="0" y="687250"/>
                </a:lnTo>
                <a:lnTo>
                  <a:pt x="0" y="0"/>
                </a:lnTo>
                <a:close/>
              </a:path>
            </a:pathLst>
          </a:custGeom>
          <a:blipFill>
            <a:blip r:embed="rId27"/>
            <a:stretch>
              <a:fillRect l="0" t="0" r="0" b="0"/>
            </a:stretch>
          </a:blipFill>
        </p:spPr>
      </p:sp>
      <p:sp>
        <p:nvSpPr>
          <p:cNvPr name="Freeform 36" id="36"/>
          <p:cNvSpPr/>
          <p:nvPr/>
        </p:nvSpPr>
        <p:spPr>
          <a:xfrm flipH="false" flipV="false" rot="0">
            <a:off x="4167644" y="5332713"/>
            <a:ext cx="1538470" cy="738465"/>
          </a:xfrm>
          <a:custGeom>
            <a:avLst/>
            <a:gdLst/>
            <a:ahLst/>
            <a:cxnLst/>
            <a:rect r="r" b="b" t="t" l="l"/>
            <a:pathLst>
              <a:path h="738465" w="1538470">
                <a:moveTo>
                  <a:pt x="0" y="0"/>
                </a:moveTo>
                <a:lnTo>
                  <a:pt x="1538469" y="0"/>
                </a:lnTo>
                <a:lnTo>
                  <a:pt x="1538469" y="738466"/>
                </a:lnTo>
                <a:lnTo>
                  <a:pt x="0" y="738466"/>
                </a:lnTo>
                <a:lnTo>
                  <a:pt x="0" y="0"/>
                </a:lnTo>
                <a:close/>
              </a:path>
            </a:pathLst>
          </a:custGeom>
          <a:blipFill>
            <a:blip r:embed="rId28"/>
            <a:stretch>
              <a:fillRect l="0" t="0" r="0" b="0"/>
            </a:stretch>
          </a:blipFill>
        </p:spPr>
      </p:sp>
      <p:sp>
        <p:nvSpPr>
          <p:cNvPr name="Freeform 37" id="37"/>
          <p:cNvSpPr/>
          <p:nvPr/>
        </p:nvSpPr>
        <p:spPr>
          <a:xfrm flipH="false" flipV="false" rot="0">
            <a:off x="6184924" y="2790265"/>
            <a:ext cx="1103696" cy="1103696"/>
          </a:xfrm>
          <a:custGeom>
            <a:avLst/>
            <a:gdLst/>
            <a:ahLst/>
            <a:cxnLst/>
            <a:rect r="r" b="b" t="t" l="l"/>
            <a:pathLst>
              <a:path h="1103696" w="1103696">
                <a:moveTo>
                  <a:pt x="0" y="0"/>
                </a:moveTo>
                <a:lnTo>
                  <a:pt x="1103697" y="0"/>
                </a:lnTo>
                <a:lnTo>
                  <a:pt x="1103697" y="1103697"/>
                </a:lnTo>
                <a:lnTo>
                  <a:pt x="0" y="1103697"/>
                </a:lnTo>
                <a:lnTo>
                  <a:pt x="0" y="0"/>
                </a:lnTo>
                <a:close/>
              </a:path>
            </a:pathLst>
          </a:custGeom>
          <a:blipFill>
            <a:blip r:embed="rId29"/>
            <a:stretch>
              <a:fillRect l="0" t="0" r="0" b="0"/>
            </a:stretch>
          </a:blipFill>
        </p:spPr>
      </p:sp>
      <p:sp>
        <p:nvSpPr>
          <p:cNvPr name="Freeform 38" id="38"/>
          <p:cNvSpPr/>
          <p:nvPr/>
        </p:nvSpPr>
        <p:spPr>
          <a:xfrm flipH="false" flipV="false" rot="0">
            <a:off x="4571308" y="2553136"/>
            <a:ext cx="1517802" cy="1517802"/>
          </a:xfrm>
          <a:custGeom>
            <a:avLst/>
            <a:gdLst/>
            <a:ahLst/>
            <a:cxnLst/>
            <a:rect r="r" b="b" t="t" l="l"/>
            <a:pathLst>
              <a:path h="1517802" w="1517802">
                <a:moveTo>
                  <a:pt x="0" y="0"/>
                </a:moveTo>
                <a:lnTo>
                  <a:pt x="1517803" y="0"/>
                </a:lnTo>
                <a:lnTo>
                  <a:pt x="1517803" y="1517803"/>
                </a:lnTo>
                <a:lnTo>
                  <a:pt x="0" y="1517803"/>
                </a:lnTo>
                <a:lnTo>
                  <a:pt x="0" y="0"/>
                </a:lnTo>
                <a:close/>
              </a:path>
            </a:pathLst>
          </a:custGeom>
          <a:blipFill>
            <a:blip r:embed="rId30"/>
            <a:stretch>
              <a:fillRect l="0" t="0" r="0" b="0"/>
            </a:stretch>
          </a:blipFill>
        </p:spPr>
      </p:sp>
      <p:sp>
        <p:nvSpPr>
          <p:cNvPr name="Freeform 39" id="39"/>
          <p:cNvSpPr/>
          <p:nvPr/>
        </p:nvSpPr>
        <p:spPr>
          <a:xfrm flipH="false" flipV="false" rot="0">
            <a:off x="11461778" y="6396260"/>
            <a:ext cx="782457" cy="836852"/>
          </a:xfrm>
          <a:custGeom>
            <a:avLst/>
            <a:gdLst/>
            <a:ahLst/>
            <a:cxnLst/>
            <a:rect r="r" b="b" t="t" l="l"/>
            <a:pathLst>
              <a:path h="836852" w="782457">
                <a:moveTo>
                  <a:pt x="0" y="0"/>
                </a:moveTo>
                <a:lnTo>
                  <a:pt x="782456" y="0"/>
                </a:lnTo>
                <a:lnTo>
                  <a:pt x="782456" y="836852"/>
                </a:lnTo>
                <a:lnTo>
                  <a:pt x="0" y="836852"/>
                </a:lnTo>
                <a:lnTo>
                  <a:pt x="0" y="0"/>
                </a:lnTo>
                <a:close/>
              </a:path>
            </a:pathLst>
          </a:custGeom>
          <a:blipFill>
            <a:blip r:embed="rId31"/>
            <a:stretch>
              <a:fillRect l="0" t="0" r="0" b="0"/>
            </a:stretch>
          </a:blipFill>
        </p:spPr>
      </p:sp>
      <p:sp>
        <p:nvSpPr>
          <p:cNvPr name="Freeform 40" id="40"/>
          <p:cNvSpPr/>
          <p:nvPr/>
        </p:nvSpPr>
        <p:spPr>
          <a:xfrm flipH="false" flipV="false" rot="0">
            <a:off x="1732413" y="4131301"/>
            <a:ext cx="976656" cy="976656"/>
          </a:xfrm>
          <a:custGeom>
            <a:avLst/>
            <a:gdLst/>
            <a:ahLst/>
            <a:cxnLst/>
            <a:rect r="r" b="b" t="t" l="l"/>
            <a:pathLst>
              <a:path h="976656" w="976656">
                <a:moveTo>
                  <a:pt x="0" y="0"/>
                </a:moveTo>
                <a:lnTo>
                  <a:pt x="976656" y="0"/>
                </a:lnTo>
                <a:lnTo>
                  <a:pt x="976656" y="976656"/>
                </a:lnTo>
                <a:lnTo>
                  <a:pt x="0" y="976656"/>
                </a:lnTo>
                <a:lnTo>
                  <a:pt x="0" y="0"/>
                </a:lnTo>
                <a:close/>
              </a:path>
            </a:pathLst>
          </a:custGeom>
          <a:blipFill>
            <a:blip r:embed="rId32"/>
            <a:stretch>
              <a:fillRect l="0" t="0" r="0" b="0"/>
            </a:stretch>
          </a:blipFill>
        </p:spPr>
      </p:sp>
      <p:sp>
        <p:nvSpPr>
          <p:cNvPr name="Freeform 41" id="41"/>
          <p:cNvSpPr/>
          <p:nvPr/>
        </p:nvSpPr>
        <p:spPr>
          <a:xfrm flipH="false" flipV="false" rot="0">
            <a:off x="5746174" y="6527686"/>
            <a:ext cx="1578201" cy="520644"/>
          </a:xfrm>
          <a:custGeom>
            <a:avLst/>
            <a:gdLst/>
            <a:ahLst/>
            <a:cxnLst/>
            <a:rect r="r" b="b" t="t" l="l"/>
            <a:pathLst>
              <a:path h="520644" w="1578201">
                <a:moveTo>
                  <a:pt x="0" y="0"/>
                </a:moveTo>
                <a:lnTo>
                  <a:pt x="1578201" y="0"/>
                </a:lnTo>
                <a:lnTo>
                  <a:pt x="1578201" y="520644"/>
                </a:lnTo>
                <a:lnTo>
                  <a:pt x="0" y="520644"/>
                </a:lnTo>
                <a:lnTo>
                  <a:pt x="0" y="0"/>
                </a:lnTo>
                <a:close/>
              </a:path>
            </a:pathLst>
          </a:custGeom>
          <a:blipFill>
            <a:blip r:embed="rId33"/>
            <a:stretch>
              <a:fillRect l="-23707" t="-180425" r="-26602" b="-175199"/>
            </a:stretch>
          </a:blipFill>
        </p:spPr>
      </p:sp>
      <p:sp>
        <p:nvSpPr>
          <p:cNvPr name="Freeform 42" id="42"/>
          <p:cNvSpPr/>
          <p:nvPr/>
        </p:nvSpPr>
        <p:spPr>
          <a:xfrm flipH="false" flipV="false" rot="0">
            <a:off x="7854916" y="7744157"/>
            <a:ext cx="2529851" cy="303582"/>
          </a:xfrm>
          <a:custGeom>
            <a:avLst/>
            <a:gdLst/>
            <a:ahLst/>
            <a:cxnLst/>
            <a:rect r="r" b="b" t="t" l="l"/>
            <a:pathLst>
              <a:path h="303582" w="2529851">
                <a:moveTo>
                  <a:pt x="0" y="0"/>
                </a:moveTo>
                <a:lnTo>
                  <a:pt x="2529851" y="0"/>
                </a:lnTo>
                <a:lnTo>
                  <a:pt x="2529851" y="303582"/>
                </a:lnTo>
                <a:lnTo>
                  <a:pt x="0" y="303582"/>
                </a:lnTo>
                <a:lnTo>
                  <a:pt x="0" y="0"/>
                </a:lnTo>
                <a:close/>
              </a:path>
            </a:pathLst>
          </a:custGeom>
          <a:blipFill>
            <a:blip r:embed="rId34"/>
            <a:stretch>
              <a:fillRect l="0" t="0" r="0" b="0"/>
            </a:stretch>
          </a:blipFill>
        </p:spPr>
      </p:sp>
      <p:sp>
        <p:nvSpPr>
          <p:cNvPr name="Freeform 43" id="43"/>
          <p:cNvSpPr/>
          <p:nvPr/>
        </p:nvSpPr>
        <p:spPr>
          <a:xfrm flipH="false" flipV="false" rot="0">
            <a:off x="2162224" y="2827295"/>
            <a:ext cx="2666691" cy="980009"/>
          </a:xfrm>
          <a:custGeom>
            <a:avLst/>
            <a:gdLst/>
            <a:ahLst/>
            <a:cxnLst/>
            <a:rect r="r" b="b" t="t" l="l"/>
            <a:pathLst>
              <a:path h="980009" w="2666691">
                <a:moveTo>
                  <a:pt x="0" y="0"/>
                </a:moveTo>
                <a:lnTo>
                  <a:pt x="2666691" y="0"/>
                </a:lnTo>
                <a:lnTo>
                  <a:pt x="2666691" y="980009"/>
                </a:lnTo>
                <a:lnTo>
                  <a:pt x="0" y="980009"/>
                </a:lnTo>
                <a:lnTo>
                  <a:pt x="0" y="0"/>
                </a:lnTo>
                <a:close/>
              </a:path>
            </a:pathLst>
          </a:custGeom>
          <a:blipFill>
            <a:blip r:embed="rId35"/>
            <a:stretch>
              <a:fillRect l="0" t="0" r="0" b="0"/>
            </a:stretch>
          </a:blipFill>
        </p:spPr>
      </p:sp>
      <p:sp>
        <p:nvSpPr>
          <p:cNvPr name="Freeform 44" id="44"/>
          <p:cNvSpPr/>
          <p:nvPr/>
        </p:nvSpPr>
        <p:spPr>
          <a:xfrm flipH="false" flipV="false" rot="0">
            <a:off x="2938454" y="4061950"/>
            <a:ext cx="2175457" cy="968078"/>
          </a:xfrm>
          <a:custGeom>
            <a:avLst/>
            <a:gdLst/>
            <a:ahLst/>
            <a:cxnLst/>
            <a:rect r="r" b="b" t="t" l="l"/>
            <a:pathLst>
              <a:path h="968078" w="2175457">
                <a:moveTo>
                  <a:pt x="0" y="0"/>
                </a:moveTo>
                <a:lnTo>
                  <a:pt x="2175457" y="0"/>
                </a:lnTo>
                <a:lnTo>
                  <a:pt x="2175457" y="968079"/>
                </a:lnTo>
                <a:lnTo>
                  <a:pt x="0" y="968079"/>
                </a:lnTo>
                <a:lnTo>
                  <a:pt x="0" y="0"/>
                </a:lnTo>
                <a:close/>
              </a:path>
            </a:pathLst>
          </a:custGeom>
          <a:blipFill>
            <a:blip r:embed="rId36"/>
            <a:stretch>
              <a:fillRect l="0" t="0" r="0" b="0"/>
            </a:stretch>
          </a:blipFill>
        </p:spPr>
      </p:sp>
      <p:sp>
        <p:nvSpPr>
          <p:cNvPr name="Freeform 45" id="45"/>
          <p:cNvSpPr/>
          <p:nvPr/>
        </p:nvSpPr>
        <p:spPr>
          <a:xfrm flipH="false" flipV="false" rot="0">
            <a:off x="7324375" y="6469372"/>
            <a:ext cx="1596758" cy="690629"/>
          </a:xfrm>
          <a:custGeom>
            <a:avLst/>
            <a:gdLst/>
            <a:ahLst/>
            <a:cxnLst/>
            <a:rect r="r" b="b" t="t" l="l"/>
            <a:pathLst>
              <a:path h="690629" w="1596758">
                <a:moveTo>
                  <a:pt x="0" y="0"/>
                </a:moveTo>
                <a:lnTo>
                  <a:pt x="1596757" y="0"/>
                </a:lnTo>
                <a:lnTo>
                  <a:pt x="1596757" y="690629"/>
                </a:lnTo>
                <a:lnTo>
                  <a:pt x="0" y="690629"/>
                </a:lnTo>
                <a:lnTo>
                  <a:pt x="0" y="0"/>
                </a:lnTo>
                <a:close/>
              </a:path>
            </a:pathLst>
          </a:custGeom>
          <a:blipFill>
            <a:blip r:embed="rId37"/>
            <a:stretch>
              <a:fillRect l="0" t="-70990" r="-1310" b="-63241"/>
            </a:stretch>
          </a:blipFill>
        </p:spPr>
      </p:sp>
      <p:sp>
        <p:nvSpPr>
          <p:cNvPr name="Freeform 46" id="46"/>
          <p:cNvSpPr/>
          <p:nvPr/>
        </p:nvSpPr>
        <p:spPr>
          <a:xfrm flipH="false" flipV="false" rot="0">
            <a:off x="7489874" y="2827295"/>
            <a:ext cx="2317942" cy="950356"/>
          </a:xfrm>
          <a:custGeom>
            <a:avLst/>
            <a:gdLst/>
            <a:ahLst/>
            <a:cxnLst/>
            <a:rect r="r" b="b" t="t" l="l"/>
            <a:pathLst>
              <a:path h="950356" w="2317942">
                <a:moveTo>
                  <a:pt x="0" y="0"/>
                </a:moveTo>
                <a:lnTo>
                  <a:pt x="2317941" y="0"/>
                </a:lnTo>
                <a:lnTo>
                  <a:pt x="2317941" y="950356"/>
                </a:lnTo>
                <a:lnTo>
                  <a:pt x="0" y="950356"/>
                </a:lnTo>
                <a:lnTo>
                  <a:pt x="0" y="0"/>
                </a:lnTo>
                <a:close/>
              </a:path>
            </a:pathLst>
          </a:custGeom>
          <a:blipFill>
            <a:blip r:embed="rId38"/>
            <a:stretch>
              <a:fillRect l="0" t="0" r="0" b="0"/>
            </a:stretch>
          </a:blipFill>
        </p:spPr>
      </p:sp>
      <p:sp>
        <p:nvSpPr>
          <p:cNvPr name="Freeform 47" id="47"/>
          <p:cNvSpPr/>
          <p:nvPr/>
        </p:nvSpPr>
        <p:spPr>
          <a:xfrm flipH="false" flipV="false" rot="0">
            <a:off x="1083475" y="2832201"/>
            <a:ext cx="1189931" cy="1061760"/>
          </a:xfrm>
          <a:custGeom>
            <a:avLst/>
            <a:gdLst/>
            <a:ahLst/>
            <a:cxnLst/>
            <a:rect r="r" b="b" t="t" l="l"/>
            <a:pathLst>
              <a:path h="1061760" w="1189931">
                <a:moveTo>
                  <a:pt x="0" y="0"/>
                </a:moveTo>
                <a:lnTo>
                  <a:pt x="1189930" y="0"/>
                </a:lnTo>
                <a:lnTo>
                  <a:pt x="1189930" y="1061761"/>
                </a:lnTo>
                <a:lnTo>
                  <a:pt x="0" y="1061761"/>
                </a:lnTo>
                <a:lnTo>
                  <a:pt x="0" y="0"/>
                </a:lnTo>
                <a:close/>
              </a:path>
            </a:pathLst>
          </a:custGeom>
          <a:blipFill>
            <a:blip r:embed="rId39"/>
            <a:stretch>
              <a:fillRect l="-683" t="0" r="0" b="0"/>
            </a:stretch>
          </a:blipFill>
        </p:spPr>
      </p:sp>
      <p:sp>
        <p:nvSpPr>
          <p:cNvPr name="Freeform 48" id="48"/>
          <p:cNvSpPr/>
          <p:nvPr/>
        </p:nvSpPr>
        <p:spPr>
          <a:xfrm flipH="false" flipV="false" rot="0">
            <a:off x="5588465" y="7618609"/>
            <a:ext cx="946810" cy="539650"/>
          </a:xfrm>
          <a:custGeom>
            <a:avLst/>
            <a:gdLst/>
            <a:ahLst/>
            <a:cxnLst/>
            <a:rect r="r" b="b" t="t" l="l"/>
            <a:pathLst>
              <a:path h="539650" w="946810">
                <a:moveTo>
                  <a:pt x="0" y="0"/>
                </a:moveTo>
                <a:lnTo>
                  <a:pt x="946809" y="0"/>
                </a:lnTo>
                <a:lnTo>
                  <a:pt x="946809" y="539651"/>
                </a:lnTo>
                <a:lnTo>
                  <a:pt x="0" y="539651"/>
                </a:lnTo>
                <a:lnTo>
                  <a:pt x="0" y="0"/>
                </a:lnTo>
                <a:close/>
              </a:path>
            </a:pathLst>
          </a:custGeom>
          <a:blipFill>
            <a:blip r:embed="rId40"/>
            <a:stretch>
              <a:fillRect l="-14044" t="-62157" r="-9550" b="-54688"/>
            </a:stretch>
          </a:blipFill>
        </p:spPr>
      </p:sp>
      <p:sp>
        <p:nvSpPr>
          <p:cNvPr name="Freeform 49" id="49"/>
          <p:cNvSpPr/>
          <p:nvPr/>
        </p:nvSpPr>
        <p:spPr>
          <a:xfrm flipH="false" flipV="false" rot="0">
            <a:off x="9220142" y="4270338"/>
            <a:ext cx="2714451" cy="646589"/>
          </a:xfrm>
          <a:custGeom>
            <a:avLst/>
            <a:gdLst/>
            <a:ahLst/>
            <a:cxnLst/>
            <a:rect r="r" b="b" t="t" l="l"/>
            <a:pathLst>
              <a:path h="646589" w="2714451">
                <a:moveTo>
                  <a:pt x="0" y="0"/>
                </a:moveTo>
                <a:lnTo>
                  <a:pt x="2714451" y="0"/>
                </a:lnTo>
                <a:lnTo>
                  <a:pt x="2714451" y="646589"/>
                </a:lnTo>
                <a:lnTo>
                  <a:pt x="0" y="646589"/>
                </a:lnTo>
                <a:lnTo>
                  <a:pt x="0" y="0"/>
                </a:lnTo>
                <a:close/>
              </a:path>
            </a:pathLst>
          </a:custGeom>
          <a:blipFill>
            <a:blip r:embed="rId41"/>
            <a:stretch>
              <a:fillRect l="0" t="-28567" r="0" b="0"/>
            </a:stretch>
          </a:blipFill>
        </p:spPr>
      </p:sp>
      <p:sp>
        <p:nvSpPr>
          <p:cNvPr name="Freeform 50" id="50"/>
          <p:cNvSpPr/>
          <p:nvPr/>
        </p:nvSpPr>
        <p:spPr>
          <a:xfrm flipH="false" flipV="false" rot="0">
            <a:off x="10701198" y="7441893"/>
            <a:ext cx="1403666" cy="893082"/>
          </a:xfrm>
          <a:custGeom>
            <a:avLst/>
            <a:gdLst/>
            <a:ahLst/>
            <a:cxnLst/>
            <a:rect r="r" b="b" t="t" l="l"/>
            <a:pathLst>
              <a:path h="893082" w="1403666">
                <a:moveTo>
                  <a:pt x="0" y="0"/>
                </a:moveTo>
                <a:lnTo>
                  <a:pt x="1403666" y="0"/>
                </a:lnTo>
                <a:lnTo>
                  <a:pt x="1403666" y="893083"/>
                </a:lnTo>
                <a:lnTo>
                  <a:pt x="0" y="893083"/>
                </a:lnTo>
                <a:lnTo>
                  <a:pt x="0" y="0"/>
                </a:lnTo>
                <a:close/>
              </a:path>
            </a:pathLst>
          </a:custGeom>
          <a:blipFill>
            <a:blip r:embed="rId42"/>
            <a:stretch>
              <a:fillRect l="0" t="0" r="0" b="0"/>
            </a:stretch>
          </a:blipFill>
        </p:spPr>
      </p:sp>
      <p:sp>
        <p:nvSpPr>
          <p:cNvPr name="Freeform 51" id="51"/>
          <p:cNvSpPr/>
          <p:nvPr/>
        </p:nvSpPr>
        <p:spPr>
          <a:xfrm flipH="false" flipV="false" rot="0">
            <a:off x="11985978" y="7160001"/>
            <a:ext cx="1721220" cy="1721220"/>
          </a:xfrm>
          <a:custGeom>
            <a:avLst/>
            <a:gdLst/>
            <a:ahLst/>
            <a:cxnLst/>
            <a:rect r="r" b="b" t="t" l="l"/>
            <a:pathLst>
              <a:path h="1721220" w="1721220">
                <a:moveTo>
                  <a:pt x="0" y="0"/>
                </a:moveTo>
                <a:lnTo>
                  <a:pt x="1721220" y="0"/>
                </a:lnTo>
                <a:lnTo>
                  <a:pt x="1721220" y="1721220"/>
                </a:lnTo>
                <a:lnTo>
                  <a:pt x="0" y="1721220"/>
                </a:lnTo>
                <a:lnTo>
                  <a:pt x="0" y="0"/>
                </a:lnTo>
                <a:close/>
              </a:path>
            </a:pathLst>
          </a:custGeom>
          <a:blipFill>
            <a:blip r:embed="rId4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2647">
                <a:alpha val="100000"/>
              </a:srgbClr>
            </a:gs>
            <a:gs pos="100000">
              <a:srgbClr val="0A396D">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95270" y="772102"/>
            <a:ext cx="5013542" cy="962081"/>
            <a:chOff x="0" y="0"/>
            <a:chExt cx="6684723" cy="1282774"/>
          </a:xfrm>
        </p:grpSpPr>
        <p:grpSp>
          <p:nvGrpSpPr>
            <p:cNvPr name="Group 3" id="3"/>
            <p:cNvGrpSpPr/>
            <p:nvPr/>
          </p:nvGrpSpPr>
          <p:grpSpPr>
            <a:xfrm rot="0">
              <a:off x="0" y="0"/>
              <a:ext cx="6684723" cy="1282774"/>
              <a:chOff x="0" y="0"/>
              <a:chExt cx="2146374" cy="411881"/>
            </a:xfrm>
          </p:grpSpPr>
          <p:sp>
            <p:nvSpPr>
              <p:cNvPr name="Freeform 4" id="4"/>
              <p:cNvSpPr/>
              <p:nvPr/>
            </p:nvSpPr>
            <p:spPr>
              <a:xfrm flipH="false" flipV="false" rot="0">
                <a:off x="0" y="0"/>
                <a:ext cx="2146374" cy="411881"/>
              </a:xfrm>
              <a:custGeom>
                <a:avLst/>
                <a:gdLst/>
                <a:ahLst/>
                <a:cxnLst/>
                <a:rect r="r" b="b" t="t" l="l"/>
                <a:pathLst>
                  <a:path h="411881" w="2146374">
                    <a:moveTo>
                      <a:pt x="74130" y="0"/>
                    </a:moveTo>
                    <a:lnTo>
                      <a:pt x="2072245" y="0"/>
                    </a:lnTo>
                    <a:cubicBezTo>
                      <a:pt x="2091905" y="0"/>
                      <a:pt x="2110760" y="7810"/>
                      <a:pt x="2124662" y="21712"/>
                    </a:cubicBezTo>
                    <a:cubicBezTo>
                      <a:pt x="2138564" y="35614"/>
                      <a:pt x="2146374" y="54469"/>
                      <a:pt x="2146374" y="74130"/>
                    </a:cubicBezTo>
                    <a:lnTo>
                      <a:pt x="2146374" y="337752"/>
                    </a:lnTo>
                    <a:cubicBezTo>
                      <a:pt x="2146374" y="357412"/>
                      <a:pt x="2138564" y="376267"/>
                      <a:pt x="2124662" y="390169"/>
                    </a:cubicBezTo>
                    <a:cubicBezTo>
                      <a:pt x="2110760" y="404071"/>
                      <a:pt x="2091905" y="411881"/>
                      <a:pt x="2072245" y="411881"/>
                    </a:cubicBezTo>
                    <a:lnTo>
                      <a:pt x="74130" y="411881"/>
                    </a:lnTo>
                    <a:cubicBezTo>
                      <a:pt x="54469" y="411881"/>
                      <a:pt x="35614" y="404071"/>
                      <a:pt x="21712" y="390169"/>
                    </a:cubicBezTo>
                    <a:cubicBezTo>
                      <a:pt x="7810" y="376267"/>
                      <a:pt x="0" y="357412"/>
                      <a:pt x="0" y="337752"/>
                    </a:cubicBezTo>
                    <a:lnTo>
                      <a:pt x="0" y="74130"/>
                    </a:lnTo>
                    <a:cubicBezTo>
                      <a:pt x="0" y="54469"/>
                      <a:pt x="7810" y="35614"/>
                      <a:pt x="21712" y="21712"/>
                    </a:cubicBezTo>
                    <a:cubicBezTo>
                      <a:pt x="35614" y="7810"/>
                      <a:pt x="54469" y="0"/>
                      <a:pt x="74130" y="0"/>
                    </a:cubicBezTo>
                    <a:close/>
                  </a:path>
                </a:pathLst>
              </a:custGeom>
              <a:solidFill>
                <a:srgbClr val="2F7E9D"/>
              </a:solidFill>
              <a:ln w="19050" cap="rnd">
                <a:solidFill>
                  <a:srgbClr val="FAF7FC"/>
                </a:solidFill>
                <a:prstDash val="solid"/>
                <a:round/>
              </a:ln>
            </p:spPr>
          </p:sp>
          <p:sp>
            <p:nvSpPr>
              <p:cNvPr name="TextBox 5" id="5"/>
              <p:cNvSpPr txBox="true"/>
              <p:nvPr/>
            </p:nvSpPr>
            <p:spPr>
              <a:xfrm>
                <a:off x="0" y="-38100"/>
                <a:ext cx="2146374" cy="449981"/>
              </a:xfrm>
              <a:prstGeom prst="rect">
                <a:avLst/>
              </a:prstGeom>
            </p:spPr>
            <p:txBody>
              <a:bodyPr anchor="ctr" rtlCol="false" tIns="33202" lIns="33202" bIns="33202" rIns="33202"/>
              <a:lstStyle/>
              <a:p>
                <a:pPr algn="ctr">
                  <a:lnSpc>
                    <a:spcPts val="2660"/>
                  </a:lnSpc>
                </a:pPr>
              </a:p>
            </p:txBody>
          </p:sp>
        </p:grpSp>
        <p:sp>
          <p:nvSpPr>
            <p:cNvPr name="TextBox 6" id="6"/>
            <p:cNvSpPr txBox="true"/>
            <p:nvPr/>
          </p:nvSpPr>
          <p:spPr>
            <a:xfrm rot="0">
              <a:off x="680495" y="-47753"/>
              <a:ext cx="5323732" cy="1216355"/>
            </a:xfrm>
            <a:prstGeom prst="rect">
              <a:avLst/>
            </a:prstGeom>
          </p:spPr>
          <p:txBody>
            <a:bodyPr anchor="t" rtlCol="false" tIns="0" lIns="0" bIns="0" rIns="0">
              <a:spAutoFit/>
            </a:bodyPr>
            <a:lstStyle/>
            <a:p>
              <a:pPr algn="just">
                <a:lnSpc>
                  <a:spcPts val="7478"/>
                </a:lnSpc>
              </a:pPr>
              <a:r>
                <a:rPr lang="en-US" b="true" sz="4985" spc="49">
                  <a:solidFill>
                    <a:srgbClr val="FFFFFF"/>
                  </a:solidFill>
                  <a:latin typeface="Mont 1 Heavy"/>
                  <a:ea typeface="Mont 1 Heavy"/>
                  <a:cs typeface="Mont 1 Heavy"/>
                  <a:sym typeface="Mont 1 Heavy"/>
                </a:rPr>
                <a:t>Framework</a:t>
              </a:r>
            </a:p>
          </p:txBody>
        </p:sp>
      </p:grpSp>
      <p:sp>
        <p:nvSpPr>
          <p:cNvPr name="Freeform 7" id="7"/>
          <p:cNvSpPr/>
          <p:nvPr/>
        </p:nvSpPr>
        <p:spPr>
          <a:xfrm flipH="false" flipV="false" rot="0">
            <a:off x="14691196" y="505695"/>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grpSp>
        <p:nvGrpSpPr>
          <p:cNvPr name="Group 8" id="8"/>
          <p:cNvGrpSpPr/>
          <p:nvPr/>
        </p:nvGrpSpPr>
        <p:grpSpPr>
          <a:xfrm rot="0">
            <a:off x="0" y="2169046"/>
            <a:ext cx="8000716" cy="8262802"/>
            <a:chOff x="0" y="0"/>
            <a:chExt cx="3324159" cy="3433052"/>
          </a:xfrm>
        </p:grpSpPr>
        <p:sp>
          <p:nvSpPr>
            <p:cNvPr name="Freeform 9" id="9"/>
            <p:cNvSpPr/>
            <p:nvPr/>
          </p:nvSpPr>
          <p:spPr>
            <a:xfrm flipH="false" flipV="false" rot="0">
              <a:off x="0" y="0"/>
              <a:ext cx="3324160" cy="3433052"/>
            </a:xfrm>
            <a:custGeom>
              <a:avLst/>
              <a:gdLst/>
              <a:ahLst/>
              <a:cxnLst/>
              <a:rect r="r" b="b" t="t" l="l"/>
              <a:pathLst>
                <a:path h="3433052" w="3324160">
                  <a:moveTo>
                    <a:pt x="24191" y="0"/>
                  </a:moveTo>
                  <a:lnTo>
                    <a:pt x="3299968" y="0"/>
                  </a:lnTo>
                  <a:cubicBezTo>
                    <a:pt x="3306384" y="0"/>
                    <a:pt x="3312537" y="2549"/>
                    <a:pt x="3317074" y="7085"/>
                  </a:cubicBezTo>
                  <a:cubicBezTo>
                    <a:pt x="3321611" y="11622"/>
                    <a:pt x="3324160" y="17775"/>
                    <a:pt x="3324160" y="24191"/>
                  </a:cubicBezTo>
                  <a:lnTo>
                    <a:pt x="3324160" y="3408861"/>
                  </a:lnTo>
                  <a:cubicBezTo>
                    <a:pt x="3324160" y="3422221"/>
                    <a:pt x="3313329" y="3433052"/>
                    <a:pt x="3299968" y="3433052"/>
                  </a:cubicBezTo>
                  <a:lnTo>
                    <a:pt x="24191" y="3433052"/>
                  </a:lnTo>
                  <a:cubicBezTo>
                    <a:pt x="17775" y="3433052"/>
                    <a:pt x="11622" y="3430503"/>
                    <a:pt x="7085" y="3425966"/>
                  </a:cubicBezTo>
                  <a:cubicBezTo>
                    <a:pt x="2549" y="3421430"/>
                    <a:pt x="0" y="3415276"/>
                    <a:pt x="0" y="3408861"/>
                  </a:cubicBezTo>
                  <a:lnTo>
                    <a:pt x="0" y="24191"/>
                  </a:lnTo>
                  <a:cubicBezTo>
                    <a:pt x="0" y="17775"/>
                    <a:pt x="2549" y="11622"/>
                    <a:pt x="7085" y="7085"/>
                  </a:cubicBezTo>
                  <a:cubicBezTo>
                    <a:pt x="11622" y="2549"/>
                    <a:pt x="17775" y="0"/>
                    <a:pt x="24191" y="0"/>
                  </a:cubicBezTo>
                  <a:close/>
                </a:path>
              </a:pathLst>
            </a:custGeom>
            <a:solidFill>
              <a:srgbClr val="2F7E9D"/>
            </a:solidFill>
            <a:ln cap="rnd">
              <a:noFill/>
              <a:prstDash val="solid"/>
              <a:round/>
            </a:ln>
          </p:spPr>
        </p:sp>
        <p:sp>
          <p:nvSpPr>
            <p:cNvPr name="TextBox 10" id="10"/>
            <p:cNvSpPr txBox="true"/>
            <p:nvPr/>
          </p:nvSpPr>
          <p:spPr>
            <a:xfrm>
              <a:off x="0" y="-57150"/>
              <a:ext cx="3324159" cy="3490202"/>
            </a:xfrm>
            <a:prstGeom prst="rect">
              <a:avLst/>
            </a:prstGeom>
          </p:spPr>
          <p:txBody>
            <a:bodyPr anchor="ctr" rtlCol="false" tIns="32202" lIns="32202" bIns="32202" rIns="32202"/>
            <a:lstStyle/>
            <a:p>
              <a:pPr algn="ctr">
                <a:lnSpc>
                  <a:spcPts val="3057"/>
                </a:lnSpc>
              </a:pPr>
            </a:p>
          </p:txBody>
        </p:sp>
      </p:grpSp>
      <p:grpSp>
        <p:nvGrpSpPr>
          <p:cNvPr name="Group 11" id="11"/>
          <p:cNvGrpSpPr/>
          <p:nvPr/>
        </p:nvGrpSpPr>
        <p:grpSpPr>
          <a:xfrm rot="0">
            <a:off x="8503109" y="1253143"/>
            <a:ext cx="9134555" cy="9020373"/>
            <a:chOff x="0" y="0"/>
            <a:chExt cx="12179406" cy="12027163"/>
          </a:xfrm>
        </p:grpSpPr>
        <p:sp>
          <p:nvSpPr>
            <p:cNvPr name="Freeform 12" id="12"/>
            <p:cNvSpPr/>
            <p:nvPr/>
          </p:nvSpPr>
          <p:spPr>
            <a:xfrm flipH="false" flipV="false" rot="0">
              <a:off x="0" y="0"/>
              <a:ext cx="12179406" cy="12027163"/>
            </a:xfrm>
            <a:custGeom>
              <a:avLst/>
              <a:gdLst/>
              <a:ahLst/>
              <a:cxnLst/>
              <a:rect r="r" b="b" t="t" l="l"/>
              <a:pathLst>
                <a:path h="12027163" w="12179406">
                  <a:moveTo>
                    <a:pt x="0" y="0"/>
                  </a:moveTo>
                  <a:lnTo>
                    <a:pt x="12179406" y="0"/>
                  </a:lnTo>
                  <a:lnTo>
                    <a:pt x="12179406" y="12027163"/>
                  </a:lnTo>
                  <a:lnTo>
                    <a:pt x="0" y="12027163"/>
                  </a:lnTo>
                  <a:lnTo>
                    <a:pt x="0" y="0"/>
                  </a:lnTo>
                  <a:close/>
                </a:path>
              </a:pathLst>
            </a:custGeom>
            <a:blipFill>
              <a:blip r:embed="rId3"/>
              <a:stretch>
                <a:fillRect l="0" t="0" r="0" b="0"/>
              </a:stretch>
            </a:blipFill>
          </p:spPr>
        </p:sp>
        <p:sp>
          <p:nvSpPr>
            <p:cNvPr name="Freeform 13" id="13"/>
            <p:cNvSpPr/>
            <p:nvPr/>
          </p:nvSpPr>
          <p:spPr>
            <a:xfrm flipH="false" flipV="false" rot="0">
              <a:off x="4773392" y="4734168"/>
              <a:ext cx="2487479" cy="2205286"/>
            </a:xfrm>
            <a:custGeom>
              <a:avLst/>
              <a:gdLst/>
              <a:ahLst/>
              <a:cxnLst/>
              <a:rect r="r" b="b" t="t" l="l"/>
              <a:pathLst>
                <a:path h="2205286" w="2487479">
                  <a:moveTo>
                    <a:pt x="0" y="0"/>
                  </a:moveTo>
                  <a:lnTo>
                    <a:pt x="2487479" y="0"/>
                  </a:lnTo>
                  <a:lnTo>
                    <a:pt x="2487479" y="2205286"/>
                  </a:lnTo>
                  <a:lnTo>
                    <a:pt x="0" y="2205286"/>
                  </a:lnTo>
                  <a:lnTo>
                    <a:pt x="0" y="0"/>
                  </a:lnTo>
                  <a:close/>
                </a:path>
              </a:pathLst>
            </a:custGeom>
            <a:blipFill>
              <a:blip r:embed="rId4"/>
              <a:stretch>
                <a:fillRect l="0" t="0" r="0" b="0"/>
              </a:stretch>
            </a:blipFill>
          </p:spPr>
        </p:sp>
      </p:grpSp>
      <p:sp>
        <p:nvSpPr>
          <p:cNvPr name="TextBox 14" id="14"/>
          <p:cNvSpPr txBox="true"/>
          <p:nvPr/>
        </p:nvSpPr>
        <p:spPr>
          <a:xfrm rot="0">
            <a:off x="895270" y="2642229"/>
            <a:ext cx="5911542" cy="1800225"/>
          </a:xfrm>
          <a:prstGeom prst="rect">
            <a:avLst/>
          </a:prstGeom>
        </p:spPr>
        <p:txBody>
          <a:bodyPr anchor="t" rtlCol="false" tIns="0" lIns="0" bIns="0" rIns="0">
            <a:spAutoFit/>
          </a:bodyPr>
          <a:lstStyle/>
          <a:p>
            <a:pPr algn="l">
              <a:lnSpc>
                <a:spcPts val="4799"/>
              </a:lnSpc>
            </a:pPr>
            <a:r>
              <a:rPr lang="en-US" sz="3999" spc="39" b="true">
                <a:solidFill>
                  <a:srgbClr val="FFFFFF"/>
                </a:solidFill>
                <a:latin typeface="Mont 1 Bold"/>
                <a:ea typeface="Mont 1 Bold"/>
                <a:cs typeface="Mont 1 Bold"/>
                <a:sym typeface="Mont 1 Bold"/>
              </a:rPr>
              <a:t>Using Cambridge Framework for Training Development</a:t>
            </a:r>
          </a:p>
        </p:txBody>
      </p:sp>
      <p:sp>
        <p:nvSpPr>
          <p:cNvPr name="TextBox 15" id="15"/>
          <p:cNvSpPr txBox="true"/>
          <p:nvPr/>
        </p:nvSpPr>
        <p:spPr>
          <a:xfrm rot="0">
            <a:off x="895270" y="4856589"/>
            <a:ext cx="6074760" cy="4152900"/>
          </a:xfrm>
          <a:prstGeom prst="rect">
            <a:avLst/>
          </a:prstGeom>
        </p:spPr>
        <p:txBody>
          <a:bodyPr anchor="t" rtlCol="false" tIns="0" lIns="0" bIns="0" rIns="0">
            <a:spAutoFit/>
          </a:bodyPr>
          <a:lstStyle/>
          <a:p>
            <a:pPr algn="l">
              <a:lnSpc>
                <a:spcPts val="3299"/>
              </a:lnSpc>
            </a:pPr>
            <a:r>
              <a:rPr lang="en-US" sz="2199" spc="21">
                <a:solidFill>
                  <a:srgbClr val="FFFFFF"/>
                </a:solidFill>
                <a:latin typeface="Mont 1"/>
                <a:ea typeface="Mont 1"/>
                <a:cs typeface="Mont 1"/>
                <a:sym typeface="Mont 1"/>
              </a:rPr>
              <a:t>The training would be tailored with the needs of the students/audiences, while all using the ‘continuous learning’ approach:</a:t>
            </a:r>
          </a:p>
          <a:p>
            <a:pPr algn="l">
              <a:lnSpc>
                <a:spcPts val="3599"/>
              </a:lnSpc>
            </a:pPr>
          </a:p>
          <a:p>
            <a:pPr algn="l" marL="604519" indent="-302260" lvl="1">
              <a:lnSpc>
                <a:spcPts val="4199"/>
              </a:lnSpc>
              <a:buFont typeface="Arial"/>
              <a:buChar char="•"/>
            </a:pPr>
            <a:r>
              <a:rPr lang="en-US" b="true" sz="2799" spc="27">
                <a:solidFill>
                  <a:srgbClr val="FFFFFF"/>
                </a:solidFill>
                <a:latin typeface="Mont 1 Bold"/>
                <a:ea typeface="Mont 1 Bold"/>
                <a:cs typeface="Mont 1 Bold"/>
                <a:sym typeface="Mont 1 Bold"/>
              </a:rPr>
              <a:t>Define</a:t>
            </a:r>
            <a:r>
              <a:rPr lang="en-US" sz="2799" spc="27">
                <a:solidFill>
                  <a:srgbClr val="FFFFFF"/>
                </a:solidFill>
                <a:latin typeface="Mont 1"/>
                <a:ea typeface="Mont 1"/>
                <a:cs typeface="Mont 1"/>
                <a:sym typeface="Mont 1"/>
              </a:rPr>
              <a:t> </a:t>
            </a:r>
          </a:p>
          <a:p>
            <a:pPr algn="l" marL="604519" indent="-302260" lvl="1">
              <a:lnSpc>
                <a:spcPts val="4199"/>
              </a:lnSpc>
              <a:buFont typeface="Arial"/>
              <a:buChar char="•"/>
            </a:pPr>
            <a:r>
              <a:rPr lang="en-US" b="true" sz="2799" spc="27">
                <a:solidFill>
                  <a:srgbClr val="FFFFFF"/>
                </a:solidFill>
                <a:latin typeface="Mont 1 Bold"/>
                <a:ea typeface="Mont 1 Bold"/>
                <a:cs typeface="Mont 1 Bold"/>
                <a:sym typeface="Mont 1 Bold"/>
              </a:rPr>
              <a:t>Design</a:t>
            </a:r>
          </a:p>
          <a:p>
            <a:pPr algn="l" marL="604519" indent="-302260" lvl="1">
              <a:lnSpc>
                <a:spcPts val="4199"/>
              </a:lnSpc>
              <a:buFont typeface="Arial"/>
              <a:buChar char="•"/>
            </a:pPr>
            <a:r>
              <a:rPr lang="en-US" b="true" sz="2799" spc="27">
                <a:solidFill>
                  <a:srgbClr val="FFFFFF"/>
                </a:solidFill>
                <a:latin typeface="Mont 1 Bold"/>
                <a:ea typeface="Mont 1 Bold"/>
                <a:cs typeface="Mont 1 Bold"/>
                <a:sym typeface="Mont 1 Bold"/>
              </a:rPr>
              <a:t>Deliver</a:t>
            </a:r>
          </a:p>
          <a:p>
            <a:pPr algn="l" marL="604519" indent="-302260" lvl="1">
              <a:lnSpc>
                <a:spcPts val="4199"/>
              </a:lnSpc>
              <a:buFont typeface="Arial"/>
              <a:buChar char="•"/>
            </a:pPr>
            <a:r>
              <a:rPr lang="en-US" b="true" sz="2799" spc="27">
                <a:solidFill>
                  <a:srgbClr val="FFFFFF"/>
                </a:solidFill>
                <a:latin typeface="Mont 1 Bold"/>
                <a:ea typeface="Mont 1 Bold"/>
                <a:cs typeface="Mont 1 Bold"/>
                <a:sym typeface="Mont 1 Bold"/>
              </a:rPr>
              <a:t>Discuss</a:t>
            </a:r>
          </a:p>
        </p:txBody>
      </p:sp>
      <p:grpSp>
        <p:nvGrpSpPr>
          <p:cNvPr name="Group 16" id="16"/>
          <p:cNvGrpSpPr/>
          <p:nvPr/>
        </p:nvGrpSpPr>
        <p:grpSpPr>
          <a:xfrm rot="0">
            <a:off x="2893295" y="7079487"/>
            <a:ext cx="4625801" cy="1930002"/>
            <a:chOff x="0" y="0"/>
            <a:chExt cx="6167735" cy="2573336"/>
          </a:xfrm>
        </p:grpSpPr>
        <p:sp>
          <p:nvSpPr>
            <p:cNvPr name="TextBox 17" id="17"/>
            <p:cNvSpPr txBox="true"/>
            <p:nvPr/>
          </p:nvSpPr>
          <p:spPr>
            <a:xfrm rot="0">
              <a:off x="0" y="-28575"/>
              <a:ext cx="3807420" cy="473922"/>
            </a:xfrm>
            <a:prstGeom prst="rect">
              <a:avLst/>
            </a:prstGeom>
          </p:spPr>
          <p:txBody>
            <a:bodyPr anchor="t" rtlCol="false" tIns="0" lIns="0" bIns="0" rIns="0">
              <a:spAutoFit/>
            </a:bodyPr>
            <a:lstStyle/>
            <a:p>
              <a:pPr algn="ctr">
                <a:lnSpc>
                  <a:spcPts val="2859"/>
                </a:lnSpc>
                <a:spcBef>
                  <a:spcPct val="0"/>
                </a:spcBef>
              </a:pPr>
              <a:r>
                <a:rPr lang="en-US" b="true" sz="2199" spc="21">
                  <a:solidFill>
                    <a:srgbClr val="B0C0CF"/>
                  </a:solidFill>
                  <a:latin typeface="Mont 1"/>
                  <a:ea typeface="Mont 1"/>
                  <a:cs typeface="Mont 1"/>
                  <a:sym typeface="Mont 1"/>
                </a:rPr>
                <a:t>the Knowledge Gap</a:t>
              </a:r>
            </a:p>
          </p:txBody>
        </p:sp>
        <p:sp>
          <p:nvSpPr>
            <p:cNvPr name="TextBox 18" id="18"/>
            <p:cNvSpPr txBox="true"/>
            <p:nvPr/>
          </p:nvSpPr>
          <p:spPr>
            <a:xfrm rot="0">
              <a:off x="25400" y="700033"/>
              <a:ext cx="4500166" cy="473922"/>
            </a:xfrm>
            <a:prstGeom prst="rect">
              <a:avLst/>
            </a:prstGeom>
          </p:spPr>
          <p:txBody>
            <a:bodyPr anchor="t" rtlCol="false" tIns="0" lIns="0" bIns="0" rIns="0">
              <a:spAutoFit/>
            </a:bodyPr>
            <a:lstStyle/>
            <a:p>
              <a:pPr algn="ctr">
                <a:lnSpc>
                  <a:spcPts val="2859"/>
                </a:lnSpc>
                <a:spcBef>
                  <a:spcPct val="0"/>
                </a:spcBef>
              </a:pPr>
              <a:r>
                <a:rPr lang="en-US" b="true" sz="2199" spc="21">
                  <a:solidFill>
                    <a:srgbClr val="B0C0CF"/>
                  </a:solidFill>
                  <a:latin typeface="Mont 1"/>
                  <a:ea typeface="Mont 1"/>
                  <a:cs typeface="Mont 1"/>
                  <a:sym typeface="Mont 1"/>
                </a:rPr>
                <a:t>the Tailored Curriculum</a:t>
              </a:r>
            </a:p>
          </p:txBody>
        </p:sp>
        <p:sp>
          <p:nvSpPr>
            <p:cNvPr name="TextBox 19" id="19"/>
            <p:cNvSpPr txBox="true"/>
            <p:nvPr/>
          </p:nvSpPr>
          <p:spPr>
            <a:xfrm rot="0">
              <a:off x="88900" y="1424780"/>
              <a:ext cx="5026720" cy="473922"/>
            </a:xfrm>
            <a:prstGeom prst="rect">
              <a:avLst/>
            </a:prstGeom>
          </p:spPr>
          <p:txBody>
            <a:bodyPr anchor="t" rtlCol="false" tIns="0" lIns="0" bIns="0" rIns="0">
              <a:spAutoFit/>
            </a:bodyPr>
            <a:lstStyle/>
            <a:p>
              <a:pPr algn="ctr">
                <a:lnSpc>
                  <a:spcPts val="2859"/>
                </a:lnSpc>
                <a:spcBef>
                  <a:spcPct val="0"/>
                </a:spcBef>
              </a:pPr>
              <a:r>
                <a:rPr lang="en-US" b="true" sz="2199" spc="21">
                  <a:solidFill>
                    <a:srgbClr val="B0C0CF"/>
                  </a:solidFill>
                  <a:latin typeface="Mont 1"/>
                  <a:ea typeface="Mont 1"/>
                  <a:cs typeface="Mont 1"/>
                  <a:sym typeface="Mont 1"/>
                </a:rPr>
                <a:t>the Breakthrough Training</a:t>
              </a:r>
            </a:p>
          </p:txBody>
        </p:sp>
        <p:sp>
          <p:nvSpPr>
            <p:cNvPr name="TextBox 20" id="20"/>
            <p:cNvSpPr txBox="true"/>
            <p:nvPr/>
          </p:nvSpPr>
          <p:spPr>
            <a:xfrm rot="0">
              <a:off x="203299" y="2099414"/>
              <a:ext cx="5964436" cy="473922"/>
            </a:xfrm>
            <a:prstGeom prst="rect">
              <a:avLst/>
            </a:prstGeom>
          </p:spPr>
          <p:txBody>
            <a:bodyPr anchor="t" rtlCol="false" tIns="0" lIns="0" bIns="0" rIns="0">
              <a:spAutoFit/>
            </a:bodyPr>
            <a:lstStyle/>
            <a:p>
              <a:pPr algn="ctr">
                <a:lnSpc>
                  <a:spcPts val="2859"/>
                </a:lnSpc>
                <a:spcBef>
                  <a:spcPct val="0"/>
                </a:spcBef>
              </a:pPr>
              <a:r>
                <a:rPr lang="en-US" b="true" sz="2199" spc="21">
                  <a:solidFill>
                    <a:srgbClr val="B0C0CF"/>
                  </a:solidFill>
                  <a:latin typeface="Mont 1"/>
                  <a:ea typeface="Mont 1"/>
                  <a:cs typeface="Mont 1"/>
                  <a:sym typeface="Mont 1"/>
                </a:rPr>
                <a:t>the Improvement Post-Training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717528" cy="4831161"/>
          </a:xfrm>
          <a:custGeom>
            <a:avLst/>
            <a:gdLst/>
            <a:ahLst/>
            <a:cxnLst/>
            <a:rect r="r" b="b" t="t" l="l"/>
            <a:pathLst>
              <a:path h="4831161" w="2717528">
                <a:moveTo>
                  <a:pt x="0" y="0"/>
                </a:moveTo>
                <a:lnTo>
                  <a:pt x="2717528" y="0"/>
                </a:lnTo>
                <a:lnTo>
                  <a:pt x="2717528" y="4831161"/>
                </a:lnTo>
                <a:lnTo>
                  <a:pt x="0" y="4831161"/>
                </a:lnTo>
                <a:lnTo>
                  <a:pt x="0" y="0"/>
                </a:lnTo>
                <a:close/>
              </a:path>
            </a:pathLst>
          </a:custGeom>
          <a:blipFill>
            <a:blip r:embed="rId2"/>
            <a:stretch>
              <a:fillRect l="0" t="0" r="0" b="0"/>
            </a:stretch>
          </a:blipFill>
        </p:spPr>
      </p:sp>
      <p:sp>
        <p:nvSpPr>
          <p:cNvPr name="Freeform 3" id="3"/>
          <p:cNvSpPr/>
          <p:nvPr/>
        </p:nvSpPr>
        <p:spPr>
          <a:xfrm flipH="false" flipV="false" rot="0">
            <a:off x="2717528" y="0"/>
            <a:ext cx="7977823" cy="4831161"/>
          </a:xfrm>
          <a:custGeom>
            <a:avLst/>
            <a:gdLst/>
            <a:ahLst/>
            <a:cxnLst/>
            <a:rect r="r" b="b" t="t" l="l"/>
            <a:pathLst>
              <a:path h="4831161" w="7977823">
                <a:moveTo>
                  <a:pt x="0" y="0"/>
                </a:moveTo>
                <a:lnTo>
                  <a:pt x="7977823" y="0"/>
                </a:lnTo>
                <a:lnTo>
                  <a:pt x="7977823" y="4831161"/>
                </a:lnTo>
                <a:lnTo>
                  <a:pt x="0" y="4831161"/>
                </a:lnTo>
                <a:lnTo>
                  <a:pt x="0" y="0"/>
                </a:lnTo>
                <a:close/>
              </a:path>
            </a:pathLst>
          </a:custGeom>
          <a:blipFill>
            <a:blip r:embed="rId3"/>
            <a:stretch>
              <a:fillRect l="-7657" t="0" r="0" b="0"/>
            </a:stretch>
          </a:blipFill>
        </p:spPr>
      </p:sp>
      <p:sp>
        <p:nvSpPr>
          <p:cNvPr name="Freeform 4" id="4"/>
          <p:cNvSpPr/>
          <p:nvPr/>
        </p:nvSpPr>
        <p:spPr>
          <a:xfrm flipH="false" flipV="false" rot="0">
            <a:off x="-2072827" y="4831161"/>
            <a:ext cx="9699269" cy="5455839"/>
          </a:xfrm>
          <a:custGeom>
            <a:avLst/>
            <a:gdLst/>
            <a:ahLst/>
            <a:cxnLst/>
            <a:rect r="r" b="b" t="t" l="l"/>
            <a:pathLst>
              <a:path h="5455839" w="9699269">
                <a:moveTo>
                  <a:pt x="0" y="0"/>
                </a:moveTo>
                <a:lnTo>
                  <a:pt x="9699269" y="0"/>
                </a:lnTo>
                <a:lnTo>
                  <a:pt x="9699269" y="5455839"/>
                </a:lnTo>
                <a:lnTo>
                  <a:pt x="0" y="5455839"/>
                </a:lnTo>
                <a:lnTo>
                  <a:pt x="0" y="0"/>
                </a:lnTo>
                <a:close/>
              </a:path>
            </a:pathLst>
          </a:custGeom>
          <a:blipFill>
            <a:blip r:embed="rId4"/>
            <a:stretch>
              <a:fillRect l="0" t="0" r="0" b="0"/>
            </a:stretch>
          </a:blipFill>
        </p:spPr>
      </p:sp>
      <p:sp>
        <p:nvSpPr>
          <p:cNvPr name="Freeform 5" id="5"/>
          <p:cNvSpPr/>
          <p:nvPr/>
        </p:nvSpPr>
        <p:spPr>
          <a:xfrm flipH="false" flipV="false" rot="0">
            <a:off x="7626442" y="4831161"/>
            <a:ext cx="3068909" cy="5455839"/>
          </a:xfrm>
          <a:custGeom>
            <a:avLst/>
            <a:gdLst/>
            <a:ahLst/>
            <a:cxnLst/>
            <a:rect r="r" b="b" t="t" l="l"/>
            <a:pathLst>
              <a:path h="5455839" w="3068909">
                <a:moveTo>
                  <a:pt x="0" y="0"/>
                </a:moveTo>
                <a:lnTo>
                  <a:pt x="3068909" y="0"/>
                </a:lnTo>
                <a:lnTo>
                  <a:pt x="3068909" y="5455839"/>
                </a:lnTo>
                <a:lnTo>
                  <a:pt x="0" y="5455839"/>
                </a:lnTo>
                <a:lnTo>
                  <a:pt x="0" y="0"/>
                </a:lnTo>
                <a:close/>
              </a:path>
            </a:pathLst>
          </a:custGeom>
          <a:blipFill>
            <a:blip r:embed="rId5"/>
            <a:stretch>
              <a:fillRect l="0" t="0" r="0" b="0"/>
            </a:stretch>
          </a:blipFill>
        </p:spPr>
      </p:sp>
      <p:sp>
        <p:nvSpPr>
          <p:cNvPr name="Freeform 6" id="6"/>
          <p:cNvSpPr/>
          <p:nvPr/>
        </p:nvSpPr>
        <p:spPr>
          <a:xfrm flipH="false" flipV="false" rot="0">
            <a:off x="10695351" y="22938"/>
            <a:ext cx="3693486" cy="4932748"/>
          </a:xfrm>
          <a:custGeom>
            <a:avLst/>
            <a:gdLst/>
            <a:ahLst/>
            <a:cxnLst/>
            <a:rect r="r" b="b" t="t" l="l"/>
            <a:pathLst>
              <a:path h="4932748" w="3693486">
                <a:moveTo>
                  <a:pt x="0" y="0"/>
                </a:moveTo>
                <a:lnTo>
                  <a:pt x="3693486" y="0"/>
                </a:lnTo>
                <a:lnTo>
                  <a:pt x="3693486" y="4932747"/>
                </a:lnTo>
                <a:lnTo>
                  <a:pt x="0" y="4932747"/>
                </a:lnTo>
                <a:lnTo>
                  <a:pt x="0" y="0"/>
                </a:lnTo>
                <a:close/>
              </a:path>
            </a:pathLst>
          </a:custGeom>
          <a:blipFill>
            <a:blip r:embed="rId6"/>
            <a:stretch>
              <a:fillRect l="0" t="0" r="0" b="0"/>
            </a:stretch>
          </a:blipFill>
        </p:spPr>
      </p:sp>
      <p:sp>
        <p:nvSpPr>
          <p:cNvPr name="Freeform 7" id="7"/>
          <p:cNvSpPr/>
          <p:nvPr/>
        </p:nvSpPr>
        <p:spPr>
          <a:xfrm flipH="false" flipV="false" rot="0">
            <a:off x="14407706" y="22938"/>
            <a:ext cx="4239080" cy="7536143"/>
          </a:xfrm>
          <a:custGeom>
            <a:avLst/>
            <a:gdLst/>
            <a:ahLst/>
            <a:cxnLst/>
            <a:rect r="r" b="b" t="t" l="l"/>
            <a:pathLst>
              <a:path h="7536143" w="4239080">
                <a:moveTo>
                  <a:pt x="0" y="0"/>
                </a:moveTo>
                <a:lnTo>
                  <a:pt x="4239080" y="0"/>
                </a:lnTo>
                <a:lnTo>
                  <a:pt x="4239080" y="7536143"/>
                </a:lnTo>
                <a:lnTo>
                  <a:pt x="0" y="7536143"/>
                </a:lnTo>
                <a:lnTo>
                  <a:pt x="0" y="0"/>
                </a:lnTo>
                <a:close/>
              </a:path>
            </a:pathLst>
          </a:custGeom>
          <a:blipFill>
            <a:blip r:embed="rId7"/>
            <a:stretch>
              <a:fillRect l="0" t="0" r="0" b="0"/>
            </a:stretch>
          </a:blipFill>
        </p:spPr>
      </p:sp>
      <p:sp>
        <p:nvSpPr>
          <p:cNvPr name="Freeform 8" id="8"/>
          <p:cNvSpPr/>
          <p:nvPr/>
        </p:nvSpPr>
        <p:spPr>
          <a:xfrm flipH="false" flipV="false" rot="0">
            <a:off x="10695351" y="4955685"/>
            <a:ext cx="7592649" cy="5705630"/>
          </a:xfrm>
          <a:custGeom>
            <a:avLst/>
            <a:gdLst/>
            <a:ahLst/>
            <a:cxnLst/>
            <a:rect r="r" b="b" t="t" l="l"/>
            <a:pathLst>
              <a:path h="5705630" w="7592649">
                <a:moveTo>
                  <a:pt x="0" y="0"/>
                </a:moveTo>
                <a:lnTo>
                  <a:pt x="7592649" y="0"/>
                </a:lnTo>
                <a:lnTo>
                  <a:pt x="7592649" y="5705631"/>
                </a:lnTo>
                <a:lnTo>
                  <a:pt x="0" y="5705631"/>
                </a:lnTo>
                <a:lnTo>
                  <a:pt x="0" y="0"/>
                </a:lnTo>
                <a:close/>
              </a:path>
            </a:pathLst>
          </a:custGeom>
          <a:blipFill>
            <a:blip r:embed="rId8"/>
            <a:stretch>
              <a:fillRect l="0" t="0" r="0" b="0"/>
            </a:stretch>
          </a:blipFill>
        </p:spPr>
      </p:sp>
      <p:grpSp>
        <p:nvGrpSpPr>
          <p:cNvPr name="Group 9" id="9"/>
          <p:cNvGrpSpPr/>
          <p:nvPr/>
        </p:nvGrpSpPr>
        <p:grpSpPr>
          <a:xfrm rot="0">
            <a:off x="0" y="22938"/>
            <a:ext cx="18288000" cy="10264062"/>
            <a:chOff x="0" y="0"/>
            <a:chExt cx="4816593" cy="2703292"/>
          </a:xfrm>
        </p:grpSpPr>
        <p:sp>
          <p:nvSpPr>
            <p:cNvPr name="Freeform 10" id="10"/>
            <p:cNvSpPr/>
            <p:nvPr/>
          </p:nvSpPr>
          <p:spPr>
            <a:xfrm flipH="false" flipV="false" rot="0">
              <a:off x="0" y="0"/>
              <a:ext cx="4816592" cy="2703292"/>
            </a:xfrm>
            <a:custGeom>
              <a:avLst/>
              <a:gdLst/>
              <a:ahLst/>
              <a:cxnLst/>
              <a:rect r="r" b="b" t="t" l="l"/>
              <a:pathLst>
                <a:path h="2703292" w="4816592">
                  <a:moveTo>
                    <a:pt x="0" y="0"/>
                  </a:moveTo>
                  <a:lnTo>
                    <a:pt x="4816592" y="0"/>
                  </a:lnTo>
                  <a:lnTo>
                    <a:pt x="4816592" y="2703292"/>
                  </a:lnTo>
                  <a:lnTo>
                    <a:pt x="0" y="2703292"/>
                  </a:lnTo>
                  <a:close/>
                </a:path>
              </a:pathLst>
            </a:custGeom>
            <a:solidFill>
              <a:srgbClr val="000000">
                <a:alpha val="40000"/>
              </a:srgbClr>
            </a:solidFill>
          </p:spPr>
        </p:sp>
        <p:sp>
          <p:nvSpPr>
            <p:cNvPr name="TextBox 11" id="11"/>
            <p:cNvSpPr txBox="true"/>
            <p:nvPr/>
          </p:nvSpPr>
          <p:spPr>
            <a:xfrm>
              <a:off x="0" y="-9525"/>
              <a:ext cx="4816593" cy="2712817"/>
            </a:xfrm>
            <a:prstGeom prst="rect">
              <a:avLst/>
            </a:prstGeom>
          </p:spPr>
          <p:txBody>
            <a:bodyPr anchor="ctr" rtlCol="false" tIns="50800" lIns="50800" bIns="50800" rIns="50800"/>
            <a:lstStyle/>
            <a:p>
              <a:pPr algn="ctr">
                <a:lnSpc>
                  <a:spcPts val="2538"/>
                </a:lnSpc>
              </a:pPr>
            </a:p>
          </p:txBody>
        </p:sp>
      </p:grpSp>
      <p:grpSp>
        <p:nvGrpSpPr>
          <p:cNvPr name="Group 12" id="12"/>
          <p:cNvGrpSpPr/>
          <p:nvPr/>
        </p:nvGrpSpPr>
        <p:grpSpPr>
          <a:xfrm rot="0">
            <a:off x="1179323" y="2603612"/>
            <a:ext cx="4576296" cy="7103014"/>
            <a:chOff x="0" y="0"/>
            <a:chExt cx="1205279" cy="1870753"/>
          </a:xfrm>
        </p:grpSpPr>
        <p:sp>
          <p:nvSpPr>
            <p:cNvPr name="Freeform 13" id="13"/>
            <p:cNvSpPr/>
            <p:nvPr/>
          </p:nvSpPr>
          <p:spPr>
            <a:xfrm flipH="false" flipV="false" rot="0">
              <a:off x="0" y="0"/>
              <a:ext cx="1205280" cy="1870753"/>
            </a:xfrm>
            <a:custGeom>
              <a:avLst/>
              <a:gdLst/>
              <a:ahLst/>
              <a:cxnLst/>
              <a:rect r="r" b="b" t="t" l="l"/>
              <a:pathLst>
                <a:path h="1870753" w="1205280">
                  <a:moveTo>
                    <a:pt x="0" y="0"/>
                  </a:moveTo>
                  <a:lnTo>
                    <a:pt x="1205280" y="0"/>
                  </a:lnTo>
                  <a:lnTo>
                    <a:pt x="1205280" y="1870753"/>
                  </a:lnTo>
                  <a:lnTo>
                    <a:pt x="0" y="1870753"/>
                  </a:lnTo>
                  <a:close/>
                </a:path>
              </a:pathLst>
            </a:custGeom>
            <a:solidFill>
              <a:srgbClr val="0D2A4E">
                <a:alpha val="84706"/>
              </a:srgbClr>
            </a:solidFill>
          </p:spPr>
        </p:sp>
        <p:sp>
          <p:nvSpPr>
            <p:cNvPr name="TextBox 14" id="14"/>
            <p:cNvSpPr txBox="true"/>
            <p:nvPr/>
          </p:nvSpPr>
          <p:spPr>
            <a:xfrm>
              <a:off x="0" y="-114300"/>
              <a:ext cx="1205279" cy="1985053"/>
            </a:xfrm>
            <a:prstGeom prst="rect">
              <a:avLst/>
            </a:prstGeom>
          </p:spPr>
          <p:txBody>
            <a:bodyPr anchor="ctr" rtlCol="false" tIns="50800" lIns="50800" bIns="50800" rIns="50800"/>
            <a:lstStyle/>
            <a:p>
              <a:pPr algn="ctr">
                <a:lnSpc>
                  <a:spcPts val="2700"/>
                </a:lnSpc>
              </a:pPr>
            </a:p>
          </p:txBody>
        </p:sp>
      </p:grpSp>
      <p:grpSp>
        <p:nvGrpSpPr>
          <p:cNvPr name="Group 15" id="15"/>
          <p:cNvGrpSpPr/>
          <p:nvPr/>
        </p:nvGrpSpPr>
        <p:grpSpPr>
          <a:xfrm rot="0">
            <a:off x="7141002" y="2577908"/>
            <a:ext cx="4576296" cy="7103014"/>
            <a:chOff x="0" y="0"/>
            <a:chExt cx="1205279" cy="1870753"/>
          </a:xfrm>
        </p:grpSpPr>
        <p:sp>
          <p:nvSpPr>
            <p:cNvPr name="Freeform 16" id="16"/>
            <p:cNvSpPr/>
            <p:nvPr/>
          </p:nvSpPr>
          <p:spPr>
            <a:xfrm flipH="false" flipV="false" rot="0">
              <a:off x="0" y="0"/>
              <a:ext cx="1205280" cy="1870753"/>
            </a:xfrm>
            <a:custGeom>
              <a:avLst/>
              <a:gdLst/>
              <a:ahLst/>
              <a:cxnLst/>
              <a:rect r="r" b="b" t="t" l="l"/>
              <a:pathLst>
                <a:path h="1870753" w="1205280">
                  <a:moveTo>
                    <a:pt x="0" y="0"/>
                  </a:moveTo>
                  <a:lnTo>
                    <a:pt x="1205280" y="0"/>
                  </a:lnTo>
                  <a:lnTo>
                    <a:pt x="1205280" y="1870753"/>
                  </a:lnTo>
                  <a:lnTo>
                    <a:pt x="0" y="1870753"/>
                  </a:lnTo>
                  <a:close/>
                </a:path>
              </a:pathLst>
            </a:custGeom>
            <a:solidFill>
              <a:srgbClr val="0D2A4E">
                <a:alpha val="69804"/>
              </a:srgbClr>
            </a:solidFill>
          </p:spPr>
        </p:sp>
        <p:sp>
          <p:nvSpPr>
            <p:cNvPr name="TextBox 17" id="17"/>
            <p:cNvSpPr txBox="true"/>
            <p:nvPr/>
          </p:nvSpPr>
          <p:spPr>
            <a:xfrm>
              <a:off x="0" y="-114300"/>
              <a:ext cx="1205279" cy="1985053"/>
            </a:xfrm>
            <a:prstGeom prst="rect">
              <a:avLst/>
            </a:prstGeom>
          </p:spPr>
          <p:txBody>
            <a:bodyPr anchor="ctr" rtlCol="false" tIns="50800" lIns="50800" bIns="50800" rIns="50800"/>
            <a:lstStyle/>
            <a:p>
              <a:pPr algn="ctr">
                <a:lnSpc>
                  <a:spcPts val="2700"/>
                </a:lnSpc>
              </a:pPr>
            </a:p>
          </p:txBody>
        </p:sp>
      </p:grpSp>
      <p:sp>
        <p:nvSpPr>
          <p:cNvPr name="TextBox 18" id="18"/>
          <p:cNvSpPr txBox="true"/>
          <p:nvPr/>
        </p:nvSpPr>
        <p:spPr>
          <a:xfrm rot="0">
            <a:off x="825443" y="-8209"/>
            <a:ext cx="16627177" cy="1153594"/>
          </a:xfrm>
          <a:prstGeom prst="rect">
            <a:avLst/>
          </a:prstGeom>
        </p:spPr>
        <p:txBody>
          <a:bodyPr anchor="t" rtlCol="false" tIns="0" lIns="0" bIns="0" rIns="0">
            <a:spAutoFit/>
          </a:bodyPr>
          <a:lstStyle/>
          <a:p>
            <a:pPr algn="ctr">
              <a:lnSpc>
                <a:spcPts val="7295"/>
              </a:lnSpc>
            </a:pPr>
            <a:r>
              <a:rPr lang="en-US" b="true" sz="6399" spc="-236">
                <a:solidFill>
                  <a:srgbClr val="FFFFFF"/>
                </a:solidFill>
                <a:latin typeface="Mont 2 Bold"/>
                <a:ea typeface="Mont 2 Bold"/>
                <a:cs typeface="Mont 2 Bold"/>
                <a:sym typeface="Mont 2 Bold"/>
              </a:rPr>
              <a:t>OUR TRAINING SPECIALITIES</a:t>
            </a:r>
          </a:p>
        </p:txBody>
      </p:sp>
      <p:sp>
        <p:nvSpPr>
          <p:cNvPr name="TextBox 19" id="19"/>
          <p:cNvSpPr txBox="true"/>
          <p:nvPr/>
        </p:nvSpPr>
        <p:spPr>
          <a:xfrm rot="0">
            <a:off x="1176705" y="2871475"/>
            <a:ext cx="4344457" cy="3652480"/>
          </a:xfrm>
          <a:prstGeom prst="rect">
            <a:avLst/>
          </a:prstGeom>
        </p:spPr>
        <p:txBody>
          <a:bodyPr anchor="t" rtlCol="false" tIns="0" lIns="0" bIns="0" rIns="0">
            <a:spAutoFit/>
          </a:bodyPr>
          <a:lstStyle/>
          <a:p>
            <a:pPr algn="l" marL="518160" indent="-259080" lvl="1">
              <a:lnSpc>
                <a:spcPts val="3600"/>
              </a:lnSpc>
              <a:buFont typeface="Arial"/>
              <a:buChar char="•"/>
            </a:pPr>
            <a:r>
              <a:rPr lang="en-US" sz="2400" spc="24">
                <a:solidFill>
                  <a:srgbClr val="FFFFFF"/>
                </a:solidFill>
                <a:latin typeface="Mont 1"/>
                <a:ea typeface="Mont 1"/>
                <a:cs typeface="Mont 1"/>
                <a:sym typeface="Mont 1"/>
              </a:rPr>
              <a:t>Leadership</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English Communication for Sales</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Creative Problem Solving and Decision Making</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Strategic Leadership</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Creative Thinking,etc</a:t>
            </a:r>
          </a:p>
        </p:txBody>
      </p:sp>
      <p:grpSp>
        <p:nvGrpSpPr>
          <p:cNvPr name="Group 20" id="20"/>
          <p:cNvGrpSpPr/>
          <p:nvPr/>
        </p:nvGrpSpPr>
        <p:grpSpPr>
          <a:xfrm rot="0">
            <a:off x="7159369" y="1338756"/>
            <a:ext cx="4574153" cy="1124852"/>
            <a:chOff x="0" y="0"/>
            <a:chExt cx="1204715" cy="296257"/>
          </a:xfrm>
        </p:grpSpPr>
        <p:sp>
          <p:nvSpPr>
            <p:cNvPr name="Freeform 21" id="21"/>
            <p:cNvSpPr/>
            <p:nvPr/>
          </p:nvSpPr>
          <p:spPr>
            <a:xfrm flipH="false" flipV="false" rot="0">
              <a:off x="0" y="0"/>
              <a:ext cx="1204715" cy="296257"/>
            </a:xfrm>
            <a:custGeom>
              <a:avLst/>
              <a:gdLst/>
              <a:ahLst/>
              <a:cxnLst/>
              <a:rect r="r" b="b" t="t" l="l"/>
              <a:pathLst>
                <a:path h="296257" w="1204715">
                  <a:moveTo>
                    <a:pt x="0" y="0"/>
                  </a:moveTo>
                  <a:lnTo>
                    <a:pt x="1204715" y="0"/>
                  </a:lnTo>
                  <a:lnTo>
                    <a:pt x="1204715" y="296257"/>
                  </a:lnTo>
                  <a:lnTo>
                    <a:pt x="0" y="296257"/>
                  </a:lnTo>
                  <a:close/>
                </a:path>
              </a:pathLst>
            </a:custGeom>
            <a:solidFill>
              <a:srgbClr val="FFC00C">
                <a:alpha val="84706"/>
              </a:srgbClr>
            </a:solidFill>
          </p:spPr>
        </p:sp>
        <p:sp>
          <p:nvSpPr>
            <p:cNvPr name="TextBox 22" id="22"/>
            <p:cNvSpPr txBox="true"/>
            <p:nvPr/>
          </p:nvSpPr>
          <p:spPr>
            <a:xfrm>
              <a:off x="0" y="-114300"/>
              <a:ext cx="1204715" cy="410557"/>
            </a:xfrm>
            <a:prstGeom prst="rect">
              <a:avLst/>
            </a:prstGeom>
          </p:spPr>
          <p:txBody>
            <a:bodyPr anchor="ctr" rtlCol="false" tIns="50800" lIns="50800" bIns="50800" rIns="50800"/>
            <a:lstStyle/>
            <a:p>
              <a:pPr algn="ctr">
                <a:lnSpc>
                  <a:spcPts val="2700"/>
                </a:lnSpc>
              </a:pPr>
            </a:p>
          </p:txBody>
        </p:sp>
      </p:grpSp>
      <p:grpSp>
        <p:nvGrpSpPr>
          <p:cNvPr name="Group 23" id="23"/>
          <p:cNvGrpSpPr/>
          <p:nvPr/>
        </p:nvGrpSpPr>
        <p:grpSpPr>
          <a:xfrm rot="0">
            <a:off x="1215244" y="1338756"/>
            <a:ext cx="4574153" cy="1124852"/>
            <a:chOff x="0" y="0"/>
            <a:chExt cx="1204715" cy="296257"/>
          </a:xfrm>
        </p:grpSpPr>
        <p:sp>
          <p:nvSpPr>
            <p:cNvPr name="Freeform 24" id="24"/>
            <p:cNvSpPr/>
            <p:nvPr/>
          </p:nvSpPr>
          <p:spPr>
            <a:xfrm flipH="false" flipV="false" rot="0">
              <a:off x="0" y="0"/>
              <a:ext cx="1204715" cy="296257"/>
            </a:xfrm>
            <a:custGeom>
              <a:avLst/>
              <a:gdLst/>
              <a:ahLst/>
              <a:cxnLst/>
              <a:rect r="r" b="b" t="t" l="l"/>
              <a:pathLst>
                <a:path h="296257" w="1204715">
                  <a:moveTo>
                    <a:pt x="0" y="0"/>
                  </a:moveTo>
                  <a:lnTo>
                    <a:pt x="1204715" y="0"/>
                  </a:lnTo>
                  <a:lnTo>
                    <a:pt x="1204715" y="296257"/>
                  </a:lnTo>
                  <a:lnTo>
                    <a:pt x="0" y="296257"/>
                  </a:lnTo>
                  <a:close/>
                </a:path>
              </a:pathLst>
            </a:custGeom>
            <a:solidFill>
              <a:srgbClr val="FFC00C">
                <a:alpha val="84706"/>
              </a:srgbClr>
            </a:solidFill>
          </p:spPr>
        </p:sp>
        <p:sp>
          <p:nvSpPr>
            <p:cNvPr name="TextBox 25" id="25"/>
            <p:cNvSpPr txBox="true"/>
            <p:nvPr/>
          </p:nvSpPr>
          <p:spPr>
            <a:xfrm>
              <a:off x="0" y="-114300"/>
              <a:ext cx="1204715" cy="410557"/>
            </a:xfrm>
            <a:prstGeom prst="rect">
              <a:avLst/>
            </a:prstGeom>
          </p:spPr>
          <p:txBody>
            <a:bodyPr anchor="ctr" rtlCol="false" tIns="50800" lIns="50800" bIns="50800" rIns="50800"/>
            <a:lstStyle/>
            <a:p>
              <a:pPr algn="ctr">
                <a:lnSpc>
                  <a:spcPts val="2700"/>
                </a:lnSpc>
              </a:pPr>
            </a:p>
          </p:txBody>
        </p:sp>
      </p:grpSp>
      <p:sp>
        <p:nvSpPr>
          <p:cNvPr name="TextBox 26" id="26"/>
          <p:cNvSpPr txBox="true"/>
          <p:nvPr/>
        </p:nvSpPr>
        <p:spPr>
          <a:xfrm rot="0">
            <a:off x="1342573" y="1672601"/>
            <a:ext cx="4326873" cy="447638"/>
          </a:xfrm>
          <a:prstGeom prst="rect">
            <a:avLst/>
          </a:prstGeom>
        </p:spPr>
        <p:txBody>
          <a:bodyPr anchor="t" rtlCol="false" tIns="0" lIns="0" bIns="0" rIns="0">
            <a:spAutoFit/>
          </a:bodyPr>
          <a:lstStyle/>
          <a:p>
            <a:pPr algn="ctr">
              <a:lnSpc>
                <a:spcPts val="3480"/>
              </a:lnSpc>
            </a:pPr>
            <a:r>
              <a:rPr lang="en-US" b="true" sz="2900" spc="29">
                <a:solidFill>
                  <a:srgbClr val="0D2A4E"/>
                </a:solidFill>
                <a:latin typeface="Mont 1 Bold"/>
                <a:ea typeface="Mont 1 Bold"/>
                <a:cs typeface="Mont 1 Bold"/>
                <a:sym typeface="Mont 1 Bold"/>
              </a:rPr>
              <a:t>SOFT SKILL TRAINING</a:t>
            </a:r>
          </a:p>
        </p:txBody>
      </p:sp>
      <p:sp>
        <p:nvSpPr>
          <p:cNvPr name="TextBox 27" id="27"/>
          <p:cNvSpPr txBox="true"/>
          <p:nvPr/>
        </p:nvSpPr>
        <p:spPr>
          <a:xfrm rot="0">
            <a:off x="7254575" y="1437584"/>
            <a:ext cx="4326873" cy="885751"/>
          </a:xfrm>
          <a:prstGeom prst="rect">
            <a:avLst/>
          </a:prstGeom>
        </p:spPr>
        <p:txBody>
          <a:bodyPr anchor="t" rtlCol="false" tIns="0" lIns="0" bIns="0" rIns="0">
            <a:spAutoFit/>
          </a:bodyPr>
          <a:lstStyle/>
          <a:p>
            <a:pPr algn="ctr">
              <a:lnSpc>
                <a:spcPts val="3480"/>
              </a:lnSpc>
            </a:pPr>
            <a:r>
              <a:rPr lang="en-US" b="true" sz="2900" spc="29">
                <a:solidFill>
                  <a:srgbClr val="0D2A4E"/>
                </a:solidFill>
                <a:latin typeface="Mont 1 Bold"/>
                <a:ea typeface="Mont 1 Bold"/>
                <a:cs typeface="Mont 1 Bold"/>
                <a:sym typeface="Mont 1 Bold"/>
              </a:rPr>
              <a:t>PROFESSIONAL TRAINING</a:t>
            </a:r>
          </a:p>
        </p:txBody>
      </p:sp>
      <p:grpSp>
        <p:nvGrpSpPr>
          <p:cNvPr name="Group 28" id="28"/>
          <p:cNvGrpSpPr/>
          <p:nvPr/>
        </p:nvGrpSpPr>
        <p:grpSpPr>
          <a:xfrm rot="0">
            <a:off x="13085128" y="2603612"/>
            <a:ext cx="4576296" cy="7103014"/>
            <a:chOff x="0" y="0"/>
            <a:chExt cx="1205279" cy="1870753"/>
          </a:xfrm>
        </p:grpSpPr>
        <p:sp>
          <p:nvSpPr>
            <p:cNvPr name="Freeform 29" id="29"/>
            <p:cNvSpPr/>
            <p:nvPr/>
          </p:nvSpPr>
          <p:spPr>
            <a:xfrm flipH="false" flipV="false" rot="0">
              <a:off x="0" y="0"/>
              <a:ext cx="1205280" cy="1870753"/>
            </a:xfrm>
            <a:custGeom>
              <a:avLst/>
              <a:gdLst/>
              <a:ahLst/>
              <a:cxnLst/>
              <a:rect r="r" b="b" t="t" l="l"/>
              <a:pathLst>
                <a:path h="1870753" w="1205280">
                  <a:moveTo>
                    <a:pt x="0" y="0"/>
                  </a:moveTo>
                  <a:lnTo>
                    <a:pt x="1205280" y="0"/>
                  </a:lnTo>
                  <a:lnTo>
                    <a:pt x="1205280" y="1870753"/>
                  </a:lnTo>
                  <a:lnTo>
                    <a:pt x="0" y="1870753"/>
                  </a:lnTo>
                  <a:close/>
                </a:path>
              </a:pathLst>
            </a:custGeom>
            <a:solidFill>
              <a:srgbClr val="FFC00C">
                <a:alpha val="86667"/>
              </a:srgbClr>
            </a:solidFill>
          </p:spPr>
        </p:sp>
        <p:sp>
          <p:nvSpPr>
            <p:cNvPr name="TextBox 30" id="30"/>
            <p:cNvSpPr txBox="true"/>
            <p:nvPr/>
          </p:nvSpPr>
          <p:spPr>
            <a:xfrm>
              <a:off x="0" y="-114300"/>
              <a:ext cx="1205279" cy="1985053"/>
            </a:xfrm>
            <a:prstGeom prst="rect">
              <a:avLst/>
            </a:prstGeom>
          </p:spPr>
          <p:txBody>
            <a:bodyPr anchor="ctr" rtlCol="false" tIns="50800" lIns="50800" bIns="50800" rIns="50800"/>
            <a:lstStyle/>
            <a:p>
              <a:pPr algn="ctr">
                <a:lnSpc>
                  <a:spcPts val="2700"/>
                </a:lnSpc>
              </a:pPr>
            </a:p>
          </p:txBody>
        </p:sp>
      </p:grpSp>
      <p:grpSp>
        <p:nvGrpSpPr>
          <p:cNvPr name="Group 31" id="31"/>
          <p:cNvGrpSpPr/>
          <p:nvPr/>
        </p:nvGrpSpPr>
        <p:grpSpPr>
          <a:xfrm rot="0">
            <a:off x="13087270" y="1364459"/>
            <a:ext cx="4574153" cy="1124852"/>
            <a:chOff x="0" y="0"/>
            <a:chExt cx="1204715" cy="296257"/>
          </a:xfrm>
        </p:grpSpPr>
        <p:sp>
          <p:nvSpPr>
            <p:cNvPr name="Freeform 32" id="32"/>
            <p:cNvSpPr/>
            <p:nvPr/>
          </p:nvSpPr>
          <p:spPr>
            <a:xfrm flipH="false" flipV="false" rot="0">
              <a:off x="0" y="0"/>
              <a:ext cx="1204715" cy="296257"/>
            </a:xfrm>
            <a:custGeom>
              <a:avLst/>
              <a:gdLst/>
              <a:ahLst/>
              <a:cxnLst/>
              <a:rect r="r" b="b" t="t" l="l"/>
              <a:pathLst>
                <a:path h="296257" w="1204715">
                  <a:moveTo>
                    <a:pt x="0" y="0"/>
                  </a:moveTo>
                  <a:lnTo>
                    <a:pt x="1204715" y="0"/>
                  </a:lnTo>
                  <a:lnTo>
                    <a:pt x="1204715" y="296257"/>
                  </a:lnTo>
                  <a:lnTo>
                    <a:pt x="0" y="296257"/>
                  </a:lnTo>
                  <a:close/>
                </a:path>
              </a:pathLst>
            </a:custGeom>
            <a:solidFill>
              <a:srgbClr val="0D2A4E">
                <a:alpha val="69804"/>
              </a:srgbClr>
            </a:solidFill>
          </p:spPr>
        </p:sp>
        <p:sp>
          <p:nvSpPr>
            <p:cNvPr name="TextBox 33" id="33"/>
            <p:cNvSpPr txBox="true"/>
            <p:nvPr/>
          </p:nvSpPr>
          <p:spPr>
            <a:xfrm>
              <a:off x="0" y="-114300"/>
              <a:ext cx="1204715" cy="410557"/>
            </a:xfrm>
            <a:prstGeom prst="rect">
              <a:avLst/>
            </a:prstGeom>
          </p:spPr>
          <p:txBody>
            <a:bodyPr anchor="ctr" rtlCol="false" tIns="50800" lIns="50800" bIns="50800" rIns="50800"/>
            <a:lstStyle/>
            <a:p>
              <a:pPr algn="ctr">
                <a:lnSpc>
                  <a:spcPts val="2700"/>
                </a:lnSpc>
              </a:pPr>
            </a:p>
          </p:txBody>
        </p:sp>
      </p:grpSp>
      <p:sp>
        <p:nvSpPr>
          <p:cNvPr name="TextBox 34" id="34"/>
          <p:cNvSpPr txBox="true"/>
          <p:nvPr/>
        </p:nvSpPr>
        <p:spPr>
          <a:xfrm rot="0">
            <a:off x="13215892" y="2887653"/>
            <a:ext cx="4344457" cy="4514850"/>
          </a:xfrm>
          <a:prstGeom prst="rect">
            <a:avLst/>
          </a:prstGeom>
        </p:spPr>
        <p:txBody>
          <a:bodyPr anchor="t" rtlCol="false" tIns="0" lIns="0" bIns="0" rIns="0">
            <a:spAutoFit/>
          </a:bodyPr>
          <a:lstStyle/>
          <a:p>
            <a:pPr algn="ctr">
              <a:lnSpc>
                <a:spcPts val="4200"/>
              </a:lnSpc>
            </a:pPr>
            <a:r>
              <a:rPr lang="en-US" b="true" sz="2800" spc="28">
                <a:solidFill>
                  <a:srgbClr val="0D2A4E"/>
                </a:solidFill>
                <a:latin typeface="Mont 1 Bold"/>
                <a:ea typeface="Mont 1 Bold"/>
                <a:cs typeface="Mont 1 Bold"/>
                <a:sym typeface="Mont 1 Bold"/>
              </a:rPr>
              <a:t>Tailored training topics designed to meet your company's needs, powered by the proven</a:t>
            </a:r>
          </a:p>
          <a:p>
            <a:pPr algn="ctr">
              <a:lnSpc>
                <a:spcPts val="4500"/>
              </a:lnSpc>
            </a:pPr>
          </a:p>
          <a:p>
            <a:pPr algn="ctr">
              <a:lnSpc>
                <a:spcPts val="4800"/>
              </a:lnSpc>
            </a:pPr>
            <a:r>
              <a:rPr lang="en-US" sz="3200" spc="32" u="sng">
                <a:solidFill>
                  <a:srgbClr val="073763"/>
                </a:solidFill>
                <a:latin typeface="Foda Display"/>
                <a:ea typeface="Foda Display"/>
                <a:cs typeface="Foda Display"/>
                <a:sym typeface="Foda Display"/>
              </a:rPr>
              <a:t>Cambridge Training Framework</a:t>
            </a:r>
          </a:p>
        </p:txBody>
      </p:sp>
      <p:sp>
        <p:nvSpPr>
          <p:cNvPr name="TextBox 35" id="35"/>
          <p:cNvSpPr txBox="true"/>
          <p:nvPr/>
        </p:nvSpPr>
        <p:spPr>
          <a:xfrm rot="0">
            <a:off x="13233477" y="1698304"/>
            <a:ext cx="4326873" cy="447638"/>
          </a:xfrm>
          <a:prstGeom prst="rect">
            <a:avLst/>
          </a:prstGeom>
        </p:spPr>
        <p:txBody>
          <a:bodyPr anchor="t" rtlCol="false" tIns="0" lIns="0" bIns="0" rIns="0">
            <a:spAutoFit/>
          </a:bodyPr>
          <a:lstStyle/>
          <a:p>
            <a:pPr algn="ctr">
              <a:lnSpc>
                <a:spcPts val="3480"/>
              </a:lnSpc>
            </a:pPr>
            <a:r>
              <a:rPr lang="en-US" b="true" sz="2900" spc="29">
                <a:solidFill>
                  <a:srgbClr val="FFFFFF"/>
                </a:solidFill>
                <a:latin typeface="Mont 1 Bold"/>
                <a:ea typeface="Mont 1 Bold"/>
                <a:cs typeface="Mont 1 Bold"/>
                <a:sym typeface="Mont 1 Bold"/>
              </a:rPr>
              <a:t>CUSTOMIZE TRAINING</a:t>
            </a:r>
          </a:p>
        </p:txBody>
      </p:sp>
      <p:sp>
        <p:nvSpPr>
          <p:cNvPr name="TextBox 36" id="36"/>
          <p:cNvSpPr txBox="true"/>
          <p:nvPr/>
        </p:nvSpPr>
        <p:spPr>
          <a:xfrm rot="0">
            <a:off x="7232763" y="2871475"/>
            <a:ext cx="4344457" cy="4109755"/>
          </a:xfrm>
          <a:prstGeom prst="rect">
            <a:avLst/>
          </a:prstGeom>
        </p:spPr>
        <p:txBody>
          <a:bodyPr anchor="t" rtlCol="false" tIns="0" lIns="0" bIns="0" rIns="0">
            <a:spAutoFit/>
          </a:bodyPr>
          <a:lstStyle/>
          <a:p>
            <a:pPr algn="l" marL="518160" indent="-259080" lvl="1">
              <a:lnSpc>
                <a:spcPts val="3600"/>
              </a:lnSpc>
              <a:buFont typeface="Arial"/>
              <a:buChar char="•"/>
            </a:pPr>
            <a:r>
              <a:rPr lang="en-US" sz="2400" spc="24">
                <a:solidFill>
                  <a:srgbClr val="FFFFFF"/>
                </a:solidFill>
                <a:latin typeface="Mont 1"/>
                <a:ea typeface="Mont 1"/>
                <a:cs typeface="Mont 1"/>
                <a:sym typeface="Mont 1"/>
              </a:rPr>
              <a:t>How to Manage Hard Complaints</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Managing Effective CS Techniques for Gen Z </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Business Process for CS Operations</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How to optimize Digital Marketing</a:t>
            </a:r>
          </a:p>
          <a:p>
            <a:pPr algn="l" marL="518160" indent="-259080" lvl="1">
              <a:lnSpc>
                <a:spcPts val="3600"/>
              </a:lnSpc>
              <a:buFont typeface="Arial"/>
              <a:buChar char="•"/>
            </a:pPr>
            <a:r>
              <a:rPr lang="en-US" sz="2400" spc="24">
                <a:solidFill>
                  <a:srgbClr val="FFFFFF"/>
                </a:solidFill>
                <a:latin typeface="Mont 1"/>
                <a:ea typeface="Mont 1"/>
                <a:cs typeface="Mont 1"/>
                <a:sym typeface="Mont 1"/>
              </a:rPr>
              <a:t>Etc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4" id="4"/>
          <p:cNvSpPr txBox="true"/>
          <p:nvPr/>
        </p:nvSpPr>
        <p:spPr>
          <a:xfrm rot="-5400000">
            <a:off x="-2587732" y="4486312"/>
            <a:ext cx="7232863" cy="1314376"/>
          </a:xfrm>
          <a:prstGeom prst="rect">
            <a:avLst/>
          </a:prstGeom>
        </p:spPr>
        <p:txBody>
          <a:bodyPr anchor="t" rtlCol="false" tIns="0" lIns="0" bIns="0" rIns="0">
            <a:spAutoFit/>
          </a:bodyPr>
          <a:lstStyle/>
          <a:p>
            <a:pPr algn="ctr">
              <a:lnSpc>
                <a:spcPts val="4950"/>
              </a:lnSpc>
            </a:pPr>
            <a:r>
              <a:rPr lang="en-US" b="true" sz="4500" spc="225">
                <a:solidFill>
                  <a:srgbClr val="0D2A4E"/>
                </a:solidFill>
                <a:latin typeface="Poppins Bold"/>
                <a:ea typeface="Poppins Bold"/>
                <a:cs typeface="Poppins Bold"/>
                <a:sym typeface="Poppins Bold"/>
              </a:rPr>
              <a:t>MODUL DEVELOPMENT PORTFOLIO</a:t>
            </a:r>
          </a:p>
        </p:txBody>
      </p:sp>
      <p:pic>
        <p:nvPicPr>
          <p:cNvPr name="Picture 5" id="5"/>
          <p:cNvPicPr>
            <a:picLocks noChangeAspect="true"/>
          </p:cNvPicPr>
          <p:nvPr/>
        </p:nvPicPr>
        <p:blipFill>
          <a:blip r:embed="rId2"/>
          <a:stretch>
            <a:fillRect/>
          </a:stretch>
        </p:blipFill>
        <p:spPr>
          <a:xfrm rot="0">
            <a:off x="2092948" y="2303170"/>
            <a:ext cx="4134272" cy="5263360"/>
          </a:xfrm>
          <a:prstGeom prst="rect">
            <a:avLst/>
          </a:prstGeom>
        </p:spPr>
      </p:pic>
      <p:grpSp>
        <p:nvGrpSpPr>
          <p:cNvPr name="Group 6" id="6"/>
          <p:cNvGrpSpPr/>
          <p:nvPr/>
        </p:nvGrpSpPr>
        <p:grpSpPr>
          <a:xfrm rot="0">
            <a:off x="2829597" y="3001546"/>
            <a:ext cx="2959009" cy="614471"/>
            <a:chOff x="0" y="0"/>
            <a:chExt cx="897136" cy="186300"/>
          </a:xfrm>
        </p:grpSpPr>
        <p:sp>
          <p:nvSpPr>
            <p:cNvPr name="Freeform 7" id="7"/>
            <p:cNvSpPr/>
            <p:nvPr/>
          </p:nvSpPr>
          <p:spPr>
            <a:xfrm flipH="false" flipV="false" rot="0">
              <a:off x="0" y="0"/>
              <a:ext cx="897137" cy="186300"/>
            </a:xfrm>
            <a:custGeom>
              <a:avLst/>
              <a:gdLst/>
              <a:ahLst/>
              <a:cxnLst/>
              <a:rect r="r" b="b" t="t" l="l"/>
              <a:pathLst>
                <a:path h="186300" w="897137">
                  <a:moveTo>
                    <a:pt x="93150" y="0"/>
                  </a:moveTo>
                  <a:lnTo>
                    <a:pt x="803986" y="0"/>
                  </a:lnTo>
                  <a:cubicBezTo>
                    <a:pt x="828691" y="0"/>
                    <a:pt x="852384" y="9814"/>
                    <a:pt x="869853" y="27283"/>
                  </a:cubicBezTo>
                  <a:cubicBezTo>
                    <a:pt x="887322" y="44752"/>
                    <a:pt x="897137" y="68445"/>
                    <a:pt x="897137" y="93150"/>
                  </a:cubicBezTo>
                  <a:lnTo>
                    <a:pt x="897137" y="93150"/>
                  </a:lnTo>
                  <a:cubicBezTo>
                    <a:pt x="897137" y="144596"/>
                    <a:pt x="855432" y="186300"/>
                    <a:pt x="803986" y="186300"/>
                  </a:cubicBezTo>
                  <a:lnTo>
                    <a:pt x="93150" y="186300"/>
                  </a:lnTo>
                  <a:cubicBezTo>
                    <a:pt x="41705" y="186300"/>
                    <a:pt x="0" y="144596"/>
                    <a:pt x="0" y="93150"/>
                  </a:cubicBezTo>
                  <a:lnTo>
                    <a:pt x="0" y="93150"/>
                  </a:lnTo>
                  <a:cubicBezTo>
                    <a:pt x="0" y="41705"/>
                    <a:pt x="41705" y="0"/>
                    <a:pt x="93150" y="0"/>
                  </a:cubicBezTo>
                  <a:close/>
                </a:path>
              </a:pathLst>
            </a:custGeom>
            <a:solidFill>
              <a:srgbClr val="0071CE"/>
            </a:solidFill>
          </p:spPr>
        </p:sp>
        <p:sp>
          <p:nvSpPr>
            <p:cNvPr name="TextBox 8" id="8"/>
            <p:cNvSpPr txBox="true"/>
            <p:nvPr/>
          </p:nvSpPr>
          <p:spPr>
            <a:xfrm>
              <a:off x="0" y="-28575"/>
              <a:ext cx="897136" cy="214875"/>
            </a:xfrm>
            <a:prstGeom prst="rect">
              <a:avLst/>
            </a:prstGeom>
          </p:spPr>
          <p:txBody>
            <a:bodyPr anchor="ctr" rtlCol="false" tIns="50800" lIns="50800" bIns="50800" rIns="50800"/>
            <a:lstStyle/>
            <a:p>
              <a:pPr algn="ctr">
                <a:lnSpc>
                  <a:spcPts val="3464"/>
                </a:lnSpc>
              </a:pPr>
              <a:r>
                <a:rPr lang="en-US" b="true" sz="2685">
                  <a:solidFill>
                    <a:srgbClr val="FFFFFF"/>
                  </a:solidFill>
                  <a:latin typeface="Montserrat Medium"/>
                  <a:ea typeface="Montserrat Medium"/>
                  <a:cs typeface="Montserrat Medium"/>
                  <a:sym typeface="Montserrat Medium"/>
                </a:rPr>
                <a:t>SALES MODUL </a:t>
              </a:r>
            </a:p>
          </p:txBody>
        </p:sp>
      </p:grpSp>
      <p:pic>
        <p:nvPicPr>
          <p:cNvPr name="Picture 9" id="9"/>
          <p:cNvPicPr>
            <a:picLocks noChangeAspect="true"/>
          </p:cNvPicPr>
          <p:nvPr/>
        </p:nvPicPr>
        <p:blipFill>
          <a:blip r:embed="rId3"/>
          <a:stretch>
            <a:fillRect/>
          </a:stretch>
        </p:blipFill>
        <p:spPr>
          <a:xfrm rot="0">
            <a:off x="5614074" y="2432885"/>
            <a:ext cx="6823932" cy="4781933"/>
          </a:xfrm>
          <a:prstGeom prst="rect">
            <a:avLst/>
          </a:prstGeom>
        </p:spPr>
      </p:pic>
      <p:pic>
        <p:nvPicPr>
          <p:cNvPr name="Picture 10" id="10"/>
          <p:cNvPicPr>
            <a:picLocks noChangeAspect="true"/>
          </p:cNvPicPr>
          <p:nvPr/>
        </p:nvPicPr>
        <p:blipFill>
          <a:blip r:embed="rId4"/>
          <a:stretch>
            <a:fillRect/>
          </a:stretch>
        </p:blipFill>
        <p:spPr>
          <a:xfrm rot="0">
            <a:off x="11710259" y="2432885"/>
            <a:ext cx="6823932" cy="4781933"/>
          </a:xfrm>
          <a:prstGeom prst="rect">
            <a:avLst/>
          </a:prstGeom>
        </p:spPr>
      </p:pic>
      <p:sp>
        <p:nvSpPr>
          <p:cNvPr name="TextBox 11" id="11"/>
          <p:cNvSpPr txBox="true"/>
          <p:nvPr/>
        </p:nvSpPr>
        <p:spPr>
          <a:xfrm rot="0">
            <a:off x="2531561" y="306752"/>
            <a:ext cx="11539845" cy="1883405"/>
          </a:xfrm>
          <a:prstGeom prst="rect">
            <a:avLst/>
          </a:prstGeom>
        </p:spPr>
        <p:txBody>
          <a:bodyPr anchor="t" rtlCol="false" tIns="0" lIns="0" bIns="0" rIns="0">
            <a:spAutoFit/>
          </a:bodyPr>
          <a:lstStyle/>
          <a:p>
            <a:pPr algn="l">
              <a:lnSpc>
                <a:spcPts val="4519"/>
              </a:lnSpc>
            </a:pPr>
            <a:r>
              <a:rPr lang="en-US" sz="3999" b="true">
                <a:solidFill>
                  <a:srgbClr val="FFFFFF"/>
                </a:solidFill>
                <a:latin typeface="Mont 2 Bold"/>
                <a:ea typeface="Mont 2 Bold"/>
                <a:cs typeface="Mont 2 Bold"/>
                <a:sym typeface="Mont 2 Bold"/>
              </a:rPr>
              <a:t>PORTOFOLIO</a:t>
            </a:r>
          </a:p>
          <a:p>
            <a:pPr algn="l">
              <a:lnSpc>
                <a:spcPts val="4520"/>
              </a:lnSpc>
            </a:pPr>
            <a:r>
              <a:rPr lang="en-US" sz="3999">
                <a:solidFill>
                  <a:srgbClr val="FFFFFF"/>
                </a:solidFill>
                <a:latin typeface="Mont 2"/>
                <a:ea typeface="Mont 2"/>
                <a:cs typeface="Mont 2"/>
                <a:sym typeface="Mont 2"/>
              </a:rPr>
              <a:t>FUTUREMAKERS YOUTH EMPLOYMENT PROGRAMME &amp; TECH PATH</a:t>
            </a:r>
          </a:p>
        </p:txBody>
      </p:sp>
      <p:sp>
        <p:nvSpPr>
          <p:cNvPr name="TextBox 12" id="12"/>
          <p:cNvSpPr txBox="true"/>
          <p:nvPr/>
        </p:nvSpPr>
        <p:spPr>
          <a:xfrm rot="0">
            <a:off x="2531561" y="7367419"/>
            <a:ext cx="4100819" cy="575140"/>
          </a:xfrm>
          <a:prstGeom prst="rect">
            <a:avLst/>
          </a:prstGeom>
        </p:spPr>
        <p:txBody>
          <a:bodyPr anchor="t" rtlCol="false" tIns="0" lIns="0" bIns="0" rIns="0">
            <a:spAutoFit/>
          </a:bodyPr>
          <a:lstStyle/>
          <a:p>
            <a:pPr algn="ctr">
              <a:lnSpc>
                <a:spcPts val="2189"/>
              </a:lnSpc>
            </a:pPr>
            <a:r>
              <a:rPr lang="en-US" sz="1990" spc="99" u="sng">
                <a:solidFill>
                  <a:srgbClr val="FFFFFF"/>
                </a:solidFill>
                <a:latin typeface="Poppins"/>
                <a:ea typeface="Poppins"/>
                <a:cs typeface="Poppins"/>
                <a:sym typeface="Poppins"/>
                <a:hlinkClick r:id="rId5" tooltip="https://drive.google.com/file/d/1O_D5Zu6XfYNpaNEkp1a1VoR2ORmr_TUS/view?usp=sharing"/>
              </a:rPr>
              <a:t>AKSES FULL MODUL </a:t>
            </a:r>
          </a:p>
          <a:p>
            <a:pPr algn="ctr">
              <a:lnSpc>
                <a:spcPts val="2189"/>
              </a:lnSpc>
              <a:spcBef>
                <a:spcPct val="0"/>
              </a:spcBef>
            </a:pPr>
            <a:r>
              <a:rPr lang="en-US" sz="1990" spc="99" u="sng">
                <a:solidFill>
                  <a:srgbClr val="FFFFFF"/>
                </a:solidFill>
                <a:latin typeface="Poppins"/>
                <a:ea typeface="Poppins"/>
                <a:cs typeface="Poppins"/>
                <a:sym typeface="Poppins"/>
                <a:hlinkClick r:id="rId6" tooltip="https://drive.google.com/file/d/1O_D5Zu6XfYNpaNEkp1a1VoR2ORmr_TUS/view?usp=sharing"/>
              </a:rPr>
              <a:t>KLIK DI SINI</a:t>
            </a:r>
          </a:p>
        </p:txBody>
      </p:sp>
      <p:sp>
        <p:nvSpPr>
          <p:cNvPr name="TextBox 13" id="13"/>
          <p:cNvSpPr txBox="true"/>
          <p:nvPr/>
        </p:nvSpPr>
        <p:spPr>
          <a:xfrm rot="0">
            <a:off x="6488729" y="7228497"/>
            <a:ext cx="5074622" cy="575140"/>
          </a:xfrm>
          <a:prstGeom prst="rect">
            <a:avLst/>
          </a:prstGeom>
        </p:spPr>
        <p:txBody>
          <a:bodyPr anchor="t" rtlCol="false" tIns="0" lIns="0" bIns="0" rIns="0">
            <a:spAutoFit/>
          </a:bodyPr>
          <a:lstStyle/>
          <a:p>
            <a:pPr algn="ctr">
              <a:lnSpc>
                <a:spcPts val="2189"/>
              </a:lnSpc>
            </a:pPr>
            <a:r>
              <a:rPr lang="en-US" sz="1990" spc="99" u="sng">
                <a:solidFill>
                  <a:srgbClr val="FFFFFF"/>
                </a:solidFill>
                <a:latin typeface="Poppins"/>
                <a:ea typeface="Poppins"/>
                <a:cs typeface="Poppins"/>
                <a:sym typeface="Poppins"/>
                <a:hlinkClick r:id="rId7" tooltip="https://drive.google.com/file/d/12wYcFa2z0uW8S6axhS6epT60ENUWPAci/view?usp=sharing"/>
              </a:rPr>
              <a:t>AKSES FULL M</a:t>
            </a:r>
            <a:r>
              <a:rPr lang="en-US" sz="1990" spc="99">
                <a:solidFill>
                  <a:srgbClr val="FFFFFF"/>
                </a:solidFill>
                <a:latin typeface="Poppins"/>
                <a:ea typeface="Poppins"/>
                <a:cs typeface="Poppins"/>
                <a:sym typeface="Poppins"/>
              </a:rPr>
              <a:t>ATERI PRESENTASI</a:t>
            </a:r>
            <a:r>
              <a:rPr lang="en-US" sz="1990" spc="99" u="sng">
                <a:solidFill>
                  <a:srgbClr val="FFFFFF"/>
                </a:solidFill>
                <a:latin typeface="Poppins"/>
                <a:ea typeface="Poppins"/>
                <a:cs typeface="Poppins"/>
                <a:sym typeface="Poppins"/>
                <a:hlinkClick r:id="rId8" tooltip="https://drive.google.com/file/d/12wYcFa2z0uW8S6axhS6epT60ENUWPAci/view?usp=sharing"/>
              </a:rPr>
              <a:t> </a:t>
            </a:r>
          </a:p>
          <a:p>
            <a:pPr algn="ctr">
              <a:lnSpc>
                <a:spcPts val="2189"/>
              </a:lnSpc>
              <a:spcBef>
                <a:spcPct val="0"/>
              </a:spcBef>
            </a:pPr>
            <a:r>
              <a:rPr lang="en-US" sz="1990" spc="99" u="sng">
                <a:solidFill>
                  <a:srgbClr val="FFFFFF"/>
                </a:solidFill>
                <a:latin typeface="Poppins"/>
                <a:ea typeface="Poppins"/>
                <a:cs typeface="Poppins"/>
                <a:sym typeface="Poppins"/>
                <a:hlinkClick r:id="rId9" tooltip="https://drive.google.com/file/d/12wYcFa2z0uW8S6axhS6epT60ENUWPAci/view?usp=sharing"/>
              </a:rPr>
              <a:t>KLIK DI SINI</a:t>
            </a:r>
          </a:p>
        </p:txBody>
      </p:sp>
      <p:sp>
        <p:nvSpPr>
          <p:cNvPr name="TextBox 14" id="14"/>
          <p:cNvSpPr txBox="true"/>
          <p:nvPr/>
        </p:nvSpPr>
        <p:spPr>
          <a:xfrm rot="0">
            <a:off x="13035626" y="6935605"/>
            <a:ext cx="4100819" cy="850070"/>
          </a:xfrm>
          <a:prstGeom prst="rect">
            <a:avLst/>
          </a:prstGeom>
        </p:spPr>
        <p:txBody>
          <a:bodyPr anchor="t" rtlCol="false" tIns="0" lIns="0" bIns="0" rIns="0">
            <a:spAutoFit/>
          </a:bodyPr>
          <a:lstStyle/>
          <a:p>
            <a:pPr algn="ctr">
              <a:lnSpc>
                <a:spcPts val="2189"/>
              </a:lnSpc>
            </a:pPr>
            <a:r>
              <a:rPr lang="en-US" sz="1990" spc="99" u="sng">
                <a:solidFill>
                  <a:srgbClr val="FFFFFF"/>
                </a:solidFill>
                <a:latin typeface="Poppins"/>
                <a:ea typeface="Poppins"/>
                <a:cs typeface="Poppins"/>
                <a:sym typeface="Poppins"/>
                <a:hlinkClick r:id="rId10" tooltip="https://drive.google.com/file/d/1xBr4a8rVvBLdgH1W3ATXhEbk-WFFsBti/view?usp=sharing"/>
              </a:rPr>
              <a:t>AKSES FULL V</a:t>
            </a:r>
            <a:r>
              <a:rPr lang="en-US" sz="1990" spc="99">
                <a:solidFill>
                  <a:srgbClr val="FFFFFF"/>
                </a:solidFill>
                <a:latin typeface="Poppins"/>
                <a:ea typeface="Poppins"/>
                <a:cs typeface="Poppins"/>
                <a:sym typeface="Poppins"/>
              </a:rPr>
              <a:t>IDEO PEMBELAJARAN</a:t>
            </a:r>
            <a:r>
              <a:rPr lang="en-US" sz="1990" spc="99" u="sng">
                <a:solidFill>
                  <a:srgbClr val="FFFFFF"/>
                </a:solidFill>
                <a:latin typeface="Poppins"/>
                <a:ea typeface="Poppins"/>
                <a:cs typeface="Poppins"/>
                <a:sym typeface="Poppins"/>
                <a:hlinkClick r:id="rId11" tooltip="https://drive.google.com/file/d/1xBr4a8rVvBLdgH1W3ATXhEbk-WFFsBti/view?usp=sharing"/>
              </a:rPr>
              <a:t> </a:t>
            </a:r>
          </a:p>
          <a:p>
            <a:pPr algn="ctr">
              <a:lnSpc>
                <a:spcPts val="2189"/>
              </a:lnSpc>
              <a:spcBef>
                <a:spcPct val="0"/>
              </a:spcBef>
            </a:pPr>
            <a:r>
              <a:rPr lang="en-US" sz="1990" spc="99" u="sng">
                <a:solidFill>
                  <a:srgbClr val="FFFFFF"/>
                </a:solidFill>
                <a:latin typeface="Poppins"/>
                <a:ea typeface="Poppins"/>
                <a:cs typeface="Poppins"/>
                <a:sym typeface="Poppins"/>
                <a:hlinkClick r:id="rId12" tooltip="https://drive.google.com/file/d/1xBr4a8rVvBLdgH1W3ATXhEbk-WFFsBti/view?usp=sharing"/>
              </a:rPr>
              <a:t>KLIK DI SINI</a:t>
            </a:r>
          </a:p>
        </p:txBody>
      </p:sp>
      <p:sp>
        <p:nvSpPr>
          <p:cNvPr name="TextBox 15" id="15"/>
          <p:cNvSpPr txBox="true"/>
          <p:nvPr/>
        </p:nvSpPr>
        <p:spPr>
          <a:xfrm rot="0">
            <a:off x="13088683" y="7976344"/>
            <a:ext cx="4120140" cy="695325"/>
          </a:xfrm>
          <a:prstGeom prst="rect">
            <a:avLst/>
          </a:prstGeom>
        </p:spPr>
        <p:txBody>
          <a:bodyPr anchor="t" rtlCol="false" tIns="0" lIns="0" bIns="0" rIns="0">
            <a:spAutoFit/>
          </a:bodyPr>
          <a:lstStyle/>
          <a:p>
            <a:pPr algn="ctr">
              <a:lnSpc>
                <a:spcPts val="1650"/>
              </a:lnSpc>
              <a:spcBef>
                <a:spcPct val="0"/>
              </a:spcBef>
            </a:pPr>
            <a:r>
              <a:rPr lang="en-US" b="true" sz="1500" spc="75">
                <a:solidFill>
                  <a:srgbClr val="0B3360"/>
                </a:solidFill>
                <a:latin typeface="Mont 2 Bold"/>
                <a:ea typeface="Mont 2 Bold"/>
                <a:cs typeface="Mont 2 Bold"/>
                <a:sym typeface="Mont 2 Bold"/>
              </a:rPr>
              <a:t>Jumlah video pembelajaran yang telah diproduksi sebanyak 16 video pembelajaran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101094" y="1589053"/>
            <a:ext cx="6158206" cy="7669247"/>
          </a:xfrm>
          <a:custGeom>
            <a:avLst/>
            <a:gdLst/>
            <a:ahLst/>
            <a:cxnLst/>
            <a:rect r="r" b="b" t="t" l="l"/>
            <a:pathLst>
              <a:path h="7669247" w="6158206">
                <a:moveTo>
                  <a:pt x="0" y="0"/>
                </a:moveTo>
                <a:lnTo>
                  <a:pt x="6158206" y="0"/>
                </a:lnTo>
                <a:lnTo>
                  <a:pt x="6158206" y="7669247"/>
                </a:lnTo>
                <a:lnTo>
                  <a:pt x="0" y="7669247"/>
                </a:lnTo>
                <a:lnTo>
                  <a:pt x="0" y="0"/>
                </a:lnTo>
                <a:close/>
              </a:path>
            </a:pathLst>
          </a:custGeom>
          <a:blipFill>
            <a:blip r:embed="rId2"/>
            <a:stretch>
              <a:fillRect l="0" t="0" r="0" b="0"/>
            </a:stretch>
          </a:blipFill>
        </p:spPr>
      </p:sp>
      <p:sp>
        <p:nvSpPr>
          <p:cNvPr name="Freeform 3" id="3"/>
          <p:cNvSpPr/>
          <p:nvPr/>
        </p:nvSpPr>
        <p:spPr>
          <a:xfrm flipH="false" flipV="false" rot="0">
            <a:off x="3886200" y="1589053"/>
            <a:ext cx="6136697" cy="7669247"/>
          </a:xfrm>
          <a:custGeom>
            <a:avLst/>
            <a:gdLst/>
            <a:ahLst/>
            <a:cxnLst/>
            <a:rect r="r" b="b" t="t" l="l"/>
            <a:pathLst>
              <a:path h="7669247" w="6136697">
                <a:moveTo>
                  <a:pt x="0" y="0"/>
                </a:moveTo>
                <a:lnTo>
                  <a:pt x="6136697" y="0"/>
                </a:lnTo>
                <a:lnTo>
                  <a:pt x="6136697" y="7669247"/>
                </a:lnTo>
                <a:lnTo>
                  <a:pt x="0" y="7669247"/>
                </a:lnTo>
                <a:lnTo>
                  <a:pt x="0" y="0"/>
                </a:lnTo>
                <a:close/>
              </a:path>
            </a:pathLst>
          </a:custGeom>
          <a:blipFill>
            <a:blip r:embed="rId3"/>
            <a:stretch>
              <a:fillRect l="0" t="0" r="0" b="0"/>
            </a:stretch>
          </a:blipFill>
        </p:spPr>
      </p:sp>
      <p:grpSp>
        <p:nvGrpSpPr>
          <p:cNvPr name="Group 4" id="4"/>
          <p:cNvGrpSpPr/>
          <p:nvPr/>
        </p:nvGrpSpPr>
        <p:grpSpPr>
          <a:xfrm rot="0">
            <a:off x="-229275" y="-661649"/>
            <a:ext cx="2353895" cy="11610298"/>
            <a:chOff x="0" y="0"/>
            <a:chExt cx="796256" cy="3927434"/>
          </a:xfrm>
        </p:grpSpPr>
        <p:sp>
          <p:nvSpPr>
            <p:cNvPr name="Freeform 5" id="5"/>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6" id="6"/>
          <p:cNvSpPr txBox="true"/>
          <p:nvPr/>
        </p:nvSpPr>
        <p:spPr>
          <a:xfrm rot="-5400000">
            <a:off x="-2587732" y="4336575"/>
            <a:ext cx="7232863" cy="1613851"/>
          </a:xfrm>
          <a:prstGeom prst="rect">
            <a:avLst/>
          </a:prstGeom>
        </p:spPr>
        <p:txBody>
          <a:bodyPr anchor="t" rtlCol="false" tIns="0" lIns="0" bIns="0" rIns="0">
            <a:spAutoFit/>
          </a:bodyPr>
          <a:lstStyle/>
          <a:p>
            <a:pPr algn="ctr">
              <a:lnSpc>
                <a:spcPts val="6132"/>
              </a:lnSpc>
            </a:pPr>
            <a:r>
              <a:rPr lang="en-US" b="true" sz="5574" spc="278">
                <a:solidFill>
                  <a:srgbClr val="0D2A4E"/>
                </a:solidFill>
                <a:latin typeface="Poppins Bold"/>
                <a:ea typeface="Poppins Bold"/>
                <a:cs typeface="Poppins Bold"/>
                <a:sym typeface="Poppins Bold"/>
              </a:rPr>
              <a:t>DIGITAL TRAINING PROJECT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4" id="4"/>
          <p:cNvSpPr txBox="true"/>
          <p:nvPr/>
        </p:nvSpPr>
        <p:spPr>
          <a:xfrm rot="-5400000">
            <a:off x="-2587732" y="4336575"/>
            <a:ext cx="7232863" cy="1613851"/>
          </a:xfrm>
          <a:prstGeom prst="rect">
            <a:avLst/>
          </a:prstGeom>
        </p:spPr>
        <p:txBody>
          <a:bodyPr anchor="t" rtlCol="false" tIns="0" lIns="0" bIns="0" rIns="0">
            <a:spAutoFit/>
          </a:bodyPr>
          <a:lstStyle/>
          <a:p>
            <a:pPr algn="ctr">
              <a:lnSpc>
                <a:spcPts val="6132"/>
              </a:lnSpc>
            </a:pPr>
            <a:r>
              <a:rPr lang="en-US" b="true" sz="5574" spc="278">
                <a:solidFill>
                  <a:srgbClr val="0D2A4E"/>
                </a:solidFill>
                <a:latin typeface="Poppins Bold"/>
                <a:ea typeface="Poppins Bold"/>
                <a:cs typeface="Poppins Bold"/>
                <a:sym typeface="Poppins Bold"/>
              </a:rPr>
              <a:t>DIGITAL TRAINING PROJECT</a:t>
            </a:r>
          </a:p>
        </p:txBody>
      </p:sp>
      <p:grpSp>
        <p:nvGrpSpPr>
          <p:cNvPr name="Group 5" id="5"/>
          <p:cNvGrpSpPr/>
          <p:nvPr/>
        </p:nvGrpSpPr>
        <p:grpSpPr>
          <a:xfrm rot="0">
            <a:off x="2828925" y="2189214"/>
            <a:ext cx="14618735" cy="5908573"/>
            <a:chOff x="0" y="0"/>
            <a:chExt cx="19491646" cy="7878097"/>
          </a:xfrm>
        </p:grpSpPr>
        <p:sp>
          <p:nvSpPr>
            <p:cNvPr name="Freeform 6" id="6"/>
            <p:cNvSpPr/>
            <p:nvPr/>
          </p:nvSpPr>
          <p:spPr>
            <a:xfrm flipH="false" flipV="false" rot="0">
              <a:off x="0" y="0"/>
              <a:ext cx="6107493" cy="7631645"/>
            </a:xfrm>
            <a:custGeom>
              <a:avLst/>
              <a:gdLst/>
              <a:ahLst/>
              <a:cxnLst/>
              <a:rect r="r" b="b" t="t" l="l"/>
              <a:pathLst>
                <a:path h="7631645" w="6107493">
                  <a:moveTo>
                    <a:pt x="0" y="0"/>
                  </a:moveTo>
                  <a:lnTo>
                    <a:pt x="6107493" y="0"/>
                  </a:lnTo>
                  <a:lnTo>
                    <a:pt x="6107493" y="7631645"/>
                  </a:lnTo>
                  <a:lnTo>
                    <a:pt x="0" y="7631645"/>
                  </a:lnTo>
                  <a:lnTo>
                    <a:pt x="0" y="0"/>
                  </a:lnTo>
                  <a:close/>
                </a:path>
              </a:pathLst>
            </a:custGeom>
            <a:blipFill>
              <a:blip r:embed="rId2"/>
              <a:stretch>
                <a:fillRect l="0" t="0" r="0" b="0"/>
              </a:stretch>
            </a:blipFill>
          </p:spPr>
        </p:sp>
        <p:sp>
          <p:nvSpPr>
            <p:cNvPr name="Freeform 7" id="7"/>
            <p:cNvSpPr/>
            <p:nvPr/>
          </p:nvSpPr>
          <p:spPr>
            <a:xfrm flipH="false" flipV="false" rot="0">
              <a:off x="6856689" y="55177"/>
              <a:ext cx="6052208" cy="7576468"/>
            </a:xfrm>
            <a:custGeom>
              <a:avLst/>
              <a:gdLst/>
              <a:ahLst/>
              <a:cxnLst/>
              <a:rect r="r" b="b" t="t" l="l"/>
              <a:pathLst>
                <a:path h="7576468" w="6052208">
                  <a:moveTo>
                    <a:pt x="0" y="0"/>
                  </a:moveTo>
                  <a:lnTo>
                    <a:pt x="6052208" y="0"/>
                  </a:lnTo>
                  <a:lnTo>
                    <a:pt x="6052208" y="7576468"/>
                  </a:lnTo>
                  <a:lnTo>
                    <a:pt x="0" y="7576468"/>
                  </a:lnTo>
                  <a:lnTo>
                    <a:pt x="0" y="0"/>
                  </a:lnTo>
                  <a:close/>
                </a:path>
              </a:pathLst>
            </a:custGeom>
            <a:blipFill>
              <a:blip r:embed="rId3"/>
              <a:stretch>
                <a:fillRect l="0" t="0" r="0" b="0"/>
              </a:stretch>
            </a:blipFill>
          </p:spPr>
        </p:sp>
        <p:sp>
          <p:nvSpPr>
            <p:cNvPr name="Freeform 8" id="8"/>
            <p:cNvSpPr/>
            <p:nvPr/>
          </p:nvSpPr>
          <p:spPr>
            <a:xfrm flipH="false" flipV="false" rot="0">
              <a:off x="13961820" y="55177"/>
              <a:ext cx="5529827" cy="7822920"/>
            </a:xfrm>
            <a:custGeom>
              <a:avLst/>
              <a:gdLst/>
              <a:ahLst/>
              <a:cxnLst/>
              <a:rect r="r" b="b" t="t" l="l"/>
              <a:pathLst>
                <a:path h="7822920" w="5529827">
                  <a:moveTo>
                    <a:pt x="0" y="0"/>
                  </a:moveTo>
                  <a:lnTo>
                    <a:pt x="5529826" y="0"/>
                  </a:lnTo>
                  <a:lnTo>
                    <a:pt x="5529826" y="7822920"/>
                  </a:lnTo>
                  <a:lnTo>
                    <a:pt x="0" y="7822920"/>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830888" y="455608"/>
            <a:ext cx="7419301" cy="9375785"/>
          </a:xfrm>
          <a:custGeom>
            <a:avLst/>
            <a:gdLst/>
            <a:ahLst/>
            <a:cxnLst/>
            <a:rect r="r" b="b" t="t" l="l"/>
            <a:pathLst>
              <a:path h="9375785" w="7419301">
                <a:moveTo>
                  <a:pt x="0" y="0"/>
                </a:moveTo>
                <a:lnTo>
                  <a:pt x="7419301" y="0"/>
                </a:lnTo>
                <a:lnTo>
                  <a:pt x="7419301" y="9375784"/>
                </a:lnTo>
                <a:lnTo>
                  <a:pt x="0" y="9375784"/>
                </a:lnTo>
                <a:lnTo>
                  <a:pt x="0" y="0"/>
                </a:lnTo>
                <a:close/>
              </a:path>
            </a:pathLst>
          </a:custGeom>
          <a:blipFill>
            <a:blip r:embed="rId2"/>
            <a:stretch>
              <a:fillRect l="0" t="-36630" r="0" b="-39220"/>
            </a:stretch>
          </a:blipFill>
        </p:spPr>
      </p:sp>
      <p:sp>
        <p:nvSpPr>
          <p:cNvPr name="Freeform 3" id="3"/>
          <p:cNvSpPr/>
          <p:nvPr/>
        </p:nvSpPr>
        <p:spPr>
          <a:xfrm flipH="false" flipV="false" rot="0">
            <a:off x="12171573" y="802479"/>
            <a:ext cx="4113373" cy="2468784"/>
          </a:xfrm>
          <a:custGeom>
            <a:avLst/>
            <a:gdLst/>
            <a:ahLst/>
            <a:cxnLst/>
            <a:rect r="r" b="b" t="t" l="l"/>
            <a:pathLst>
              <a:path h="2468784" w="4113373">
                <a:moveTo>
                  <a:pt x="0" y="0"/>
                </a:moveTo>
                <a:lnTo>
                  <a:pt x="4113372" y="0"/>
                </a:lnTo>
                <a:lnTo>
                  <a:pt x="4113372" y="2468783"/>
                </a:lnTo>
                <a:lnTo>
                  <a:pt x="0" y="2468783"/>
                </a:lnTo>
                <a:lnTo>
                  <a:pt x="0" y="0"/>
                </a:lnTo>
                <a:close/>
              </a:path>
            </a:pathLst>
          </a:custGeom>
          <a:blipFill>
            <a:blip r:embed="rId3"/>
            <a:stretch>
              <a:fillRect l="0" t="-132253" r="0" b="-138003"/>
            </a:stretch>
          </a:blipFill>
        </p:spPr>
      </p:sp>
      <p:sp>
        <p:nvSpPr>
          <p:cNvPr name="Freeform 4" id="4"/>
          <p:cNvSpPr/>
          <p:nvPr/>
        </p:nvSpPr>
        <p:spPr>
          <a:xfrm flipH="false" flipV="false" rot="0">
            <a:off x="12171573" y="3891894"/>
            <a:ext cx="4113373" cy="2468784"/>
          </a:xfrm>
          <a:custGeom>
            <a:avLst/>
            <a:gdLst/>
            <a:ahLst/>
            <a:cxnLst/>
            <a:rect r="r" b="b" t="t" l="l"/>
            <a:pathLst>
              <a:path h="2468784" w="4113373">
                <a:moveTo>
                  <a:pt x="0" y="0"/>
                </a:moveTo>
                <a:lnTo>
                  <a:pt x="4113372" y="0"/>
                </a:lnTo>
                <a:lnTo>
                  <a:pt x="4113372" y="2468784"/>
                </a:lnTo>
                <a:lnTo>
                  <a:pt x="0" y="2468784"/>
                </a:lnTo>
                <a:lnTo>
                  <a:pt x="0" y="0"/>
                </a:lnTo>
                <a:close/>
              </a:path>
            </a:pathLst>
          </a:custGeom>
          <a:blipFill>
            <a:blip r:embed="rId4"/>
            <a:stretch>
              <a:fillRect l="0" t="-132253" r="0" b="-138003"/>
            </a:stretch>
          </a:blipFill>
        </p:spPr>
      </p:sp>
      <p:sp>
        <p:nvSpPr>
          <p:cNvPr name="Freeform 5" id="5"/>
          <p:cNvSpPr/>
          <p:nvPr/>
        </p:nvSpPr>
        <p:spPr>
          <a:xfrm flipH="false" flipV="false" rot="0">
            <a:off x="12171573" y="6975831"/>
            <a:ext cx="4113373" cy="2468784"/>
          </a:xfrm>
          <a:custGeom>
            <a:avLst/>
            <a:gdLst/>
            <a:ahLst/>
            <a:cxnLst/>
            <a:rect r="r" b="b" t="t" l="l"/>
            <a:pathLst>
              <a:path h="2468784" w="4113373">
                <a:moveTo>
                  <a:pt x="0" y="0"/>
                </a:moveTo>
                <a:lnTo>
                  <a:pt x="4113372" y="0"/>
                </a:lnTo>
                <a:lnTo>
                  <a:pt x="4113372" y="2468783"/>
                </a:lnTo>
                <a:lnTo>
                  <a:pt x="0" y="2468783"/>
                </a:lnTo>
                <a:lnTo>
                  <a:pt x="0" y="0"/>
                </a:lnTo>
                <a:close/>
              </a:path>
            </a:pathLst>
          </a:custGeom>
          <a:blipFill>
            <a:blip r:embed="rId5"/>
            <a:stretch>
              <a:fillRect l="0" t="-132253" r="0" b="-138003"/>
            </a:stretch>
          </a:blipFill>
        </p:spPr>
      </p:sp>
      <p:grpSp>
        <p:nvGrpSpPr>
          <p:cNvPr name="Group 6" id="6"/>
          <p:cNvGrpSpPr/>
          <p:nvPr/>
        </p:nvGrpSpPr>
        <p:grpSpPr>
          <a:xfrm rot="0">
            <a:off x="-229275" y="-661649"/>
            <a:ext cx="2353895" cy="11610298"/>
            <a:chOff x="0" y="0"/>
            <a:chExt cx="796256" cy="3927434"/>
          </a:xfrm>
        </p:grpSpPr>
        <p:sp>
          <p:nvSpPr>
            <p:cNvPr name="Freeform 7" id="7"/>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8" id="8"/>
          <p:cNvSpPr txBox="true"/>
          <p:nvPr/>
        </p:nvSpPr>
        <p:spPr>
          <a:xfrm rot="-5400000">
            <a:off x="-2587732" y="4336575"/>
            <a:ext cx="7232863" cy="1613851"/>
          </a:xfrm>
          <a:prstGeom prst="rect">
            <a:avLst/>
          </a:prstGeom>
        </p:spPr>
        <p:txBody>
          <a:bodyPr anchor="t" rtlCol="false" tIns="0" lIns="0" bIns="0" rIns="0">
            <a:spAutoFit/>
          </a:bodyPr>
          <a:lstStyle/>
          <a:p>
            <a:pPr algn="ctr">
              <a:lnSpc>
                <a:spcPts val="6132"/>
              </a:lnSpc>
            </a:pPr>
            <a:r>
              <a:rPr lang="en-US" b="true" sz="5574" spc="278">
                <a:solidFill>
                  <a:srgbClr val="0D2A4E"/>
                </a:solidFill>
                <a:latin typeface="Poppins Bold"/>
                <a:ea typeface="Poppins Bold"/>
                <a:cs typeface="Poppins Bold"/>
                <a:sym typeface="Poppins Bold"/>
              </a:rPr>
              <a:t>DIGITAL TRAINING OUTPUT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4" id="4"/>
          <p:cNvSpPr txBox="true"/>
          <p:nvPr/>
        </p:nvSpPr>
        <p:spPr>
          <a:xfrm rot="-5400000">
            <a:off x="-2587732" y="4486312"/>
            <a:ext cx="7232863" cy="1314376"/>
          </a:xfrm>
          <a:prstGeom prst="rect">
            <a:avLst/>
          </a:prstGeom>
        </p:spPr>
        <p:txBody>
          <a:bodyPr anchor="t" rtlCol="false" tIns="0" lIns="0" bIns="0" rIns="0">
            <a:spAutoFit/>
          </a:bodyPr>
          <a:lstStyle/>
          <a:p>
            <a:pPr algn="ctr">
              <a:lnSpc>
                <a:spcPts val="4950"/>
              </a:lnSpc>
            </a:pPr>
            <a:r>
              <a:rPr lang="en-US" b="true" sz="4500" spc="225">
                <a:solidFill>
                  <a:srgbClr val="0D2A4E"/>
                </a:solidFill>
                <a:latin typeface="Poppins Bold"/>
                <a:ea typeface="Poppins Bold"/>
                <a:cs typeface="Poppins Bold"/>
                <a:sym typeface="Poppins Bold"/>
              </a:rPr>
              <a:t>MODUL DEVELOPMENT PORTFOLIO</a:t>
            </a:r>
          </a:p>
        </p:txBody>
      </p:sp>
      <p:sp>
        <p:nvSpPr>
          <p:cNvPr name="TextBox 5" id="5"/>
          <p:cNvSpPr txBox="true"/>
          <p:nvPr/>
        </p:nvSpPr>
        <p:spPr>
          <a:xfrm rot="0">
            <a:off x="2799528" y="744710"/>
            <a:ext cx="7109006" cy="2454905"/>
          </a:xfrm>
          <a:prstGeom prst="rect">
            <a:avLst/>
          </a:prstGeom>
        </p:spPr>
        <p:txBody>
          <a:bodyPr anchor="t" rtlCol="false" tIns="0" lIns="0" bIns="0" rIns="0">
            <a:spAutoFit/>
          </a:bodyPr>
          <a:lstStyle/>
          <a:p>
            <a:pPr algn="l">
              <a:lnSpc>
                <a:spcPts val="4519"/>
              </a:lnSpc>
            </a:pPr>
            <a:r>
              <a:rPr lang="en-US" sz="3999" b="true">
                <a:solidFill>
                  <a:srgbClr val="FFFFFF"/>
                </a:solidFill>
                <a:latin typeface="Mont 2 Bold"/>
                <a:ea typeface="Mont 2 Bold"/>
                <a:cs typeface="Mont 2 Bold"/>
                <a:sym typeface="Mont 2 Bold"/>
              </a:rPr>
              <a:t>PORTOFOLIO</a:t>
            </a:r>
          </a:p>
          <a:p>
            <a:pPr algn="l">
              <a:lnSpc>
                <a:spcPts val="4520"/>
              </a:lnSpc>
            </a:pPr>
            <a:r>
              <a:rPr lang="en-US" sz="3999">
                <a:solidFill>
                  <a:srgbClr val="FFFFFF"/>
                </a:solidFill>
                <a:latin typeface="Mont 2"/>
                <a:ea typeface="Mont 2"/>
                <a:cs typeface="Mont 2"/>
                <a:sym typeface="Mont 2"/>
              </a:rPr>
              <a:t>PROGRAM PELATIHAN LEADERSHIP FOR FIRST TIME MANAGER</a:t>
            </a:r>
          </a:p>
        </p:txBody>
      </p:sp>
      <p:pic>
        <p:nvPicPr>
          <p:cNvPr name="Picture 6" id="6"/>
          <p:cNvPicPr>
            <a:picLocks noChangeAspect="true"/>
          </p:cNvPicPr>
          <p:nvPr/>
        </p:nvPicPr>
        <p:blipFill>
          <a:blip r:embed="rId2"/>
          <a:stretch>
            <a:fillRect/>
          </a:stretch>
        </p:blipFill>
        <p:spPr>
          <a:xfrm rot="0">
            <a:off x="2316710" y="2949628"/>
            <a:ext cx="4520138" cy="5793811"/>
          </a:xfrm>
          <a:prstGeom prst="rect">
            <a:avLst/>
          </a:prstGeom>
        </p:spPr>
      </p:pic>
      <p:sp>
        <p:nvSpPr>
          <p:cNvPr name="TextBox 7" id="7"/>
          <p:cNvSpPr txBox="true"/>
          <p:nvPr/>
        </p:nvSpPr>
        <p:spPr>
          <a:xfrm rot="0">
            <a:off x="2658870" y="8532566"/>
            <a:ext cx="3835819" cy="876374"/>
          </a:xfrm>
          <a:prstGeom prst="rect">
            <a:avLst/>
          </a:prstGeom>
        </p:spPr>
        <p:txBody>
          <a:bodyPr anchor="t" rtlCol="false" tIns="0" lIns="0" bIns="0" rIns="0">
            <a:spAutoFit/>
          </a:bodyPr>
          <a:lstStyle/>
          <a:p>
            <a:pPr algn="ctr">
              <a:lnSpc>
                <a:spcPts val="3300"/>
              </a:lnSpc>
            </a:pPr>
            <a:r>
              <a:rPr lang="en-US" sz="3000" spc="150">
                <a:solidFill>
                  <a:srgbClr val="FFFFFF"/>
                </a:solidFill>
                <a:latin typeface="Poppins"/>
                <a:ea typeface="Poppins"/>
                <a:cs typeface="Poppins"/>
                <a:sym typeface="Poppins"/>
              </a:rPr>
              <a:t>AKSES FULL MODUL</a:t>
            </a:r>
          </a:p>
          <a:p>
            <a:pPr algn="ctr">
              <a:lnSpc>
                <a:spcPts val="3300"/>
              </a:lnSpc>
              <a:spcBef>
                <a:spcPct val="0"/>
              </a:spcBef>
            </a:pPr>
            <a:r>
              <a:rPr lang="en-US" sz="3000" spc="150">
                <a:solidFill>
                  <a:srgbClr val="FFFFFF"/>
                </a:solidFill>
                <a:latin typeface="Poppins"/>
                <a:ea typeface="Poppins"/>
                <a:cs typeface="Poppins"/>
                <a:sym typeface="Poppins"/>
              </a:rPr>
              <a:t> KLIK DI </a:t>
            </a:r>
            <a:r>
              <a:rPr lang="en-US" sz="3000" spc="150" u="sng">
                <a:solidFill>
                  <a:srgbClr val="FFFFFF"/>
                </a:solidFill>
                <a:latin typeface="Poppins"/>
                <a:ea typeface="Poppins"/>
                <a:cs typeface="Poppins"/>
                <a:sym typeface="Poppins"/>
                <a:hlinkClick r:id="rId3" tooltip="https://drive.google.com/file/d/188TM-3RZPbCgtcnDjAqDoCihppb8ujXK/view?usp=drive_link"/>
              </a:rPr>
              <a:t>SINI</a:t>
            </a:r>
          </a:p>
        </p:txBody>
      </p:sp>
      <p:sp>
        <p:nvSpPr>
          <p:cNvPr name="TextBox 8" id="8"/>
          <p:cNvSpPr txBox="true"/>
          <p:nvPr/>
        </p:nvSpPr>
        <p:spPr>
          <a:xfrm rot="0">
            <a:off x="11305402" y="744710"/>
            <a:ext cx="6628689" cy="2454905"/>
          </a:xfrm>
          <a:prstGeom prst="rect">
            <a:avLst/>
          </a:prstGeom>
        </p:spPr>
        <p:txBody>
          <a:bodyPr anchor="t" rtlCol="false" tIns="0" lIns="0" bIns="0" rIns="0">
            <a:spAutoFit/>
          </a:bodyPr>
          <a:lstStyle/>
          <a:p>
            <a:pPr algn="l">
              <a:lnSpc>
                <a:spcPts val="4519"/>
              </a:lnSpc>
            </a:pPr>
            <a:r>
              <a:rPr lang="en-US" sz="3999" b="true">
                <a:solidFill>
                  <a:srgbClr val="FFFFFF"/>
                </a:solidFill>
                <a:latin typeface="Mont 2 Bold"/>
                <a:ea typeface="Mont 2 Bold"/>
                <a:cs typeface="Mont 2 Bold"/>
                <a:sym typeface="Mont 2 Bold"/>
              </a:rPr>
              <a:t>PORTOFOLIO</a:t>
            </a:r>
          </a:p>
          <a:p>
            <a:pPr algn="l">
              <a:lnSpc>
                <a:spcPts val="4520"/>
              </a:lnSpc>
            </a:pPr>
            <a:r>
              <a:rPr lang="en-US" sz="3999">
                <a:solidFill>
                  <a:srgbClr val="FFFFFF"/>
                </a:solidFill>
                <a:latin typeface="Mont 2"/>
                <a:ea typeface="Mont 2"/>
                <a:cs typeface="Mont 2"/>
                <a:sym typeface="Mont 2"/>
              </a:rPr>
              <a:t>PROGRAM PELATIHAN DAN PENYUSUNAN MODUL </a:t>
            </a:r>
            <a:r>
              <a:rPr lang="en-US" sz="3999">
                <a:solidFill>
                  <a:srgbClr val="FFFFFF"/>
                </a:solidFill>
                <a:latin typeface="Mont 2"/>
                <a:ea typeface="Mont 2"/>
                <a:cs typeface="Mont 2"/>
                <a:sym typeface="Mont 2"/>
              </a:rPr>
              <a:t>STEM </a:t>
            </a:r>
          </a:p>
        </p:txBody>
      </p:sp>
      <p:pic>
        <p:nvPicPr>
          <p:cNvPr name="Picture 9" id="9"/>
          <p:cNvPicPr>
            <a:picLocks noChangeAspect="true"/>
          </p:cNvPicPr>
          <p:nvPr/>
        </p:nvPicPr>
        <p:blipFill>
          <a:blip r:embed="rId4"/>
          <a:stretch>
            <a:fillRect/>
          </a:stretch>
        </p:blipFill>
        <p:spPr>
          <a:xfrm rot="0">
            <a:off x="10826975" y="2954019"/>
            <a:ext cx="4479032" cy="5741122"/>
          </a:xfrm>
          <a:prstGeom prst="rect">
            <a:avLst/>
          </a:prstGeom>
        </p:spPr>
      </p:pic>
      <p:sp>
        <p:nvSpPr>
          <p:cNvPr name="TextBox 10" id="10"/>
          <p:cNvSpPr txBox="true"/>
          <p:nvPr/>
        </p:nvSpPr>
        <p:spPr>
          <a:xfrm rot="0">
            <a:off x="10565759" y="8532566"/>
            <a:ext cx="5001464" cy="876374"/>
          </a:xfrm>
          <a:prstGeom prst="rect">
            <a:avLst/>
          </a:prstGeom>
        </p:spPr>
        <p:txBody>
          <a:bodyPr anchor="t" rtlCol="false" tIns="0" lIns="0" bIns="0" rIns="0">
            <a:spAutoFit/>
          </a:bodyPr>
          <a:lstStyle/>
          <a:p>
            <a:pPr algn="ctr">
              <a:lnSpc>
                <a:spcPts val="3300"/>
              </a:lnSpc>
            </a:pPr>
            <a:r>
              <a:rPr lang="en-US" sz="3000" spc="150">
                <a:solidFill>
                  <a:srgbClr val="FFFFFF"/>
                </a:solidFill>
                <a:latin typeface="Poppins"/>
                <a:ea typeface="Poppins"/>
                <a:cs typeface="Poppins"/>
                <a:sym typeface="Poppins"/>
              </a:rPr>
              <a:t>AKSES FULL MODUL </a:t>
            </a:r>
          </a:p>
          <a:p>
            <a:pPr algn="ctr">
              <a:lnSpc>
                <a:spcPts val="3300"/>
              </a:lnSpc>
              <a:spcBef>
                <a:spcPct val="0"/>
              </a:spcBef>
            </a:pPr>
            <a:r>
              <a:rPr lang="en-US" sz="3000" spc="150">
                <a:solidFill>
                  <a:srgbClr val="FFFFFF"/>
                </a:solidFill>
                <a:latin typeface="Poppins"/>
                <a:ea typeface="Poppins"/>
                <a:cs typeface="Poppins"/>
                <a:sym typeface="Poppins"/>
              </a:rPr>
              <a:t>KLIK DI </a:t>
            </a:r>
            <a:r>
              <a:rPr lang="en-US" sz="3000" spc="150" u="sng">
                <a:solidFill>
                  <a:srgbClr val="FFFFFF"/>
                </a:solidFill>
                <a:latin typeface="Poppins"/>
                <a:ea typeface="Poppins"/>
                <a:cs typeface="Poppins"/>
                <a:sym typeface="Poppins"/>
                <a:hlinkClick r:id="rId5" tooltip="https://drive.google.com/file/d/1CrZtWSEDORnwMbUQdGN1ib7LN99AaEkJ/view?usp=drive_link"/>
              </a:rPr>
              <a:t>SINI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Freeform 4" id="4"/>
          <p:cNvSpPr/>
          <p:nvPr/>
        </p:nvSpPr>
        <p:spPr>
          <a:xfrm flipH="false" flipV="false" rot="0">
            <a:off x="2782579" y="3459884"/>
            <a:ext cx="13927134" cy="5300048"/>
          </a:xfrm>
          <a:custGeom>
            <a:avLst/>
            <a:gdLst/>
            <a:ahLst/>
            <a:cxnLst/>
            <a:rect r="r" b="b" t="t" l="l"/>
            <a:pathLst>
              <a:path h="5300048" w="13927134">
                <a:moveTo>
                  <a:pt x="0" y="0"/>
                </a:moveTo>
                <a:lnTo>
                  <a:pt x="13927133" y="0"/>
                </a:lnTo>
                <a:lnTo>
                  <a:pt x="13927133" y="5300048"/>
                </a:lnTo>
                <a:lnTo>
                  <a:pt x="0" y="5300048"/>
                </a:lnTo>
                <a:lnTo>
                  <a:pt x="0" y="0"/>
                </a:lnTo>
                <a:close/>
              </a:path>
            </a:pathLst>
          </a:custGeom>
          <a:blipFill>
            <a:blip r:embed="rId2"/>
            <a:stretch>
              <a:fillRect l="0" t="0" r="0" b="0"/>
            </a:stretch>
          </a:blipFill>
        </p:spPr>
      </p:sp>
      <p:sp>
        <p:nvSpPr>
          <p:cNvPr name="Freeform 5" id="5"/>
          <p:cNvSpPr/>
          <p:nvPr/>
        </p:nvSpPr>
        <p:spPr>
          <a:xfrm flipH="false" flipV="false" rot="0">
            <a:off x="12585299" y="698781"/>
            <a:ext cx="4953540" cy="1508176"/>
          </a:xfrm>
          <a:custGeom>
            <a:avLst/>
            <a:gdLst/>
            <a:ahLst/>
            <a:cxnLst/>
            <a:rect r="r" b="b" t="t" l="l"/>
            <a:pathLst>
              <a:path h="1508176" w="4953540">
                <a:moveTo>
                  <a:pt x="0" y="0"/>
                </a:moveTo>
                <a:lnTo>
                  <a:pt x="4953541" y="0"/>
                </a:lnTo>
                <a:lnTo>
                  <a:pt x="4953541" y="1508175"/>
                </a:lnTo>
                <a:lnTo>
                  <a:pt x="0" y="1508175"/>
                </a:lnTo>
                <a:lnTo>
                  <a:pt x="0" y="0"/>
                </a:lnTo>
                <a:close/>
              </a:path>
            </a:pathLst>
          </a:custGeom>
          <a:blipFill>
            <a:blip r:embed="rId3"/>
            <a:stretch>
              <a:fillRect l="0" t="-115382" r="0" b="-113063"/>
            </a:stretch>
          </a:blipFill>
        </p:spPr>
      </p:sp>
      <p:sp>
        <p:nvSpPr>
          <p:cNvPr name="TextBox 6" id="6"/>
          <p:cNvSpPr txBox="true"/>
          <p:nvPr/>
        </p:nvSpPr>
        <p:spPr>
          <a:xfrm rot="-5400000">
            <a:off x="-2587732" y="4336575"/>
            <a:ext cx="7232863" cy="1613851"/>
          </a:xfrm>
          <a:prstGeom prst="rect">
            <a:avLst/>
          </a:prstGeom>
        </p:spPr>
        <p:txBody>
          <a:bodyPr anchor="t" rtlCol="false" tIns="0" lIns="0" bIns="0" rIns="0">
            <a:spAutoFit/>
          </a:bodyPr>
          <a:lstStyle/>
          <a:p>
            <a:pPr algn="ctr">
              <a:lnSpc>
                <a:spcPts val="6132"/>
              </a:lnSpc>
            </a:pPr>
            <a:r>
              <a:rPr lang="en-US" b="true" sz="5574" spc="278">
                <a:solidFill>
                  <a:srgbClr val="0D2A4E"/>
                </a:solidFill>
                <a:latin typeface="Poppins Bold"/>
                <a:ea typeface="Poppins Bold"/>
                <a:cs typeface="Poppins Bold"/>
                <a:sym typeface="Poppins Bold"/>
              </a:rPr>
              <a:t>OUR ONGOING PROJECT</a:t>
            </a:r>
          </a:p>
        </p:txBody>
      </p:sp>
      <p:sp>
        <p:nvSpPr>
          <p:cNvPr name="TextBox 7" id="7"/>
          <p:cNvSpPr txBox="true"/>
          <p:nvPr/>
        </p:nvSpPr>
        <p:spPr>
          <a:xfrm rot="0">
            <a:off x="2766225" y="590888"/>
            <a:ext cx="9643974" cy="1616069"/>
          </a:xfrm>
          <a:prstGeom prst="rect">
            <a:avLst/>
          </a:prstGeom>
        </p:spPr>
        <p:txBody>
          <a:bodyPr anchor="t" rtlCol="false" tIns="0" lIns="0" bIns="0" rIns="0">
            <a:spAutoFit/>
          </a:bodyPr>
          <a:lstStyle/>
          <a:p>
            <a:pPr algn="l">
              <a:lnSpc>
                <a:spcPts val="5650"/>
              </a:lnSpc>
            </a:pPr>
            <a:r>
              <a:rPr lang="en-US" sz="5000" b="true">
                <a:solidFill>
                  <a:srgbClr val="FFFFFF"/>
                </a:solidFill>
                <a:latin typeface="Mont 2 Bold"/>
                <a:ea typeface="Mont 2 Bold"/>
                <a:cs typeface="Mont 2 Bold"/>
                <a:sym typeface="Mont 2 Bold"/>
              </a:rPr>
              <a:t>DEVELOPMENT CLASS</a:t>
            </a:r>
          </a:p>
          <a:p>
            <a:pPr algn="l">
              <a:lnSpc>
                <a:spcPts val="5650"/>
              </a:lnSpc>
            </a:pPr>
            <a:r>
              <a:rPr lang="en-US" sz="5000" b="true">
                <a:solidFill>
                  <a:srgbClr val="FFFFFF"/>
                </a:solidFill>
                <a:latin typeface="Mont 2 Bold"/>
                <a:ea typeface="Mont 2 Bold"/>
                <a:cs typeface="Mont 2 Bold"/>
                <a:sym typeface="Mont 2 Bold"/>
              </a:rPr>
              <a:t>AMARTHA CENDEKIA</a:t>
            </a:r>
          </a:p>
        </p:txBody>
      </p:sp>
      <p:sp>
        <p:nvSpPr>
          <p:cNvPr name="TextBox 8" id="8"/>
          <p:cNvSpPr txBox="true"/>
          <p:nvPr/>
        </p:nvSpPr>
        <p:spPr>
          <a:xfrm rot="0">
            <a:off x="2766225" y="2073606"/>
            <a:ext cx="9643974" cy="740400"/>
          </a:xfrm>
          <a:prstGeom prst="rect">
            <a:avLst/>
          </a:prstGeom>
        </p:spPr>
        <p:txBody>
          <a:bodyPr anchor="t" rtlCol="false" tIns="0" lIns="0" bIns="0" rIns="0">
            <a:spAutoFit/>
          </a:bodyPr>
          <a:lstStyle/>
          <a:p>
            <a:pPr algn="l">
              <a:lnSpc>
                <a:spcPts val="4520"/>
              </a:lnSpc>
            </a:pPr>
            <a:r>
              <a:rPr lang="en-US" sz="3999">
                <a:solidFill>
                  <a:srgbClr val="FFFFFF"/>
                </a:solidFill>
                <a:latin typeface="Mont 2"/>
                <a:ea typeface="Mont 2"/>
                <a:cs typeface="Mont 2"/>
                <a:sym typeface="Mont 2"/>
              </a:rPr>
              <a:t>End-to-End Class Management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FFFFFF"/>
            </a:solidFill>
          </p:spPr>
        </p:sp>
      </p:grpSp>
      <p:sp>
        <p:nvSpPr>
          <p:cNvPr name="TextBox 4" id="4"/>
          <p:cNvSpPr txBox="true"/>
          <p:nvPr/>
        </p:nvSpPr>
        <p:spPr>
          <a:xfrm rot="-5400000">
            <a:off x="-2587732" y="4336575"/>
            <a:ext cx="7232863" cy="1613851"/>
          </a:xfrm>
          <a:prstGeom prst="rect">
            <a:avLst/>
          </a:prstGeom>
        </p:spPr>
        <p:txBody>
          <a:bodyPr anchor="t" rtlCol="false" tIns="0" lIns="0" bIns="0" rIns="0">
            <a:spAutoFit/>
          </a:bodyPr>
          <a:lstStyle/>
          <a:p>
            <a:pPr algn="ctr">
              <a:lnSpc>
                <a:spcPts val="6132"/>
              </a:lnSpc>
            </a:pPr>
            <a:r>
              <a:rPr lang="en-US" b="true" sz="5574" spc="278">
                <a:solidFill>
                  <a:srgbClr val="0D2A4E"/>
                </a:solidFill>
                <a:latin typeface="Poppins Bold"/>
                <a:ea typeface="Poppins Bold"/>
                <a:cs typeface="Poppins Bold"/>
                <a:sym typeface="Poppins Bold"/>
              </a:rPr>
              <a:t>OUR ONGOING PROJECT</a:t>
            </a:r>
          </a:p>
        </p:txBody>
      </p:sp>
      <p:sp>
        <p:nvSpPr>
          <p:cNvPr name="Freeform 5" id="5"/>
          <p:cNvSpPr/>
          <p:nvPr/>
        </p:nvSpPr>
        <p:spPr>
          <a:xfrm flipH="false" flipV="false" rot="0">
            <a:off x="14027818" y="504185"/>
            <a:ext cx="3674326" cy="1308276"/>
          </a:xfrm>
          <a:custGeom>
            <a:avLst/>
            <a:gdLst/>
            <a:ahLst/>
            <a:cxnLst/>
            <a:rect r="r" b="b" t="t" l="l"/>
            <a:pathLst>
              <a:path h="1308276" w="3674326">
                <a:moveTo>
                  <a:pt x="0" y="0"/>
                </a:moveTo>
                <a:lnTo>
                  <a:pt x="3674326" y="0"/>
                </a:lnTo>
                <a:lnTo>
                  <a:pt x="3674326" y="1308276"/>
                </a:lnTo>
                <a:lnTo>
                  <a:pt x="0" y="1308276"/>
                </a:lnTo>
                <a:lnTo>
                  <a:pt x="0" y="0"/>
                </a:lnTo>
                <a:close/>
              </a:path>
            </a:pathLst>
          </a:custGeom>
          <a:blipFill>
            <a:blip r:embed="rId2"/>
            <a:stretch>
              <a:fillRect l="-71610" t="-32797" r="0" b="-14807"/>
            </a:stretch>
          </a:blipFill>
        </p:spPr>
      </p:sp>
      <p:sp>
        <p:nvSpPr>
          <p:cNvPr name="TextBox 6" id="6"/>
          <p:cNvSpPr txBox="true"/>
          <p:nvPr/>
        </p:nvSpPr>
        <p:spPr>
          <a:xfrm rot="0">
            <a:off x="2936012" y="4269509"/>
            <a:ext cx="14422241" cy="1294552"/>
          </a:xfrm>
          <a:prstGeom prst="rect">
            <a:avLst/>
          </a:prstGeom>
        </p:spPr>
        <p:txBody>
          <a:bodyPr anchor="t" rtlCol="false" tIns="0" lIns="0" bIns="0" rIns="0">
            <a:spAutoFit/>
          </a:bodyPr>
          <a:lstStyle/>
          <a:p>
            <a:pPr algn="ctr">
              <a:lnSpc>
                <a:spcPts val="10004"/>
              </a:lnSpc>
            </a:pPr>
            <a:r>
              <a:rPr lang="en-US" b="true" sz="9095">
                <a:solidFill>
                  <a:srgbClr val="FFC00C"/>
                </a:solidFill>
                <a:latin typeface="Oswald Bold"/>
                <a:ea typeface="Oswald Bold"/>
                <a:cs typeface="Oswald Bold"/>
                <a:sym typeface="Oswald Bold"/>
              </a:rPr>
              <a:t>P     -     L     -     A     -     N</a:t>
            </a:r>
          </a:p>
        </p:txBody>
      </p:sp>
      <p:sp>
        <p:nvSpPr>
          <p:cNvPr name="TextBox 7" id="7"/>
          <p:cNvSpPr txBox="true"/>
          <p:nvPr/>
        </p:nvSpPr>
        <p:spPr>
          <a:xfrm rot="0">
            <a:off x="2766225" y="5830611"/>
            <a:ext cx="2993383" cy="285186"/>
          </a:xfrm>
          <a:prstGeom prst="rect">
            <a:avLst/>
          </a:prstGeom>
        </p:spPr>
        <p:txBody>
          <a:bodyPr anchor="t" rtlCol="false" tIns="0" lIns="0" bIns="0" rIns="0">
            <a:spAutoFit/>
          </a:bodyPr>
          <a:lstStyle/>
          <a:p>
            <a:pPr algn="ctr">
              <a:lnSpc>
                <a:spcPts val="2191"/>
              </a:lnSpc>
            </a:pPr>
            <a:r>
              <a:rPr lang="en-US" b="true" sz="2191">
                <a:solidFill>
                  <a:srgbClr val="FFFFFF"/>
                </a:solidFill>
                <a:latin typeface="Nunito Bold"/>
                <a:ea typeface="Nunito Bold"/>
                <a:cs typeface="Nunito Bold"/>
                <a:sym typeface="Nunito Bold"/>
              </a:rPr>
              <a:t>Prepare for Work</a:t>
            </a:r>
          </a:p>
        </p:txBody>
      </p:sp>
      <p:sp>
        <p:nvSpPr>
          <p:cNvPr name="TextBox 8" id="8"/>
          <p:cNvSpPr txBox="true"/>
          <p:nvPr/>
        </p:nvSpPr>
        <p:spPr>
          <a:xfrm rot="0">
            <a:off x="2782579" y="6580947"/>
            <a:ext cx="3178293" cy="844633"/>
          </a:xfrm>
          <a:prstGeom prst="rect">
            <a:avLst/>
          </a:prstGeom>
        </p:spPr>
        <p:txBody>
          <a:bodyPr anchor="t" rtlCol="false" tIns="0" lIns="0" bIns="0" rIns="0">
            <a:spAutoFit/>
          </a:bodyPr>
          <a:lstStyle/>
          <a:p>
            <a:pPr algn="ctr">
              <a:lnSpc>
                <a:spcPts val="2291"/>
              </a:lnSpc>
            </a:pPr>
            <a:r>
              <a:rPr lang="en-US" sz="1637">
                <a:solidFill>
                  <a:srgbClr val="FFFFFF"/>
                </a:solidFill>
                <a:latin typeface="Nunito"/>
                <a:ea typeface="Nunito"/>
                <a:cs typeface="Nunito"/>
                <a:sym typeface="Nunito"/>
              </a:rPr>
              <a:t>Soft skill bootcamp:</a:t>
            </a:r>
          </a:p>
          <a:p>
            <a:pPr algn="ctr">
              <a:lnSpc>
                <a:spcPts val="2291"/>
              </a:lnSpc>
            </a:pPr>
            <a:r>
              <a:rPr lang="en-US" sz="1637">
                <a:solidFill>
                  <a:srgbClr val="FFFFFF"/>
                </a:solidFill>
                <a:latin typeface="Nunito"/>
                <a:ea typeface="Nunito"/>
                <a:cs typeface="Nunito"/>
                <a:sym typeface="Nunito"/>
              </a:rPr>
              <a:t>mindset, teamwork, komuniasi, dan lain - lain</a:t>
            </a:r>
          </a:p>
        </p:txBody>
      </p:sp>
      <p:sp>
        <p:nvSpPr>
          <p:cNvPr name="TextBox 9" id="9"/>
          <p:cNvSpPr txBox="true"/>
          <p:nvPr/>
        </p:nvSpPr>
        <p:spPr>
          <a:xfrm rot="0">
            <a:off x="6755326" y="5830611"/>
            <a:ext cx="2993383" cy="285186"/>
          </a:xfrm>
          <a:prstGeom prst="rect">
            <a:avLst/>
          </a:prstGeom>
        </p:spPr>
        <p:txBody>
          <a:bodyPr anchor="t" rtlCol="false" tIns="0" lIns="0" bIns="0" rIns="0">
            <a:spAutoFit/>
          </a:bodyPr>
          <a:lstStyle/>
          <a:p>
            <a:pPr algn="ctr">
              <a:lnSpc>
                <a:spcPts val="2191"/>
              </a:lnSpc>
            </a:pPr>
            <a:r>
              <a:rPr lang="en-US" b="true" sz="2191">
                <a:solidFill>
                  <a:srgbClr val="FFFFFF"/>
                </a:solidFill>
                <a:latin typeface="Nunito Bold"/>
                <a:ea typeface="Nunito Bold"/>
                <a:cs typeface="Nunito Bold"/>
                <a:sym typeface="Nunito Bold"/>
              </a:rPr>
              <a:t>Learn Technical Skill</a:t>
            </a:r>
          </a:p>
        </p:txBody>
      </p:sp>
      <p:sp>
        <p:nvSpPr>
          <p:cNvPr name="TextBox 10" id="10"/>
          <p:cNvSpPr txBox="true"/>
          <p:nvPr/>
        </p:nvSpPr>
        <p:spPr>
          <a:xfrm rot="0">
            <a:off x="6616724" y="6580947"/>
            <a:ext cx="3270588" cy="558753"/>
          </a:xfrm>
          <a:prstGeom prst="rect">
            <a:avLst/>
          </a:prstGeom>
        </p:spPr>
        <p:txBody>
          <a:bodyPr anchor="t" rtlCol="false" tIns="0" lIns="0" bIns="0" rIns="0">
            <a:spAutoFit/>
          </a:bodyPr>
          <a:lstStyle/>
          <a:p>
            <a:pPr algn="ctr">
              <a:lnSpc>
                <a:spcPts val="2291"/>
              </a:lnSpc>
            </a:pPr>
            <a:r>
              <a:rPr lang="en-US" sz="1637">
                <a:solidFill>
                  <a:srgbClr val="FFFFFF"/>
                </a:solidFill>
                <a:latin typeface="Nunito"/>
                <a:ea typeface="Nunito"/>
                <a:cs typeface="Nunito"/>
                <a:sym typeface="Nunito"/>
              </a:rPr>
              <a:t>Sales, social media, CRM via e-learning dan live zoom</a:t>
            </a:r>
          </a:p>
        </p:txBody>
      </p:sp>
      <p:sp>
        <p:nvSpPr>
          <p:cNvPr name="TextBox 11" id="11"/>
          <p:cNvSpPr txBox="true"/>
          <p:nvPr/>
        </p:nvSpPr>
        <p:spPr>
          <a:xfrm rot="0">
            <a:off x="10638371" y="5830611"/>
            <a:ext cx="2993383" cy="285186"/>
          </a:xfrm>
          <a:prstGeom prst="rect">
            <a:avLst/>
          </a:prstGeom>
        </p:spPr>
        <p:txBody>
          <a:bodyPr anchor="t" rtlCol="false" tIns="0" lIns="0" bIns="0" rIns="0">
            <a:spAutoFit/>
          </a:bodyPr>
          <a:lstStyle/>
          <a:p>
            <a:pPr algn="ctr">
              <a:lnSpc>
                <a:spcPts val="2191"/>
              </a:lnSpc>
            </a:pPr>
            <a:r>
              <a:rPr lang="en-US" b="true" sz="2191">
                <a:solidFill>
                  <a:srgbClr val="FFFFFF"/>
                </a:solidFill>
                <a:latin typeface="Nunito Bold"/>
                <a:ea typeface="Nunito Bold"/>
                <a:cs typeface="Nunito Bold"/>
                <a:sym typeface="Nunito Bold"/>
              </a:rPr>
              <a:t>Apply in Real Projects</a:t>
            </a:r>
          </a:p>
        </p:txBody>
      </p:sp>
      <p:sp>
        <p:nvSpPr>
          <p:cNvPr name="TextBox 12" id="12"/>
          <p:cNvSpPr txBox="true"/>
          <p:nvPr/>
        </p:nvSpPr>
        <p:spPr>
          <a:xfrm rot="0">
            <a:off x="10407127" y="6580947"/>
            <a:ext cx="3455870" cy="558753"/>
          </a:xfrm>
          <a:prstGeom prst="rect">
            <a:avLst/>
          </a:prstGeom>
        </p:spPr>
        <p:txBody>
          <a:bodyPr anchor="t" rtlCol="false" tIns="0" lIns="0" bIns="0" rIns="0">
            <a:spAutoFit/>
          </a:bodyPr>
          <a:lstStyle/>
          <a:p>
            <a:pPr algn="ctr">
              <a:lnSpc>
                <a:spcPts val="2291"/>
              </a:lnSpc>
            </a:pPr>
            <a:r>
              <a:rPr lang="en-US" sz="1637">
                <a:solidFill>
                  <a:srgbClr val="FFFFFF"/>
                </a:solidFill>
                <a:latin typeface="Nunito"/>
                <a:ea typeface="Nunito"/>
                <a:cs typeface="Nunito"/>
                <a:sym typeface="Nunito"/>
              </a:rPr>
              <a:t>Capstone project bersama UMKM dan retail partner</a:t>
            </a:r>
          </a:p>
        </p:txBody>
      </p:sp>
      <p:sp>
        <p:nvSpPr>
          <p:cNvPr name="TextBox 13" id="13"/>
          <p:cNvSpPr txBox="true"/>
          <p:nvPr/>
        </p:nvSpPr>
        <p:spPr>
          <a:xfrm rot="0">
            <a:off x="14518663" y="5830611"/>
            <a:ext cx="2993383" cy="562335"/>
          </a:xfrm>
          <a:prstGeom prst="rect">
            <a:avLst/>
          </a:prstGeom>
        </p:spPr>
        <p:txBody>
          <a:bodyPr anchor="t" rtlCol="false" tIns="0" lIns="0" bIns="0" rIns="0">
            <a:spAutoFit/>
          </a:bodyPr>
          <a:lstStyle/>
          <a:p>
            <a:pPr algn="ctr">
              <a:lnSpc>
                <a:spcPts val="2191"/>
              </a:lnSpc>
            </a:pPr>
            <a:r>
              <a:rPr lang="en-US" b="true" sz="2191">
                <a:solidFill>
                  <a:srgbClr val="FFFFFF"/>
                </a:solidFill>
                <a:latin typeface="Nunito Bold"/>
                <a:ea typeface="Nunito Bold"/>
                <a:cs typeface="Nunito Bold"/>
                <a:sym typeface="Nunito Bold"/>
              </a:rPr>
              <a:t>Navigate Career Journey</a:t>
            </a:r>
          </a:p>
        </p:txBody>
      </p:sp>
      <p:sp>
        <p:nvSpPr>
          <p:cNvPr name="TextBox 14" id="14"/>
          <p:cNvSpPr txBox="true"/>
          <p:nvPr/>
        </p:nvSpPr>
        <p:spPr>
          <a:xfrm rot="0">
            <a:off x="14148844" y="6580947"/>
            <a:ext cx="3733021" cy="558888"/>
          </a:xfrm>
          <a:prstGeom prst="rect">
            <a:avLst/>
          </a:prstGeom>
        </p:spPr>
        <p:txBody>
          <a:bodyPr anchor="t" rtlCol="false" tIns="0" lIns="0" bIns="0" rIns="0">
            <a:spAutoFit/>
          </a:bodyPr>
          <a:lstStyle/>
          <a:p>
            <a:pPr algn="ctr">
              <a:lnSpc>
                <a:spcPts val="2291"/>
              </a:lnSpc>
            </a:pPr>
            <a:r>
              <a:rPr lang="en-US" sz="1637">
                <a:solidFill>
                  <a:srgbClr val="FFFFFF"/>
                </a:solidFill>
                <a:latin typeface="Nunito"/>
                <a:ea typeface="Nunito"/>
                <a:cs typeface="Nunito"/>
                <a:sym typeface="Nunito"/>
              </a:rPr>
              <a:t>Job matching, CV clinic, career mentoring</a:t>
            </a:r>
          </a:p>
        </p:txBody>
      </p:sp>
      <p:sp>
        <p:nvSpPr>
          <p:cNvPr name="TextBox 15" id="15"/>
          <p:cNvSpPr txBox="true"/>
          <p:nvPr/>
        </p:nvSpPr>
        <p:spPr>
          <a:xfrm rot="0">
            <a:off x="2766225" y="590888"/>
            <a:ext cx="9643974" cy="1616063"/>
          </a:xfrm>
          <a:prstGeom prst="rect">
            <a:avLst/>
          </a:prstGeom>
        </p:spPr>
        <p:txBody>
          <a:bodyPr anchor="t" rtlCol="false" tIns="0" lIns="0" bIns="0" rIns="0">
            <a:spAutoFit/>
          </a:bodyPr>
          <a:lstStyle/>
          <a:p>
            <a:pPr algn="l">
              <a:lnSpc>
                <a:spcPts val="5650"/>
              </a:lnSpc>
            </a:pPr>
            <a:r>
              <a:rPr lang="en-US" b="true" sz="5000">
                <a:solidFill>
                  <a:srgbClr val="FFFFFF"/>
                </a:solidFill>
                <a:latin typeface="Mont 2 Bold"/>
                <a:ea typeface="Mont 2 Bold"/>
                <a:cs typeface="Mont 2 Bold"/>
                <a:sym typeface="Mont 2 Bold"/>
              </a:rPr>
              <a:t>FUTUREMAKERS YOUTH EMPLOYMENT PROGRAMME</a:t>
            </a:r>
          </a:p>
        </p:txBody>
      </p:sp>
      <p:sp>
        <p:nvSpPr>
          <p:cNvPr name="TextBox 16" id="16"/>
          <p:cNvSpPr txBox="true"/>
          <p:nvPr/>
        </p:nvSpPr>
        <p:spPr>
          <a:xfrm rot="0">
            <a:off x="2782579" y="2395634"/>
            <a:ext cx="9643974" cy="1311901"/>
          </a:xfrm>
          <a:prstGeom prst="rect">
            <a:avLst/>
          </a:prstGeom>
        </p:spPr>
        <p:txBody>
          <a:bodyPr anchor="t" rtlCol="false" tIns="0" lIns="0" bIns="0" rIns="0">
            <a:spAutoFit/>
          </a:bodyPr>
          <a:lstStyle/>
          <a:p>
            <a:pPr algn="l">
              <a:lnSpc>
                <a:spcPts val="4520"/>
              </a:lnSpc>
            </a:pPr>
            <a:r>
              <a:rPr lang="en-US" sz="3999">
                <a:solidFill>
                  <a:srgbClr val="FFFFFF"/>
                </a:solidFill>
                <a:latin typeface="Mont 2"/>
                <a:ea typeface="Mont 2"/>
                <a:cs typeface="Mont 2"/>
                <a:sym typeface="Mont 2"/>
              </a:rPr>
              <a:t>R</a:t>
            </a:r>
            <a:r>
              <a:rPr lang="en-US" sz="3999">
                <a:solidFill>
                  <a:srgbClr val="FFFFFF"/>
                </a:solidFill>
                <a:latin typeface="Mont 2"/>
                <a:ea typeface="Mont 2"/>
                <a:cs typeface="Mont 2"/>
                <a:sym typeface="Mont 2"/>
              </a:rPr>
              <a:t>etail Skills for Youth Empowerment &amp; TechPath Bojonegoro</a:t>
            </a:r>
          </a:p>
        </p:txBody>
      </p:sp>
      <p:grpSp>
        <p:nvGrpSpPr>
          <p:cNvPr name="Group 17" id="17"/>
          <p:cNvGrpSpPr/>
          <p:nvPr/>
        </p:nvGrpSpPr>
        <p:grpSpPr>
          <a:xfrm rot="0">
            <a:off x="7113505" y="8018197"/>
            <a:ext cx="7141758" cy="1770853"/>
            <a:chOff x="0" y="0"/>
            <a:chExt cx="1690209" cy="419100"/>
          </a:xfrm>
        </p:grpSpPr>
        <p:sp>
          <p:nvSpPr>
            <p:cNvPr name="Freeform 18" id="18"/>
            <p:cNvSpPr/>
            <p:nvPr/>
          </p:nvSpPr>
          <p:spPr>
            <a:xfrm flipH="false" flipV="false" rot="0">
              <a:off x="0" y="0"/>
              <a:ext cx="1690209" cy="419100"/>
            </a:xfrm>
            <a:custGeom>
              <a:avLst/>
              <a:gdLst/>
              <a:ahLst/>
              <a:cxnLst/>
              <a:rect r="r" b="b" t="t" l="l"/>
              <a:pathLst>
                <a:path h="419100" w="1690209">
                  <a:moveTo>
                    <a:pt x="21173" y="0"/>
                  </a:moveTo>
                  <a:lnTo>
                    <a:pt x="1669036" y="0"/>
                  </a:lnTo>
                  <a:cubicBezTo>
                    <a:pt x="1680729" y="0"/>
                    <a:pt x="1690209" y="9479"/>
                    <a:pt x="1690209" y="21173"/>
                  </a:cubicBezTo>
                  <a:lnTo>
                    <a:pt x="1690209" y="397927"/>
                  </a:lnTo>
                  <a:cubicBezTo>
                    <a:pt x="1690209" y="409621"/>
                    <a:pt x="1680729" y="419100"/>
                    <a:pt x="1669036" y="419100"/>
                  </a:cubicBezTo>
                  <a:lnTo>
                    <a:pt x="21173" y="419100"/>
                  </a:lnTo>
                  <a:cubicBezTo>
                    <a:pt x="9479" y="419100"/>
                    <a:pt x="0" y="409621"/>
                    <a:pt x="0" y="397927"/>
                  </a:cubicBezTo>
                  <a:lnTo>
                    <a:pt x="0" y="21173"/>
                  </a:lnTo>
                  <a:cubicBezTo>
                    <a:pt x="0" y="9479"/>
                    <a:pt x="9479" y="0"/>
                    <a:pt x="21173" y="0"/>
                  </a:cubicBezTo>
                  <a:close/>
                </a:path>
              </a:pathLst>
            </a:custGeom>
            <a:solidFill>
              <a:srgbClr val="2446BC"/>
            </a:solidFill>
          </p:spPr>
        </p:sp>
        <p:sp>
          <p:nvSpPr>
            <p:cNvPr name="TextBox 19" id="19"/>
            <p:cNvSpPr txBox="true"/>
            <p:nvPr/>
          </p:nvSpPr>
          <p:spPr>
            <a:xfrm>
              <a:off x="0" y="-28575"/>
              <a:ext cx="1690209" cy="447675"/>
            </a:xfrm>
            <a:prstGeom prst="rect">
              <a:avLst/>
            </a:prstGeom>
          </p:spPr>
          <p:txBody>
            <a:bodyPr anchor="ctr" rtlCol="false" tIns="50800" lIns="50800" bIns="50800" rIns="50800"/>
            <a:lstStyle/>
            <a:p>
              <a:pPr algn="ctr">
                <a:lnSpc>
                  <a:spcPts val="2291"/>
                </a:lnSpc>
              </a:pPr>
            </a:p>
          </p:txBody>
        </p:sp>
      </p:grpSp>
      <p:grpSp>
        <p:nvGrpSpPr>
          <p:cNvPr name="Group 20" id="20"/>
          <p:cNvGrpSpPr/>
          <p:nvPr/>
        </p:nvGrpSpPr>
        <p:grpSpPr>
          <a:xfrm rot="0">
            <a:off x="6558992" y="7463685"/>
            <a:ext cx="1109024" cy="11090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00C"/>
            </a:solidFill>
          </p:spPr>
        </p:sp>
        <p:sp>
          <p:nvSpPr>
            <p:cNvPr name="TextBox 22" id="22"/>
            <p:cNvSpPr txBox="true"/>
            <p:nvPr/>
          </p:nvSpPr>
          <p:spPr>
            <a:xfrm>
              <a:off x="76200" y="9525"/>
              <a:ext cx="660400" cy="727075"/>
            </a:xfrm>
            <a:prstGeom prst="rect">
              <a:avLst/>
            </a:prstGeom>
          </p:spPr>
          <p:txBody>
            <a:bodyPr anchor="ctr" rtlCol="false" tIns="50800" lIns="50800" bIns="50800" rIns="50800"/>
            <a:lstStyle/>
            <a:p>
              <a:pPr algn="ctr">
                <a:lnSpc>
                  <a:spcPts val="5599"/>
                </a:lnSpc>
              </a:pPr>
            </a:p>
          </p:txBody>
        </p:sp>
      </p:grpSp>
      <p:sp>
        <p:nvSpPr>
          <p:cNvPr name="TextBox 23" id="23"/>
          <p:cNvSpPr txBox="true"/>
          <p:nvPr/>
        </p:nvSpPr>
        <p:spPr>
          <a:xfrm rot="0">
            <a:off x="7793888" y="8515560"/>
            <a:ext cx="5403345" cy="748412"/>
          </a:xfrm>
          <a:prstGeom prst="rect">
            <a:avLst/>
          </a:prstGeom>
        </p:spPr>
        <p:txBody>
          <a:bodyPr anchor="t" rtlCol="false" tIns="0" lIns="0" bIns="0" rIns="0">
            <a:spAutoFit/>
          </a:bodyPr>
          <a:lstStyle/>
          <a:p>
            <a:pPr algn="l">
              <a:lnSpc>
                <a:spcPts val="2651"/>
              </a:lnSpc>
            </a:pPr>
            <a:r>
              <a:rPr lang="en-US" b="true" sz="2346">
                <a:solidFill>
                  <a:srgbClr val="FFFFFF"/>
                </a:solidFill>
                <a:latin typeface="Mont 2 Bold"/>
                <a:ea typeface="Mont 2 Bold"/>
                <a:cs typeface="Mont 2 Bold"/>
                <a:sym typeface="Mont 2 Bold"/>
              </a:rPr>
              <a:t>FUTUREMAKERS YOUTH EMPLOYMENT PROGRAMME (FYEP)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grpSp>
        <p:nvGrpSpPr>
          <p:cNvPr name="Group 4" id="4"/>
          <p:cNvGrpSpPr/>
          <p:nvPr/>
        </p:nvGrpSpPr>
        <p:grpSpPr>
          <a:xfrm rot="0">
            <a:off x="15847422" y="255372"/>
            <a:ext cx="1939876" cy="1706904"/>
            <a:chOff x="0" y="0"/>
            <a:chExt cx="510914" cy="449555"/>
          </a:xfrm>
        </p:grpSpPr>
        <p:sp>
          <p:nvSpPr>
            <p:cNvPr name="Freeform 5" id="5"/>
            <p:cNvSpPr/>
            <p:nvPr/>
          </p:nvSpPr>
          <p:spPr>
            <a:xfrm flipH="false" flipV="false" rot="0">
              <a:off x="0" y="0"/>
              <a:ext cx="510914" cy="449555"/>
            </a:xfrm>
            <a:custGeom>
              <a:avLst/>
              <a:gdLst/>
              <a:ahLst/>
              <a:cxnLst/>
              <a:rect r="r" b="b" t="t" l="l"/>
              <a:pathLst>
                <a:path h="449555" w="510914">
                  <a:moveTo>
                    <a:pt x="0" y="0"/>
                  </a:moveTo>
                  <a:lnTo>
                    <a:pt x="510914" y="0"/>
                  </a:lnTo>
                  <a:lnTo>
                    <a:pt x="510914" y="449555"/>
                  </a:lnTo>
                  <a:lnTo>
                    <a:pt x="0" y="449555"/>
                  </a:lnTo>
                  <a:close/>
                </a:path>
              </a:pathLst>
            </a:custGeom>
            <a:solidFill>
              <a:srgbClr val="FFFFFF"/>
            </a:solidFill>
          </p:spPr>
        </p:sp>
        <p:sp>
          <p:nvSpPr>
            <p:cNvPr name="TextBox 6" id="6"/>
            <p:cNvSpPr txBox="true"/>
            <p:nvPr/>
          </p:nvSpPr>
          <p:spPr>
            <a:xfrm>
              <a:off x="0" y="-9525"/>
              <a:ext cx="510914" cy="459080"/>
            </a:xfrm>
            <a:prstGeom prst="rect">
              <a:avLst/>
            </a:prstGeom>
          </p:spPr>
          <p:txBody>
            <a:bodyPr anchor="ctr" rtlCol="false" tIns="50800" lIns="50800" bIns="50800" rIns="50800"/>
            <a:lstStyle/>
            <a:p>
              <a:pPr algn="ctr">
                <a:lnSpc>
                  <a:spcPts val="2538"/>
                </a:lnSpc>
              </a:pPr>
            </a:p>
          </p:txBody>
        </p:sp>
      </p:grpSp>
      <p:sp>
        <p:nvSpPr>
          <p:cNvPr name="Freeform 7" id="7"/>
          <p:cNvSpPr/>
          <p:nvPr/>
        </p:nvSpPr>
        <p:spPr>
          <a:xfrm flipH="false" flipV="false" rot="0">
            <a:off x="15847422" y="22400"/>
            <a:ext cx="1939876" cy="1939876"/>
          </a:xfrm>
          <a:custGeom>
            <a:avLst/>
            <a:gdLst/>
            <a:ahLst/>
            <a:cxnLst/>
            <a:rect r="r" b="b" t="t" l="l"/>
            <a:pathLst>
              <a:path h="1939876" w="1939876">
                <a:moveTo>
                  <a:pt x="0" y="0"/>
                </a:moveTo>
                <a:lnTo>
                  <a:pt x="1939876" y="0"/>
                </a:lnTo>
                <a:lnTo>
                  <a:pt x="1939876" y="1939876"/>
                </a:lnTo>
                <a:lnTo>
                  <a:pt x="0" y="1939876"/>
                </a:lnTo>
                <a:lnTo>
                  <a:pt x="0" y="0"/>
                </a:lnTo>
                <a:close/>
              </a:path>
            </a:pathLst>
          </a:custGeom>
          <a:blipFill>
            <a:blip r:embed="rId3"/>
            <a:stretch>
              <a:fillRect l="0" t="0" r="0" b="0"/>
            </a:stretch>
          </a:blipFill>
        </p:spPr>
      </p:sp>
      <p:sp>
        <p:nvSpPr>
          <p:cNvPr name="Freeform 8" id="8"/>
          <p:cNvSpPr/>
          <p:nvPr/>
        </p:nvSpPr>
        <p:spPr>
          <a:xfrm flipH="false" flipV="false" rot="0">
            <a:off x="0" y="-1152011"/>
            <a:ext cx="5718264" cy="4288698"/>
          </a:xfrm>
          <a:custGeom>
            <a:avLst/>
            <a:gdLst/>
            <a:ahLst/>
            <a:cxnLst/>
            <a:rect r="r" b="b" t="t" l="l"/>
            <a:pathLst>
              <a:path h="4288698" w="5718264">
                <a:moveTo>
                  <a:pt x="0" y="0"/>
                </a:moveTo>
                <a:lnTo>
                  <a:pt x="5718264" y="0"/>
                </a:lnTo>
                <a:lnTo>
                  <a:pt x="5718264" y="4288698"/>
                </a:lnTo>
                <a:lnTo>
                  <a:pt x="0" y="4288698"/>
                </a:lnTo>
                <a:lnTo>
                  <a:pt x="0" y="0"/>
                </a:lnTo>
                <a:close/>
              </a:path>
            </a:pathLst>
          </a:custGeom>
          <a:blipFill>
            <a:blip r:embed="rId4"/>
            <a:stretch>
              <a:fillRect l="0" t="0" r="0" b="0"/>
            </a:stretch>
          </a:blipFill>
        </p:spPr>
      </p:sp>
      <p:sp>
        <p:nvSpPr>
          <p:cNvPr name="Freeform 9" id="9"/>
          <p:cNvSpPr/>
          <p:nvPr/>
        </p:nvSpPr>
        <p:spPr>
          <a:xfrm flipH="false" flipV="false" rot="0">
            <a:off x="6809559" y="-327466"/>
            <a:ext cx="4147513" cy="4288698"/>
          </a:xfrm>
          <a:custGeom>
            <a:avLst/>
            <a:gdLst/>
            <a:ahLst/>
            <a:cxnLst/>
            <a:rect r="r" b="b" t="t" l="l"/>
            <a:pathLst>
              <a:path h="4288698" w="4147513">
                <a:moveTo>
                  <a:pt x="0" y="0"/>
                </a:moveTo>
                <a:lnTo>
                  <a:pt x="4147513" y="0"/>
                </a:lnTo>
                <a:lnTo>
                  <a:pt x="4147513" y="4288698"/>
                </a:lnTo>
                <a:lnTo>
                  <a:pt x="0" y="4288698"/>
                </a:lnTo>
                <a:lnTo>
                  <a:pt x="0" y="0"/>
                </a:lnTo>
                <a:close/>
              </a:path>
            </a:pathLst>
          </a:custGeom>
          <a:blipFill>
            <a:blip r:embed="rId5"/>
            <a:stretch>
              <a:fillRect l="-19791" t="0" r="-18080" b="0"/>
            </a:stretch>
          </a:blipFill>
        </p:spPr>
      </p:sp>
      <p:sp>
        <p:nvSpPr>
          <p:cNvPr name="Freeform 10" id="10"/>
          <p:cNvSpPr/>
          <p:nvPr/>
        </p:nvSpPr>
        <p:spPr>
          <a:xfrm flipH="false" flipV="false" rot="0">
            <a:off x="-27954" y="2873917"/>
            <a:ext cx="4340693" cy="3255520"/>
          </a:xfrm>
          <a:custGeom>
            <a:avLst/>
            <a:gdLst/>
            <a:ahLst/>
            <a:cxnLst/>
            <a:rect r="r" b="b" t="t" l="l"/>
            <a:pathLst>
              <a:path h="3255520" w="4340693">
                <a:moveTo>
                  <a:pt x="0" y="0"/>
                </a:moveTo>
                <a:lnTo>
                  <a:pt x="4340693" y="0"/>
                </a:lnTo>
                <a:lnTo>
                  <a:pt x="4340693" y="3255520"/>
                </a:lnTo>
                <a:lnTo>
                  <a:pt x="0" y="3255520"/>
                </a:lnTo>
                <a:lnTo>
                  <a:pt x="0" y="0"/>
                </a:lnTo>
                <a:close/>
              </a:path>
            </a:pathLst>
          </a:custGeom>
          <a:blipFill>
            <a:blip r:embed="rId6"/>
            <a:stretch>
              <a:fillRect l="0" t="0" r="0" b="0"/>
            </a:stretch>
          </a:blipFill>
        </p:spPr>
      </p:sp>
      <p:sp>
        <p:nvSpPr>
          <p:cNvPr name="Freeform 11" id="11"/>
          <p:cNvSpPr/>
          <p:nvPr/>
        </p:nvSpPr>
        <p:spPr>
          <a:xfrm flipH="false" flipV="false" rot="0">
            <a:off x="4005246" y="2141932"/>
            <a:ext cx="4548775" cy="4890968"/>
          </a:xfrm>
          <a:custGeom>
            <a:avLst/>
            <a:gdLst/>
            <a:ahLst/>
            <a:cxnLst/>
            <a:rect r="r" b="b" t="t" l="l"/>
            <a:pathLst>
              <a:path h="4890968" w="4548775">
                <a:moveTo>
                  <a:pt x="0" y="0"/>
                </a:moveTo>
                <a:lnTo>
                  <a:pt x="4548775" y="0"/>
                </a:lnTo>
                <a:lnTo>
                  <a:pt x="4548775" y="4890968"/>
                </a:lnTo>
                <a:lnTo>
                  <a:pt x="0" y="4890968"/>
                </a:lnTo>
                <a:lnTo>
                  <a:pt x="0" y="0"/>
                </a:lnTo>
                <a:close/>
              </a:path>
            </a:pathLst>
          </a:custGeom>
          <a:blipFill>
            <a:blip r:embed="rId7"/>
            <a:stretch>
              <a:fillRect l="0" t="-24004" r="0" b="0"/>
            </a:stretch>
          </a:blipFill>
        </p:spPr>
      </p:sp>
      <p:sp>
        <p:nvSpPr>
          <p:cNvPr name="Freeform 12" id="12"/>
          <p:cNvSpPr/>
          <p:nvPr/>
        </p:nvSpPr>
        <p:spPr>
          <a:xfrm flipH="false" flipV="false" rot="0">
            <a:off x="6669075" y="2763061"/>
            <a:ext cx="4287998" cy="3477233"/>
          </a:xfrm>
          <a:custGeom>
            <a:avLst/>
            <a:gdLst/>
            <a:ahLst/>
            <a:cxnLst/>
            <a:rect r="r" b="b" t="t" l="l"/>
            <a:pathLst>
              <a:path h="3477233" w="4287998">
                <a:moveTo>
                  <a:pt x="0" y="0"/>
                </a:moveTo>
                <a:lnTo>
                  <a:pt x="4287997" y="0"/>
                </a:lnTo>
                <a:lnTo>
                  <a:pt x="4287997" y="3477233"/>
                </a:lnTo>
                <a:lnTo>
                  <a:pt x="0" y="3477233"/>
                </a:lnTo>
                <a:lnTo>
                  <a:pt x="0" y="0"/>
                </a:lnTo>
                <a:close/>
              </a:path>
            </a:pathLst>
          </a:custGeom>
          <a:blipFill>
            <a:blip r:embed="rId8"/>
            <a:stretch>
              <a:fillRect l="0" t="0" r="-7704" b="0"/>
            </a:stretch>
          </a:blipFill>
        </p:spPr>
      </p:sp>
      <p:sp>
        <p:nvSpPr>
          <p:cNvPr name="Freeform 13" id="13"/>
          <p:cNvSpPr/>
          <p:nvPr/>
        </p:nvSpPr>
        <p:spPr>
          <a:xfrm flipH="false" flipV="false" rot="0">
            <a:off x="3416074" y="-1125646"/>
            <a:ext cx="5312093" cy="3999564"/>
          </a:xfrm>
          <a:custGeom>
            <a:avLst/>
            <a:gdLst/>
            <a:ahLst/>
            <a:cxnLst/>
            <a:rect r="r" b="b" t="t" l="l"/>
            <a:pathLst>
              <a:path h="3999564" w="5312093">
                <a:moveTo>
                  <a:pt x="0" y="0"/>
                </a:moveTo>
                <a:lnTo>
                  <a:pt x="5312093" y="0"/>
                </a:lnTo>
                <a:lnTo>
                  <a:pt x="5312093" y="3999563"/>
                </a:lnTo>
                <a:lnTo>
                  <a:pt x="0" y="3999563"/>
                </a:lnTo>
                <a:lnTo>
                  <a:pt x="0" y="0"/>
                </a:lnTo>
                <a:close/>
              </a:path>
            </a:pathLst>
          </a:custGeom>
          <a:blipFill>
            <a:blip r:embed="rId9"/>
            <a:stretch>
              <a:fillRect l="0" t="0" r="0" b="0"/>
            </a:stretch>
          </a:blipFill>
        </p:spPr>
      </p:sp>
      <p:sp>
        <p:nvSpPr>
          <p:cNvPr name="TextBox 14" id="14"/>
          <p:cNvSpPr txBox="true"/>
          <p:nvPr/>
        </p:nvSpPr>
        <p:spPr>
          <a:xfrm rot="0">
            <a:off x="11334195" y="2082165"/>
            <a:ext cx="6622984" cy="7176135"/>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10211" indent="-205106" lvl="1">
              <a:lnSpc>
                <a:spcPts val="2850"/>
              </a:lnSpc>
              <a:buFont typeface="Arial"/>
              <a:buChar char="•"/>
            </a:pPr>
            <a:r>
              <a:rPr lang="en-US" b="true" sz="1900" spc="19">
                <a:solidFill>
                  <a:srgbClr val="FFFFFF"/>
                </a:solidFill>
                <a:latin typeface="Mont 1 Bold"/>
                <a:ea typeface="Mont 1 Bold"/>
                <a:cs typeface="Mont 1 Bold"/>
                <a:sym typeface="Mont 1 Bold"/>
              </a:rPr>
              <a:t>F</a:t>
            </a:r>
            <a:r>
              <a:rPr lang="en-US" b="true" sz="1900" spc="19">
                <a:solidFill>
                  <a:srgbClr val="FFFFFF"/>
                </a:solidFill>
                <a:latin typeface="Mont 1 Bold"/>
                <a:ea typeface="Mont 1 Bold"/>
                <a:cs typeface="Mont 1 Bold"/>
                <a:sym typeface="Mont 1 Bold"/>
              </a:rPr>
              <a:t>inanc</a:t>
            </a:r>
            <a:r>
              <a:rPr lang="en-US" b="true" sz="1900" spc="19">
                <a:solidFill>
                  <a:srgbClr val="FFFFFF"/>
                </a:solidFill>
                <a:latin typeface="Mont 1 Bold"/>
                <a:ea typeface="Mont 1 Bold"/>
                <a:cs typeface="Mont 1 Bold"/>
                <a:sym typeface="Mont 1 Bold"/>
              </a:rPr>
              <a:t>ial Acumen &amp; P&amp;L Awareness, </a:t>
            </a:r>
            <a:r>
              <a:rPr lang="en-US" sz="1900" spc="19">
                <a:solidFill>
                  <a:srgbClr val="FFFFFF"/>
                </a:solidFill>
                <a:latin typeface="Mont 1"/>
                <a:ea typeface="Mont 1"/>
                <a:cs typeface="Mont 1"/>
                <a:sym typeface="Mont 1"/>
              </a:rPr>
              <a:t>Understanding P&amp;L structure and driving responsible, profit-oriented growth aligned with bonus performance. </a:t>
            </a:r>
          </a:p>
          <a:p>
            <a:pPr algn="just" marL="410211" indent="-205106" lvl="1">
              <a:lnSpc>
                <a:spcPts val="2850"/>
              </a:lnSpc>
              <a:buFont typeface="Arial"/>
              <a:buChar char="•"/>
            </a:pPr>
            <a:r>
              <a:rPr lang="en-US" b="true" sz="1900" spc="19">
                <a:solidFill>
                  <a:srgbClr val="FFFFFF"/>
                </a:solidFill>
                <a:latin typeface="Mont 1 Bold"/>
                <a:ea typeface="Mont 1 Bold"/>
                <a:cs typeface="Mont 1 Bold"/>
                <a:sym typeface="Mont 1 Bold"/>
              </a:rPr>
              <a:t>Product Mix &amp; Trade Investment Control, </a:t>
            </a:r>
            <a:r>
              <a:rPr lang="en-US" sz="1900" spc="19">
                <a:solidFill>
                  <a:srgbClr val="FFFFFF"/>
                </a:solidFill>
                <a:latin typeface="Mont 1"/>
                <a:ea typeface="Mont 1"/>
                <a:cs typeface="Mont 1"/>
                <a:sym typeface="Mont 1"/>
              </a:rPr>
              <a:t>Managing profit vs. subsidized products, controlling promo cost ratios, and eliminating cross-brand prof</a:t>
            </a:r>
            <a:r>
              <a:rPr lang="en-US" sz="1900" spc="19">
                <a:solidFill>
                  <a:srgbClr val="FFFFFF"/>
                </a:solidFill>
                <a:latin typeface="Mont 1"/>
                <a:ea typeface="Mont 1"/>
                <a:cs typeface="Mont 1"/>
                <a:sym typeface="Mont 1"/>
              </a:rPr>
              <a:t>it</a:t>
            </a:r>
            <a:r>
              <a:rPr lang="en-US" sz="1900" spc="19">
                <a:solidFill>
                  <a:srgbClr val="FFFFFF"/>
                </a:solidFill>
                <a:latin typeface="Mont 1"/>
                <a:ea typeface="Mont 1"/>
                <a:cs typeface="Mont 1"/>
                <a:sym typeface="Mont 1"/>
              </a:rPr>
              <a:t> erosion.</a:t>
            </a:r>
            <a:r>
              <a:rPr lang="en-US" b="true" sz="1900" spc="19">
                <a:solidFill>
                  <a:srgbClr val="FFFFFF"/>
                </a:solidFill>
                <a:latin typeface="Mont 1 Bold"/>
                <a:ea typeface="Mont 1 Bold"/>
                <a:cs typeface="Mont 1 Bold"/>
                <a:sym typeface="Mont 1 Bold"/>
              </a:rPr>
              <a:t> </a:t>
            </a:r>
          </a:p>
          <a:p>
            <a:pPr algn="just" marL="410211" indent="-205106" lvl="1">
              <a:lnSpc>
                <a:spcPts val="2850"/>
              </a:lnSpc>
              <a:buFont typeface="Arial"/>
              <a:buChar char="•"/>
            </a:pPr>
            <a:r>
              <a:rPr lang="en-US" b="true" sz="1900" spc="19">
                <a:solidFill>
                  <a:srgbClr val="FFFFFF"/>
                </a:solidFill>
                <a:latin typeface="Mont 1 Bold"/>
                <a:ea typeface="Mont 1 Bold"/>
                <a:cs typeface="Mont 1 Bold"/>
                <a:sym typeface="Mont 1 Bold"/>
              </a:rPr>
              <a:t>Contextual Market Analytics, </a:t>
            </a:r>
            <a:r>
              <a:rPr lang="en-US" sz="1900" spc="19">
                <a:solidFill>
                  <a:srgbClr val="FFFFFF"/>
                </a:solidFill>
                <a:latin typeface="Mont 1"/>
                <a:ea typeface="Mont 1"/>
                <a:cs typeface="Mont 1"/>
                <a:sym typeface="Mont 1"/>
              </a:rPr>
              <a:t>Transforming internal data (Scan, SFA, Nielsen) and market signals into data-driven commercial decisions. </a:t>
            </a:r>
          </a:p>
          <a:p>
            <a:pPr algn="just" marL="410211" indent="-205106" lvl="1">
              <a:lnSpc>
                <a:spcPts val="2850"/>
              </a:lnSpc>
              <a:buFont typeface="Arial"/>
              <a:buChar char="•"/>
            </a:pPr>
            <a:r>
              <a:rPr lang="en-US" b="true" sz="1900" spc="19">
                <a:solidFill>
                  <a:srgbClr val="FFFFFF"/>
                </a:solidFill>
                <a:latin typeface="Mont 1 Bold"/>
                <a:ea typeface="Mont 1 Bold"/>
                <a:cs typeface="Mont 1 Bold"/>
                <a:sym typeface="Mont 1 Bold"/>
              </a:rPr>
              <a:t>Gamified P&amp;L Simulation,</a:t>
            </a:r>
            <a:r>
              <a:rPr lang="en-US" sz="1900" spc="19">
                <a:solidFill>
                  <a:srgbClr val="FFFFFF"/>
                </a:solidFill>
                <a:latin typeface="Mont 1"/>
                <a:ea typeface="Mont 1"/>
                <a:cs typeface="Mont 1"/>
                <a:sym typeface="Mont 1"/>
              </a:rPr>
              <a:t> Executing commercial trade-offs (Pricing, Volume, Credit Terms) on a real-time simulator engine to balance growth and profit. </a:t>
            </a:r>
          </a:p>
          <a:p>
            <a:pPr algn="just" marL="410211" indent="-205106" lvl="1">
              <a:lnSpc>
                <a:spcPts val="2850"/>
              </a:lnSpc>
              <a:buFont typeface="Arial"/>
              <a:buChar char="•"/>
            </a:pPr>
            <a:r>
              <a:rPr lang="en-US" b="true" sz="1900" spc="19">
                <a:solidFill>
                  <a:srgbClr val="FFFFFF"/>
                </a:solidFill>
                <a:latin typeface="Mont 1 Bold"/>
                <a:ea typeface="Mont 1 Bold"/>
                <a:cs typeface="Mont 1 Bold"/>
                <a:sym typeface="Mont 1 Bold"/>
              </a:rPr>
              <a:t>St</a:t>
            </a:r>
            <a:r>
              <a:rPr lang="en-US" b="true" sz="1900" spc="19">
                <a:solidFill>
                  <a:srgbClr val="FFFFFF"/>
                </a:solidFill>
                <a:latin typeface="Mont 1 Bold"/>
                <a:ea typeface="Mont 1 Bold"/>
                <a:cs typeface="Mont 1 Bold"/>
                <a:sym typeface="Mont 1 Bold"/>
              </a:rPr>
              <a:t>rategic Sales Action Plan, </a:t>
            </a:r>
            <a:r>
              <a:rPr lang="en-US" sz="1900" spc="19">
                <a:solidFill>
                  <a:srgbClr val="FFFFFF"/>
                </a:solidFill>
                <a:latin typeface="Mont 1"/>
                <a:ea typeface="Mont 1"/>
                <a:cs typeface="Mont 1"/>
                <a:sym typeface="Mont 1"/>
              </a:rPr>
              <a:t>Translating market dynamics and P&amp;L results into 1 Decisive Move and actionable quarterly sales plans. </a:t>
            </a:r>
          </a:p>
        </p:txBody>
      </p:sp>
      <p:sp>
        <p:nvSpPr>
          <p:cNvPr name="Freeform 15" id="15"/>
          <p:cNvSpPr/>
          <p:nvPr/>
        </p:nvSpPr>
        <p:spPr>
          <a:xfrm flipH="false" flipV="false" rot="0">
            <a:off x="0" y="5850616"/>
            <a:ext cx="10957072" cy="6815368"/>
          </a:xfrm>
          <a:custGeom>
            <a:avLst/>
            <a:gdLst/>
            <a:ahLst/>
            <a:cxnLst/>
            <a:rect r="r" b="b" t="t" l="l"/>
            <a:pathLst>
              <a:path h="6815368" w="10957072">
                <a:moveTo>
                  <a:pt x="0" y="0"/>
                </a:moveTo>
                <a:lnTo>
                  <a:pt x="10957072" y="0"/>
                </a:lnTo>
                <a:lnTo>
                  <a:pt x="10957072" y="6815368"/>
                </a:lnTo>
                <a:lnTo>
                  <a:pt x="0" y="6815368"/>
                </a:lnTo>
                <a:lnTo>
                  <a:pt x="0" y="0"/>
                </a:lnTo>
                <a:close/>
              </a:path>
            </a:pathLst>
          </a:custGeom>
          <a:blipFill>
            <a:blip r:embed="rId10"/>
            <a:stretch>
              <a:fillRect l="-10763" t="-42777" r="-7647" b="0"/>
            </a:stretch>
          </a:blipFill>
        </p:spPr>
      </p:sp>
      <p:grpSp>
        <p:nvGrpSpPr>
          <p:cNvPr name="Group 16" id="16"/>
          <p:cNvGrpSpPr/>
          <p:nvPr/>
        </p:nvGrpSpPr>
        <p:grpSpPr>
          <a:xfrm rot="0">
            <a:off x="-227374" y="-147202"/>
            <a:ext cx="11184447" cy="10434202"/>
            <a:chOff x="0" y="0"/>
            <a:chExt cx="2945698" cy="2748103"/>
          </a:xfrm>
        </p:grpSpPr>
        <p:sp>
          <p:nvSpPr>
            <p:cNvPr name="Freeform 17" id="17"/>
            <p:cNvSpPr/>
            <p:nvPr/>
          </p:nvSpPr>
          <p:spPr>
            <a:xfrm flipH="false" flipV="false" rot="0">
              <a:off x="0" y="0"/>
              <a:ext cx="2945698" cy="2748103"/>
            </a:xfrm>
            <a:custGeom>
              <a:avLst/>
              <a:gdLst/>
              <a:ahLst/>
              <a:cxnLst/>
              <a:rect r="r" b="b" t="t" l="l"/>
              <a:pathLst>
                <a:path h="2748103" w="2945698">
                  <a:moveTo>
                    <a:pt x="0" y="0"/>
                  </a:moveTo>
                  <a:lnTo>
                    <a:pt x="2945698" y="0"/>
                  </a:lnTo>
                  <a:lnTo>
                    <a:pt x="2945698" y="2748103"/>
                  </a:lnTo>
                  <a:lnTo>
                    <a:pt x="0" y="2748103"/>
                  </a:lnTo>
                  <a:close/>
                </a:path>
              </a:pathLst>
            </a:custGeom>
            <a:solidFill>
              <a:srgbClr val="000000">
                <a:alpha val="40000"/>
              </a:srgbClr>
            </a:solidFill>
          </p:spPr>
        </p:sp>
        <p:sp>
          <p:nvSpPr>
            <p:cNvPr name="TextBox 18" id="18"/>
            <p:cNvSpPr txBox="true"/>
            <p:nvPr/>
          </p:nvSpPr>
          <p:spPr>
            <a:xfrm>
              <a:off x="0" y="-9525"/>
              <a:ext cx="2945698" cy="2757628"/>
            </a:xfrm>
            <a:prstGeom prst="rect">
              <a:avLst/>
            </a:prstGeom>
          </p:spPr>
          <p:txBody>
            <a:bodyPr anchor="ctr" rtlCol="false" tIns="50800" lIns="50800" bIns="50800" rIns="50800"/>
            <a:lstStyle/>
            <a:p>
              <a:pPr algn="ctr">
                <a:lnSpc>
                  <a:spcPts val="2538"/>
                </a:lnSpc>
              </a:pPr>
            </a:p>
          </p:txBody>
        </p:sp>
      </p:grpSp>
      <p:grpSp>
        <p:nvGrpSpPr>
          <p:cNvPr name="Group 19" id="19"/>
          <p:cNvGrpSpPr/>
          <p:nvPr/>
        </p:nvGrpSpPr>
        <p:grpSpPr>
          <a:xfrm rot="0">
            <a:off x="1101565" y="573605"/>
            <a:ext cx="9233397" cy="8800039"/>
            <a:chOff x="0" y="0"/>
            <a:chExt cx="12311196" cy="11733386"/>
          </a:xfrm>
        </p:grpSpPr>
        <p:grpSp>
          <p:nvGrpSpPr>
            <p:cNvPr name="Group 20" id="20"/>
            <p:cNvGrpSpPr/>
            <p:nvPr/>
          </p:nvGrpSpPr>
          <p:grpSpPr>
            <a:xfrm rot="0">
              <a:off x="136940" y="2669495"/>
              <a:ext cx="12037316" cy="9063891"/>
              <a:chOff x="0" y="0"/>
              <a:chExt cx="2377741" cy="1790398"/>
            </a:xfrm>
          </p:grpSpPr>
          <p:sp>
            <p:nvSpPr>
              <p:cNvPr name="Freeform 21" id="21"/>
              <p:cNvSpPr/>
              <p:nvPr/>
            </p:nvSpPr>
            <p:spPr>
              <a:xfrm flipH="false" flipV="false" rot="0">
                <a:off x="0" y="0"/>
                <a:ext cx="2377741" cy="1790398"/>
              </a:xfrm>
              <a:custGeom>
                <a:avLst/>
                <a:gdLst/>
                <a:ahLst/>
                <a:cxnLst/>
                <a:rect r="r" b="b" t="t" l="l"/>
                <a:pathLst>
                  <a:path h="1790398" w="2377741">
                    <a:moveTo>
                      <a:pt x="0" y="0"/>
                    </a:moveTo>
                    <a:lnTo>
                      <a:pt x="2377741" y="0"/>
                    </a:lnTo>
                    <a:lnTo>
                      <a:pt x="2377741" y="1790398"/>
                    </a:lnTo>
                    <a:lnTo>
                      <a:pt x="0" y="1790398"/>
                    </a:lnTo>
                    <a:close/>
                  </a:path>
                </a:pathLst>
              </a:custGeom>
              <a:solidFill>
                <a:srgbClr val="0D2A4E">
                  <a:alpha val="80000"/>
                </a:srgbClr>
              </a:solidFill>
            </p:spPr>
          </p:sp>
          <p:sp>
            <p:nvSpPr>
              <p:cNvPr name="TextBox 22" id="22"/>
              <p:cNvSpPr txBox="true"/>
              <p:nvPr/>
            </p:nvSpPr>
            <p:spPr>
              <a:xfrm>
                <a:off x="0" y="-114300"/>
                <a:ext cx="2377741" cy="1904698"/>
              </a:xfrm>
              <a:prstGeom prst="rect">
                <a:avLst/>
              </a:prstGeom>
            </p:spPr>
            <p:txBody>
              <a:bodyPr anchor="ctr" rtlCol="false" tIns="50800" lIns="50800" bIns="50800" rIns="50800"/>
              <a:lstStyle/>
              <a:p>
                <a:pPr algn="ctr">
                  <a:lnSpc>
                    <a:spcPts val="2700"/>
                  </a:lnSpc>
                </a:pPr>
              </a:p>
            </p:txBody>
          </p:sp>
        </p:grpSp>
        <p:sp>
          <p:nvSpPr>
            <p:cNvPr name="Freeform 23" id="23"/>
            <p:cNvSpPr/>
            <p:nvPr/>
          </p:nvSpPr>
          <p:spPr>
            <a:xfrm flipH="false" flipV="false" rot="0">
              <a:off x="594523" y="3156796"/>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594523" y="5369556"/>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594523" y="7257714"/>
              <a:ext cx="1492968" cy="1689573"/>
            </a:xfrm>
            <a:custGeom>
              <a:avLst/>
              <a:gdLst/>
              <a:ahLst/>
              <a:cxnLst/>
              <a:rect r="r" b="b" t="t" l="l"/>
              <a:pathLst>
                <a:path h="1689573" w="1492968">
                  <a:moveTo>
                    <a:pt x="0" y="0"/>
                  </a:moveTo>
                  <a:lnTo>
                    <a:pt x="1492968" y="0"/>
                  </a:lnTo>
                  <a:lnTo>
                    <a:pt x="1492968" y="1689572"/>
                  </a:lnTo>
                  <a:lnTo>
                    <a:pt x="0" y="168957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594523" y="9506086"/>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3017478" y="5360031"/>
              <a:ext cx="7763526" cy="13811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Area Sales Manager, Area Marketing Manager</a:t>
              </a:r>
            </a:p>
          </p:txBody>
        </p:sp>
        <p:sp>
          <p:nvSpPr>
            <p:cNvPr name="TextBox 28" id="28"/>
            <p:cNvSpPr txBox="true"/>
            <p:nvPr/>
          </p:nvSpPr>
          <p:spPr>
            <a:xfrm rot="0">
              <a:off x="3017478" y="3568719"/>
              <a:ext cx="6682640" cy="695325"/>
            </a:xfrm>
            <a:prstGeom prst="rect">
              <a:avLst/>
            </a:prstGeom>
          </p:spPr>
          <p:txBody>
            <a:bodyPr anchor="t" rtlCol="false" tIns="0" lIns="0" bIns="0" rIns="0">
              <a:spAutoFit/>
            </a:bodyPr>
            <a:lstStyle/>
            <a:p>
              <a:pPr algn="l">
                <a:lnSpc>
                  <a:spcPts val="4079"/>
                </a:lnSpc>
              </a:pPr>
              <a:r>
                <a:rPr lang="en-US" sz="3399" spc="33">
                  <a:solidFill>
                    <a:srgbClr val="FFFFFF"/>
                  </a:solidFill>
                  <a:latin typeface="Mont 1"/>
                  <a:ea typeface="Mont 1"/>
                  <a:cs typeface="Mont 1"/>
                  <a:sym typeface="Mont 1"/>
                </a:rPr>
                <a:t>August 2026</a:t>
              </a:r>
            </a:p>
          </p:txBody>
        </p:sp>
        <p:sp>
          <p:nvSpPr>
            <p:cNvPr name="TextBox 29" id="29"/>
            <p:cNvSpPr txBox="true"/>
            <p:nvPr/>
          </p:nvSpPr>
          <p:spPr>
            <a:xfrm rot="0">
              <a:off x="3017478" y="7692875"/>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40 Participants</a:t>
              </a:r>
            </a:p>
          </p:txBody>
        </p:sp>
        <p:sp>
          <p:nvSpPr>
            <p:cNvPr name="TextBox 30" id="30"/>
            <p:cNvSpPr txBox="true"/>
            <p:nvPr/>
          </p:nvSpPr>
          <p:spPr>
            <a:xfrm rot="0">
              <a:off x="3017478" y="9960274"/>
              <a:ext cx="9156778"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Finance</a:t>
              </a:r>
            </a:p>
          </p:txBody>
        </p:sp>
        <p:sp>
          <p:nvSpPr>
            <p:cNvPr name="TextBox 31" id="31"/>
            <p:cNvSpPr txBox="true"/>
            <p:nvPr/>
          </p:nvSpPr>
          <p:spPr>
            <a:xfrm rot="0">
              <a:off x="0" y="-152400"/>
              <a:ext cx="12311196" cy="21336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PT Gawih Jaya</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0" y="6020105"/>
            <a:ext cx="10957072" cy="4305267"/>
          </a:xfrm>
          <a:custGeom>
            <a:avLst/>
            <a:gdLst/>
            <a:ahLst/>
            <a:cxnLst/>
            <a:rect r="r" b="b" t="t" l="l"/>
            <a:pathLst>
              <a:path h="4305267" w="10957072">
                <a:moveTo>
                  <a:pt x="0" y="0"/>
                </a:moveTo>
                <a:lnTo>
                  <a:pt x="10957072" y="0"/>
                </a:lnTo>
                <a:lnTo>
                  <a:pt x="10957072" y="4305267"/>
                </a:lnTo>
                <a:lnTo>
                  <a:pt x="0" y="4305267"/>
                </a:lnTo>
                <a:lnTo>
                  <a:pt x="0" y="0"/>
                </a:lnTo>
                <a:close/>
              </a:path>
            </a:pathLst>
          </a:custGeom>
          <a:blipFill>
            <a:blip r:embed="rId3"/>
            <a:stretch>
              <a:fillRect l="0" t="-90877" r="0" b="0"/>
            </a:stretch>
          </a:blipFill>
        </p:spPr>
      </p:sp>
      <p:sp>
        <p:nvSpPr>
          <p:cNvPr name="Freeform 4" id="4"/>
          <p:cNvSpPr/>
          <p:nvPr/>
        </p:nvSpPr>
        <p:spPr>
          <a:xfrm flipH="false" flipV="false" rot="0">
            <a:off x="0" y="0"/>
            <a:ext cx="4796222" cy="6394962"/>
          </a:xfrm>
          <a:custGeom>
            <a:avLst/>
            <a:gdLst/>
            <a:ahLst/>
            <a:cxnLst/>
            <a:rect r="r" b="b" t="t" l="l"/>
            <a:pathLst>
              <a:path h="6394962" w="4796222">
                <a:moveTo>
                  <a:pt x="0" y="0"/>
                </a:moveTo>
                <a:lnTo>
                  <a:pt x="4796222" y="0"/>
                </a:lnTo>
                <a:lnTo>
                  <a:pt x="4796222" y="6394962"/>
                </a:lnTo>
                <a:lnTo>
                  <a:pt x="0" y="6394962"/>
                </a:lnTo>
                <a:lnTo>
                  <a:pt x="0" y="0"/>
                </a:lnTo>
                <a:close/>
              </a:path>
            </a:pathLst>
          </a:custGeom>
          <a:blipFill>
            <a:blip r:embed="rId4"/>
            <a:stretch>
              <a:fillRect l="0" t="0" r="0" b="0"/>
            </a:stretch>
          </a:blipFill>
        </p:spPr>
      </p:sp>
      <p:sp>
        <p:nvSpPr>
          <p:cNvPr name="Freeform 5" id="5"/>
          <p:cNvSpPr/>
          <p:nvPr/>
        </p:nvSpPr>
        <p:spPr>
          <a:xfrm flipH="false" flipV="false" rot="0">
            <a:off x="3736631" y="-2211484"/>
            <a:ext cx="4504591" cy="8606446"/>
          </a:xfrm>
          <a:custGeom>
            <a:avLst/>
            <a:gdLst/>
            <a:ahLst/>
            <a:cxnLst/>
            <a:rect r="r" b="b" t="t" l="l"/>
            <a:pathLst>
              <a:path h="8606446" w="4504591">
                <a:moveTo>
                  <a:pt x="0" y="0"/>
                </a:moveTo>
                <a:lnTo>
                  <a:pt x="4504591" y="0"/>
                </a:lnTo>
                <a:lnTo>
                  <a:pt x="4504591" y="8606446"/>
                </a:lnTo>
                <a:lnTo>
                  <a:pt x="0" y="8606446"/>
                </a:lnTo>
                <a:lnTo>
                  <a:pt x="0" y="0"/>
                </a:lnTo>
                <a:close/>
              </a:path>
            </a:pathLst>
          </a:custGeom>
          <a:blipFill>
            <a:blip r:embed="rId5"/>
            <a:stretch>
              <a:fillRect l="-21647" t="0" r="-21647" b="0"/>
            </a:stretch>
          </a:blipFill>
        </p:spPr>
      </p:sp>
      <p:grpSp>
        <p:nvGrpSpPr>
          <p:cNvPr name="Group 6" id="6"/>
          <p:cNvGrpSpPr/>
          <p:nvPr/>
        </p:nvGrpSpPr>
        <p:grpSpPr>
          <a:xfrm rot="0">
            <a:off x="-2600325" y="2621146"/>
            <a:ext cx="10841547" cy="10434202"/>
            <a:chOff x="0" y="0"/>
            <a:chExt cx="2855387" cy="2748103"/>
          </a:xfrm>
        </p:grpSpPr>
        <p:sp>
          <p:nvSpPr>
            <p:cNvPr name="Freeform 7" id="7"/>
            <p:cNvSpPr/>
            <p:nvPr/>
          </p:nvSpPr>
          <p:spPr>
            <a:xfrm flipH="false" flipV="false" rot="0">
              <a:off x="0" y="0"/>
              <a:ext cx="2855387" cy="2748103"/>
            </a:xfrm>
            <a:custGeom>
              <a:avLst/>
              <a:gdLst/>
              <a:ahLst/>
              <a:cxnLst/>
              <a:rect r="r" b="b" t="t" l="l"/>
              <a:pathLst>
                <a:path h="2748103" w="2855387">
                  <a:moveTo>
                    <a:pt x="0" y="0"/>
                  </a:moveTo>
                  <a:lnTo>
                    <a:pt x="2855387" y="0"/>
                  </a:lnTo>
                  <a:lnTo>
                    <a:pt x="2855387" y="2748103"/>
                  </a:lnTo>
                  <a:lnTo>
                    <a:pt x="0" y="2748103"/>
                  </a:lnTo>
                  <a:close/>
                </a:path>
              </a:pathLst>
            </a:custGeom>
            <a:solidFill>
              <a:srgbClr val="000000">
                <a:alpha val="40000"/>
              </a:srgbClr>
            </a:solidFill>
          </p:spPr>
        </p:sp>
        <p:sp>
          <p:nvSpPr>
            <p:cNvPr name="TextBox 8" id="8"/>
            <p:cNvSpPr txBox="true"/>
            <p:nvPr/>
          </p:nvSpPr>
          <p:spPr>
            <a:xfrm>
              <a:off x="0" y="-9525"/>
              <a:ext cx="2855387" cy="2757628"/>
            </a:xfrm>
            <a:prstGeom prst="rect">
              <a:avLst/>
            </a:prstGeom>
          </p:spPr>
          <p:txBody>
            <a:bodyPr anchor="ctr" rtlCol="false" tIns="50800" lIns="50800" bIns="50800" rIns="50800"/>
            <a:lstStyle/>
            <a:p>
              <a:pPr algn="ctr">
                <a:lnSpc>
                  <a:spcPts val="2538"/>
                </a:lnSpc>
              </a:pPr>
            </a:p>
          </p:txBody>
        </p:sp>
      </p:grpSp>
      <p:sp>
        <p:nvSpPr>
          <p:cNvPr name="Freeform 9" id="9"/>
          <p:cNvSpPr/>
          <p:nvPr/>
        </p:nvSpPr>
        <p:spPr>
          <a:xfrm flipH="false" flipV="false" rot="0">
            <a:off x="7009508" y="-81514"/>
            <a:ext cx="3947564" cy="6101619"/>
          </a:xfrm>
          <a:custGeom>
            <a:avLst/>
            <a:gdLst/>
            <a:ahLst/>
            <a:cxnLst/>
            <a:rect r="r" b="b" t="t" l="l"/>
            <a:pathLst>
              <a:path h="6101619" w="3947564">
                <a:moveTo>
                  <a:pt x="0" y="0"/>
                </a:moveTo>
                <a:lnTo>
                  <a:pt x="3947564" y="0"/>
                </a:lnTo>
                <a:lnTo>
                  <a:pt x="3947564" y="6101619"/>
                </a:lnTo>
                <a:lnTo>
                  <a:pt x="0" y="6101619"/>
                </a:lnTo>
                <a:lnTo>
                  <a:pt x="0" y="0"/>
                </a:lnTo>
                <a:close/>
              </a:path>
            </a:pathLst>
          </a:custGeom>
          <a:blipFill>
            <a:blip r:embed="rId6"/>
            <a:stretch>
              <a:fillRect l="-15925" t="0" r="0" b="0"/>
            </a:stretch>
          </a:blipFill>
        </p:spPr>
      </p:sp>
      <p:grpSp>
        <p:nvGrpSpPr>
          <p:cNvPr name="Group 10" id="10"/>
          <p:cNvGrpSpPr/>
          <p:nvPr/>
        </p:nvGrpSpPr>
        <p:grpSpPr>
          <a:xfrm rot="0">
            <a:off x="-227374" y="-147202"/>
            <a:ext cx="11184447" cy="10434202"/>
            <a:chOff x="0" y="0"/>
            <a:chExt cx="2945698" cy="2748103"/>
          </a:xfrm>
        </p:grpSpPr>
        <p:sp>
          <p:nvSpPr>
            <p:cNvPr name="Freeform 11" id="11"/>
            <p:cNvSpPr/>
            <p:nvPr/>
          </p:nvSpPr>
          <p:spPr>
            <a:xfrm flipH="false" flipV="false" rot="0">
              <a:off x="0" y="0"/>
              <a:ext cx="2945698" cy="2748103"/>
            </a:xfrm>
            <a:custGeom>
              <a:avLst/>
              <a:gdLst/>
              <a:ahLst/>
              <a:cxnLst/>
              <a:rect r="r" b="b" t="t" l="l"/>
              <a:pathLst>
                <a:path h="2748103" w="2945698">
                  <a:moveTo>
                    <a:pt x="0" y="0"/>
                  </a:moveTo>
                  <a:lnTo>
                    <a:pt x="2945698" y="0"/>
                  </a:lnTo>
                  <a:lnTo>
                    <a:pt x="2945698" y="2748103"/>
                  </a:lnTo>
                  <a:lnTo>
                    <a:pt x="0" y="2748103"/>
                  </a:lnTo>
                  <a:close/>
                </a:path>
              </a:pathLst>
            </a:custGeom>
            <a:solidFill>
              <a:srgbClr val="000000">
                <a:alpha val="40000"/>
              </a:srgbClr>
            </a:solidFill>
          </p:spPr>
        </p:sp>
        <p:sp>
          <p:nvSpPr>
            <p:cNvPr name="TextBox 12" id="12"/>
            <p:cNvSpPr txBox="true"/>
            <p:nvPr/>
          </p:nvSpPr>
          <p:spPr>
            <a:xfrm>
              <a:off x="0" y="-9525"/>
              <a:ext cx="2945698" cy="2757628"/>
            </a:xfrm>
            <a:prstGeom prst="rect">
              <a:avLst/>
            </a:prstGeom>
          </p:spPr>
          <p:txBody>
            <a:bodyPr anchor="ctr" rtlCol="false" tIns="50800" lIns="50800" bIns="50800" rIns="50800"/>
            <a:lstStyle/>
            <a:p>
              <a:pPr algn="ctr">
                <a:lnSpc>
                  <a:spcPts val="2538"/>
                </a:lnSpc>
              </a:pPr>
            </a:p>
          </p:txBody>
        </p:sp>
      </p:grpSp>
      <p:grpSp>
        <p:nvGrpSpPr>
          <p:cNvPr name="Group 13" id="13"/>
          <p:cNvGrpSpPr/>
          <p:nvPr/>
        </p:nvGrpSpPr>
        <p:grpSpPr>
          <a:xfrm rot="0">
            <a:off x="1131405" y="2621146"/>
            <a:ext cx="9027987" cy="6797918"/>
            <a:chOff x="0" y="0"/>
            <a:chExt cx="12037316" cy="9063891"/>
          </a:xfrm>
        </p:grpSpPr>
        <p:grpSp>
          <p:nvGrpSpPr>
            <p:cNvPr name="Group 14" id="14"/>
            <p:cNvGrpSpPr/>
            <p:nvPr/>
          </p:nvGrpSpPr>
          <p:grpSpPr>
            <a:xfrm rot="0">
              <a:off x="0" y="0"/>
              <a:ext cx="12037316" cy="9063891"/>
              <a:chOff x="0" y="0"/>
              <a:chExt cx="2377741" cy="1790398"/>
            </a:xfrm>
          </p:grpSpPr>
          <p:sp>
            <p:nvSpPr>
              <p:cNvPr name="Freeform 15" id="15"/>
              <p:cNvSpPr/>
              <p:nvPr/>
            </p:nvSpPr>
            <p:spPr>
              <a:xfrm flipH="false" flipV="false" rot="0">
                <a:off x="0" y="0"/>
                <a:ext cx="2377741" cy="1790398"/>
              </a:xfrm>
              <a:custGeom>
                <a:avLst/>
                <a:gdLst/>
                <a:ahLst/>
                <a:cxnLst/>
                <a:rect r="r" b="b" t="t" l="l"/>
                <a:pathLst>
                  <a:path h="1790398" w="2377741">
                    <a:moveTo>
                      <a:pt x="0" y="0"/>
                    </a:moveTo>
                    <a:lnTo>
                      <a:pt x="2377741" y="0"/>
                    </a:lnTo>
                    <a:lnTo>
                      <a:pt x="2377741" y="1790398"/>
                    </a:lnTo>
                    <a:lnTo>
                      <a:pt x="0" y="1790398"/>
                    </a:lnTo>
                    <a:close/>
                  </a:path>
                </a:pathLst>
              </a:custGeom>
              <a:solidFill>
                <a:srgbClr val="0D2A4E">
                  <a:alpha val="80000"/>
                </a:srgbClr>
              </a:solidFill>
            </p:spPr>
          </p:sp>
          <p:sp>
            <p:nvSpPr>
              <p:cNvPr name="TextBox 16" id="16"/>
              <p:cNvSpPr txBox="true"/>
              <p:nvPr/>
            </p:nvSpPr>
            <p:spPr>
              <a:xfrm>
                <a:off x="0" y="-114300"/>
                <a:ext cx="2377741" cy="1904698"/>
              </a:xfrm>
              <a:prstGeom prst="rect">
                <a:avLst/>
              </a:prstGeom>
            </p:spPr>
            <p:txBody>
              <a:bodyPr anchor="ctr" rtlCol="false" tIns="50800" lIns="50800" bIns="50800" rIns="50800"/>
              <a:lstStyle/>
              <a:p>
                <a:pPr algn="ctr">
                  <a:lnSpc>
                    <a:spcPts val="2700"/>
                  </a:lnSpc>
                </a:pPr>
              </a:p>
            </p:txBody>
          </p:sp>
        </p:grpSp>
        <p:sp>
          <p:nvSpPr>
            <p:cNvPr name="Freeform 17" id="17"/>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1" id="21"/>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Individual from SME</a:t>
              </a:r>
            </a:p>
          </p:txBody>
        </p:sp>
        <p:sp>
          <p:nvSpPr>
            <p:cNvPr name="TextBox 22" id="22"/>
            <p:cNvSpPr txBox="true"/>
            <p:nvPr/>
          </p:nvSpPr>
          <p:spPr>
            <a:xfrm rot="0">
              <a:off x="2880538" y="899223"/>
              <a:ext cx="6682640" cy="695325"/>
            </a:xfrm>
            <a:prstGeom prst="rect">
              <a:avLst/>
            </a:prstGeom>
          </p:spPr>
          <p:txBody>
            <a:bodyPr anchor="t" rtlCol="false" tIns="0" lIns="0" bIns="0" rIns="0">
              <a:spAutoFit/>
            </a:bodyPr>
            <a:lstStyle/>
            <a:p>
              <a:pPr algn="l">
                <a:lnSpc>
                  <a:spcPts val="4079"/>
                </a:lnSpc>
              </a:pPr>
              <a:r>
                <a:rPr lang="en-US" sz="3399" spc="33">
                  <a:solidFill>
                    <a:srgbClr val="FFFFFF"/>
                  </a:solidFill>
                  <a:latin typeface="Mont 1"/>
                  <a:ea typeface="Mont 1"/>
                  <a:cs typeface="Mont 1"/>
                  <a:sym typeface="Mont 1"/>
                </a:rPr>
                <a:t>April 2026</a:t>
              </a:r>
            </a:p>
          </p:txBody>
        </p:sp>
        <p:sp>
          <p:nvSpPr>
            <p:cNvPr name="TextBox 23" id="23"/>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110 Participants</a:t>
              </a:r>
            </a:p>
          </p:txBody>
        </p:sp>
        <p:sp>
          <p:nvSpPr>
            <p:cNvPr name="TextBox 24" id="24"/>
            <p:cNvSpPr txBox="true"/>
            <p:nvPr/>
          </p:nvSpPr>
          <p:spPr>
            <a:xfrm rot="0">
              <a:off x="2880538" y="7290779"/>
              <a:ext cx="9156778"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Financial</a:t>
              </a:r>
            </a:p>
          </p:txBody>
        </p:sp>
      </p:grpSp>
      <p:sp>
        <p:nvSpPr>
          <p:cNvPr name="Freeform 25" id="25"/>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26" id="26"/>
          <p:cNvSpPr/>
          <p:nvPr/>
        </p:nvSpPr>
        <p:spPr>
          <a:xfrm flipH="false" flipV="false" rot="0">
            <a:off x="14505917" y="473547"/>
            <a:ext cx="3180551" cy="835374"/>
          </a:xfrm>
          <a:custGeom>
            <a:avLst/>
            <a:gdLst/>
            <a:ahLst/>
            <a:cxnLst/>
            <a:rect r="r" b="b" t="t" l="l"/>
            <a:pathLst>
              <a:path h="835374" w="3180551">
                <a:moveTo>
                  <a:pt x="0" y="0"/>
                </a:moveTo>
                <a:lnTo>
                  <a:pt x="3180551" y="0"/>
                </a:lnTo>
                <a:lnTo>
                  <a:pt x="3180551" y="835374"/>
                </a:lnTo>
                <a:lnTo>
                  <a:pt x="0" y="835374"/>
                </a:lnTo>
                <a:lnTo>
                  <a:pt x="0" y="0"/>
                </a:lnTo>
                <a:close/>
              </a:path>
            </a:pathLst>
          </a:custGeom>
          <a:blipFill>
            <a:blip r:embed="rId15"/>
            <a:stretch>
              <a:fillRect l="0" t="0" r="0" b="0"/>
            </a:stretch>
          </a:blipFill>
        </p:spPr>
      </p:sp>
      <p:sp>
        <p:nvSpPr>
          <p:cNvPr name="TextBox 27" id="27"/>
          <p:cNvSpPr txBox="true"/>
          <p:nvPr/>
        </p:nvSpPr>
        <p:spPr>
          <a:xfrm rot="0">
            <a:off x="11194425" y="1702583"/>
            <a:ext cx="6622984" cy="7208520"/>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Fund</a:t>
            </a:r>
            <a:r>
              <a:rPr lang="en-US" b="true" sz="2199" spc="21">
                <a:solidFill>
                  <a:srgbClr val="FFFFFF"/>
                </a:solidFill>
                <a:latin typeface="Mont 1 Bold"/>
                <a:ea typeface="Mont 1 Bold"/>
                <a:cs typeface="Mont 1 Bold"/>
                <a:sym typeface="Mont 1 Bold"/>
              </a:rPr>
              <a:t>amental Financ</a:t>
            </a:r>
            <a:r>
              <a:rPr lang="en-US" b="true" sz="2199" spc="21">
                <a:solidFill>
                  <a:srgbClr val="FFFFFF"/>
                </a:solidFill>
                <a:latin typeface="Mont 1 Bold"/>
                <a:ea typeface="Mont 1 Bold"/>
                <a:cs typeface="Mont 1 Bold"/>
                <a:sym typeface="Mont 1 Bold"/>
              </a:rPr>
              <a:t>ial Literacy and Management, </a:t>
            </a:r>
            <a:r>
              <a:rPr lang="en-US" sz="2199" spc="21">
                <a:solidFill>
                  <a:srgbClr val="FFFFFF"/>
                </a:solidFill>
                <a:latin typeface="Mont 1"/>
                <a:ea typeface="Mont 1"/>
                <a:cs typeface="Mont 1"/>
                <a:sym typeface="Mont 1"/>
              </a:rPr>
              <a:t>Understanding essential accounting principles and the importance of disciplined financial recording to prevent business bankruptcy.</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Digit</a:t>
            </a:r>
            <a:r>
              <a:rPr lang="en-US" b="true" sz="2199" spc="21">
                <a:solidFill>
                  <a:srgbClr val="FFFFFF"/>
                </a:solidFill>
                <a:latin typeface="Mont 1 Bold"/>
                <a:ea typeface="Mont 1 Bold"/>
                <a:cs typeface="Mont 1 Bold"/>
                <a:sym typeface="Mont 1 Bold"/>
              </a:rPr>
              <a:t>al Point of Sales Integration , </a:t>
            </a:r>
            <a:r>
              <a:rPr lang="en-US" sz="2199" spc="21">
                <a:solidFill>
                  <a:srgbClr val="FFFFFF"/>
                </a:solidFill>
                <a:latin typeface="Mont 1"/>
                <a:ea typeface="Mont 1"/>
                <a:cs typeface="Mont 1"/>
                <a:sym typeface="Mont 1"/>
              </a:rPr>
              <a:t>Implementing digital cashier systems to automate sales transactions, stock management, and real-time financial reporting.</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St</a:t>
            </a:r>
            <a:r>
              <a:rPr lang="en-US" b="true" sz="2199" spc="21">
                <a:solidFill>
                  <a:srgbClr val="FFFFFF"/>
                </a:solidFill>
                <a:latin typeface="Mont 1 Bold"/>
                <a:ea typeface="Mont 1 Bold"/>
                <a:cs typeface="Mont 1 Bold"/>
                <a:sym typeface="Mont 1 Bold"/>
              </a:rPr>
              <a:t>rategic Business Cash Flow Separation</a:t>
            </a:r>
            <a:r>
              <a:rPr lang="en-US" sz="2199" spc="21">
                <a:solidFill>
                  <a:srgbClr val="FFFFFF"/>
                </a:solidFill>
                <a:latin typeface="Mont 1"/>
                <a:ea typeface="Mont 1"/>
                <a:cs typeface="Mont 1"/>
                <a:sym typeface="Mont 1"/>
              </a:rPr>
              <a:t>, Mastering techniques to separate personal and business finances for better capital control and sustainability.</a:t>
            </a:r>
          </a:p>
        </p:txBody>
      </p:sp>
      <p:sp>
        <p:nvSpPr>
          <p:cNvPr name="TextBox 28" id="28"/>
          <p:cNvSpPr txBox="true"/>
          <p:nvPr/>
        </p:nvSpPr>
        <p:spPr>
          <a:xfrm rot="0">
            <a:off x="1028700" y="466625"/>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PT Kasir Pintar International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0" y="0"/>
            <a:ext cx="4109283" cy="2739522"/>
          </a:xfrm>
          <a:custGeom>
            <a:avLst/>
            <a:gdLst/>
            <a:ahLst/>
            <a:cxnLst/>
            <a:rect r="r" b="b" t="t" l="l"/>
            <a:pathLst>
              <a:path h="2739522" w="4109283">
                <a:moveTo>
                  <a:pt x="0" y="0"/>
                </a:moveTo>
                <a:lnTo>
                  <a:pt x="4109283" y="0"/>
                </a:lnTo>
                <a:lnTo>
                  <a:pt x="4109283" y="2739522"/>
                </a:lnTo>
                <a:lnTo>
                  <a:pt x="0" y="2739522"/>
                </a:lnTo>
                <a:lnTo>
                  <a:pt x="0" y="0"/>
                </a:lnTo>
                <a:close/>
              </a:path>
            </a:pathLst>
          </a:custGeom>
          <a:blipFill>
            <a:blip r:embed="rId3"/>
            <a:stretch>
              <a:fillRect l="0" t="0" r="0" b="0"/>
            </a:stretch>
          </a:blipFill>
        </p:spPr>
      </p:sp>
      <p:sp>
        <p:nvSpPr>
          <p:cNvPr name="Freeform 5" id="5"/>
          <p:cNvSpPr/>
          <p:nvPr/>
        </p:nvSpPr>
        <p:spPr>
          <a:xfrm flipH="false" flipV="false" rot="0">
            <a:off x="4109283" y="0"/>
            <a:ext cx="4870261" cy="2739522"/>
          </a:xfrm>
          <a:custGeom>
            <a:avLst/>
            <a:gdLst/>
            <a:ahLst/>
            <a:cxnLst/>
            <a:rect r="r" b="b" t="t" l="l"/>
            <a:pathLst>
              <a:path h="2739522" w="4870261">
                <a:moveTo>
                  <a:pt x="0" y="0"/>
                </a:moveTo>
                <a:lnTo>
                  <a:pt x="4870260" y="0"/>
                </a:lnTo>
                <a:lnTo>
                  <a:pt x="4870260" y="2739522"/>
                </a:lnTo>
                <a:lnTo>
                  <a:pt x="0" y="2739522"/>
                </a:lnTo>
                <a:lnTo>
                  <a:pt x="0" y="0"/>
                </a:lnTo>
                <a:close/>
              </a:path>
            </a:pathLst>
          </a:custGeom>
          <a:blipFill>
            <a:blip r:embed="rId4"/>
            <a:stretch>
              <a:fillRect l="0" t="0" r="0" b="0"/>
            </a:stretch>
          </a:blipFill>
        </p:spPr>
      </p:sp>
      <p:sp>
        <p:nvSpPr>
          <p:cNvPr name="Freeform 6" id="6"/>
          <p:cNvSpPr/>
          <p:nvPr/>
        </p:nvSpPr>
        <p:spPr>
          <a:xfrm flipH="false" flipV="false" rot="0">
            <a:off x="8726494" y="-15572"/>
            <a:ext cx="2066321" cy="2755094"/>
          </a:xfrm>
          <a:custGeom>
            <a:avLst/>
            <a:gdLst/>
            <a:ahLst/>
            <a:cxnLst/>
            <a:rect r="r" b="b" t="t" l="l"/>
            <a:pathLst>
              <a:path h="2755094" w="2066321">
                <a:moveTo>
                  <a:pt x="0" y="0"/>
                </a:moveTo>
                <a:lnTo>
                  <a:pt x="2066321" y="0"/>
                </a:lnTo>
                <a:lnTo>
                  <a:pt x="2066321" y="2755094"/>
                </a:lnTo>
                <a:lnTo>
                  <a:pt x="0" y="2755094"/>
                </a:lnTo>
                <a:lnTo>
                  <a:pt x="0" y="0"/>
                </a:lnTo>
                <a:close/>
              </a:path>
            </a:pathLst>
          </a:custGeom>
          <a:blipFill>
            <a:blip r:embed="rId5"/>
            <a:stretch>
              <a:fillRect l="0" t="0" r="0" b="0"/>
            </a:stretch>
          </a:blipFill>
        </p:spPr>
      </p:sp>
      <p:sp>
        <p:nvSpPr>
          <p:cNvPr name="Freeform 7" id="7"/>
          <p:cNvSpPr/>
          <p:nvPr/>
        </p:nvSpPr>
        <p:spPr>
          <a:xfrm flipH="false" flipV="false" rot="0">
            <a:off x="-64755" y="2715394"/>
            <a:ext cx="6609168" cy="2738852"/>
          </a:xfrm>
          <a:custGeom>
            <a:avLst/>
            <a:gdLst/>
            <a:ahLst/>
            <a:cxnLst/>
            <a:rect r="r" b="b" t="t" l="l"/>
            <a:pathLst>
              <a:path h="2738852" w="6609168">
                <a:moveTo>
                  <a:pt x="0" y="0"/>
                </a:moveTo>
                <a:lnTo>
                  <a:pt x="6609168" y="0"/>
                </a:lnTo>
                <a:lnTo>
                  <a:pt x="6609168" y="2738851"/>
                </a:lnTo>
                <a:lnTo>
                  <a:pt x="0" y="2738851"/>
                </a:lnTo>
                <a:lnTo>
                  <a:pt x="0" y="0"/>
                </a:lnTo>
                <a:close/>
              </a:path>
            </a:pathLst>
          </a:custGeom>
          <a:blipFill>
            <a:blip r:embed="rId6"/>
            <a:stretch>
              <a:fillRect l="0" t="-80983" r="0" b="0"/>
            </a:stretch>
          </a:blipFill>
        </p:spPr>
      </p:sp>
      <p:sp>
        <p:nvSpPr>
          <p:cNvPr name="Freeform 8" id="8"/>
          <p:cNvSpPr/>
          <p:nvPr/>
        </p:nvSpPr>
        <p:spPr>
          <a:xfrm flipH="false" flipV="false" rot="0">
            <a:off x="6544413" y="2571414"/>
            <a:ext cx="4248402" cy="3186301"/>
          </a:xfrm>
          <a:custGeom>
            <a:avLst/>
            <a:gdLst/>
            <a:ahLst/>
            <a:cxnLst/>
            <a:rect r="r" b="b" t="t" l="l"/>
            <a:pathLst>
              <a:path h="3186301" w="4248402">
                <a:moveTo>
                  <a:pt x="0" y="0"/>
                </a:moveTo>
                <a:lnTo>
                  <a:pt x="4248402" y="0"/>
                </a:lnTo>
                <a:lnTo>
                  <a:pt x="4248402" y="3186301"/>
                </a:lnTo>
                <a:lnTo>
                  <a:pt x="0" y="3186301"/>
                </a:lnTo>
                <a:lnTo>
                  <a:pt x="0" y="0"/>
                </a:lnTo>
                <a:close/>
              </a:path>
            </a:pathLst>
          </a:custGeom>
          <a:blipFill>
            <a:blip r:embed="rId7"/>
            <a:stretch>
              <a:fillRect l="0" t="0" r="0" b="0"/>
            </a:stretch>
          </a:blipFill>
        </p:spPr>
      </p:sp>
      <p:sp>
        <p:nvSpPr>
          <p:cNvPr name="Freeform 9" id="9"/>
          <p:cNvSpPr/>
          <p:nvPr/>
        </p:nvSpPr>
        <p:spPr>
          <a:xfrm flipH="false" flipV="false" rot="0">
            <a:off x="-64755" y="5454245"/>
            <a:ext cx="6544413" cy="3254100"/>
          </a:xfrm>
          <a:custGeom>
            <a:avLst/>
            <a:gdLst/>
            <a:ahLst/>
            <a:cxnLst/>
            <a:rect r="r" b="b" t="t" l="l"/>
            <a:pathLst>
              <a:path h="3254100" w="6544413">
                <a:moveTo>
                  <a:pt x="0" y="0"/>
                </a:moveTo>
                <a:lnTo>
                  <a:pt x="6544413" y="0"/>
                </a:lnTo>
                <a:lnTo>
                  <a:pt x="6544413" y="3254101"/>
                </a:lnTo>
                <a:lnTo>
                  <a:pt x="0" y="3254101"/>
                </a:lnTo>
                <a:lnTo>
                  <a:pt x="0" y="0"/>
                </a:lnTo>
                <a:close/>
              </a:path>
            </a:pathLst>
          </a:custGeom>
          <a:blipFill>
            <a:blip r:embed="rId8"/>
            <a:stretch>
              <a:fillRect l="0" t="-26842" r="-12125" b="0"/>
            </a:stretch>
          </a:blipFill>
        </p:spPr>
      </p:sp>
      <p:sp>
        <p:nvSpPr>
          <p:cNvPr name="Freeform 10" id="10"/>
          <p:cNvSpPr/>
          <p:nvPr/>
        </p:nvSpPr>
        <p:spPr>
          <a:xfrm flipH="false" flipV="false" rot="0">
            <a:off x="6544413" y="5757715"/>
            <a:ext cx="4199670" cy="4668641"/>
          </a:xfrm>
          <a:custGeom>
            <a:avLst/>
            <a:gdLst/>
            <a:ahLst/>
            <a:cxnLst/>
            <a:rect r="r" b="b" t="t" l="l"/>
            <a:pathLst>
              <a:path h="4668641" w="4199670">
                <a:moveTo>
                  <a:pt x="0" y="0"/>
                </a:moveTo>
                <a:lnTo>
                  <a:pt x="4199670" y="0"/>
                </a:lnTo>
                <a:lnTo>
                  <a:pt x="4199670" y="4668641"/>
                </a:lnTo>
                <a:lnTo>
                  <a:pt x="0" y="4668641"/>
                </a:lnTo>
                <a:lnTo>
                  <a:pt x="0" y="0"/>
                </a:lnTo>
                <a:close/>
              </a:path>
            </a:pathLst>
          </a:custGeom>
          <a:blipFill>
            <a:blip r:embed="rId9"/>
            <a:stretch>
              <a:fillRect l="-28776" t="-65165" r="-8929" b="0"/>
            </a:stretch>
          </a:blipFill>
        </p:spPr>
      </p:sp>
      <p:sp>
        <p:nvSpPr>
          <p:cNvPr name="Freeform 11" id="11"/>
          <p:cNvSpPr/>
          <p:nvPr/>
        </p:nvSpPr>
        <p:spPr>
          <a:xfrm flipH="false" flipV="false" rot="0">
            <a:off x="-295736" y="8636742"/>
            <a:ext cx="11039819" cy="1963000"/>
          </a:xfrm>
          <a:custGeom>
            <a:avLst/>
            <a:gdLst/>
            <a:ahLst/>
            <a:cxnLst/>
            <a:rect r="r" b="b" t="t" l="l"/>
            <a:pathLst>
              <a:path h="1963000" w="11039819">
                <a:moveTo>
                  <a:pt x="0" y="0"/>
                </a:moveTo>
                <a:lnTo>
                  <a:pt x="11039819" y="0"/>
                </a:lnTo>
                <a:lnTo>
                  <a:pt x="11039819" y="1963001"/>
                </a:lnTo>
                <a:lnTo>
                  <a:pt x="0" y="1963001"/>
                </a:lnTo>
                <a:lnTo>
                  <a:pt x="0" y="0"/>
                </a:lnTo>
                <a:close/>
              </a:path>
            </a:pathLst>
          </a:custGeom>
          <a:blipFill>
            <a:blip r:embed="rId10"/>
            <a:stretch>
              <a:fillRect l="0" t="-177399" r="0" b="-97530"/>
            </a:stretch>
          </a:blipFill>
        </p:spPr>
      </p:sp>
      <p:grpSp>
        <p:nvGrpSpPr>
          <p:cNvPr name="Group 12" id="12"/>
          <p:cNvGrpSpPr/>
          <p:nvPr/>
        </p:nvGrpSpPr>
        <p:grpSpPr>
          <a:xfrm rot="0">
            <a:off x="-48732" y="-147202"/>
            <a:ext cx="10841547" cy="10434202"/>
            <a:chOff x="0" y="0"/>
            <a:chExt cx="2855387" cy="2748103"/>
          </a:xfrm>
        </p:grpSpPr>
        <p:sp>
          <p:nvSpPr>
            <p:cNvPr name="Freeform 13" id="13"/>
            <p:cNvSpPr/>
            <p:nvPr/>
          </p:nvSpPr>
          <p:spPr>
            <a:xfrm flipH="false" flipV="false" rot="0">
              <a:off x="0" y="0"/>
              <a:ext cx="2855387" cy="2748103"/>
            </a:xfrm>
            <a:custGeom>
              <a:avLst/>
              <a:gdLst/>
              <a:ahLst/>
              <a:cxnLst/>
              <a:rect r="r" b="b" t="t" l="l"/>
              <a:pathLst>
                <a:path h="2748103" w="2855387">
                  <a:moveTo>
                    <a:pt x="0" y="0"/>
                  </a:moveTo>
                  <a:lnTo>
                    <a:pt x="2855387" y="0"/>
                  </a:lnTo>
                  <a:lnTo>
                    <a:pt x="2855387" y="2748103"/>
                  </a:lnTo>
                  <a:lnTo>
                    <a:pt x="0" y="2748103"/>
                  </a:lnTo>
                  <a:close/>
                </a:path>
              </a:pathLst>
            </a:custGeom>
            <a:solidFill>
              <a:srgbClr val="000000">
                <a:alpha val="40000"/>
              </a:srgbClr>
            </a:solidFill>
          </p:spPr>
        </p:sp>
        <p:sp>
          <p:nvSpPr>
            <p:cNvPr name="TextBox 14" id="14"/>
            <p:cNvSpPr txBox="true"/>
            <p:nvPr/>
          </p:nvSpPr>
          <p:spPr>
            <a:xfrm>
              <a:off x="0" y="-9525"/>
              <a:ext cx="2855387" cy="2757628"/>
            </a:xfrm>
            <a:prstGeom prst="rect">
              <a:avLst/>
            </a:prstGeom>
          </p:spPr>
          <p:txBody>
            <a:bodyPr anchor="ctr" rtlCol="false" tIns="50800" lIns="50800" bIns="50800" rIns="50800"/>
            <a:lstStyle/>
            <a:p>
              <a:pPr algn="ctr">
                <a:lnSpc>
                  <a:spcPts val="2538"/>
                </a:lnSpc>
              </a:pPr>
            </a:p>
          </p:txBody>
        </p:sp>
      </p:grpSp>
      <p:sp>
        <p:nvSpPr>
          <p:cNvPr name="TextBox 15" id="15"/>
          <p:cNvSpPr txBox="true"/>
          <p:nvPr/>
        </p:nvSpPr>
        <p:spPr>
          <a:xfrm rot="0">
            <a:off x="11128828" y="1811655"/>
            <a:ext cx="6622984" cy="7446645"/>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End to End Program Training</a:t>
            </a:r>
          </a:p>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Str</a:t>
            </a:r>
            <a:r>
              <a:rPr lang="en-US" b="true" sz="2199" spc="21">
                <a:solidFill>
                  <a:srgbClr val="FFFFFF"/>
                </a:solidFill>
                <a:latin typeface="Mont 1 Bold"/>
                <a:ea typeface="Mont 1 Bold"/>
                <a:cs typeface="Mont 1 Bold"/>
                <a:sym typeface="Mont 1 Bold"/>
              </a:rPr>
              <a:t>ategic D</a:t>
            </a:r>
            <a:r>
              <a:rPr lang="en-US" b="true" sz="2199" spc="21">
                <a:solidFill>
                  <a:srgbClr val="FFFFFF"/>
                </a:solidFill>
                <a:latin typeface="Mont 1 Bold"/>
                <a:ea typeface="Mont 1 Bold"/>
                <a:cs typeface="Mont 1 Bold"/>
                <a:sym typeface="Mont 1 Bold"/>
              </a:rPr>
              <a:t>igital Marketing &amp; Performance, </a:t>
            </a:r>
            <a:r>
              <a:rPr lang="en-US" sz="2199" spc="21">
                <a:solidFill>
                  <a:srgbClr val="FFFFFF"/>
                </a:solidFill>
                <a:latin typeface="Mont 1"/>
                <a:ea typeface="Mont 1"/>
                <a:cs typeface="Mont 1"/>
                <a:sym typeface="Mont 1"/>
              </a:rPr>
              <a:t>Mastering data-driven marketing strategies, SEO, and advertising to effectively scale business growth and visibility.</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Creative Content Production &amp; Branding , </a:t>
            </a:r>
            <a:r>
              <a:rPr lang="en-US" sz="2199" spc="21">
                <a:solidFill>
                  <a:srgbClr val="FFFFFF"/>
                </a:solidFill>
                <a:latin typeface="Mont 1"/>
                <a:ea typeface="Mont 1"/>
                <a:cs typeface="Mont 1"/>
                <a:sym typeface="Mont 1"/>
              </a:rPr>
              <a:t>Developing high-quality visual assets and storytelling techniques to build strong, engaging digital brand identities.</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Professional Career &amp; Job Readiness, </a:t>
            </a:r>
            <a:r>
              <a:rPr lang="en-US" sz="2199" spc="21">
                <a:solidFill>
                  <a:srgbClr val="FFFFFF"/>
                </a:solidFill>
                <a:latin typeface="Mont 1"/>
                <a:ea typeface="Mont 1"/>
                <a:cs typeface="Mont 1"/>
                <a:sym typeface="Mont 1"/>
              </a:rPr>
              <a:t>Equipping participants with essential soft skills, professional ethics, and tools for successful workforce integration.</a:t>
            </a:r>
          </a:p>
        </p:txBody>
      </p:sp>
      <p:sp>
        <p:nvSpPr>
          <p:cNvPr name="TextBox 16" id="16"/>
          <p:cNvSpPr txBox="true"/>
          <p:nvPr/>
        </p:nvSpPr>
        <p:spPr>
          <a:xfrm rot="0">
            <a:off x="1028700" y="466625"/>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TechPath Bojonegoro</a:t>
            </a:r>
          </a:p>
        </p:txBody>
      </p:sp>
      <p:grpSp>
        <p:nvGrpSpPr>
          <p:cNvPr name="Group 17" id="17"/>
          <p:cNvGrpSpPr/>
          <p:nvPr/>
        </p:nvGrpSpPr>
        <p:grpSpPr>
          <a:xfrm rot="0">
            <a:off x="1028700" y="2460382"/>
            <a:ext cx="9027987" cy="6797918"/>
            <a:chOff x="0" y="0"/>
            <a:chExt cx="12037316" cy="9063891"/>
          </a:xfrm>
        </p:grpSpPr>
        <p:grpSp>
          <p:nvGrpSpPr>
            <p:cNvPr name="Group 18" id="18"/>
            <p:cNvGrpSpPr/>
            <p:nvPr/>
          </p:nvGrpSpPr>
          <p:grpSpPr>
            <a:xfrm rot="0">
              <a:off x="0" y="0"/>
              <a:ext cx="12037316" cy="9063891"/>
              <a:chOff x="0" y="0"/>
              <a:chExt cx="2377741" cy="1790398"/>
            </a:xfrm>
          </p:grpSpPr>
          <p:sp>
            <p:nvSpPr>
              <p:cNvPr name="Freeform 19" id="19"/>
              <p:cNvSpPr/>
              <p:nvPr/>
            </p:nvSpPr>
            <p:spPr>
              <a:xfrm flipH="false" flipV="false" rot="0">
                <a:off x="0" y="0"/>
                <a:ext cx="2377741" cy="1790398"/>
              </a:xfrm>
              <a:custGeom>
                <a:avLst/>
                <a:gdLst/>
                <a:ahLst/>
                <a:cxnLst/>
                <a:rect r="r" b="b" t="t" l="l"/>
                <a:pathLst>
                  <a:path h="1790398" w="2377741">
                    <a:moveTo>
                      <a:pt x="0" y="0"/>
                    </a:moveTo>
                    <a:lnTo>
                      <a:pt x="2377741" y="0"/>
                    </a:lnTo>
                    <a:lnTo>
                      <a:pt x="2377741" y="1790398"/>
                    </a:lnTo>
                    <a:lnTo>
                      <a:pt x="0" y="1790398"/>
                    </a:lnTo>
                    <a:close/>
                  </a:path>
                </a:pathLst>
              </a:custGeom>
              <a:solidFill>
                <a:srgbClr val="0D2A4E">
                  <a:alpha val="80000"/>
                </a:srgbClr>
              </a:solidFill>
            </p:spPr>
          </p:sp>
          <p:sp>
            <p:nvSpPr>
              <p:cNvPr name="TextBox 20" id="20"/>
              <p:cNvSpPr txBox="true"/>
              <p:nvPr/>
            </p:nvSpPr>
            <p:spPr>
              <a:xfrm>
                <a:off x="0" y="-114300"/>
                <a:ext cx="2377741" cy="1904698"/>
              </a:xfrm>
              <a:prstGeom prst="rect">
                <a:avLst/>
              </a:prstGeom>
            </p:spPr>
            <p:txBody>
              <a:bodyPr anchor="ctr" rtlCol="false" tIns="50800" lIns="50800" bIns="50800" rIns="50800"/>
              <a:lstStyle/>
              <a:p>
                <a:pPr algn="ctr">
                  <a:lnSpc>
                    <a:spcPts val="2700"/>
                  </a:lnSpc>
                </a:pPr>
              </a:p>
            </p:txBody>
          </p:sp>
        </p:grpSp>
        <p:sp>
          <p:nvSpPr>
            <p:cNvPr name="Freeform 21" id="21"/>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5" id="25"/>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Individual</a:t>
              </a:r>
            </a:p>
          </p:txBody>
        </p:sp>
        <p:sp>
          <p:nvSpPr>
            <p:cNvPr name="TextBox 26" id="26"/>
            <p:cNvSpPr txBox="true"/>
            <p:nvPr/>
          </p:nvSpPr>
          <p:spPr>
            <a:xfrm rot="0">
              <a:off x="2880538" y="899223"/>
              <a:ext cx="6682640" cy="1381125"/>
            </a:xfrm>
            <a:prstGeom prst="rect">
              <a:avLst/>
            </a:prstGeom>
          </p:spPr>
          <p:txBody>
            <a:bodyPr anchor="t" rtlCol="false" tIns="0" lIns="0" bIns="0" rIns="0">
              <a:spAutoFit/>
            </a:bodyPr>
            <a:lstStyle/>
            <a:p>
              <a:pPr algn="l">
                <a:lnSpc>
                  <a:spcPts val="4079"/>
                </a:lnSpc>
              </a:pPr>
              <a:r>
                <a:rPr lang="en-US" sz="3399" spc="33">
                  <a:solidFill>
                    <a:srgbClr val="FFFFFF"/>
                  </a:solidFill>
                  <a:latin typeface="Mont 1"/>
                  <a:ea typeface="Mont 1"/>
                  <a:cs typeface="Mont 1"/>
                  <a:sym typeface="Mont 1"/>
                </a:rPr>
                <a:t>December 2025 - Maret 2026</a:t>
              </a:r>
            </a:p>
          </p:txBody>
        </p:sp>
        <p:sp>
          <p:nvSpPr>
            <p:cNvPr name="TextBox 27" id="27"/>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69 Participants</a:t>
              </a:r>
            </a:p>
          </p:txBody>
        </p:sp>
        <p:sp>
          <p:nvSpPr>
            <p:cNvPr name="TextBox 28" id="28"/>
            <p:cNvSpPr txBox="true"/>
            <p:nvPr/>
          </p:nvSpPr>
          <p:spPr>
            <a:xfrm rot="0">
              <a:off x="2880538" y="6495126"/>
              <a:ext cx="8566638" cy="20669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Digital Marketing</a:t>
              </a:r>
            </a:p>
            <a:p>
              <a:pPr algn="l">
                <a:lnSpc>
                  <a:spcPts val="4079"/>
                </a:lnSpc>
              </a:pPr>
              <a:r>
                <a:rPr lang="en-US" sz="3399" spc="33" b="true">
                  <a:solidFill>
                    <a:srgbClr val="FFFFFF"/>
                  </a:solidFill>
                  <a:latin typeface="Mont 1 Bold"/>
                  <a:ea typeface="Mont 1 Bold"/>
                  <a:cs typeface="Mont 1 Bold"/>
                  <a:sym typeface="Mont 1 Bold"/>
                </a:rPr>
                <a:t>Content Creation</a:t>
              </a:r>
            </a:p>
            <a:p>
              <a:pPr algn="l">
                <a:lnSpc>
                  <a:spcPts val="4079"/>
                </a:lnSpc>
              </a:pPr>
              <a:r>
                <a:rPr lang="en-US" sz="3399" spc="33" b="true">
                  <a:solidFill>
                    <a:srgbClr val="FFFFFF"/>
                  </a:solidFill>
                  <a:latin typeface="Mont 1 Bold"/>
                  <a:ea typeface="Mont 1 Bold"/>
                  <a:cs typeface="Mont 1 Bold"/>
                  <a:sym typeface="Mont 1 Bold"/>
                </a:rPr>
                <a:t>Soft Skills &amp; Job Readiness</a:t>
              </a:r>
            </a:p>
          </p:txBody>
        </p:sp>
      </p:grpSp>
      <p:sp>
        <p:nvSpPr>
          <p:cNvPr name="Freeform 29" id="29"/>
          <p:cNvSpPr/>
          <p:nvPr/>
        </p:nvSpPr>
        <p:spPr>
          <a:xfrm flipH="false" flipV="false" rot="0">
            <a:off x="14956771" y="374562"/>
            <a:ext cx="2795041" cy="995199"/>
          </a:xfrm>
          <a:custGeom>
            <a:avLst/>
            <a:gdLst/>
            <a:ahLst/>
            <a:cxnLst/>
            <a:rect r="r" b="b" t="t" l="l"/>
            <a:pathLst>
              <a:path h="995199" w="2795041">
                <a:moveTo>
                  <a:pt x="0" y="0"/>
                </a:moveTo>
                <a:lnTo>
                  <a:pt x="2795041" y="0"/>
                </a:lnTo>
                <a:lnTo>
                  <a:pt x="2795041" y="995199"/>
                </a:lnTo>
                <a:lnTo>
                  <a:pt x="0" y="995199"/>
                </a:lnTo>
                <a:lnTo>
                  <a:pt x="0" y="0"/>
                </a:lnTo>
                <a:close/>
              </a:path>
            </a:pathLst>
          </a:custGeom>
          <a:blipFill>
            <a:blip r:embed="rId19"/>
            <a:stretch>
              <a:fillRect l="-71610" t="-32797" r="0" b="-14807"/>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grpSp>
        <p:nvGrpSpPr>
          <p:cNvPr name="Group 4" id="4"/>
          <p:cNvGrpSpPr/>
          <p:nvPr/>
        </p:nvGrpSpPr>
        <p:grpSpPr>
          <a:xfrm rot="0">
            <a:off x="0" y="0"/>
            <a:ext cx="10531011" cy="11232865"/>
            <a:chOff x="0" y="0"/>
            <a:chExt cx="14041348" cy="14977153"/>
          </a:xfrm>
        </p:grpSpPr>
        <p:sp>
          <p:nvSpPr>
            <p:cNvPr name="Freeform 5" id="5"/>
            <p:cNvSpPr/>
            <p:nvPr/>
          </p:nvSpPr>
          <p:spPr>
            <a:xfrm flipH="false" flipV="false" rot="0">
              <a:off x="0" y="0"/>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3"/>
              <a:stretch>
                <a:fillRect l="0" t="0" r="0" b="0"/>
              </a:stretch>
            </a:blipFill>
          </p:spPr>
        </p:sp>
        <p:sp>
          <p:nvSpPr>
            <p:cNvPr name="Freeform 6" id="6"/>
            <p:cNvSpPr/>
            <p:nvPr/>
          </p:nvSpPr>
          <p:spPr>
            <a:xfrm flipH="false" flipV="false" rot="0">
              <a:off x="7020674" y="0"/>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sp>
          <p:nvSpPr>
            <p:cNvPr name="Freeform 7" id="7"/>
            <p:cNvSpPr/>
            <p:nvPr/>
          </p:nvSpPr>
          <p:spPr>
            <a:xfrm flipH="false" flipV="false" rot="0">
              <a:off x="0" y="5265506"/>
              <a:ext cx="7020674" cy="5265506"/>
            </a:xfrm>
            <a:custGeom>
              <a:avLst/>
              <a:gdLst/>
              <a:ahLst/>
              <a:cxnLst/>
              <a:rect r="r" b="b" t="t" l="l"/>
              <a:pathLst>
                <a:path h="5265506" w="7020674">
                  <a:moveTo>
                    <a:pt x="0" y="0"/>
                  </a:moveTo>
                  <a:lnTo>
                    <a:pt x="7020674" y="0"/>
                  </a:lnTo>
                  <a:lnTo>
                    <a:pt x="7020674" y="5265505"/>
                  </a:lnTo>
                  <a:lnTo>
                    <a:pt x="0" y="5265505"/>
                  </a:lnTo>
                  <a:lnTo>
                    <a:pt x="0" y="0"/>
                  </a:lnTo>
                  <a:close/>
                </a:path>
              </a:pathLst>
            </a:custGeom>
            <a:blipFill>
              <a:blip r:embed="rId5"/>
              <a:stretch>
                <a:fillRect l="0" t="0" r="0" b="0"/>
              </a:stretch>
            </a:blipFill>
          </p:spPr>
        </p:sp>
        <p:sp>
          <p:nvSpPr>
            <p:cNvPr name="Freeform 8" id="8"/>
            <p:cNvSpPr/>
            <p:nvPr/>
          </p:nvSpPr>
          <p:spPr>
            <a:xfrm flipH="false" flipV="false" rot="0">
              <a:off x="7020674" y="5265506"/>
              <a:ext cx="7020674" cy="5265506"/>
            </a:xfrm>
            <a:custGeom>
              <a:avLst/>
              <a:gdLst/>
              <a:ahLst/>
              <a:cxnLst/>
              <a:rect r="r" b="b" t="t" l="l"/>
              <a:pathLst>
                <a:path h="5265506" w="7020674">
                  <a:moveTo>
                    <a:pt x="0" y="0"/>
                  </a:moveTo>
                  <a:lnTo>
                    <a:pt x="7020674" y="0"/>
                  </a:lnTo>
                  <a:lnTo>
                    <a:pt x="7020674" y="5265505"/>
                  </a:lnTo>
                  <a:lnTo>
                    <a:pt x="0" y="5265505"/>
                  </a:lnTo>
                  <a:lnTo>
                    <a:pt x="0" y="0"/>
                  </a:lnTo>
                  <a:close/>
                </a:path>
              </a:pathLst>
            </a:custGeom>
            <a:blipFill>
              <a:blip r:embed="rId6"/>
              <a:stretch>
                <a:fillRect l="0" t="0" r="0" b="0"/>
              </a:stretch>
            </a:blipFill>
          </p:spPr>
        </p:sp>
        <p:sp>
          <p:nvSpPr>
            <p:cNvPr name="Freeform 9" id="9"/>
            <p:cNvSpPr/>
            <p:nvPr/>
          </p:nvSpPr>
          <p:spPr>
            <a:xfrm flipH="false" flipV="false" rot="0">
              <a:off x="0" y="9711647"/>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sp>
          <p:nvSpPr>
            <p:cNvPr name="Freeform 10" id="10"/>
            <p:cNvSpPr/>
            <p:nvPr/>
          </p:nvSpPr>
          <p:spPr>
            <a:xfrm flipH="false" flipV="false" rot="0">
              <a:off x="7020674" y="9711647"/>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grpSp>
      <p:grpSp>
        <p:nvGrpSpPr>
          <p:cNvPr name="Group 11" id="11"/>
          <p:cNvGrpSpPr/>
          <p:nvPr/>
        </p:nvGrpSpPr>
        <p:grpSpPr>
          <a:xfrm rot="0">
            <a:off x="0" y="0"/>
            <a:ext cx="10531011" cy="10287000"/>
            <a:chOff x="0" y="0"/>
            <a:chExt cx="2773600" cy="2709333"/>
          </a:xfrm>
        </p:grpSpPr>
        <p:sp>
          <p:nvSpPr>
            <p:cNvPr name="Freeform 12" id="12"/>
            <p:cNvSpPr/>
            <p:nvPr/>
          </p:nvSpPr>
          <p:spPr>
            <a:xfrm flipH="false" flipV="false" rot="0">
              <a:off x="0" y="0"/>
              <a:ext cx="2773600" cy="2709333"/>
            </a:xfrm>
            <a:custGeom>
              <a:avLst/>
              <a:gdLst/>
              <a:ahLst/>
              <a:cxnLst/>
              <a:rect r="r" b="b" t="t" l="l"/>
              <a:pathLst>
                <a:path h="2709333" w="2773600">
                  <a:moveTo>
                    <a:pt x="0" y="0"/>
                  </a:moveTo>
                  <a:lnTo>
                    <a:pt x="2773600" y="0"/>
                  </a:lnTo>
                  <a:lnTo>
                    <a:pt x="2773600" y="2709333"/>
                  </a:lnTo>
                  <a:lnTo>
                    <a:pt x="0" y="2709333"/>
                  </a:lnTo>
                  <a:close/>
                </a:path>
              </a:pathLst>
            </a:custGeom>
            <a:solidFill>
              <a:srgbClr val="000000">
                <a:alpha val="40000"/>
              </a:srgbClr>
            </a:solidFill>
          </p:spPr>
        </p:sp>
        <p:sp>
          <p:nvSpPr>
            <p:cNvPr name="TextBox 13" id="13"/>
            <p:cNvSpPr txBox="true"/>
            <p:nvPr/>
          </p:nvSpPr>
          <p:spPr>
            <a:xfrm>
              <a:off x="0" y="-9525"/>
              <a:ext cx="2773600" cy="2718858"/>
            </a:xfrm>
            <a:prstGeom prst="rect">
              <a:avLst/>
            </a:prstGeom>
          </p:spPr>
          <p:txBody>
            <a:bodyPr anchor="ctr" rtlCol="false" tIns="50800" lIns="50800" bIns="50800" rIns="50800"/>
            <a:lstStyle/>
            <a:p>
              <a:pPr algn="ctr">
                <a:lnSpc>
                  <a:spcPts val="2538"/>
                </a:lnSpc>
              </a:pPr>
            </a:p>
          </p:txBody>
        </p:sp>
      </p:grpSp>
      <p:grpSp>
        <p:nvGrpSpPr>
          <p:cNvPr name="Group 14" id="14"/>
          <p:cNvGrpSpPr/>
          <p:nvPr/>
        </p:nvGrpSpPr>
        <p:grpSpPr>
          <a:xfrm rot="0">
            <a:off x="514747" y="2483027"/>
            <a:ext cx="9027987" cy="6797918"/>
            <a:chOff x="0" y="0"/>
            <a:chExt cx="12037316" cy="9063891"/>
          </a:xfrm>
        </p:grpSpPr>
        <p:grpSp>
          <p:nvGrpSpPr>
            <p:cNvPr name="Group 15" id="15"/>
            <p:cNvGrpSpPr/>
            <p:nvPr/>
          </p:nvGrpSpPr>
          <p:grpSpPr>
            <a:xfrm rot="0">
              <a:off x="0" y="0"/>
              <a:ext cx="12037316" cy="9063891"/>
              <a:chOff x="0" y="0"/>
              <a:chExt cx="2377741" cy="1790398"/>
            </a:xfrm>
          </p:grpSpPr>
          <p:sp>
            <p:nvSpPr>
              <p:cNvPr name="Freeform 16" id="16"/>
              <p:cNvSpPr/>
              <p:nvPr/>
            </p:nvSpPr>
            <p:spPr>
              <a:xfrm flipH="false" flipV="false" rot="0">
                <a:off x="0" y="0"/>
                <a:ext cx="2377741" cy="1790398"/>
              </a:xfrm>
              <a:custGeom>
                <a:avLst/>
                <a:gdLst/>
                <a:ahLst/>
                <a:cxnLst/>
                <a:rect r="r" b="b" t="t" l="l"/>
                <a:pathLst>
                  <a:path h="1790398" w="2377741">
                    <a:moveTo>
                      <a:pt x="0" y="0"/>
                    </a:moveTo>
                    <a:lnTo>
                      <a:pt x="2377741" y="0"/>
                    </a:lnTo>
                    <a:lnTo>
                      <a:pt x="2377741" y="1790398"/>
                    </a:lnTo>
                    <a:lnTo>
                      <a:pt x="0" y="1790398"/>
                    </a:lnTo>
                    <a:close/>
                  </a:path>
                </a:pathLst>
              </a:custGeom>
              <a:solidFill>
                <a:srgbClr val="0D2A4E">
                  <a:alpha val="80000"/>
                </a:srgbClr>
              </a:solidFill>
            </p:spPr>
          </p:sp>
          <p:sp>
            <p:nvSpPr>
              <p:cNvPr name="TextBox 17" id="17"/>
              <p:cNvSpPr txBox="true"/>
              <p:nvPr/>
            </p:nvSpPr>
            <p:spPr>
              <a:xfrm>
                <a:off x="0" y="-114300"/>
                <a:ext cx="2377741" cy="1904698"/>
              </a:xfrm>
              <a:prstGeom prst="rect">
                <a:avLst/>
              </a:prstGeom>
            </p:spPr>
            <p:txBody>
              <a:bodyPr anchor="ctr" rtlCol="false" tIns="50800" lIns="50800" bIns="50800" rIns="50800"/>
              <a:lstStyle/>
              <a:p>
                <a:pPr algn="ctr">
                  <a:lnSpc>
                    <a:spcPts val="2700"/>
                  </a:lnSpc>
                </a:pPr>
              </a:p>
            </p:txBody>
          </p:sp>
        </p:grpSp>
        <p:sp>
          <p:nvSpPr>
            <p:cNvPr name="Freeform 18" id="18"/>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2" id="22"/>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3" id="23"/>
            <p:cNvSpPr txBox="true"/>
            <p:nvPr/>
          </p:nvSpPr>
          <p:spPr>
            <a:xfrm rot="0">
              <a:off x="2880538" y="89922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April 2026</a:t>
              </a:r>
            </a:p>
          </p:txBody>
        </p:sp>
        <p:sp>
          <p:nvSpPr>
            <p:cNvPr name="TextBox 24" id="24"/>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19 Participants</a:t>
              </a:r>
            </a:p>
          </p:txBody>
        </p:sp>
        <p:sp>
          <p:nvSpPr>
            <p:cNvPr name="TextBox 25" id="25"/>
            <p:cNvSpPr txBox="true"/>
            <p:nvPr/>
          </p:nvSpPr>
          <p:spPr>
            <a:xfrm rot="0">
              <a:off x="2880538" y="6495126"/>
              <a:ext cx="8566638" cy="20669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BNSP Training &amp; Certification and ISO Training</a:t>
              </a:r>
            </a:p>
          </p:txBody>
        </p:sp>
      </p:grpSp>
      <p:sp>
        <p:nvSpPr>
          <p:cNvPr name="Freeform 26" id="26"/>
          <p:cNvSpPr/>
          <p:nvPr/>
        </p:nvSpPr>
        <p:spPr>
          <a:xfrm flipH="false" flipV="false" rot="0">
            <a:off x="15747709" y="585262"/>
            <a:ext cx="1824495" cy="1824495"/>
          </a:xfrm>
          <a:custGeom>
            <a:avLst/>
            <a:gdLst/>
            <a:ahLst/>
            <a:cxnLst/>
            <a:rect r="r" b="b" t="t" l="l"/>
            <a:pathLst>
              <a:path h="1824495" w="1824495">
                <a:moveTo>
                  <a:pt x="0" y="0"/>
                </a:moveTo>
                <a:lnTo>
                  <a:pt x="1824495" y="0"/>
                </a:lnTo>
                <a:lnTo>
                  <a:pt x="1824495" y="1824495"/>
                </a:lnTo>
                <a:lnTo>
                  <a:pt x="0" y="1824495"/>
                </a:lnTo>
                <a:lnTo>
                  <a:pt x="0" y="0"/>
                </a:lnTo>
                <a:close/>
              </a:path>
            </a:pathLst>
          </a:custGeom>
          <a:blipFill>
            <a:blip r:embed="rId15"/>
            <a:stretch>
              <a:fillRect l="0" t="0" r="0" b="0"/>
            </a:stretch>
          </a:blipFill>
        </p:spPr>
      </p:sp>
      <p:sp>
        <p:nvSpPr>
          <p:cNvPr name="TextBox 27" id="27"/>
          <p:cNvSpPr txBox="true"/>
          <p:nvPr/>
        </p:nvSpPr>
        <p:spPr>
          <a:xfrm rot="0">
            <a:off x="767921" y="432862"/>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PT Riau Petroleum Rokan</a:t>
            </a:r>
          </a:p>
        </p:txBody>
      </p:sp>
      <p:sp>
        <p:nvSpPr>
          <p:cNvPr name="TextBox 28" id="28"/>
          <p:cNvSpPr txBox="true"/>
          <p:nvPr/>
        </p:nvSpPr>
        <p:spPr>
          <a:xfrm rot="0">
            <a:off x="11128828" y="2346948"/>
            <a:ext cx="6622984" cy="3931920"/>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BNSP Public Relation</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BNSP Legal Audit</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BNSP </a:t>
            </a:r>
            <a:r>
              <a:rPr lang="en-US" sz="2199" spc="21">
                <a:solidFill>
                  <a:srgbClr val="FFFFFF"/>
                </a:solidFill>
                <a:latin typeface="Mont 1"/>
                <a:ea typeface="Mont 1"/>
                <a:cs typeface="Mont 1"/>
                <a:sym typeface="Mont 1"/>
              </a:rPr>
              <a:t>Asset Management</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BNSP Internal Auditor</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ISO Risk Management</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ISO 14001 &amp; 26000</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ISO 30414</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ISO 19011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grpSp>
        <p:nvGrpSpPr>
          <p:cNvPr name="Group 4" id="4"/>
          <p:cNvGrpSpPr/>
          <p:nvPr/>
        </p:nvGrpSpPr>
        <p:grpSpPr>
          <a:xfrm rot="0">
            <a:off x="0" y="0"/>
            <a:ext cx="10473880" cy="10522914"/>
            <a:chOff x="0" y="0"/>
            <a:chExt cx="13965173" cy="14030553"/>
          </a:xfrm>
        </p:grpSpPr>
        <p:sp>
          <p:nvSpPr>
            <p:cNvPr name="Freeform 5" id="5"/>
            <p:cNvSpPr/>
            <p:nvPr/>
          </p:nvSpPr>
          <p:spPr>
            <a:xfrm flipH="false" flipV="false" rot="0">
              <a:off x="0" y="0"/>
              <a:ext cx="6981734" cy="4654490"/>
            </a:xfrm>
            <a:custGeom>
              <a:avLst/>
              <a:gdLst/>
              <a:ahLst/>
              <a:cxnLst/>
              <a:rect r="r" b="b" t="t" l="l"/>
              <a:pathLst>
                <a:path h="4654490" w="6981734">
                  <a:moveTo>
                    <a:pt x="0" y="0"/>
                  </a:moveTo>
                  <a:lnTo>
                    <a:pt x="6981734" y="0"/>
                  </a:lnTo>
                  <a:lnTo>
                    <a:pt x="6981734" y="4654490"/>
                  </a:lnTo>
                  <a:lnTo>
                    <a:pt x="0" y="4654490"/>
                  </a:lnTo>
                  <a:lnTo>
                    <a:pt x="0" y="0"/>
                  </a:lnTo>
                  <a:close/>
                </a:path>
              </a:pathLst>
            </a:custGeom>
            <a:blipFill>
              <a:blip r:embed="rId3"/>
              <a:stretch>
                <a:fillRect l="0" t="0" r="0" b="0"/>
              </a:stretch>
            </a:blipFill>
          </p:spPr>
        </p:sp>
        <p:sp>
          <p:nvSpPr>
            <p:cNvPr name="Freeform 6" id="6"/>
            <p:cNvSpPr/>
            <p:nvPr/>
          </p:nvSpPr>
          <p:spPr>
            <a:xfrm flipH="false" flipV="false" rot="0">
              <a:off x="6981734" y="0"/>
              <a:ext cx="6983439" cy="4654490"/>
            </a:xfrm>
            <a:custGeom>
              <a:avLst/>
              <a:gdLst/>
              <a:ahLst/>
              <a:cxnLst/>
              <a:rect r="r" b="b" t="t" l="l"/>
              <a:pathLst>
                <a:path h="4654490" w="6983439">
                  <a:moveTo>
                    <a:pt x="0" y="0"/>
                  </a:moveTo>
                  <a:lnTo>
                    <a:pt x="6983439" y="0"/>
                  </a:lnTo>
                  <a:lnTo>
                    <a:pt x="6983439" y="4654490"/>
                  </a:lnTo>
                  <a:lnTo>
                    <a:pt x="0" y="4654490"/>
                  </a:lnTo>
                  <a:lnTo>
                    <a:pt x="0" y="0"/>
                  </a:lnTo>
                  <a:close/>
                </a:path>
              </a:pathLst>
            </a:custGeom>
            <a:blipFill>
              <a:blip r:embed="rId4"/>
              <a:stretch>
                <a:fillRect l="0" t="0" r="0" b="0"/>
              </a:stretch>
            </a:blipFill>
          </p:spPr>
        </p:sp>
        <p:sp>
          <p:nvSpPr>
            <p:cNvPr name="Freeform 7" id="7"/>
            <p:cNvSpPr/>
            <p:nvPr/>
          </p:nvSpPr>
          <p:spPr>
            <a:xfrm flipH="false" flipV="false" rot="0">
              <a:off x="0" y="4654490"/>
              <a:ext cx="6981734" cy="4653353"/>
            </a:xfrm>
            <a:custGeom>
              <a:avLst/>
              <a:gdLst/>
              <a:ahLst/>
              <a:cxnLst/>
              <a:rect r="r" b="b" t="t" l="l"/>
              <a:pathLst>
                <a:path h="4653353" w="6981734">
                  <a:moveTo>
                    <a:pt x="0" y="0"/>
                  </a:moveTo>
                  <a:lnTo>
                    <a:pt x="6981734" y="0"/>
                  </a:lnTo>
                  <a:lnTo>
                    <a:pt x="6981734" y="4653353"/>
                  </a:lnTo>
                  <a:lnTo>
                    <a:pt x="0" y="4653353"/>
                  </a:lnTo>
                  <a:lnTo>
                    <a:pt x="0" y="0"/>
                  </a:lnTo>
                  <a:close/>
                </a:path>
              </a:pathLst>
            </a:custGeom>
            <a:blipFill>
              <a:blip r:embed="rId5"/>
              <a:stretch>
                <a:fillRect l="0" t="0" r="0" b="0"/>
              </a:stretch>
            </a:blipFill>
          </p:spPr>
        </p:sp>
        <p:sp>
          <p:nvSpPr>
            <p:cNvPr name="Freeform 8" id="8"/>
            <p:cNvSpPr/>
            <p:nvPr/>
          </p:nvSpPr>
          <p:spPr>
            <a:xfrm flipH="false" flipV="false" rot="0">
              <a:off x="6981734" y="4654490"/>
              <a:ext cx="6981734" cy="4653353"/>
            </a:xfrm>
            <a:custGeom>
              <a:avLst/>
              <a:gdLst/>
              <a:ahLst/>
              <a:cxnLst/>
              <a:rect r="r" b="b" t="t" l="l"/>
              <a:pathLst>
                <a:path h="4653353" w="6981734">
                  <a:moveTo>
                    <a:pt x="0" y="0"/>
                  </a:moveTo>
                  <a:lnTo>
                    <a:pt x="6981735" y="0"/>
                  </a:lnTo>
                  <a:lnTo>
                    <a:pt x="6981735" y="4653353"/>
                  </a:lnTo>
                  <a:lnTo>
                    <a:pt x="0" y="4653353"/>
                  </a:lnTo>
                  <a:lnTo>
                    <a:pt x="0" y="0"/>
                  </a:lnTo>
                  <a:close/>
                </a:path>
              </a:pathLst>
            </a:custGeom>
            <a:blipFill>
              <a:blip r:embed="rId6"/>
              <a:stretch>
                <a:fillRect l="0" t="0" r="0" b="0"/>
              </a:stretch>
            </a:blipFill>
          </p:spPr>
        </p:sp>
        <p:sp>
          <p:nvSpPr>
            <p:cNvPr name="Freeform 9" id="9"/>
            <p:cNvSpPr/>
            <p:nvPr/>
          </p:nvSpPr>
          <p:spPr>
            <a:xfrm flipH="false" flipV="false" rot="0">
              <a:off x="6981734" y="9307843"/>
              <a:ext cx="6981734" cy="4653353"/>
            </a:xfrm>
            <a:custGeom>
              <a:avLst/>
              <a:gdLst/>
              <a:ahLst/>
              <a:cxnLst/>
              <a:rect r="r" b="b" t="t" l="l"/>
              <a:pathLst>
                <a:path h="4653353" w="6981734">
                  <a:moveTo>
                    <a:pt x="0" y="0"/>
                  </a:moveTo>
                  <a:lnTo>
                    <a:pt x="6981735" y="0"/>
                  </a:lnTo>
                  <a:lnTo>
                    <a:pt x="6981735" y="4653353"/>
                  </a:lnTo>
                  <a:lnTo>
                    <a:pt x="0" y="4653353"/>
                  </a:lnTo>
                  <a:lnTo>
                    <a:pt x="0" y="0"/>
                  </a:lnTo>
                  <a:close/>
                </a:path>
              </a:pathLst>
            </a:custGeom>
            <a:blipFill>
              <a:blip r:embed="rId7"/>
              <a:stretch>
                <a:fillRect l="0" t="0" r="0" b="0"/>
              </a:stretch>
            </a:blipFill>
          </p:spPr>
        </p:sp>
        <p:sp>
          <p:nvSpPr>
            <p:cNvPr name="Freeform 10" id="10"/>
            <p:cNvSpPr/>
            <p:nvPr/>
          </p:nvSpPr>
          <p:spPr>
            <a:xfrm flipH="false" flipV="false" rot="0">
              <a:off x="0" y="9307843"/>
              <a:ext cx="7085795" cy="4722710"/>
            </a:xfrm>
            <a:custGeom>
              <a:avLst/>
              <a:gdLst/>
              <a:ahLst/>
              <a:cxnLst/>
              <a:rect r="r" b="b" t="t" l="l"/>
              <a:pathLst>
                <a:path h="4722710" w="7085795">
                  <a:moveTo>
                    <a:pt x="0" y="0"/>
                  </a:moveTo>
                  <a:lnTo>
                    <a:pt x="7085795" y="0"/>
                  </a:lnTo>
                  <a:lnTo>
                    <a:pt x="7085795" y="4722710"/>
                  </a:lnTo>
                  <a:lnTo>
                    <a:pt x="0" y="4722710"/>
                  </a:lnTo>
                  <a:lnTo>
                    <a:pt x="0" y="0"/>
                  </a:lnTo>
                  <a:close/>
                </a:path>
              </a:pathLst>
            </a:custGeom>
            <a:blipFill>
              <a:blip r:embed="rId8"/>
              <a:stretch>
                <a:fillRect l="0" t="0" r="0" b="0"/>
              </a:stretch>
            </a:blipFill>
          </p:spPr>
        </p:sp>
      </p:grpSp>
      <p:grpSp>
        <p:nvGrpSpPr>
          <p:cNvPr name="Group 11" id="11"/>
          <p:cNvGrpSpPr/>
          <p:nvPr/>
        </p:nvGrpSpPr>
        <p:grpSpPr>
          <a:xfrm rot="0">
            <a:off x="-318935" y="0"/>
            <a:ext cx="10792815" cy="10434202"/>
            <a:chOff x="0" y="0"/>
            <a:chExt cx="2842552" cy="2748103"/>
          </a:xfrm>
        </p:grpSpPr>
        <p:sp>
          <p:nvSpPr>
            <p:cNvPr name="Freeform 12" id="12"/>
            <p:cNvSpPr/>
            <p:nvPr/>
          </p:nvSpPr>
          <p:spPr>
            <a:xfrm flipH="false" flipV="false" rot="0">
              <a:off x="0" y="0"/>
              <a:ext cx="2842552" cy="2748103"/>
            </a:xfrm>
            <a:custGeom>
              <a:avLst/>
              <a:gdLst/>
              <a:ahLst/>
              <a:cxnLst/>
              <a:rect r="r" b="b" t="t" l="l"/>
              <a:pathLst>
                <a:path h="2748103" w="2842552">
                  <a:moveTo>
                    <a:pt x="0" y="0"/>
                  </a:moveTo>
                  <a:lnTo>
                    <a:pt x="2842552" y="0"/>
                  </a:lnTo>
                  <a:lnTo>
                    <a:pt x="2842552" y="2748103"/>
                  </a:lnTo>
                  <a:lnTo>
                    <a:pt x="0" y="2748103"/>
                  </a:lnTo>
                  <a:close/>
                </a:path>
              </a:pathLst>
            </a:custGeom>
            <a:solidFill>
              <a:srgbClr val="000000">
                <a:alpha val="40000"/>
              </a:srgbClr>
            </a:solidFill>
          </p:spPr>
        </p:sp>
        <p:sp>
          <p:nvSpPr>
            <p:cNvPr name="TextBox 13" id="13"/>
            <p:cNvSpPr txBox="true"/>
            <p:nvPr/>
          </p:nvSpPr>
          <p:spPr>
            <a:xfrm>
              <a:off x="0" y="-9525"/>
              <a:ext cx="2842552" cy="2757628"/>
            </a:xfrm>
            <a:prstGeom prst="rect">
              <a:avLst/>
            </a:prstGeom>
          </p:spPr>
          <p:txBody>
            <a:bodyPr anchor="ctr" rtlCol="false" tIns="50800" lIns="50800" bIns="50800" rIns="50800"/>
            <a:lstStyle/>
            <a:p>
              <a:pPr algn="ctr">
                <a:lnSpc>
                  <a:spcPts val="2538"/>
                </a:lnSpc>
              </a:pPr>
            </a:p>
          </p:txBody>
        </p:sp>
      </p:grpSp>
      <p:grpSp>
        <p:nvGrpSpPr>
          <p:cNvPr name="Group 14" id="14"/>
          <p:cNvGrpSpPr/>
          <p:nvPr/>
        </p:nvGrpSpPr>
        <p:grpSpPr>
          <a:xfrm rot="0">
            <a:off x="514747" y="2483027"/>
            <a:ext cx="9027987" cy="6797918"/>
            <a:chOff x="0" y="0"/>
            <a:chExt cx="12037316" cy="9063891"/>
          </a:xfrm>
        </p:grpSpPr>
        <p:grpSp>
          <p:nvGrpSpPr>
            <p:cNvPr name="Group 15" id="15"/>
            <p:cNvGrpSpPr/>
            <p:nvPr/>
          </p:nvGrpSpPr>
          <p:grpSpPr>
            <a:xfrm rot="0">
              <a:off x="0" y="0"/>
              <a:ext cx="12037316" cy="9063891"/>
              <a:chOff x="0" y="0"/>
              <a:chExt cx="2377741" cy="1790398"/>
            </a:xfrm>
          </p:grpSpPr>
          <p:sp>
            <p:nvSpPr>
              <p:cNvPr name="Freeform 16" id="16"/>
              <p:cNvSpPr/>
              <p:nvPr/>
            </p:nvSpPr>
            <p:spPr>
              <a:xfrm flipH="false" flipV="false" rot="0">
                <a:off x="0" y="0"/>
                <a:ext cx="2377741" cy="1790398"/>
              </a:xfrm>
              <a:custGeom>
                <a:avLst/>
                <a:gdLst/>
                <a:ahLst/>
                <a:cxnLst/>
                <a:rect r="r" b="b" t="t" l="l"/>
                <a:pathLst>
                  <a:path h="1790398" w="2377741">
                    <a:moveTo>
                      <a:pt x="0" y="0"/>
                    </a:moveTo>
                    <a:lnTo>
                      <a:pt x="2377741" y="0"/>
                    </a:lnTo>
                    <a:lnTo>
                      <a:pt x="2377741" y="1790398"/>
                    </a:lnTo>
                    <a:lnTo>
                      <a:pt x="0" y="1790398"/>
                    </a:lnTo>
                    <a:close/>
                  </a:path>
                </a:pathLst>
              </a:custGeom>
              <a:solidFill>
                <a:srgbClr val="0D2A4E">
                  <a:alpha val="80000"/>
                </a:srgbClr>
              </a:solidFill>
            </p:spPr>
          </p:sp>
          <p:sp>
            <p:nvSpPr>
              <p:cNvPr name="TextBox 17" id="17"/>
              <p:cNvSpPr txBox="true"/>
              <p:nvPr/>
            </p:nvSpPr>
            <p:spPr>
              <a:xfrm>
                <a:off x="0" y="-114300"/>
                <a:ext cx="2377741" cy="1904698"/>
              </a:xfrm>
              <a:prstGeom prst="rect">
                <a:avLst/>
              </a:prstGeom>
            </p:spPr>
            <p:txBody>
              <a:bodyPr anchor="ctr" rtlCol="false" tIns="50800" lIns="50800" bIns="50800" rIns="50800"/>
              <a:lstStyle/>
              <a:p>
                <a:pPr algn="ctr">
                  <a:lnSpc>
                    <a:spcPts val="2700"/>
                  </a:lnSpc>
                </a:pPr>
              </a:p>
            </p:txBody>
          </p:sp>
        </p:grpSp>
        <p:sp>
          <p:nvSpPr>
            <p:cNvPr name="Freeform 18" id="18"/>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2" id="22"/>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3" id="23"/>
            <p:cNvSpPr txBox="true"/>
            <p:nvPr/>
          </p:nvSpPr>
          <p:spPr>
            <a:xfrm rot="0">
              <a:off x="2880538" y="89922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April 2026</a:t>
              </a:r>
            </a:p>
          </p:txBody>
        </p:sp>
        <p:sp>
          <p:nvSpPr>
            <p:cNvPr name="TextBox 24" id="24"/>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30 Participants</a:t>
              </a:r>
            </a:p>
          </p:txBody>
        </p:sp>
        <p:sp>
          <p:nvSpPr>
            <p:cNvPr name="TextBox 25" id="25"/>
            <p:cNvSpPr txBox="true"/>
            <p:nvPr/>
          </p:nvSpPr>
          <p:spPr>
            <a:xfrm rot="0">
              <a:off x="2880538" y="6495126"/>
              <a:ext cx="8566638" cy="20669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Integrated Oil &amp; Gas Business Management Training</a:t>
              </a:r>
            </a:p>
          </p:txBody>
        </p:sp>
      </p:grpSp>
      <p:sp>
        <p:nvSpPr>
          <p:cNvPr name="TextBox 26" id="26"/>
          <p:cNvSpPr txBox="true"/>
          <p:nvPr/>
        </p:nvSpPr>
        <p:spPr>
          <a:xfrm rot="0">
            <a:off x="448986" y="197232"/>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PT Riau Petroleum Rokan</a:t>
            </a:r>
          </a:p>
        </p:txBody>
      </p:sp>
      <p:sp>
        <p:nvSpPr>
          <p:cNvPr name="TextBox 27" id="27"/>
          <p:cNvSpPr txBox="true"/>
          <p:nvPr/>
        </p:nvSpPr>
        <p:spPr>
          <a:xfrm rot="0">
            <a:off x="11128828" y="3603566"/>
            <a:ext cx="6622984" cy="3112770"/>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Modul 1: </a:t>
            </a:r>
            <a:r>
              <a:rPr lang="en-US" sz="2199" spc="21">
                <a:solidFill>
                  <a:srgbClr val="FFFFFF"/>
                </a:solidFill>
                <a:latin typeface="Mont 1"/>
                <a:ea typeface="Mont 1"/>
                <a:cs typeface="Mont 1"/>
                <a:sym typeface="Mont 1"/>
              </a:rPr>
              <a:t>Oil &amp; Gas Industry Fundamentals and Regulatory Overview</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Modul 2: </a:t>
            </a:r>
            <a:r>
              <a:rPr lang="en-US" sz="2199" spc="21">
                <a:solidFill>
                  <a:srgbClr val="FFFFFF"/>
                </a:solidFill>
                <a:latin typeface="Mont 1"/>
                <a:ea typeface="Mont 1"/>
                <a:cs typeface="Mont 1"/>
                <a:sym typeface="Mont 1"/>
              </a:rPr>
              <a:t>Upstream Operations &amp; Production Management</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Modul 3: </a:t>
            </a:r>
            <a:r>
              <a:rPr lang="en-US" sz="2199" spc="21">
                <a:solidFill>
                  <a:srgbClr val="FFFFFF"/>
                </a:solidFill>
                <a:latin typeface="Mont 1"/>
                <a:ea typeface="Mont 1"/>
                <a:cs typeface="Mont 1"/>
                <a:sym typeface="Mont 1"/>
              </a:rPr>
              <a:t>Tax Management and Fiscal Compliance in Oil &amp; Gas Operations</a:t>
            </a:r>
          </a:p>
        </p:txBody>
      </p:sp>
      <p:sp>
        <p:nvSpPr>
          <p:cNvPr name="Freeform 28" id="28"/>
          <p:cNvSpPr/>
          <p:nvPr/>
        </p:nvSpPr>
        <p:spPr>
          <a:xfrm flipH="false" flipV="false" rot="0">
            <a:off x="15747709" y="585262"/>
            <a:ext cx="1824495" cy="1824495"/>
          </a:xfrm>
          <a:custGeom>
            <a:avLst/>
            <a:gdLst/>
            <a:ahLst/>
            <a:cxnLst/>
            <a:rect r="r" b="b" t="t" l="l"/>
            <a:pathLst>
              <a:path h="1824495" w="1824495">
                <a:moveTo>
                  <a:pt x="0" y="0"/>
                </a:moveTo>
                <a:lnTo>
                  <a:pt x="1824495" y="0"/>
                </a:lnTo>
                <a:lnTo>
                  <a:pt x="1824495" y="1824495"/>
                </a:lnTo>
                <a:lnTo>
                  <a:pt x="0" y="1824495"/>
                </a:lnTo>
                <a:lnTo>
                  <a:pt x="0" y="0"/>
                </a:lnTo>
                <a:close/>
              </a:path>
            </a:pathLst>
          </a:custGeom>
          <a:blipFill>
            <a:blip r:embed="rId17"/>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TextBox 4" id="4"/>
          <p:cNvSpPr txBox="true"/>
          <p:nvPr/>
        </p:nvSpPr>
        <p:spPr>
          <a:xfrm rot="0">
            <a:off x="10869831" y="3695796"/>
            <a:ext cx="6622984" cy="4341495"/>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Module 1: Overview of the Oil &amp; Gas Industry and Business Cycle</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Module 2: Oil &amp; Gas Project Cost Structure and Cost Recovery</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Module 3: Accounting and Financial Reporting</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Module 4: Strategic Financial Planning</a:t>
            </a:r>
          </a:p>
          <a:p>
            <a:pPr algn="just" marL="474979" indent="-237490" lvl="1">
              <a:lnSpc>
                <a:spcPts val="3299"/>
              </a:lnSpc>
              <a:buFont typeface="Arial"/>
              <a:buChar char="•"/>
            </a:pPr>
            <a:r>
              <a:rPr lang="en-US" sz="2199" spc="21">
                <a:solidFill>
                  <a:srgbClr val="FFFFFF"/>
                </a:solidFill>
                <a:latin typeface="Mont 1"/>
                <a:ea typeface="Mont 1"/>
                <a:cs typeface="Mont 1"/>
                <a:sym typeface="Mont 1"/>
              </a:rPr>
              <a:t>Module 5: Efficiency and Compliance Strategies</a:t>
            </a:r>
          </a:p>
        </p:txBody>
      </p:sp>
      <p:grpSp>
        <p:nvGrpSpPr>
          <p:cNvPr name="Group 5" id="5"/>
          <p:cNvGrpSpPr/>
          <p:nvPr/>
        </p:nvGrpSpPr>
        <p:grpSpPr>
          <a:xfrm rot="0">
            <a:off x="0" y="0"/>
            <a:ext cx="10531011" cy="11232865"/>
            <a:chOff x="0" y="0"/>
            <a:chExt cx="14041348" cy="14977153"/>
          </a:xfrm>
        </p:grpSpPr>
        <p:sp>
          <p:nvSpPr>
            <p:cNvPr name="Freeform 6" id="6"/>
            <p:cNvSpPr/>
            <p:nvPr/>
          </p:nvSpPr>
          <p:spPr>
            <a:xfrm flipH="false" flipV="false" rot="0">
              <a:off x="0" y="0"/>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3"/>
              <a:stretch>
                <a:fillRect l="0" t="0" r="0" b="0"/>
              </a:stretch>
            </a:blipFill>
          </p:spPr>
        </p:sp>
        <p:sp>
          <p:nvSpPr>
            <p:cNvPr name="Freeform 7" id="7"/>
            <p:cNvSpPr/>
            <p:nvPr/>
          </p:nvSpPr>
          <p:spPr>
            <a:xfrm flipH="false" flipV="false" rot="0">
              <a:off x="7020674" y="0"/>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sp>
          <p:nvSpPr>
            <p:cNvPr name="Freeform 8" id="8"/>
            <p:cNvSpPr/>
            <p:nvPr/>
          </p:nvSpPr>
          <p:spPr>
            <a:xfrm flipH="false" flipV="false" rot="0">
              <a:off x="0" y="5265506"/>
              <a:ext cx="7020674" cy="5265506"/>
            </a:xfrm>
            <a:custGeom>
              <a:avLst/>
              <a:gdLst/>
              <a:ahLst/>
              <a:cxnLst/>
              <a:rect r="r" b="b" t="t" l="l"/>
              <a:pathLst>
                <a:path h="5265506" w="7020674">
                  <a:moveTo>
                    <a:pt x="0" y="0"/>
                  </a:moveTo>
                  <a:lnTo>
                    <a:pt x="7020674" y="0"/>
                  </a:lnTo>
                  <a:lnTo>
                    <a:pt x="7020674" y="5265505"/>
                  </a:lnTo>
                  <a:lnTo>
                    <a:pt x="0" y="5265505"/>
                  </a:lnTo>
                  <a:lnTo>
                    <a:pt x="0" y="0"/>
                  </a:lnTo>
                  <a:close/>
                </a:path>
              </a:pathLst>
            </a:custGeom>
            <a:blipFill>
              <a:blip r:embed="rId5"/>
              <a:stretch>
                <a:fillRect l="0" t="0" r="0" b="0"/>
              </a:stretch>
            </a:blipFill>
          </p:spPr>
        </p:sp>
        <p:sp>
          <p:nvSpPr>
            <p:cNvPr name="Freeform 9" id="9"/>
            <p:cNvSpPr/>
            <p:nvPr/>
          </p:nvSpPr>
          <p:spPr>
            <a:xfrm flipH="false" flipV="false" rot="0">
              <a:off x="7020674" y="5265506"/>
              <a:ext cx="7020674" cy="5265506"/>
            </a:xfrm>
            <a:custGeom>
              <a:avLst/>
              <a:gdLst/>
              <a:ahLst/>
              <a:cxnLst/>
              <a:rect r="r" b="b" t="t" l="l"/>
              <a:pathLst>
                <a:path h="5265506" w="7020674">
                  <a:moveTo>
                    <a:pt x="0" y="0"/>
                  </a:moveTo>
                  <a:lnTo>
                    <a:pt x="7020674" y="0"/>
                  </a:lnTo>
                  <a:lnTo>
                    <a:pt x="7020674" y="5265505"/>
                  </a:lnTo>
                  <a:lnTo>
                    <a:pt x="0" y="5265505"/>
                  </a:lnTo>
                  <a:lnTo>
                    <a:pt x="0" y="0"/>
                  </a:lnTo>
                  <a:close/>
                </a:path>
              </a:pathLst>
            </a:custGeom>
            <a:blipFill>
              <a:blip r:embed="rId6"/>
              <a:stretch>
                <a:fillRect l="0" t="0" r="0" b="0"/>
              </a:stretch>
            </a:blipFill>
          </p:spPr>
        </p:sp>
        <p:sp>
          <p:nvSpPr>
            <p:cNvPr name="Freeform 10" id="10"/>
            <p:cNvSpPr/>
            <p:nvPr/>
          </p:nvSpPr>
          <p:spPr>
            <a:xfrm flipH="false" flipV="false" rot="0">
              <a:off x="0" y="9711647"/>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sp>
          <p:nvSpPr>
            <p:cNvPr name="Freeform 11" id="11"/>
            <p:cNvSpPr/>
            <p:nvPr/>
          </p:nvSpPr>
          <p:spPr>
            <a:xfrm flipH="false" flipV="false" rot="0">
              <a:off x="7020674" y="9711647"/>
              <a:ext cx="7020674" cy="5265506"/>
            </a:xfrm>
            <a:custGeom>
              <a:avLst/>
              <a:gdLst/>
              <a:ahLst/>
              <a:cxnLst/>
              <a:rect r="r" b="b" t="t" l="l"/>
              <a:pathLst>
                <a:path h="5265506" w="7020674">
                  <a:moveTo>
                    <a:pt x="0" y="0"/>
                  </a:moveTo>
                  <a:lnTo>
                    <a:pt x="7020674" y="0"/>
                  </a:lnTo>
                  <a:lnTo>
                    <a:pt x="7020674" y="5265506"/>
                  </a:lnTo>
                  <a:lnTo>
                    <a:pt x="0" y="5265506"/>
                  </a:lnTo>
                  <a:lnTo>
                    <a:pt x="0" y="0"/>
                  </a:lnTo>
                  <a:close/>
                </a:path>
              </a:pathLst>
            </a:custGeom>
            <a:blipFill>
              <a:blip r:embed="rId4"/>
              <a:stretch>
                <a:fillRect l="0" t="0" r="0" b="0"/>
              </a:stretch>
            </a:blipFill>
          </p:spPr>
        </p:sp>
      </p:grpSp>
      <p:grpSp>
        <p:nvGrpSpPr>
          <p:cNvPr name="Group 12" id="12"/>
          <p:cNvGrpSpPr/>
          <p:nvPr/>
        </p:nvGrpSpPr>
        <p:grpSpPr>
          <a:xfrm rot="0">
            <a:off x="0" y="388495"/>
            <a:ext cx="10531011" cy="10287000"/>
            <a:chOff x="0" y="0"/>
            <a:chExt cx="2773600" cy="2709333"/>
          </a:xfrm>
        </p:grpSpPr>
        <p:sp>
          <p:nvSpPr>
            <p:cNvPr name="Freeform 13" id="13"/>
            <p:cNvSpPr/>
            <p:nvPr/>
          </p:nvSpPr>
          <p:spPr>
            <a:xfrm flipH="false" flipV="false" rot="0">
              <a:off x="0" y="0"/>
              <a:ext cx="2773600" cy="2709333"/>
            </a:xfrm>
            <a:custGeom>
              <a:avLst/>
              <a:gdLst/>
              <a:ahLst/>
              <a:cxnLst/>
              <a:rect r="r" b="b" t="t" l="l"/>
              <a:pathLst>
                <a:path h="2709333" w="2773600">
                  <a:moveTo>
                    <a:pt x="0" y="0"/>
                  </a:moveTo>
                  <a:lnTo>
                    <a:pt x="2773600" y="0"/>
                  </a:lnTo>
                  <a:lnTo>
                    <a:pt x="2773600" y="2709333"/>
                  </a:lnTo>
                  <a:lnTo>
                    <a:pt x="0" y="2709333"/>
                  </a:lnTo>
                  <a:close/>
                </a:path>
              </a:pathLst>
            </a:custGeom>
            <a:solidFill>
              <a:srgbClr val="000000">
                <a:alpha val="40000"/>
              </a:srgbClr>
            </a:solidFill>
          </p:spPr>
        </p:sp>
        <p:sp>
          <p:nvSpPr>
            <p:cNvPr name="TextBox 14" id="14"/>
            <p:cNvSpPr txBox="true"/>
            <p:nvPr/>
          </p:nvSpPr>
          <p:spPr>
            <a:xfrm>
              <a:off x="0" y="-9525"/>
              <a:ext cx="2773600" cy="2718858"/>
            </a:xfrm>
            <a:prstGeom prst="rect">
              <a:avLst/>
            </a:prstGeom>
          </p:spPr>
          <p:txBody>
            <a:bodyPr anchor="ctr" rtlCol="false" tIns="50800" lIns="50800" bIns="50800" rIns="50800"/>
            <a:lstStyle/>
            <a:p>
              <a:pPr algn="ctr">
                <a:lnSpc>
                  <a:spcPts val="2538"/>
                </a:lnSpc>
              </a:pPr>
            </a:p>
          </p:txBody>
        </p:sp>
      </p:grpSp>
      <p:grpSp>
        <p:nvGrpSpPr>
          <p:cNvPr name="Group 15" id="15"/>
          <p:cNvGrpSpPr/>
          <p:nvPr/>
        </p:nvGrpSpPr>
        <p:grpSpPr>
          <a:xfrm rot="0">
            <a:off x="882414" y="2927785"/>
            <a:ext cx="9027987" cy="7046873"/>
            <a:chOff x="0" y="0"/>
            <a:chExt cx="12037316" cy="9395831"/>
          </a:xfrm>
        </p:grpSpPr>
        <p:grpSp>
          <p:nvGrpSpPr>
            <p:cNvPr name="Group 16" id="16"/>
            <p:cNvGrpSpPr/>
            <p:nvPr/>
          </p:nvGrpSpPr>
          <p:grpSpPr>
            <a:xfrm rot="0">
              <a:off x="0" y="0"/>
              <a:ext cx="12037316" cy="9395831"/>
              <a:chOff x="0" y="0"/>
              <a:chExt cx="2377741" cy="1855967"/>
            </a:xfrm>
          </p:grpSpPr>
          <p:sp>
            <p:nvSpPr>
              <p:cNvPr name="Freeform 17" id="17"/>
              <p:cNvSpPr/>
              <p:nvPr/>
            </p:nvSpPr>
            <p:spPr>
              <a:xfrm flipH="false" flipV="false" rot="0">
                <a:off x="0" y="0"/>
                <a:ext cx="2377741" cy="1855967"/>
              </a:xfrm>
              <a:custGeom>
                <a:avLst/>
                <a:gdLst/>
                <a:ahLst/>
                <a:cxnLst/>
                <a:rect r="r" b="b" t="t" l="l"/>
                <a:pathLst>
                  <a:path h="1855967" w="2377741">
                    <a:moveTo>
                      <a:pt x="0" y="0"/>
                    </a:moveTo>
                    <a:lnTo>
                      <a:pt x="2377741" y="0"/>
                    </a:lnTo>
                    <a:lnTo>
                      <a:pt x="2377741" y="1855967"/>
                    </a:lnTo>
                    <a:lnTo>
                      <a:pt x="0" y="1855967"/>
                    </a:lnTo>
                    <a:close/>
                  </a:path>
                </a:pathLst>
              </a:custGeom>
              <a:solidFill>
                <a:srgbClr val="0D2A4E">
                  <a:alpha val="80000"/>
                </a:srgbClr>
              </a:solidFill>
            </p:spPr>
          </p:sp>
          <p:sp>
            <p:nvSpPr>
              <p:cNvPr name="TextBox 18" id="18"/>
              <p:cNvSpPr txBox="true"/>
              <p:nvPr/>
            </p:nvSpPr>
            <p:spPr>
              <a:xfrm>
                <a:off x="0" y="-114300"/>
                <a:ext cx="2377741" cy="1970267"/>
              </a:xfrm>
              <a:prstGeom prst="rect">
                <a:avLst/>
              </a:prstGeom>
            </p:spPr>
            <p:txBody>
              <a:bodyPr anchor="ctr" rtlCol="false" tIns="50800" lIns="50800" bIns="50800" rIns="50800"/>
              <a:lstStyle/>
              <a:p>
                <a:pPr algn="ctr">
                  <a:lnSpc>
                    <a:spcPts val="2700"/>
                  </a:lnSpc>
                </a:pPr>
              </a:p>
            </p:txBody>
          </p:sp>
        </p:grpSp>
        <p:sp>
          <p:nvSpPr>
            <p:cNvPr name="Freeform 19" id="19"/>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3" id="23"/>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4" id="24"/>
            <p:cNvSpPr txBox="true"/>
            <p:nvPr/>
          </p:nvSpPr>
          <p:spPr>
            <a:xfrm rot="0">
              <a:off x="2880538" y="89922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November 2025</a:t>
              </a:r>
            </a:p>
          </p:txBody>
        </p:sp>
        <p:sp>
          <p:nvSpPr>
            <p:cNvPr name="TextBox 25" id="25"/>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8 Participants</a:t>
              </a:r>
            </a:p>
          </p:txBody>
        </p:sp>
        <p:sp>
          <p:nvSpPr>
            <p:cNvPr name="TextBox 26" id="26"/>
            <p:cNvSpPr txBox="true"/>
            <p:nvPr/>
          </p:nvSpPr>
          <p:spPr>
            <a:xfrm rot="0">
              <a:off x="2880538" y="6604979"/>
              <a:ext cx="8566638" cy="20669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Oil &amp; Gas Industry Fundamentals and Fiscal Compliance</a:t>
              </a:r>
            </a:p>
          </p:txBody>
        </p:sp>
      </p:grpSp>
      <p:sp>
        <p:nvSpPr>
          <p:cNvPr name="TextBox 27" id="27"/>
          <p:cNvSpPr txBox="true"/>
          <p:nvPr/>
        </p:nvSpPr>
        <p:spPr>
          <a:xfrm rot="0">
            <a:off x="767921" y="432862"/>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PT Riau Petroleum Rokan</a:t>
            </a:r>
          </a:p>
        </p:txBody>
      </p:sp>
      <p:sp>
        <p:nvSpPr>
          <p:cNvPr name="Freeform 28" id="28"/>
          <p:cNvSpPr/>
          <p:nvPr/>
        </p:nvSpPr>
        <p:spPr>
          <a:xfrm flipH="false" flipV="false" rot="0">
            <a:off x="15747709" y="585262"/>
            <a:ext cx="1824495" cy="1824495"/>
          </a:xfrm>
          <a:custGeom>
            <a:avLst/>
            <a:gdLst/>
            <a:ahLst/>
            <a:cxnLst/>
            <a:rect r="r" b="b" t="t" l="l"/>
            <a:pathLst>
              <a:path h="1824495" w="1824495">
                <a:moveTo>
                  <a:pt x="0" y="0"/>
                </a:moveTo>
                <a:lnTo>
                  <a:pt x="1824495" y="0"/>
                </a:lnTo>
                <a:lnTo>
                  <a:pt x="1824495" y="1824495"/>
                </a:lnTo>
                <a:lnTo>
                  <a:pt x="0" y="1824495"/>
                </a:lnTo>
                <a:lnTo>
                  <a:pt x="0" y="0"/>
                </a:lnTo>
                <a:close/>
              </a:path>
            </a:pathLst>
          </a:custGeom>
          <a:blipFill>
            <a:blip r:embed="rId1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7995151" y="0"/>
            <a:ext cx="2797664" cy="4973625"/>
          </a:xfrm>
          <a:custGeom>
            <a:avLst/>
            <a:gdLst/>
            <a:ahLst/>
            <a:cxnLst/>
            <a:rect r="r" b="b" t="t" l="l"/>
            <a:pathLst>
              <a:path h="4973625" w="2797664">
                <a:moveTo>
                  <a:pt x="0" y="0"/>
                </a:moveTo>
                <a:lnTo>
                  <a:pt x="2797664" y="0"/>
                </a:lnTo>
                <a:lnTo>
                  <a:pt x="2797664" y="4973625"/>
                </a:lnTo>
                <a:lnTo>
                  <a:pt x="0" y="4973625"/>
                </a:lnTo>
                <a:lnTo>
                  <a:pt x="0" y="0"/>
                </a:lnTo>
                <a:close/>
              </a:path>
            </a:pathLst>
          </a:custGeom>
          <a:blipFill>
            <a:blip r:embed="rId3"/>
            <a:stretch>
              <a:fillRect l="0" t="0" r="0" b="0"/>
            </a:stretch>
          </a:blipFill>
        </p:spPr>
      </p:sp>
      <p:grpSp>
        <p:nvGrpSpPr>
          <p:cNvPr name="Group 5" id="5"/>
          <p:cNvGrpSpPr/>
          <p:nvPr/>
        </p:nvGrpSpPr>
        <p:grpSpPr>
          <a:xfrm rot="0">
            <a:off x="-867849" y="0"/>
            <a:ext cx="11660664" cy="10287000"/>
            <a:chOff x="0" y="0"/>
            <a:chExt cx="15547552" cy="13716000"/>
          </a:xfrm>
        </p:grpSpPr>
        <p:sp>
          <p:nvSpPr>
            <p:cNvPr name="Freeform 6" id="6"/>
            <p:cNvSpPr/>
            <p:nvPr/>
          </p:nvSpPr>
          <p:spPr>
            <a:xfrm flipH="false" flipV="false" rot="0">
              <a:off x="0" y="0"/>
              <a:ext cx="11789333" cy="6631500"/>
            </a:xfrm>
            <a:custGeom>
              <a:avLst/>
              <a:gdLst/>
              <a:ahLst/>
              <a:cxnLst/>
              <a:rect r="r" b="b" t="t" l="l"/>
              <a:pathLst>
                <a:path h="6631500" w="11789333">
                  <a:moveTo>
                    <a:pt x="0" y="0"/>
                  </a:moveTo>
                  <a:lnTo>
                    <a:pt x="11789333" y="0"/>
                  </a:lnTo>
                  <a:lnTo>
                    <a:pt x="11789333" y="6631500"/>
                  </a:lnTo>
                  <a:lnTo>
                    <a:pt x="0" y="6631500"/>
                  </a:lnTo>
                  <a:lnTo>
                    <a:pt x="0" y="0"/>
                  </a:lnTo>
                  <a:close/>
                </a:path>
              </a:pathLst>
            </a:custGeom>
            <a:blipFill>
              <a:blip r:embed="rId4"/>
              <a:stretch>
                <a:fillRect l="0" t="0" r="0" b="0"/>
              </a:stretch>
            </a:blipFill>
          </p:spPr>
        </p:sp>
        <p:sp>
          <p:nvSpPr>
            <p:cNvPr name="Freeform 7" id="7"/>
            <p:cNvSpPr/>
            <p:nvPr/>
          </p:nvSpPr>
          <p:spPr>
            <a:xfrm flipH="false" flipV="false" rot="0">
              <a:off x="2952885" y="6631500"/>
              <a:ext cx="12594667" cy="7084500"/>
            </a:xfrm>
            <a:custGeom>
              <a:avLst/>
              <a:gdLst/>
              <a:ahLst/>
              <a:cxnLst/>
              <a:rect r="r" b="b" t="t" l="l"/>
              <a:pathLst>
                <a:path h="7084500" w="12594667">
                  <a:moveTo>
                    <a:pt x="0" y="0"/>
                  </a:moveTo>
                  <a:lnTo>
                    <a:pt x="12594667" y="0"/>
                  </a:lnTo>
                  <a:lnTo>
                    <a:pt x="12594667" y="7084500"/>
                  </a:lnTo>
                  <a:lnTo>
                    <a:pt x="0" y="7084500"/>
                  </a:lnTo>
                  <a:lnTo>
                    <a:pt x="0" y="0"/>
                  </a:lnTo>
                  <a:close/>
                </a:path>
              </a:pathLst>
            </a:custGeom>
            <a:blipFill>
              <a:blip r:embed="rId5"/>
              <a:stretch>
                <a:fillRect l="0" t="0" r="0" b="0"/>
              </a:stretch>
            </a:blipFill>
          </p:spPr>
        </p:sp>
        <p:sp>
          <p:nvSpPr>
            <p:cNvPr name="Freeform 8" id="8"/>
            <p:cNvSpPr/>
            <p:nvPr/>
          </p:nvSpPr>
          <p:spPr>
            <a:xfrm flipH="false" flipV="false" rot="0">
              <a:off x="1157132" y="6631500"/>
              <a:ext cx="3985031" cy="7084500"/>
            </a:xfrm>
            <a:custGeom>
              <a:avLst/>
              <a:gdLst/>
              <a:ahLst/>
              <a:cxnLst/>
              <a:rect r="r" b="b" t="t" l="l"/>
              <a:pathLst>
                <a:path h="7084500" w="3985031">
                  <a:moveTo>
                    <a:pt x="0" y="0"/>
                  </a:moveTo>
                  <a:lnTo>
                    <a:pt x="3985031" y="0"/>
                  </a:lnTo>
                  <a:lnTo>
                    <a:pt x="3985031" y="7084500"/>
                  </a:lnTo>
                  <a:lnTo>
                    <a:pt x="0" y="7084500"/>
                  </a:lnTo>
                  <a:lnTo>
                    <a:pt x="0" y="0"/>
                  </a:lnTo>
                  <a:close/>
                </a:path>
              </a:pathLst>
            </a:custGeom>
            <a:blipFill>
              <a:blip r:embed="rId3"/>
              <a:stretch>
                <a:fillRect l="0" t="0" r="0" b="0"/>
              </a:stretch>
            </a:blipFill>
          </p:spPr>
        </p:sp>
      </p:grpSp>
      <p:grpSp>
        <p:nvGrpSpPr>
          <p:cNvPr name="Group 9" id="9"/>
          <p:cNvGrpSpPr/>
          <p:nvPr/>
        </p:nvGrpSpPr>
        <p:grpSpPr>
          <a:xfrm rot="0">
            <a:off x="0" y="0"/>
            <a:ext cx="10792815" cy="10434202"/>
            <a:chOff x="0" y="0"/>
            <a:chExt cx="2842552" cy="2748103"/>
          </a:xfrm>
        </p:grpSpPr>
        <p:sp>
          <p:nvSpPr>
            <p:cNvPr name="Freeform 10" id="10"/>
            <p:cNvSpPr/>
            <p:nvPr/>
          </p:nvSpPr>
          <p:spPr>
            <a:xfrm flipH="false" flipV="false" rot="0">
              <a:off x="0" y="0"/>
              <a:ext cx="2842552" cy="2748103"/>
            </a:xfrm>
            <a:custGeom>
              <a:avLst/>
              <a:gdLst/>
              <a:ahLst/>
              <a:cxnLst/>
              <a:rect r="r" b="b" t="t" l="l"/>
              <a:pathLst>
                <a:path h="2748103" w="2842552">
                  <a:moveTo>
                    <a:pt x="0" y="0"/>
                  </a:moveTo>
                  <a:lnTo>
                    <a:pt x="2842552" y="0"/>
                  </a:lnTo>
                  <a:lnTo>
                    <a:pt x="2842552" y="2748103"/>
                  </a:lnTo>
                  <a:lnTo>
                    <a:pt x="0" y="2748103"/>
                  </a:lnTo>
                  <a:close/>
                </a:path>
              </a:pathLst>
            </a:custGeom>
            <a:solidFill>
              <a:srgbClr val="000000">
                <a:alpha val="40000"/>
              </a:srgbClr>
            </a:solidFill>
          </p:spPr>
        </p:sp>
        <p:sp>
          <p:nvSpPr>
            <p:cNvPr name="TextBox 11" id="11"/>
            <p:cNvSpPr txBox="true"/>
            <p:nvPr/>
          </p:nvSpPr>
          <p:spPr>
            <a:xfrm>
              <a:off x="0" y="-9525"/>
              <a:ext cx="2842552" cy="2757628"/>
            </a:xfrm>
            <a:prstGeom prst="rect">
              <a:avLst/>
            </a:prstGeom>
          </p:spPr>
          <p:txBody>
            <a:bodyPr anchor="ctr" rtlCol="false" tIns="50800" lIns="50800" bIns="50800" rIns="50800"/>
            <a:lstStyle/>
            <a:p>
              <a:pPr algn="ctr">
                <a:lnSpc>
                  <a:spcPts val="2538"/>
                </a:lnSpc>
              </a:pPr>
            </a:p>
          </p:txBody>
        </p:sp>
      </p:grpSp>
      <p:grpSp>
        <p:nvGrpSpPr>
          <p:cNvPr name="Group 12" id="12"/>
          <p:cNvGrpSpPr/>
          <p:nvPr/>
        </p:nvGrpSpPr>
        <p:grpSpPr>
          <a:xfrm rot="0">
            <a:off x="833682" y="2483027"/>
            <a:ext cx="9027987" cy="6713743"/>
            <a:chOff x="0" y="0"/>
            <a:chExt cx="12037316" cy="8951657"/>
          </a:xfrm>
        </p:grpSpPr>
        <p:grpSp>
          <p:nvGrpSpPr>
            <p:cNvPr name="Group 13" id="13"/>
            <p:cNvGrpSpPr/>
            <p:nvPr/>
          </p:nvGrpSpPr>
          <p:grpSpPr>
            <a:xfrm rot="0">
              <a:off x="0" y="0"/>
              <a:ext cx="12037316" cy="8951657"/>
              <a:chOff x="0" y="0"/>
              <a:chExt cx="2377741" cy="1768229"/>
            </a:xfrm>
          </p:grpSpPr>
          <p:sp>
            <p:nvSpPr>
              <p:cNvPr name="Freeform 14" id="14"/>
              <p:cNvSpPr/>
              <p:nvPr/>
            </p:nvSpPr>
            <p:spPr>
              <a:xfrm flipH="false" flipV="false" rot="0">
                <a:off x="0" y="0"/>
                <a:ext cx="2377741" cy="1768229"/>
              </a:xfrm>
              <a:custGeom>
                <a:avLst/>
                <a:gdLst/>
                <a:ahLst/>
                <a:cxnLst/>
                <a:rect r="r" b="b" t="t" l="l"/>
                <a:pathLst>
                  <a:path h="1768229" w="2377741">
                    <a:moveTo>
                      <a:pt x="0" y="0"/>
                    </a:moveTo>
                    <a:lnTo>
                      <a:pt x="2377741" y="0"/>
                    </a:lnTo>
                    <a:lnTo>
                      <a:pt x="2377741" y="1768229"/>
                    </a:lnTo>
                    <a:lnTo>
                      <a:pt x="0" y="1768229"/>
                    </a:lnTo>
                    <a:close/>
                  </a:path>
                </a:pathLst>
              </a:custGeom>
              <a:solidFill>
                <a:srgbClr val="0D2A4E">
                  <a:alpha val="80000"/>
                </a:srgbClr>
              </a:solidFill>
            </p:spPr>
          </p:sp>
          <p:sp>
            <p:nvSpPr>
              <p:cNvPr name="TextBox 15" id="15"/>
              <p:cNvSpPr txBox="true"/>
              <p:nvPr/>
            </p:nvSpPr>
            <p:spPr>
              <a:xfrm>
                <a:off x="0" y="-114300"/>
                <a:ext cx="2377741" cy="1882529"/>
              </a:xfrm>
              <a:prstGeom prst="rect">
                <a:avLst/>
              </a:prstGeom>
            </p:spPr>
            <p:txBody>
              <a:bodyPr anchor="ctr" rtlCol="false" tIns="50800" lIns="50800" bIns="50800" rIns="50800"/>
              <a:lstStyle/>
              <a:p>
                <a:pPr algn="ctr">
                  <a:lnSpc>
                    <a:spcPts val="2700"/>
                  </a:lnSpc>
                </a:pPr>
              </a:p>
            </p:txBody>
          </p:sp>
        </p:grpSp>
        <p:sp>
          <p:nvSpPr>
            <p:cNvPr name="Freeform 16" id="16"/>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2880538" y="310334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Individual/Corporate</a:t>
              </a:r>
            </a:p>
          </p:txBody>
        </p:sp>
        <p:sp>
          <p:nvSpPr>
            <p:cNvPr name="TextBox 21" id="21"/>
            <p:cNvSpPr txBox="true"/>
            <p:nvPr/>
          </p:nvSpPr>
          <p:spPr>
            <a:xfrm rot="0">
              <a:off x="2880538" y="899223"/>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June 2025</a:t>
              </a:r>
            </a:p>
          </p:txBody>
        </p:sp>
        <p:sp>
          <p:nvSpPr>
            <p:cNvPr name="TextBox 22" id="22"/>
            <p:cNvSpPr txBox="true"/>
            <p:nvPr/>
          </p:nvSpPr>
          <p:spPr>
            <a:xfrm rot="0">
              <a:off x="2880538" y="5023380"/>
              <a:ext cx="6682640" cy="6953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20 Participants</a:t>
              </a:r>
            </a:p>
          </p:txBody>
        </p:sp>
        <p:sp>
          <p:nvSpPr>
            <p:cNvPr name="TextBox 23" id="23"/>
            <p:cNvSpPr txBox="true"/>
            <p:nvPr/>
          </p:nvSpPr>
          <p:spPr>
            <a:xfrm rot="0">
              <a:off x="2880538" y="6495126"/>
              <a:ext cx="8566638" cy="138112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Leadership for First Time Leaders and Managers</a:t>
              </a:r>
            </a:p>
          </p:txBody>
        </p:sp>
      </p:grpSp>
      <p:sp>
        <p:nvSpPr>
          <p:cNvPr name="TextBox 24" id="24"/>
          <p:cNvSpPr txBox="true"/>
          <p:nvPr/>
        </p:nvSpPr>
        <p:spPr>
          <a:xfrm rot="0">
            <a:off x="11128828" y="1721232"/>
            <a:ext cx="6622984" cy="6798945"/>
          </a:xfrm>
          <a:prstGeom prst="rect">
            <a:avLst/>
          </a:prstGeom>
        </p:spPr>
        <p:txBody>
          <a:bodyPr anchor="t" rtlCol="false" tIns="0" lIns="0" bIns="0" rIns="0">
            <a:spAutoFit/>
          </a:bodyPr>
          <a:lstStyle/>
          <a:p>
            <a:pPr algn="just">
              <a:lnSpc>
                <a:spcPts val="5100"/>
              </a:lnSpc>
            </a:pPr>
            <a:r>
              <a:rPr lang="en-US" b="true" sz="3400" spc="34">
                <a:solidFill>
                  <a:srgbClr val="FFFFFF"/>
                </a:solidFill>
                <a:latin typeface="Mont 1 Bold"/>
                <a:ea typeface="Mont 1 Bold"/>
                <a:cs typeface="Mont 1 Bold"/>
                <a:sym typeface="Mont 1 Bold"/>
              </a:rPr>
              <a:t>LIST OF MATERIALS:</a:t>
            </a: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Managing Task</a:t>
            </a:r>
          </a:p>
          <a:p>
            <a:pPr algn="just">
              <a:lnSpc>
                <a:spcPts val="3299"/>
              </a:lnSpc>
            </a:pPr>
            <a:r>
              <a:rPr lang="en-US" sz="2199" spc="21">
                <a:solidFill>
                  <a:srgbClr val="FFFFFF"/>
                </a:solidFill>
                <a:latin typeface="Mont 1"/>
                <a:ea typeface="Mont 1"/>
                <a:cs typeface="Mont 1"/>
                <a:sym typeface="Mont 1"/>
              </a:rPr>
              <a:t>Using the framework of Project Charter, Eisenhower Matrix, and Gantt Chart.</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Managing People - Team Member</a:t>
            </a:r>
          </a:p>
          <a:p>
            <a:pPr algn="just">
              <a:lnSpc>
                <a:spcPts val="3299"/>
              </a:lnSpc>
            </a:pPr>
            <a:r>
              <a:rPr lang="en-US" sz="2199" spc="21">
                <a:solidFill>
                  <a:srgbClr val="FFFFFF"/>
                </a:solidFill>
                <a:latin typeface="Mont 1"/>
                <a:ea typeface="Mont 1"/>
                <a:cs typeface="Mont 1"/>
                <a:sym typeface="Mont 1"/>
              </a:rPr>
              <a:t>The importance of increasing the relationship with the team members so that they are able to open up and having psychological safety, along with how we could disagree by design. </a:t>
            </a:r>
          </a:p>
          <a:p>
            <a:pPr algn="just">
              <a:lnSpc>
                <a:spcPts val="3299"/>
              </a:lnSpc>
            </a:pPr>
          </a:p>
          <a:p>
            <a:pPr algn="just" marL="474979" indent="-237490" lvl="1">
              <a:lnSpc>
                <a:spcPts val="3299"/>
              </a:lnSpc>
              <a:buFont typeface="Arial"/>
              <a:buChar char="•"/>
            </a:pPr>
            <a:r>
              <a:rPr lang="en-US" b="true" sz="2199" spc="21">
                <a:solidFill>
                  <a:srgbClr val="FFFFFF"/>
                </a:solidFill>
                <a:latin typeface="Mont 1 Bold"/>
                <a:ea typeface="Mont 1 Bold"/>
                <a:cs typeface="Mont 1 Bold"/>
                <a:sym typeface="Mont 1 Bold"/>
              </a:rPr>
              <a:t>Managing people - Other Stakeholder</a:t>
            </a:r>
          </a:p>
          <a:p>
            <a:pPr algn="just">
              <a:lnSpc>
                <a:spcPts val="3299"/>
              </a:lnSpc>
            </a:pPr>
            <a:r>
              <a:rPr lang="en-US" sz="2199" spc="21">
                <a:solidFill>
                  <a:srgbClr val="FFFFFF"/>
                </a:solidFill>
                <a:latin typeface="Mont 1"/>
                <a:ea typeface="Mont 1"/>
                <a:cs typeface="Mont 1"/>
                <a:sym typeface="Mont 1"/>
              </a:rPr>
              <a:t>How as a Leader, we need to be able to influence the horizontal lines, other Leaders, and also balancing the roles with managing upper management's expectations.</a:t>
            </a:r>
          </a:p>
        </p:txBody>
      </p:sp>
      <p:sp>
        <p:nvSpPr>
          <p:cNvPr name="TextBox 25" id="25"/>
          <p:cNvSpPr txBox="true"/>
          <p:nvPr/>
        </p:nvSpPr>
        <p:spPr>
          <a:xfrm rot="0">
            <a:off x="767921" y="44367"/>
            <a:ext cx="9233397"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Online Webinar Training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7995151" y="0"/>
            <a:ext cx="2797664" cy="4973625"/>
          </a:xfrm>
          <a:custGeom>
            <a:avLst/>
            <a:gdLst/>
            <a:ahLst/>
            <a:cxnLst/>
            <a:rect r="r" b="b" t="t" l="l"/>
            <a:pathLst>
              <a:path h="4973625" w="2797664">
                <a:moveTo>
                  <a:pt x="0" y="0"/>
                </a:moveTo>
                <a:lnTo>
                  <a:pt x="2797664" y="0"/>
                </a:lnTo>
                <a:lnTo>
                  <a:pt x="2797664" y="4973625"/>
                </a:lnTo>
                <a:lnTo>
                  <a:pt x="0" y="4973625"/>
                </a:lnTo>
                <a:lnTo>
                  <a:pt x="0" y="0"/>
                </a:lnTo>
                <a:close/>
              </a:path>
            </a:pathLst>
          </a:custGeom>
          <a:blipFill>
            <a:blip r:embed="rId3"/>
            <a:stretch>
              <a:fillRect l="0" t="0" r="0" b="0"/>
            </a:stretch>
          </a:blipFill>
        </p:spPr>
      </p:sp>
      <p:grpSp>
        <p:nvGrpSpPr>
          <p:cNvPr name="Group 5" id="5"/>
          <p:cNvGrpSpPr/>
          <p:nvPr/>
        </p:nvGrpSpPr>
        <p:grpSpPr>
          <a:xfrm rot="0">
            <a:off x="-867849" y="0"/>
            <a:ext cx="11660664" cy="10287000"/>
            <a:chOff x="0" y="0"/>
            <a:chExt cx="15547552" cy="13716000"/>
          </a:xfrm>
        </p:grpSpPr>
        <p:sp>
          <p:nvSpPr>
            <p:cNvPr name="Freeform 6" id="6"/>
            <p:cNvSpPr/>
            <p:nvPr/>
          </p:nvSpPr>
          <p:spPr>
            <a:xfrm flipH="false" flipV="false" rot="0">
              <a:off x="0" y="0"/>
              <a:ext cx="11789333" cy="6631500"/>
            </a:xfrm>
            <a:custGeom>
              <a:avLst/>
              <a:gdLst/>
              <a:ahLst/>
              <a:cxnLst/>
              <a:rect r="r" b="b" t="t" l="l"/>
              <a:pathLst>
                <a:path h="6631500" w="11789333">
                  <a:moveTo>
                    <a:pt x="0" y="0"/>
                  </a:moveTo>
                  <a:lnTo>
                    <a:pt x="11789333" y="0"/>
                  </a:lnTo>
                  <a:lnTo>
                    <a:pt x="11789333" y="6631500"/>
                  </a:lnTo>
                  <a:lnTo>
                    <a:pt x="0" y="6631500"/>
                  </a:lnTo>
                  <a:lnTo>
                    <a:pt x="0" y="0"/>
                  </a:lnTo>
                  <a:close/>
                </a:path>
              </a:pathLst>
            </a:custGeom>
            <a:blipFill>
              <a:blip r:embed="rId4"/>
              <a:stretch>
                <a:fillRect l="0" t="0" r="0" b="0"/>
              </a:stretch>
            </a:blipFill>
          </p:spPr>
        </p:sp>
        <p:sp>
          <p:nvSpPr>
            <p:cNvPr name="Freeform 7" id="7"/>
            <p:cNvSpPr/>
            <p:nvPr/>
          </p:nvSpPr>
          <p:spPr>
            <a:xfrm flipH="false" flipV="false" rot="0">
              <a:off x="2952885" y="6631500"/>
              <a:ext cx="12594667" cy="7084500"/>
            </a:xfrm>
            <a:custGeom>
              <a:avLst/>
              <a:gdLst/>
              <a:ahLst/>
              <a:cxnLst/>
              <a:rect r="r" b="b" t="t" l="l"/>
              <a:pathLst>
                <a:path h="7084500" w="12594667">
                  <a:moveTo>
                    <a:pt x="0" y="0"/>
                  </a:moveTo>
                  <a:lnTo>
                    <a:pt x="12594667" y="0"/>
                  </a:lnTo>
                  <a:lnTo>
                    <a:pt x="12594667" y="7084500"/>
                  </a:lnTo>
                  <a:lnTo>
                    <a:pt x="0" y="7084500"/>
                  </a:lnTo>
                  <a:lnTo>
                    <a:pt x="0" y="0"/>
                  </a:lnTo>
                  <a:close/>
                </a:path>
              </a:pathLst>
            </a:custGeom>
            <a:blipFill>
              <a:blip r:embed="rId5"/>
              <a:stretch>
                <a:fillRect l="0" t="0" r="0" b="0"/>
              </a:stretch>
            </a:blipFill>
          </p:spPr>
        </p:sp>
        <p:sp>
          <p:nvSpPr>
            <p:cNvPr name="Freeform 8" id="8"/>
            <p:cNvSpPr/>
            <p:nvPr/>
          </p:nvSpPr>
          <p:spPr>
            <a:xfrm flipH="false" flipV="false" rot="0">
              <a:off x="1157132" y="6631500"/>
              <a:ext cx="3985031" cy="7084500"/>
            </a:xfrm>
            <a:custGeom>
              <a:avLst/>
              <a:gdLst/>
              <a:ahLst/>
              <a:cxnLst/>
              <a:rect r="r" b="b" t="t" l="l"/>
              <a:pathLst>
                <a:path h="7084500" w="3985031">
                  <a:moveTo>
                    <a:pt x="0" y="0"/>
                  </a:moveTo>
                  <a:lnTo>
                    <a:pt x="3985031" y="0"/>
                  </a:lnTo>
                  <a:lnTo>
                    <a:pt x="3985031" y="7084500"/>
                  </a:lnTo>
                  <a:lnTo>
                    <a:pt x="0" y="7084500"/>
                  </a:lnTo>
                  <a:lnTo>
                    <a:pt x="0" y="0"/>
                  </a:lnTo>
                  <a:close/>
                </a:path>
              </a:pathLst>
            </a:custGeom>
            <a:blipFill>
              <a:blip r:embed="rId3"/>
              <a:stretch>
                <a:fillRect l="0" t="0" r="0" b="0"/>
              </a:stretch>
            </a:blipFill>
          </p:spPr>
        </p:sp>
      </p:grpSp>
      <p:grpSp>
        <p:nvGrpSpPr>
          <p:cNvPr name="Group 9" id="9"/>
          <p:cNvGrpSpPr/>
          <p:nvPr/>
        </p:nvGrpSpPr>
        <p:grpSpPr>
          <a:xfrm rot="0">
            <a:off x="0" y="0"/>
            <a:ext cx="10792815" cy="10434202"/>
            <a:chOff x="0" y="0"/>
            <a:chExt cx="2842552" cy="2748103"/>
          </a:xfrm>
        </p:grpSpPr>
        <p:sp>
          <p:nvSpPr>
            <p:cNvPr name="Freeform 10" id="10"/>
            <p:cNvSpPr/>
            <p:nvPr/>
          </p:nvSpPr>
          <p:spPr>
            <a:xfrm flipH="false" flipV="false" rot="0">
              <a:off x="0" y="0"/>
              <a:ext cx="2842552" cy="2748103"/>
            </a:xfrm>
            <a:custGeom>
              <a:avLst/>
              <a:gdLst/>
              <a:ahLst/>
              <a:cxnLst/>
              <a:rect r="r" b="b" t="t" l="l"/>
              <a:pathLst>
                <a:path h="2748103" w="2842552">
                  <a:moveTo>
                    <a:pt x="0" y="0"/>
                  </a:moveTo>
                  <a:lnTo>
                    <a:pt x="2842552" y="0"/>
                  </a:lnTo>
                  <a:lnTo>
                    <a:pt x="2842552" y="2748103"/>
                  </a:lnTo>
                  <a:lnTo>
                    <a:pt x="0" y="2748103"/>
                  </a:lnTo>
                  <a:close/>
                </a:path>
              </a:pathLst>
            </a:custGeom>
            <a:solidFill>
              <a:srgbClr val="000000">
                <a:alpha val="40000"/>
              </a:srgbClr>
            </a:solidFill>
          </p:spPr>
        </p:sp>
        <p:sp>
          <p:nvSpPr>
            <p:cNvPr name="TextBox 11" id="11"/>
            <p:cNvSpPr txBox="true"/>
            <p:nvPr/>
          </p:nvSpPr>
          <p:spPr>
            <a:xfrm>
              <a:off x="0" y="-9525"/>
              <a:ext cx="2842552" cy="2757628"/>
            </a:xfrm>
            <a:prstGeom prst="rect">
              <a:avLst/>
            </a:prstGeom>
          </p:spPr>
          <p:txBody>
            <a:bodyPr anchor="ctr" rtlCol="false" tIns="50800" lIns="50800" bIns="50800" rIns="50800"/>
            <a:lstStyle/>
            <a:p>
              <a:pPr algn="ctr">
                <a:lnSpc>
                  <a:spcPts val="2538"/>
                </a:lnSpc>
              </a:pPr>
            </a:p>
          </p:txBody>
        </p:sp>
      </p:grpSp>
      <p:grpSp>
        <p:nvGrpSpPr>
          <p:cNvPr name="Group 12" id="12"/>
          <p:cNvGrpSpPr/>
          <p:nvPr/>
        </p:nvGrpSpPr>
        <p:grpSpPr>
          <a:xfrm rot="0">
            <a:off x="833682" y="2483027"/>
            <a:ext cx="9027987" cy="7312417"/>
            <a:chOff x="0" y="0"/>
            <a:chExt cx="12037316" cy="9749889"/>
          </a:xfrm>
        </p:grpSpPr>
        <p:grpSp>
          <p:nvGrpSpPr>
            <p:cNvPr name="Group 13" id="13"/>
            <p:cNvGrpSpPr/>
            <p:nvPr/>
          </p:nvGrpSpPr>
          <p:grpSpPr>
            <a:xfrm rot="0">
              <a:off x="0" y="0"/>
              <a:ext cx="12037316" cy="9749889"/>
              <a:chOff x="0" y="0"/>
              <a:chExt cx="2377741" cy="1925904"/>
            </a:xfrm>
          </p:grpSpPr>
          <p:sp>
            <p:nvSpPr>
              <p:cNvPr name="Freeform 14" id="14"/>
              <p:cNvSpPr/>
              <p:nvPr/>
            </p:nvSpPr>
            <p:spPr>
              <a:xfrm flipH="false" flipV="false" rot="0">
                <a:off x="0" y="0"/>
                <a:ext cx="2377741" cy="1925904"/>
              </a:xfrm>
              <a:custGeom>
                <a:avLst/>
                <a:gdLst/>
                <a:ahLst/>
                <a:cxnLst/>
                <a:rect r="r" b="b" t="t" l="l"/>
                <a:pathLst>
                  <a:path h="1925904" w="2377741">
                    <a:moveTo>
                      <a:pt x="0" y="0"/>
                    </a:moveTo>
                    <a:lnTo>
                      <a:pt x="2377741" y="0"/>
                    </a:lnTo>
                    <a:lnTo>
                      <a:pt x="2377741" y="1925904"/>
                    </a:lnTo>
                    <a:lnTo>
                      <a:pt x="0" y="1925904"/>
                    </a:lnTo>
                    <a:close/>
                  </a:path>
                </a:pathLst>
              </a:custGeom>
              <a:solidFill>
                <a:srgbClr val="0D2A4E">
                  <a:alpha val="80000"/>
                </a:srgbClr>
              </a:solidFill>
            </p:spPr>
          </p:sp>
          <p:sp>
            <p:nvSpPr>
              <p:cNvPr name="TextBox 15" id="15"/>
              <p:cNvSpPr txBox="true"/>
              <p:nvPr/>
            </p:nvSpPr>
            <p:spPr>
              <a:xfrm>
                <a:off x="0" y="-114300"/>
                <a:ext cx="2377741" cy="2040204"/>
              </a:xfrm>
              <a:prstGeom prst="rect">
                <a:avLst/>
              </a:prstGeom>
            </p:spPr>
            <p:txBody>
              <a:bodyPr anchor="ctr" rtlCol="false" tIns="50800" lIns="50800" bIns="50800" rIns="50800"/>
              <a:lstStyle/>
              <a:p>
                <a:pPr algn="ctr">
                  <a:lnSpc>
                    <a:spcPts val="2700"/>
                  </a:lnSpc>
                </a:pPr>
              </a:p>
            </p:txBody>
          </p:sp>
        </p:grpSp>
        <p:sp>
          <p:nvSpPr>
            <p:cNvPr name="Freeform 16" id="16"/>
            <p:cNvSpPr/>
            <p:nvPr/>
          </p:nvSpPr>
          <p:spPr>
            <a:xfrm flipH="false" flipV="false" rot="0">
              <a:off x="457583" y="487300"/>
              <a:ext cx="1492968" cy="1658853"/>
            </a:xfrm>
            <a:custGeom>
              <a:avLst/>
              <a:gdLst/>
              <a:ahLst/>
              <a:cxnLst/>
              <a:rect r="r" b="b" t="t" l="l"/>
              <a:pathLst>
                <a:path h="1658853" w="1492968">
                  <a:moveTo>
                    <a:pt x="0" y="0"/>
                  </a:moveTo>
                  <a:lnTo>
                    <a:pt x="1492968" y="0"/>
                  </a:lnTo>
                  <a:lnTo>
                    <a:pt x="1492968" y="1658853"/>
                  </a:lnTo>
                  <a:lnTo>
                    <a:pt x="0" y="16588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457583" y="2700061"/>
              <a:ext cx="1492968" cy="1331132"/>
            </a:xfrm>
            <a:custGeom>
              <a:avLst/>
              <a:gdLst/>
              <a:ahLst/>
              <a:cxnLst/>
              <a:rect r="r" b="b" t="t" l="l"/>
              <a:pathLst>
                <a:path h="1331132" w="1492968">
                  <a:moveTo>
                    <a:pt x="0" y="0"/>
                  </a:moveTo>
                  <a:lnTo>
                    <a:pt x="1492968" y="0"/>
                  </a:lnTo>
                  <a:lnTo>
                    <a:pt x="1492968" y="1331132"/>
                  </a:lnTo>
                  <a:lnTo>
                    <a:pt x="0" y="13311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457583" y="4588218"/>
              <a:ext cx="1492968" cy="1689573"/>
            </a:xfrm>
            <a:custGeom>
              <a:avLst/>
              <a:gdLst/>
              <a:ahLst/>
              <a:cxnLst/>
              <a:rect r="r" b="b" t="t" l="l"/>
              <a:pathLst>
                <a:path h="1689573" w="1492968">
                  <a:moveTo>
                    <a:pt x="0" y="0"/>
                  </a:moveTo>
                  <a:lnTo>
                    <a:pt x="1492968" y="0"/>
                  </a:lnTo>
                  <a:lnTo>
                    <a:pt x="1492968" y="1689573"/>
                  </a:lnTo>
                  <a:lnTo>
                    <a:pt x="0" y="16895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457583" y="6836591"/>
              <a:ext cx="1492968" cy="1613226"/>
            </a:xfrm>
            <a:custGeom>
              <a:avLst/>
              <a:gdLst/>
              <a:ahLst/>
              <a:cxnLst/>
              <a:rect r="r" b="b" t="t" l="l"/>
              <a:pathLst>
                <a:path h="1613226" w="1492968">
                  <a:moveTo>
                    <a:pt x="0" y="0"/>
                  </a:moveTo>
                  <a:lnTo>
                    <a:pt x="1492968" y="0"/>
                  </a:lnTo>
                  <a:lnTo>
                    <a:pt x="1492968" y="1613227"/>
                  </a:lnTo>
                  <a:lnTo>
                    <a:pt x="0" y="16132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2880538" y="3103343"/>
              <a:ext cx="6682640" cy="69537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1" id="21"/>
            <p:cNvSpPr txBox="true"/>
            <p:nvPr/>
          </p:nvSpPr>
          <p:spPr>
            <a:xfrm rot="0">
              <a:off x="2880538" y="899223"/>
              <a:ext cx="6682640" cy="69537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April 2025</a:t>
              </a:r>
            </a:p>
          </p:txBody>
        </p:sp>
        <p:sp>
          <p:nvSpPr>
            <p:cNvPr name="TextBox 22" id="22"/>
            <p:cNvSpPr txBox="true"/>
            <p:nvPr/>
          </p:nvSpPr>
          <p:spPr>
            <a:xfrm rot="0">
              <a:off x="2880538" y="5023380"/>
              <a:ext cx="6682640" cy="69537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50 Participants</a:t>
              </a:r>
            </a:p>
          </p:txBody>
        </p:sp>
        <p:sp>
          <p:nvSpPr>
            <p:cNvPr name="TextBox 23" id="23"/>
            <p:cNvSpPr txBox="true"/>
            <p:nvPr/>
          </p:nvSpPr>
          <p:spPr>
            <a:xfrm rot="0">
              <a:off x="2880538" y="6495126"/>
              <a:ext cx="8566638" cy="2752923"/>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Tumbuh di Era Digital: </a:t>
              </a:r>
            </a:p>
            <a:p>
              <a:pPr algn="l">
                <a:lnSpc>
                  <a:spcPts val="4079"/>
                </a:lnSpc>
              </a:pPr>
              <a:r>
                <a:rPr lang="en-US" sz="3399" spc="33" b="true">
                  <a:solidFill>
                    <a:srgbClr val="FFFFFF"/>
                  </a:solidFill>
                  <a:latin typeface="Mont 1 Bold"/>
                  <a:ea typeface="Mont 1 Bold"/>
                  <a:cs typeface="Mont 1 Bold"/>
                  <a:sym typeface="Mont 1 Bold"/>
                </a:rPr>
                <a:t>Strategi Marketing Lembaga Keuangan yang Patuh Regulasi OJK</a:t>
              </a:r>
            </a:p>
          </p:txBody>
        </p:sp>
      </p:grpSp>
      <p:sp>
        <p:nvSpPr>
          <p:cNvPr name="Freeform 24" id="24"/>
          <p:cNvSpPr/>
          <p:nvPr/>
        </p:nvSpPr>
        <p:spPr>
          <a:xfrm flipH="false" flipV="false" rot="0">
            <a:off x="14760493" y="368875"/>
            <a:ext cx="3218658" cy="1319650"/>
          </a:xfrm>
          <a:custGeom>
            <a:avLst/>
            <a:gdLst/>
            <a:ahLst/>
            <a:cxnLst/>
            <a:rect r="r" b="b" t="t" l="l"/>
            <a:pathLst>
              <a:path h="1319650" w="3218658">
                <a:moveTo>
                  <a:pt x="0" y="0"/>
                </a:moveTo>
                <a:lnTo>
                  <a:pt x="3218658" y="0"/>
                </a:lnTo>
                <a:lnTo>
                  <a:pt x="3218658" y="1319650"/>
                </a:lnTo>
                <a:lnTo>
                  <a:pt x="0" y="1319650"/>
                </a:lnTo>
                <a:lnTo>
                  <a:pt x="0" y="0"/>
                </a:lnTo>
                <a:close/>
              </a:path>
            </a:pathLst>
          </a:custGeom>
          <a:blipFill>
            <a:blip r:embed="rId14"/>
            <a:stretch>
              <a:fillRect l="0" t="0" r="0" b="0"/>
            </a:stretch>
          </a:blipFill>
        </p:spPr>
      </p:sp>
      <p:sp>
        <p:nvSpPr>
          <p:cNvPr name="TextBox 25" id="25"/>
          <p:cNvSpPr txBox="true"/>
          <p:nvPr/>
        </p:nvSpPr>
        <p:spPr>
          <a:xfrm rot="0">
            <a:off x="11128828" y="1992347"/>
            <a:ext cx="6622984" cy="6390486"/>
          </a:xfrm>
          <a:prstGeom prst="rect">
            <a:avLst/>
          </a:prstGeom>
        </p:spPr>
        <p:txBody>
          <a:bodyPr anchor="t" rtlCol="false" tIns="0" lIns="0" bIns="0" rIns="0">
            <a:spAutoFit/>
          </a:bodyPr>
          <a:lstStyle/>
          <a:p>
            <a:pPr algn="l">
              <a:lnSpc>
                <a:spcPts val="5100"/>
              </a:lnSpc>
            </a:pPr>
            <a:r>
              <a:rPr lang="en-US" sz="3400" spc="34" b="true">
                <a:solidFill>
                  <a:srgbClr val="FFFFFF"/>
                </a:solidFill>
                <a:latin typeface="Mont 1 Bold"/>
                <a:ea typeface="Mont 1 Bold"/>
                <a:cs typeface="Mont 1 Bold"/>
                <a:sym typeface="Mont 1 Bold"/>
              </a:rPr>
              <a:t>LIST OF MATERIALS:</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Understanding the Landscape of Digital Marketing in the Banking Industry</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The Importance of Digital Marketing for the Banking Sector</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Key Components of Digital Marketing and Their Application in the Banking Industry</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Growing Through the “DIGITAL” Approach</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Simulation: Defining Target Market, Product Offerings, and Digital Communication Strategies</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Interactive Case Study: Selecting Advertisements in Compliance with OJK Regulations</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Compliant Content Checklist</a:t>
            </a:r>
          </a:p>
        </p:txBody>
      </p:sp>
      <p:sp>
        <p:nvSpPr>
          <p:cNvPr name="TextBox 26" id="26"/>
          <p:cNvSpPr txBox="true"/>
          <p:nvPr/>
        </p:nvSpPr>
        <p:spPr>
          <a:xfrm rot="0">
            <a:off x="767921" y="44367"/>
            <a:ext cx="9233397" cy="2362088"/>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Otoritas Jasa Keuangan (OJK) Yogyakarta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12510361" y="395499"/>
            <a:ext cx="5441809" cy="1088362"/>
          </a:xfrm>
          <a:custGeom>
            <a:avLst/>
            <a:gdLst/>
            <a:ahLst/>
            <a:cxnLst/>
            <a:rect r="r" b="b" t="t" l="l"/>
            <a:pathLst>
              <a:path h="1088362" w="5441809">
                <a:moveTo>
                  <a:pt x="0" y="0"/>
                </a:moveTo>
                <a:lnTo>
                  <a:pt x="5441810" y="0"/>
                </a:lnTo>
                <a:lnTo>
                  <a:pt x="5441810" y="1088362"/>
                </a:lnTo>
                <a:lnTo>
                  <a:pt x="0" y="1088362"/>
                </a:lnTo>
                <a:lnTo>
                  <a:pt x="0" y="0"/>
                </a:lnTo>
                <a:close/>
              </a:path>
            </a:pathLst>
          </a:custGeom>
          <a:blipFill>
            <a:blip r:embed="rId3"/>
            <a:stretch>
              <a:fillRect l="0" t="0" r="0" b="0"/>
            </a:stretch>
          </a:blipFill>
        </p:spPr>
      </p:sp>
      <p:grpSp>
        <p:nvGrpSpPr>
          <p:cNvPr name="Group 5" id="5"/>
          <p:cNvGrpSpPr/>
          <p:nvPr/>
        </p:nvGrpSpPr>
        <p:grpSpPr>
          <a:xfrm rot="0">
            <a:off x="0" y="0"/>
            <a:ext cx="10871382" cy="10287000"/>
            <a:chOff x="0" y="0"/>
            <a:chExt cx="14495176" cy="13716000"/>
          </a:xfrm>
        </p:grpSpPr>
        <p:sp>
          <p:nvSpPr>
            <p:cNvPr name="Freeform 6" id="6"/>
            <p:cNvSpPr/>
            <p:nvPr/>
          </p:nvSpPr>
          <p:spPr>
            <a:xfrm flipH="false" flipV="false" rot="0">
              <a:off x="0" y="0"/>
              <a:ext cx="3730219" cy="6631500"/>
            </a:xfrm>
            <a:custGeom>
              <a:avLst/>
              <a:gdLst/>
              <a:ahLst/>
              <a:cxnLst/>
              <a:rect r="r" b="b" t="t" l="l"/>
              <a:pathLst>
                <a:path h="6631500" w="3730219">
                  <a:moveTo>
                    <a:pt x="0" y="0"/>
                  </a:moveTo>
                  <a:lnTo>
                    <a:pt x="3730219" y="0"/>
                  </a:lnTo>
                  <a:lnTo>
                    <a:pt x="3730219" y="6631500"/>
                  </a:lnTo>
                  <a:lnTo>
                    <a:pt x="0" y="6631500"/>
                  </a:lnTo>
                  <a:lnTo>
                    <a:pt x="0" y="0"/>
                  </a:lnTo>
                  <a:close/>
                </a:path>
              </a:pathLst>
            </a:custGeom>
            <a:blipFill>
              <a:blip r:embed="rId4"/>
              <a:stretch>
                <a:fillRect l="0" t="0" r="0" b="0"/>
              </a:stretch>
            </a:blipFill>
          </p:spPr>
        </p:sp>
        <p:sp>
          <p:nvSpPr>
            <p:cNvPr name="Freeform 7" id="7"/>
            <p:cNvSpPr/>
            <p:nvPr/>
          </p:nvSpPr>
          <p:spPr>
            <a:xfrm flipH="false" flipV="false" rot="0">
              <a:off x="2705843" y="0"/>
              <a:ext cx="11789333" cy="6631500"/>
            </a:xfrm>
            <a:custGeom>
              <a:avLst/>
              <a:gdLst/>
              <a:ahLst/>
              <a:cxnLst/>
              <a:rect r="r" b="b" t="t" l="l"/>
              <a:pathLst>
                <a:path h="6631500" w="11789333">
                  <a:moveTo>
                    <a:pt x="0" y="0"/>
                  </a:moveTo>
                  <a:lnTo>
                    <a:pt x="11789333" y="0"/>
                  </a:lnTo>
                  <a:lnTo>
                    <a:pt x="11789333" y="6631500"/>
                  </a:lnTo>
                  <a:lnTo>
                    <a:pt x="0" y="6631500"/>
                  </a:lnTo>
                  <a:lnTo>
                    <a:pt x="0" y="0"/>
                  </a:lnTo>
                  <a:close/>
                </a:path>
              </a:pathLst>
            </a:custGeom>
            <a:blipFill>
              <a:blip r:embed="rId5"/>
              <a:stretch>
                <a:fillRect l="0" t="0" r="0" b="0"/>
              </a:stretch>
            </a:blipFill>
          </p:spPr>
        </p:sp>
        <p:sp>
          <p:nvSpPr>
            <p:cNvPr name="Freeform 8" id="8"/>
            <p:cNvSpPr/>
            <p:nvPr/>
          </p:nvSpPr>
          <p:spPr>
            <a:xfrm flipH="false" flipV="false" rot="0">
              <a:off x="0" y="6631500"/>
              <a:ext cx="3985031" cy="7084500"/>
            </a:xfrm>
            <a:custGeom>
              <a:avLst/>
              <a:gdLst/>
              <a:ahLst/>
              <a:cxnLst/>
              <a:rect r="r" b="b" t="t" l="l"/>
              <a:pathLst>
                <a:path h="7084500" w="3985031">
                  <a:moveTo>
                    <a:pt x="0" y="0"/>
                  </a:moveTo>
                  <a:lnTo>
                    <a:pt x="3985031" y="0"/>
                  </a:lnTo>
                  <a:lnTo>
                    <a:pt x="3985031" y="7084500"/>
                  </a:lnTo>
                  <a:lnTo>
                    <a:pt x="0" y="7084500"/>
                  </a:lnTo>
                  <a:lnTo>
                    <a:pt x="0" y="0"/>
                  </a:lnTo>
                  <a:close/>
                </a:path>
              </a:pathLst>
            </a:custGeom>
            <a:blipFill>
              <a:blip r:embed="rId6"/>
              <a:stretch>
                <a:fillRect l="0" t="0" r="0" b="0"/>
              </a:stretch>
            </a:blipFill>
          </p:spPr>
        </p:sp>
        <p:sp>
          <p:nvSpPr>
            <p:cNvPr name="Freeform 9" id="9"/>
            <p:cNvSpPr/>
            <p:nvPr/>
          </p:nvSpPr>
          <p:spPr>
            <a:xfrm flipH="false" flipV="false" rot="0">
              <a:off x="3985031" y="6631500"/>
              <a:ext cx="3985031" cy="7084500"/>
            </a:xfrm>
            <a:custGeom>
              <a:avLst/>
              <a:gdLst/>
              <a:ahLst/>
              <a:cxnLst/>
              <a:rect r="r" b="b" t="t" l="l"/>
              <a:pathLst>
                <a:path h="7084500" w="3985031">
                  <a:moveTo>
                    <a:pt x="0" y="0"/>
                  </a:moveTo>
                  <a:lnTo>
                    <a:pt x="3985032" y="0"/>
                  </a:lnTo>
                  <a:lnTo>
                    <a:pt x="3985032" y="7084500"/>
                  </a:lnTo>
                  <a:lnTo>
                    <a:pt x="0" y="7084500"/>
                  </a:lnTo>
                  <a:lnTo>
                    <a:pt x="0" y="0"/>
                  </a:lnTo>
                  <a:close/>
                </a:path>
              </a:pathLst>
            </a:custGeom>
            <a:blipFill>
              <a:blip r:embed="rId7"/>
              <a:stretch>
                <a:fillRect l="0" t="0" r="0" b="0"/>
              </a:stretch>
            </a:blipFill>
          </p:spPr>
        </p:sp>
        <p:sp>
          <p:nvSpPr>
            <p:cNvPr name="Freeform 10" id="10"/>
            <p:cNvSpPr/>
            <p:nvPr/>
          </p:nvSpPr>
          <p:spPr>
            <a:xfrm flipH="false" flipV="false" rot="0">
              <a:off x="7449363" y="6631500"/>
              <a:ext cx="3985031" cy="7084500"/>
            </a:xfrm>
            <a:custGeom>
              <a:avLst/>
              <a:gdLst/>
              <a:ahLst/>
              <a:cxnLst/>
              <a:rect r="r" b="b" t="t" l="l"/>
              <a:pathLst>
                <a:path h="7084500" w="3985031">
                  <a:moveTo>
                    <a:pt x="0" y="0"/>
                  </a:moveTo>
                  <a:lnTo>
                    <a:pt x="3985031" y="0"/>
                  </a:lnTo>
                  <a:lnTo>
                    <a:pt x="3985031" y="7084500"/>
                  </a:lnTo>
                  <a:lnTo>
                    <a:pt x="0" y="7084500"/>
                  </a:lnTo>
                  <a:lnTo>
                    <a:pt x="0" y="0"/>
                  </a:lnTo>
                  <a:close/>
                </a:path>
              </a:pathLst>
            </a:custGeom>
            <a:blipFill>
              <a:blip r:embed="rId8"/>
              <a:stretch>
                <a:fillRect l="0" t="0" r="0" b="0"/>
              </a:stretch>
            </a:blipFill>
          </p:spPr>
        </p:sp>
        <p:sp>
          <p:nvSpPr>
            <p:cNvPr name="Freeform 11" id="11"/>
            <p:cNvSpPr/>
            <p:nvPr/>
          </p:nvSpPr>
          <p:spPr>
            <a:xfrm flipH="false" flipV="false" rot="0">
              <a:off x="10510145" y="6631500"/>
              <a:ext cx="3985031" cy="7084500"/>
            </a:xfrm>
            <a:custGeom>
              <a:avLst/>
              <a:gdLst/>
              <a:ahLst/>
              <a:cxnLst/>
              <a:rect r="r" b="b" t="t" l="l"/>
              <a:pathLst>
                <a:path h="7084500" w="3985031">
                  <a:moveTo>
                    <a:pt x="0" y="0"/>
                  </a:moveTo>
                  <a:lnTo>
                    <a:pt x="3985031" y="0"/>
                  </a:lnTo>
                  <a:lnTo>
                    <a:pt x="3985031" y="7084500"/>
                  </a:lnTo>
                  <a:lnTo>
                    <a:pt x="0" y="7084500"/>
                  </a:lnTo>
                  <a:lnTo>
                    <a:pt x="0" y="0"/>
                  </a:lnTo>
                  <a:close/>
                </a:path>
              </a:pathLst>
            </a:custGeom>
            <a:blipFill>
              <a:blip r:embed="rId9"/>
              <a:stretch>
                <a:fillRect l="0" t="0" r="0" b="0"/>
              </a:stretch>
            </a:blipFill>
          </p:spPr>
        </p:sp>
      </p:grpSp>
      <p:sp>
        <p:nvSpPr>
          <p:cNvPr name="TextBox 12" id="12"/>
          <p:cNvSpPr txBox="true"/>
          <p:nvPr/>
        </p:nvSpPr>
        <p:spPr>
          <a:xfrm rot="0">
            <a:off x="11128828" y="1992347"/>
            <a:ext cx="6823342" cy="4341495"/>
          </a:xfrm>
          <a:prstGeom prst="rect">
            <a:avLst/>
          </a:prstGeom>
        </p:spPr>
        <p:txBody>
          <a:bodyPr anchor="t" rtlCol="false" tIns="0" lIns="0" bIns="0" rIns="0">
            <a:spAutoFit/>
          </a:bodyPr>
          <a:lstStyle/>
          <a:p>
            <a:pPr algn="l">
              <a:lnSpc>
                <a:spcPts val="5100"/>
              </a:lnSpc>
            </a:pPr>
            <a:r>
              <a:rPr lang="en-US" sz="3400" spc="34" b="true">
                <a:solidFill>
                  <a:srgbClr val="FFFFFF"/>
                </a:solidFill>
                <a:latin typeface="Mont 1 Bold"/>
                <a:ea typeface="Mont 1 Bold"/>
                <a:cs typeface="Mont 1 Bold"/>
                <a:sym typeface="Mont 1 Bold"/>
              </a:rPr>
              <a:t>LIST OF MATERIALS:</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Leadership Mindfulness</a:t>
            </a:r>
          </a:p>
          <a:p>
            <a:pPr algn="l" marL="474979" indent="-237490" lvl="1">
              <a:lnSpc>
                <a:spcPts val="3299"/>
              </a:lnSpc>
              <a:buAutoNum type="arabicPeriod" startAt="1"/>
            </a:pPr>
            <a:r>
              <a:rPr lang="en-US" sz="2199" spc="21">
                <a:solidFill>
                  <a:srgbClr val="FFFFFF"/>
                </a:solidFill>
                <a:latin typeface="Mont 1"/>
                <a:ea typeface="Mont 1"/>
                <a:cs typeface="Mont 1"/>
                <a:sym typeface="Mont 1"/>
              </a:rPr>
              <a:t>Lead Yourself</a:t>
            </a:r>
          </a:p>
          <a:p>
            <a:pPr algn="just">
              <a:lnSpc>
                <a:spcPts val="3299"/>
              </a:lnSpc>
            </a:pPr>
            <a:r>
              <a:rPr lang="en-US" sz="2199" spc="21">
                <a:solidFill>
                  <a:srgbClr val="FFFFFF"/>
                </a:solidFill>
                <a:latin typeface="Mont 1"/>
                <a:ea typeface="Mont 1"/>
                <a:cs typeface="Mont 1"/>
                <a:sym typeface="Mont 1"/>
              </a:rPr>
              <a:t>       - </a:t>
            </a:r>
            <a:r>
              <a:rPr lang="en-US" sz="2199" spc="21">
                <a:solidFill>
                  <a:srgbClr val="FFFFFF"/>
                </a:solidFill>
                <a:latin typeface="Mont 1"/>
                <a:ea typeface="Mont 1"/>
                <a:cs typeface="Mont 1"/>
                <a:sym typeface="Mont 1"/>
              </a:rPr>
              <a:t>Problem Solving &amp; Critical Thinking</a:t>
            </a:r>
          </a:p>
          <a:p>
            <a:pPr algn="just">
              <a:lnSpc>
                <a:spcPts val="3299"/>
              </a:lnSpc>
            </a:pPr>
            <a:r>
              <a:rPr lang="en-US" sz="2199" spc="21">
                <a:solidFill>
                  <a:srgbClr val="FFFFFF"/>
                </a:solidFill>
                <a:latin typeface="Mont 1"/>
                <a:ea typeface="Mont 1"/>
                <a:cs typeface="Mont 1"/>
                <a:sym typeface="Mont 1"/>
              </a:rPr>
              <a:t>       - </a:t>
            </a:r>
            <a:r>
              <a:rPr lang="en-US" sz="2199" spc="21">
                <a:solidFill>
                  <a:srgbClr val="FFFFFF"/>
                </a:solidFill>
                <a:latin typeface="Mont 1"/>
                <a:ea typeface="Mont 1"/>
                <a:cs typeface="Mont 1"/>
                <a:sym typeface="Mont 1"/>
              </a:rPr>
              <a:t>Time Management &amp; Productivity</a:t>
            </a:r>
          </a:p>
          <a:p>
            <a:pPr algn="l">
              <a:lnSpc>
                <a:spcPts val="3299"/>
              </a:lnSpc>
            </a:pPr>
            <a:r>
              <a:rPr lang="en-US" sz="2199" spc="21">
                <a:solidFill>
                  <a:srgbClr val="FFFFFF"/>
                </a:solidFill>
                <a:latin typeface="Mont 1"/>
                <a:ea typeface="Mont 1"/>
                <a:cs typeface="Mont 1"/>
                <a:sym typeface="Mont 1"/>
              </a:rPr>
              <a:t>   3. </a:t>
            </a:r>
            <a:r>
              <a:rPr lang="en-US" sz="2199" spc="21">
                <a:solidFill>
                  <a:srgbClr val="FFFFFF"/>
                </a:solidFill>
                <a:latin typeface="Mont 1"/>
                <a:ea typeface="Mont 1"/>
                <a:cs typeface="Mont 1"/>
                <a:sym typeface="Mont 1"/>
              </a:rPr>
              <a:t>Lead Others (and the Society)</a:t>
            </a:r>
          </a:p>
          <a:p>
            <a:pPr algn="l">
              <a:lnSpc>
                <a:spcPts val="3299"/>
              </a:lnSpc>
            </a:pPr>
            <a:r>
              <a:rPr lang="en-US" sz="2199" spc="21">
                <a:solidFill>
                  <a:srgbClr val="FFFFFF"/>
                </a:solidFill>
                <a:latin typeface="Mont 1"/>
                <a:ea typeface="Mont 1"/>
                <a:cs typeface="Mont 1"/>
                <a:sym typeface="Mont 1"/>
              </a:rPr>
              <a:t>       - </a:t>
            </a:r>
            <a:r>
              <a:rPr lang="en-US" sz="2199" spc="21">
                <a:solidFill>
                  <a:srgbClr val="FFFFFF"/>
                </a:solidFill>
                <a:latin typeface="Mont 1"/>
                <a:ea typeface="Mont 1"/>
                <a:cs typeface="Mont 1"/>
                <a:sym typeface="Mont 1"/>
              </a:rPr>
              <a:t>Teamwork &amp; Collaboration</a:t>
            </a:r>
          </a:p>
          <a:p>
            <a:pPr algn="l">
              <a:lnSpc>
                <a:spcPts val="3299"/>
              </a:lnSpc>
            </a:pPr>
            <a:r>
              <a:rPr lang="en-US" sz="2199" spc="21">
                <a:solidFill>
                  <a:srgbClr val="FFFFFF"/>
                </a:solidFill>
                <a:latin typeface="Mont 1"/>
                <a:ea typeface="Mont 1"/>
                <a:cs typeface="Mont 1"/>
                <a:sym typeface="Mont 1"/>
              </a:rPr>
              <a:t>       - </a:t>
            </a:r>
            <a:r>
              <a:rPr lang="en-US" sz="2199" spc="21">
                <a:solidFill>
                  <a:srgbClr val="FFFFFF"/>
                </a:solidFill>
                <a:latin typeface="Mont 1"/>
                <a:ea typeface="Mont 1"/>
                <a:cs typeface="Mont 1"/>
                <a:sym typeface="Mont 1"/>
              </a:rPr>
              <a:t>Ownership Mindset</a:t>
            </a:r>
          </a:p>
          <a:p>
            <a:pPr algn="l">
              <a:lnSpc>
                <a:spcPts val="3299"/>
              </a:lnSpc>
            </a:pPr>
            <a:r>
              <a:rPr lang="en-US" sz="2199" spc="21">
                <a:solidFill>
                  <a:srgbClr val="FFFFFF"/>
                </a:solidFill>
                <a:latin typeface="Mont 1"/>
                <a:ea typeface="Mont 1"/>
                <a:cs typeface="Mont 1"/>
                <a:sym typeface="Mont 1"/>
              </a:rPr>
              <a:t>       - </a:t>
            </a:r>
            <a:r>
              <a:rPr lang="en-US" sz="2199" spc="21">
                <a:solidFill>
                  <a:srgbClr val="FFFFFF"/>
                </a:solidFill>
                <a:latin typeface="Mont 1"/>
                <a:ea typeface="Mont 1"/>
                <a:cs typeface="Mont 1"/>
                <a:sym typeface="Mont 1"/>
              </a:rPr>
              <a:t>Customer Service Excellence (Hospitality)</a:t>
            </a:r>
          </a:p>
          <a:p>
            <a:pPr algn="l">
              <a:lnSpc>
                <a:spcPts val="3299"/>
              </a:lnSpc>
            </a:pPr>
            <a:r>
              <a:rPr lang="en-US" sz="2199" spc="21">
                <a:solidFill>
                  <a:srgbClr val="FFFFFF"/>
                </a:solidFill>
                <a:latin typeface="Mont 1"/>
                <a:ea typeface="Mont 1"/>
                <a:cs typeface="Mont 1"/>
                <a:sym typeface="Mont 1"/>
              </a:rPr>
              <a:t>   4. </a:t>
            </a:r>
            <a:r>
              <a:rPr lang="en-US" sz="2199" spc="21">
                <a:solidFill>
                  <a:srgbClr val="FFFFFF"/>
                </a:solidFill>
                <a:latin typeface="Mont 1"/>
                <a:ea typeface="Mont 1"/>
                <a:cs typeface="Mont 1"/>
                <a:sym typeface="Mont 1"/>
              </a:rPr>
              <a:t>Grow Another Leader</a:t>
            </a:r>
          </a:p>
        </p:txBody>
      </p:sp>
      <p:grpSp>
        <p:nvGrpSpPr>
          <p:cNvPr name="Group 13" id="13"/>
          <p:cNvGrpSpPr/>
          <p:nvPr/>
        </p:nvGrpSpPr>
        <p:grpSpPr>
          <a:xfrm rot="0">
            <a:off x="0" y="0"/>
            <a:ext cx="10871382" cy="10490802"/>
            <a:chOff x="0" y="0"/>
            <a:chExt cx="2863245" cy="2763010"/>
          </a:xfrm>
        </p:grpSpPr>
        <p:sp>
          <p:nvSpPr>
            <p:cNvPr name="Freeform 14" id="14"/>
            <p:cNvSpPr/>
            <p:nvPr/>
          </p:nvSpPr>
          <p:spPr>
            <a:xfrm flipH="false" flipV="false" rot="0">
              <a:off x="0" y="0"/>
              <a:ext cx="2863245" cy="2763009"/>
            </a:xfrm>
            <a:custGeom>
              <a:avLst/>
              <a:gdLst/>
              <a:ahLst/>
              <a:cxnLst/>
              <a:rect r="r" b="b" t="t" l="l"/>
              <a:pathLst>
                <a:path h="2763009" w="2863245">
                  <a:moveTo>
                    <a:pt x="0" y="0"/>
                  </a:moveTo>
                  <a:lnTo>
                    <a:pt x="2863245" y="0"/>
                  </a:lnTo>
                  <a:lnTo>
                    <a:pt x="2863245" y="2763009"/>
                  </a:lnTo>
                  <a:lnTo>
                    <a:pt x="0" y="2763009"/>
                  </a:lnTo>
                  <a:close/>
                </a:path>
              </a:pathLst>
            </a:custGeom>
            <a:solidFill>
              <a:srgbClr val="000000">
                <a:alpha val="40000"/>
              </a:srgbClr>
            </a:solidFill>
          </p:spPr>
        </p:sp>
        <p:sp>
          <p:nvSpPr>
            <p:cNvPr name="TextBox 15" id="15"/>
            <p:cNvSpPr txBox="true"/>
            <p:nvPr/>
          </p:nvSpPr>
          <p:spPr>
            <a:xfrm>
              <a:off x="0" y="-9525"/>
              <a:ext cx="2863245" cy="2772535"/>
            </a:xfrm>
            <a:prstGeom prst="rect">
              <a:avLst/>
            </a:prstGeom>
          </p:spPr>
          <p:txBody>
            <a:bodyPr anchor="ctr" rtlCol="false" tIns="50800" lIns="50800" bIns="50800" rIns="50800"/>
            <a:lstStyle/>
            <a:p>
              <a:pPr algn="ctr">
                <a:lnSpc>
                  <a:spcPts val="2538"/>
                </a:lnSpc>
              </a:pPr>
            </a:p>
          </p:txBody>
        </p:sp>
      </p:grpSp>
      <p:grpSp>
        <p:nvGrpSpPr>
          <p:cNvPr name="Group 16" id="16"/>
          <p:cNvGrpSpPr/>
          <p:nvPr/>
        </p:nvGrpSpPr>
        <p:grpSpPr>
          <a:xfrm rot="0">
            <a:off x="833682" y="2483027"/>
            <a:ext cx="9027987" cy="7312417"/>
            <a:chOff x="0" y="0"/>
            <a:chExt cx="2377741" cy="1925904"/>
          </a:xfrm>
        </p:grpSpPr>
        <p:sp>
          <p:nvSpPr>
            <p:cNvPr name="Freeform 17" id="17"/>
            <p:cNvSpPr/>
            <p:nvPr/>
          </p:nvSpPr>
          <p:spPr>
            <a:xfrm flipH="false" flipV="false" rot="0">
              <a:off x="0" y="0"/>
              <a:ext cx="2377741" cy="1925904"/>
            </a:xfrm>
            <a:custGeom>
              <a:avLst/>
              <a:gdLst/>
              <a:ahLst/>
              <a:cxnLst/>
              <a:rect r="r" b="b" t="t" l="l"/>
              <a:pathLst>
                <a:path h="1925904" w="2377741">
                  <a:moveTo>
                    <a:pt x="0" y="0"/>
                  </a:moveTo>
                  <a:lnTo>
                    <a:pt x="2377741" y="0"/>
                  </a:lnTo>
                  <a:lnTo>
                    <a:pt x="2377741" y="1925904"/>
                  </a:lnTo>
                  <a:lnTo>
                    <a:pt x="0" y="1925904"/>
                  </a:lnTo>
                  <a:close/>
                </a:path>
              </a:pathLst>
            </a:custGeom>
            <a:solidFill>
              <a:srgbClr val="0D2A4E">
                <a:alpha val="80000"/>
              </a:srgbClr>
            </a:solidFill>
          </p:spPr>
        </p:sp>
        <p:sp>
          <p:nvSpPr>
            <p:cNvPr name="TextBox 18" id="18"/>
            <p:cNvSpPr txBox="true"/>
            <p:nvPr/>
          </p:nvSpPr>
          <p:spPr>
            <a:xfrm>
              <a:off x="0" y="-114300"/>
              <a:ext cx="2377741" cy="2040204"/>
            </a:xfrm>
            <a:prstGeom prst="rect">
              <a:avLst/>
            </a:prstGeom>
          </p:spPr>
          <p:txBody>
            <a:bodyPr anchor="ctr" rtlCol="false" tIns="50800" lIns="50800" bIns="50800" rIns="50800"/>
            <a:lstStyle/>
            <a:p>
              <a:pPr algn="ctr">
                <a:lnSpc>
                  <a:spcPts val="2700"/>
                </a:lnSpc>
              </a:pPr>
            </a:p>
          </p:txBody>
        </p:sp>
      </p:grpSp>
      <p:sp>
        <p:nvSpPr>
          <p:cNvPr name="Freeform 19" id="19"/>
          <p:cNvSpPr/>
          <p:nvPr/>
        </p:nvSpPr>
        <p:spPr>
          <a:xfrm flipH="false" flipV="false" rot="0">
            <a:off x="1176869" y="2848502"/>
            <a:ext cx="1119726" cy="1244140"/>
          </a:xfrm>
          <a:custGeom>
            <a:avLst/>
            <a:gdLst/>
            <a:ahLst/>
            <a:cxnLst/>
            <a:rect r="r" b="b" t="t" l="l"/>
            <a:pathLst>
              <a:path h="1244140" w="1119726">
                <a:moveTo>
                  <a:pt x="0" y="0"/>
                </a:moveTo>
                <a:lnTo>
                  <a:pt x="1119726" y="0"/>
                </a:lnTo>
                <a:lnTo>
                  <a:pt x="1119726" y="1244140"/>
                </a:lnTo>
                <a:lnTo>
                  <a:pt x="0" y="12441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176869" y="4508073"/>
            <a:ext cx="1119726" cy="998349"/>
          </a:xfrm>
          <a:custGeom>
            <a:avLst/>
            <a:gdLst/>
            <a:ahLst/>
            <a:cxnLst/>
            <a:rect r="r" b="b" t="t" l="l"/>
            <a:pathLst>
              <a:path h="998349" w="1119726">
                <a:moveTo>
                  <a:pt x="0" y="0"/>
                </a:moveTo>
                <a:lnTo>
                  <a:pt x="1119726" y="0"/>
                </a:lnTo>
                <a:lnTo>
                  <a:pt x="1119726" y="998349"/>
                </a:lnTo>
                <a:lnTo>
                  <a:pt x="0" y="9983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1176869" y="5924191"/>
            <a:ext cx="1119726" cy="1267179"/>
          </a:xfrm>
          <a:custGeom>
            <a:avLst/>
            <a:gdLst/>
            <a:ahLst/>
            <a:cxnLst/>
            <a:rect r="r" b="b" t="t" l="l"/>
            <a:pathLst>
              <a:path h="1267179" w="1119726">
                <a:moveTo>
                  <a:pt x="0" y="0"/>
                </a:moveTo>
                <a:lnTo>
                  <a:pt x="1119726" y="0"/>
                </a:lnTo>
                <a:lnTo>
                  <a:pt x="1119726" y="1267179"/>
                </a:lnTo>
                <a:lnTo>
                  <a:pt x="0" y="12671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1176869" y="7610470"/>
            <a:ext cx="1119726" cy="1209920"/>
          </a:xfrm>
          <a:custGeom>
            <a:avLst/>
            <a:gdLst/>
            <a:ahLst/>
            <a:cxnLst/>
            <a:rect r="r" b="b" t="t" l="l"/>
            <a:pathLst>
              <a:path h="1209920" w="1119726">
                <a:moveTo>
                  <a:pt x="0" y="0"/>
                </a:moveTo>
                <a:lnTo>
                  <a:pt x="1119726" y="0"/>
                </a:lnTo>
                <a:lnTo>
                  <a:pt x="1119726" y="1209920"/>
                </a:lnTo>
                <a:lnTo>
                  <a:pt x="0" y="12099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3" id="23"/>
          <p:cNvSpPr txBox="true"/>
          <p:nvPr/>
        </p:nvSpPr>
        <p:spPr>
          <a:xfrm rot="0">
            <a:off x="730977" y="425702"/>
            <a:ext cx="9233397" cy="1638226"/>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Alex AC Mobil Semarang</a:t>
            </a:r>
          </a:p>
        </p:txBody>
      </p:sp>
      <p:sp>
        <p:nvSpPr>
          <p:cNvPr name="TextBox 24" id="24"/>
          <p:cNvSpPr txBox="true"/>
          <p:nvPr/>
        </p:nvSpPr>
        <p:spPr>
          <a:xfrm rot="0">
            <a:off x="2994086" y="480815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5" id="25"/>
          <p:cNvSpPr txBox="true"/>
          <p:nvPr/>
        </p:nvSpPr>
        <p:spPr>
          <a:xfrm rot="0">
            <a:off x="2994086" y="315506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Mei 2025</a:t>
            </a:r>
          </a:p>
        </p:txBody>
      </p:sp>
      <p:sp>
        <p:nvSpPr>
          <p:cNvPr name="TextBox 26" id="26"/>
          <p:cNvSpPr txBox="true"/>
          <p:nvPr/>
        </p:nvSpPr>
        <p:spPr>
          <a:xfrm rot="0">
            <a:off x="2994086" y="6248181"/>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25 Participants</a:t>
            </a:r>
          </a:p>
        </p:txBody>
      </p:sp>
      <p:sp>
        <p:nvSpPr>
          <p:cNvPr name="TextBox 27" id="27"/>
          <p:cNvSpPr txBox="true"/>
          <p:nvPr/>
        </p:nvSpPr>
        <p:spPr>
          <a:xfrm rot="0">
            <a:off x="2994086" y="7351990"/>
            <a:ext cx="6424978" cy="1552687"/>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Naik Level di Tempat Kerja:</a:t>
            </a:r>
          </a:p>
          <a:p>
            <a:pPr algn="l">
              <a:lnSpc>
                <a:spcPts val="4079"/>
              </a:lnSpc>
            </a:pPr>
            <a:r>
              <a:rPr lang="en-US" sz="3399" spc="33">
                <a:solidFill>
                  <a:srgbClr val="FFFFFF"/>
                </a:solidFill>
                <a:latin typeface="Mont 1"/>
                <a:ea typeface="Mont 1"/>
                <a:cs typeface="Mont 1"/>
                <a:sym typeface="Mont 1"/>
              </a:rPr>
              <a:t>Ownership, Customer Excellence &amp; Productivity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10871382"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0" y="0"/>
            <a:ext cx="2717528" cy="4831161"/>
          </a:xfrm>
          <a:custGeom>
            <a:avLst/>
            <a:gdLst/>
            <a:ahLst/>
            <a:cxnLst/>
            <a:rect r="r" b="b" t="t" l="l"/>
            <a:pathLst>
              <a:path h="4831161" w="2717528">
                <a:moveTo>
                  <a:pt x="0" y="0"/>
                </a:moveTo>
                <a:lnTo>
                  <a:pt x="2717528" y="0"/>
                </a:lnTo>
                <a:lnTo>
                  <a:pt x="2717528" y="4831161"/>
                </a:lnTo>
                <a:lnTo>
                  <a:pt x="0" y="4831161"/>
                </a:lnTo>
                <a:lnTo>
                  <a:pt x="0" y="0"/>
                </a:lnTo>
                <a:close/>
              </a:path>
            </a:pathLst>
          </a:custGeom>
          <a:blipFill>
            <a:blip r:embed="rId3"/>
            <a:stretch>
              <a:fillRect l="0" t="0" r="0" b="0"/>
            </a:stretch>
          </a:blipFill>
        </p:spPr>
      </p:sp>
      <p:sp>
        <p:nvSpPr>
          <p:cNvPr name="Freeform 5" id="5"/>
          <p:cNvSpPr/>
          <p:nvPr/>
        </p:nvSpPr>
        <p:spPr>
          <a:xfrm flipH="false" flipV="false" rot="0">
            <a:off x="2717528" y="0"/>
            <a:ext cx="7977823" cy="4831161"/>
          </a:xfrm>
          <a:custGeom>
            <a:avLst/>
            <a:gdLst/>
            <a:ahLst/>
            <a:cxnLst/>
            <a:rect r="r" b="b" t="t" l="l"/>
            <a:pathLst>
              <a:path h="4831161" w="7977823">
                <a:moveTo>
                  <a:pt x="0" y="0"/>
                </a:moveTo>
                <a:lnTo>
                  <a:pt x="7977823" y="0"/>
                </a:lnTo>
                <a:lnTo>
                  <a:pt x="7977823" y="4831161"/>
                </a:lnTo>
                <a:lnTo>
                  <a:pt x="0" y="4831161"/>
                </a:lnTo>
                <a:lnTo>
                  <a:pt x="0" y="0"/>
                </a:lnTo>
                <a:close/>
              </a:path>
            </a:pathLst>
          </a:custGeom>
          <a:blipFill>
            <a:blip r:embed="rId4"/>
            <a:stretch>
              <a:fillRect l="-7657" t="0" r="0" b="0"/>
            </a:stretch>
          </a:blipFill>
        </p:spPr>
      </p:sp>
      <p:sp>
        <p:nvSpPr>
          <p:cNvPr name="Freeform 6" id="6"/>
          <p:cNvSpPr/>
          <p:nvPr/>
        </p:nvSpPr>
        <p:spPr>
          <a:xfrm flipH="false" flipV="false" rot="0">
            <a:off x="-2072827" y="4831161"/>
            <a:ext cx="9699269" cy="5455839"/>
          </a:xfrm>
          <a:custGeom>
            <a:avLst/>
            <a:gdLst/>
            <a:ahLst/>
            <a:cxnLst/>
            <a:rect r="r" b="b" t="t" l="l"/>
            <a:pathLst>
              <a:path h="5455839" w="9699269">
                <a:moveTo>
                  <a:pt x="0" y="0"/>
                </a:moveTo>
                <a:lnTo>
                  <a:pt x="9699269" y="0"/>
                </a:lnTo>
                <a:lnTo>
                  <a:pt x="9699269" y="5455839"/>
                </a:lnTo>
                <a:lnTo>
                  <a:pt x="0" y="5455839"/>
                </a:lnTo>
                <a:lnTo>
                  <a:pt x="0" y="0"/>
                </a:lnTo>
                <a:close/>
              </a:path>
            </a:pathLst>
          </a:custGeom>
          <a:blipFill>
            <a:blip r:embed="rId5"/>
            <a:stretch>
              <a:fillRect l="0" t="0" r="0" b="0"/>
            </a:stretch>
          </a:blipFill>
        </p:spPr>
      </p:sp>
      <p:sp>
        <p:nvSpPr>
          <p:cNvPr name="Freeform 7" id="7"/>
          <p:cNvSpPr/>
          <p:nvPr/>
        </p:nvSpPr>
        <p:spPr>
          <a:xfrm flipH="false" flipV="false" rot="0">
            <a:off x="7626442" y="4831161"/>
            <a:ext cx="3068909" cy="5455839"/>
          </a:xfrm>
          <a:custGeom>
            <a:avLst/>
            <a:gdLst/>
            <a:ahLst/>
            <a:cxnLst/>
            <a:rect r="r" b="b" t="t" l="l"/>
            <a:pathLst>
              <a:path h="5455839" w="3068909">
                <a:moveTo>
                  <a:pt x="0" y="0"/>
                </a:moveTo>
                <a:lnTo>
                  <a:pt x="3068909" y="0"/>
                </a:lnTo>
                <a:lnTo>
                  <a:pt x="3068909" y="5455839"/>
                </a:lnTo>
                <a:lnTo>
                  <a:pt x="0" y="5455839"/>
                </a:lnTo>
                <a:lnTo>
                  <a:pt x="0" y="0"/>
                </a:lnTo>
                <a:close/>
              </a:path>
            </a:pathLst>
          </a:custGeom>
          <a:blipFill>
            <a:blip r:embed="rId6"/>
            <a:stretch>
              <a:fillRect l="0" t="0" r="0" b="0"/>
            </a:stretch>
          </a:blipFill>
        </p:spPr>
      </p:sp>
      <p:grpSp>
        <p:nvGrpSpPr>
          <p:cNvPr name="Group 8" id="8"/>
          <p:cNvGrpSpPr/>
          <p:nvPr/>
        </p:nvGrpSpPr>
        <p:grpSpPr>
          <a:xfrm rot="0">
            <a:off x="0" y="0"/>
            <a:ext cx="10695351" cy="10378794"/>
            <a:chOff x="0" y="0"/>
            <a:chExt cx="2816883" cy="2733510"/>
          </a:xfrm>
        </p:grpSpPr>
        <p:sp>
          <p:nvSpPr>
            <p:cNvPr name="Freeform 9" id="9"/>
            <p:cNvSpPr/>
            <p:nvPr/>
          </p:nvSpPr>
          <p:spPr>
            <a:xfrm flipH="false" flipV="false" rot="0">
              <a:off x="0" y="0"/>
              <a:ext cx="2816883" cy="2733510"/>
            </a:xfrm>
            <a:custGeom>
              <a:avLst/>
              <a:gdLst/>
              <a:ahLst/>
              <a:cxnLst/>
              <a:rect r="r" b="b" t="t" l="l"/>
              <a:pathLst>
                <a:path h="2733510" w="2816883">
                  <a:moveTo>
                    <a:pt x="0" y="0"/>
                  </a:moveTo>
                  <a:lnTo>
                    <a:pt x="2816883" y="0"/>
                  </a:lnTo>
                  <a:lnTo>
                    <a:pt x="2816883" y="2733510"/>
                  </a:lnTo>
                  <a:lnTo>
                    <a:pt x="0" y="2733510"/>
                  </a:lnTo>
                  <a:close/>
                </a:path>
              </a:pathLst>
            </a:custGeom>
            <a:solidFill>
              <a:srgbClr val="000000">
                <a:alpha val="40000"/>
              </a:srgbClr>
            </a:solidFill>
          </p:spPr>
        </p:sp>
        <p:sp>
          <p:nvSpPr>
            <p:cNvPr name="TextBox 10" id="10"/>
            <p:cNvSpPr txBox="true"/>
            <p:nvPr/>
          </p:nvSpPr>
          <p:spPr>
            <a:xfrm>
              <a:off x="0" y="-9525"/>
              <a:ext cx="2816883" cy="2743035"/>
            </a:xfrm>
            <a:prstGeom prst="rect">
              <a:avLst/>
            </a:prstGeom>
          </p:spPr>
          <p:txBody>
            <a:bodyPr anchor="ctr" rtlCol="false" tIns="50800" lIns="50800" bIns="50800" rIns="50800"/>
            <a:lstStyle/>
            <a:p>
              <a:pPr algn="ctr">
                <a:lnSpc>
                  <a:spcPts val="2538"/>
                </a:lnSpc>
              </a:pPr>
            </a:p>
          </p:txBody>
        </p:sp>
      </p:grpSp>
      <p:grpSp>
        <p:nvGrpSpPr>
          <p:cNvPr name="Group 11" id="11"/>
          <p:cNvGrpSpPr/>
          <p:nvPr/>
        </p:nvGrpSpPr>
        <p:grpSpPr>
          <a:xfrm rot="0">
            <a:off x="833682" y="2106647"/>
            <a:ext cx="9027987" cy="7312417"/>
            <a:chOff x="0" y="0"/>
            <a:chExt cx="2377741" cy="1925904"/>
          </a:xfrm>
        </p:grpSpPr>
        <p:sp>
          <p:nvSpPr>
            <p:cNvPr name="Freeform 12" id="12"/>
            <p:cNvSpPr/>
            <p:nvPr/>
          </p:nvSpPr>
          <p:spPr>
            <a:xfrm flipH="false" flipV="false" rot="0">
              <a:off x="0" y="0"/>
              <a:ext cx="2377741" cy="1925904"/>
            </a:xfrm>
            <a:custGeom>
              <a:avLst/>
              <a:gdLst/>
              <a:ahLst/>
              <a:cxnLst/>
              <a:rect r="r" b="b" t="t" l="l"/>
              <a:pathLst>
                <a:path h="1925904" w="2377741">
                  <a:moveTo>
                    <a:pt x="0" y="0"/>
                  </a:moveTo>
                  <a:lnTo>
                    <a:pt x="2377741" y="0"/>
                  </a:lnTo>
                  <a:lnTo>
                    <a:pt x="2377741" y="1925904"/>
                  </a:lnTo>
                  <a:lnTo>
                    <a:pt x="0" y="1925904"/>
                  </a:lnTo>
                  <a:close/>
                </a:path>
              </a:pathLst>
            </a:custGeom>
            <a:solidFill>
              <a:srgbClr val="0D2A4E">
                <a:alpha val="60000"/>
              </a:srgbClr>
            </a:solidFill>
          </p:spPr>
        </p:sp>
        <p:sp>
          <p:nvSpPr>
            <p:cNvPr name="TextBox 13" id="13"/>
            <p:cNvSpPr txBox="true"/>
            <p:nvPr/>
          </p:nvSpPr>
          <p:spPr>
            <a:xfrm>
              <a:off x="0" y="-114300"/>
              <a:ext cx="2377741" cy="2040204"/>
            </a:xfrm>
            <a:prstGeom prst="rect">
              <a:avLst/>
            </a:prstGeom>
          </p:spPr>
          <p:txBody>
            <a:bodyPr anchor="ctr" rtlCol="false" tIns="50800" lIns="50800" bIns="50800" rIns="50800"/>
            <a:lstStyle/>
            <a:p>
              <a:pPr algn="ctr">
                <a:lnSpc>
                  <a:spcPts val="2700"/>
                </a:lnSpc>
              </a:pPr>
            </a:p>
          </p:txBody>
        </p:sp>
      </p:grpSp>
      <p:sp>
        <p:nvSpPr>
          <p:cNvPr name="Freeform 14" id="14"/>
          <p:cNvSpPr/>
          <p:nvPr/>
        </p:nvSpPr>
        <p:spPr>
          <a:xfrm flipH="false" flipV="false" rot="0">
            <a:off x="1176869" y="2472122"/>
            <a:ext cx="1119726" cy="1244140"/>
          </a:xfrm>
          <a:custGeom>
            <a:avLst/>
            <a:gdLst/>
            <a:ahLst/>
            <a:cxnLst/>
            <a:rect r="r" b="b" t="t" l="l"/>
            <a:pathLst>
              <a:path h="1244140" w="1119726">
                <a:moveTo>
                  <a:pt x="0" y="0"/>
                </a:moveTo>
                <a:lnTo>
                  <a:pt x="1119726" y="0"/>
                </a:lnTo>
                <a:lnTo>
                  <a:pt x="1119726" y="1244140"/>
                </a:lnTo>
                <a:lnTo>
                  <a:pt x="0" y="12441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767921" y="44367"/>
            <a:ext cx="8355162" cy="1638300"/>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5700"/>
              </a:lnSpc>
            </a:pPr>
            <a:r>
              <a:rPr lang="en-US" sz="5000" spc="-185">
                <a:solidFill>
                  <a:srgbClr val="FFFFFF"/>
                </a:solidFill>
                <a:latin typeface="Mont 2"/>
                <a:ea typeface="Mont 2"/>
                <a:cs typeface="Mont 2"/>
                <a:sym typeface="Mont 2"/>
              </a:rPr>
              <a:t>Indosat Ooredoo Hutchison</a:t>
            </a:r>
          </a:p>
        </p:txBody>
      </p:sp>
      <p:sp>
        <p:nvSpPr>
          <p:cNvPr name="TextBox 16" id="16"/>
          <p:cNvSpPr txBox="true"/>
          <p:nvPr/>
        </p:nvSpPr>
        <p:spPr>
          <a:xfrm rot="0">
            <a:off x="2994086" y="443177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Freeform 17" id="17"/>
          <p:cNvSpPr/>
          <p:nvPr/>
        </p:nvSpPr>
        <p:spPr>
          <a:xfrm flipH="false" flipV="false" rot="0">
            <a:off x="1176869" y="4131693"/>
            <a:ext cx="1119726" cy="998349"/>
          </a:xfrm>
          <a:custGeom>
            <a:avLst/>
            <a:gdLst/>
            <a:ahLst/>
            <a:cxnLst/>
            <a:rect r="r" b="b" t="t" l="l"/>
            <a:pathLst>
              <a:path h="998349" w="1119726">
                <a:moveTo>
                  <a:pt x="0" y="0"/>
                </a:moveTo>
                <a:lnTo>
                  <a:pt x="1119726" y="0"/>
                </a:lnTo>
                <a:lnTo>
                  <a:pt x="1119726" y="998349"/>
                </a:lnTo>
                <a:lnTo>
                  <a:pt x="0" y="9983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2994086" y="277868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July 2024</a:t>
            </a:r>
          </a:p>
        </p:txBody>
      </p:sp>
      <p:sp>
        <p:nvSpPr>
          <p:cNvPr name="Freeform 19" id="19"/>
          <p:cNvSpPr/>
          <p:nvPr/>
        </p:nvSpPr>
        <p:spPr>
          <a:xfrm flipH="false" flipV="false" rot="0">
            <a:off x="1176869" y="5547811"/>
            <a:ext cx="1119726" cy="1267179"/>
          </a:xfrm>
          <a:custGeom>
            <a:avLst/>
            <a:gdLst/>
            <a:ahLst/>
            <a:cxnLst/>
            <a:rect r="r" b="b" t="t" l="l"/>
            <a:pathLst>
              <a:path h="1267179" w="1119726">
                <a:moveTo>
                  <a:pt x="0" y="0"/>
                </a:moveTo>
                <a:lnTo>
                  <a:pt x="1119726" y="0"/>
                </a:lnTo>
                <a:lnTo>
                  <a:pt x="1119726" y="1267179"/>
                </a:lnTo>
                <a:lnTo>
                  <a:pt x="0" y="126717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2994086" y="5871801"/>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30 Participants</a:t>
            </a:r>
          </a:p>
        </p:txBody>
      </p:sp>
      <p:sp>
        <p:nvSpPr>
          <p:cNvPr name="Freeform 21" id="21"/>
          <p:cNvSpPr/>
          <p:nvPr/>
        </p:nvSpPr>
        <p:spPr>
          <a:xfrm flipH="false" flipV="false" rot="0">
            <a:off x="1176869" y="7234090"/>
            <a:ext cx="1119726" cy="1209920"/>
          </a:xfrm>
          <a:custGeom>
            <a:avLst/>
            <a:gdLst/>
            <a:ahLst/>
            <a:cxnLst/>
            <a:rect r="r" b="b" t="t" l="l"/>
            <a:pathLst>
              <a:path h="1209920" w="1119726">
                <a:moveTo>
                  <a:pt x="0" y="0"/>
                </a:moveTo>
                <a:lnTo>
                  <a:pt x="1119726" y="0"/>
                </a:lnTo>
                <a:lnTo>
                  <a:pt x="1119726" y="1209920"/>
                </a:lnTo>
                <a:lnTo>
                  <a:pt x="0" y="120992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2" id="22"/>
          <p:cNvSpPr txBox="true"/>
          <p:nvPr/>
        </p:nvSpPr>
        <p:spPr>
          <a:xfrm rot="0">
            <a:off x="2994086" y="7224565"/>
            <a:ext cx="6424978" cy="1552687"/>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Effective CS Techniques for Gen Z on Indosat Ooredoo’s Socmed</a:t>
            </a:r>
          </a:p>
        </p:txBody>
      </p:sp>
      <p:sp>
        <p:nvSpPr>
          <p:cNvPr name="TextBox 23" id="23"/>
          <p:cNvSpPr txBox="true"/>
          <p:nvPr/>
        </p:nvSpPr>
        <p:spPr>
          <a:xfrm rot="0">
            <a:off x="11128828" y="1992347"/>
            <a:ext cx="6622984" cy="3394710"/>
          </a:xfrm>
          <a:prstGeom prst="rect">
            <a:avLst/>
          </a:prstGeom>
        </p:spPr>
        <p:txBody>
          <a:bodyPr anchor="t" rtlCol="false" tIns="0" lIns="0" bIns="0" rIns="0">
            <a:spAutoFit/>
          </a:bodyPr>
          <a:lstStyle/>
          <a:p>
            <a:pPr algn="l">
              <a:lnSpc>
                <a:spcPts val="5100"/>
              </a:lnSpc>
            </a:pPr>
            <a:r>
              <a:rPr lang="en-US" sz="3400" spc="34" b="true">
                <a:solidFill>
                  <a:srgbClr val="FFFFFF"/>
                </a:solidFill>
                <a:latin typeface="Mont 1 Bold"/>
                <a:ea typeface="Mont 1 Bold"/>
                <a:cs typeface="Mont 1 Bold"/>
                <a:sym typeface="Mont 1 Bold"/>
              </a:rPr>
              <a:t>LIST OF MATERIALS: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Understanding Gen Z</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Main Metrics in Socmed Measurement</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Crafting Effective Responses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Engaging Content for CS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Dealing with Difficult Situations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Interactive Session and Role-Play</a:t>
            </a:r>
          </a:p>
        </p:txBody>
      </p:sp>
      <p:sp>
        <p:nvSpPr>
          <p:cNvPr name="Freeform 24" id="24"/>
          <p:cNvSpPr/>
          <p:nvPr/>
        </p:nvSpPr>
        <p:spPr>
          <a:xfrm flipH="false" flipV="false" rot="0">
            <a:off x="14141025" y="285787"/>
            <a:ext cx="3814139" cy="1327072"/>
          </a:xfrm>
          <a:custGeom>
            <a:avLst/>
            <a:gdLst/>
            <a:ahLst/>
            <a:cxnLst/>
            <a:rect r="r" b="b" t="t" l="l"/>
            <a:pathLst>
              <a:path h="1327072" w="3814139">
                <a:moveTo>
                  <a:pt x="0" y="0"/>
                </a:moveTo>
                <a:lnTo>
                  <a:pt x="3814139" y="0"/>
                </a:lnTo>
                <a:lnTo>
                  <a:pt x="3814139" y="1327072"/>
                </a:lnTo>
                <a:lnTo>
                  <a:pt x="0" y="1327072"/>
                </a:lnTo>
                <a:lnTo>
                  <a:pt x="0" y="0"/>
                </a:lnTo>
                <a:close/>
              </a:path>
            </a:pathLst>
          </a:custGeom>
          <a:blipFill>
            <a:blip r:embed="rId15"/>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871382"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3" id="3"/>
          <p:cNvSpPr/>
          <p:nvPr/>
        </p:nvSpPr>
        <p:spPr>
          <a:xfrm flipH="false" flipV="false" rot="0">
            <a:off x="0" y="0"/>
            <a:ext cx="3851291" cy="5143500"/>
          </a:xfrm>
          <a:custGeom>
            <a:avLst/>
            <a:gdLst/>
            <a:ahLst/>
            <a:cxnLst/>
            <a:rect r="r" b="b" t="t" l="l"/>
            <a:pathLst>
              <a:path h="5143500" w="3851291">
                <a:moveTo>
                  <a:pt x="0" y="0"/>
                </a:moveTo>
                <a:lnTo>
                  <a:pt x="3851291" y="0"/>
                </a:lnTo>
                <a:lnTo>
                  <a:pt x="3851291" y="5143500"/>
                </a:lnTo>
                <a:lnTo>
                  <a:pt x="0" y="5143500"/>
                </a:lnTo>
                <a:lnTo>
                  <a:pt x="0" y="0"/>
                </a:lnTo>
                <a:close/>
              </a:path>
            </a:pathLst>
          </a:custGeom>
          <a:blipFill>
            <a:blip r:embed="rId3"/>
            <a:stretch>
              <a:fillRect l="0" t="0" r="0" b="0"/>
            </a:stretch>
          </a:blipFill>
        </p:spPr>
      </p:sp>
      <p:sp>
        <p:nvSpPr>
          <p:cNvPr name="Freeform 4" id="4"/>
          <p:cNvSpPr/>
          <p:nvPr/>
        </p:nvSpPr>
        <p:spPr>
          <a:xfrm flipH="false" flipV="false" rot="0">
            <a:off x="3851291" y="9058"/>
            <a:ext cx="6832551" cy="5134442"/>
          </a:xfrm>
          <a:custGeom>
            <a:avLst/>
            <a:gdLst/>
            <a:ahLst/>
            <a:cxnLst/>
            <a:rect r="r" b="b" t="t" l="l"/>
            <a:pathLst>
              <a:path h="5134442" w="6832551">
                <a:moveTo>
                  <a:pt x="0" y="0"/>
                </a:moveTo>
                <a:lnTo>
                  <a:pt x="6832551" y="0"/>
                </a:lnTo>
                <a:lnTo>
                  <a:pt x="6832551" y="5134442"/>
                </a:lnTo>
                <a:lnTo>
                  <a:pt x="0" y="5134442"/>
                </a:lnTo>
                <a:lnTo>
                  <a:pt x="0" y="0"/>
                </a:lnTo>
                <a:close/>
              </a:path>
            </a:pathLst>
          </a:custGeom>
          <a:blipFill>
            <a:blip r:embed="rId4"/>
            <a:stretch>
              <a:fillRect l="0" t="0" r="0" b="0"/>
            </a:stretch>
          </a:blipFill>
        </p:spPr>
      </p:sp>
      <p:sp>
        <p:nvSpPr>
          <p:cNvPr name="TextBox 5" id="5"/>
          <p:cNvSpPr txBox="true"/>
          <p:nvPr/>
        </p:nvSpPr>
        <p:spPr>
          <a:xfrm rot="0">
            <a:off x="11128828" y="2011397"/>
            <a:ext cx="6622984" cy="5597842"/>
          </a:xfrm>
          <a:prstGeom prst="rect">
            <a:avLst/>
          </a:prstGeom>
        </p:spPr>
        <p:txBody>
          <a:bodyPr anchor="t" rtlCol="false" tIns="0" lIns="0" bIns="0" rIns="0">
            <a:spAutoFit/>
          </a:bodyPr>
          <a:lstStyle/>
          <a:p>
            <a:pPr algn="l">
              <a:lnSpc>
                <a:spcPts val="4500"/>
              </a:lnSpc>
            </a:pPr>
            <a:r>
              <a:rPr lang="en-US" sz="3000" spc="30" b="true">
                <a:solidFill>
                  <a:srgbClr val="FFFFFF"/>
                </a:solidFill>
                <a:latin typeface="Mont 1 Bold"/>
                <a:ea typeface="Mont 1 Bold"/>
                <a:cs typeface="Mont 1 Bold"/>
                <a:sym typeface="Mont 1 Bold"/>
              </a:rPr>
              <a:t>LIST OF MATERIALS: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Classifying Customers and Spot The Main Problem</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Building the Through Solutions for The Main Problems</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Communicating the Solutions in an Attentive Way</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Learning the Difference in Communication</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Implementing the Knowledge in Real-Case Experience</a:t>
            </a:r>
          </a:p>
          <a:p>
            <a:pPr algn="l" marL="518160" indent="-259080" lvl="1">
              <a:lnSpc>
                <a:spcPts val="3600"/>
              </a:lnSpc>
              <a:buAutoNum type="arabicPeriod" startAt="1"/>
            </a:pPr>
            <a:r>
              <a:rPr lang="en-US" sz="2400" spc="24">
                <a:solidFill>
                  <a:srgbClr val="FFFFFF"/>
                </a:solidFill>
                <a:latin typeface="Mont 1"/>
                <a:ea typeface="Mont 1"/>
                <a:cs typeface="Mont 1"/>
                <a:sym typeface="Mont 1"/>
              </a:rPr>
              <a:t>Retrospective Team Meeting</a:t>
            </a:r>
          </a:p>
        </p:txBody>
      </p:sp>
      <p:sp>
        <p:nvSpPr>
          <p:cNvPr name="Freeform 6" id="6"/>
          <p:cNvSpPr/>
          <p:nvPr/>
        </p:nvSpPr>
        <p:spPr>
          <a:xfrm flipH="false" flipV="false" rot="0">
            <a:off x="0" y="5143500"/>
            <a:ext cx="6832551" cy="5134442"/>
          </a:xfrm>
          <a:custGeom>
            <a:avLst/>
            <a:gdLst/>
            <a:ahLst/>
            <a:cxnLst/>
            <a:rect r="r" b="b" t="t" l="l"/>
            <a:pathLst>
              <a:path h="5134442" w="6832551">
                <a:moveTo>
                  <a:pt x="0" y="0"/>
                </a:moveTo>
                <a:lnTo>
                  <a:pt x="6832551" y="0"/>
                </a:lnTo>
                <a:lnTo>
                  <a:pt x="6832551" y="5134442"/>
                </a:lnTo>
                <a:lnTo>
                  <a:pt x="0" y="5134442"/>
                </a:lnTo>
                <a:lnTo>
                  <a:pt x="0" y="0"/>
                </a:lnTo>
                <a:close/>
              </a:path>
            </a:pathLst>
          </a:custGeom>
          <a:blipFill>
            <a:blip r:embed="rId4"/>
            <a:stretch>
              <a:fillRect l="0" t="0" r="0" b="0"/>
            </a:stretch>
          </a:blipFill>
        </p:spPr>
      </p:sp>
      <p:sp>
        <p:nvSpPr>
          <p:cNvPr name="Freeform 7" id="7"/>
          <p:cNvSpPr/>
          <p:nvPr/>
        </p:nvSpPr>
        <p:spPr>
          <a:xfrm flipH="false" flipV="false" rot="0">
            <a:off x="6832551" y="5143500"/>
            <a:ext cx="3851291" cy="5143500"/>
          </a:xfrm>
          <a:custGeom>
            <a:avLst/>
            <a:gdLst/>
            <a:ahLst/>
            <a:cxnLst/>
            <a:rect r="r" b="b" t="t" l="l"/>
            <a:pathLst>
              <a:path h="5143500" w="3851291">
                <a:moveTo>
                  <a:pt x="0" y="0"/>
                </a:moveTo>
                <a:lnTo>
                  <a:pt x="3851291" y="0"/>
                </a:lnTo>
                <a:lnTo>
                  <a:pt x="3851291" y="5143500"/>
                </a:lnTo>
                <a:lnTo>
                  <a:pt x="0" y="5143500"/>
                </a:lnTo>
                <a:lnTo>
                  <a:pt x="0" y="0"/>
                </a:lnTo>
                <a:close/>
              </a:path>
            </a:pathLst>
          </a:custGeom>
          <a:blipFill>
            <a:blip r:embed="rId3"/>
            <a:stretch>
              <a:fillRect l="0" t="0" r="0" b="0"/>
            </a:stretch>
          </a:blipFill>
        </p:spPr>
      </p:sp>
      <p:grpSp>
        <p:nvGrpSpPr>
          <p:cNvPr name="Group 8" id="8"/>
          <p:cNvGrpSpPr/>
          <p:nvPr/>
        </p:nvGrpSpPr>
        <p:grpSpPr>
          <a:xfrm rot="0">
            <a:off x="0" y="0"/>
            <a:ext cx="10695351" cy="10378794"/>
            <a:chOff x="0" y="0"/>
            <a:chExt cx="2816883" cy="2733510"/>
          </a:xfrm>
        </p:grpSpPr>
        <p:sp>
          <p:nvSpPr>
            <p:cNvPr name="Freeform 9" id="9"/>
            <p:cNvSpPr/>
            <p:nvPr/>
          </p:nvSpPr>
          <p:spPr>
            <a:xfrm flipH="false" flipV="false" rot="0">
              <a:off x="0" y="0"/>
              <a:ext cx="2816883" cy="2733510"/>
            </a:xfrm>
            <a:custGeom>
              <a:avLst/>
              <a:gdLst/>
              <a:ahLst/>
              <a:cxnLst/>
              <a:rect r="r" b="b" t="t" l="l"/>
              <a:pathLst>
                <a:path h="2733510" w="2816883">
                  <a:moveTo>
                    <a:pt x="0" y="0"/>
                  </a:moveTo>
                  <a:lnTo>
                    <a:pt x="2816883" y="0"/>
                  </a:lnTo>
                  <a:lnTo>
                    <a:pt x="2816883" y="2733510"/>
                  </a:lnTo>
                  <a:lnTo>
                    <a:pt x="0" y="2733510"/>
                  </a:lnTo>
                  <a:close/>
                </a:path>
              </a:pathLst>
            </a:custGeom>
            <a:solidFill>
              <a:srgbClr val="000000">
                <a:alpha val="40000"/>
              </a:srgbClr>
            </a:solidFill>
          </p:spPr>
        </p:sp>
        <p:sp>
          <p:nvSpPr>
            <p:cNvPr name="TextBox 10" id="10"/>
            <p:cNvSpPr txBox="true"/>
            <p:nvPr/>
          </p:nvSpPr>
          <p:spPr>
            <a:xfrm>
              <a:off x="0" y="-9525"/>
              <a:ext cx="2816883" cy="2743035"/>
            </a:xfrm>
            <a:prstGeom prst="rect">
              <a:avLst/>
            </a:prstGeom>
          </p:spPr>
          <p:txBody>
            <a:bodyPr anchor="ctr" rtlCol="false" tIns="50800" lIns="50800" bIns="50800" rIns="50800"/>
            <a:lstStyle/>
            <a:p>
              <a:pPr algn="ctr">
                <a:lnSpc>
                  <a:spcPts val="2538"/>
                </a:lnSpc>
              </a:pPr>
            </a:p>
          </p:txBody>
        </p:sp>
      </p:grpSp>
      <p:grpSp>
        <p:nvGrpSpPr>
          <p:cNvPr name="Group 11" id="11"/>
          <p:cNvGrpSpPr/>
          <p:nvPr/>
        </p:nvGrpSpPr>
        <p:grpSpPr>
          <a:xfrm rot="0">
            <a:off x="833682" y="2106647"/>
            <a:ext cx="9027987" cy="7312417"/>
            <a:chOff x="0" y="0"/>
            <a:chExt cx="2377741" cy="1925904"/>
          </a:xfrm>
        </p:grpSpPr>
        <p:sp>
          <p:nvSpPr>
            <p:cNvPr name="Freeform 12" id="12"/>
            <p:cNvSpPr/>
            <p:nvPr/>
          </p:nvSpPr>
          <p:spPr>
            <a:xfrm flipH="false" flipV="false" rot="0">
              <a:off x="0" y="0"/>
              <a:ext cx="2377741" cy="1925904"/>
            </a:xfrm>
            <a:custGeom>
              <a:avLst/>
              <a:gdLst/>
              <a:ahLst/>
              <a:cxnLst/>
              <a:rect r="r" b="b" t="t" l="l"/>
              <a:pathLst>
                <a:path h="1925904" w="2377741">
                  <a:moveTo>
                    <a:pt x="0" y="0"/>
                  </a:moveTo>
                  <a:lnTo>
                    <a:pt x="2377741" y="0"/>
                  </a:lnTo>
                  <a:lnTo>
                    <a:pt x="2377741" y="1925904"/>
                  </a:lnTo>
                  <a:lnTo>
                    <a:pt x="0" y="1925904"/>
                  </a:lnTo>
                  <a:close/>
                </a:path>
              </a:pathLst>
            </a:custGeom>
            <a:solidFill>
              <a:srgbClr val="0D2A4E">
                <a:alpha val="60000"/>
              </a:srgbClr>
            </a:solidFill>
          </p:spPr>
        </p:sp>
        <p:sp>
          <p:nvSpPr>
            <p:cNvPr name="TextBox 13" id="13"/>
            <p:cNvSpPr txBox="true"/>
            <p:nvPr/>
          </p:nvSpPr>
          <p:spPr>
            <a:xfrm>
              <a:off x="0" y="-114300"/>
              <a:ext cx="2377741" cy="2040204"/>
            </a:xfrm>
            <a:prstGeom prst="rect">
              <a:avLst/>
            </a:prstGeom>
          </p:spPr>
          <p:txBody>
            <a:bodyPr anchor="ctr" rtlCol="false" tIns="50800" lIns="50800" bIns="50800" rIns="50800"/>
            <a:lstStyle/>
            <a:p>
              <a:pPr algn="ctr">
                <a:lnSpc>
                  <a:spcPts val="2700"/>
                </a:lnSpc>
              </a:pPr>
            </a:p>
          </p:txBody>
        </p:sp>
      </p:grpSp>
      <p:sp>
        <p:nvSpPr>
          <p:cNvPr name="Freeform 14" id="14"/>
          <p:cNvSpPr/>
          <p:nvPr/>
        </p:nvSpPr>
        <p:spPr>
          <a:xfrm flipH="false" flipV="false" rot="0">
            <a:off x="1176869" y="2472122"/>
            <a:ext cx="1119726" cy="1244140"/>
          </a:xfrm>
          <a:custGeom>
            <a:avLst/>
            <a:gdLst/>
            <a:ahLst/>
            <a:cxnLst/>
            <a:rect r="r" b="b" t="t" l="l"/>
            <a:pathLst>
              <a:path h="1244140" w="1119726">
                <a:moveTo>
                  <a:pt x="0" y="0"/>
                </a:moveTo>
                <a:lnTo>
                  <a:pt x="1119726" y="0"/>
                </a:lnTo>
                <a:lnTo>
                  <a:pt x="1119726" y="1244140"/>
                </a:lnTo>
                <a:lnTo>
                  <a:pt x="0" y="12441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76869" y="4131693"/>
            <a:ext cx="1119726" cy="998349"/>
          </a:xfrm>
          <a:custGeom>
            <a:avLst/>
            <a:gdLst/>
            <a:ahLst/>
            <a:cxnLst/>
            <a:rect r="r" b="b" t="t" l="l"/>
            <a:pathLst>
              <a:path h="998349" w="1119726">
                <a:moveTo>
                  <a:pt x="0" y="0"/>
                </a:moveTo>
                <a:lnTo>
                  <a:pt x="1119726" y="0"/>
                </a:lnTo>
                <a:lnTo>
                  <a:pt x="1119726" y="998349"/>
                </a:lnTo>
                <a:lnTo>
                  <a:pt x="0" y="9983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176869" y="5547811"/>
            <a:ext cx="1119726" cy="1267179"/>
          </a:xfrm>
          <a:custGeom>
            <a:avLst/>
            <a:gdLst/>
            <a:ahLst/>
            <a:cxnLst/>
            <a:rect r="r" b="b" t="t" l="l"/>
            <a:pathLst>
              <a:path h="1267179" w="1119726">
                <a:moveTo>
                  <a:pt x="0" y="0"/>
                </a:moveTo>
                <a:lnTo>
                  <a:pt x="1119726" y="0"/>
                </a:lnTo>
                <a:lnTo>
                  <a:pt x="1119726" y="1267179"/>
                </a:lnTo>
                <a:lnTo>
                  <a:pt x="0" y="12671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176869" y="7234090"/>
            <a:ext cx="1119726" cy="1209920"/>
          </a:xfrm>
          <a:custGeom>
            <a:avLst/>
            <a:gdLst/>
            <a:ahLst/>
            <a:cxnLst/>
            <a:rect r="r" b="b" t="t" l="l"/>
            <a:pathLst>
              <a:path h="1209920" w="1119726">
                <a:moveTo>
                  <a:pt x="0" y="0"/>
                </a:moveTo>
                <a:lnTo>
                  <a:pt x="1119726" y="0"/>
                </a:lnTo>
                <a:lnTo>
                  <a:pt x="1119726" y="1209920"/>
                </a:lnTo>
                <a:lnTo>
                  <a:pt x="0" y="12099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8" id="18"/>
          <p:cNvSpPr txBox="true"/>
          <p:nvPr/>
        </p:nvSpPr>
        <p:spPr>
          <a:xfrm rot="0">
            <a:off x="767921" y="44367"/>
            <a:ext cx="8355162" cy="1364779"/>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3648"/>
              </a:lnSpc>
            </a:pPr>
            <a:r>
              <a:rPr lang="en-US" sz="3200" spc="-118">
                <a:solidFill>
                  <a:srgbClr val="FFFFFF"/>
                </a:solidFill>
                <a:latin typeface="Mont 2"/>
                <a:ea typeface="Mont 2"/>
                <a:cs typeface="Mont 2"/>
                <a:sym typeface="Mont 2"/>
              </a:rPr>
              <a:t>PT Vertika Technologies Nusantara (Rey.ID)</a:t>
            </a:r>
          </a:p>
        </p:txBody>
      </p:sp>
      <p:sp>
        <p:nvSpPr>
          <p:cNvPr name="TextBox 19" id="19"/>
          <p:cNvSpPr txBox="true"/>
          <p:nvPr/>
        </p:nvSpPr>
        <p:spPr>
          <a:xfrm rot="0">
            <a:off x="2994086" y="443177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Corporate</a:t>
            </a:r>
          </a:p>
        </p:txBody>
      </p:sp>
      <p:sp>
        <p:nvSpPr>
          <p:cNvPr name="TextBox 20" id="20"/>
          <p:cNvSpPr txBox="true"/>
          <p:nvPr/>
        </p:nvSpPr>
        <p:spPr>
          <a:xfrm rot="0">
            <a:off x="2994086" y="277868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November 2022</a:t>
            </a:r>
          </a:p>
        </p:txBody>
      </p:sp>
      <p:sp>
        <p:nvSpPr>
          <p:cNvPr name="TextBox 21" id="21"/>
          <p:cNvSpPr txBox="true"/>
          <p:nvPr/>
        </p:nvSpPr>
        <p:spPr>
          <a:xfrm rot="0">
            <a:off x="2994086" y="5871801"/>
            <a:ext cx="5011980" cy="52387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+/- 20 Participants</a:t>
            </a:r>
          </a:p>
        </p:txBody>
      </p:sp>
      <p:sp>
        <p:nvSpPr>
          <p:cNvPr name="TextBox 22" id="22"/>
          <p:cNvSpPr txBox="true"/>
          <p:nvPr/>
        </p:nvSpPr>
        <p:spPr>
          <a:xfrm rot="0">
            <a:off x="2994086" y="7224565"/>
            <a:ext cx="6424978" cy="2067074"/>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Managing Hard Complaints:</a:t>
            </a:r>
          </a:p>
          <a:p>
            <a:pPr algn="l">
              <a:lnSpc>
                <a:spcPts val="4079"/>
              </a:lnSpc>
            </a:pPr>
            <a:r>
              <a:rPr lang="en-US" sz="3399" spc="33">
                <a:solidFill>
                  <a:srgbClr val="FFFFFF"/>
                </a:solidFill>
                <a:latin typeface="Mont 1"/>
                <a:ea typeface="Mont 1"/>
                <a:cs typeface="Mont 1"/>
                <a:sym typeface="Mont 1"/>
              </a:rPr>
              <a:t>Turning Your Angry Customers into Your Loyal Ones</a:t>
            </a:r>
          </a:p>
        </p:txBody>
      </p:sp>
      <p:sp>
        <p:nvSpPr>
          <p:cNvPr name="Freeform 23" id="23"/>
          <p:cNvSpPr/>
          <p:nvPr/>
        </p:nvSpPr>
        <p:spPr>
          <a:xfrm flipH="false" flipV="false" rot="0">
            <a:off x="16208768" y="302562"/>
            <a:ext cx="1543044" cy="1452277"/>
          </a:xfrm>
          <a:custGeom>
            <a:avLst/>
            <a:gdLst/>
            <a:ahLst/>
            <a:cxnLst/>
            <a:rect r="r" b="b" t="t" l="l"/>
            <a:pathLst>
              <a:path h="1452277" w="1543044">
                <a:moveTo>
                  <a:pt x="0" y="0"/>
                </a:moveTo>
                <a:lnTo>
                  <a:pt x="1543044" y="0"/>
                </a:lnTo>
                <a:lnTo>
                  <a:pt x="1543044" y="1452276"/>
                </a:lnTo>
                <a:lnTo>
                  <a:pt x="0" y="1452276"/>
                </a:lnTo>
                <a:lnTo>
                  <a:pt x="0" y="0"/>
                </a:lnTo>
                <a:close/>
              </a:path>
            </a:pathLst>
          </a:custGeom>
          <a:blipFill>
            <a:blip r:embed="rId1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871382"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3" id="3"/>
          <p:cNvSpPr/>
          <p:nvPr/>
        </p:nvSpPr>
        <p:spPr>
          <a:xfrm flipH="false" flipV="false" rot="0">
            <a:off x="0" y="0"/>
            <a:ext cx="9619407" cy="5143500"/>
          </a:xfrm>
          <a:custGeom>
            <a:avLst/>
            <a:gdLst/>
            <a:ahLst/>
            <a:cxnLst/>
            <a:rect r="r" b="b" t="t" l="l"/>
            <a:pathLst>
              <a:path h="5143500" w="9619407">
                <a:moveTo>
                  <a:pt x="0" y="0"/>
                </a:moveTo>
                <a:lnTo>
                  <a:pt x="9619407" y="0"/>
                </a:lnTo>
                <a:lnTo>
                  <a:pt x="9619407" y="5143500"/>
                </a:lnTo>
                <a:lnTo>
                  <a:pt x="0" y="5143500"/>
                </a:lnTo>
                <a:lnTo>
                  <a:pt x="0" y="0"/>
                </a:lnTo>
                <a:close/>
              </a:path>
            </a:pathLst>
          </a:custGeom>
          <a:blipFill>
            <a:blip r:embed="rId3"/>
            <a:stretch>
              <a:fillRect l="0" t="0" r="0" b="0"/>
            </a:stretch>
          </a:blipFill>
        </p:spPr>
      </p:sp>
      <p:sp>
        <p:nvSpPr>
          <p:cNvPr name="TextBox 4" id="4"/>
          <p:cNvSpPr txBox="true"/>
          <p:nvPr/>
        </p:nvSpPr>
        <p:spPr>
          <a:xfrm rot="0">
            <a:off x="9969100" y="1618092"/>
            <a:ext cx="7842184" cy="7541076"/>
          </a:xfrm>
          <a:prstGeom prst="rect">
            <a:avLst/>
          </a:prstGeom>
        </p:spPr>
        <p:txBody>
          <a:bodyPr anchor="t" rtlCol="false" tIns="0" lIns="0" bIns="0" rIns="0">
            <a:spAutoFit/>
          </a:bodyPr>
          <a:lstStyle/>
          <a:p>
            <a:pPr algn="l">
              <a:lnSpc>
                <a:spcPts val="2700"/>
              </a:lnSpc>
            </a:pPr>
            <a:r>
              <a:rPr lang="en-US" sz="1800" spc="18" b="true">
                <a:solidFill>
                  <a:srgbClr val="FFFFFF"/>
                </a:solidFill>
                <a:latin typeface="Mont 1 Bold"/>
                <a:ea typeface="Mont 1 Bold"/>
                <a:cs typeface="Mont 1 Bold"/>
                <a:sym typeface="Mont 1 Bold"/>
              </a:rPr>
              <a:t>LIST OF MATERIALS:</a:t>
            </a:r>
          </a:p>
          <a:p>
            <a:pPr algn="l">
              <a:lnSpc>
                <a:spcPts val="2700"/>
              </a:lnSpc>
            </a:pPr>
            <a:r>
              <a:rPr lang="en-US" sz="1800" spc="18" b="true">
                <a:solidFill>
                  <a:srgbClr val="FFFFFF"/>
                </a:solidFill>
                <a:latin typeface="Mont 1 Bold"/>
                <a:ea typeface="Mont 1 Bold"/>
                <a:cs typeface="Mont 1 Bold"/>
                <a:sym typeface="Mont 1 Bold"/>
              </a:rPr>
              <a:t>Customer Services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What is Customer Service?</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Customer Service Values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Customer Loyalty Building Methods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Customer Channel Type</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Type of Ticket &amp; Basic Ticketing Workflow and Escalations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Type of CRM System, etc</a:t>
            </a:r>
          </a:p>
          <a:p>
            <a:pPr algn="l">
              <a:lnSpc>
                <a:spcPts val="2700"/>
              </a:lnSpc>
            </a:pPr>
          </a:p>
          <a:p>
            <a:pPr algn="l">
              <a:lnSpc>
                <a:spcPts val="2700"/>
              </a:lnSpc>
            </a:pPr>
            <a:r>
              <a:rPr lang="en-US" sz="1800" spc="18" b="true">
                <a:solidFill>
                  <a:srgbClr val="FFFFFF"/>
                </a:solidFill>
                <a:latin typeface="Mont 1 Bold"/>
                <a:ea typeface="Mont 1 Bold"/>
                <a:cs typeface="Mont 1 Bold"/>
                <a:sym typeface="Mont 1 Bold"/>
              </a:rPr>
              <a:t>SME Accounting</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Introduction to Accounting and Finance Functions for Startups and SMEs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Application of Accounting Concepts and Cycles in Business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Recording and Bookkeeping of Transactions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Accounting Reports and Simple Analysis</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Cash Flow Management</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Technical Tax Calculation and Reporting, etc</a:t>
            </a:r>
          </a:p>
          <a:p>
            <a:pPr algn="l">
              <a:lnSpc>
                <a:spcPts val="2700"/>
              </a:lnSpc>
            </a:pPr>
          </a:p>
          <a:p>
            <a:pPr algn="l">
              <a:lnSpc>
                <a:spcPts val="2700"/>
              </a:lnSpc>
            </a:pPr>
            <a:r>
              <a:rPr lang="en-US" sz="1800" spc="18" b="true">
                <a:solidFill>
                  <a:srgbClr val="FFFFFF"/>
                </a:solidFill>
                <a:latin typeface="Mont 1 Bold"/>
                <a:ea typeface="Mont 1 Bold"/>
                <a:cs typeface="Mont 1 Bold"/>
                <a:sym typeface="Mont 1 Bold"/>
              </a:rPr>
              <a:t>Entrepreneurship</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Sustainable Agriculture with Permaculture Method</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Crafting Healthy Menus with Local Crop Diversity</a:t>
            </a:r>
          </a:p>
          <a:p>
            <a:pPr algn="l" marL="388620" indent="-194310" lvl="1">
              <a:lnSpc>
                <a:spcPts val="2700"/>
              </a:lnSpc>
              <a:buAutoNum type="arabicPeriod" startAt="1"/>
            </a:pPr>
            <a:r>
              <a:rPr lang="en-US" sz="1800" spc="18">
                <a:solidFill>
                  <a:srgbClr val="FFFFFF"/>
                </a:solidFill>
                <a:latin typeface="Mont 1"/>
                <a:ea typeface="Mont 1"/>
                <a:cs typeface="Mont 1"/>
                <a:sym typeface="Mont 1"/>
              </a:rPr>
              <a:t>Organic and Healthy Menu Management for Restaurants, etc</a:t>
            </a:r>
          </a:p>
        </p:txBody>
      </p:sp>
      <p:sp>
        <p:nvSpPr>
          <p:cNvPr name="Freeform 5" id="5"/>
          <p:cNvSpPr/>
          <p:nvPr/>
        </p:nvSpPr>
        <p:spPr>
          <a:xfrm flipH="false" flipV="false" rot="0">
            <a:off x="0" y="5143500"/>
            <a:ext cx="9619407" cy="5143500"/>
          </a:xfrm>
          <a:custGeom>
            <a:avLst/>
            <a:gdLst/>
            <a:ahLst/>
            <a:cxnLst/>
            <a:rect r="r" b="b" t="t" l="l"/>
            <a:pathLst>
              <a:path h="5143500" w="9619407">
                <a:moveTo>
                  <a:pt x="0" y="0"/>
                </a:moveTo>
                <a:lnTo>
                  <a:pt x="9619407" y="0"/>
                </a:lnTo>
                <a:lnTo>
                  <a:pt x="9619407" y="5143500"/>
                </a:lnTo>
                <a:lnTo>
                  <a:pt x="0" y="5143500"/>
                </a:lnTo>
                <a:lnTo>
                  <a:pt x="0" y="0"/>
                </a:lnTo>
                <a:close/>
              </a:path>
            </a:pathLst>
          </a:custGeom>
          <a:blipFill>
            <a:blip r:embed="rId3"/>
            <a:stretch>
              <a:fillRect l="0" t="0" r="0" b="0"/>
            </a:stretch>
          </a:blipFill>
        </p:spPr>
      </p:sp>
      <p:grpSp>
        <p:nvGrpSpPr>
          <p:cNvPr name="Group 6" id="6"/>
          <p:cNvGrpSpPr/>
          <p:nvPr/>
        </p:nvGrpSpPr>
        <p:grpSpPr>
          <a:xfrm rot="0">
            <a:off x="0" y="0"/>
            <a:ext cx="9619407" cy="10287000"/>
            <a:chOff x="0" y="0"/>
            <a:chExt cx="2533506" cy="2709333"/>
          </a:xfrm>
        </p:grpSpPr>
        <p:sp>
          <p:nvSpPr>
            <p:cNvPr name="Freeform 7" id="7"/>
            <p:cNvSpPr/>
            <p:nvPr/>
          </p:nvSpPr>
          <p:spPr>
            <a:xfrm flipH="false" flipV="false" rot="0">
              <a:off x="0" y="0"/>
              <a:ext cx="2533506" cy="2709333"/>
            </a:xfrm>
            <a:custGeom>
              <a:avLst/>
              <a:gdLst/>
              <a:ahLst/>
              <a:cxnLst/>
              <a:rect r="r" b="b" t="t" l="l"/>
              <a:pathLst>
                <a:path h="2709333" w="2533506">
                  <a:moveTo>
                    <a:pt x="0" y="0"/>
                  </a:moveTo>
                  <a:lnTo>
                    <a:pt x="2533506" y="0"/>
                  </a:lnTo>
                  <a:lnTo>
                    <a:pt x="2533506" y="2709333"/>
                  </a:lnTo>
                  <a:lnTo>
                    <a:pt x="0" y="2709333"/>
                  </a:lnTo>
                  <a:close/>
                </a:path>
              </a:pathLst>
            </a:custGeom>
            <a:solidFill>
              <a:srgbClr val="000000">
                <a:alpha val="40000"/>
              </a:srgbClr>
            </a:solidFill>
          </p:spPr>
        </p:sp>
        <p:sp>
          <p:nvSpPr>
            <p:cNvPr name="TextBox 8" id="8"/>
            <p:cNvSpPr txBox="true"/>
            <p:nvPr/>
          </p:nvSpPr>
          <p:spPr>
            <a:xfrm>
              <a:off x="0" y="-9525"/>
              <a:ext cx="2533506" cy="2718858"/>
            </a:xfrm>
            <a:prstGeom prst="rect">
              <a:avLst/>
            </a:prstGeom>
          </p:spPr>
          <p:txBody>
            <a:bodyPr anchor="ctr" rtlCol="false" tIns="50800" lIns="50800" bIns="50800" rIns="50800"/>
            <a:lstStyle/>
            <a:p>
              <a:pPr algn="ctr">
                <a:lnSpc>
                  <a:spcPts val="2538"/>
                </a:lnSpc>
              </a:pPr>
            </a:p>
          </p:txBody>
        </p:sp>
      </p:grpSp>
      <p:grpSp>
        <p:nvGrpSpPr>
          <p:cNvPr name="Group 9" id="9"/>
          <p:cNvGrpSpPr/>
          <p:nvPr/>
        </p:nvGrpSpPr>
        <p:grpSpPr>
          <a:xfrm rot="0">
            <a:off x="517013" y="1684767"/>
            <a:ext cx="8585382" cy="7312417"/>
            <a:chOff x="0" y="0"/>
            <a:chExt cx="2261171" cy="1925904"/>
          </a:xfrm>
        </p:grpSpPr>
        <p:sp>
          <p:nvSpPr>
            <p:cNvPr name="Freeform 10" id="10"/>
            <p:cNvSpPr/>
            <p:nvPr/>
          </p:nvSpPr>
          <p:spPr>
            <a:xfrm flipH="false" flipV="false" rot="0">
              <a:off x="0" y="0"/>
              <a:ext cx="2261171" cy="1925904"/>
            </a:xfrm>
            <a:custGeom>
              <a:avLst/>
              <a:gdLst/>
              <a:ahLst/>
              <a:cxnLst/>
              <a:rect r="r" b="b" t="t" l="l"/>
              <a:pathLst>
                <a:path h="1925904" w="2261171">
                  <a:moveTo>
                    <a:pt x="0" y="0"/>
                  </a:moveTo>
                  <a:lnTo>
                    <a:pt x="2261171" y="0"/>
                  </a:lnTo>
                  <a:lnTo>
                    <a:pt x="2261171" y="1925904"/>
                  </a:lnTo>
                  <a:lnTo>
                    <a:pt x="0" y="1925904"/>
                  </a:lnTo>
                  <a:close/>
                </a:path>
              </a:pathLst>
            </a:custGeom>
            <a:solidFill>
              <a:srgbClr val="0D2A4E">
                <a:alpha val="60000"/>
              </a:srgbClr>
            </a:solidFill>
          </p:spPr>
        </p:sp>
        <p:sp>
          <p:nvSpPr>
            <p:cNvPr name="TextBox 11" id="11"/>
            <p:cNvSpPr txBox="true"/>
            <p:nvPr/>
          </p:nvSpPr>
          <p:spPr>
            <a:xfrm>
              <a:off x="0" y="-114300"/>
              <a:ext cx="2261171" cy="2040204"/>
            </a:xfrm>
            <a:prstGeom prst="rect">
              <a:avLst/>
            </a:prstGeom>
          </p:spPr>
          <p:txBody>
            <a:bodyPr anchor="ctr" rtlCol="false" tIns="50800" lIns="50800" bIns="50800" rIns="50800"/>
            <a:lstStyle/>
            <a:p>
              <a:pPr algn="ctr">
                <a:lnSpc>
                  <a:spcPts val="2700"/>
                </a:lnSpc>
              </a:pPr>
            </a:p>
          </p:txBody>
        </p:sp>
      </p:grpSp>
      <p:sp>
        <p:nvSpPr>
          <p:cNvPr name="Freeform 12" id="12"/>
          <p:cNvSpPr/>
          <p:nvPr/>
        </p:nvSpPr>
        <p:spPr>
          <a:xfrm flipH="false" flipV="false" rot="0">
            <a:off x="860200" y="2050242"/>
            <a:ext cx="1119726" cy="1244140"/>
          </a:xfrm>
          <a:custGeom>
            <a:avLst/>
            <a:gdLst/>
            <a:ahLst/>
            <a:cxnLst/>
            <a:rect r="r" b="b" t="t" l="l"/>
            <a:pathLst>
              <a:path h="1244140" w="1119726">
                <a:moveTo>
                  <a:pt x="0" y="0"/>
                </a:moveTo>
                <a:lnTo>
                  <a:pt x="1119726" y="0"/>
                </a:lnTo>
                <a:lnTo>
                  <a:pt x="1119726" y="1244140"/>
                </a:lnTo>
                <a:lnTo>
                  <a:pt x="0" y="124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60200" y="3709813"/>
            <a:ext cx="1119726" cy="998349"/>
          </a:xfrm>
          <a:custGeom>
            <a:avLst/>
            <a:gdLst/>
            <a:ahLst/>
            <a:cxnLst/>
            <a:rect r="r" b="b" t="t" l="l"/>
            <a:pathLst>
              <a:path h="998349" w="1119726">
                <a:moveTo>
                  <a:pt x="0" y="0"/>
                </a:moveTo>
                <a:lnTo>
                  <a:pt x="1119726" y="0"/>
                </a:lnTo>
                <a:lnTo>
                  <a:pt x="1119726" y="998349"/>
                </a:lnTo>
                <a:lnTo>
                  <a:pt x="0" y="998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860200" y="5125931"/>
            <a:ext cx="1119726" cy="1267179"/>
          </a:xfrm>
          <a:custGeom>
            <a:avLst/>
            <a:gdLst/>
            <a:ahLst/>
            <a:cxnLst/>
            <a:rect r="r" b="b" t="t" l="l"/>
            <a:pathLst>
              <a:path h="1267179" w="1119726">
                <a:moveTo>
                  <a:pt x="0" y="0"/>
                </a:moveTo>
                <a:lnTo>
                  <a:pt x="1119726" y="0"/>
                </a:lnTo>
                <a:lnTo>
                  <a:pt x="1119726" y="1267179"/>
                </a:lnTo>
                <a:lnTo>
                  <a:pt x="0" y="1267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860200" y="6812210"/>
            <a:ext cx="1119726" cy="1209920"/>
          </a:xfrm>
          <a:custGeom>
            <a:avLst/>
            <a:gdLst/>
            <a:ahLst/>
            <a:cxnLst/>
            <a:rect r="r" b="b" t="t" l="l"/>
            <a:pathLst>
              <a:path h="1209920" w="1119726">
                <a:moveTo>
                  <a:pt x="0" y="0"/>
                </a:moveTo>
                <a:lnTo>
                  <a:pt x="1119726" y="0"/>
                </a:lnTo>
                <a:lnTo>
                  <a:pt x="1119726" y="1209920"/>
                </a:lnTo>
                <a:lnTo>
                  <a:pt x="0" y="12099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632123" y="117648"/>
            <a:ext cx="8355162" cy="1364779"/>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Training Portfolio</a:t>
            </a:r>
          </a:p>
          <a:p>
            <a:pPr algn="ctr">
              <a:lnSpc>
                <a:spcPts val="3648"/>
              </a:lnSpc>
            </a:pPr>
            <a:r>
              <a:rPr lang="en-US" sz="3200" spc="-118">
                <a:solidFill>
                  <a:srgbClr val="FFFFFF"/>
                </a:solidFill>
                <a:latin typeface="Mont 2"/>
                <a:ea typeface="Mont 2"/>
                <a:cs typeface="Mont 2"/>
                <a:sym typeface="Mont 2"/>
              </a:rPr>
              <a:t>Program Pra Kerja</a:t>
            </a:r>
          </a:p>
        </p:txBody>
      </p:sp>
      <p:sp>
        <p:nvSpPr>
          <p:cNvPr name="TextBox 17" id="17"/>
          <p:cNvSpPr txBox="true"/>
          <p:nvPr/>
        </p:nvSpPr>
        <p:spPr>
          <a:xfrm rot="0">
            <a:off x="2677416" y="4009893"/>
            <a:ext cx="5011980" cy="523912"/>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Public Training</a:t>
            </a:r>
          </a:p>
        </p:txBody>
      </p:sp>
      <p:sp>
        <p:nvSpPr>
          <p:cNvPr name="TextBox 18" id="18"/>
          <p:cNvSpPr txBox="true"/>
          <p:nvPr/>
        </p:nvSpPr>
        <p:spPr>
          <a:xfrm rot="0">
            <a:off x="2677416" y="2142919"/>
            <a:ext cx="5011980" cy="1038299"/>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July - November 2023</a:t>
            </a:r>
          </a:p>
          <a:p>
            <a:pPr algn="l">
              <a:lnSpc>
                <a:spcPts val="4079"/>
              </a:lnSpc>
            </a:pPr>
            <a:r>
              <a:rPr lang="en-US" sz="3399" spc="33" b="true">
                <a:solidFill>
                  <a:srgbClr val="FFFFFF"/>
                </a:solidFill>
                <a:latin typeface="Mont 1 Bold"/>
                <a:ea typeface="Mont 1 Bold"/>
                <a:cs typeface="Mont 1 Bold"/>
                <a:sym typeface="Mont 1 Bold"/>
              </a:rPr>
              <a:t>July - November 2024</a:t>
            </a:r>
          </a:p>
        </p:txBody>
      </p:sp>
      <p:sp>
        <p:nvSpPr>
          <p:cNvPr name="TextBox 19" id="19"/>
          <p:cNvSpPr txBox="true"/>
          <p:nvPr/>
        </p:nvSpPr>
        <p:spPr>
          <a:xfrm rot="0">
            <a:off x="2677416" y="5449921"/>
            <a:ext cx="5011980" cy="523875"/>
          </a:xfrm>
          <a:prstGeom prst="rect">
            <a:avLst/>
          </a:prstGeom>
        </p:spPr>
        <p:txBody>
          <a:bodyPr anchor="t" rtlCol="false" tIns="0" lIns="0" bIns="0" rIns="0">
            <a:spAutoFit/>
          </a:bodyPr>
          <a:lstStyle/>
          <a:p>
            <a:pPr algn="l">
              <a:lnSpc>
                <a:spcPts val="4079"/>
              </a:lnSpc>
            </a:pPr>
            <a:r>
              <a:rPr lang="en-US" sz="3399" spc="33" b="true">
                <a:solidFill>
                  <a:srgbClr val="FFFFFF"/>
                </a:solidFill>
                <a:latin typeface="Mont 1 Bold"/>
                <a:ea typeface="Mont 1 Bold"/>
                <a:cs typeface="Mont 1 Bold"/>
                <a:sym typeface="Mont 1 Bold"/>
              </a:rPr>
              <a:t>+/- 4000 Participants</a:t>
            </a:r>
          </a:p>
        </p:txBody>
      </p:sp>
      <p:sp>
        <p:nvSpPr>
          <p:cNvPr name="TextBox 20" id="20"/>
          <p:cNvSpPr txBox="true"/>
          <p:nvPr/>
        </p:nvSpPr>
        <p:spPr>
          <a:xfrm rot="0">
            <a:off x="2677416" y="6469444"/>
            <a:ext cx="6424978" cy="1552687"/>
          </a:xfrm>
          <a:prstGeom prst="rect">
            <a:avLst/>
          </a:prstGeom>
        </p:spPr>
        <p:txBody>
          <a:bodyPr anchor="t" rtlCol="false" tIns="0" lIns="0" bIns="0" rIns="0">
            <a:spAutoFit/>
          </a:bodyPr>
          <a:lstStyle/>
          <a:p>
            <a:pPr algn="l" marL="734059" indent="-367030" lvl="1">
              <a:lnSpc>
                <a:spcPts val="4079"/>
              </a:lnSpc>
              <a:buFont typeface="Arial"/>
              <a:buChar char="•"/>
            </a:pPr>
            <a:r>
              <a:rPr lang="en-US" b="true" sz="3399" spc="33">
                <a:solidFill>
                  <a:srgbClr val="FFFFFF"/>
                </a:solidFill>
                <a:latin typeface="Mont 1 Bold"/>
                <a:ea typeface="Mont 1 Bold"/>
                <a:cs typeface="Mont 1 Bold"/>
                <a:sym typeface="Mont 1 Bold"/>
              </a:rPr>
              <a:t>Customer Service</a:t>
            </a:r>
          </a:p>
          <a:p>
            <a:pPr algn="l" marL="734059" indent="-367030" lvl="1">
              <a:lnSpc>
                <a:spcPts val="4079"/>
              </a:lnSpc>
              <a:buFont typeface="Arial"/>
              <a:buChar char="•"/>
            </a:pPr>
            <a:r>
              <a:rPr lang="en-US" b="true" sz="3399" spc="33">
                <a:solidFill>
                  <a:srgbClr val="FFFFFF"/>
                </a:solidFill>
                <a:latin typeface="Mont 1 Bold"/>
                <a:ea typeface="Mont 1 Bold"/>
                <a:cs typeface="Mont 1 Bold"/>
                <a:sym typeface="Mont 1 Bold"/>
              </a:rPr>
              <a:t>SME Accounting</a:t>
            </a:r>
          </a:p>
          <a:p>
            <a:pPr algn="l" marL="734059" indent="-367030" lvl="1">
              <a:lnSpc>
                <a:spcPts val="4079"/>
              </a:lnSpc>
              <a:buFont typeface="Arial"/>
              <a:buChar char="•"/>
            </a:pPr>
            <a:r>
              <a:rPr lang="en-US" b="true" sz="3399" spc="33">
                <a:solidFill>
                  <a:srgbClr val="FFFFFF"/>
                </a:solidFill>
                <a:latin typeface="Mont 1 Bold"/>
                <a:ea typeface="Mont 1 Bold"/>
                <a:cs typeface="Mont 1 Bold"/>
                <a:sym typeface="Mont 1 Bold"/>
              </a:rPr>
              <a:t>Entrepreneurship</a:t>
            </a:r>
          </a:p>
        </p:txBody>
      </p:sp>
      <p:sp>
        <p:nvSpPr>
          <p:cNvPr name="Freeform 21" id="21"/>
          <p:cNvSpPr/>
          <p:nvPr/>
        </p:nvSpPr>
        <p:spPr>
          <a:xfrm flipH="false" flipV="false" rot="0">
            <a:off x="13634818" y="202339"/>
            <a:ext cx="4397808" cy="1482428"/>
          </a:xfrm>
          <a:custGeom>
            <a:avLst/>
            <a:gdLst/>
            <a:ahLst/>
            <a:cxnLst/>
            <a:rect r="r" b="b" t="t" l="l"/>
            <a:pathLst>
              <a:path h="1482428" w="4397808">
                <a:moveTo>
                  <a:pt x="0" y="0"/>
                </a:moveTo>
                <a:lnTo>
                  <a:pt x="4397808" y="0"/>
                </a:lnTo>
                <a:lnTo>
                  <a:pt x="4397808" y="1482428"/>
                </a:lnTo>
                <a:lnTo>
                  <a:pt x="0" y="1482428"/>
                </a:lnTo>
                <a:lnTo>
                  <a:pt x="0" y="0"/>
                </a:lnTo>
                <a:close/>
              </a:path>
            </a:pathLst>
          </a:custGeom>
          <a:blipFill>
            <a:blip r:embed="rId1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838128" cy="18838128"/>
          </a:xfrm>
          <a:custGeom>
            <a:avLst/>
            <a:gdLst/>
            <a:ahLst/>
            <a:cxnLst/>
            <a:rect r="r" b="b" t="t" l="l"/>
            <a:pathLst>
              <a:path h="18838128" w="18838128">
                <a:moveTo>
                  <a:pt x="0" y="0"/>
                </a:moveTo>
                <a:lnTo>
                  <a:pt x="18838128" y="0"/>
                </a:lnTo>
                <a:lnTo>
                  <a:pt x="18838128" y="18838128"/>
                </a:lnTo>
                <a:lnTo>
                  <a:pt x="0" y="18838128"/>
                </a:lnTo>
                <a:lnTo>
                  <a:pt x="0" y="0"/>
                </a:lnTo>
                <a:close/>
              </a:path>
            </a:pathLst>
          </a:custGeom>
          <a:blipFill>
            <a:blip r:embed="rId2"/>
            <a:stretch>
              <a:fillRect l="0" t="0" r="0" b="0"/>
            </a:stretch>
          </a:blipFill>
        </p:spPr>
      </p:sp>
      <p:sp>
        <p:nvSpPr>
          <p:cNvPr name="Freeform 3" id="3"/>
          <p:cNvSpPr/>
          <p:nvPr/>
        </p:nvSpPr>
        <p:spPr>
          <a:xfrm flipH="false" flipV="false" rot="0">
            <a:off x="0" y="0"/>
            <a:ext cx="2717528" cy="4831161"/>
          </a:xfrm>
          <a:custGeom>
            <a:avLst/>
            <a:gdLst/>
            <a:ahLst/>
            <a:cxnLst/>
            <a:rect r="r" b="b" t="t" l="l"/>
            <a:pathLst>
              <a:path h="4831161" w="2717528">
                <a:moveTo>
                  <a:pt x="0" y="0"/>
                </a:moveTo>
                <a:lnTo>
                  <a:pt x="2717528" y="0"/>
                </a:lnTo>
                <a:lnTo>
                  <a:pt x="2717528" y="4831161"/>
                </a:lnTo>
                <a:lnTo>
                  <a:pt x="0" y="4831161"/>
                </a:lnTo>
                <a:lnTo>
                  <a:pt x="0" y="0"/>
                </a:lnTo>
                <a:close/>
              </a:path>
            </a:pathLst>
          </a:custGeom>
          <a:blipFill>
            <a:blip r:embed="rId3"/>
            <a:stretch>
              <a:fillRect l="0" t="0" r="0" b="0"/>
            </a:stretch>
          </a:blipFill>
        </p:spPr>
      </p:sp>
      <p:sp>
        <p:nvSpPr>
          <p:cNvPr name="Freeform 4" id="4"/>
          <p:cNvSpPr/>
          <p:nvPr/>
        </p:nvSpPr>
        <p:spPr>
          <a:xfrm flipH="false" flipV="false" rot="0">
            <a:off x="2717528" y="0"/>
            <a:ext cx="7977823" cy="4831161"/>
          </a:xfrm>
          <a:custGeom>
            <a:avLst/>
            <a:gdLst/>
            <a:ahLst/>
            <a:cxnLst/>
            <a:rect r="r" b="b" t="t" l="l"/>
            <a:pathLst>
              <a:path h="4831161" w="7977823">
                <a:moveTo>
                  <a:pt x="0" y="0"/>
                </a:moveTo>
                <a:lnTo>
                  <a:pt x="7977823" y="0"/>
                </a:lnTo>
                <a:lnTo>
                  <a:pt x="7977823" y="4831161"/>
                </a:lnTo>
                <a:lnTo>
                  <a:pt x="0" y="4831161"/>
                </a:lnTo>
                <a:lnTo>
                  <a:pt x="0" y="0"/>
                </a:lnTo>
                <a:close/>
              </a:path>
            </a:pathLst>
          </a:custGeom>
          <a:blipFill>
            <a:blip r:embed="rId4"/>
            <a:stretch>
              <a:fillRect l="-7657" t="0" r="0" b="0"/>
            </a:stretch>
          </a:blipFill>
        </p:spPr>
      </p:sp>
      <p:sp>
        <p:nvSpPr>
          <p:cNvPr name="Freeform 5" id="5"/>
          <p:cNvSpPr/>
          <p:nvPr/>
        </p:nvSpPr>
        <p:spPr>
          <a:xfrm flipH="false" flipV="false" rot="0">
            <a:off x="-2072827" y="4831161"/>
            <a:ext cx="9699269" cy="5455839"/>
          </a:xfrm>
          <a:custGeom>
            <a:avLst/>
            <a:gdLst/>
            <a:ahLst/>
            <a:cxnLst/>
            <a:rect r="r" b="b" t="t" l="l"/>
            <a:pathLst>
              <a:path h="5455839" w="9699269">
                <a:moveTo>
                  <a:pt x="0" y="0"/>
                </a:moveTo>
                <a:lnTo>
                  <a:pt x="9699269" y="0"/>
                </a:lnTo>
                <a:lnTo>
                  <a:pt x="9699269" y="5455839"/>
                </a:lnTo>
                <a:lnTo>
                  <a:pt x="0" y="5455839"/>
                </a:lnTo>
                <a:lnTo>
                  <a:pt x="0" y="0"/>
                </a:lnTo>
                <a:close/>
              </a:path>
            </a:pathLst>
          </a:custGeom>
          <a:blipFill>
            <a:blip r:embed="rId5"/>
            <a:stretch>
              <a:fillRect l="0" t="0" r="0" b="0"/>
            </a:stretch>
          </a:blipFill>
        </p:spPr>
      </p:sp>
      <p:sp>
        <p:nvSpPr>
          <p:cNvPr name="Freeform 6" id="6"/>
          <p:cNvSpPr/>
          <p:nvPr/>
        </p:nvSpPr>
        <p:spPr>
          <a:xfrm flipH="false" flipV="false" rot="0">
            <a:off x="7626442" y="4831161"/>
            <a:ext cx="3068909" cy="5455839"/>
          </a:xfrm>
          <a:custGeom>
            <a:avLst/>
            <a:gdLst/>
            <a:ahLst/>
            <a:cxnLst/>
            <a:rect r="r" b="b" t="t" l="l"/>
            <a:pathLst>
              <a:path h="5455839" w="3068909">
                <a:moveTo>
                  <a:pt x="0" y="0"/>
                </a:moveTo>
                <a:lnTo>
                  <a:pt x="3068909" y="0"/>
                </a:lnTo>
                <a:lnTo>
                  <a:pt x="3068909" y="5455839"/>
                </a:lnTo>
                <a:lnTo>
                  <a:pt x="0" y="5455839"/>
                </a:lnTo>
                <a:lnTo>
                  <a:pt x="0" y="0"/>
                </a:lnTo>
                <a:close/>
              </a:path>
            </a:pathLst>
          </a:custGeom>
          <a:blipFill>
            <a:blip r:embed="rId6"/>
            <a:stretch>
              <a:fillRect l="0" t="0" r="0" b="0"/>
            </a:stretch>
          </a:blipFill>
        </p:spPr>
      </p:sp>
      <p:sp>
        <p:nvSpPr>
          <p:cNvPr name="Freeform 7" id="7"/>
          <p:cNvSpPr/>
          <p:nvPr/>
        </p:nvSpPr>
        <p:spPr>
          <a:xfrm flipH="false" flipV="false" rot="0">
            <a:off x="10695351" y="22938"/>
            <a:ext cx="3693486" cy="4932748"/>
          </a:xfrm>
          <a:custGeom>
            <a:avLst/>
            <a:gdLst/>
            <a:ahLst/>
            <a:cxnLst/>
            <a:rect r="r" b="b" t="t" l="l"/>
            <a:pathLst>
              <a:path h="4932748" w="3693486">
                <a:moveTo>
                  <a:pt x="0" y="0"/>
                </a:moveTo>
                <a:lnTo>
                  <a:pt x="3693486" y="0"/>
                </a:lnTo>
                <a:lnTo>
                  <a:pt x="3693486" y="4932747"/>
                </a:lnTo>
                <a:lnTo>
                  <a:pt x="0" y="4932747"/>
                </a:lnTo>
                <a:lnTo>
                  <a:pt x="0" y="0"/>
                </a:lnTo>
                <a:close/>
              </a:path>
            </a:pathLst>
          </a:custGeom>
          <a:blipFill>
            <a:blip r:embed="rId7"/>
            <a:stretch>
              <a:fillRect l="0" t="0" r="0" b="0"/>
            </a:stretch>
          </a:blipFill>
        </p:spPr>
      </p:sp>
      <p:sp>
        <p:nvSpPr>
          <p:cNvPr name="Freeform 8" id="8"/>
          <p:cNvSpPr/>
          <p:nvPr/>
        </p:nvSpPr>
        <p:spPr>
          <a:xfrm flipH="false" flipV="false" rot="0">
            <a:off x="14407706" y="22938"/>
            <a:ext cx="4239080" cy="7536143"/>
          </a:xfrm>
          <a:custGeom>
            <a:avLst/>
            <a:gdLst/>
            <a:ahLst/>
            <a:cxnLst/>
            <a:rect r="r" b="b" t="t" l="l"/>
            <a:pathLst>
              <a:path h="7536143" w="4239080">
                <a:moveTo>
                  <a:pt x="0" y="0"/>
                </a:moveTo>
                <a:lnTo>
                  <a:pt x="4239080" y="0"/>
                </a:lnTo>
                <a:lnTo>
                  <a:pt x="4239080" y="7536143"/>
                </a:lnTo>
                <a:lnTo>
                  <a:pt x="0" y="7536143"/>
                </a:lnTo>
                <a:lnTo>
                  <a:pt x="0" y="0"/>
                </a:lnTo>
                <a:close/>
              </a:path>
            </a:pathLst>
          </a:custGeom>
          <a:blipFill>
            <a:blip r:embed="rId8"/>
            <a:stretch>
              <a:fillRect l="0" t="0" r="0" b="0"/>
            </a:stretch>
          </a:blipFill>
        </p:spPr>
      </p:sp>
      <p:sp>
        <p:nvSpPr>
          <p:cNvPr name="Freeform 9" id="9"/>
          <p:cNvSpPr/>
          <p:nvPr/>
        </p:nvSpPr>
        <p:spPr>
          <a:xfrm flipH="false" flipV="false" rot="0">
            <a:off x="10695351" y="4955685"/>
            <a:ext cx="7592649" cy="5705630"/>
          </a:xfrm>
          <a:custGeom>
            <a:avLst/>
            <a:gdLst/>
            <a:ahLst/>
            <a:cxnLst/>
            <a:rect r="r" b="b" t="t" l="l"/>
            <a:pathLst>
              <a:path h="5705630" w="7592649">
                <a:moveTo>
                  <a:pt x="0" y="0"/>
                </a:moveTo>
                <a:lnTo>
                  <a:pt x="7592649" y="0"/>
                </a:lnTo>
                <a:lnTo>
                  <a:pt x="7592649" y="5705631"/>
                </a:lnTo>
                <a:lnTo>
                  <a:pt x="0" y="5705631"/>
                </a:lnTo>
                <a:lnTo>
                  <a:pt x="0" y="0"/>
                </a:lnTo>
                <a:close/>
              </a:path>
            </a:pathLst>
          </a:custGeom>
          <a:blipFill>
            <a:blip r:embed="rId9"/>
            <a:stretch>
              <a:fillRect l="0" t="0" r="0" b="0"/>
            </a:stretch>
          </a:blipFill>
        </p:spPr>
      </p:sp>
      <p:grpSp>
        <p:nvGrpSpPr>
          <p:cNvPr name="Group 10" id="10"/>
          <p:cNvGrpSpPr/>
          <p:nvPr/>
        </p:nvGrpSpPr>
        <p:grpSpPr>
          <a:xfrm rot="0">
            <a:off x="0" y="22938"/>
            <a:ext cx="18288000" cy="10264062"/>
            <a:chOff x="0" y="0"/>
            <a:chExt cx="4816593" cy="2703292"/>
          </a:xfrm>
        </p:grpSpPr>
        <p:sp>
          <p:nvSpPr>
            <p:cNvPr name="Freeform 11" id="11"/>
            <p:cNvSpPr/>
            <p:nvPr/>
          </p:nvSpPr>
          <p:spPr>
            <a:xfrm flipH="false" flipV="false" rot="0">
              <a:off x="0" y="0"/>
              <a:ext cx="4816592" cy="2703292"/>
            </a:xfrm>
            <a:custGeom>
              <a:avLst/>
              <a:gdLst/>
              <a:ahLst/>
              <a:cxnLst/>
              <a:rect r="r" b="b" t="t" l="l"/>
              <a:pathLst>
                <a:path h="2703292" w="4816592">
                  <a:moveTo>
                    <a:pt x="0" y="0"/>
                  </a:moveTo>
                  <a:lnTo>
                    <a:pt x="4816592" y="0"/>
                  </a:lnTo>
                  <a:lnTo>
                    <a:pt x="4816592" y="2703292"/>
                  </a:lnTo>
                  <a:lnTo>
                    <a:pt x="0" y="2703292"/>
                  </a:lnTo>
                  <a:close/>
                </a:path>
              </a:pathLst>
            </a:custGeom>
            <a:solidFill>
              <a:srgbClr val="000000">
                <a:alpha val="40000"/>
              </a:srgbClr>
            </a:solidFill>
          </p:spPr>
        </p:sp>
        <p:sp>
          <p:nvSpPr>
            <p:cNvPr name="TextBox 12" id="12"/>
            <p:cNvSpPr txBox="true"/>
            <p:nvPr/>
          </p:nvSpPr>
          <p:spPr>
            <a:xfrm>
              <a:off x="0" y="-9525"/>
              <a:ext cx="4816593" cy="2712817"/>
            </a:xfrm>
            <a:prstGeom prst="rect">
              <a:avLst/>
            </a:prstGeom>
          </p:spPr>
          <p:txBody>
            <a:bodyPr anchor="ctr" rtlCol="false" tIns="50800" lIns="50800" bIns="50800" rIns="50800"/>
            <a:lstStyle/>
            <a:p>
              <a:pPr algn="ctr">
                <a:lnSpc>
                  <a:spcPts val="2538"/>
                </a:lnSpc>
              </a:pPr>
            </a:p>
          </p:txBody>
        </p:sp>
      </p:grpSp>
      <p:grpSp>
        <p:nvGrpSpPr>
          <p:cNvPr name="Group 13" id="13"/>
          <p:cNvGrpSpPr/>
          <p:nvPr/>
        </p:nvGrpSpPr>
        <p:grpSpPr>
          <a:xfrm rot="0">
            <a:off x="6373136" y="2920937"/>
            <a:ext cx="5541727" cy="6337363"/>
            <a:chOff x="0" y="0"/>
            <a:chExt cx="1459550" cy="1669100"/>
          </a:xfrm>
        </p:grpSpPr>
        <p:sp>
          <p:nvSpPr>
            <p:cNvPr name="Freeform 14" id="14"/>
            <p:cNvSpPr/>
            <p:nvPr/>
          </p:nvSpPr>
          <p:spPr>
            <a:xfrm flipH="false" flipV="false" rot="0">
              <a:off x="0" y="0"/>
              <a:ext cx="1459550" cy="1669100"/>
            </a:xfrm>
            <a:custGeom>
              <a:avLst/>
              <a:gdLst/>
              <a:ahLst/>
              <a:cxnLst/>
              <a:rect r="r" b="b" t="t" l="l"/>
              <a:pathLst>
                <a:path h="1669100" w="1459550">
                  <a:moveTo>
                    <a:pt x="0" y="0"/>
                  </a:moveTo>
                  <a:lnTo>
                    <a:pt x="1459550" y="0"/>
                  </a:lnTo>
                  <a:lnTo>
                    <a:pt x="1459550" y="1669100"/>
                  </a:lnTo>
                  <a:lnTo>
                    <a:pt x="0" y="1669100"/>
                  </a:lnTo>
                  <a:close/>
                </a:path>
              </a:pathLst>
            </a:custGeom>
            <a:solidFill>
              <a:srgbClr val="0D2A4E">
                <a:alpha val="60000"/>
              </a:srgbClr>
            </a:solidFill>
          </p:spPr>
        </p:sp>
        <p:sp>
          <p:nvSpPr>
            <p:cNvPr name="TextBox 15" id="15"/>
            <p:cNvSpPr txBox="true"/>
            <p:nvPr/>
          </p:nvSpPr>
          <p:spPr>
            <a:xfrm>
              <a:off x="0" y="-114300"/>
              <a:ext cx="1459550" cy="1783400"/>
            </a:xfrm>
            <a:prstGeom prst="rect">
              <a:avLst/>
            </a:prstGeom>
          </p:spPr>
          <p:txBody>
            <a:bodyPr anchor="ctr" rtlCol="false" tIns="50800" lIns="50800" bIns="50800" rIns="50800"/>
            <a:lstStyle/>
            <a:p>
              <a:pPr algn="ctr">
                <a:lnSpc>
                  <a:spcPts val="2700"/>
                </a:lnSpc>
              </a:pPr>
            </a:p>
          </p:txBody>
        </p:sp>
      </p:grpSp>
      <p:sp>
        <p:nvSpPr>
          <p:cNvPr name="Freeform 16" id="16"/>
          <p:cNvSpPr/>
          <p:nvPr/>
        </p:nvSpPr>
        <p:spPr>
          <a:xfrm flipH="false" flipV="false" rot="0">
            <a:off x="6716324" y="3286412"/>
            <a:ext cx="950864" cy="1056516"/>
          </a:xfrm>
          <a:custGeom>
            <a:avLst/>
            <a:gdLst/>
            <a:ahLst/>
            <a:cxnLst/>
            <a:rect r="r" b="b" t="t" l="l"/>
            <a:pathLst>
              <a:path h="1056516" w="950864">
                <a:moveTo>
                  <a:pt x="0" y="0"/>
                </a:moveTo>
                <a:lnTo>
                  <a:pt x="950864" y="0"/>
                </a:lnTo>
                <a:lnTo>
                  <a:pt x="950864" y="1056516"/>
                </a:lnTo>
                <a:lnTo>
                  <a:pt x="0" y="10565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6716324" y="4695709"/>
            <a:ext cx="950864" cy="847792"/>
          </a:xfrm>
          <a:custGeom>
            <a:avLst/>
            <a:gdLst/>
            <a:ahLst/>
            <a:cxnLst/>
            <a:rect r="r" b="b" t="t" l="l"/>
            <a:pathLst>
              <a:path h="847792" w="950864">
                <a:moveTo>
                  <a:pt x="0" y="0"/>
                </a:moveTo>
                <a:lnTo>
                  <a:pt x="950864" y="0"/>
                </a:lnTo>
                <a:lnTo>
                  <a:pt x="950864" y="847792"/>
                </a:lnTo>
                <a:lnTo>
                  <a:pt x="0" y="84779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6716324" y="5898268"/>
            <a:ext cx="950864" cy="1076081"/>
          </a:xfrm>
          <a:custGeom>
            <a:avLst/>
            <a:gdLst/>
            <a:ahLst/>
            <a:cxnLst/>
            <a:rect r="r" b="b" t="t" l="l"/>
            <a:pathLst>
              <a:path h="1076081" w="950864">
                <a:moveTo>
                  <a:pt x="0" y="0"/>
                </a:moveTo>
                <a:lnTo>
                  <a:pt x="950864" y="0"/>
                </a:lnTo>
                <a:lnTo>
                  <a:pt x="950864" y="1076081"/>
                </a:lnTo>
                <a:lnTo>
                  <a:pt x="0" y="10760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6716324" y="7330246"/>
            <a:ext cx="950864" cy="1027456"/>
          </a:xfrm>
          <a:custGeom>
            <a:avLst/>
            <a:gdLst/>
            <a:ahLst/>
            <a:cxnLst/>
            <a:rect r="r" b="b" t="t" l="l"/>
            <a:pathLst>
              <a:path h="1027456" w="950864">
                <a:moveTo>
                  <a:pt x="0" y="0"/>
                </a:moveTo>
                <a:lnTo>
                  <a:pt x="950864" y="0"/>
                </a:lnTo>
                <a:lnTo>
                  <a:pt x="950864" y="1027456"/>
                </a:lnTo>
                <a:lnTo>
                  <a:pt x="0" y="10274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0" id="20"/>
          <p:cNvGrpSpPr/>
          <p:nvPr/>
        </p:nvGrpSpPr>
        <p:grpSpPr>
          <a:xfrm rot="0">
            <a:off x="12267289" y="2920937"/>
            <a:ext cx="5541727" cy="6337363"/>
            <a:chOff x="0" y="0"/>
            <a:chExt cx="1459550" cy="1669100"/>
          </a:xfrm>
        </p:grpSpPr>
        <p:sp>
          <p:nvSpPr>
            <p:cNvPr name="Freeform 21" id="21"/>
            <p:cNvSpPr/>
            <p:nvPr/>
          </p:nvSpPr>
          <p:spPr>
            <a:xfrm flipH="false" flipV="false" rot="0">
              <a:off x="0" y="0"/>
              <a:ext cx="1459550" cy="1669100"/>
            </a:xfrm>
            <a:custGeom>
              <a:avLst/>
              <a:gdLst/>
              <a:ahLst/>
              <a:cxnLst/>
              <a:rect r="r" b="b" t="t" l="l"/>
              <a:pathLst>
                <a:path h="1669100" w="1459550">
                  <a:moveTo>
                    <a:pt x="0" y="0"/>
                  </a:moveTo>
                  <a:lnTo>
                    <a:pt x="1459550" y="0"/>
                  </a:lnTo>
                  <a:lnTo>
                    <a:pt x="1459550" y="1669100"/>
                  </a:lnTo>
                  <a:lnTo>
                    <a:pt x="0" y="1669100"/>
                  </a:lnTo>
                  <a:close/>
                </a:path>
              </a:pathLst>
            </a:custGeom>
            <a:solidFill>
              <a:srgbClr val="0D2A4E">
                <a:alpha val="60000"/>
              </a:srgbClr>
            </a:solidFill>
          </p:spPr>
        </p:sp>
        <p:sp>
          <p:nvSpPr>
            <p:cNvPr name="TextBox 22" id="22"/>
            <p:cNvSpPr txBox="true"/>
            <p:nvPr/>
          </p:nvSpPr>
          <p:spPr>
            <a:xfrm>
              <a:off x="0" y="-114300"/>
              <a:ext cx="1459550" cy="1783400"/>
            </a:xfrm>
            <a:prstGeom prst="rect">
              <a:avLst/>
            </a:prstGeom>
          </p:spPr>
          <p:txBody>
            <a:bodyPr anchor="ctr" rtlCol="false" tIns="50800" lIns="50800" bIns="50800" rIns="50800"/>
            <a:lstStyle/>
            <a:p>
              <a:pPr algn="ctr">
                <a:lnSpc>
                  <a:spcPts val="2700"/>
                </a:lnSpc>
              </a:pPr>
            </a:p>
          </p:txBody>
        </p:sp>
      </p:grpSp>
      <p:sp>
        <p:nvSpPr>
          <p:cNvPr name="Freeform 23" id="23"/>
          <p:cNvSpPr/>
          <p:nvPr/>
        </p:nvSpPr>
        <p:spPr>
          <a:xfrm flipH="false" flipV="false" rot="0">
            <a:off x="12610476" y="3286412"/>
            <a:ext cx="950864" cy="1056516"/>
          </a:xfrm>
          <a:custGeom>
            <a:avLst/>
            <a:gdLst/>
            <a:ahLst/>
            <a:cxnLst/>
            <a:rect r="r" b="b" t="t" l="l"/>
            <a:pathLst>
              <a:path h="1056516" w="950864">
                <a:moveTo>
                  <a:pt x="0" y="0"/>
                </a:moveTo>
                <a:lnTo>
                  <a:pt x="950864" y="0"/>
                </a:lnTo>
                <a:lnTo>
                  <a:pt x="950864" y="1056516"/>
                </a:lnTo>
                <a:lnTo>
                  <a:pt x="0" y="10565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610476" y="4695709"/>
            <a:ext cx="950864" cy="847792"/>
          </a:xfrm>
          <a:custGeom>
            <a:avLst/>
            <a:gdLst/>
            <a:ahLst/>
            <a:cxnLst/>
            <a:rect r="r" b="b" t="t" l="l"/>
            <a:pathLst>
              <a:path h="847792" w="950864">
                <a:moveTo>
                  <a:pt x="0" y="0"/>
                </a:moveTo>
                <a:lnTo>
                  <a:pt x="950864" y="0"/>
                </a:lnTo>
                <a:lnTo>
                  <a:pt x="950864" y="847792"/>
                </a:lnTo>
                <a:lnTo>
                  <a:pt x="0" y="84779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12610476" y="5898268"/>
            <a:ext cx="950864" cy="1076081"/>
          </a:xfrm>
          <a:custGeom>
            <a:avLst/>
            <a:gdLst/>
            <a:ahLst/>
            <a:cxnLst/>
            <a:rect r="r" b="b" t="t" l="l"/>
            <a:pathLst>
              <a:path h="1076081" w="950864">
                <a:moveTo>
                  <a:pt x="0" y="0"/>
                </a:moveTo>
                <a:lnTo>
                  <a:pt x="950864" y="0"/>
                </a:lnTo>
                <a:lnTo>
                  <a:pt x="950864" y="1076081"/>
                </a:lnTo>
                <a:lnTo>
                  <a:pt x="0" y="10760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6" id="26"/>
          <p:cNvSpPr/>
          <p:nvPr/>
        </p:nvSpPr>
        <p:spPr>
          <a:xfrm flipH="false" flipV="false" rot="0">
            <a:off x="12610476" y="7330246"/>
            <a:ext cx="950864" cy="1027456"/>
          </a:xfrm>
          <a:custGeom>
            <a:avLst/>
            <a:gdLst/>
            <a:ahLst/>
            <a:cxnLst/>
            <a:rect r="r" b="b" t="t" l="l"/>
            <a:pathLst>
              <a:path h="1027456" w="950864">
                <a:moveTo>
                  <a:pt x="0" y="0"/>
                </a:moveTo>
                <a:lnTo>
                  <a:pt x="950864" y="0"/>
                </a:lnTo>
                <a:lnTo>
                  <a:pt x="950864" y="1027456"/>
                </a:lnTo>
                <a:lnTo>
                  <a:pt x="0" y="10274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7" id="27"/>
          <p:cNvGrpSpPr/>
          <p:nvPr/>
        </p:nvGrpSpPr>
        <p:grpSpPr>
          <a:xfrm rot="0">
            <a:off x="12267289" y="1526765"/>
            <a:ext cx="5541727" cy="1261583"/>
            <a:chOff x="0" y="0"/>
            <a:chExt cx="7388970" cy="1682111"/>
          </a:xfrm>
        </p:grpSpPr>
        <p:grpSp>
          <p:nvGrpSpPr>
            <p:cNvPr name="Group 28" id="28"/>
            <p:cNvGrpSpPr/>
            <p:nvPr/>
          </p:nvGrpSpPr>
          <p:grpSpPr>
            <a:xfrm rot="0">
              <a:off x="0" y="0"/>
              <a:ext cx="7388970" cy="1682111"/>
              <a:chOff x="0" y="0"/>
              <a:chExt cx="1459550" cy="332269"/>
            </a:xfrm>
          </p:grpSpPr>
          <p:sp>
            <p:nvSpPr>
              <p:cNvPr name="Freeform 29" id="29"/>
              <p:cNvSpPr/>
              <p:nvPr/>
            </p:nvSpPr>
            <p:spPr>
              <a:xfrm flipH="false" flipV="false" rot="0">
                <a:off x="0" y="0"/>
                <a:ext cx="1459550" cy="332269"/>
              </a:xfrm>
              <a:custGeom>
                <a:avLst/>
                <a:gdLst/>
                <a:ahLst/>
                <a:cxnLst/>
                <a:rect r="r" b="b" t="t" l="l"/>
                <a:pathLst>
                  <a:path h="332269" w="1459550">
                    <a:moveTo>
                      <a:pt x="0" y="0"/>
                    </a:moveTo>
                    <a:lnTo>
                      <a:pt x="1459550" y="0"/>
                    </a:lnTo>
                    <a:lnTo>
                      <a:pt x="1459550" y="332269"/>
                    </a:lnTo>
                    <a:lnTo>
                      <a:pt x="0" y="332269"/>
                    </a:lnTo>
                    <a:close/>
                  </a:path>
                </a:pathLst>
              </a:custGeom>
              <a:solidFill>
                <a:srgbClr val="FFC00C">
                  <a:alpha val="60000"/>
                </a:srgbClr>
              </a:solidFill>
            </p:spPr>
          </p:sp>
          <p:sp>
            <p:nvSpPr>
              <p:cNvPr name="TextBox 30" id="30"/>
              <p:cNvSpPr txBox="true"/>
              <p:nvPr/>
            </p:nvSpPr>
            <p:spPr>
              <a:xfrm>
                <a:off x="0" y="-114300"/>
                <a:ext cx="1459550" cy="446569"/>
              </a:xfrm>
              <a:prstGeom prst="rect">
                <a:avLst/>
              </a:prstGeom>
            </p:spPr>
            <p:txBody>
              <a:bodyPr anchor="ctr" rtlCol="false" tIns="50800" lIns="50800" bIns="50800" rIns="50800"/>
              <a:lstStyle/>
              <a:p>
                <a:pPr algn="ctr">
                  <a:lnSpc>
                    <a:spcPts val="2700"/>
                  </a:lnSpc>
                </a:pPr>
              </a:p>
            </p:txBody>
          </p:sp>
        </p:grpSp>
        <p:sp>
          <p:nvSpPr>
            <p:cNvPr name="Freeform 31" id="31"/>
            <p:cNvSpPr/>
            <p:nvPr/>
          </p:nvSpPr>
          <p:spPr>
            <a:xfrm flipH="false" flipV="false" rot="0">
              <a:off x="549681" y="127185"/>
              <a:ext cx="6289608" cy="1427741"/>
            </a:xfrm>
            <a:custGeom>
              <a:avLst/>
              <a:gdLst/>
              <a:ahLst/>
              <a:cxnLst/>
              <a:rect r="r" b="b" t="t" l="l"/>
              <a:pathLst>
                <a:path h="1427741" w="6289608">
                  <a:moveTo>
                    <a:pt x="0" y="0"/>
                  </a:moveTo>
                  <a:lnTo>
                    <a:pt x="6289608" y="0"/>
                  </a:lnTo>
                  <a:lnTo>
                    <a:pt x="6289608" y="1427741"/>
                  </a:lnTo>
                  <a:lnTo>
                    <a:pt x="0" y="1427741"/>
                  </a:lnTo>
                  <a:lnTo>
                    <a:pt x="0" y="0"/>
                  </a:lnTo>
                  <a:close/>
                </a:path>
              </a:pathLst>
            </a:custGeom>
            <a:blipFill>
              <a:blip r:embed="rId18"/>
              <a:stretch>
                <a:fillRect l="0" t="0" r="0" b="0"/>
              </a:stretch>
            </a:blipFill>
          </p:spPr>
        </p:sp>
      </p:grpSp>
      <p:sp>
        <p:nvSpPr>
          <p:cNvPr name="TextBox 32" id="32"/>
          <p:cNvSpPr txBox="true"/>
          <p:nvPr/>
        </p:nvSpPr>
        <p:spPr>
          <a:xfrm rot="0">
            <a:off x="847308" y="114337"/>
            <a:ext cx="16627177" cy="914363"/>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Our Other Training Portfolio</a:t>
            </a:r>
          </a:p>
        </p:txBody>
      </p:sp>
      <p:grpSp>
        <p:nvGrpSpPr>
          <p:cNvPr name="Group 33" id="33"/>
          <p:cNvGrpSpPr/>
          <p:nvPr/>
        </p:nvGrpSpPr>
        <p:grpSpPr>
          <a:xfrm rot="0">
            <a:off x="478984" y="2920937"/>
            <a:ext cx="5541727" cy="6337363"/>
            <a:chOff x="0" y="0"/>
            <a:chExt cx="7388970" cy="8449818"/>
          </a:xfrm>
        </p:grpSpPr>
        <p:grpSp>
          <p:nvGrpSpPr>
            <p:cNvPr name="Group 34" id="34"/>
            <p:cNvGrpSpPr/>
            <p:nvPr/>
          </p:nvGrpSpPr>
          <p:grpSpPr>
            <a:xfrm rot="0">
              <a:off x="0" y="0"/>
              <a:ext cx="7388970" cy="8449818"/>
              <a:chOff x="0" y="0"/>
              <a:chExt cx="1459550" cy="1669100"/>
            </a:xfrm>
          </p:grpSpPr>
          <p:sp>
            <p:nvSpPr>
              <p:cNvPr name="Freeform 35" id="35"/>
              <p:cNvSpPr/>
              <p:nvPr/>
            </p:nvSpPr>
            <p:spPr>
              <a:xfrm flipH="false" flipV="false" rot="0">
                <a:off x="0" y="0"/>
                <a:ext cx="1459550" cy="1669100"/>
              </a:xfrm>
              <a:custGeom>
                <a:avLst/>
                <a:gdLst/>
                <a:ahLst/>
                <a:cxnLst/>
                <a:rect r="r" b="b" t="t" l="l"/>
                <a:pathLst>
                  <a:path h="1669100" w="1459550">
                    <a:moveTo>
                      <a:pt x="0" y="0"/>
                    </a:moveTo>
                    <a:lnTo>
                      <a:pt x="1459550" y="0"/>
                    </a:lnTo>
                    <a:lnTo>
                      <a:pt x="1459550" y="1669100"/>
                    </a:lnTo>
                    <a:lnTo>
                      <a:pt x="0" y="1669100"/>
                    </a:lnTo>
                    <a:close/>
                  </a:path>
                </a:pathLst>
              </a:custGeom>
              <a:solidFill>
                <a:srgbClr val="0D2A4E">
                  <a:alpha val="60000"/>
                </a:srgbClr>
              </a:solidFill>
            </p:spPr>
          </p:sp>
          <p:sp>
            <p:nvSpPr>
              <p:cNvPr name="TextBox 36" id="36"/>
              <p:cNvSpPr txBox="true"/>
              <p:nvPr/>
            </p:nvSpPr>
            <p:spPr>
              <a:xfrm>
                <a:off x="0" y="-114300"/>
                <a:ext cx="1459550" cy="1783400"/>
              </a:xfrm>
              <a:prstGeom prst="rect">
                <a:avLst/>
              </a:prstGeom>
            </p:spPr>
            <p:txBody>
              <a:bodyPr anchor="ctr" rtlCol="false" tIns="50800" lIns="50800" bIns="50800" rIns="50800"/>
              <a:lstStyle/>
              <a:p>
                <a:pPr algn="ctr">
                  <a:lnSpc>
                    <a:spcPts val="2700"/>
                  </a:lnSpc>
                </a:pPr>
              </a:p>
            </p:txBody>
          </p:sp>
        </p:grpSp>
        <p:sp>
          <p:nvSpPr>
            <p:cNvPr name="Freeform 37" id="37"/>
            <p:cNvSpPr/>
            <p:nvPr/>
          </p:nvSpPr>
          <p:spPr>
            <a:xfrm flipH="false" flipV="false" rot="0">
              <a:off x="457583" y="487300"/>
              <a:ext cx="1267819" cy="1408688"/>
            </a:xfrm>
            <a:custGeom>
              <a:avLst/>
              <a:gdLst/>
              <a:ahLst/>
              <a:cxnLst/>
              <a:rect r="r" b="b" t="t" l="l"/>
              <a:pathLst>
                <a:path h="1408688" w="1267819">
                  <a:moveTo>
                    <a:pt x="0" y="0"/>
                  </a:moveTo>
                  <a:lnTo>
                    <a:pt x="1267819" y="0"/>
                  </a:lnTo>
                  <a:lnTo>
                    <a:pt x="1267819" y="1408688"/>
                  </a:lnTo>
                  <a:lnTo>
                    <a:pt x="0" y="1408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8" id="38"/>
            <p:cNvSpPr/>
            <p:nvPr/>
          </p:nvSpPr>
          <p:spPr>
            <a:xfrm flipH="false" flipV="false" rot="0">
              <a:off x="457583" y="2366363"/>
              <a:ext cx="1267819" cy="1130389"/>
            </a:xfrm>
            <a:custGeom>
              <a:avLst/>
              <a:gdLst/>
              <a:ahLst/>
              <a:cxnLst/>
              <a:rect r="r" b="b" t="t" l="l"/>
              <a:pathLst>
                <a:path h="1130389" w="1267819">
                  <a:moveTo>
                    <a:pt x="0" y="0"/>
                  </a:moveTo>
                  <a:lnTo>
                    <a:pt x="1267819" y="0"/>
                  </a:lnTo>
                  <a:lnTo>
                    <a:pt x="1267819" y="1130389"/>
                  </a:lnTo>
                  <a:lnTo>
                    <a:pt x="0" y="11303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false" flipV="false" rot="0">
              <a:off x="457583" y="3969775"/>
              <a:ext cx="1267819" cy="1434775"/>
            </a:xfrm>
            <a:custGeom>
              <a:avLst/>
              <a:gdLst/>
              <a:ahLst/>
              <a:cxnLst/>
              <a:rect r="r" b="b" t="t" l="l"/>
              <a:pathLst>
                <a:path h="1434775" w="1267819">
                  <a:moveTo>
                    <a:pt x="0" y="0"/>
                  </a:moveTo>
                  <a:lnTo>
                    <a:pt x="1267819" y="0"/>
                  </a:lnTo>
                  <a:lnTo>
                    <a:pt x="1267819" y="1434774"/>
                  </a:lnTo>
                  <a:lnTo>
                    <a:pt x="0" y="14347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0" id="40"/>
            <p:cNvSpPr/>
            <p:nvPr/>
          </p:nvSpPr>
          <p:spPr>
            <a:xfrm flipH="false" flipV="false" rot="0">
              <a:off x="457583" y="5879079"/>
              <a:ext cx="1267819" cy="1369942"/>
            </a:xfrm>
            <a:custGeom>
              <a:avLst/>
              <a:gdLst/>
              <a:ahLst/>
              <a:cxnLst/>
              <a:rect r="r" b="b" t="t" l="l"/>
              <a:pathLst>
                <a:path h="1369942" w="1267819">
                  <a:moveTo>
                    <a:pt x="0" y="0"/>
                  </a:moveTo>
                  <a:lnTo>
                    <a:pt x="1267819" y="0"/>
                  </a:lnTo>
                  <a:lnTo>
                    <a:pt x="1267819" y="1369942"/>
                  </a:lnTo>
                  <a:lnTo>
                    <a:pt x="0" y="13699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1" id="41"/>
            <p:cNvSpPr txBox="true"/>
            <p:nvPr/>
          </p:nvSpPr>
          <p:spPr>
            <a:xfrm rot="0">
              <a:off x="2194738" y="2652132"/>
              <a:ext cx="4872504" cy="495350"/>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Corporate</a:t>
              </a:r>
            </a:p>
          </p:txBody>
        </p:sp>
        <p:sp>
          <p:nvSpPr>
            <p:cNvPr name="TextBox 42" id="42"/>
            <p:cNvSpPr txBox="true"/>
            <p:nvPr/>
          </p:nvSpPr>
          <p:spPr>
            <a:xfrm rot="0">
              <a:off x="2194738" y="943969"/>
              <a:ext cx="4872504" cy="495350"/>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September 2022</a:t>
              </a:r>
            </a:p>
          </p:txBody>
        </p:sp>
        <p:sp>
          <p:nvSpPr>
            <p:cNvPr name="TextBox 43" id="43"/>
            <p:cNvSpPr txBox="true"/>
            <p:nvPr/>
          </p:nvSpPr>
          <p:spPr>
            <a:xfrm rot="0">
              <a:off x="2194738" y="4407737"/>
              <a:ext cx="4872504" cy="495350"/>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15 Participants</a:t>
              </a:r>
            </a:p>
          </p:txBody>
        </p:sp>
        <p:sp>
          <p:nvSpPr>
            <p:cNvPr name="TextBox 44" id="44"/>
            <p:cNvSpPr txBox="true"/>
            <p:nvPr/>
          </p:nvSpPr>
          <p:spPr>
            <a:xfrm rot="0">
              <a:off x="2194738" y="5725775"/>
              <a:ext cx="4872504" cy="1485900"/>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Zendesk Optimization Tools for Happiness Agent’s Leader</a:t>
              </a:r>
            </a:p>
          </p:txBody>
        </p:sp>
      </p:grpSp>
      <p:sp>
        <p:nvSpPr>
          <p:cNvPr name="TextBox 45" id="45"/>
          <p:cNvSpPr txBox="true"/>
          <p:nvPr/>
        </p:nvSpPr>
        <p:spPr>
          <a:xfrm rot="0">
            <a:off x="8019190" y="4910036"/>
            <a:ext cx="3654378" cy="371512"/>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Public Training</a:t>
            </a:r>
          </a:p>
        </p:txBody>
      </p:sp>
      <p:sp>
        <p:nvSpPr>
          <p:cNvPr name="TextBox 46" id="46"/>
          <p:cNvSpPr txBox="true"/>
          <p:nvPr/>
        </p:nvSpPr>
        <p:spPr>
          <a:xfrm rot="0">
            <a:off x="8019190" y="3395533"/>
            <a:ext cx="3654378" cy="743024"/>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December 2022</a:t>
            </a:r>
          </a:p>
          <a:p>
            <a:pPr algn="l">
              <a:lnSpc>
                <a:spcPts val="2999"/>
              </a:lnSpc>
            </a:pPr>
            <a:r>
              <a:rPr lang="en-US" sz="2499" spc="24" b="true">
                <a:solidFill>
                  <a:srgbClr val="FFFFFF"/>
                </a:solidFill>
                <a:latin typeface="Mont 1 Bold"/>
                <a:ea typeface="Mont 1 Bold"/>
                <a:cs typeface="Mont 1 Bold"/>
                <a:sym typeface="Mont 1 Bold"/>
              </a:rPr>
              <a:t>November 2023</a:t>
            </a:r>
          </a:p>
        </p:txBody>
      </p:sp>
      <p:sp>
        <p:nvSpPr>
          <p:cNvPr name="TextBox 47" id="47"/>
          <p:cNvSpPr txBox="true"/>
          <p:nvPr/>
        </p:nvSpPr>
        <p:spPr>
          <a:xfrm rot="0">
            <a:off x="8019190" y="6226740"/>
            <a:ext cx="3654378" cy="371512"/>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400 Participants</a:t>
            </a:r>
          </a:p>
        </p:txBody>
      </p:sp>
      <p:sp>
        <p:nvSpPr>
          <p:cNvPr name="TextBox 48" id="48"/>
          <p:cNvSpPr txBox="true"/>
          <p:nvPr/>
        </p:nvSpPr>
        <p:spPr>
          <a:xfrm rot="0">
            <a:off x="8019613" y="7330246"/>
            <a:ext cx="3654378" cy="743024"/>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Digital Finance:</a:t>
            </a:r>
          </a:p>
          <a:p>
            <a:pPr algn="l">
              <a:lnSpc>
                <a:spcPts val="2999"/>
              </a:lnSpc>
            </a:pPr>
            <a:r>
              <a:rPr lang="en-US" sz="2499" spc="24">
                <a:solidFill>
                  <a:srgbClr val="FFFFFF"/>
                </a:solidFill>
                <a:latin typeface="Mont 1"/>
                <a:ea typeface="Mont 1"/>
                <a:cs typeface="Mont 1"/>
                <a:sym typeface="Mont 1"/>
              </a:rPr>
              <a:t>POS Financial App</a:t>
            </a:r>
          </a:p>
        </p:txBody>
      </p:sp>
      <p:sp>
        <p:nvSpPr>
          <p:cNvPr name="TextBox 49" id="49"/>
          <p:cNvSpPr txBox="true"/>
          <p:nvPr/>
        </p:nvSpPr>
        <p:spPr>
          <a:xfrm rot="0">
            <a:off x="13913342" y="4910036"/>
            <a:ext cx="3654378" cy="371512"/>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Corporate</a:t>
            </a:r>
          </a:p>
        </p:txBody>
      </p:sp>
      <p:sp>
        <p:nvSpPr>
          <p:cNvPr name="TextBox 50" id="50"/>
          <p:cNvSpPr txBox="true"/>
          <p:nvPr/>
        </p:nvSpPr>
        <p:spPr>
          <a:xfrm rot="0">
            <a:off x="13913342" y="3581289"/>
            <a:ext cx="3654378" cy="371512"/>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April - May 2023</a:t>
            </a:r>
          </a:p>
        </p:txBody>
      </p:sp>
      <p:sp>
        <p:nvSpPr>
          <p:cNvPr name="TextBox 51" id="51"/>
          <p:cNvSpPr txBox="true"/>
          <p:nvPr/>
        </p:nvSpPr>
        <p:spPr>
          <a:xfrm rot="0">
            <a:off x="13913342" y="6226740"/>
            <a:ext cx="3654378" cy="371512"/>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9 Participants</a:t>
            </a:r>
          </a:p>
        </p:txBody>
      </p:sp>
      <p:sp>
        <p:nvSpPr>
          <p:cNvPr name="TextBox 52" id="52"/>
          <p:cNvSpPr txBox="true"/>
          <p:nvPr/>
        </p:nvSpPr>
        <p:spPr>
          <a:xfrm rot="0">
            <a:off x="13913342" y="7065476"/>
            <a:ext cx="3654378" cy="1486049"/>
          </a:xfrm>
          <a:prstGeom prst="rect">
            <a:avLst/>
          </a:prstGeom>
        </p:spPr>
        <p:txBody>
          <a:bodyPr anchor="t" rtlCol="false" tIns="0" lIns="0" bIns="0" rIns="0">
            <a:spAutoFit/>
          </a:bodyPr>
          <a:lstStyle/>
          <a:p>
            <a:pPr algn="l">
              <a:lnSpc>
                <a:spcPts val="2999"/>
              </a:lnSpc>
            </a:pPr>
            <a:r>
              <a:rPr lang="en-US" sz="2499" spc="24" b="true">
                <a:solidFill>
                  <a:srgbClr val="FFFFFF"/>
                </a:solidFill>
                <a:latin typeface="Mont 1 Bold"/>
                <a:ea typeface="Mont 1 Bold"/>
                <a:cs typeface="Mont 1 Bold"/>
                <a:sym typeface="Mont 1 Bold"/>
              </a:rPr>
              <a:t>Accounting and Financial Management for Foundation</a:t>
            </a:r>
          </a:p>
        </p:txBody>
      </p:sp>
      <p:grpSp>
        <p:nvGrpSpPr>
          <p:cNvPr name="Group 53" id="53"/>
          <p:cNvGrpSpPr/>
          <p:nvPr/>
        </p:nvGrpSpPr>
        <p:grpSpPr>
          <a:xfrm rot="0">
            <a:off x="6390033" y="1526765"/>
            <a:ext cx="5541727" cy="1261583"/>
            <a:chOff x="0" y="0"/>
            <a:chExt cx="7388970" cy="1682111"/>
          </a:xfrm>
        </p:grpSpPr>
        <p:grpSp>
          <p:nvGrpSpPr>
            <p:cNvPr name="Group 54" id="54"/>
            <p:cNvGrpSpPr/>
            <p:nvPr/>
          </p:nvGrpSpPr>
          <p:grpSpPr>
            <a:xfrm rot="0">
              <a:off x="0" y="0"/>
              <a:ext cx="7388970" cy="1682111"/>
              <a:chOff x="0" y="0"/>
              <a:chExt cx="1459550" cy="332269"/>
            </a:xfrm>
          </p:grpSpPr>
          <p:sp>
            <p:nvSpPr>
              <p:cNvPr name="Freeform 55" id="55"/>
              <p:cNvSpPr/>
              <p:nvPr/>
            </p:nvSpPr>
            <p:spPr>
              <a:xfrm flipH="false" flipV="false" rot="0">
                <a:off x="0" y="0"/>
                <a:ext cx="1459550" cy="332269"/>
              </a:xfrm>
              <a:custGeom>
                <a:avLst/>
                <a:gdLst/>
                <a:ahLst/>
                <a:cxnLst/>
                <a:rect r="r" b="b" t="t" l="l"/>
                <a:pathLst>
                  <a:path h="332269" w="1459550">
                    <a:moveTo>
                      <a:pt x="0" y="0"/>
                    </a:moveTo>
                    <a:lnTo>
                      <a:pt x="1459550" y="0"/>
                    </a:lnTo>
                    <a:lnTo>
                      <a:pt x="1459550" y="332269"/>
                    </a:lnTo>
                    <a:lnTo>
                      <a:pt x="0" y="332269"/>
                    </a:lnTo>
                    <a:close/>
                  </a:path>
                </a:pathLst>
              </a:custGeom>
              <a:solidFill>
                <a:srgbClr val="FFC00C">
                  <a:alpha val="60000"/>
                </a:srgbClr>
              </a:solidFill>
            </p:spPr>
          </p:sp>
          <p:sp>
            <p:nvSpPr>
              <p:cNvPr name="TextBox 56" id="56"/>
              <p:cNvSpPr txBox="true"/>
              <p:nvPr/>
            </p:nvSpPr>
            <p:spPr>
              <a:xfrm>
                <a:off x="0" y="-114300"/>
                <a:ext cx="1459550" cy="446569"/>
              </a:xfrm>
              <a:prstGeom prst="rect">
                <a:avLst/>
              </a:prstGeom>
            </p:spPr>
            <p:txBody>
              <a:bodyPr anchor="ctr" rtlCol="false" tIns="50800" lIns="50800" bIns="50800" rIns="50800"/>
              <a:lstStyle/>
              <a:p>
                <a:pPr algn="ctr">
                  <a:lnSpc>
                    <a:spcPts val="2700"/>
                  </a:lnSpc>
                </a:pPr>
              </a:p>
            </p:txBody>
          </p:sp>
        </p:grpSp>
        <p:sp>
          <p:nvSpPr>
            <p:cNvPr name="Freeform 57" id="57"/>
            <p:cNvSpPr/>
            <p:nvPr/>
          </p:nvSpPr>
          <p:spPr>
            <a:xfrm flipH="false" flipV="false" rot="0">
              <a:off x="684081" y="286578"/>
              <a:ext cx="5975750" cy="1108954"/>
            </a:xfrm>
            <a:custGeom>
              <a:avLst/>
              <a:gdLst/>
              <a:ahLst/>
              <a:cxnLst/>
              <a:rect r="r" b="b" t="t" l="l"/>
              <a:pathLst>
                <a:path h="1108954" w="5975750">
                  <a:moveTo>
                    <a:pt x="0" y="0"/>
                  </a:moveTo>
                  <a:lnTo>
                    <a:pt x="5975750" y="0"/>
                  </a:lnTo>
                  <a:lnTo>
                    <a:pt x="5975750" y="1108955"/>
                  </a:lnTo>
                  <a:lnTo>
                    <a:pt x="0" y="1108955"/>
                  </a:lnTo>
                  <a:lnTo>
                    <a:pt x="0" y="0"/>
                  </a:lnTo>
                  <a:close/>
                </a:path>
              </a:pathLst>
            </a:custGeom>
            <a:blipFill>
              <a:blip r:embed="rId19"/>
              <a:stretch>
                <a:fillRect l="-1506" t="-21643" r="0" b="-21643"/>
              </a:stretch>
            </a:blipFill>
          </p:spPr>
        </p:sp>
      </p:grpSp>
      <p:grpSp>
        <p:nvGrpSpPr>
          <p:cNvPr name="Group 58" id="58"/>
          <p:cNvGrpSpPr/>
          <p:nvPr/>
        </p:nvGrpSpPr>
        <p:grpSpPr>
          <a:xfrm rot="0">
            <a:off x="514931" y="1526765"/>
            <a:ext cx="5541727" cy="1261583"/>
            <a:chOff x="0" y="0"/>
            <a:chExt cx="7388970" cy="1682111"/>
          </a:xfrm>
        </p:grpSpPr>
        <p:grpSp>
          <p:nvGrpSpPr>
            <p:cNvPr name="Group 59" id="59"/>
            <p:cNvGrpSpPr/>
            <p:nvPr/>
          </p:nvGrpSpPr>
          <p:grpSpPr>
            <a:xfrm rot="0">
              <a:off x="0" y="0"/>
              <a:ext cx="7388970" cy="1682111"/>
              <a:chOff x="0" y="0"/>
              <a:chExt cx="1459550" cy="332269"/>
            </a:xfrm>
          </p:grpSpPr>
          <p:sp>
            <p:nvSpPr>
              <p:cNvPr name="Freeform 60" id="60"/>
              <p:cNvSpPr/>
              <p:nvPr/>
            </p:nvSpPr>
            <p:spPr>
              <a:xfrm flipH="false" flipV="false" rot="0">
                <a:off x="0" y="0"/>
                <a:ext cx="1459550" cy="332269"/>
              </a:xfrm>
              <a:custGeom>
                <a:avLst/>
                <a:gdLst/>
                <a:ahLst/>
                <a:cxnLst/>
                <a:rect r="r" b="b" t="t" l="l"/>
                <a:pathLst>
                  <a:path h="332269" w="1459550">
                    <a:moveTo>
                      <a:pt x="0" y="0"/>
                    </a:moveTo>
                    <a:lnTo>
                      <a:pt x="1459550" y="0"/>
                    </a:lnTo>
                    <a:lnTo>
                      <a:pt x="1459550" y="332269"/>
                    </a:lnTo>
                    <a:lnTo>
                      <a:pt x="0" y="332269"/>
                    </a:lnTo>
                    <a:close/>
                  </a:path>
                </a:pathLst>
              </a:custGeom>
              <a:solidFill>
                <a:srgbClr val="FFC00C">
                  <a:alpha val="60000"/>
                </a:srgbClr>
              </a:solidFill>
            </p:spPr>
          </p:sp>
          <p:sp>
            <p:nvSpPr>
              <p:cNvPr name="TextBox 61" id="61"/>
              <p:cNvSpPr txBox="true"/>
              <p:nvPr/>
            </p:nvSpPr>
            <p:spPr>
              <a:xfrm>
                <a:off x="0" y="-114300"/>
                <a:ext cx="1459550" cy="446569"/>
              </a:xfrm>
              <a:prstGeom prst="rect">
                <a:avLst/>
              </a:prstGeom>
            </p:spPr>
            <p:txBody>
              <a:bodyPr anchor="ctr" rtlCol="false" tIns="50800" lIns="50800" bIns="50800" rIns="50800"/>
              <a:lstStyle/>
              <a:p>
                <a:pPr algn="ctr">
                  <a:lnSpc>
                    <a:spcPts val="2700"/>
                  </a:lnSpc>
                </a:pPr>
              </a:p>
            </p:txBody>
          </p:sp>
        </p:grpSp>
        <p:sp>
          <p:nvSpPr>
            <p:cNvPr name="Freeform 62" id="62"/>
            <p:cNvSpPr/>
            <p:nvPr/>
          </p:nvSpPr>
          <p:spPr>
            <a:xfrm flipH="false" flipV="false" rot="0">
              <a:off x="615734" y="309196"/>
              <a:ext cx="6157502" cy="1086336"/>
            </a:xfrm>
            <a:custGeom>
              <a:avLst/>
              <a:gdLst/>
              <a:ahLst/>
              <a:cxnLst/>
              <a:rect r="r" b="b" t="t" l="l"/>
              <a:pathLst>
                <a:path h="1086336" w="6157502">
                  <a:moveTo>
                    <a:pt x="0" y="0"/>
                  </a:moveTo>
                  <a:lnTo>
                    <a:pt x="6157502" y="0"/>
                  </a:lnTo>
                  <a:lnTo>
                    <a:pt x="6157502" y="1086337"/>
                  </a:lnTo>
                  <a:lnTo>
                    <a:pt x="0" y="1086337"/>
                  </a:lnTo>
                  <a:lnTo>
                    <a:pt x="0" y="0"/>
                  </a:lnTo>
                  <a:close/>
                </a:path>
              </a:pathLst>
            </a:custGeom>
            <a:blipFill>
              <a:blip r:embed="rId20"/>
              <a:stretch>
                <a:fillRect l="0" t="-5571" r="0" b="-11296"/>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838128" cy="18838128"/>
          </a:xfrm>
          <a:custGeom>
            <a:avLst/>
            <a:gdLst/>
            <a:ahLst/>
            <a:cxnLst/>
            <a:rect r="r" b="b" t="t" l="l"/>
            <a:pathLst>
              <a:path h="18838128" w="18838128">
                <a:moveTo>
                  <a:pt x="0" y="0"/>
                </a:moveTo>
                <a:lnTo>
                  <a:pt x="18838128" y="0"/>
                </a:lnTo>
                <a:lnTo>
                  <a:pt x="18838128" y="18838128"/>
                </a:lnTo>
                <a:lnTo>
                  <a:pt x="0" y="18838128"/>
                </a:lnTo>
                <a:lnTo>
                  <a:pt x="0" y="0"/>
                </a:lnTo>
                <a:close/>
              </a:path>
            </a:pathLst>
          </a:custGeom>
          <a:blipFill>
            <a:blip r:embed="rId2"/>
            <a:stretch>
              <a:fillRect l="0" t="0" r="0" b="0"/>
            </a:stretch>
          </a:blipFill>
        </p:spPr>
      </p:sp>
      <p:sp>
        <p:nvSpPr>
          <p:cNvPr name="Freeform 3" id="3"/>
          <p:cNvSpPr/>
          <p:nvPr/>
        </p:nvSpPr>
        <p:spPr>
          <a:xfrm flipH="false" flipV="false" rot="0">
            <a:off x="0" y="0"/>
            <a:ext cx="2717528" cy="4831161"/>
          </a:xfrm>
          <a:custGeom>
            <a:avLst/>
            <a:gdLst/>
            <a:ahLst/>
            <a:cxnLst/>
            <a:rect r="r" b="b" t="t" l="l"/>
            <a:pathLst>
              <a:path h="4831161" w="2717528">
                <a:moveTo>
                  <a:pt x="0" y="0"/>
                </a:moveTo>
                <a:lnTo>
                  <a:pt x="2717528" y="0"/>
                </a:lnTo>
                <a:lnTo>
                  <a:pt x="2717528" y="4831161"/>
                </a:lnTo>
                <a:lnTo>
                  <a:pt x="0" y="4831161"/>
                </a:lnTo>
                <a:lnTo>
                  <a:pt x="0" y="0"/>
                </a:lnTo>
                <a:close/>
              </a:path>
            </a:pathLst>
          </a:custGeom>
          <a:blipFill>
            <a:blip r:embed="rId3"/>
            <a:stretch>
              <a:fillRect l="0" t="0" r="0" b="0"/>
            </a:stretch>
          </a:blipFill>
        </p:spPr>
      </p:sp>
      <p:sp>
        <p:nvSpPr>
          <p:cNvPr name="Freeform 4" id="4"/>
          <p:cNvSpPr/>
          <p:nvPr/>
        </p:nvSpPr>
        <p:spPr>
          <a:xfrm flipH="false" flipV="false" rot="0">
            <a:off x="2717528" y="0"/>
            <a:ext cx="7977823" cy="4831161"/>
          </a:xfrm>
          <a:custGeom>
            <a:avLst/>
            <a:gdLst/>
            <a:ahLst/>
            <a:cxnLst/>
            <a:rect r="r" b="b" t="t" l="l"/>
            <a:pathLst>
              <a:path h="4831161" w="7977823">
                <a:moveTo>
                  <a:pt x="0" y="0"/>
                </a:moveTo>
                <a:lnTo>
                  <a:pt x="7977823" y="0"/>
                </a:lnTo>
                <a:lnTo>
                  <a:pt x="7977823" y="4831161"/>
                </a:lnTo>
                <a:lnTo>
                  <a:pt x="0" y="4831161"/>
                </a:lnTo>
                <a:lnTo>
                  <a:pt x="0" y="0"/>
                </a:lnTo>
                <a:close/>
              </a:path>
            </a:pathLst>
          </a:custGeom>
          <a:blipFill>
            <a:blip r:embed="rId4"/>
            <a:stretch>
              <a:fillRect l="-7657" t="0" r="0" b="0"/>
            </a:stretch>
          </a:blipFill>
        </p:spPr>
      </p:sp>
      <p:sp>
        <p:nvSpPr>
          <p:cNvPr name="Freeform 5" id="5"/>
          <p:cNvSpPr/>
          <p:nvPr/>
        </p:nvSpPr>
        <p:spPr>
          <a:xfrm flipH="false" flipV="false" rot="0">
            <a:off x="-2072827" y="4831161"/>
            <a:ext cx="9699269" cy="5455839"/>
          </a:xfrm>
          <a:custGeom>
            <a:avLst/>
            <a:gdLst/>
            <a:ahLst/>
            <a:cxnLst/>
            <a:rect r="r" b="b" t="t" l="l"/>
            <a:pathLst>
              <a:path h="5455839" w="9699269">
                <a:moveTo>
                  <a:pt x="0" y="0"/>
                </a:moveTo>
                <a:lnTo>
                  <a:pt x="9699269" y="0"/>
                </a:lnTo>
                <a:lnTo>
                  <a:pt x="9699269" y="5455839"/>
                </a:lnTo>
                <a:lnTo>
                  <a:pt x="0" y="5455839"/>
                </a:lnTo>
                <a:lnTo>
                  <a:pt x="0" y="0"/>
                </a:lnTo>
                <a:close/>
              </a:path>
            </a:pathLst>
          </a:custGeom>
          <a:blipFill>
            <a:blip r:embed="rId5"/>
            <a:stretch>
              <a:fillRect l="0" t="0" r="0" b="0"/>
            </a:stretch>
          </a:blipFill>
        </p:spPr>
      </p:sp>
      <p:sp>
        <p:nvSpPr>
          <p:cNvPr name="Freeform 6" id="6"/>
          <p:cNvSpPr/>
          <p:nvPr/>
        </p:nvSpPr>
        <p:spPr>
          <a:xfrm flipH="false" flipV="false" rot="0">
            <a:off x="7626442" y="4831161"/>
            <a:ext cx="3068909" cy="5455839"/>
          </a:xfrm>
          <a:custGeom>
            <a:avLst/>
            <a:gdLst/>
            <a:ahLst/>
            <a:cxnLst/>
            <a:rect r="r" b="b" t="t" l="l"/>
            <a:pathLst>
              <a:path h="5455839" w="3068909">
                <a:moveTo>
                  <a:pt x="0" y="0"/>
                </a:moveTo>
                <a:lnTo>
                  <a:pt x="3068909" y="0"/>
                </a:lnTo>
                <a:lnTo>
                  <a:pt x="3068909" y="5455839"/>
                </a:lnTo>
                <a:lnTo>
                  <a:pt x="0" y="5455839"/>
                </a:lnTo>
                <a:lnTo>
                  <a:pt x="0" y="0"/>
                </a:lnTo>
                <a:close/>
              </a:path>
            </a:pathLst>
          </a:custGeom>
          <a:blipFill>
            <a:blip r:embed="rId6"/>
            <a:stretch>
              <a:fillRect l="0" t="0" r="0" b="0"/>
            </a:stretch>
          </a:blipFill>
        </p:spPr>
      </p:sp>
      <p:sp>
        <p:nvSpPr>
          <p:cNvPr name="Freeform 7" id="7"/>
          <p:cNvSpPr/>
          <p:nvPr/>
        </p:nvSpPr>
        <p:spPr>
          <a:xfrm flipH="false" flipV="false" rot="0">
            <a:off x="10695351" y="22938"/>
            <a:ext cx="3693486" cy="4932748"/>
          </a:xfrm>
          <a:custGeom>
            <a:avLst/>
            <a:gdLst/>
            <a:ahLst/>
            <a:cxnLst/>
            <a:rect r="r" b="b" t="t" l="l"/>
            <a:pathLst>
              <a:path h="4932748" w="3693486">
                <a:moveTo>
                  <a:pt x="0" y="0"/>
                </a:moveTo>
                <a:lnTo>
                  <a:pt x="3693486" y="0"/>
                </a:lnTo>
                <a:lnTo>
                  <a:pt x="3693486" y="4932747"/>
                </a:lnTo>
                <a:lnTo>
                  <a:pt x="0" y="4932747"/>
                </a:lnTo>
                <a:lnTo>
                  <a:pt x="0" y="0"/>
                </a:lnTo>
                <a:close/>
              </a:path>
            </a:pathLst>
          </a:custGeom>
          <a:blipFill>
            <a:blip r:embed="rId7"/>
            <a:stretch>
              <a:fillRect l="0" t="0" r="0" b="0"/>
            </a:stretch>
          </a:blipFill>
        </p:spPr>
      </p:sp>
      <p:sp>
        <p:nvSpPr>
          <p:cNvPr name="Freeform 8" id="8"/>
          <p:cNvSpPr/>
          <p:nvPr/>
        </p:nvSpPr>
        <p:spPr>
          <a:xfrm flipH="false" flipV="false" rot="0">
            <a:off x="14407706" y="22938"/>
            <a:ext cx="4239080" cy="7536143"/>
          </a:xfrm>
          <a:custGeom>
            <a:avLst/>
            <a:gdLst/>
            <a:ahLst/>
            <a:cxnLst/>
            <a:rect r="r" b="b" t="t" l="l"/>
            <a:pathLst>
              <a:path h="7536143" w="4239080">
                <a:moveTo>
                  <a:pt x="0" y="0"/>
                </a:moveTo>
                <a:lnTo>
                  <a:pt x="4239080" y="0"/>
                </a:lnTo>
                <a:lnTo>
                  <a:pt x="4239080" y="7536143"/>
                </a:lnTo>
                <a:lnTo>
                  <a:pt x="0" y="7536143"/>
                </a:lnTo>
                <a:lnTo>
                  <a:pt x="0" y="0"/>
                </a:lnTo>
                <a:close/>
              </a:path>
            </a:pathLst>
          </a:custGeom>
          <a:blipFill>
            <a:blip r:embed="rId8"/>
            <a:stretch>
              <a:fillRect l="0" t="0" r="0" b="0"/>
            </a:stretch>
          </a:blipFill>
        </p:spPr>
      </p:sp>
      <p:sp>
        <p:nvSpPr>
          <p:cNvPr name="Freeform 9" id="9"/>
          <p:cNvSpPr/>
          <p:nvPr/>
        </p:nvSpPr>
        <p:spPr>
          <a:xfrm flipH="false" flipV="false" rot="0">
            <a:off x="10695351" y="4955685"/>
            <a:ext cx="7592649" cy="5705630"/>
          </a:xfrm>
          <a:custGeom>
            <a:avLst/>
            <a:gdLst/>
            <a:ahLst/>
            <a:cxnLst/>
            <a:rect r="r" b="b" t="t" l="l"/>
            <a:pathLst>
              <a:path h="5705630" w="7592649">
                <a:moveTo>
                  <a:pt x="0" y="0"/>
                </a:moveTo>
                <a:lnTo>
                  <a:pt x="7592649" y="0"/>
                </a:lnTo>
                <a:lnTo>
                  <a:pt x="7592649" y="5705631"/>
                </a:lnTo>
                <a:lnTo>
                  <a:pt x="0" y="5705631"/>
                </a:lnTo>
                <a:lnTo>
                  <a:pt x="0" y="0"/>
                </a:lnTo>
                <a:close/>
              </a:path>
            </a:pathLst>
          </a:custGeom>
          <a:blipFill>
            <a:blip r:embed="rId9"/>
            <a:stretch>
              <a:fillRect l="0" t="0" r="0" b="0"/>
            </a:stretch>
          </a:blipFill>
        </p:spPr>
      </p:sp>
      <p:grpSp>
        <p:nvGrpSpPr>
          <p:cNvPr name="Group 10" id="10"/>
          <p:cNvGrpSpPr/>
          <p:nvPr/>
        </p:nvGrpSpPr>
        <p:grpSpPr>
          <a:xfrm rot="0">
            <a:off x="0" y="22938"/>
            <a:ext cx="18288000" cy="10264062"/>
            <a:chOff x="0" y="0"/>
            <a:chExt cx="4816593" cy="2703292"/>
          </a:xfrm>
        </p:grpSpPr>
        <p:sp>
          <p:nvSpPr>
            <p:cNvPr name="Freeform 11" id="11"/>
            <p:cNvSpPr/>
            <p:nvPr/>
          </p:nvSpPr>
          <p:spPr>
            <a:xfrm flipH="false" flipV="false" rot="0">
              <a:off x="0" y="0"/>
              <a:ext cx="4816592" cy="2703292"/>
            </a:xfrm>
            <a:custGeom>
              <a:avLst/>
              <a:gdLst/>
              <a:ahLst/>
              <a:cxnLst/>
              <a:rect r="r" b="b" t="t" l="l"/>
              <a:pathLst>
                <a:path h="2703292" w="4816592">
                  <a:moveTo>
                    <a:pt x="0" y="0"/>
                  </a:moveTo>
                  <a:lnTo>
                    <a:pt x="4816592" y="0"/>
                  </a:lnTo>
                  <a:lnTo>
                    <a:pt x="4816592" y="2703292"/>
                  </a:lnTo>
                  <a:lnTo>
                    <a:pt x="0" y="2703292"/>
                  </a:lnTo>
                  <a:close/>
                </a:path>
              </a:pathLst>
            </a:custGeom>
            <a:solidFill>
              <a:srgbClr val="000000">
                <a:alpha val="40000"/>
              </a:srgbClr>
            </a:solidFill>
          </p:spPr>
        </p:sp>
        <p:sp>
          <p:nvSpPr>
            <p:cNvPr name="TextBox 12" id="12"/>
            <p:cNvSpPr txBox="true"/>
            <p:nvPr/>
          </p:nvSpPr>
          <p:spPr>
            <a:xfrm>
              <a:off x="0" y="-9525"/>
              <a:ext cx="4816593" cy="2712817"/>
            </a:xfrm>
            <a:prstGeom prst="rect">
              <a:avLst/>
            </a:prstGeom>
          </p:spPr>
          <p:txBody>
            <a:bodyPr anchor="ctr" rtlCol="false" tIns="50800" lIns="50800" bIns="50800" rIns="50800"/>
            <a:lstStyle/>
            <a:p>
              <a:pPr algn="ctr">
                <a:lnSpc>
                  <a:spcPts val="2538"/>
                </a:lnSpc>
              </a:pPr>
            </a:p>
          </p:txBody>
        </p:sp>
      </p:grpSp>
      <p:grpSp>
        <p:nvGrpSpPr>
          <p:cNvPr name="Group 13" id="13"/>
          <p:cNvGrpSpPr/>
          <p:nvPr/>
        </p:nvGrpSpPr>
        <p:grpSpPr>
          <a:xfrm rot="0">
            <a:off x="284679" y="4482505"/>
            <a:ext cx="4132027" cy="965336"/>
            <a:chOff x="0" y="0"/>
            <a:chExt cx="1088271" cy="254245"/>
          </a:xfrm>
        </p:grpSpPr>
        <p:sp>
          <p:nvSpPr>
            <p:cNvPr name="Freeform 14" id="14"/>
            <p:cNvSpPr/>
            <p:nvPr/>
          </p:nvSpPr>
          <p:spPr>
            <a:xfrm flipH="false" flipV="false" rot="0">
              <a:off x="0" y="0"/>
              <a:ext cx="1088270" cy="254245"/>
            </a:xfrm>
            <a:custGeom>
              <a:avLst/>
              <a:gdLst/>
              <a:ahLst/>
              <a:cxnLst/>
              <a:rect r="r" b="b" t="t" l="l"/>
              <a:pathLst>
                <a:path h="254245" w="1088270">
                  <a:moveTo>
                    <a:pt x="0" y="0"/>
                  </a:moveTo>
                  <a:lnTo>
                    <a:pt x="1088270" y="0"/>
                  </a:lnTo>
                  <a:lnTo>
                    <a:pt x="1088270" y="254245"/>
                  </a:lnTo>
                  <a:lnTo>
                    <a:pt x="0" y="254245"/>
                  </a:lnTo>
                  <a:close/>
                </a:path>
              </a:pathLst>
            </a:custGeom>
            <a:solidFill>
              <a:srgbClr val="0D2A4E">
                <a:alpha val="84706"/>
              </a:srgbClr>
            </a:solidFill>
          </p:spPr>
        </p:sp>
        <p:sp>
          <p:nvSpPr>
            <p:cNvPr name="TextBox 15" id="15"/>
            <p:cNvSpPr txBox="true"/>
            <p:nvPr/>
          </p:nvSpPr>
          <p:spPr>
            <a:xfrm>
              <a:off x="0" y="-152400"/>
              <a:ext cx="1088271" cy="406645"/>
            </a:xfrm>
            <a:prstGeom prst="rect">
              <a:avLst/>
            </a:prstGeom>
          </p:spPr>
          <p:txBody>
            <a:bodyPr anchor="ctr" rtlCol="false" tIns="50800" lIns="50800" bIns="50800" rIns="50800"/>
            <a:lstStyle/>
            <a:p>
              <a:pPr algn="ctr">
                <a:lnSpc>
                  <a:spcPts val="3749"/>
                </a:lnSpc>
              </a:pPr>
            </a:p>
          </p:txBody>
        </p:sp>
      </p:grpSp>
      <p:sp>
        <p:nvSpPr>
          <p:cNvPr name="Freeform 16" id="16"/>
          <p:cNvSpPr/>
          <p:nvPr/>
        </p:nvSpPr>
        <p:spPr>
          <a:xfrm flipH="false" flipV="false" rot="0">
            <a:off x="1718384" y="2813310"/>
            <a:ext cx="1264616" cy="1405129"/>
          </a:xfrm>
          <a:custGeom>
            <a:avLst/>
            <a:gdLst/>
            <a:ahLst/>
            <a:cxnLst/>
            <a:rect r="r" b="b" t="t" l="l"/>
            <a:pathLst>
              <a:path h="1405129" w="1264616">
                <a:moveTo>
                  <a:pt x="0" y="0"/>
                </a:moveTo>
                <a:lnTo>
                  <a:pt x="1264616" y="0"/>
                </a:lnTo>
                <a:lnTo>
                  <a:pt x="1264616" y="1405129"/>
                </a:lnTo>
                <a:lnTo>
                  <a:pt x="0" y="14051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847308" y="114337"/>
            <a:ext cx="16627177" cy="1638226"/>
          </a:xfrm>
          <a:prstGeom prst="rect">
            <a:avLst/>
          </a:prstGeom>
        </p:spPr>
        <p:txBody>
          <a:bodyPr anchor="t" rtlCol="false" tIns="0" lIns="0" bIns="0" rIns="0">
            <a:spAutoFit/>
          </a:bodyPr>
          <a:lstStyle/>
          <a:p>
            <a:pPr algn="ctr">
              <a:lnSpc>
                <a:spcPts val="5700"/>
              </a:lnSpc>
            </a:pPr>
            <a:r>
              <a:rPr lang="en-US" b="true" sz="5000" spc="-185">
                <a:solidFill>
                  <a:srgbClr val="FFFFFF"/>
                </a:solidFill>
                <a:latin typeface="Mont 2 Bold"/>
                <a:ea typeface="Mont 2 Bold"/>
                <a:cs typeface="Mont 2 Bold"/>
                <a:sym typeface="Mont 2 Bold"/>
              </a:rPr>
              <a:t>Class Management Portfolio </a:t>
            </a:r>
          </a:p>
          <a:p>
            <a:pPr algn="ctr">
              <a:lnSpc>
                <a:spcPts val="5700"/>
              </a:lnSpc>
            </a:pPr>
            <a:r>
              <a:rPr lang="en-US" sz="5000" spc="-185">
                <a:solidFill>
                  <a:srgbClr val="FFFFFF"/>
                </a:solidFill>
                <a:latin typeface="Mont 2"/>
                <a:ea typeface="Mont 2"/>
                <a:cs typeface="Mont 2"/>
                <a:sym typeface="Mont 2"/>
              </a:rPr>
              <a:t>LingoTalk</a:t>
            </a:r>
          </a:p>
        </p:txBody>
      </p:sp>
      <p:sp>
        <p:nvSpPr>
          <p:cNvPr name="TextBox 18" id="18"/>
          <p:cNvSpPr txBox="true"/>
          <p:nvPr/>
        </p:nvSpPr>
        <p:spPr>
          <a:xfrm rot="0">
            <a:off x="523503" y="4769892"/>
            <a:ext cx="3654378" cy="371549"/>
          </a:xfrm>
          <a:prstGeom prst="rect">
            <a:avLst/>
          </a:prstGeom>
        </p:spPr>
        <p:txBody>
          <a:bodyPr anchor="t" rtlCol="false" tIns="0" lIns="0" bIns="0" rIns="0">
            <a:spAutoFit/>
          </a:bodyPr>
          <a:lstStyle/>
          <a:p>
            <a:pPr algn="ctr">
              <a:lnSpc>
                <a:spcPts val="2879"/>
              </a:lnSpc>
            </a:pPr>
            <a:r>
              <a:rPr lang="en-US" b="true" sz="2400" spc="24">
                <a:solidFill>
                  <a:srgbClr val="FFFFFF"/>
                </a:solidFill>
                <a:latin typeface="Mont 1 Bold"/>
                <a:ea typeface="Mont 1 Bold"/>
                <a:cs typeface="Mont 1 Bold"/>
                <a:sym typeface="Mont 1 Bold"/>
              </a:rPr>
              <a:t>July 2023 - Present</a:t>
            </a:r>
          </a:p>
        </p:txBody>
      </p:sp>
      <p:sp>
        <p:nvSpPr>
          <p:cNvPr name="Freeform 19" id="19"/>
          <p:cNvSpPr/>
          <p:nvPr/>
        </p:nvSpPr>
        <p:spPr>
          <a:xfrm flipH="false" flipV="false" rot="0">
            <a:off x="5978736" y="2813310"/>
            <a:ext cx="1455407" cy="1405129"/>
          </a:xfrm>
          <a:custGeom>
            <a:avLst/>
            <a:gdLst/>
            <a:ahLst/>
            <a:cxnLst/>
            <a:rect r="r" b="b" t="t" l="l"/>
            <a:pathLst>
              <a:path h="1405129" w="1455407">
                <a:moveTo>
                  <a:pt x="0" y="0"/>
                </a:moveTo>
                <a:lnTo>
                  <a:pt x="1455407" y="0"/>
                </a:lnTo>
                <a:lnTo>
                  <a:pt x="1455407" y="1405129"/>
                </a:lnTo>
                <a:lnTo>
                  <a:pt x="0" y="14051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0" id="20"/>
          <p:cNvGrpSpPr/>
          <p:nvPr/>
        </p:nvGrpSpPr>
        <p:grpSpPr>
          <a:xfrm rot="0">
            <a:off x="4821883" y="4482505"/>
            <a:ext cx="4132027" cy="965336"/>
            <a:chOff x="0" y="0"/>
            <a:chExt cx="1088271" cy="254245"/>
          </a:xfrm>
        </p:grpSpPr>
        <p:sp>
          <p:nvSpPr>
            <p:cNvPr name="Freeform 21" id="21"/>
            <p:cNvSpPr/>
            <p:nvPr/>
          </p:nvSpPr>
          <p:spPr>
            <a:xfrm flipH="false" flipV="false" rot="0">
              <a:off x="0" y="0"/>
              <a:ext cx="1088270" cy="254245"/>
            </a:xfrm>
            <a:custGeom>
              <a:avLst/>
              <a:gdLst/>
              <a:ahLst/>
              <a:cxnLst/>
              <a:rect r="r" b="b" t="t" l="l"/>
              <a:pathLst>
                <a:path h="254245" w="1088270">
                  <a:moveTo>
                    <a:pt x="0" y="0"/>
                  </a:moveTo>
                  <a:lnTo>
                    <a:pt x="1088270" y="0"/>
                  </a:lnTo>
                  <a:lnTo>
                    <a:pt x="1088270" y="254245"/>
                  </a:lnTo>
                  <a:lnTo>
                    <a:pt x="0" y="254245"/>
                  </a:lnTo>
                  <a:close/>
                </a:path>
              </a:pathLst>
            </a:custGeom>
            <a:solidFill>
              <a:srgbClr val="0D2A4E">
                <a:alpha val="84706"/>
              </a:srgbClr>
            </a:solidFill>
          </p:spPr>
        </p:sp>
        <p:sp>
          <p:nvSpPr>
            <p:cNvPr name="TextBox 22" id="22"/>
            <p:cNvSpPr txBox="true"/>
            <p:nvPr/>
          </p:nvSpPr>
          <p:spPr>
            <a:xfrm>
              <a:off x="0" y="-152400"/>
              <a:ext cx="1088271" cy="406645"/>
            </a:xfrm>
            <a:prstGeom prst="rect">
              <a:avLst/>
            </a:prstGeom>
          </p:spPr>
          <p:txBody>
            <a:bodyPr anchor="ctr" rtlCol="false" tIns="50800" lIns="50800" bIns="50800" rIns="50800"/>
            <a:lstStyle/>
            <a:p>
              <a:pPr algn="ctr">
                <a:lnSpc>
                  <a:spcPts val="3749"/>
                </a:lnSpc>
              </a:pPr>
            </a:p>
          </p:txBody>
        </p:sp>
      </p:grpSp>
      <p:sp>
        <p:nvSpPr>
          <p:cNvPr name="TextBox 23" id="23"/>
          <p:cNvSpPr txBox="true"/>
          <p:nvPr/>
        </p:nvSpPr>
        <p:spPr>
          <a:xfrm rot="0">
            <a:off x="5060707" y="4584136"/>
            <a:ext cx="3654378" cy="733574"/>
          </a:xfrm>
          <a:prstGeom prst="rect">
            <a:avLst/>
          </a:prstGeom>
        </p:spPr>
        <p:txBody>
          <a:bodyPr anchor="t" rtlCol="false" tIns="0" lIns="0" bIns="0" rIns="0">
            <a:spAutoFit/>
          </a:bodyPr>
          <a:lstStyle/>
          <a:p>
            <a:pPr algn="ctr">
              <a:lnSpc>
                <a:spcPts val="2879"/>
              </a:lnSpc>
            </a:pPr>
            <a:r>
              <a:rPr lang="en-US" b="true" sz="2400" spc="24">
                <a:solidFill>
                  <a:srgbClr val="FFFFFF"/>
                </a:solidFill>
                <a:latin typeface="Mont 1 Bold"/>
                <a:ea typeface="Mont 1 Bold"/>
                <a:cs typeface="Mont 1 Bold"/>
                <a:sym typeface="Mont 1 Bold"/>
              </a:rPr>
              <a:t>28+ Gov Institution and Non Gov Institution</a:t>
            </a:r>
          </a:p>
        </p:txBody>
      </p:sp>
      <p:sp>
        <p:nvSpPr>
          <p:cNvPr name="Freeform 24" id="24"/>
          <p:cNvSpPr/>
          <p:nvPr/>
        </p:nvSpPr>
        <p:spPr>
          <a:xfrm flipH="false" flipV="false" rot="0">
            <a:off x="10641518" y="2813310"/>
            <a:ext cx="1575961" cy="1405129"/>
          </a:xfrm>
          <a:custGeom>
            <a:avLst/>
            <a:gdLst/>
            <a:ahLst/>
            <a:cxnLst/>
            <a:rect r="r" b="b" t="t" l="l"/>
            <a:pathLst>
              <a:path h="1405129" w="1575961">
                <a:moveTo>
                  <a:pt x="0" y="0"/>
                </a:moveTo>
                <a:lnTo>
                  <a:pt x="1575961" y="0"/>
                </a:lnTo>
                <a:lnTo>
                  <a:pt x="1575961" y="1405129"/>
                </a:lnTo>
                <a:lnTo>
                  <a:pt x="0" y="14051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5" id="25"/>
          <p:cNvGrpSpPr/>
          <p:nvPr/>
        </p:nvGrpSpPr>
        <p:grpSpPr>
          <a:xfrm rot="0">
            <a:off x="9363485" y="4473017"/>
            <a:ext cx="4132027" cy="965336"/>
            <a:chOff x="0" y="0"/>
            <a:chExt cx="1088271" cy="254245"/>
          </a:xfrm>
        </p:grpSpPr>
        <p:sp>
          <p:nvSpPr>
            <p:cNvPr name="Freeform 26" id="26"/>
            <p:cNvSpPr/>
            <p:nvPr/>
          </p:nvSpPr>
          <p:spPr>
            <a:xfrm flipH="false" flipV="false" rot="0">
              <a:off x="0" y="0"/>
              <a:ext cx="1088270" cy="254245"/>
            </a:xfrm>
            <a:custGeom>
              <a:avLst/>
              <a:gdLst/>
              <a:ahLst/>
              <a:cxnLst/>
              <a:rect r="r" b="b" t="t" l="l"/>
              <a:pathLst>
                <a:path h="254245" w="1088270">
                  <a:moveTo>
                    <a:pt x="0" y="0"/>
                  </a:moveTo>
                  <a:lnTo>
                    <a:pt x="1088270" y="0"/>
                  </a:lnTo>
                  <a:lnTo>
                    <a:pt x="1088270" y="254245"/>
                  </a:lnTo>
                  <a:lnTo>
                    <a:pt x="0" y="254245"/>
                  </a:lnTo>
                  <a:close/>
                </a:path>
              </a:pathLst>
            </a:custGeom>
            <a:solidFill>
              <a:srgbClr val="0D2A4E">
                <a:alpha val="84706"/>
              </a:srgbClr>
            </a:solidFill>
          </p:spPr>
        </p:sp>
        <p:sp>
          <p:nvSpPr>
            <p:cNvPr name="TextBox 27" id="27"/>
            <p:cNvSpPr txBox="true"/>
            <p:nvPr/>
          </p:nvSpPr>
          <p:spPr>
            <a:xfrm>
              <a:off x="0" y="-152400"/>
              <a:ext cx="1088271" cy="406645"/>
            </a:xfrm>
            <a:prstGeom prst="rect">
              <a:avLst/>
            </a:prstGeom>
          </p:spPr>
          <p:txBody>
            <a:bodyPr anchor="ctr" rtlCol="false" tIns="50800" lIns="50800" bIns="50800" rIns="50800"/>
            <a:lstStyle/>
            <a:p>
              <a:pPr algn="ctr">
                <a:lnSpc>
                  <a:spcPts val="3749"/>
                </a:lnSpc>
              </a:pPr>
            </a:p>
          </p:txBody>
        </p:sp>
      </p:grpSp>
      <p:sp>
        <p:nvSpPr>
          <p:cNvPr name="TextBox 28" id="28"/>
          <p:cNvSpPr txBox="true"/>
          <p:nvPr/>
        </p:nvSpPr>
        <p:spPr>
          <a:xfrm rot="0">
            <a:off x="9602310" y="4574648"/>
            <a:ext cx="3654378" cy="733574"/>
          </a:xfrm>
          <a:prstGeom prst="rect">
            <a:avLst/>
          </a:prstGeom>
        </p:spPr>
        <p:txBody>
          <a:bodyPr anchor="t" rtlCol="false" tIns="0" lIns="0" bIns="0" rIns="0">
            <a:spAutoFit/>
          </a:bodyPr>
          <a:lstStyle/>
          <a:p>
            <a:pPr algn="ctr">
              <a:lnSpc>
                <a:spcPts val="2879"/>
              </a:lnSpc>
            </a:pPr>
            <a:r>
              <a:rPr lang="en-US" b="true" sz="2400" spc="24">
                <a:solidFill>
                  <a:srgbClr val="FFFFFF"/>
                </a:solidFill>
                <a:latin typeface="Mont 1 Bold"/>
                <a:ea typeface="Mont 1 Bold"/>
                <a:cs typeface="Mont 1 Bold"/>
                <a:sym typeface="Mont 1 Bold"/>
              </a:rPr>
              <a:t>350+ Business English</a:t>
            </a:r>
          </a:p>
          <a:p>
            <a:pPr algn="ctr">
              <a:lnSpc>
                <a:spcPts val="2879"/>
              </a:lnSpc>
            </a:pPr>
            <a:r>
              <a:rPr lang="en-US" b="true" sz="2400" spc="24">
                <a:solidFill>
                  <a:srgbClr val="FFFFFF"/>
                </a:solidFill>
                <a:latin typeface="Mont 1 Bold"/>
                <a:ea typeface="Mont 1 Bold"/>
                <a:cs typeface="Mont 1 Bold"/>
                <a:sym typeface="Mont 1 Bold"/>
              </a:rPr>
              <a:t>Class</a:t>
            </a:r>
          </a:p>
        </p:txBody>
      </p:sp>
      <p:grpSp>
        <p:nvGrpSpPr>
          <p:cNvPr name="Group 29" id="29"/>
          <p:cNvGrpSpPr/>
          <p:nvPr/>
        </p:nvGrpSpPr>
        <p:grpSpPr>
          <a:xfrm rot="0">
            <a:off x="13905087" y="4463529"/>
            <a:ext cx="4132027" cy="965336"/>
            <a:chOff x="0" y="0"/>
            <a:chExt cx="1088271" cy="254245"/>
          </a:xfrm>
        </p:grpSpPr>
        <p:sp>
          <p:nvSpPr>
            <p:cNvPr name="Freeform 30" id="30"/>
            <p:cNvSpPr/>
            <p:nvPr/>
          </p:nvSpPr>
          <p:spPr>
            <a:xfrm flipH="false" flipV="false" rot="0">
              <a:off x="0" y="0"/>
              <a:ext cx="1088270" cy="254245"/>
            </a:xfrm>
            <a:custGeom>
              <a:avLst/>
              <a:gdLst/>
              <a:ahLst/>
              <a:cxnLst/>
              <a:rect r="r" b="b" t="t" l="l"/>
              <a:pathLst>
                <a:path h="254245" w="1088270">
                  <a:moveTo>
                    <a:pt x="0" y="0"/>
                  </a:moveTo>
                  <a:lnTo>
                    <a:pt x="1088270" y="0"/>
                  </a:lnTo>
                  <a:lnTo>
                    <a:pt x="1088270" y="254245"/>
                  </a:lnTo>
                  <a:lnTo>
                    <a:pt x="0" y="254245"/>
                  </a:lnTo>
                  <a:close/>
                </a:path>
              </a:pathLst>
            </a:custGeom>
            <a:solidFill>
              <a:srgbClr val="0D2A4E">
                <a:alpha val="84706"/>
              </a:srgbClr>
            </a:solidFill>
          </p:spPr>
        </p:sp>
        <p:sp>
          <p:nvSpPr>
            <p:cNvPr name="TextBox 31" id="31"/>
            <p:cNvSpPr txBox="true"/>
            <p:nvPr/>
          </p:nvSpPr>
          <p:spPr>
            <a:xfrm>
              <a:off x="0" y="-152400"/>
              <a:ext cx="1088271" cy="406645"/>
            </a:xfrm>
            <a:prstGeom prst="rect">
              <a:avLst/>
            </a:prstGeom>
          </p:spPr>
          <p:txBody>
            <a:bodyPr anchor="ctr" rtlCol="false" tIns="50800" lIns="50800" bIns="50800" rIns="50800"/>
            <a:lstStyle/>
            <a:p>
              <a:pPr algn="ctr">
                <a:lnSpc>
                  <a:spcPts val="3749"/>
                </a:lnSpc>
              </a:pPr>
            </a:p>
          </p:txBody>
        </p:sp>
      </p:grpSp>
      <p:sp>
        <p:nvSpPr>
          <p:cNvPr name="TextBox 32" id="32"/>
          <p:cNvSpPr txBox="true"/>
          <p:nvPr/>
        </p:nvSpPr>
        <p:spPr>
          <a:xfrm rot="0">
            <a:off x="14143912" y="4755660"/>
            <a:ext cx="3654378" cy="371549"/>
          </a:xfrm>
          <a:prstGeom prst="rect">
            <a:avLst/>
          </a:prstGeom>
        </p:spPr>
        <p:txBody>
          <a:bodyPr anchor="t" rtlCol="false" tIns="0" lIns="0" bIns="0" rIns="0">
            <a:spAutoFit/>
          </a:bodyPr>
          <a:lstStyle/>
          <a:p>
            <a:pPr algn="ctr">
              <a:lnSpc>
                <a:spcPts val="2879"/>
              </a:lnSpc>
            </a:pPr>
            <a:r>
              <a:rPr lang="en-US" b="true" sz="2400" spc="24">
                <a:solidFill>
                  <a:srgbClr val="FFFFFF"/>
                </a:solidFill>
                <a:latin typeface="Mont 1 Bold"/>
                <a:ea typeface="Mont 1 Bold"/>
                <a:cs typeface="Mont 1 Bold"/>
                <a:sym typeface="Mont 1 Bold"/>
              </a:rPr>
              <a:t>1000+ participants</a:t>
            </a:r>
          </a:p>
        </p:txBody>
      </p:sp>
      <p:sp>
        <p:nvSpPr>
          <p:cNvPr name="Freeform 33" id="33"/>
          <p:cNvSpPr/>
          <p:nvPr/>
        </p:nvSpPr>
        <p:spPr>
          <a:xfrm flipH="false" flipV="false" rot="0">
            <a:off x="15350289" y="2813310"/>
            <a:ext cx="1241623" cy="1405129"/>
          </a:xfrm>
          <a:custGeom>
            <a:avLst/>
            <a:gdLst/>
            <a:ahLst/>
            <a:cxnLst/>
            <a:rect r="r" b="b" t="t" l="l"/>
            <a:pathLst>
              <a:path h="1405129" w="1241623">
                <a:moveTo>
                  <a:pt x="0" y="0"/>
                </a:moveTo>
                <a:lnTo>
                  <a:pt x="1241623" y="0"/>
                </a:lnTo>
                <a:lnTo>
                  <a:pt x="1241623" y="1405129"/>
                </a:lnTo>
                <a:lnTo>
                  <a:pt x="0" y="14051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34" id="34"/>
          <p:cNvGrpSpPr/>
          <p:nvPr/>
        </p:nvGrpSpPr>
        <p:grpSpPr>
          <a:xfrm rot="0">
            <a:off x="267782" y="6009816"/>
            <a:ext cx="17752436" cy="3409248"/>
            <a:chOff x="0" y="0"/>
            <a:chExt cx="4675539" cy="897909"/>
          </a:xfrm>
        </p:grpSpPr>
        <p:sp>
          <p:nvSpPr>
            <p:cNvPr name="Freeform 35" id="35"/>
            <p:cNvSpPr/>
            <p:nvPr/>
          </p:nvSpPr>
          <p:spPr>
            <a:xfrm flipH="false" flipV="false" rot="0">
              <a:off x="0" y="0"/>
              <a:ext cx="4675539" cy="897909"/>
            </a:xfrm>
            <a:custGeom>
              <a:avLst/>
              <a:gdLst/>
              <a:ahLst/>
              <a:cxnLst/>
              <a:rect r="r" b="b" t="t" l="l"/>
              <a:pathLst>
                <a:path h="897909" w="4675539">
                  <a:moveTo>
                    <a:pt x="17444" y="0"/>
                  </a:moveTo>
                  <a:lnTo>
                    <a:pt x="4658094" y="0"/>
                  </a:lnTo>
                  <a:cubicBezTo>
                    <a:pt x="4662721" y="0"/>
                    <a:pt x="4667158" y="1838"/>
                    <a:pt x="4670429" y="5109"/>
                  </a:cubicBezTo>
                  <a:cubicBezTo>
                    <a:pt x="4673701" y="8381"/>
                    <a:pt x="4675539" y="12818"/>
                    <a:pt x="4675539" y="17444"/>
                  </a:cubicBezTo>
                  <a:lnTo>
                    <a:pt x="4675539" y="880465"/>
                  </a:lnTo>
                  <a:cubicBezTo>
                    <a:pt x="4675539" y="890099"/>
                    <a:pt x="4667729" y="897909"/>
                    <a:pt x="4658094" y="897909"/>
                  </a:cubicBezTo>
                  <a:lnTo>
                    <a:pt x="17444" y="897909"/>
                  </a:lnTo>
                  <a:cubicBezTo>
                    <a:pt x="7810" y="897909"/>
                    <a:pt x="0" y="890099"/>
                    <a:pt x="0" y="880465"/>
                  </a:cubicBezTo>
                  <a:lnTo>
                    <a:pt x="0" y="17444"/>
                  </a:lnTo>
                  <a:cubicBezTo>
                    <a:pt x="0" y="7810"/>
                    <a:pt x="7810" y="0"/>
                    <a:pt x="17444" y="0"/>
                  </a:cubicBezTo>
                  <a:close/>
                </a:path>
              </a:pathLst>
            </a:custGeom>
            <a:solidFill>
              <a:srgbClr val="727171">
                <a:alpha val="84706"/>
              </a:srgbClr>
            </a:solidFill>
          </p:spPr>
        </p:sp>
        <p:sp>
          <p:nvSpPr>
            <p:cNvPr name="TextBox 36" id="36"/>
            <p:cNvSpPr txBox="true"/>
            <p:nvPr/>
          </p:nvSpPr>
          <p:spPr>
            <a:xfrm>
              <a:off x="0" y="-152400"/>
              <a:ext cx="4675539" cy="1050309"/>
            </a:xfrm>
            <a:prstGeom prst="rect">
              <a:avLst/>
            </a:prstGeom>
          </p:spPr>
          <p:txBody>
            <a:bodyPr anchor="ctr" rtlCol="false" tIns="50800" lIns="50800" bIns="50800" rIns="50800"/>
            <a:lstStyle/>
            <a:p>
              <a:pPr algn="ctr">
                <a:lnSpc>
                  <a:spcPts val="3749"/>
                </a:lnSpc>
              </a:pPr>
            </a:p>
          </p:txBody>
        </p:sp>
      </p:grpSp>
      <p:sp>
        <p:nvSpPr>
          <p:cNvPr name="TextBox 37" id="37"/>
          <p:cNvSpPr txBox="true"/>
          <p:nvPr/>
        </p:nvSpPr>
        <p:spPr>
          <a:xfrm rot="0">
            <a:off x="514350" y="6414147"/>
            <a:ext cx="17259300" cy="2600585"/>
          </a:xfrm>
          <a:prstGeom prst="rect">
            <a:avLst/>
          </a:prstGeom>
        </p:spPr>
        <p:txBody>
          <a:bodyPr anchor="t" rtlCol="false" tIns="0" lIns="0" bIns="0" rIns="0">
            <a:spAutoFit/>
          </a:bodyPr>
          <a:lstStyle/>
          <a:p>
            <a:pPr algn="ctr">
              <a:lnSpc>
                <a:spcPts val="2999"/>
              </a:lnSpc>
              <a:spcBef>
                <a:spcPct val="0"/>
              </a:spcBef>
            </a:pPr>
            <a:r>
              <a:rPr lang="en-US" sz="2499" spc="24">
                <a:solidFill>
                  <a:srgbClr val="FFFFFF"/>
                </a:solidFill>
                <a:latin typeface="Mont 1"/>
                <a:ea typeface="Mont 1"/>
                <a:cs typeface="Mont 1"/>
                <a:sym typeface="Mont 1"/>
              </a:rPr>
              <a:t>Sanggabiz offers a comprehensive </a:t>
            </a:r>
            <a:r>
              <a:rPr lang="en-US" b="true" sz="2499" spc="24">
                <a:solidFill>
                  <a:srgbClr val="FFFFFF"/>
                </a:solidFill>
                <a:latin typeface="Mont 1 Bold"/>
                <a:ea typeface="Mont 1 Bold"/>
                <a:cs typeface="Mont 1 Bold"/>
                <a:sym typeface="Mont 1 Bold"/>
              </a:rPr>
              <a:t>Class Management Service</a:t>
            </a:r>
            <a:r>
              <a:rPr lang="en-US" sz="2499" spc="24">
                <a:solidFill>
                  <a:srgbClr val="FFFFFF"/>
                </a:solidFill>
                <a:latin typeface="Mont 1"/>
                <a:ea typeface="Mont 1"/>
                <a:cs typeface="Mont 1"/>
                <a:sym typeface="Mont 1"/>
              </a:rPr>
              <a:t> designed to assist clients in managing all operational aspects of their classes efficiently. Our service ensures timely and effective class administration, encompassing key activities such as </a:t>
            </a:r>
            <a:r>
              <a:rPr lang="en-US" b="true" sz="2499" spc="24">
                <a:solidFill>
                  <a:srgbClr val="FFFFFF"/>
                </a:solidFill>
                <a:latin typeface="Mont 1 Bold"/>
                <a:ea typeface="Mont 1 Bold"/>
                <a:cs typeface="Mont 1 Bold"/>
                <a:sym typeface="Mont 1 Bold"/>
              </a:rPr>
              <a:t>Class Enrollment</a:t>
            </a:r>
            <a:r>
              <a:rPr lang="en-US" sz="2499" spc="24">
                <a:solidFill>
                  <a:srgbClr val="FFFFFF"/>
                </a:solidFill>
                <a:latin typeface="Mont 1"/>
                <a:ea typeface="Mont 1"/>
                <a:cs typeface="Mont 1"/>
                <a:sym typeface="Mont 1"/>
              </a:rPr>
              <a:t>, </a:t>
            </a:r>
            <a:r>
              <a:rPr lang="en-US" b="true" sz="2499" spc="24">
                <a:solidFill>
                  <a:srgbClr val="FFFFFF"/>
                </a:solidFill>
                <a:latin typeface="Mont 1 Bold"/>
                <a:ea typeface="Mont 1 Bold"/>
                <a:cs typeface="Mont 1 Bold"/>
                <a:sym typeface="Mont 1 Bold"/>
              </a:rPr>
              <a:t>Class Reminders</a:t>
            </a:r>
            <a:r>
              <a:rPr lang="en-US" sz="2499" spc="24">
                <a:solidFill>
                  <a:srgbClr val="FFFFFF"/>
                </a:solidFill>
                <a:latin typeface="Mont 1"/>
                <a:ea typeface="Mont 1"/>
                <a:cs typeface="Mont 1"/>
                <a:sym typeface="Mont 1"/>
              </a:rPr>
              <a:t>, </a:t>
            </a:r>
            <a:r>
              <a:rPr lang="en-US" b="true" sz="2499" spc="24">
                <a:solidFill>
                  <a:srgbClr val="FFFFFF"/>
                </a:solidFill>
                <a:latin typeface="Mont 1 Bold"/>
                <a:ea typeface="Mont 1 Bold"/>
                <a:cs typeface="Mont 1 Bold"/>
                <a:sym typeface="Mont 1 Bold"/>
              </a:rPr>
              <a:t>Class Administration</a:t>
            </a:r>
            <a:r>
              <a:rPr lang="en-US" sz="2499" spc="24">
                <a:solidFill>
                  <a:srgbClr val="FFFFFF"/>
                </a:solidFill>
                <a:latin typeface="Mont 1"/>
                <a:ea typeface="Mont 1"/>
                <a:cs typeface="Mont 1"/>
                <a:sym typeface="Mont 1"/>
              </a:rPr>
              <a:t>, and </a:t>
            </a:r>
            <a:r>
              <a:rPr lang="en-US" b="true" sz="2499" spc="24">
                <a:solidFill>
                  <a:srgbClr val="FFFFFF"/>
                </a:solidFill>
                <a:latin typeface="Mont 1 Bold"/>
                <a:ea typeface="Mont 1 Bold"/>
                <a:cs typeface="Mont 1 Bold"/>
                <a:sym typeface="Mont 1 Bold"/>
              </a:rPr>
              <a:t>Post-Class Document Uploads</a:t>
            </a:r>
            <a:r>
              <a:rPr lang="en-US" sz="2499" spc="24">
                <a:solidFill>
                  <a:srgbClr val="FFFFFF"/>
                </a:solidFill>
                <a:latin typeface="Mont 1"/>
                <a:ea typeface="Mont 1"/>
                <a:cs typeface="Mont 1"/>
                <a:sym typeface="Mont 1"/>
              </a:rPr>
              <a:t>.</a:t>
            </a:r>
          </a:p>
          <a:p>
            <a:pPr algn="ctr">
              <a:lnSpc>
                <a:spcPts val="2999"/>
              </a:lnSpc>
              <a:spcBef>
                <a:spcPct val="0"/>
              </a:spcBef>
            </a:pPr>
            <a:r>
              <a:rPr lang="en-US" sz="2499" spc="24">
                <a:solidFill>
                  <a:srgbClr val="FFFFFF"/>
                </a:solidFill>
                <a:latin typeface="Mont 1"/>
                <a:ea typeface="Mont 1"/>
                <a:cs typeface="Mont 1"/>
                <a:sym typeface="Mont 1"/>
              </a:rPr>
              <a:t>With this service, clients can focus entirely on developing content and delivering quality instruction, while we handle all supporting administrative requirements to ensure the smooth operation of their classes.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5" id="5"/>
          <p:cNvSpPr/>
          <p:nvPr/>
        </p:nvSpPr>
        <p:spPr>
          <a:xfrm flipH="false" flipV="false" rot="0">
            <a:off x="3159488" y="8264819"/>
            <a:ext cx="6184085" cy="1399149"/>
          </a:xfrm>
          <a:custGeom>
            <a:avLst/>
            <a:gdLst/>
            <a:ahLst/>
            <a:cxnLst/>
            <a:rect r="r" b="b" t="t" l="l"/>
            <a:pathLst>
              <a:path h="1399149" w="6184085">
                <a:moveTo>
                  <a:pt x="0" y="0"/>
                </a:moveTo>
                <a:lnTo>
                  <a:pt x="6184085" y="0"/>
                </a:lnTo>
                <a:lnTo>
                  <a:pt x="6184085" y="1399149"/>
                </a:lnTo>
                <a:lnTo>
                  <a:pt x="0" y="1399149"/>
                </a:lnTo>
                <a:lnTo>
                  <a:pt x="0" y="0"/>
                </a:lnTo>
                <a:close/>
              </a:path>
            </a:pathLst>
          </a:custGeom>
          <a:blipFill>
            <a:blip r:embed="rId3"/>
            <a:stretch>
              <a:fillRect l="0" t="0" r="0" b="0"/>
            </a:stretch>
          </a:blipFill>
        </p:spPr>
      </p:sp>
      <p:sp>
        <p:nvSpPr>
          <p:cNvPr name="Freeform 6" id="6"/>
          <p:cNvSpPr/>
          <p:nvPr/>
        </p:nvSpPr>
        <p:spPr>
          <a:xfrm flipH="false" flipV="false" rot="0">
            <a:off x="10559683" y="5118688"/>
            <a:ext cx="7728317" cy="5168312"/>
          </a:xfrm>
          <a:custGeom>
            <a:avLst/>
            <a:gdLst/>
            <a:ahLst/>
            <a:cxnLst/>
            <a:rect r="r" b="b" t="t" l="l"/>
            <a:pathLst>
              <a:path h="5168312" w="7728317">
                <a:moveTo>
                  <a:pt x="0" y="0"/>
                </a:moveTo>
                <a:lnTo>
                  <a:pt x="7728317" y="0"/>
                </a:lnTo>
                <a:lnTo>
                  <a:pt x="7728317" y="5168312"/>
                </a:lnTo>
                <a:lnTo>
                  <a:pt x="0" y="5168312"/>
                </a:lnTo>
                <a:lnTo>
                  <a:pt x="0" y="0"/>
                </a:lnTo>
                <a:close/>
              </a:path>
            </a:pathLst>
          </a:custGeom>
          <a:blipFill>
            <a:blip r:embed="rId4"/>
            <a:stretch>
              <a:fillRect l="0" t="0" r="0" b="0"/>
            </a:stretch>
          </a:blipFill>
        </p:spPr>
      </p:sp>
      <p:sp>
        <p:nvSpPr>
          <p:cNvPr name="Freeform 7" id="7"/>
          <p:cNvSpPr/>
          <p:nvPr/>
        </p:nvSpPr>
        <p:spPr>
          <a:xfrm flipH="false" flipV="false" rot="0">
            <a:off x="6625675" y="-1542247"/>
            <a:ext cx="3709565" cy="6356958"/>
          </a:xfrm>
          <a:custGeom>
            <a:avLst/>
            <a:gdLst/>
            <a:ahLst/>
            <a:cxnLst/>
            <a:rect r="r" b="b" t="t" l="l"/>
            <a:pathLst>
              <a:path h="6356958" w="3709565">
                <a:moveTo>
                  <a:pt x="0" y="0"/>
                </a:moveTo>
                <a:lnTo>
                  <a:pt x="3709565" y="0"/>
                </a:lnTo>
                <a:lnTo>
                  <a:pt x="3709565" y="6356958"/>
                </a:lnTo>
                <a:lnTo>
                  <a:pt x="0" y="6356958"/>
                </a:lnTo>
                <a:lnTo>
                  <a:pt x="0" y="0"/>
                </a:lnTo>
                <a:close/>
              </a:path>
            </a:pathLst>
          </a:custGeom>
          <a:blipFill>
            <a:blip r:embed="rId5"/>
            <a:stretch>
              <a:fillRect l="0" t="0" r="-14601" b="0"/>
            </a:stretch>
          </a:blipFill>
        </p:spPr>
      </p:sp>
      <p:sp>
        <p:nvSpPr>
          <p:cNvPr name="Freeform 8" id="8"/>
          <p:cNvSpPr/>
          <p:nvPr/>
        </p:nvSpPr>
        <p:spPr>
          <a:xfrm flipH="false" flipV="false" rot="0">
            <a:off x="2409042" y="-1254684"/>
            <a:ext cx="3930883" cy="6069395"/>
          </a:xfrm>
          <a:custGeom>
            <a:avLst/>
            <a:gdLst/>
            <a:ahLst/>
            <a:cxnLst/>
            <a:rect r="r" b="b" t="t" l="l"/>
            <a:pathLst>
              <a:path h="6069395" w="3930883">
                <a:moveTo>
                  <a:pt x="0" y="0"/>
                </a:moveTo>
                <a:lnTo>
                  <a:pt x="3930883" y="0"/>
                </a:lnTo>
                <a:lnTo>
                  <a:pt x="3930883" y="6069395"/>
                </a:lnTo>
                <a:lnTo>
                  <a:pt x="0" y="6069395"/>
                </a:lnTo>
                <a:lnTo>
                  <a:pt x="0" y="0"/>
                </a:lnTo>
                <a:close/>
              </a:path>
            </a:pathLst>
          </a:custGeom>
          <a:blipFill>
            <a:blip r:embed="rId6"/>
            <a:stretch>
              <a:fillRect l="-4481" t="0" r="-3667" b="-4737"/>
            </a:stretch>
          </a:blipFill>
        </p:spPr>
      </p:sp>
      <p:sp>
        <p:nvSpPr>
          <p:cNvPr name="Freeform 9" id="9"/>
          <p:cNvSpPr/>
          <p:nvPr/>
        </p:nvSpPr>
        <p:spPr>
          <a:xfrm flipH="false" flipV="false" rot="0">
            <a:off x="10559683" y="-353601"/>
            <a:ext cx="7728317" cy="5168312"/>
          </a:xfrm>
          <a:custGeom>
            <a:avLst/>
            <a:gdLst/>
            <a:ahLst/>
            <a:cxnLst/>
            <a:rect r="r" b="b" t="t" l="l"/>
            <a:pathLst>
              <a:path h="5168312" w="7728317">
                <a:moveTo>
                  <a:pt x="0" y="0"/>
                </a:moveTo>
                <a:lnTo>
                  <a:pt x="7728317" y="0"/>
                </a:lnTo>
                <a:lnTo>
                  <a:pt x="7728317" y="5168312"/>
                </a:lnTo>
                <a:lnTo>
                  <a:pt x="0" y="5168312"/>
                </a:lnTo>
                <a:lnTo>
                  <a:pt x="0" y="0"/>
                </a:lnTo>
                <a:close/>
              </a:path>
            </a:pathLst>
          </a:custGeom>
          <a:blipFill>
            <a:blip r:embed="rId7"/>
            <a:stretch>
              <a:fillRect l="0" t="0" r="0" b="0"/>
            </a:stretch>
          </a:blipFill>
        </p:spPr>
      </p:sp>
      <p:sp>
        <p:nvSpPr>
          <p:cNvPr name="TextBox 10" id="10"/>
          <p:cNvSpPr txBox="true"/>
          <p:nvPr/>
        </p:nvSpPr>
        <p:spPr>
          <a:xfrm rot="0">
            <a:off x="2635099" y="5422898"/>
            <a:ext cx="7232863" cy="2279946"/>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SISTEM KEUANGAN - 2022</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5" id="5"/>
          <p:cNvSpPr/>
          <p:nvPr/>
        </p:nvSpPr>
        <p:spPr>
          <a:xfrm flipH="false" flipV="false" rot="0">
            <a:off x="10142801" y="5065025"/>
            <a:ext cx="8145199" cy="5221975"/>
          </a:xfrm>
          <a:custGeom>
            <a:avLst/>
            <a:gdLst/>
            <a:ahLst/>
            <a:cxnLst/>
            <a:rect r="r" b="b" t="t" l="l"/>
            <a:pathLst>
              <a:path h="5221975" w="8145199">
                <a:moveTo>
                  <a:pt x="0" y="0"/>
                </a:moveTo>
                <a:lnTo>
                  <a:pt x="8145199" y="0"/>
                </a:lnTo>
                <a:lnTo>
                  <a:pt x="8145199" y="5221975"/>
                </a:lnTo>
                <a:lnTo>
                  <a:pt x="0" y="5221975"/>
                </a:lnTo>
                <a:lnTo>
                  <a:pt x="0" y="0"/>
                </a:lnTo>
                <a:close/>
              </a:path>
            </a:pathLst>
          </a:custGeom>
          <a:blipFill>
            <a:blip r:embed="rId3"/>
            <a:stretch>
              <a:fillRect l="-5173" t="0" r="-8297" b="0"/>
            </a:stretch>
          </a:blipFill>
        </p:spPr>
      </p:sp>
      <p:sp>
        <p:nvSpPr>
          <p:cNvPr name="Freeform 6" id="6"/>
          <p:cNvSpPr/>
          <p:nvPr/>
        </p:nvSpPr>
        <p:spPr>
          <a:xfrm flipH="false" flipV="false" rot="0">
            <a:off x="6251531" y="-1118516"/>
            <a:ext cx="3623466" cy="5949285"/>
          </a:xfrm>
          <a:custGeom>
            <a:avLst/>
            <a:gdLst/>
            <a:ahLst/>
            <a:cxnLst/>
            <a:rect r="r" b="b" t="t" l="l"/>
            <a:pathLst>
              <a:path h="5949285" w="3623466">
                <a:moveTo>
                  <a:pt x="0" y="0"/>
                </a:moveTo>
                <a:lnTo>
                  <a:pt x="3623466" y="0"/>
                </a:lnTo>
                <a:lnTo>
                  <a:pt x="3623466" y="5949285"/>
                </a:lnTo>
                <a:lnTo>
                  <a:pt x="0" y="5949285"/>
                </a:lnTo>
                <a:lnTo>
                  <a:pt x="0" y="0"/>
                </a:lnTo>
                <a:close/>
              </a:path>
            </a:pathLst>
          </a:custGeom>
          <a:blipFill>
            <a:blip r:embed="rId4"/>
            <a:stretch>
              <a:fillRect l="0" t="0" r="0" b="-6852"/>
            </a:stretch>
          </a:blipFill>
        </p:spPr>
      </p:sp>
      <p:sp>
        <p:nvSpPr>
          <p:cNvPr name="Freeform 7" id="7"/>
          <p:cNvSpPr/>
          <p:nvPr/>
        </p:nvSpPr>
        <p:spPr>
          <a:xfrm flipH="false" flipV="false" rot="0">
            <a:off x="2399517" y="-1526189"/>
            <a:ext cx="3575789" cy="6356958"/>
          </a:xfrm>
          <a:custGeom>
            <a:avLst/>
            <a:gdLst/>
            <a:ahLst/>
            <a:cxnLst/>
            <a:rect r="r" b="b" t="t" l="l"/>
            <a:pathLst>
              <a:path h="6356958" w="3575789">
                <a:moveTo>
                  <a:pt x="0" y="0"/>
                </a:moveTo>
                <a:lnTo>
                  <a:pt x="3575789" y="0"/>
                </a:lnTo>
                <a:lnTo>
                  <a:pt x="3575789" y="6356958"/>
                </a:lnTo>
                <a:lnTo>
                  <a:pt x="0" y="6356958"/>
                </a:lnTo>
                <a:lnTo>
                  <a:pt x="0" y="0"/>
                </a:lnTo>
                <a:close/>
              </a:path>
            </a:pathLst>
          </a:custGeom>
          <a:blipFill>
            <a:blip r:embed="rId5"/>
            <a:stretch>
              <a:fillRect l="0" t="0" r="0" b="0"/>
            </a:stretch>
          </a:blipFill>
        </p:spPr>
      </p:sp>
      <p:sp>
        <p:nvSpPr>
          <p:cNvPr name="Freeform 8" id="8"/>
          <p:cNvSpPr/>
          <p:nvPr/>
        </p:nvSpPr>
        <p:spPr>
          <a:xfrm flipH="false" flipV="false" rot="0">
            <a:off x="10142801" y="0"/>
            <a:ext cx="8145199" cy="4830769"/>
          </a:xfrm>
          <a:custGeom>
            <a:avLst/>
            <a:gdLst/>
            <a:ahLst/>
            <a:cxnLst/>
            <a:rect r="r" b="b" t="t" l="l"/>
            <a:pathLst>
              <a:path h="4830769" w="8145199">
                <a:moveTo>
                  <a:pt x="0" y="0"/>
                </a:moveTo>
                <a:lnTo>
                  <a:pt x="8145199" y="0"/>
                </a:lnTo>
                <a:lnTo>
                  <a:pt x="8145199" y="4830769"/>
                </a:lnTo>
                <a:lnTo>
                  <a:pt x="0" y="4830769"/>
                </a:lnTo>
                <a:lnTo>
                  <a:pt x="0" y="0"/>
                </a:lnTo>
                <a:close/>
              </a:path>
            </a:pathLst>
          </a:custGeom>
          <a:blipFill>
            <a:blip r:embed="rId6"/>
            <a:stretch>
              <a:fillRect l="-5671" t="0" r="0" b="0"/>
            </a:stretch>
          </a:blipFill>
        </p:spPr>
      </p:sp>
      <p:sp>
        <p:nvSpPr>
          <p:cNvPr name="Freeform 9" id="9"/>
          <p:cNvSpPr/>
          <p:nvPr/>
        </p:nvSpPr>
        <p:spPr>
          <a:xfrm flipH="false" flipV="false" rot="0">
            <a:off x="3159488" y="8036414"/>
            <a:ext cx="6184085" cy="1399149"/>
          </a:xfrm>
          <a:custGeom>
            <a:avLst/>
            <a:gdLst/>
            <a:ahLst/>
            <a:cxnLst/>
            <a:rect r="r" b="b" t="t" l="l"/>
            <a:pathLst>
              <a:path h="1399149" w="6184085">
                <a:moveTo>
                  <a:pt x="0" y="0"/>
                </a:moveTo>
                <a:lnTo>
                  <a:pt x="6184085" y="0"/>
                </a:lnTo>
                <a:lnTo>
                  <a:pt x="6184085" y="1399149"/>
                </a:lnTo>
                <a:lnTo>
                  <a:pt x="0" y="1399149"/>
                </a:lnTo>
                <a:lnTo>
                  <a:pt x="0" y="0"/>
                </a:lnTo>
                <a:close/>
              </a:path>
            </a:pathLst>
          </a:custGeom>
          <a:blipFill>
            <a:blip r:embed="rId7"/>
            <a:stretch>
              <a:fillRect l="0" t="0" r="0" b="0"/>
            </a:stretch>
          </a:blipFill>
        </p:spPr>
      </p:sp>
      <p:sp>
        <p:nvSpPr>
          <p:cNvPr name="TextBox 10" id="10"/>
          <p:cNvSpPr txBox="true"/>
          <p:nvPr/>
        </p:nvSpPr>
        <p:spPr>
          <a:xfrm rot="0">
            <a:off x="2409042" y="5318318"/>
            <a:ext cx="7232863" cy="2279946"/>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SISTEM KEUANGAN - 2023</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TextBox 4" id="4"/>
          <p:cNvSpPr txBox="true"/>
          <p:nvPr/>
        </p:nvSpPr>
        <p:spPr>
          <a:xfrm rot="0">
            <a:off x="2409042" y="5318318"/>
            <a:ext cx="7232863" cy="2279946"/>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COMMUNICATION SKILLS</a:t>
            </a:r>
          </a:p>
        </p:txBody>
      </p:sp>
      <p:sp>
        <p:nvSpPr>
          <p:cNvPr name="Freeform 5" id="5"/>
          <p:cNvSpPr/>
          <p:nvPr/>
        </p:nvSpPr>
        <p:spPr>
          <a:xfrm flipH="false" flipV="false" rot="0">
            <a:off x="2766422" y="-63860"/>
            <a:ext cx="2717528" cy="4831161"/>
          </a:xfrm>
          <a:custGeom>
            <a:avLst/>
            <a:gdLst/>
            <a:ahLst/>
            <a:cxnLst/>
            <a:rect r="r" b="b" t="t" l="l"/>
            <a:pathLst>
              <a:path h="4831161" w="2717528">
                <a:moveTo>
                  <a:pt x="0" y="0"/>
                </a:moveTo>
                <a:lnTo>
                  <a:pt x="2717528" y="0"/>
                </a:lnTo>
                <a:lnTo>
                  <a:pt x="2717528" y="4831161"/>
                </a:lnTo>
                <a:lnTo>
                  <a:pt x="0" y="4831161"/>
                </a:lnTo>
                <a:lnTo>
                  <a:pt x="0" y="0"/>
                </a:lnTo>
                <a:close/>
              </a:path>
            </a:pathLst>
          </a:custGeom>
          <a:blipFill>
            <a:blip r:embed="rId2"/>
            <a:stretch>
              <a:fillRect l="0" t="0" r="0" b="0"/>
            </a:stretch>
          </a:blipFill>
        </p:spPr>
      </p:sp>
      <p:sp>
        <p:nvSpPr>
          <p:cNvPr name="Freeform 6" id="6"/>
          <p:cNvSpPr/>
          <p:nvPr/>
        </p:nvSpPr>
        <p:spPr>
          <a:xfrm flipH="false" flipV="false" rot="0">
            <a:off x="9926327" y="5065025"/>
            <a:ext cx="8361673" cy="5063610"/>
          </a:xfrm>
          <a:custGeom>
            <a:avLst/>
            <a:gdLst/>
            <a:ahLst/>
            <a:cxnLst/>
            <a:rect r="r" b="b" t="t" l="l"/>
            <a:pathLst>
              <a:path h="5063610" w="8361673">
                <a:moveTo>
                  <a:pt x="0" y="0"/>
                </a:moveTo>
                <a:lnTo>
                  <a:pt x="8361673" y="0"/>
                </a:lnTo>
                <a:lnTo>
                  <a:pt x="8361673" y="5063611"/>
                </a:lnTo>
                <a:lnTo>
                  <a:pt x="0" y="5063611"/>
                </a:lnTo>
                <a:lnTo>
                  <a:pt x="0" y="0"/>
                </a:lnTo>
                <a:close/>
              </a:path>
            </a:pathLst>
          </a:custGeom>
          <a:blipFill>
            <a:blip r:embed="rId3"/>
            <a:stretch>
              <a:fillRect l="-7657" t="0" r="0" b="0"/>
            </a:stretch>
          </a:blipFill>
        </p:spPr>
      </p:sp>
      <p:sp>
        <p:nvSpPr>
          <p:cNvPr name="Freeform 7" id="7"/>
          <p:cNvSpPr/>
          <p:nvPr/>
        </p:nvSpPr>
        <p:spPr>
          <a:xfrm flipH="false" flipV="false" rot="0">
            <a:off x="9926327" y="0"/>
            <a:ext cx="8361673" cy="4703441"/>
          </a:xfrm>
          <a:custGeom>
            <a:avLst/>
            <a:gdLst/>
            <a:ahLst/>
            <a:cxnLst/>
            <a:rect r="r" b="b" t="t" l="l"/>
            <a:pathLst>
              <a:path h="4703441" w="8361673">
                <a:moveTo>
                  <a:pt x="0" y="0"/>
                </a:moveTo>
                <a:lnTo>
                  <a:pt x="8361673" y="0"/>
                </a:lnTo>
                <a:lnTo>
                  <a:pt x="8361673" y="4703441"/>
                </a:lnTo>
                <a:lnTo>
                  <a:pt x="0" y="4703441"/>
                </a:lnTo>
                <a:lnTo>
                  <a:pt x="0" y="0"/>
                </a:lnTo>
                <a:close/>
              </a:path>
            </a:pathLst>
          </a:custGeom>
          <a:blipFill>
            <a:blip r:embed="rId4"/>
            <a:stretch>
              <a:fillRect l="0" t="0" r="0" b="0"/>
            </a:stretch>
          </a:blipFill>
        </p:spPr>
      </p:sp>
      <p:sp>
        <p:nvSpPr>
          <p:cNvPr name="Freeform 8" id="8"/>
          <p:cNvSpPr/>
          <p:nvPr/>
        </p:nvSpPr>
        <p:spPr>
          <a:xfrm flipH="false" flipV="false" rot="0">
            <a:off x="6169750" y="-752398"/>
            <a:ext cx="3068909" cy="5455839"/>
          </a:xfrm>
          <a:custGeom>
            <a:avLst/>
            <a:gdLst/>
            <a:ahLst/>
            <a:cxnLst/>
            <a:rect r="r" b="b" t="t" l="l"/>
            <a:pathLst>
              <a:path h="5455839" w="3068909">
                <a:moveTo>
                  <a:pt x="0" y="0"/>
                </a:moveTo>
                <a:lnTo>
                  <a:pt x="3068910" y="0"/>
                </a:lnTo>
                <a:lnTo>
                  <a:pt x="3068910" y="5455839"/>
                </a:lnTo>
                <a:lnTo>
                  <a:pt x="0" y="5455839"/>
                </a:lnTo>
                <a:lnTo>
                  <a:pt x="0" y="0"/>
                </a:lnTo>
                <a:close/>
              </a:path>
            </a:pathLst>
          </a:custGeom>
          <a:blipFill>
            <a:blip r:embed="rId5"/>
            <a:stretch>
              <a:fillRect l="0" t="0" r="0" b="0"/>
            </a:stretch>
          </a:blipFill>
        </p:spPr>
      </p:sp>
      <p:sp>
        <p:nvSpPr>
          <p:cNvPr name="Freeform 9" id="9"/>
          <p:cNvSpPr/>
          <p:nvPr/>
        </p:nvSpPr>
        <p:spPr>
          <a:xfrm flipH="false" flipV="false" rot="0">
            <a:off x="3801267" y="8103089"/>
            <a:ext cx="4448413" cy="1547758"/>
          </a:xfrm>
          <a:custGeom>
            <a:avLst/>
            <a:gdLst/>
            <a:ahLst/>
            <a:cxnLst/>
            <a:rect r="r" b="b" t="t" l="l"/>
            <a:pathLst>
              <a:path h="1547758" w="4448413">
                <a:moveTo>
                  <a:pt x="0" y="0"/>
                </a:moveTo>
                <a:lnTo>
                  <a:pt x="4448413" y="0"/>
                </a:lnTo>
                <a:lnTo>
                  <a:pt x="4448413" y="1547758"/>
                </a:lnTo>
                <a:lnTo>
                  <a:pt x="0" y="1547758"/>
                </a:lnTo>
                <a:lnTo>
                  <a:pt x="0" y="0"/>
                </a:lnTo>
                <a:close/>
              </a:path>
            </a:pathLst>
          </a:custGeom>
          <a:blipFill>
            <a:blip r:embed="rId6"/>
            <a:stretch>
              <a:fillRect l="0" t="0" r="0" b="0"/>
            </a:stretch>
          </a:blipFill>
        </p:spPr>
      </p:sp>
      <p:sp>
        <p:nvSpPr>
          <p:cNvPr name="Freeform 10" id="10"/>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7"/>
            <a:stretch>
              <a:fillRect l="-2336"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5" id="5"/>
          <p:cNvSpPr/>
          <p:nvPr/>
        </p:nvSpPr>
        <p:spPr>
          <a:xfrm flipH="false" flipV="false" rot="0">
            <a:off x="5385022" y="7837913"/>
            <a:ext cx="2120462" cy="1995729"/>
          </a:xfrm>
          <a:custGeom>
            <a:avLst/>
            <a:gdLst/>
            <a:ahLst/>
            <a:cxnLst/>
            <a:rect r="r" b="b" t="t" l="l"/>
            <a:pathLst>
              <a:path h="1995729" w="2120462">
                <a:moveTo>
                  <a:pt x="0" y="0"/>
                </a:moveTo>
                <a:lnTo>
                  <a:pt x="2120462" y="0"/>
                </a:lnTo>
                <a:lnTo>
                  <a:pt x="2120462" y="1995729"/>
                </a:lnTo>
                <a:lnTo>
                  <a:pt x="0" y="1995729"/>
                </a:lnTo>
                <a:lnTo>
                  <a:pt x="0" y="0"/>
                </a:lnTo>
                <a:close/>
              </a:path>
            </a:pathLst>
          </a:custGeom>
          <a:blipFill>
            <a:blip r:embed="rId3"/>
            <a:stretch>
              <a:fillRect l="0" t="0" r="0" b="0"/>
            </a:stretch>
          </a:blipFill>
        </p:spPr>
      </p:sp>
      <p:sp>
        <p:nvSpPr>
          <p:cNvPr name="Freeform 6" id="6"/>
          <p:cNvSpPr/>
          <p:nvPr/>
        </p:nvSpPr>
        <p:spPr>
          <a:xfrm flipH="false" flipV="false" rot="0">
            <a:off x="11455449" y="5270693"/>
            <a:ext cx="6832551" cy="5134442"/>
          </a:xfrm>
          <a:custGeom>
            <a:avLst/>
            <a:gdLst/>
            <a:ahLst/>
            <a:cxnLst/>
            <a:rect r="r" b="b" t="t" l="l"/>
            <a:pathLst>
              <a:path h="5134442" w="6832551">
                <a:moveTo>
                  <a:pt x="0" y="0"/>
                </a:moveTo>
                <a:lnTo>
                  <a:pt x="6832551" y="0"/>
                </a:lnTo>
                <a:lnTo>
                  <a:pt x="6832551" y="5134441"/>
                </a:lnTo>
                <a:lnTo>
                  <a:pt x="0" y="5134441"/>
                </a:lnTo>
                <a:lnTo>
                  <a:pt x="0" y="0"/>
                </a:lnTo>
                <a:close/>
              </a:path>
            </a:pathLst>
          </a:custGeom>
          <a:blipFill>
            <a:blip r:embed="rId4"/>
            <a:stretch>
              <a:fillRect l="0" t="0" r="0" b="0"/>
            </a:stretch>
          </a:blipFill>
        </p:spPr>
      </p:sp>
      <p:sp>
        <p:nvSpPr>
          <p:cNvPr name="Freeform 7" id="7"/>
          <p:cNvSpPr/>
          <p:nvPr/>
        </p:nvSpPr>
        <p:spPr>
          <a:xfrm flipH="false" flipV="false" rot="0">
            <a:off x="2346313" y="-145440"/>
            <a:ext cx="3851291" cy="5143500"/>
          </a:xfrm>
          <a:custGeom>
            <a:avLst/>
            <a:gdLst/>
            <a:ahLst/>
            <a:cxnLst/>
            <a:rect r="r" b="b" t="t" l="l"/>
            <a:pathLst>
              <a:path h="5143500" w="3851291">
                <a:moveTo>
                  <a:pt x="0" y="0"/>
                </a:moveTo>
                <a:lnTo>
                  <a:pt x="3851290" y="0"/>
                </a:lnTo>
                <a:lnTo>
                  <a:pt x="3851290" y="5143500"/>
                </a:lnTo>
                <a:lnTo>
                  <a:pt x="0" y="5143500"/>
                </a:lnTo>
                <a:lnTo>
                  <a:pt x="0" y="0"/>
                </a:lnTo>
                <a:close/>
              </a:path>
            </a:pathLst>
          </a:custGeom>
          <a:blipFill>
            <a:blip r:embed="rId5"/>
            <a:stretch>
              <a:fillRect l="0" t="0" r="0" b="0"/>
            </a:stretch>
          </a:blipFill>
        </p:spPr>
      </p:sp>
      <p:sp>
        <p:nvSpPr>
          <p:cNvPr name="Freeform 8" id="8"/>
          <p:cNvSpPr/>
          <p:nvPr/>
        </p:nvSpPr>
        <p:spPr>
          <a:xfrm flipH="false" flipV="false" rot="0">
            <a:off x="11464489" y="145440"/>
            <a:ext cx="6823511" cy="4852621"/>
          </a:xfrm>
          <a:custGeom>
            <a:avLst/>
            <a:gdLst/>
            <a:ahLst/>
            <a:cxnLst/>
            <a:rect r="r" b="b" t="t" l="l"/>
            <a:pathLst>
              <a:path h="4852621" w="6823511">
                <a:moveTo>
                  <a:pt x="0" y="0"/>
                </a:moveTo>
                <a:lnTo>
                  <a:pt x="6823511" y="0"/>
                </a:lnTo>
                <a:lnTo>
                  <a:pt x="6823511" y="4852620"/>
                </a:lnTo>
                <a:lnTo>
                  <a:pt x="0" y="4852620"/>
                </a:lnTo>
                <a:lnTo>
                  <a:pt x="0" y="0"/>
                </a:lnTo>
                <a:close/>
              </a:path>
            </a:pathLst>
          </a:custGeom>
          <a:blipFill>
            <a:blip r:embed="rId6"/>
            <a:stretch>
              <a:fillRect l="-20437" t="0" r="-6272" b="0"/>
            </a:stretch>
          </a:blipFill>
        </p:spPr>
      </p:sp>
      <p:sp>
        <p:nvSpPr>
          <p:cNvPr name="Freeform 9" id="9"/>
          <p:cNvSpPr/>
          <p:nvPr/>
        </p:nvSpPr>
        <p:spPr>
          <a:xfrm flipH="false" flipV="false" rot="0">
            <a:off x="6445253" y="-1358898"/>
            <a:ext cx="4767719" cy="6356958"/>
          </a:xfrm>
          <a:custGeom>
            <a:avLst/>
            <a:gdLst/>
            <a:ahLst/>
            <a:cxnLst/>
            <a:rect r="r" b="b" t="t" l="l"/>
            <a:pathLst>
              <a:path h="6356958" w="4767719">
                <a:moveTo>
                  <a:pt x="0" y="0"/>
                </a:moveTo>
                <a:lnTo>
                  <a:pt x="4767719" y="0"/>
                </a:lnTo>
                <a:lnTo>
                  <a:pt x="4767719" y="6356958"/>
                </a:lnTo>
                <a:lnTo>
                  <a:pt x="0" y="6356958"/>
                </a:lnTo>
                <a:lnTo>
                  <a:pt x="0" y="0"/>
                </a:lnTo>
                <a:close/>
              </a:path>
            </a:pathLst>
          </a:custGeom>
          <a:blipFill>
            <a:blip r:embed="rId7"/>
            <a:stretch>
              <a:fillRect l="0" t="0" r="0" b="0"/>
            </a:stretch>
          </a:blipFill>
        </p:spPr>
      </p:sp>
      <p:sp>
        <p:nvSpPr>
          <p:cNvPr name="TextBox 10" id="10"/>
          <p:cNvSpPr txBox="true"/>
          <p:nvPr/>
        </p:nvSpPr>
        <p:spPr>
          <a:xfrm rot="0">
            <a:off x="2862317" y="5737746"/>
            <a:ext cx="7855433" cy="1527689"/>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HARD COMPLAINTS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TextBox 5" id="5"/>
          <p:cNvSpPr txBox="true"/>
          <p:nvPr/>
        </p:nvSpPr>
        <p:spPr>
          <a:xfrm rot="0">
            <a:off x="2124620" y="5361000"/>
            <a:ext cx="7244107" cy="2279946"/>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DIGITAL MARKETING</a:t>
            </a:r>
          </a:p>
        </p:txBody>
      </p:sp>
      <p:sp>
        <p:nvSpPr>
          <p:cNvPr name="Freeform 6" id="6"/>
          <p:cNvSpPr/>
          <p:nvPr/>
        </p:nvSpPr>
        <p:spPr>
          <a:xfrm flipH="false" flipV="false" rot="0">
            <a:off x="9368726" y="0"/>
            <a:ext cx="8842000" cy="4973625"/>
          </a:xfrm>
          <a:custGeom>
            <a:avLst/>
            <a:gdLst/>
            <a:ahLst/>
            <a:cxnLst/>
            <a:rect r="r" b="b" t="t" l="l"/>
            <a:pathLst>
              <a:path h="4973625" w="8842000">
                <a:moveTo>
                  <a:pt x="0" y="0"/>
                </a:moveTo>
                <a:lnTo>
                  <a:pt x="8842000" y="0"/>
                </a:lnTo>
                <a:lnTo>
                  <a:pt x="8842000" y="4973625"/>
                </a:lnTo>
                <a:lnTo>
                  <a:pt x="0" y="4973625"/>
                </a:lnTo>
                <a:lnTo>
                  <a:pt x="0" y="0"/>
                </a:lnTo>
                <a:close/>
              </a:path>
            </a:pathLst>
          </a:custGeom>
          <a:blipFill>
            <a:blip r:embed="rId3"/>
            <a:stretch>
              <a:fillRect l="0" t="0" r="0" b="0"/>
            </a:stretch>
          </a:blipFill>
        </p:spPr>
      </p:sp>
      <p:sp>
        <p:nvSpPr>
          <p:cNvPr name="Freeform 7" id="7"/>
          <p:cNvSpPr/>
          <p:nvPr/>
        </p:nvSpPr>
        <p:spPr>
          <a:xfrm flipH="false" flipV="false" rot="0">
            <a:off x="9368726" y="5313375"/>
            <a:ext cx="8842000" cy="4973625"/>
          </a:xfrm>
          <a:custGeom>
            <a:avLst/>
            <a:gdLst/>
            <a:ahLst/>
            <a:cxnLst/>
            <a:rect r="r" b="b" t="t" l="l"/>
            <a:pathLst>
              <a:path h="4973625" w="8842000">
                <a:moveTo>
                  <a:pt x="0" y="0"/>
                </a:moveTo>
                <a:lnTo>
                  <a:pt x="8842000" y="0"/>
                </a:lnTo>
                <a:lnTo>
                  <a:pt x="8842000" y="4973625"/>
                </a:lnTo>
                <a:lnTo>
                  <a:pt x="0" y="4973625"/>
                </a:lnTo>
                <a:lnTo>
                  <a:pt x="0" y="0"/>
                </a:lnTo>
                <a:close/>
              </a:path>
            </a:pathLst>
          </a:custGeom>
          <a:blipFill>
            <a:blip r:embed="rId4"/>
            <a:stretch>
              <a:fillRect l="0" t="0" r="0" b="0"/>
            </a:stretch>
          </a:blipFill>
        </p:spPr>
      </p:sp>
      <p:sp>
        <p:nvSpPr>
          <p:cNvPr name="Freeform 8" id="8"/>
          <p:cNvSpPr/>
          <p:nvPr/>
        </p:nvSpPr>
        <p:spPr>
          <a:xfrm flipH="false" flipV="false" rot="0">
            <a:off x="2374676" y="-339751"/>
            <a:ext cx="2988774" cy="5313375"/>
          </a:xfrm>
          <a:custGeom>
            <a:avLst/>
            <a:gdLst/>
            <a:ahLst/>
            <a:cxnLst/>
            <a:rect r="r" b="b" t="t" l="l"/>
            <a:pathLst>
              <a:path h="5313375" w="2988774">
                <a:moveTo>
                  <a:pt x="0" y="0"/>
                </a:moveTo>
                <a:lnTo>
                  <a:pt x="2988774" y="0"/>
                </a:lnTo>
                <a:lnTo>
                  <a:pt x="2988774" y="5313376"/>
                </a:lnTo>
                <a:lnTo>
                  <a:pt x="0" y="5313376"/>
                </a:lnTo>
                <a:lnTo>
                  <a:pt x="0" y="0"/>
                </a:lnTo>
                <a:close/>
              </a:path>
            </a:pathLst>
          </a:custGeom>
          <a:blipFill>
            <a:blip r:embed="rId5"/>
            <a:stretch>
              <a:fillRect l="0" t="0" r="0" b="0"/>
            </a:stretch>
          </a:blipFill>
        </p:spPr>
      </p:sp>
      <p:sp>
        <p:nvSpPr>
          <p:cNvPr name="Freeform 9" id="9"/>
          <p:cNvSpPr/>
          <p:nvPr/>
        </p:nvSpPr>
        <p:spPr>
          <a:xfrm flipH="false" flipV="false" rot="0">
            <a:off x="3717431" y="7370211"/>
            <a:ext cx="4058485" cy="3021564"/>
          </a:xfrm>
          <a:custGeom>
            <a:avLst/>
            <a:gdLst/>
            <a:ahLst/>
            <a:cxnLst/>
            <a:rect r="r" b="b" t="t" l="l"/>
            <a:pathLst>
              <a:path h="3021564" w="4058485">
                <a:moveTo>
                  <a:pt x="0" y="0"/>
                </a:moveTo>
                <a:lnTo>
                  <a:pt x="4058485" y="0"/>
                </a:lnTo>
                <a:lnTo>
                  <a:pt x="4058485" y="3021564"/>
                </a:lnTo>
                <a:lnTo>
                  <a:pt x="0" y="3021564"/>
                </a:lnTo>
                <a:lnTo>
                  <a:pt x="0" y="0"/>
                </a:lnTo>
                <a:close/>
              </a:path>
            </a:pathLst>
          </a:custGeom>
          <a:blipFill>
            <a:blip r:embed="rId6"/>
            <a:stretch>
              <a:fillRect l="0" t="0" r="0" b="0"/>
            </a:stretch>
          </a:blipFill>
        </p:spPr>
      </p:sp>
      <p:sp>
        <p:nvSpPr>
          <p:cNvPr name="Freeform 10" id="10"/>
          <p:cNvSpPr/>
          <p:nvPr/>
        </p:nvSpPr>
        <p:spPr>
          <a:xfrm flipH="false" flipV="false" rot="0">
            <a:off x="5592050" y="-831707"/>
            <a:ext cx="3551950" cy="5805332"/>
          </a:xfrm>
          <a:custGeom>
            <a:avLst/>
            <a:gdLst/>
            <a:ahLst/>
            <a:cxnLst/>
            <a:rect r="r" b="b" t="t" l="l"/>
            <a:pathLst>
              <a:path h="5805332" w="3551950">
                <a:moveTo>
                  <a:pt x="0" y="0"/>
                </a:moveTo>
                <a:lnTo>
                  <a:pt x="3551950" y="0"/>
                </a:lnTo>
                <a:lnTo>
                  <a:pt x="3551950" y="5805332"/>
                </a:lnTo>
                <a:lnTo>
                  <a:pt x="0" y="5805332"/>
                </a:lnTo>
                <a:lnTo>
                  <a:pt x="0" y="0"/>
                </a:lnTo>
                <a:close/>
              </a:path>
            </a:pathLst>
          </a:custGeom>
          <a:blipFill>
            <a:blip r:embed="rId7"/>
            <a:stretch>
              <a:fillRect l="0" t="0" r="0" b="-9502"/>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5" id="5"/>
          <p:cNvSpPr/>
          <p:nvPr/>
        </p:nvSpPr>
        <p:spPr>
          <a:xfrm flipH="false" flipV="false" rot="0">
            <a:off x="2546795" y="0"/>
            <a:ext cx="6970602" cy="6526227"/>
          </a:xfrm>
          <a:custGeom>
            <a:avLst/>
            <a:gdLst/>
            <a:ahLst/>
            <a:cxnLst/>
            <a:rect r="r" b="b" t="t" l="l"/>
            <a:pathLst>
              <a:path h="6526227" w="6970602">
                <a:moveTo>
                  <a:pt x="0" y="0"/>
                </a:moveTo>
                <a:lnTo>
                  <a:pt x="6970602" y="0"/>
                </a:lnTo>
                <a:lnTo>
                  <a:pt x="6970602" y="6526227"/>
                </a:lnTo>
                <a:lnTo>
                  <a:pt x="0" y="6526227"/>
                </a:lnTo>
                <a:lnTo>
                  <a:pt x="0" y="0"/>
                </a:lnTo>
                <a:close/>
              </a:path>
            </a:pathLst>
          </a:custGeom>
          <a:blipFill>
            <a:blip r:embed="rId3"/>
            <a:stretch>
              <a:fillRect l="0" t="0" r="0" b="0"/>
            </a:stretch>
          </a:blipFill>
        </p:spPr>
      </p:sp>
      <p:sp>
        <p:nvSpPr>
          <p:cNvPr name="Freeform 6" id="6"/>
          <p:cNvSpPr/>
          <p:nvPr/>
        </p:nvSpPr>
        <p:spPr>
          <a:xfrm flipH="false" flipV="false" rot="0">
            <a:off x="9939573" y="0"/>
            <a:ext cx="7319727" cy="4876768"/>
          </a:xfrm>
          <a:custGeom>
            <a:avLst/>
            <a:gdLst/>
            <a:ahLst/>
            <a:cxnLst/>
            <a:rect r="r" b="b" t="t" l="l"/>
            <a:pathLst>
              <a:path h="4876768" w="7319727">
                <a:moveTo>
                  <a:pt x="0" y="0"/>
                </a:moveTo>
                <a:lnTo>
                  <a:pt x="7319727" y="0"/>
                </a:lnTo>
                <a:lnTo>
                  <a:pt x="7319727" y="4876768"/>
                </a:lnTo>
                <a:lnTo>
                  <a:pt x="0" y="4876768"/>
                </a:lnTo>
                <a:lnTo>
                  <a:pt x="0" y="0"/>
                </a:lnTo>
                <a:close/>
              </a:path>
            </a:pathLst>
          </a:custGeom>
          <a:blipFill>
            <a:blip r:embed="rId4"/>
            <a:stretch>
              <a:fillRect l="0" t="0" r="0" b="0"/>
            </a:stretch>
          </a:blipFill>
        </p:spPr>
      </p:sp>
      <p:sp>
        <p:nvSpPr>
          <p:cNvPr name="Freeform 7" id="7"/>
          <p:cNvSpPr/>
          <p:nvPr/>
        </p:nvSpPr>
        <p:spPr>
          <a:xfrm flipH="false" flipV="false" rot="0">
            <a:off x="9939573" y="5143500"/>
            <a:ext cx="7331561" cy="4884653"/>
          </a:xfrm>
          <a:custGeom>
            <a:avLst/>
            <a:gdLst/>
            <a:ahLst/>
            <a:cxnLst/>
            <a:rect r="r" b="b" t="t" l="l"/>
            <a:pathLst>
              <a:path h="4884653" w="7331561">
                <a:moveTo>
                  <a:pt x="0" y="0"/>
                </a:moveTo>
                <a:lnTo>
                  <a:pt x="7331561" y="0"/>
                </a:lnTo>
                <a:lnTo>
                  <a:pt x="7331561" y="4884653"/>
                </a:lnTo>
                <a:lnTo>
                  <a:pt x="0" y="4884653"/>
                </a:lnTo>
                <a:lnTo>
                  <a:pt x="0" y="0"/>
                </a:lnTo>
                <a:close/>
              </a:path>
            </a:pathLst>
          </a:custGeom>
          <a:blipFill>
            <a:blip r:embed="rId5"/>
            <a:stretch>
              <a:fillRect l="0" t="0" r="0" b="0"/>
            </a:stretch>
          </a:blipFill>
        </p:spPr>
      </p:sp>
      <p:sp>
        <p:nvSpPr>
          <p:cNvPr name="TextBox 8" id="8"/>
          <p:cNvSpPr txBox="true"/>
          <p:nvPr/>
        </p:nvSpPr>
        <p:spPr>
          <a:xfrm rot="0">
            <a:off x="2123966" y="6750597"/>
            <a:ext cx="7244107" cy="3032203"/>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DIGITAL</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LITERACY PEREMPUAN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TextBox 5" id="5"/>
          <p:cNvSpPr txBox="true"/>
          <p:nvPr/>
        </p:nvSpPr>
        <p:spPr>
          <a:xfrm rot="0">
            <a:off x="2540762" y="2032822"/>
            <a:ext cx="5711689" cy="3784460"/>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TRAINING</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CS &amp; AKUNTANSI</a:t>
            </a:r>
          </a:p>
          <a:p>
            <a:pPr algn="ctr">
              <a:lnSpc>
                <a:spcPts val="6132"/>
              </a:lnSpc>
            </a:pPr>
            <a:r>
              <a:rPr lang="en-US" b="true" sz="5574" spc="278">
                <a:solidFill>
                  <a:srgbClr val="1D1D1F"/>
                </a:solidFill>
                <a:latin typeface="Playfair Display Bold"/>
                <a:ea typeface="Playfair Display Bold"/>
                <a:cs typeface="Playfair Display Bold"/>
                <a:sym typeface="Playfair Display Bold"/>
              </a:rPr>
              <a:t>(PERIODE 2023-2024)</a:t>
            </a:r>
          </a:p>
        </p:txBody>
      </p:sp>
      <p:sp>
        <p:nvSpPr>
          <p:cNvPr name="Freeform 6" id="6"/>
          <p:cNvSpPr/>
          <p:nvPr/>
        </p:nvSpPr>
        <p:spPr>
          <a:xfrm flipH="false" flipV="false" rot="0">
            <a:off x="8668593" y="5143500"/>
            <a:ext cx="9619407" cy="5143500"/>
          </a:xfrm>
          <a:custGeom>
            <a:avLst/>
            <a:gdLst/>
            <a:ahLst/>
            <a:cxnLst/>
            <a:rect r="r" b="b" t="t" l="l"/>
            <a:pathLst>
              <a:path h="5143500" w="9619407">
                <a:moveTo>
                  <a:pt x="0" y="0"/>
                </a:moveTo>
                <a:lnTo>
                  <a:pt x="9619407" y="0"/>
                </a:lnTo>
                <a:lnTo>
                  <a:pt x="9619407" y="5143500"/>
                </a:lnTo>
                <a:lnTo>
                  <a:pt x="0" y="5143500"/>
                </a:lnTo>
                <a:lnTo>
                  <a:pt x="0" y="0"/>
                </a:lnTo>
                <a:close/>
              </a:path>
            </a:pathLst>
          </a:custGeom>
          <a:blipFill>
            <a:blip r:embed="rId3"/>
            <a:stretch>
              <a:fillRect l="0" t="0" r="0" b="0"/>
            </a:stretch>
          </a:blipFill>
        </p:spPr>
      </p:sp>
      <p:sp>
        <p:nvSpPr>
          <p:cNvPr name="Freeform 7" id="7"/>
          <p:cNvSpPr/>
          <p:nvPr/>
        </p:nvSpPr>
        <p:spPr>
          <a:xfrm flipH="false" flipV="false" rot="0">
            <a:off x="3197702" y="7775872"/>
            <a:ext cx="4397808" cy="1482428"/>
          </a:xfrm>
          <a:custGeom>
            <a:avLst/>
            <a:gdLst/>
            <a:ahLst/>
            <a:cxnLst/>
            <a:rect r="r" b="b" t="t" l="l"/>
            <a:pathLst>
              <a:path h="1482428" w="4397808">
                <a:moveTo>
                  <a:pt x="0" y="0"/>
                </a:moveTo>
                <a:lnTo>
                  <a:pt x="4397808" y="0"/>
                </a:lnTo>
                <a:lnTo>
                  <a:pt x="4397808" y="1482428"/>
                </a:lnTo>
                <a:lnTo>
                  <a:pt x="0" y="1482428"/>
                </a:lnTo>
                <a:lnTo>
                  <a:pt x="0" y="0"/>
                </a:lnTo>
                <a:close/>
              </a:path>
            </a:pathLst>
          </a:custGeom>
          <a:blipFill>
            <a:blip r:embed="rId4"/>
            <a:stretch>
              <a:fillRect l="0" t="0" r="0" b="0"/>
            </a:stretch>
          </a:blipFill>
        </p:spPr>
      </p:sp>
      <p:sp>
        <p:nvSpPr>
          <p:cNvPr name="Freeform 8" id="8"/>
          <p:cNvSpPr/>
          <p:nvPr/>
        </p:nvSpPr>
        <p:spPr>
          <a:xfrm flipH="false" flipV="false" rot="0">
            <a:off x="8668593" y="-131821"/>
            <a:ext cx="9619407" cy="5143500"/>
          </a:xfrm>
          <a:custGeom>
            <a:avLst/>
            <a:gdLst/>
            <a:ahLst/>
            <a:cxnLst/>
            <a:rect r="r" b="b" t="t" l="l"/>
            <a:pathLst>
              <a:path h="5143500" w="9619407">
                <a:moveTo>
                  <a:pt x="0" y="0"/>
                </a:moveTo>
                <a:lnTo>
                  <a:pt x="9619407" y="0"/>
                </a:lnTo>
                <a:lnTo>
                  <a:pt x="9619407" y="5143500"/>
                </a:lnTo>
                <a:lnTo>
                  <a:pt x="0" y="5143500"/>
                </a:lnTo>
                <a:lnTo>
                  <a:pt x="0" y="0"/>
                </a:lnTo>
                <a:close/>
              </a:path>
            </a:pathLst>
          </a:custGeom>
          <a:blipFill>
            <a:blip r:embed="rId3"/>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275" y="-661649"/>
            <a:ext cx="2353895" cy="11610298"/>
            <a:chOff x="0" y="0"/>
            <a:chExt cx="796256" cy="3927434"/>
          </a:xfrm>
        </p:grpSpPr>
        <p:sp>
          <p:nvSpPr>
            <p:cNvPr name="Freeform 3" id="3"/>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4" id="4"/>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5" id="5"/>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6" id="6"/>
          <p:cNvSpPr/>
          <p:nvPr/>
        </p:nvSpPr>
        <p:spPr>
          <a:xfrm flipH="false" flipV="false" rot="0">
            <a:off x="2374676" y="8743663"/>
            <a:ext cx="2964555" cy="1200645"/>
          </a:xfrm>
          <a:custGeom>
            <a:avLst/>
            <a:gdLst/>
            <a:ahLst/>
            <a:cxnLst/>
            <a:rect r="r" b="b" t="t" l="l"/>
            <a:pathLst>
              <a:path h="1200645" w="2964555">
                <a:moveTo>
                  <a:pt x="0" y="0"/>
                </a:moveTo>
                <a:lnTo>
                  <a:pt x="2964555" y="0"/>
                </a:lnTo>
                <a:lnTo>
                  <a:pt x="2964555" y="1200645"/>
                </a:lnTo>
                <a:lnTo>
                  <a:pt x="0" y="1200645"/>
                </a:lnTo>
                <a:lnTo>
                  <a:pt x="0" y="0"/>
                </a:lnTo>
                <a:close/>
              </a:path>
            </a:pathLst>
          </a:custGeom>
          <a:blipFill>
            <a:blip r:embed="rId3"/>
            <a:stretch>
              <a:fillRect l="0" t="0" r="0" b="0"/>
            </a:stretch>
          </a:blipFill>
        </p:spPr>
      </p:sp>
      <p:sp>
        <p:nvSpPr>
          <p:cNvPr name="Freeform 7" id="7"/>
          <p:cNvSpPr/>
          <p:nvPr/>
        </p:nvSpPr>
        <p:spPr>
          <a:xfrm flipH="false" flipV="false" rot="0">
            <a:off x="5172116" y="8611397"/>
            <a:ext cx="3828420" cy="1465177"/>
          </a:xfrm>
          <a:custGeom>
            <a:avLst/>
            <a:gdLst/>
            <a:ahLst/>
            <a:cxnLst/>
            <a:rect r="r" b="b" t="t" l="l"/>
            <a:pathLst>
              <a:path h="1465177" w="3828420">
                <a:moveTo>
                  <a:pt x="0" y="0"/>
                </a:moveTo>
                <a:lnTo>
                  <a:pt x="3828420" y="0"/>
                </a:lnTo>
                <a:lnTo>
                  <a:pt x="3828420" y="1465177"/>
                </a:lnTo>
                <a:lnTo>
                  <a:pt x="0" y="1465177"/>
                </a:lnTo>
                <a:lnTo>
                  <a:pt x="0" y="0"/>
                </a:lnTo>
                <a:close/>
              </a:path>
            </a:pathLst>
          </a:custGeom>
          <a:blipFill>
            <a:blip r:embed="rId4"/>
            <a:stretch>
              <a:fillRect l="0" t="-32838" r="0" b="-41357"/>
            </a:stretch>
          </a:blipFill>
        </p:spPr>
      </p:sp>
      <p:sp>
        <p:nvSpPr>
          <p:cNvPr name="Freeform 8" id="8"/>
          <p:cNvSpPr/>
          <p:nvPr/>
        </p:nvSpPr>
        <p:spPr>
          <a:xfrm flipH="false" flipV="false" rot="0">
            <a:off x="3994288" y="7647962"/>
            <a:ext cx="3195523" cy="963435"/>
          </a:xfrm>
          <a:custGeom>
            <a:avLst/>
            <a:gdLst/>
            <a:ahLst/>
            <a:cxnLst/>
            <a:rect r="r" b="b" t="t" l="l"/>
            <a:pathLst>
              <a:path h="963435" w="3195523">
                <a:moveTo>
                  <a:pt x="0" y="0"/>
                </a:moveTo>
                <a:lnTo>
                  <a:pt x="3195523" y="0"/>
                </a:lnTo>
                <a:lnTo>
                  <a:pt x="3195523" y="963435"/>
                </a:lnTo>
                <a:lnTo>
                  <a:pt x="0" y="963435"/>
                </a:lnTo>
                <a:lnTo>
                  <a:pt x="0" y="0"/>
                </a:lnTo>
                <a:close/>
              </a:path>
            </a:pathLst>
          </a:custGeom>
          <a:blipFill>
            <a:blip r:embed="rId5"/>
            <a:stretch>
              <a:fillRect l="0" t="-117926" r="0" b="-115234"/>
            </a:stretch>
          </a:blipFill>
        </p:spPr>
      </p:sp>
      <p:sp>
        <p:nvSpPr>
          <p:cNvPr name="Freeform 9" id="9"/>
          <p:cNvSpPr/>
          <p:nvPr/>
        </p:nvSpPr>
        <p:spPr>
          <a:xfrm flipH="false" flipV="false" rot="0">
            <a:off x="10086412" y="5519547"/>
            <a:ext cx="3805853" cy="4424760"/>
          </a:xfrm>
          <a:custGeom>
            <a:avLst/>
            <a:gdLst/>
            <a:ahLst/>
            <a:cxnLst/>
            <a:rect r="r" b="b" t="t" l="l"/>
            <a:pathLst>
              <a:path h="4424760" w="3805853">
                <a:moveTo>
                  <a:pt x="0" y="0"/>
                </a:moveTo>
                <a:lnTo>
                  <a:pt x="3805852" y="0"/>
                </a:lnTo>
                <a:lnTo>
                  <a:pt x="3805852" y="4424761"/>
                </a:lnTo>
                <a:lnTo>
                  <a:pt x="0" y="4424761"/>
                </a:lnTo>
                <a:lnTo>
                  <a:pt x="0" y="0"/>
                </a:lnTo>
                <a:close/>
              </a:path>
            </a:pathLst>
          </a:custGeom>
          <a:blipFill>
            <a:blip r:embed="rId6"/>
            <a:stretch>
              <a:fillRect l="0" t="-41700" r="0" b="-11210"/>
            </a:stretch>
          </a:blipFill>
        </p:spPr>
      </p:sp>
      <p:sp>
        <p:nvSpPr>
          <p:cNvPr name="Freeform 10" id="10"/>
          <p:cNvSpPr/>
          <p:nvPr/>
        </p:nvSpPr>
        <p:spPr>
          <a:xfrm flipH="false" flipV="false" rot="0">
            <a:off x="7410176" y="253096"/>
            <a:ext cx="6482088" cy="4890404"/>
          </a:xfrm>
          <a:custGeom>
            <a:avLst/>
            <a:gdLst/>
            <a:ahLst/>
            <a:cxnLst/>
            <a:rect r="r" b="b" t="t" l="l"/>
            <a:pathLst>
              <a:path h="4890404" w="6482088">
                <a:moveTo>
                  <a:pt x="0" y="0"/>
                </a:moveTo>
                <a:lnTo>
                  <a:pt x="6482088" y="0"/>
                </a:lnTo>
                <a:lnTo>
                  <a:pt x="6482088" y="4890404"/>
                </a:lnTo>
                <a:lnTo>
                  <a:pt x="0" y="4890404"/>
                </a:lnTo>
                <a:lnTo>
                  <a:pt x="0" y="0"/>
                </a:lnTo>
                <a:close/>
              </a:path>
            </a:pathLst>
          </a:custGeom>
          <a:blipFill>
            <a:blip r:embed="rId7"/>
            <a:stretch>
              <a:fillRect l="-21161" t="-62501" r="0" b="-51626"/>
            </a:stretch>
          </a:blipFill>
        </p:spPr>
      </p:sp>
      <p:sp>
        <p:nvSpPr>
          <p:cNvPr name="Freeform 11" id="11"/>
          <p:cNvSpPr/>
          <p:nvPr/>
        </p:nvSpPr>
        <p:spPr>
          <a:xfrm flipH="false" flipV="false" rot="0">
            <a:off x="14404880" y="253096"/>
            <a:ext cx="3548627" cy="4890404"/>
          </a:xfrm>
          <a:custGeom>
            <a:avLst/>
            <a:gdLst/>
            <a:ahLst/>
            <a:cxnLst/>
            <a:rect r="r" b="b" t="t" l="l"/>
            <a:pathLst>
              <a:path h="4890404" w="3548627">
                <a:moveTo>
                  <a:pt x="0" y="0"/>
                </a:moveTo>
                <a:lnTo>
                  <a:pt x="3548627" y="0"/>
                </a:lnTo>
                <a:lnTo>
                  <a:pt x="3548627" y="4890404"/>
                </a:lnTo>
                <a:lnTo>
                  <a:pt x="0" y="4890404"/>
                </a:lnTo>
                <a:lnTo>
                  <a:pt x="0" y="0"/>
                </a:lnTo>
                <a:close/>
              </a:path>
            </a:pathLst>
          </a:custGeom>
          <a:blipFill>
            <a:blip r:embed="rId8"/>
            <a:stretch>
              <a:fillRect l="0" t="-30914" r="-22228" b="-26760"/>
            </a:stretch>
          </a:blipFill>
        </p:spPr>
      </p:sp>
      <p:sp>
        <p:nvSpPr>
          <p:cNvPr name="Freeform 12" id="12"/>
          <p:cNvSpPr/>
          <p:nvPr/>
        </p:nvSpPr>
        <p:spPr>
          <a:xfrm flipH="false" flipV="false" rot="0">
            <a:off x="2448263" y="253096"/>
            <a:ext cx="4638063" cy="4811929"/>
          </a:xfrm>
          <a:custGeom>
            <a:avLst/>
            <a:gdLst/>
            <a:ahLst/>
            <a:cxnLst/>
            <a:rect r="r" b="b" t="t" l="l"/>
            <a:pathLst>
              <a:path h="4811929" w="4638063">
                <a:moveTo>
                  <a:pt x="0" y="0"/>
                </a:moveTo>
                <a:lnTo>
                  <a:pt x="4638063" y="0"/>
                </a:lnTo>
                <a:lnTo>
                  <a:pt x="4638063" y="4811929"/>
                </a:lnTo>
                <a:lnTo>
                  <a:pt x="0" y="4811929"/>
                </a:lnTo>
                <a:lnTo>
                  <a:pt x="0" y="0"/>
                </a:lnTo>
                <a:close/>
              </a:path>
            </a:pathLst>
          </a:custGeom>
          <a:blipFill>
            <a:blip r:embed="rId9"/>
            <a:stretch>
              <a:fillRect l="-3295" t="0" r="-3295" b="0"/>
            </a:stretch>
          </a:blipFill>
        </p:spPr>
      </p:sp>
      <p:sp>
        <p:nvSpPr>
          <p:cNvPr name="Freeform 13" id="13"/>
          <p:cNvSpPr/>
          <p:nvPr/>
        </p:nvSpPr>
        <p:spPr>
          <a:xfrm flipH="false" flipV="false" rot="0">
            <a:off x="14377718" y="5519547"/>
            <a:ext cx="3575789" cy="4424760"/>
          </a:xfrm>
          <a:custGeom>
            <a:avLst/>
            <a:gdLst/>
            <a:ahLst/>
            <a:cxnLst/>
            <a:rect r="r" b="b" t="t" l="l"/>
            <a:pathLst>
              <a:path h="4424760" w="3575789">
                <a:moveTo>
                  <a:pt x="0" y="0"/>
                </a:moveTo>
                <a:lnTo>
                  <a:pt x="3575789" y="0"/>
                </a:lnTo>
                <a:lnTo>
                  <a:pt x="3575789" y="4424761"/>
                </a:lnTo>
                <a:lnTo>
                  <a:pt x="0" y="4424761"/>
                </a:lnTo>
                <a:lnTo>
                  <a:pt x="0" y="0"/>
                </a:lnTo>
                <a:close/>
              </a:path>
            </a:pathLst>
          </a:custGeom>
          <a:blipFill>
            <a:blip r:embed="rId10"/>
            <a:stretch>
              <a:fillRect l="0" t="-36396" r="0" b="-7271"/>
            </a:stretch>
          </a:blipFill>
        </p:spPr>
      </p:sp>
      <p:sp>
        <p:nvSpPr>
          <p:cNvPr name="TextBox 14" id="14"/>
          <p:cNvSpPr txBox="true"/>
          <p:nvPr/>
        </p:nvSpPr>
        <p:spPr>
          <a:xfrm rot="0">
            <a:off x="2667557" y="5737746"/>
            <a:ext cx="6875917" cy="1527689"/>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ENVIRONMENTAL SEMINAR</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28828" y="9419064"/>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grpSp>
        <p:nvGrpSpPr>
          <p:cNvPr name="Group 3" id="3"/>
          <p:cNvGrpSpPr/>
          <p:nvPr/>
        </p:nvGrpSpPr>
        <p:grpSpPr>
          <a:xfrm rot="0">
            <a:off x="-229275" y="-661649"/>
            <a:ext cx="2353895" cy="11610298"/>
            <a:chOff x="0" y="0"/>
            <a:chExt cx="796256" cy="3927434"/>
          </a:xfrm>
        </p:grpSpPr>
        <p:sp>
          <p:nvSpPr>
            <p:cNvPr name="Freeform 4" id="4"/>
            <p:cNvSpPr/>
            <p:nvPr/>
          </p:nvSpPr>
          <p:spPr>
            <a:xfrm flipH="false" flipV="false" rot="0">
              <a:off x="0" y="0"/>
              <a:ext cx="796256" cy="3927434"/>
            </a:xfrm>
            <a:custGeom>
              <a:avLst/>
              <a:gdLst/>
              <a:ahLst/>
              <a:cxnLst/>
              <a:rect r="r" b="b" t="t" l="l"/>
              <a:pathLst>
                <a:path h="3927434" w="796256">
                  <a:moveTo>
                    <a:pt x="0" y="0"/>
                  </a:moveTo>
                  <a:lnTo>
                    <a:pt x="796256" y="0"/>
                  </a:lnTo>
                  <a:lnTo>
                    <a:pt x="796256" y="3927434"/>
                  </a:lnTo>
                  <a:lnTo>
                    <a:pt x="0" y="3927434"/>
                  </a:lnTo>
                  <a:close/>
                </a:path>
              </a:pathLst>
            </a:custGeom>
            <a:solidFill>
              <a:srgbClr val="0D2A4E"/>
            </a:solidFill>
          </p:spPr>
        </p:sp>
      </p:grpSp>
      <p:sp>
        <p:nvSpPr>
          <p:cNvPr name="Freeform 5" id="5"/>
          <p:cNvSpPr/>
          <p:nvPr/>
        </p:nvSpPr>
        <p:spPr>
          <a:xfrm flipH="false" flipV="false" rot="-5400000">
            <a:off x="-1171710" y="4541477"/>
            <a:ext cx="4400821" cy="1047096"/>
          </a:xfrm>
          <a:custGeom>
            <a:avLst/>
            <a:gdLst/>
            <a:ahLst/>
            <a:cxnLst/>
            <a:rect r="r" b="b" t="t" l="l"/>
            <a:pathLst>
              <a:path h="1047096" w="4400821">
                <a:moveTo>
                  <a:pt x="0" y="0"/>
                </a:moveTo>
                <a:lnTo>
                  <a:pt x="4400820" y="0"/>
                </a:lnTo>
                <a:lnTo>
                  <a:pt x="4400820" y="1047096"/>
                </a:lnTo>
                <a:lnTo>
                  <a:pt x="0" y="1047096"/>
                </a:lnTo>
                <a:lnTo>
                  <a:pt x="0" y="0"/>
                </a:lnTo>
                <a:close/>
              </a:path>
            </a:pathLst>
          </a:custGeom>
          <a:blipFill>
            <a:blip r:embed="rId2"/>
            <a:stretch>
              <a:fillRect l="-2336" t="0" r="0" b="0"/>
            </a:stretch>
          </a:blipFill>
        </p:spPr>
      </p:sp>
      <p:sp>
        <p:nvSpPr>
          <p:cNvPr name="Freeform 6" id="6"/>
          <p:cNvSpPr/>
          <p:nvPr/>
        </p:nvSpPr>
        <p:spPr>
          <a:xfrm flipH="false" flipV="false" rot="0">
            <a:off x="3476954" y="7996214"/>
            <a:ext cx="4769216" cy="1947631"/>
          </a:xfrm>
          <a:custGeom>
            <a:avLst/>
            <a:gdLst/>
            <a:ahLst/>
            <a:cxnLst/>
            <a:rect r="r" b="b" t="t" l="l"/>
            <a:pathLst>
              <a:path h="1947631" w="4769216">
                <a:moveTo>
                  <a:pt x="0" y="0"/>
                </a:moveTo>
                <a:lnTo>
                  <a:pt x="4769216" y="0"/>
                </a:lnTo>
                <a:lnTo>
                  <a:pt x="4769216" y="1947631"/>
                </a:lnTo>
                <a:lnTo>
                  <a:pt x="0" y="1947631"/>
                </a:lnTo>
                <a:lnTo>
                  <a:pt x="0" y="0"/>
                </a:lnTo>
                <a:close/>
              </a:path>
            </a:pathLst>
          </a:custGeom>
          <a:blipFill>
            <a:blip r:embed="rId3"/>
            <a:stretch>
              <a:fillRect l="0" t="-69615" r="-562" b="-76633"/>
            </a:stretch>
          </a:blipFill>
        </p:spPr>
      </p:sp>
      <p:sp>
        <p:nvSpPr>
          <p:cNvPr name="Freeform 7" id="7"/>
          <p:cNvSpPr/>
          <p:nvPr/>
        </p:nvSpPr>
        <p:spPr>
          <a:xfrm flipH="false" flipV="false" rot="0">
            <a:off x="2644364" y="568877"/>
            <a:ext cx="3819810" cy="4574623"/>
          </a:xfrm>
          <a:custGeom>
            <a:avLst/>
            <a:gdLst/>
            <a:ahLst/>
            <a:cxnLst/>
            <a:rect r="r" b="b" t="t" l="l"/>
            <a:pathLst>
              <a:path h="4574623" w="3819810">
                <a:moveTo>
                  <a:pt x="0" y="0"/>
                </a:moveTo>
                <a:lnTo>
                  <a:pt x="3819811" y="0"/>
                </a:lnTo>
                <a:lnTo>
                  <a:pt x="3819811" y="4574623"/>
                </a:lnTo>
                <a:lnTo>
                  <a:pt x="0" y="4574623"/>
                </a:lnTo>
                <a:lnTo>
                  <a:pt x="0" y="0"/>
                </a:lnTo>
                <a:close/>
              </a:path>
            </a:pathLst>
          </a:custGeom>
          <a:blipFill>
            <a:blip r:embed="rId4"/>
            <a:stretch>
              <a:fillRect l="0" t="0" r="0" b="0"/>
            </a:stretch>
          </a:blipFill>
        </p:spPr>
      </p:sp>
      <p:sp>
        <p:nvSpPr>
          <p:cNvPr name="Freeform 8" id="8"/>
          <p:cNvSpPr/>
          <p:nvPr/>
        </p:nvSpPr>
        <p:spPr>
          <a:xfrm flipH="false" flipV="false" rot="0">
            <a:off x="6988050" y="568877"/>
            <a:ext cx="3591079" cy="4574623"/>
          </a:xfrm>
          <a:custGeom>
            <a:avLst/>
            <a:gdLst/>
            <a:ahLst/>
            <a:cxnLst/>
            <a:rect r="r" b="b" t="t" l="l"/>
            <a:pathLst>
              <a:path h="4574623" w="3591079">
                <a:moveTo>
                  <a:pt x="0" y="0"/>
                </a:moveTo>
                <a:lnTo>
                  <a:pt x="3591079" y="0"/>
                </a:lnTo>
                <a:lnTo>
                  <a:pt x="3591079" y="4574623"/>
                </a:lnTo>
                <a:lnTo>
                  <a:pt x="0" y="4574623"/>
                </a:lnTo>
                <a:lnTo>
                  <a:pt x="0" y="0"/>
                </a:lnTo>
                <a:close/>
              </a:path>
            </a:pathLst>
          </a:custGeom>
          <a:blipFill>
            <a:blip r:embed="rId5"/>
            <a:stretch>
              <a:fillRect l="0" t="0" r="0" b="0"/>
            </a:stretch>
          </a:blipFill>
        </p:spPr>
      </p:sp>
      <p:sp>
        <p:nvSpPr>
          <p:cNvPr name="Freeform 9" id="9"/>
          <p:cNvSpPr/>
          <p:nvPr/>
        </p:nvSpPr>
        <p:spPr>
          <a:xfrm flipH="false" flipV="false" rot="0">
            <a:off x="10926148" y="568877"/>
            <a:ext cx="6801808" cy="4574623"/>
          </a:xfrm>
          <a:custGeom>
            <a:avLst/>
            <a:gdLst/>
            <a:ahLst/>
            <a:cxnLst/>
            <a:rect r="r" b="b" t="t" l="l"/>
            <a:pathLst>
              <a:path h="4574623" w="6801808">
                <a:moveTo>
                  <a:pt x="0" y="0"/>
                </a:moveTo>
                <a:lnTo>
                  <a:pt x="6801808" y="0"/>
                </a:lnTo>
                <a:lnTo>
                  <a:pt x="6801808" y="4574623"/>
                </a:lnTo>
                <a:lnTo>
                  <a:pt x="0" y="4574623"/>
                </a:lnTo>
                <a:lnTo>
                  <a:pt x="0" y="0"/>
                </a:lnTo>
                <a:close/>
              </a:path>
            </a:pathLst>
          </a:custGeom>
          <a:blipFill>
            <a:blip r:embed="rId6"/>
            <a:stretch>
              <a:fillRect l="-7502" t="0" r="-13136" b="0"/>
            </a:stretch>
          </a:blipFill>
        </p:spPr>
      </p:sp>
      <p:sp>
        <p:nvSpPr>
          <p:cNvPr name="Freeform 10" id="10"/>
          <p:cNvSpPr/>
          <p:nvPr/>
        </p:nvSpPr>
        <p:spPr>
          <a:xfrm flipH="false" flipV="false" rot="0">
            <a:off x="10072324" y="5685400"/>
            <a:ext cx="7655633" cy="4258446"/>
          </a:xfrm>
          <a:custGeom>
            <a:avLst/>
            <a:gdLst/>
            <a:ahLst/>
            <a:cxnLst/>
            <a:rect r="r" b="b" t="t" l="l"/>
            <a:pathLst>
              <a:path h="4258446" w="7655633">
                <a:moveTo>
                  <a:pt x="0" y="0"/>
                </a:moveTo>
                <a:lnTo>
                  <a:pt x="7655632" y="0"/>
                </a:lnTo>
                <a:lnTo>
                  <a:pt x="7655632" y="4258445"/>
                </a:lnTo>
                <a:lnTo>
                  <a:pt x="0" y="4258445"/>
                </a:lnTo>
                <a:lnTo>
                  <a:pt x="0" y="0"/>
                </a:lnTo>
                <a:close/>
              </a:path>
            </a:pathLst>
          </a:custGeom>
          <a:blipFill>
            <a:blip r:embed="rId7"/>
            <a:stretch>
              <a:fillRect l="0" t="0" r="0" b="0"/>
            </a:stretch>
          </a:blipFill>
        </p:spPr>
      </p:sp>
      <p:sp>
        <p:nvSpPr>
          <p:cNvPr name="TextBox 11" id="11"/>
          <p:cNvSpPr txBox="true"/>
          <p:nvPr/>
        </p:nvSpPr>
        <p:spPr>
          <a:xfrm rot="0">
            <a:off x="2607699" y="5733025"/>
            <a:ext cx="6507726" cy="1527689"/>
          </a:xfrm>
          <a:prstGeom prst="rect">
            <a:avLst/>
          </a:prstGeom>
        </p:spPr>
        <p:txBody>
          <a:bodyPr anchor="t" rtlCol="false" tIns="0" lIns="0" bIns="0" rIns="0">
            <a:spAutoFit/>
          </a:bodyPr>
          <a:lstStyle/>
          <a:p>
            <a:pPr algn="ctr">
              <a:lnSpc>
                <a:spcPts val="6132"/>
              </a:lnSpc>
            </a:pPr>
            <a:r>
              <a:rPr lang="en-US" b="true" sz="5574" spc="278">
                <a:solidFill>
                  <a:srgbClr val="1D1D1F"/>
                </a:solidFill>
                <a:latin typeface="Playfair Display Bold"/>
                <a:ea typeface="Playfair Display Bold"/>
                <a:cs typeface="Playfair Display Bold"/>
                <a:sym typeface="Playfair Display Bold"/>
              </a:rPr>
              <a:t>MSME TRAINING RUMAH BUMN</a:t>
            </a:r>
          </a:p>
        </p:txBody>
      </p:sp>
      <p:sp>
        <p:nvSpPr>
          <p:cNvPr name="TextBox 12" id="12"/>
          <p:cNvSpPr txBox="true"/>
          <p:nvPr/>
        </p:nvSpPr>
        <p:spPr>
          <a:xfrm rot="0">
            <a:off x="2636274" y="7441878"/>
            <a:ext cx="6507726" cy="439420"/>
          </a:xfrm>
          <a:prstGeom prst="rect">
            <a:avLst/>
          </a:prstGeom>
        </p:spPr>
        <p:txBody>
          <a:bodyPr anchor="t" rtlCol="false" tIns="0" lIns="0" bIns="0" rIns="0">
            <a:spAutoFit/>
          </a:bodyPr>
          <a:lstStyle/>
          <a:p>
            <a:pPr algn="ctr">
              <a:lnSpc>
                <a:spcPts val="1759"/>
              </a:lnSpc>
            </a:pPr>
            <a:r>
              <a:rPr lang="en-US" b="true" sz="1599" spc="79">
                <a:solidFill>
                  <a:srgbClr val="1D1D1F"/>
                </a:solidFill>
                <a:latin typeface="Playfair Display Bold"/>
                <a:ea typeface="Playfair Display Bold"/>
                <a:cs typeface="Playfair Display Bold"/>
                <a:sym typeface="Playfair Display Bold"/>
              </a:rPr>
              <a:t>Surabaya, Purbalingga, Labuan Bajo, Yogyakarta, Jakarta, Bojonegoro, Kabanjahe, Samarinda, Pekalongan, dst.</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1545610">
            <a:off x="12858624" y="-2776653"/>
            <a:ext cx="5778171" cy="6834256"/>
          </a:xfrm>
          <a:custGeom>
            <a:avLst/>
            <a:gdLst/>
            <a:ahLst/>
            <a:cxnLst/>
            <a:rect r="r" b="b" t="t" l="l"/>
            <a:pathLst>
              <a:path h="6834256" w="5778171">
                <a:moveTo>
                  <a:pt x="0" y="0"/>
                </a:moveTo>
                <a:lnTo>
                  <a:pt x="5778171" y="0"/>
                </a:lnTo>
                <a:lnTo>
                  <a:pt x="5778171" y="6834256"/>
                </a:lnTo>
                <a:lnTo>
                  <a:pt x="0" y="6834256"/>
                </a:lnTo>
                <a:lnTo>
                  <a:pt x="0" y="0"/>
                </a:lnTo>
                <a:close/>
              </a:path>
            </a:pathLst>
          </a:custGeom>
          <a:blipFill>
            <a:blip r:embed="rId2">
              <a:alphaModFix amt="5000"/>
            </a:blip>
            <a:stretch>
              <a:fillRect l="0" t="0" r="-408718" b="0"/>
            </a:stretch>
          </a:blipFill>
        </p:spPr>
      </p:sp>
      <p:sp>
        <p:nvSpPr>
          <p:cNvPr name="Freeform 3" id="3"/>
          <p:cNvSpPr/>
          <p:nvPr/>
        </p:nvSpPr>
        <p:spPr>
          <a:xfrm flipH="false" flipV="false" rot="0">
            <a:off x="653765" y="505695"/>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2623887" y="-3374257"/>
            <a:ext cx="7305173" cy="7305173"/>
          </a:xfrm>
          <a:custGeom>
            <a:avLst/>
            <a:gdLst/>
            <a:ahLst/>
            <a:cxnLst/>
            <a:rect r="r" b="b" t="t" l="l"/>
            <a:pathLst>
              <a:path h="7305173" w="7305173">
                <a:moveTo>
                  <a:pt x="0" y="0"/>
                </a:moveTo>
                <a:lnTo>
                  <a:pt x="7305174" y="0"/>
                </a:lnTo>
                <a:lnTo>
                  <a:pt x="7305174" y="7305173"/>
                </a:lnTo>
                <a:lnTo>
                  <a:pt x="0" y="7305173"/>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807367" y="2022740"/>
            <a:ext cx="3403993" cy="4360412"/>
            <a:chOff x="0" y="0"/>
            <a:chExt cx="648199" cy="830323"/>
          </a:xfrm>
        </p:grpSpPr>
        <p:sp>
          <p:nvSpPr>
            <p:cNvPr name="Freeform 6" id="6"/>
            <p:cNvSpPr/>
            <p:nvPr/>
          </p:nvSpPr>
          <p:spPr>
            <a:xfrm flipH="false" flipV="false" rot="0">
              <a:off x="0" y="0"/>
              <a:ext cx="648199" cy="830323"/>
            </a:xfrm>
            <a:custGeom>
              <a:avLst/>
              <a:gdLst/>
              <a:ahLst/>
              <a:cxnLst/>
              <a:rect r="r" b="b" t="t" l="l"/>
              <a:pathLst>
                <a:path h="830323" w="648199">
                  <a:moveTo>
                    <a:pt x="68231" y="0"/>
                  </a:moveTo>
                  <a:lnTo>
                    <a:pt x="579968" y="0"/>
                  </a:lnTo>
                  <a:cubicBezTo>
                    <a:pt x="598064" y="0"/>
                    <a:pt x="615419" y="7189"/>
                    <a:pt x="628214" y="19984"/>
                  </a:cubicBezTo>
                  <a:cubicBezTo>
                    <a:pt x="641010" y="32780"/>
                    <a:pt x="648199" y="50135"/>
                    <a:pt x="648199" y="68231"/>
                  </a:cubicBezTo>
                  <a:lnTo>
                    <a:pt x="648199" y="762092"/>
                  </a:lnTo>
                  <a:cubicBezTo>
                    <a:pt x="648199" y="780188"/>
                    <a:pt x="641010" y="797543"/>
                    <a:pt x="628214" y="810339"/>
                  </a:cubicBezTo>
                  <a:cubicBezTo>
                    <a:pt x="615419" y="823135"/>
                    <a:pt x="598064" y="830323"/>
                    <a:pt x="579968" y="830323"/>
                  </a:cubicBezTo>
                  <a:lnTo>
                    <a:pt x="68231" y="830323"/>
                  </a:lnTo>
                  <a:cubicBezTo>
                    <a:pt x="50135" y="830323"/>
                    <a:pt x="32780" y="823135"/>
                    <a:pt x="19984" y="810339"/>
                  </a:cubicBezTo>
                  <a:cubicBezTo>
                    <a:pt x="7189" y="797543"/>
                    <a:pt x="0" y="780188"/>
                    <a:pt x="0" y="762092"/>
                  </a:cubicBezTo>
                  <a:lnTo>
                    <a:pt x="0" y="68231"/>
                  </a:lnTo>
                  <a:cubicBezTo>
                    <a:pt x="0" y="50135"/>
                    <a:pt x="7189" y="32780"/>
                    <a:pt x="19984" y="19984"/>
                  </a:cubicBezTo>
                  <a:cubicBezTo>
                    <a:pt x="32780" y="7189"/>
                    <a:pt x="50135" y="0"/>
                    <a:pt x="68231" y="0"/>
                  </a:cubicBezTo>
                  <a:close/>
                </a:path>
              </a:pathLst>
            </a:custGeom>
            <a:solidFill>
              <a:srgbClr val="0B3360"/>
            </a:solidFill>
            <a:ln w="28575" cap="rnd">
              <a:solidFill>
                <a:srgbClr val="FFFFFF"/>
              </a:solidFill>
              <a:prstDash val="solid"/>
              <a:round/>
            </a:ln>
          </p:spPr>
        </p:sp>
        <p:sp>
          <p:nvSpPr>
            <p:cNvPr name="TextBox 7" id="7"/>
            <p:cNvSpPr txBox="true"/>
            <p:nvPr/>
          </p:nvSpPr>
          <p:spPr>
            <a:xfrm>
              <a:off x="0" y="-19050"/>
              <a:ext cx="648199" cy="849373"/>
            </a:xfrm>
            <a:prstGeom prst="rect">
              <a:avLst/>
            </a:prstGeom>
          </p:spPr>
          <p:txBody>
            <a:bodyPr anchor="ctr" rtlCol="false" tIns="107619" lIns="107619" bIns="107619" rIns="107619"/>
            <a:lstStyle/>
            <a:p>
              <a:pPr algn="ctr">
                <a:lnSpc>
                  <a:spcPts val="1916"/>
                </a:lnSpc>
              </a:pPr>
            </a:p>
          </p:txBody>
        </p:sp>
      </p:grpSp>
      <p:grpSp>
        <p:nvGrpSpPr>
          <p:cNvPr name="Group 8" id="8"/>
          <p:cNvGrpSpPr/>
          <p:nvPr/>
        </p:nvGrpSpPr>
        <p:grpSpPr>
          <a:xfrm rot="0">
            <a:off x="4032617" y="1708992"/>
            <a:ext cx="2953493" cy="627496"/>
            <a:chOff x="0" y="0"/>
            <a:chExt cx="562413" cy="119490"/>
          </a:xfrm>
        </p:grpSpPr>
        <p:sp>
          <p:nvSpPr>
            <p:cNvPr name="Freeform 9" id="9"/>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10" id="10"/>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sp>
        <p:nvSpPr>
          <p:cNvPr name="Freeform 11" id="11"/>
          <p:cNvSpPr/>
          <p:nvPr/>
        </p:nvSpPr>
        <p:spPr>
          <a:xfrm flipH="false" flipV="false" rot="0">
            <a:off x="4125031" y="2491292"/>
            <a:ext cx="2809178" cy="580825"/>
          </a:xfrm>
          <a:custGeom>
            <a:avLst/>
            <a:gdLst/>
            <a:ahLst/>
            <a:cxnLst/>
            <a:rect r="r" b="b" t="t" l="l"/>
            <a:pathLst>
              <a:path h="580825" w="2809178">
                <a:moveTo>
                  <a:pt x="0" y="0"/>
                </a:moveTo>
                <a:lnTo>
                  <a:pt x="2809178" y="0"/>
                </a:lnTo>
                <a:lnTo>
                  <a:pt x="2809178" y="580825"/>
                </a:lnTo>
                <a:lnTo>
                  <a:pt x="0" y="580825"/>
                </a:lnTo>
                <a:lnTo>
                  <a:pt x="0" y="0"/>
                </a:lnTo>
                <a:close/>
              </a:path>
            </a:pathLst>
          </a:custGeom>
          <a:blipFill>
            <a:blip r:embed="rId5"/>
            <a:stretch>
              <a:fillRect l="0" t="-191349" r="0" b="-192303"/>
            </a:stretch>
          </a:blipFill>
        </p:spPr>
      </p:sp>
      <p:sp>
        <p:nvSpPr>
          <p:cNvPr name="TextBox 12" id="12"/>
          <p:cNvSpPr txBox="true"/>
          <p:nvPr/>
        </p:nvSpPr>
        <p:spPr>
          <a:xfrm rot="0">
            <a:off x="3847548" y="1787004"/>
            <a:ext cx="3323630" cy="370913"/>
          </a:xfrm>
          <a:prstGeom prst="rect">
            <a:avLst/>
          </a:prstGeom>
        </p:spPr>
        <p:txBody>
          <a:bodyPr anchor="t" rtlCol="false" tIns="0" lIns="0" bIns="0" rIns="0">
            <a:spAutoFit/>
          </a:bodyPr>
          <a:lstStyle/>
          <a:p>
            <a:pPr algn="ctr">
              <a:lnSpc>
                <a:spcPts val="2462"/>
              </a:lnSpc>
            </a:pPr>
            <a:r>
              <a:rPr lang="en-US" b="true" sz="1985" spc="19">
                <a:solidFill>
                  <a:srgbClr val="000000"/>
                </a:solidFill>
                <a:latin typeface="Mont 2 Heavy"/>
                <a:ea typeface="Mont 2 Heavy"/>
                <a:cs typeface="Mont 2 Heavy"/>
                <a:sym typeface="Mont 2 Heavy"/>
              </a:rPr>
              <a:t>Mosaic Wellness</a:t>
            </a:r>
          </a:p>
        </p:txBody>
      </p:sp>
      <p:sp>
        <p:nvSpPr>
          <p:cNvPr name="TextBox 13" id="13"/>
          <p:cNvSpPr txBox="true"/>
          <p:nvPr/>
        </p:nvSpPr>
        <p:spPr>
          <a:xfrm rot="0">
            <a:off x="3951933" y="3195942"/>
            <a:ext cx="3114860" cy="3105733"/>
          </a:xfrm>
          <a:prstGeom prst="rect">
            <a:avLst/>
          </a:prstGeom>
        </p:spPr>
        <p:txBody>
          <a:bodyPr anchor="t" rtlCol="false" tIns="0" lIns="0" bIns="0" rIns="0">
            <a:spAutoFit/>
          </a:bodyPr>
          <a:lstStyle/>
          <a:p>
            <a:pPr algn="just">
              <a:lnSpc>
                <a:spcPts val="1890"/>
              </a:lnSpc>
            </a:pPr>
            <a:r>
              <a:rPr lang="en-US" sz="1454" spc="14">
                <a:solidFill>
                  <a:srgbClr val="FFFFFF"/>
                </a:solidFill>
                <a:latin typeface="Mont 1"/>
                <a:ea typeface="Mont 1"/>
                <a:cs typeface="Mont 1"/>
                <a:sym typeface="Mont 1"/>
              </a:rPr>
              <a:t>Sanggabiz’s service was exceptional! </a:t>
            </a:r>
          </a:p>
          <a:p>
            <a:pPr algn="just">
              <a:lnSpc>
                <a:spcPts val="1890"/>
              </a:lnSpc>
            </a:pPr>
            <a:r>
              <a:rPr lang="en-US" sz="1454" spc="14">
                <a:solidFill>
                  <a:srgbClr val="FFFFFF"/>
                </a:solidFill>
                <a:latin typeface="Mont 1"/>
                <a:ea typeface="Mont 1"/>
                <a:cs typeface="Mont 1"/>
                <a:sym typeface="Mont 1"/>
              </a:rPr>
              <a:t>They CONSISTENTLY EXCEEDED MY  EXPECTATION. Their sense of ownership towards my product went beyond completing the assigned task; they also provided valueble insights for improvement, drawing form their personal experiences. I look forward to reaching out to them again for any future project. - Rency (Project Mgr)</a:t>
            </a:r>
          </a:p>
        </p:txBody>
      </p:sp>
      <p:grpSp>
        <p:nvGrpSpPr>
          <p:cNvPr name="Group 14" id="14"/>
          <p:cNvGrpSpPr/>
          <p:nvPr/>
        </p:nvGrpSpPr>
        <p:grpSpPr>
          <a:xfrm rot="0">
            <a:off x="14604974" y="2040199"/>
            <a:ext cx="3403993" cy="4333429"/>
            <a:chOff x="0" y="0"/>
            <a:chExt cx="648199" cy="825185"/>
          </a:xfrm>
        </p:grpSpPr>
        <p:sp>
          <p:nvSpPr>
            <p:cNvPr name="Freeform 15" id="15"/>
            <p:cNvSpPr/>
            <p:nvPr/>
          </p:nvSpPr>
          <p:spPr>
            <a:xfrm flipH="false" flipV="false" rot="0">
              <a:off x="0" y="0"/>
              <a:ext cx="648199" cy="825185"/>
            </a:xfrm>
            <a:custGeom>
              <a:avLst/>
              <a:gdLst/>
              <a:ahLst/>
              <a:cxnLst/>
              <a:rect r="r" b="b" t="t" l="l"/>
              <a:pathLst>
                <a:path h="825185" w="648199">
                  <a:moveTo>
                    <a:pt x="68231" y="0"/>
                  </a:moveTo>
                  <a:lnTo>
                    <a:pt x="579968" y="0"/>
                  </a:lnTo>
                  <a:cubicBezTo>
                    <a:pt x="598064" y="0"/>
                    <a:pt x="615419" y="7189"/>
                    <a:pt x="628214" y="19984"/>
                  </a:cubicBezTo>
                  <a:cubicBezTo>
                    <a:pt x="641010" y="32780"/>
                    <a:pt x="648199" y="50135"/>
                    <a:pt x="648199" y="68231"/>
                  </a:cubicBezTo>
                  <a:lnTo>
                    <a:pt x="648199" y="756954"/>
                  </a:lnTo>
                  <a:cubicBezTo>
                    <a:pt x="648199" y="775050"/>
                    <a:pt x="641010" y="792405"/>
                    <a:pt x="628214" y="805201"/>
                  </a:cubicBezTo>
                  <a:cubicBezTo>
                    <a:pt x="615419" y="817996"/>
                    <a:pt x="598064" y="825185"/>
                    <a:pt x="579968" y="825185"/>
                  </a:cubicBezTo>
                  <a:lnTo>
                    <a:pt x="68231" y="825185"/>
                  </a:lnTo>
                  <a:cubicBezTo>
                    <a:pt x="50135" y="825185"/>
                    <a:pt x="32780" y="817996"/>
                    <a:pt x="19984" y="805201"/>
                  </a:cubicBezTo>
                  <a:cubicBezTo>
                    <a:pt x="7189" y="792405"/>
                    <a:pt x="0" y="775050"/>
                    <a:pt x="0" y="756954"/>
                  </a:cubicBezTo>
                  <a:lnTo>
                    <a:pt x="0" y="68231"/>
                  </a:lnTo>
                  <a:cubicBezTo>
                    <a:pt x="0" y="50135"/>
                    <a:pt x="7189" y="32780"/>
                    <a:pt x="19984" y="19984"/>
                  </a:cubicBezTo>
                  <a:cubicBezTo>
                    <a:pt x="32780" y="7189"/>
                    <a:pt x="50135" y="0"/>
                    <a:pt x="68231" y="0"/>
                  </a:cubicBezTo>
                  <a:close/>
                </a:path>
              </a:pathLst>
            </a:custGeom>
            <a:solidFill>
              <a:srgbClr val="0B3360"/>
            </a:solidFill>
            <a:ln w="28575" cap="rnd">
              <a:solidFill>
                <a:srgbClr val="FFFFFF"/>
              </a:solidFill>
              <a:prstDash val="solid"/>
              <a:round/>
            </a:ln>
          </p:spPr>
        </p:sp>
        <p:sp>
          <p:nvSpPr>
            <p:cNvPr name="TextBox 16" id="16"/>
            <p:cNvSpPr txBox="true"/>
            <p:nvPr/>
          </p:nvSpPr>
          <p:spPr>
            <a:xfrm>
              <a:off x="0" y="-76200"/>
              <a:ext cx="648199" cy="901385"/>
            </a:xfrm>
            <a:prstGeom prst="rect">
              <a:avLst/>
            </a:prstGeom>
          </p:spPr>
          <p:txBody>
            <a:bodyPr anchor="ctr" rtlCol="false" tIns="107619" lIns="107619" bIns="107619" rIns="107619"/>
            <a:lstStyle/>
            <a:p>
              <a:pPr algn="ctr">
                <a:lnSpc>
                  <a:spcPts val="1916"/>
                </a:lnSpc>
              </a:pPr>
            </a:p>
          </p:txBody>
        </p:sp>
      </p:grpSp>
      <p:grpSp>
        <p:nvGrpSpPr>
          <p:cNvPr name="Group 17" id="17"/>
          <p:cNvGrpSpPr/>
          <p:nvPr/>
        </p:nvGrpSpPr>
        <p:grpSpPr>
          <a:xfrm rot="0">
            <a:off x="14830223" y="1726450"/>
            <a:ext cx="2953493" cy="627496"/>
            <a:chOff x="0" y="0"/>
            <a:chExt cx="562413" cy="119490"/>
          </a:xfrm>
        </p:grpSpPr>
        <p:sp>
          <p:nvSpPr>
            <p:cNvPr name="Freeform 18" id="18"/>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19" id="19"/>
            <p:cNvSpPr txBox="true"/>
            <p:nvPr/>
          </p:nvSpPr>
          <p:spPr>
            <a:xfrm>
              <a:off x="0" y="-76200"/>
              <a:ext cx="562413" cy="195690"/>
            </a:xfrm>
            <a:prstGeom prst="rect">
              <a:avLst/>
            </a:prstGeom>
          </p:spPr>
          <p:txBody>
            <a:bodyPr anchor="ctr" rtlCol="false" tIns="107619" lIns="107619" bIns="107619" rIns="107619"/>
            <a:lstStyle/>
            <a:p>
              <a:pPr algn="ctr">
                <a:lnSpc>
                  <a:spcPts val="1916"/>
                </a:lnSpc>
              </a:pPr>
            </a:p>
          </p:txBody>
        </p:sp>
      </p:grpSp>
      <p:sp>
        <p:nvSpPr>
          <p:cNvPr name="Freeform 20" id="20"/>
          <p:cNvSpPr/>
          <p:nvPr/>
        </p:nvSpPr>
        <p:spPr>
          <a:xfrm flipH="false" flipV="false" rot="0">
            <a:off x="15930573" y="2475409"/>
            <a:ext cx="752794" cy="607261"/>
          </a:xfrm>
          <a:custGeom>
            <a:avLst/>
            <a:gdLst/>
            <a:ahLst/>
            <a:cxnLst/>
            <a:rect r="r" b="b" t="t" l="l"/>
            <a:pathLst>
              <a:path h="607261" w="752794">
                <a:moveTo>
                  <a:pt x="0" y="0"/>
                </a:moveTo>
                <a:lnTo>
                  <a:pt x="752794" y="0"/>
                </a:lnTo>
                <a:lnTo>
                  <a:pt x="752794" y="607261"/>
                </a:lnTo>
                <a:lnTo>
                  <a:pt x="0" y="607261"/>
                </a:lnTo>
                <a:lnTo>
                  <a:pt x="0" y="0"/>
                </a:lnTo>
                <a:close/>
              </a:path>
            </a:pathLst>
          </a:custGeom>
          <a:blipFill>
            <a:blip r:embed="rId6"/>
            <a:stretch>
              <a:fillRect l="0" t="-11982" r="0" b="-11982"/>
            </a:stretch>
          </a:blipFill>
        </p:spPr>
      </p:sp>
      <p:sp>
        <p:nvSpPr>
          <p:cNvPr name="TextBox 21" id="21"/>
          <p:cNvSpPr txBox="true"/>
          <p:nvPr/>
        </p:nvSpPr>
        <p:spPr>
          <a:xfrm rot="0">
            <a:off x="14685337" y="1787004"/>
            <a:ext cx="3323630" cy="370913"/>
          </a:xfrm>
          <a:prstGeom prst="rect">
            <a:avLst/>
          </a:prstGeom>
        </p:spPr>
        <p:txBody>
          <a:bodyPr anchor="t" rtlCol="false" tIns="0" lIns="0" bIns="0" rIns="0">
            <a:spAutoFit/>
          </a:bodyPr>
          <a:lstStyle/>
          <a:p>
            <a:pPr algn="ctr">
              <a:lnSpc>
                <a:spcPts val="2462"/>
              </a:lnSpc>
            </a:pPr>
            <a:r>
              <a:rPr lang="en-US" b="true" sz="1985" spc="19">
                <a:solidFill>
                  <a:srgbClr val="000000"/>
                </a:solidFill>
                <a:latin typeface="Mont 2 Heavy"/>
                <a:ea typeface="Mont 2 Heavy"/>
                <a:cs typeface="Mont 2 Heavy"/>
                <a:sym typeface="Mont 2 Heavy"/>
              </a:rPr>
              <a:t>Exceliga</a:t>
            </a:r>
          </a:p>
        </p:txBody>
      </p:sp>
      <p:sp>
        <p:nvSpPr>
          <p:cNvPr name="TextBox 22" id="22"/>
          <p:cNvSpPr txBox="true"/>
          <p:nvPr/>
        </p:nvSpPr>
        <p:spPr>
          <a:xfrm rot="0">
            <a:off x="14776424" y="3195942"/>
            <a:ext cx="3114860" cy="1915108"/>
          </a:xfrm>
          <a:prstGeom prst="rect">
            <a:avLst/>
          </a:prstGeom>
        </p:spPr>
        <p:txBody>
          <a:bodyPr anchor="t" rtlCol="false" tIns="0" lIns="0" bIns="0" rIns="0">
            <a:spAutoFit/>
          </a:bodyPr>
          <a:lstStyle/>
          <a:p>
            <a:pPr algn="just">
              <a:lnSpc>
                <a:spcPts val="1890"/>
              </a:lnSpc>
            </a:pPr>
            <a:r>
              <a:rPr lang="en-US" sz="1454" spc="14">
                <a:solidFill>
                  <a:srgbClr val="FFFFFF"/>
                </a:solidFill>
                <a:latin typeface="Mont 1"/>
                <a:ea typeface="Mont 1"/>
                <a:cs typeface="Mont 1"/>
                <a:sym typeface="Mont 1"/>
              </a:rPr>
              <a:t>Tentang Sanggabiz, teamnya profesional dan proper untuk deliverynya, untuk report profesional, untuk data controlnya profesional, bisa rekomendasikan ke kolega untuk pakai Sanggabiz sebagai jasa profesional. - Owner</a:t>
            </a:r>
          </a:p>
        </p:txBody>
      </p:sp>
      <p:grpSp>
        <p:nvGrpSpPr>
          <p:cNvPr name="Group 23" id="23"/>
          <p:cNvGrpSpPr/>
          <p:nvPr/>
        </p:nvGrpSpPr>
        <p:grpSpPr>
          <a:xfrm rot="0">
            <a:off x="11020006" y="2022740"/>
            <a:ext cx="3403993" cy="4360412"/>
            <a:chOff x="0" y="0"/>
            <a:chExt cx="648199" cy="830323"/>
          </a:xfrm>
        </p:grpSpPr>
        <p:sp>
          <p:nvSpPr>
            <p:cNvPr name="Freeform 24" id="24"/>
            <p:cNvSpPr/>
            <p:nvPr/>
          </p:nvSpPr>
          <p:spPr>
            <a:xfrm flipH="false" flipV="false" rot="0">
              <a:off x="0" y="0"/>
              <a:ext cx="648199" cy="830323"/>
            </a:xfrm>
            <a:custGeom>
              <a:avLst/>
              <a:gdLst/>
              <a:ahLst/>
              <a:cxnLst/>
              <a:rect r="r" b="b" t="t" l="l"/>
              <a:pathLst>
                <a:path h="830323" w="648199">
                  <a:moveTo>
                    <a:pt x="68231" y="0"/>
                  </a:moveTo>
                  <a:lnTo>
                    <a:pt x="579968" y="0"/>
                  </a:lnTo>
                  <a:cubicBezTo>
                    <a:pt x="598064" y="0"/>
                    <a:pt x="615419" y="7189"/>
                    <a:pt x="628214" y="19984"/>
                  </a:cubicBezTo>
                  <a:cubicBezTo>
                    <a:pt x="641010" y="32780"/>
                    <a:pt x="648199" y="50135"/>
                    <a:pt x="648199" y="68231"/>
                  </a:cubicBezTo>
                  <a:lnTo>
                    <a:pt x="648199" y="762092"/>
                  </a:lnTo>
                  <a:cubicBezTo>
                    <a:pt x="648199" y="780188"/>
                    <a:pt x="641010" y="797543"/>
                    <a:pt x="628214" y="810339"/>
                  </a:cubicBezTo>
                  <a:cubicBezTo>
                    <a:pt x="615419" y="823135"/>
                    <a:pt x="598064" y="830323"/>
                    <a:pt x="579968" y="830323"/>
                  </a:cubicBezTo>
                  <a:lnTo>
                    <a:pt x="68231" y="830323"/>
                  </a:lnTo>
                  <a:cubicBezTo>
                    <a:pt x="50135" y="830323"/>
                    <a:pt x="32780" y="823135"/>
                    <a:pt x="19984" y="810339"/>
                  </a:cubicBezTo>
                  <a:cubicBezTo>
                    <a:pt x="7189" y="797543"/>
                    <a:pt x="0" y="780188"/>
                    <a:pt x="0" y="762092"/>
                  </a:cubicBezTo>
                  <a:lnTo>
                    <a:pt x="0" y="68231"/>
                  </a:lnTo>
                  <a:cubicBezTo>
                    <a:pt x="0" y="50135"/>
                    <a:pt x="7189" y="32780"/>
                    <a:pt x="19984" y="19984"/>
                  </a:cubicBezTo>
                  <a:cubicBezTo>
                    <a:pt x="32780" y="7189"/>
                    <a:pt x="50135" y="0"/>
                    <a:pt x="68231" y="0"/>
                  </a:cubicBezTo>
                  <a:close/>
                </a:path>
              </a:pathLst>
            </a:custGeom>
            <a:solidFill>
              <a:srgbClr val="0B3360"/>
            </a:solidFill>
            <a:ln w="28575" cap="rnd">
              <a:solidFill>
                <a:srgbClr val="FFFFFF"/>
              </a:solidFill>
              <a:prstDash val="solid"/>
              <a:round/>
            </a:ln>
          </p:spPr>
        </p:sp>
        <p:sp>
          <p:nvSpPr>
            <p:cNvPr name="TextBox 25" id="25"/>
            <p:cNvSpPr txBox="true"/>
            <p:nvPr/>
          </p:nvSpPr>
          <p:spPr>
            <a:xfrm>
              <a:off x="0" y="-76200"/>
              <a:ext cx="648199" cy="906523"/>
            </a:xfrm>
            <a:prstGeom prst="rect">
              <a:avLst/>
            </a:prstGeom>
          </p:spPr>
          <p:txBody>
            <a:bodyPr anchor="ctr" rtlCol="false" tIns="107619" lIns="107619" bIns="107619" rIns="107619"/>
            <a:lstStyle/>
            <a:p>
              <a:pPr algn="ctr">
                <a:lnSpc>
                  <a:spcPts val="1916"/>
                </a:lnSpc>
              </a:pPr>
            </a:p>
          </p:txBody>
        </p:sp>
      </p:grpSp>
      <p:grpSp>
        <p:nvGrpSpPr>
          <p:cNvPr name="Group 26" id="26"/>
          <p:cNvGrpSpPr/>
          <p:nvPr/>
        </p:nvGrpSpPr>
        <p:grpSpPr>
          <a:xfrm rot="0">
            <a:off x="11245255" y="1708992"/>
            <a:ext cx="2953493" cy="548762"/>
            <a:chOff x="0" y="0"/>
            <a:chExt cx="562413" cy="104497"/>
          </a:xfrm>
        </p:grpSpPr>
        <p:sp>
          <p:nvSpPr>
            <p:cNvPr name="Freeform 27" id="27"/>
            <p:cNvSpPr/>
            <p:nvPr/>
          </p:nvSpPr>
          <p:spPr>
            <a:xfrm flipH="false" flipV="false" rot="0">
              <a:off x="0" y="0"/>
              <a:ext cx="562413" cy="104497"/>
            </a:xfrm>
            <a:custGeom>
              <a:avLst/>
              <a:gdLst/>
              <a:ahLst/>
              <a:cxnLst/>
              <a:rect r="r" b="b" t="t" l="l"/>
              <a:pathLst>
                <a:path h="104497" w="562413">
                  <a:moveTo>
                    <a:pt x="52249" y="0"/>
                  </a:moveTo>
                  <a:lnTo>
                    <a:pt x="510165" y="0"/>
                  </a:lnTo>
                  <a:cubicBezTo>
                    <a:pt x="524022" y="0"/>
                    <a:pt x="537312" y="5505"/>
                    <a:pt x="547110" y="15303"/>
                  </a:cubicBezTo>
                  <a:cubicBezTo>
                    <a:pt x="556909" y="25102"/>
                    <a:pt x="562413" y="38391"/>
                    <a:pt x="562413" y="52249"/>
                  </a:cubicBezTo>
                  <a:lnTo>
                    <a:pt x="562413" y="52249"/>
                  </a:lnTo>
                  <a:cubicBezTo>
                    <a:pt x="562413" y="66106"/>
                    <a:pt x="556909" y="79395"/>
                    <a:pt x="547110" y="89194"/>
                  </a:cubicBezTo>
                  <a:cubicBezTo>
                    <a:pt x="537312" y="98992"/>
                    <a:pt x="524022" y="104497"/>
                    <a:pt x="510165" y="104497"/>
                  </a:cubicBezTo>
                  <a:lnTo>
                    <a:pt x="52249" y="104497"/>
                  </a:lnTo>
                  <a:cubicBezTo>
                    <a:pt x="38391" y="104497"/>
                    <a:pt x="25102" y="98992"/>
                    <a:pt x="15303" y="89194"/>
                  </a:cubicBezTo>
                  <a:cubicBezTo>
                    <a:pt x="5505" y="79395"/>
                    <a:pt x="0" y="66106"/>
                    <a:pt x="0" y="52249"/>
                  </a:cubicBezTo>
                  <a:lnTo>
                    <a:pt x="0" y="52249"/>
                  </a:lnTo>
                  <a:cubicBezTo>
                    <a:pt x="0" y="38391"/>
                    <a:pt x="5505" y="25102"/>
                    <a:pt x="15303" y="15303"/>
                  </a:cubicBezTo>
                  <a:cubicBezTo>
                    <a:pt x="25102" y="5505"/>
                    <a:pt x="38391" y="0"/>
                    <a:pt x="52249" y="0"/>
                  </a:cubicBezTo>
                  <a:close/>
                </a:path>
              </a:pathLst>
            </a:custGeom>
            <a:solidFill>
              <a:srgbClr val="FFC00C"/>
            </a:solidFill>
            <a:ln w="28575" cap="rnd">
              <a:solidFill>
                <a:srgbClr val="FFFFFF"/>
              </a:solidFill>
              <a:prstDash val="solid"/>
              <a:round/>
            </a:ln>
          </p:spPr>
        </p:sp>
        <p:sp>
          <p:nvSpPr>
            <p:cNvPr name="TextBox 28" id="28"/>
            <p:cNvSpPr txBox="true"/>
            <p:nvPr/>
          </p:nvSpPr>
          <p:spPr>
            <a:xfrm>
              <a:off x="0" y="-76200"/>
              <a:ext cx="562413" cy="180697"/>
            </a:xfrm>
            <a:prstGeom prst="rect">
              <a:avLst/>
            </a:prstGeom>
          </p:spPr>
          <p:txBody>
            <a:bodyPr anchor="ctr" rtlCol="false" tIns="107619" lIns="107619" bIns="107619" rIns="107619"/>
            <a:lstStyle/>
            <a:p>
              <a:pPr algn="ctr">
                <a:lnSpc>
                  <a:spcPts val="1916"/>
                </a:lnSpc>
              </a:pPr>
            </a:p>
          </p:txBody>
        </p:sp>
      </p:grpSp>
      <p:sp>
        <p:nvSpPr>
          <p:cNvPr name="Freeform 29" id="29"/>
          <p:cNvSpPr/>
          <p:nvPr/>
        </p:nvSpPr>
        <p:spPr>
          <a:xfrm flipH="false" flipV="false" rot="0">
            <a:off x="12284906" y="2441442"/>
            <a:ext cx="874193" cy="680526"/>
          </a:xfrm>
          <a:custGeom>
            <a:avLst/>
            <a:gdLst/>
            <a:ahLst/>
            <a:cxnLst/>
            <a:rect r="r" b="b" t="t" l="l"/>
            <a:pathLst>
              <a:path h="680526" w="874193">
                <a:moveTo>
                  <a:pt x="0" y="0"/>
                </a:moveTo>
                <a:lnTo>
                  <a:pt x="874193" y="0"/>
                </a:lnTo>
                <a:lnTo>
                  <a:pt x="874193" y="680526"/>
                </a:lnTo>
                <a:lnTo>
                  <a:pt x="0" y="680526"/>
                </a:lnTo>
                <a:lnTo>
                  <a:pt x="0" y="0"/>
                </a:lnTo>
                <a:close/>
              </a:path>
            </a:pathLst>
          </a:custGeom>
          <a:blipFill>
            <a:blip r:embed="rId7"/>
            <a:stretch>
              <a:fillRect l="0" t="0" r="0" b="0"/>
            </a:stretch>
          </a:blipFill>
        </p:spPr>
      </p:sp>
      <p:sp>
        <p:nvSpPr>
          <p:cNvPr name="TextBox 30" id="30"/>
          <p:cNvSpPr txBox="true"/>
          <p:nvPr/>
        </p:nvSpPr>
        <p:spPr>
          <a:xfrm rot="0">
            <a:off x="11034453" y="1759817"/>
            <a:ext cx="3323630" cy="370913"/>
          </a:xfrm>
          <a:prstGeom prst="rect">
            <a:avLst/>
          </a:prstGeom>
        </p:spPr>
        <p:txBody>
          <a:bodyPr anchor="t" rtlCol="false" tIns="0" lIns="0" bIns="0" rIns="0">
            <a:spAutoFit/>
          </a:bodyPr>
          <a:lstStyle/>
          <a:p>
            <a:pPr algn="ctr">
              <a:lnSpc>
                <a:spcPts val="2462"/>
              </a:lnSpc>
            </a:pPr>
            <a:r>
              <a:rPr lang="en-US" b="true" sz="1985" spc="19">
                <a:solidFill>
                  <a:srgbClr val="000000"/>
                </a:solidFill>
                <a:latin typeface="Mont 2 Heavy"/>
                <a:ea typeface="Mont 2 Heavy"/>
                <a:cs typeface="Mont 2 Heavy"/>
                <a:sym typeface="Mont 2 Heavy"/>
              </a:rPr>
              <a:t>AQM</a:t>
            </a:r>
          </a:p>
        </p:txBody>
      </p:sp>
      <p:sp>
        <p:nvSpPr>
          <p:cNvPr name="TextBox 31" id="31"/>
          <p:cNvSpPr txBox="true"/>
          <p:nvPr/>
        </p:nvSpPr>
        <p:spPr>
          <a:xfrm rot="0">
            <a:off x="11164572" y="3195942"/>
            <a:ext cx="3114860" cy="2867660"/>
          </a:xfrm>
          <a:prstGeom prst="rect">
            <a:avLst/>
          </a:prstGeom>
        </p:spPr>
        <p:txBody>
          <a:bodyPr anchor="t" rtlCol="false" tIns="0" lIns="0" bIns="0" rIns="0">
            <a:spAutoFit/>
          </a:bodyPr>
          <a:lstStyle/>
          <a:p>
            <a:pPr algn="just">
              <a:lnSpc>
                <a:spcPts val="1884"/>
              </a:lnSpc>
            </a:pPr>
            <a:r>
              <a:rPr lang="en-US" sz="1449" spc="14">
                <a:solidFill>
                  <a:srgbClr val="FFFFFF"/>
                </a:solidFill>
                <a:latin typeface="Mont 1"/>
                <a:ea typeface="Mont 1"/>
                <a:cs typeface="Mont 1"/>
                <a:sym typeface="Mont 1"/>
              </a:rPr>
              <a:t>Kami belum memiliki pengalaman yang cukup di Customer Servicing. Namun dengan adanya Sanggabiz saya jadi punya sparing partner untuk memperbaiki proses dan sistem customer service. Improvement yang paling berasa punya standard yang clear untuk setiap proses dan insight baru untu di-improve. - Owner</a:t>
            </a:r>
          </a:p>
        </p:txBody>
      </p:sp>
      <p:grpSp>
        <p:nvGrpSpPr>
          <p:cNvPr name="Group 32" id="32"/>
          <p:cNvGrpSpPr/>
          <p:nvPr/>
        </p:nvGrpSpPr>
        <p:grpSpPr>
          <a:xfrm rot="0">
            <a:off x="262913" y="2040199"/>
            <a:ext cx="3363479" cy="4342954"/>
            <a:chOff x="0" y="0"/>
            <a:chExt cx="648199" cy="836960"/>
          </a:xfrm>
        </p:grpSpPr>
        <p:sp>
          <p:nvSpPr>
            <p:cNvPr name="Freeform 33" id="33"/>
            <p:cNvSpPr/>
            <p:nvPr/>
          </p:nvSpPr>
          <p:spPr>
            <a:xfrm flipH="false" flipV="false" rot="0">
              <a:off x="0" y="0"/>
              <a:ext cx="648199" cy="836960"/>
            </a:xfrm>
            <a:custGeom>
              <a:avLst/>
              <a:gdLst/>
              <a:ahLst/>
              <a:cxnLst/>
              <a:rect r="r" b="b" t="t" l="l"/>
              <a:pathLst>
                <a:path h="836960" w="648199">
                  <a:moveTo>
                    <a:pt x="69053" y="0"/>
                  </a:moveTo>
                  <a:lnTo>
                    <a:pt x="579146" y="0"/>
                  </a:lnTo>
                  <a:cubicBezTo>
                    <a:pt x="617283" y="0"/>
                    <a:pt x="648199" y="30916"/>
                    <a:pt x="648199" y="69053"/>
                  </a:cubicBezTo>
                  <a:lnTo>
                    <a:pt x="648199" y="767907"/>
                  </a:lnTo>
                  <a:cubicBezTo>
                    <a:pt x="648199" y="806044"/>
                    <a:pt x="617283" y="836960"/>
                    <a:pt x="579146" y="836960"/>
                  </a:cubicBezTo>
                  <a:lnTo>
                    <a:pt x="69053" y="836960"/>
                  </a:lnTo>
                  <a:cubicBezTo>
                    <a:pt x="30916" y="836960"/>
                    <a:pt x="0" y="806044"/>
                    <a:pt x="0" y="767907"/>
                  </a:cubicBezTo>
                  <a:lnTo>
                    <a:pt x="0" y="69053"/>
                  </a:lnTo>
                  <a:cubicBezTo>
                    <a:pt x="0" y="30916"/>
                    <a:pt x="30916" y="0"/>
                    <a:pt x="69053" y="0"/>
                  </a:cubicBezTo>
                  <a:close/>
                </a:path>
              </a:pathLst>
            </a:custGeom>
            <a:solidFill>
              <a:srgbClr val="0B3360"/>
            </a:solidFill>
            <a:ln w="28575" cap="rnd">
              <a:solidFill>
                <a:srgbClr val="FFFFFF"/>
              </a:solidFill>
              <a:prstDash val="solid"/>
              <a:round/>
            </a:ln>
          </p:spPr>
        </p:sp>
        <p:sp>
          <p:nvSpPr>
            <p:cNvPr name="TextBox 34" id="34"/>
            <p:cNvSpPr txBox="true"/>
            <p:nvPr/>
          </p:nvSpPr>
          <p:spPr>
            <a:xfrm>
              <a:off x="0" y="-19050"/>
              <a:ext cx="648199" cy="856010"/>
            </a:xfrm>
            <a:prstGeom prst="rect">
              <a:avLst/>
            </a:prstGeom>
          </p:spPr>
          <p:txBody>
            <a:bodyPr anchor="ctr" rtlCol="false" tIns="106338" lIns="106338" bIns="106338" rIns="106338"/>
            <a:lstStyle/>
            <a:p>
              <a:pPr algn="ctr">
                <a:lnSpc>
                  <a:spcPts val="1916"/>
                </a:lnSpc>
              </a:pPr>
            </a:p>
          </p:txBody>
        </p:sp>
      </p:grpSp>
      <p:sp>
        <p:nvSpPr>
          <p:cNvPr name="Freeform 35" id="35"/>
          <p:cNvSpPr/>
          <p:nvPr/>
        </p:nvSpPr>
        <p:spPr>
          <a:xfrm flipH="false" flipV="false" rot="0">
            <a:off x="417982" y="2524065"/>
            <a:ext cx="3106435" cy="548052"/>
          </a:xfrm>
          <a:custGeom>
            <a:avLst/>
            <a:gdLst/>
            <a:ahLst/>
            <a:cxnLst/>
            <a:rect r="r" b="b" t="t" l="l"/>
            <a:pathLst>
              <a:path h="548052" w="3106435">
                <a:moveTo>
                  <a:pt x="0" y="0"/>
                </a:moveTo>
                <a:lnTo>
                  <a:pt x="3106435" y="0"/>
                </a:lnTo>
                <a:lnTo>
                  <a:pt x="3106435" y="548052"/>
                </a:lnTo>
                <a:lnTo>
                  <a:pt x="0" y="548052"/>
                </a:lnTo>
                <a:lnTo>
                  <a:pt x="0" y="0"/>
                </a:lnTo>
                <a:close/>
              </a:path>
            </a:pathLst>
          </a:custGeom>
          <a:blipFill>
            <a:blip r:embed="rId8"/>
            <a:stretch>
              <a:fillRect l="0" t="-5571" r="0" b="-11296"/>
            </a:stretch>
          </a:blipFill>
        </p:spPr>
      </p:sp>
      <p:sp>
        <p:nvSpPr>
          <p:cNvPr name="TextBox 36" id="36"/>
          <p:cNvSpPr txBox="true"/>
          <p:nvPr/>
        </p:nvSpPr>
        <p:spPr>
          <a:xfrm rot="0">
            <a:off x="385834" y="3195942"/>
            <a:ext cx="3077788" cy="1915160"/>
          </a:xfrm>
          <a:prstGeom prst="rect">
            <a:avLst/>
          </a:prstGeom>
        </p:spPr>
        <p:txBody>
          <a:bodyPr anchor="t" rtlCol="false" tIns="0" lIns="0" bIns="0" rIns="0">
            <a:spAutoFit/>
          </a:bodyPr>
          <a:lstStyle/>
          <a:p>
            <a:pPr algn="just">
              <a:lnSpc>
                <a:spcPts val="1884"/>
              </a:lnSpc>
            </a:pPr>
            <a:r>
              <a:rPr lang="en-US" sz="1449" spc="14">
                <a:solidFill>
                  <a:srgbClr val="FFFFFF"/>
                </a:solidFill>
                <a:latin typeface="Mont 1"/>
                <a:ea typeface="Mont 1"/>
                <a:cs typeface="Mont 1"/>
                <a:sym typeface="Mont 1"/>
              </a:rPr>
              <a:t>Sanggabiz saat ini sudah jadi salah satu solusi bisnis yang komprehensif, tidak hanya alih daya tapi lebih dari itu Sanggabiz bisa memberikan fleksibilitas yang berarti untuk bisnis - Hermawan (Manager Ops)</a:t>
            </a:r>
          </a:p>
        </p:txBody>
      </p:sp>
      <p:grpSp>
        <p:nvGrpSpPr>
          <p:cNvPr name="Group 37" id="37"/>
          <p:cNvGrpSpPr/>
          <p:nvPr/>
        </p:nvGrpSpPr>
        <p:grpSpPr>
          <a:xfrm rot="0">
            <a:off x="447981" y="1708992"/>
            <a:ext cx="2953493" cy="627496"/>
            <a:chOff x="0" y="0"/>
            <a:chExt cx="562413" cy="119490"/>
          </a:xfrm>
        </p:grpSpPr>
        <p:sp>
          <p:nvSpPr>
            <p:cNvPr name="Freeform 38" id="38"/>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39" id="39"/>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sp>
        <p:nvSpPr>
          <p:cNvPr name="TextBox 40" id="40"/>
          <p:cNvSpPr txBox="true"/>
          <p:nvPr/>
        </p:nvSpPr>
        <p:spPr>
          <a:xfrm rot="0">
            <a:off x="262913" y="1809200"/>
            <a:ext cx="3323630" cy="370913"/>
          </a:xfrm>
          <a:prstGeom prst="rect">
            <a:avLst/>
          </a:prstGeom>
        </p:spPr>
        <p:txBody>
          <a:bodyPr anchor="t" rtlCol="false" tIns="0" lIns="0" bIns="0" rIns="0">
            <a:spAutoFit/>
          </a:bodyPr>
          <a:lstStyle/>
          <a:p>
            <a:pPr algn="ctr">
              <a:lnSpc>
                <a:spcPts val="2462"/>
              </a:lnSpc>
            </a:pPr>
            <a:r>
              <a:rPr lang="en-US" b="true" sz="1985" spc="19">
                <a:solidFill>
                  <a:srgbClr val="000000"/>
                </a:solidFill>
                <a:latin typeface="Mont 2 Heavy"/>
                <a:ea typeface="Mont 2 Heavy"/>
                <a:cs typeface="Mont 2 Heavy"/>
                <a:sym typeface="Mont 2 Heavy"/>
              </a:rPr>
              <a:t>Kitabisa.com</a:t>
            </a:r>
          </a:p>
        </p:txBody>
      </p:sp>
      <p:grpSp>
        <p:nvGrpSpPr>
          <p:cNvPr name="Group 41" id="41"/>
          <p:cNvGrpSpPr/>
          <p:nvPr/>
        </p:nvGrpSpPr>
        <p:grpSpPr>
          <a:xfrm rot="0">
            <a:off x="7411385" y="2022740"/>
            <a:ext cx="3403993" cy="4350887"/>
            <a:chOff x="0" y="0"/>
            <a:chExt cx="648199" cy="828509"/>
          </a:xfrm>
        </p:grpSpPr>
        <p:sp>
          <p:nvSpPr>
            <p:cNvPr name="Freeform 42" id="42"/>
            <p:cNvSpPr/>
            <p:nvPr/>
          </p:nvSpPr>
          <p:spPr>
            <a:xfrm flipH="false" flipV="false" rot="0">
              <a:off x="0" y="0"/>
              <a:ext cx="648199" cy="828509"/>
            </a:xfrm>
            <a:custGeom>
              <a:avLst/>
              <a:gdLst/>
              <a:ahLst/>
              <a:cxnLst/>
              <a:rect r="r" b="b" t="t" l="l"/>
              <a:pathLst>
                <a:path h="828509" w="648199">
                  <a:moveTo>
                    <a:pt x="68231" y="0"/>
                  </a:moveTo>
                  <a:lnTo>
                    <a:pt x="579968" y="0"/>
                  </a:lnTo>
                  <a:cubicBezTo>
                    <a:pt x="598064" y="0"/>
                    <a:pt x="615419" y="7189"/>
                    <a:pt x="628214" y="19984"/>
                  </a:cubicBezTo>
                  <a:cubicBezTo>
                    <a:pt x="641010" y="32780"/>
                    <a:pt x="648199" y="50135"/>
                    <a:pt x="648199" y="68231"/>
                  </a:cubicBezTo>
                  <a:lnTo>
                    <a:pt x="648199" y="760278"/>
                  </a:lnTo>
                  <a:cubicBezTo>
                    <a:pt x="648199" y="778374"/>
                    <a:pt x="641010" y="795729"/>
                    <a:pt x="628214" y="808525"/>
                  </a:cubicBezTo>
                  <a:cubicBezTo>
                    <a:pt x="615419" y="821321"/>
                    <a:pt x="598064" y="828509"/>
                    <a:pt x="579968" y="828509"/>
                  </a:cubicBezTo>
                  <a:lnTo>
                    <a:pt x="68231" y="828509"/>
                  </a:lnTo>
                  <a:cubicBezTo>
                    <a:pt x="50135" y="828509"/>
                    <a:pt x="32780" y="821321"/>
                    <a:pt x="19984" y="808525"/>
                  </a:cubicBezTo>
                  <a:cubicBezTo>
                    <a:pt x="7189" y="795729"/>
                    <a:pt x="0" y="778374"/>
                    <a:pt x="0" y="760278"/>
                  </a:cubicBezTo>
                  <a:lnTo>
                    <a:pt x="0" y="68231"/>
                  </a:lnTo>
                  <a:cubicBezTo>
                    <a:pt x="0" y="50135"/>
                    <a:pt x="7189" y="32780"/>
                    <a:pt x="19984" y="19984"/>
                  </a:cubicBezTo>
                  <a:cubicBezTo>
                    <a:pt x="32780" y="7189"/>
                    <a:pt x="50135" y="0"/>
                    <a:pt x="68231" y="0"/>
                  </a:cubicBezTo>
                  <a:close/>
                </a:path>
              </a:pathLst>
            </a:custGeom>
            <a:solidFill>
              <a:srgbClr val="0B3360"/>
            </a:solidFill>
            <a:ln w="28575" cap="rnd">
              <a:solidFill>
                <a:srgbClr val="FFFFFF"/>
              </a:solidFill>
              <a:prstDash val="solid"/>
              <a:round/>
            </a:ln>
          </p:spPr>
        </p:sp>
        <p:sp>
          <p:nvSpPr>
            <p:cNvPr name="TextBox 43" id="43"/>
            <p:cNvSpPr txBox="true"/>
            <p:nvPr/>
          </p:nvSpPr>
          <p:spPr>
            <a:xfrm>
              <a:off x="0" y="-19050"/>
              <a:ext cx="648199" cy="847559"/>
            </a:xfrm>
            <a:prstGeom prst="rect">
              <a:avLst/>
            </a:prstGeom>
          </p:spPr>
          <p:txBody>
            <a:bodyPr anchor="ctr" rtlCol="false" tIns="107619" lIns="107619" bIns="107619" rIns="107619"/>
            <a:lstStyle/>
            <a:p>
              <a:pPr algn="ctr">
                <a:lnSpc>
                  <a:spcPts val="1916"/>
                </a:lnSpc>
              </a:pPr>
            </a:p>
          </p:txBody>
        </p:sp>
      </p:grpSp>
      <p:sp>
        <p:nvSpPr>
          <p:cNvPr name="Freeform 44" id="44"/>
          <p:cNvSpPr/>
          <p:nvPr/>
        </p:nvSpPr>
        <p:spPr>
          <a:xfrm flipH="false" flipV="false" rot="0">
            <a:off x="7630197" y="2572676"/>
            <a:ext cx="2959931" cy="549291"/>
          </a:xfrm>
          <a:custGeom>
            <a:avLst/>
            <a:gdLst/>
            <a:ahLst/>
            <a:cxnLst/>
            <a:rect r="r" b="b" t="t" l="l"/>
            <a:pathLst>
              <a:path h="549291" w="2959931">
                <a:moveTo>
                  <a:pt x="0" y="0"/>
                </a:moveTo>
                <a:lnTo>
                  <a:pt x="2959931" y="0"/>
                </a:lnTo>
                <a:lnTo>
                  <a:pt x="2959931" y="549292"/>
                </a:lnTo>
                <a:lnTo>
                  <a:pt x="0" y="549292"/>
                </a:lnTo>
                <a:lnTo>
                  <a:pt x="0" y="0"/>
                </a:lnTo>
                <a:close/>
              </a:path>
            </a:pathLst>
          </a:custGeom>
          <a:blipFill>
            <a:blip r:embed="rId9"/>
            <a:stretch>
              <a:fillRect l="-1506" t="-21643" r="0" b="-21643"/>
            </a:stretch>
          </a:blipFill>
        </p:spPr>
      </p:sp>
      <p:sp>
        <p:nvSpPr>
          <p:cNvPr name="TextBox 45" id="45"/>
          <p:cNvSpPr txBox="true"/>
          <p:nvPr/>
        </p:nvSpPr>
        <p:spPr>
          <a:xfrm rot="0">
            <a:off x="7565137" y="3195942"/>
            <a:ext cx="3114860" cy="2391358"/>
          </a:xfrm>
          <a:prstGeom prst="rect">
            <a:avLst/>
          </a:prstGeom>
        </p:spPr>
        <p:txBody>
          <a:bodyPr anchor="t" rtlCol="false" tIns="0" lIns="0" bIns="0" rIns="0">
            <a:spAutoFit/>
          </a:bodyPr>
          <a:lstStyle/>
          <a:p>
            <a:pPr algn="just">
              <a:lnSpc>
                <a:spcPts val="1890"/>
              </a:lnSpc>
            </a:pPr>
            <a:r>
              <a:rPr lang="en-US" sz="1454" spc="14">
                <a:solidFill>
                  <a:srgbClr val="FFFFFF"/>
                </a:solidFill>
                <a:latin typeface="Mont 1"/>
                <a:ea typeface="Mont 1"/>
                <a:cs typeface="Mont 1"/>
                <a:sym typeface="Mont 1"/>
              </a:rPr>
              <a:t>Nyenengin banget ya kerjasama bareng Sanggabiz. Yang paling utama sih gercep. </a:t>
            </a:r>
            <a:r>
              <a:rPr lang="en-US" sz="1454" i="true" spc="14">
                <a:solidFill>
                  <a:srgbClr val="FFFFFF"/>
                </a:solidFill>
                <a:latin typeface="Mont 1 Italics"/>
                <a:ea typeface="Mont 1 Italics"/>
                <a:cs typeface="Mont 1 Italics"/>
                <a:sym typeface="Mont 1 Italics"/>
              </a:rPr>
              <a:t>Fast response</a:t>
            </a:r>
            <a:r>
              <a:rPr lang="en-US" sz="1454" spc="14">
                <a:solidFill>
                  <a:srgbClr val="FFFFFF"/>
                </a:solidFill>
                <a:latin typeface="Mont 1"/>
                <a:ea typeface="Mont 1"/>
                <a:cs typeface="Mont 1"/>
                <a:sym typeface="Mont 1"/>
              </a:rPr>
              <a:t> banget. Dan pastinya </a:t>
            </a:r>
            <a:r>
              <a:rPr lang="en-US" sz="1454" i="true" spc="14">
                <a:solidFill>
                  <a:srgbClr val="FFFFFF"/>
                </a:solidFill>
                <a:latin typeface="Mont 1 Italics"/>
                <a:ea typeface="Mont 1 Italics"/>
                <a:cs typeface="Mont 1 Italics"/>
                <a:sym typeface="Mont 1 Italics"/>
              </a:rPr>
              <a:t>helpful</a:t>
            </a:r>
            <a:r>
              <a:rPr lang="en-US" sz="1454" spc="14">
                <a:solidFill>
                  <a:srgbClr val="FFFFFF"/>
                </a:solidFill>
                <a:latin typeface="Mont 1"/>
                <a:ea typeface="Mont 1"/>
                <a:cs typeface="Mont 1"/>
                <a:sym typeface="Mont 1"/>
              </a:rPr>
              <a:t>. Jadi kalau misalnya ada yang kurang - kurang, kita butuh bantuan apa, dari tim Sanggabiz-nya sangat </a:t>
            </a:r>
            <a:r>
              <a:rPr lang="en-US" sz="1454" i="true" spc="14">
                <a:solidFill>
                  <a:srgbClr val="FFFFFF"/>
                </a:solidFill>
                <a:latin typeface="Mont 1 Italics"/>
                <a:ea typeface="Mont 1 Italics"/>
                <a:cs typeface="Mont 1 Italics"/>
                <a:sym typeface="Mont 1 Italics"/>
              </a:rPr>
              <a:t>helpful</a:t>
            </a:r>
            <a:r>
              <a:rPr lang="en-US" sz="1454" spc="14">
                <a:solidFill>
                  <a:srgbClr val="FFFFFF"/>
                </a:solidFill>
                <a:latin typeface="Mont 1"/>
                <a:ea typeface="Mont 1"/>
                <a:cs typeface="Mont 1"/>
                <a:sym typeface="Mont 1"/>
              </a:rPr>
              <a:t> sekali - Anissa (Partnership)</a:t>
            </a:r>
          </a:p>
        </p:txBody>
      </p:sp>
      <p:grpSp>
        <p:nvGrpSpPr>
          <p:cNvPr name="Group 46" id="46"/>
          <p:cNvGrpSpPr/>
          <p:nvPr/>
        </p:nvGrpSpPr>
        <p:grpSpPr>
          <a:xfrm rot="0">
            <a:off x="7541435" y="1731188"/>
            <a:ext cx="2953493" cy="627496"/>
            <a:chOff x="0" y="0"/>
            <a:chExt cx="562413" cy="119490"/>
          </a:xfrm>
        </p:grpSpPr>
        <p:sp>
          <p:nvSpPr>
            <p:cNvPr name="Freeform 47" id="47"/>
            <p:cNvSpPr/>
            <p:nvPr/>
          </p:nvSpPr>
          <p:spPr>
            <a:xfrm flipH="false" flipV="false" rot="0">
              <a:off x="0" y="0"/>
              <a:ext cx="562413" cy="119490"/>
            </a:xfrm>
            <a:custGeom>
              <a:avLst/>
              <a:gdLst/>
              <a:ahLst/>
              <a:cxnLst/>
              <a:rect r="r" b="b" t="t" l="l"/>
              <a:pathLst>
                <a:path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w="28575" cap="rnd">
              <a:solidFill>
                <a:srgbClr val="FFFFFF"/>
              </a:solidFill>
              <a:prstDash val="solid"/>
              <a:round/>
            </a:ln>
          </p:spPr>
        </p:sp>
        <p:sp>
          <p:nvSpPr>
            <p:cNvPr name="TextBox 48" id="48"/>
            <p:cNvSpPr txBox="true"/>
            <p:nvPr/>
          </p:nvSpPr>
          <p:spPr>
            <a:xfrm>
              <a:off x="0" y="-19050"/>
              <a:ext cx="562413" cy="138540"/>
            </a:xfrm>
            <a:prstGeom prst="rect">
              <a:avLst/>
            </a:prstGeom>
          </p:spPr>
          <p:txBody>
            <a:bodyPr anchor="ctr" rtlCol="false" tIns="107619" lIns="107619" bIns="107619" rIns="107619"/>
            <a:lstStyle/>
            <a:p>
              <a:pPr algn="ctr">
                <a:lnSpc>
                  <a:spcPts val="1916"/>
                </a:lnSpc>
              </a:pPr>
            </a:p>
          </p:txBody>
        </p:sp>
      </p:grpSp>
      <p:sp>
        <p:nvSpPr>
          <p:cNvPr name="TextBox 49" id="49"/>
          <p:cNvSpPr txBox="true"/>
          <p:nvPr/>
        </p:nvSpPr>
        <p:spPr>
          <a:xfrm rot="0">
            <a:off x="7356367" y="1809200"/>
            <a:ext cx="3323630" cy="370913"/>
          </a:xfrm>
          <a:prstGeom prst="rect">
            <a:avLst/>
          </a:prstGeom>
        </p:spPr>
        <p:txBody>
          <a:bodyPr anchor="t" rtlCol="false" tIns="0" lIns="0" bIns="0" rIns="0">
            <a:spAutoFit/>
          </a:bodyPr>
          <a:lstStyle/>
          <a:p>
            <a:pPr algn="ctr">
              <a:lnSpc>
                <a:spcPts val="2462"/>
              </a:lnSpc>
            </a:pPr>
            <a:r>
              <a:rPr lang="en-US" b="true" sz="1985" spc="19">
                <a:solidFill>
                  <a:srgbClr val="000000"/>
                </a:solidFill>
                <a:latin typeface="Mont 2 Heavy"/>
                <a:ea typeface="Mont 2 Heavy"/>
                <a:cs typeface="Mont 2 Heavy"/>
                <a:sym typeface="Mont 2 Heavy"/>
              </a:rPr>
              <a:t>Kasir Pintar</a:t>
            </a:r>
          </a:p>
        </p:txBody>
      </p:sp>
      <p:sp>
        <p:nvSpPr>
          <p:cNvPr name="TextBox 50" id="50"/>
          <p:cNvSpPr txBox="true"/>
          <p:nvPr/>
        </p:nvSpPr>
        <p:spPr>
          <a:xfrm rot="0">
            <a:off x="4931739" y="83289"/>
            <a:ext cx="8913283" cy="1148588"/>
          </a:xfrm>
          <a:prstGeom prst="rect">
            <a:avLst/>
          </a:prstGeom>
        </p:spPr>
        <p:txBody>
          <a:bodyPr anchor="t" rtlCol="false" tIns="0" lIns="0" bIns="0" rIns="0">
            <a:spAutoFit/>
          </a:bodyPr>
          <a:lstStyle/>
          <a:p>
            <a:pPr algn="ctr">
              <a:lnSpc>
                <a:spcPts val="9405"/>
              </a:lnSpc>
            </a:pPr>
            <a:r>
              <a:rPr lang="en-US" b="true" sz="6270" spc="62">
                <a:solidFill>
                  <a:srgbClr val="FFFFFF"/>
                </a:solidFill>
                <a:latin typeface="Mont 1 Heavy"/>
                <a:ea typeface="Mont 1 Heavy"/>
                <a:cs typeface="Mont 1 Heavy"/>
                <a:sym typeface="Mont 1 Heavy"/>
              </a:rPr>
              <a:t>Success Story</a:t>
            </a:r>
          </a:p>
        </p:txBody>
      </p:sp>
      <p:grpSp>
        <p:nvGrpSpPr>
          <p:cNvPr name="Group 51" id="51"/>
          <p:cNvGrpSpPr/>
          <p:nvPr/>
        </p:nvGrpSpPr>
        <p:grpSpPr>
          <a:xfrm rot="0">
            <a:off x="1902687" y="6592703"/>
            <a:ext cx="13845023" cy="3492125"/>
            <a:chOff x="0" y="0"/>
            <a:chExt cx="18460030" cy="4656167"/>
          </a:xfrm>
        </p:grpSpPr>
        <p:grpSp>
          <p:nvGrpSpPr>
            <p:cNvPr name="Group 52" id="52"/>
            <p:cNvGrpSpPr/>
            <p:nvPr/>
          </p:nvGrpSpPr>
          <p:grpSpPr>
            <a:xfrm rot="0">
              <a:off x="400471" y="0"/>
              <a:ext cx="17864236" cy="4639475"/>
              <a:chOff x="0" y="0"/>
              <a:chExt cx="7394705" cy="1920460"/>
            </a:xfrm>
          </p:grpSpPr>
          <p:sp>
            <p:nvSpPr>
              <p:cNvPr name="Freeform 53" id="53"/>
              <p:cNvSpPr/>
              <p:nvPr/>
            </p:nvSpPr>
            <p:spPr>
              <a:xfrm flipH="false" flipV="false" rot="0">
                <a:off x="0" y="0"/>
                <a:ext cx="7394705" cy="1920460"/>
              </a:xfrm>
              <a:custGeom>
                <a:avLst/>
                <a:gdLst/>
                <a:ahLst/>
                <a:cxnLst/>
                <a:rect r="r" b="b" t="t" l="l"/>
                <a:pathLst>
                  <a:path h="1920460" w="7394705">
                    <a:moveTo>
                      <a:pt x="10812" y="0"/>
                    </a:moveTo>
                    <a:lnTo>
                      <a:pt x="7383893" y="0"/>
                    </a:lnTo>
                    <a:cubicBezTo>
                      <a:pt x="7386761" y="0"/>
                      <a:pt x="7389511" y="1139"/>
                      <a:pt x="7391539" y="3167"/>
                    </a:cubicBezTo>
                    <a:cubicBezTo>
                      <a:pt x="7393567" y="5194"/>
                      <a:pt x="7394705" y="7944"/>
                      <a:pt x="7394705" y="10812"/>
                    </a:cubicBezTo>
                    <a:lnTo>
                      <a:pt x="7394705" y="1909648"/>
                    </a:lnTo>
                    <a:cubicBezTo>
                      <a:pt x="7394705" y="1915619"/>
                      <a:pt x="7389864" y="1920460"/>
                      <a:pt x="7383893" y="1920460"/>
                    </a:cubicBezTo>
                    <a:lnTo>
                      <a:pt x="10812" y="1920460"/>
                    </a:lnTo>
                    <a:cubicBezTo>
                      <a:pt x="4841" y="1920460"/>
                      <a:pt x="0" y="1915619"/>
                      <a:pt x="0" y="1909648"/>
                    </a:cubicBezTo>
                    <a:lnTo>
                      <a:pt x="0" y="10812"/>
                    </a:lnTo>
                    <a:cubicBezTo>
                      <a:pt x="0" y="4841"/>
                      <a:pt x="4841" y="0"/>
                      <a:pt x="10812" y="0"/>
                    </a:cubicBezTo>
                    <a:close/>
                  </a:path>
                </a:pathLst>
              </a:custGeom>
              <a:solidFill>
                <a:srgbClr val="FFFFFF"/>
              </a:solidFill>
              <a:ln cap="rnd">
                <a:noFill/>
                <a:prstDash val="solid"/>
                <a:round/>
              </a:ln>
            </p:spPr>
          </p:sp>
          <p:sp>
            <p:nvSpPr>
              <p:cNvPr name="TextBox 54" id="54"/>
              <p:cNvSpPr txBox="true"/>
              <p:nvPr/>
            </p:nvSpPr>
            <p:spPr>
              <a:xfrm>
                <a:off x="0" y="-28575"/>
                <a:ext cx="7394705" cy="1949035"/>
              </a:xfrm>
              <a:prstGeom prst="rect">
                <a:avLst/>
              </a:prstGeom>
            </p:spPr>
            <p:txBody>
              <a:bodyPr anchor="ctr" rtlCol="false" tIns="41119" lIns="41119" bIns="41119" rIns="41119"/>
              <a:lstStyle/>
              <a:p>
                <a:pPr algn="ctr">
                  <a:lnSpc>
                    <a:spcPts val="1095"/>
                  </a:lnSpc>
                </a:pPr>
              </a:p>
            </p:txBody>
          </p:sp>
        </p:grpSp>
        <p:sp>
          <p:nvSpPr>
            <p:cNvPr name="Freeform 55" id="55"/>
            <p:cNvSpPr/>
            <p:nvPr/>
          </p:nvSpPr>
          <p:spPr>
            <a:xfrm flipH="false" flipV="false" rot="0">
              <a:off x="3391587" y="3576489"/>
              <a:ext cx="2356123" cy="777521"/>
            </a:xfrm>
            <a:custGeom>
              <a:avLst/>
              <a:gdLst/>
              <a:ahLst/>
              <a:cxnLst/>
              <a:rect r="r" b="b" t="t" l="l"/>
              <a:pathLst>
                <a:path h="777521" w="2356123">
                  <a:moveTo>
                    <a:pt x="0" y="0"/>
                  </a:moveTo>
                  <a:lnTo>
                    <a:pt x="2356123" y="0"/>
                  </a:lnTo>
                  <a:lnTo>
                    <a:pt x="2356123" y="777521"/>
                  </a:lnTo>
                  <a:lnTo>
                    <a:pt x="0" y="777521"/>
                  </a:lnTo>
                  <a:lnTo>
                    <a:pt x="0" y="0"/>
                  </a:lnTo>
                  <a:close/>
                </a:path>
              </a:pathLst>
            </a:custGeom>
            <a:blipFill>
              <a:blip r:embed="rId10"/>
              <a:stretch>
                <a:fillRect l="0" t="0" r="0" b="0"/>
              </a:stretch>
            </a:blipFill>
          </p:spPr>
        </p:sp>
        <p:sp>
          <p:nvSpPr>
            <p:cNvPr name="Freeform 56" id="56"/>
            <p:cNvSpPr/>
            <p:nvPr/>
          </p:nvSpPr>
          <p:spPr>
            <a:xfrm flipH="false" flipV="false" rot="0">
              <a:off x="463313" y="1258525"/>
              <a:ext cx="2231584" cy="1085572"/>
            </a:xfrm>
            <a:custGeom>
              <a:avLst/>
              <a:gdLst/>
              <a:ahLst/>
              <a:cxnLst/>
              <a:rect r="r" b="b" t="t" l="l"/>
              <a:pathLst>
                <a:path h="1085572" w="2231584">
                  <a:moveTo>
                    <a:pt x="0" y="0"/>
                  </a:moveTo>
                  <a:lnTo>
                    <a:pt x="2231585" y="0"/>
                  </a:lnTo>
                  <a:lnTo>
                    <a:pt x="2231585" y="1085572"/>
                  </a:lnTo>
                  <a:lnTo>
                    <a:pt x="0" y="1085572"/>
                  </a:lnTo>
                  <a:lnTo>
                    <a:pt x="0" y="0"/>
                  </a:lnTo>
                  <a:close/>
                </a:path>
              </a:pathLst>
            </a:custGeom>
            <a:blipFill>
              <a:blip r:embed="rId11"/>
              <a:stretch>
                <a:fillRect l="0" t="-11982" r="0" b="-11982"/>
              </a:stretch>
            </a:blipFill>
          </p:spPr>
        </p:sp>
        <p:sp>
          <p:nvSpPr>
            <p:cNvPr name="Freeform 57" id="57"/>
            <p:cNvSpPr/>
            <p:nvPr/>
          </p:nvSpPr>
          <p:spPr>
            <a:xfrm flipH="false" flipV="false" rot="0">
              <a:off x="13601601" y="1466528"/>
              <a:ext cx="1845027" cy="669566"/>
            </a:xfrm>
            <a:custGeom>
              <a:avLst/>
              <a:gdLst/>
              <a:ahLst/>
              <a:cxnLst/>
              <a:rect r="r" b="b" t="t" l="l"/>
              <a:pathLst>
                <a:path h="669566" w="1845027">
                  <a:moveTo>
                    <a:pt x="0" y="0"/>
                  </a:moveTo>
                  <a:lnTo>
                    <a:pt x="1845027" y="0"/>
                  </a:lnTo>
                  <a:lnTo>
                    <a:pt x="1845027" y="669566"/>
                  </a:lnTo>
                  <a:lnTo>
                    <a:pt x="0" y="669566"/>
                  </a:lnTo>
                  <a:lnTo>
                    <a:pt x="0" y="0"/>
                  </a:lnTo>
                  <a:close/>
                </a:path>
              </a:pathLst>
            </a:custGeom>
            <a:blipFill>
              <a:blip r:embed="rId12"/>
              <a:stretch>
                <a:fillRect l="0" t="0" r="0" b="0"/>
              </a:stretch>
            </a:blipFill>
          </p:spPr>
        </p:sp>
        <p:sp>
          <p:nvSpPr>
            <p:cNvPr name="Freeform 58" id="58"/>
            <p:cNvSpPr/>
            <p:nvPr/>
          </p:nvSpPr>
          <p:spPr>
            <a:xfrm flipH="false" flipV="false" rot="0">
              <a:off x="2419390" y="2589264"/>
              <a:ext cx="1648458" cy="836592"/>
            </a:xfrm>
            <a:custGeom>
              <a:avLst/>
              <a:gdLst/>
              <a:ahLst/>
              <a:cxnLst/>
              <a:rect r="r" b="b" t="t" l="l"/>
              <a:pathLst>
                <a:path h="836592" w="1648458">
                  <a:moveTo>
                    <a:pt x="0" y="0"/>
                  </a:moveTo>
                  <a:lnTo>
                    <a:pt x="1648458" y="0"/>
                  </a:lnTo>
                  <a:lnTo>
                    <a:pt x="1648458" y="836592"/>
                  </a:lnTo>
                  <a:lnTo>
                    <a:pt x="0" y="836592"/>
                  </a:lnTo>
                  <a:lnTo>
                    <a:pt x="0" y="0"/>
                  </a:lnTo>
                  <a:close/>
                </a:path>
              </a:pathLst>
            </a:custGeom>
            <a:blipFill>
              <a:blip r:embed="rId13"/>
              <a:stretch>
                <a:fillRect l="0" t="0" r="0" b="0"/>
              </a:stretch>
            </a:blipFill>
          </p:spPr>
        </p:sp>
        <p:sp>
          <p:nvSpPr>
            <p:cNvPr name="Freeform 59" id="59"/>
            <p:cNvSpPr/>
            <p:nvPr/>
          </p:nvSpPr>
          <p:spPr>
            <a:xfrm flipH="false" flipV="false" rot="0">
              <a:off x="14716701" y="3069861"/>
              <a:ext cx="1586306" cy="1586306"/>
            </a:xfrm>
            <a:custGeom>
              <a:avLst/>
              <a:gdLst/>
              <a:ahLst/>
              <a:cxnLst/>
              <a:rect r="r" b="b" t="t" l="l"/>
              <a:pathLst>
                <a:path h="1586306" w="1586306">
                  <a:moveTo>
                    <a:pt x="0" y="0"/>
                  </a:moveTo>
                  <a:lnTo>
                    <a:pt x="1586305" y="0"/>
                  </a:lnTo>
                  <a:lnTo>
                    <a:pt x="1586305" y="1586306"/>
                  </a:lnTo>
                  <a:lnTo>
                    <a:pt x="0" y="1586306"/>
                  </a:lnTo>
                  <a:lnTo>
                    <a:pt x="0" y="0"/>
                  </a:lnTo>
                  <a:close/>
                </a:path>
              </a:pathLst>
            </a:custGeom>
            <a:blipFill>
              <a:blip r:embed="rId14"/>
              <a:stretch>
                <a:fillRect l="0" t="0" r="0" b="0"/>
              </a:stretch>
            </a:blipFill>
          </p:spPr>
        </p:sp>
        <p:sp>
          <p:nvSpPr>
            <p:cNvPr name="Freeform 60" id="60"/>
            <p:cNvSpPr/>
            <p:nvPr/>
          </p:nvSpPr>
          <p:spPr>
            <a:xfrm flipH="false" flipV="false" rot="0">
              <a:off x="7313031" y="2462341"/>
              <a:ext cx="3760056" cy="963514"/>
            </a:xfrm>
            <a:custGeom>
              <a:avLst/>
              <a:gdLst/>
              <a:ahLst/>
              <a:cxnLst/>
              <a:rect r="r" b="b" t="t" l="l"/>
              <a:pathLst>
                <a:path h="963514" w="3760056">
                  <a:moveTo>
                    <a:pt x="0" y="0"/>
                  </a:moveTo>
                  <a:lnTo>
                    <a:pt x="3760057" y="0"/>
                  </a:lnTo>
                  <a:lnTo>
                    <a:pt x="3760057" y="963515"/>
                  </a:lnTo>
                  <a:lnTo>
                    <a:pt x="0" y="963515"/>
                  </a:lnTo>
                  <a:lnTo>
                    <a:pt x="0" y="0"/>
                  </a:lnTo>
                  <a:close/>
                </a:path>
              </a:pathLst>
            </a:custGeom>
            <a:blipFill>
              <a:blip r:embed="rId15"/>
              <a:stretch>
                <a:fillRect l="0" t="0" r="0" b="0"/>
              </a:stretch>
            </a:blipFill>
          </p:spPr>
        </p:sp>
        <p:sp>
          <p:nvSpPr>
            <p:cNvPr name="TextBox 61" id="61"/>
            <p:cNvSpPr txBox="true"/>
            <p:nvPr/>
          </p:nvSpPr>
          <p:spPr>
            <a:xfrm rot="0">
              <a:off x="0" y="108051"/>
              <a:ext cx="18460030" cy="793329"/>
            </a:xfrm>
            <a:prstGeom prst="rect">
              <a:avLst/>
            </a:prstGeom>
          </p:spPr>
          <p:txBody>
            <a:bodyPr anchor="t" rtlCol="false" tIns="0" lIns="0" bIns="0" rIns="0">
              <a:spAutoFit/>
            </a:bodyPr>
            <a:lstStyle/>
            <a:p>
              <a:pPr algn="ctr">
                <a:lnSpc>
                  <a:spcPts val="5011"/>
                </a:lnSpc>
              </a:pPr>
              <a:r>
                <a:rPr lang="en-US" sz="3579" b="true">
                  <a:solidFill>
                    <a:srgbClr val="000000"/>
                  </a:solidFill>
                  <a:latin typeface="Canva Sans Bold"/>
                  <a:ea typeface="Canva Sans Bold"/>
                  <a:cs typeface="Canva Sans Bold"/>
                  <a:sym typeface="Canva Sans Bold"/>
                </a:rPr>
                <a:t>Elevate Your Business As Our Clients</a:t>
              </a:r>
            </a:p>
          </p:txBody>
        </p:sp>
        <p:sp>
          <p:nvSpPr>
            <p:cNvPr name="Freeform 62" id="62"/>
            <p:cNvSpPr/>
            <p:nvPr/>
          </p:nvSpPr>
          <p:spPr>
            <a:xfrm flipH="false" flipV="false" rot="0">
              <a:off x="15301241" y="966187"/>
              <a:ext cx="2885463" cy="1412675"/>
            </a:xfrm>
            <a:custGeom>
              <a:avLst/>
              <a:gdLst/>
              <a:ahLst/>
              <a:cxnLst/>
              <a:rect r="r" b="b" t="t" l="l"/>
              <a:pathLst>
                <a:path h="1412675" w="2885463">
                  <a:moveTo>
                    <a:pt x="0" y="0"/>
                  </a:moveTo>
                  <a:lnTo>
                    <a:pt x="2885463" y="0"/>
                  </a:lnTo>
                  <a:lnTo>
                    <a:pt x="2885463" y="1412675"/>
                  </a:lnTo>
                  <a:lnTo>
                    <a:pt x="0" y="1412675"/>
                  </a:lnTo>
                  <a:lnTo>
                    <a:pt x="0" y="0"/>
                  </a:lnTo>
                  <a:close/>
                </a:path>
              </a:pathLst>
            </a:custGeom>
            <a:blipFill>
              <a:blip r:embed="rId16"/>
              <a:stretch>
                <a:fillRect l="-11113" t="-23069" r="-18620" b="-25985"/>
              </a:stretch>
            </a:blipFill>
          </p:spPr>
        </p:sp>
        <p:sp>
          <p:nvSpPr>
            <p:cNvPr name="Freeform 63" id="63"/>
            <p:cNvSpPr/>
            <p:nvPr/>
          </p:nvSpPr>
          <p:spPr>
            <a:xfrm flipH="false" flipV="false" rot="0">
              <a:off x="2482583" y="1057678"/>
              <a:ext cx="1645991" cy="1468698"/>
            </a:xfrm>
            <a:custGeom>
              <a:avLst/>
              <a:gdLst/>
              <a:ahLst/>
              <a:cxnLst/>
              <a:rect r="r" b="b" t="t" l="l"/>
              <a:pathLst>
                <a:path h="1468698" w="1645991">
                  <a:moveTo>
                    <a:pt x="0" y="0"/>
                  </a:moveTo>
                  <a:lnTo>
                    <a:pt x="1645991" y="0"/>
                  </a:lnTo>
                  <a:lnTo>
                    <a:pt x="1645991" y="1468697"/>
                  </a:lnTo>
                  <a:lnTo>
                    <a:pt x="0" y="1468697"/>
                  </a:lnTo>
                  <a:lnTo>
                    <a:pt x="0" y="0"/>
                  </a:lnTo>
                  <a:close/>
                </a:path>
              </a:pathLst>
            </a:custGeom>
            <a:blipFill>
              <a:blip r:embed="rId17"/>
              <a:stretch>
                <a:fillRect l="-683" t="0" r="0" b="0"/>
              </a:stretch>
            </a:blipFill>
          </p:spPr>
        </p:sp>
        <p:sp>
          <p:nvSpPr>
            <p:cNvPr name="Freeform 64" id="64"/>
            <p:cNvSpPr/>
            <p:nvPr/>
          </p:nvSpPr>
          <p:spPr>
            <a:xfrm flipH="false" flipV="false" rot="0">
              <a:off x="251315" y="2474043"/>
              <a:ext cx="2329720" cy="992057"/>
            </a:xfrm>
            <a:custGeom>
              <a:avLst/>
              <a:gdLst/>
              <a:ahLst/>
              <a:cxnLst/>
              <a:rect r="r" b="b" t="t" l="l"/>
              <a:pathLst>
                <a:path h="992057" w="2329720">
                  <a:moveTo>
                    <a:pt x="0" y="0"/>
                  </a:moveTo>
                  <a:lnTo>
                    <a:pt x="2329720" y="0"/>
                  </a:lnTo>
                  <a:lnTo>
                    <a:pt x="2329720" y="992058"/>
                  </a:lnTo>
                  <a:lnTo>
                    <a:pt x="0" y="992058"/>
                  </a:lnTo>
                  <a:lnTo>
                    <a:pt x="0" y="0"/>
                  </a:lnTo>
                  <a:close/>
                </a:path>
              </a:pathLst>
            </a:custGeom>
            <a:blipFill>
              <a:blip r:embed="rId18"/>
              <a:stretch>
                <a:fillRect l="0" t="-70124" r="-817" b="-66631"/>
              </a:stretch>
            </a:blipFill>
          </p:spPr>
        </p:sp>
        <p:sp>
          <p:nvSpPr>
            <p:cNvPr name="Freeform 65" id="65"/>
            <p:cNvSpPr/>
            <p:nvPr/>
          </p:nvSpPr>
          <p:spPr>
            <a:xfrm flipH="false" flipV="false" rot="0">
              <a:off x="560523" y="3425856"/>
              <a:ext cx="3224895" cy="991655"/>
            </a:xfrm>
            <a:custGeom>
              <a:avLst/>
              <a:gdLst/>
              <a:ahLst/>
              <a:cxnLst/>
              <a:rect r="r" b="b" t="t" l="l"/>
              <a:pathLst>
                <a:path h="991655" w="3224895">
                  <a:moveTo>
                    <a:pt x="0" y="0"/>
                  </a:moveTo>
                  <a:lnTo>
                    <a:pt x="3224895" y="0"/>
                  </a:lnTo>
                  <a:lnTo>
                    <a:pt x="3224895" y="991655"/>
                  </a:lnTo>
                  <a:lnTo>
                    <a:pt x="0" y="991655"/>
                  </a:lnTo>
                  <a:lnTo>
                    <a:pt x="0" y="0"/>
                  </a:lnTo>
                  <a:close/>
                </a:path>
              </a:pathLst>
            </a:custGeom>
            <a:blipFill>
              <a:blip r:embed="rId19"/>
              <a:stretch>
                <a:fillRect l="0" t="0" r="0" b="0"/>
              </a:stretch>
            </a:blipFill>
          </p:spPr>
        </p:sp>
        <p:sp>
          <p:nvSpPr>
            <p:cNvPr name="Freeform 66" id="66"/>
            <p:cNvSpPr/>
            <p:nvPr/>
          </p:nvSpPr>
          <p:spPr>
            <a:xfrm flipH="false" flipV="false" rot="0">
              <a:off x="11073088" y="2378862"/>
              <a:ext cx="1306948" cy="1017409"/>
            </a:xfrm>
            <a:custGeom>
              <a:avLst/>
              <a:gdLst/>
              <a:ahLst/>
              <a:cxnLst/>
              <a:rect r="r" b="b" t="t" l="l"/>
              <a:pathLst>
                <a:path h="1017409" w="1306948">
                  <a:moveTo>
                    <a:pt x="0" y="0"/>
                  </a:moveTo>
                  <a:lnTo>
                    <a:pt x="1306948" y="0"/>
                  </a:lnTo>
                  <a:lnTo>
                    <a:pt x="1306948" y="1017409"/>
                  </a:lnTo>
                  <a:lnTo>
                    <a:pt x="0" y="1017409"/>
                  </a:lnTo>
                  <a:lnTo>
                    <a:pt x="0" y="0"/>
                  </a:lnTo>
                  <a:close/>
                </a:path>
              </a:pathLst>
            </a:custGeom>
            <a:blipFill>
              <a:blip r:embed="rId7"/>
              <a:stretch>
                <a:fillRect l="0" t="0" r="0" b="0"/>
              </a:stretch>
            </a:blipFill>
          </p:spPr>
        </p:sp>
        <p:sp>
          <p:nvSpPr>
            <p:cNvPr name="Freeform 67" id="67"/>
            <p:cNvSpPr/>
            <p:nvPr/>
          </p:nvSpPr>
          <p:spPr>
            <a:xfrm flipH="false" flipV="false" rot="0">
              <a:off x="8888483" y="3590589"/>
              <a:ext cx="3365273" cy="624513"/>
            </a:xfrm>
            <a:custGeom>
              <a:avLst/>
              <a:gdLst/>
              <a:ahLst/>
              <a:cxnLst/>
              <a:rect r="r" b="b" t="t" l="l"/>
              <a:pathLst>
                <a:path h="624513" w="3365273">
                  <a:moveTo>
                    <a:pt x="0" y="0"/>
                  </a:moveTo>
                  <a:lnTo>
                    <a:pt x="3365273" y="0"/>
                  </a:lnTo>
                  <a:lnTo>
                    <a:pt x="3365273" y="624513"/>
                  </a:lnTo>
                  <a:lnTo>
                    <a:pt x="0" y="624513"/>
                  </a:lnTo>
                  <a:lnTo>
                    <a:pt x="0" y="0"/>
                  </a:lnTo>
                  <a:close/>
                </a:path>
              </a:pathLst>
            </a:custGeom>
            <a:blipFill>
              <a:blip r:embed="rId20"/>
              <a:stretch>
                <a:fillRect l="-1506" t="-21643" r="0" b="-21643"/>
              </a:stretch>
            </a:blipFill>
          </p:spPr>
        </p:sp>
        <p:sp>
          <p:nvSpPr>
            <p:cNvPr name="Freeform 68" id="68"/>
            <p:cNvSpPr/>
            <p:nvPr/>
          </p:nvSpPr>
          <p:spPr>
            <a:xfrm flipH="false" flipV="false" rot="0">
              <a:off x="15290226" y="2447018"/>
              <a:ext cx="2896478" cy="658949"/>
            </a:xfrm>
            <a:custGeom>
              <a:avLst/>
              <a:gdLst/>
              <a:ahLst/>
              <a:cxnLst/>
              <a:rect r="r" b="b" t="t" l="l"/>
              <a:pathLst>
                <a:path h="658949" w="2896478">
                  <a:moveTo>
                    <a:pt x="0" y="0"/>
                  </a:moveTo>
                  <a:lnTo>
                    <a:pt x="2896478" y="0"/>
                  </a:lnTo>
                  <a:lnTo>
                    <a:pt x="2896478" y="658949"/>
                  </a:lnTo>
                  <a:lnTo>
                    <a:pt x="0" y="658949"/>
                  </a:lnTo>
                  <a:lnTo>
                    <a:pt x="0" y="0"/>
                  </a:lnTo>
                  <a:close/>
                </a:path>
              </a:pathLst>
            </a:custGeom>
            <a:blipFill>
              <a:blip r:embed="rId21"/>
              <a:stretch>
                <a:fillRect l="0" t="0" r="0" b="0"/>
              </a:stretch>
            </a:blipFill>
          </p:spPr>
        </p:sp>
        <p:sp>
          <p:nvSpPr>
            <p:cNvPr name="Freeform 69" id="69"/>
            <p:cNvSpPr/>
            <p:nvPr/>
          </p:nvSpPr>
          <p:spPr>
            <a:xfrm flipH="false" flipV="false" rot="0">
              <a:off x="4067848" y="1418786"/>
              <a:ext cx="1309690" cy="746481"/>
            </a:xfrm>
            <a:custGeom>
              <a:avLst/>
              <a:gdLst/>
              <a:ahLst/>
              <a:cxnLst/>
              <a:rect r="r" b="b" t="t" l="l"/>
              <a:pathLst>
                <a:path h="746481" w="1309690">
                  <a:moveTo>
                    <a:pt x="0" y="0"/>
                  </a:moveTo>
                  <a:lnTo>
                    <a:pt x="1309690" y="0"/>
                  </a:lnTo>
                  <a:lnTo>
                    <a:pt x="1309690" y="746481"/>
                  </a:lnTo>
                  <a:lnTo>
                    <a:pt x="0" y="746481"/>
                  </a:lnTo>
                  <a:lnTo>
                    <a:pt x="0" y="0"/>
                  </a:lnTo>
                  <a:close/>
                </a:path>
              </a:pathLst>
            </a:custGeom>
            <a:blipFill>
              <a:blip r:embed="rId22"/>
              <a:stretch>
                <a:fillRect l="-14044" t="-62157" r="-9550" b="-54688"/>
              </a:stretch>
            </a:blipFill>
          </p:spPr>
        </p:sp>
        <p:sp>
          <p:nvSpPr>
            <p:cNvPr name="Freeform 70" id="70"/>
            <p:cNvSpPr/>
            <p:nvPr/>
          </p:nvSpPr>
          <p:spPr>
            <a:xfrm flipH="false" flipV="false" rot="0">
              <a:off x="8791273" y="1057678"/>
              <a:ext cx="2020030" cy="1229693"/>
            </a:xfrm>
            <a:custGeom>
              <a:avLst/>
              <a:gdLst/>
              <a:ahLst/>
              <a:cxnLst/>
              <a:rect r="r" b="b" t="t" l="l"/>
              <a:pathLst>
                <a:path h="1229693" w="2020030">
                  <a:moveTo>
                    <a:pt x="0" y="0"/>
                  </a:moveTo>
                  <a:lnTo>
                    <a:pt x="2020030" y="0"/>
                  </a:lnTo>
                  <a:lnTo>
                    <a:pt x="2020030" y="1229693"/>
                  </a:lnTo>
                  <a:lnTo>
                    <a:pt x="0" y="1229693"/>
                  </a:lnTo>
                  <a:lnTo>
                    <a:pt x="0" y="0"/>
                  </a:lnTo>
                  <a:close/>
                </a:path>
              </a:pathLst>
            </a:custGeom>
            <a:blipFill>
              <a:blip r:embed="rId23"/>
              <a:stretch>
                <a:fillRect l="0" t="0" r="0" b="0"/>
              </a:stretch>
            </a:blipFill>
          </p:spPr>
        </p:sp>
        <p:sp>
          <p:nvSpPr>
            <p:cNvPr name="Freeform 71" id="71"/>
            <p:cNvSpPr/>
            <p:nvPr/>
          </p:nvSpPr>
          <p:spPr>
            <a:xfrm flipH="false" flipV="false" rot="0">
              <a:off x="4160977" y="2462341"/>
              <a:ext cx="3046743" cy="874663"/>
            </a:xfrm>
            <a:custGeom>
              <a:avLst/>
              <a:gdLst/>
              <a:ahLst/>
              <a:cxnLst/>
              <a:rect r="r" b="b" t="t" l="l"/>
              <a:pathLst>
                <a:path h="874663" w="3046743">
                  <a:moveTo>
                    <a:pt x="0" y="0"/>
                  </a:moveTo>
                  <a:lnTo>
                    <a:pt x="3046743" y="0"/>
                  </a:lnTo>
                  <a:lnTo>
                    <a:pt x="3046743" y="874663"/>
                  </a:lnTo>
                  <a:lnTo>
                    <a:pt x="0" y="874663"/>
                  </a:lnTo>
                  <a:lnTo>
                    <a:pt x="0" y="0"/>
                  </a:lnTo>
                  <a:close/>
                </a:path>
              </a:pathLst>
            </a:custGeom>
            <a:blipFill>
              <a:blip r:embed="rId24"/>
              <a:stretch>
                <a:fillRect l="0" t="0" r="0" b="0"/>
              </a:stretch>
            </a:blipFill>
          </p:spPr>
        </p:sp>
        <p:sp>
          <p:nvSpPr>
            <p:cNvPr name="Freeform 72" id="72"/>
            <p:cNvSpPr/>
            <p:nvPr/>
          </p:nvSpPr>
          <p:spPr>
            <a:xfrm flipH="false" flipV="false" rot="0">
              <a:off x="10752579" y="852145"/>
              <a:ext cx="2735610" cy="1823740"/>
            </a:xfrm>
            <a:custGeom>
              <a:avLst/>
              <a:gdLst/>
              <a:ahLst/>
              <a:cxnLst/>
              <a:rect r="r" b="b" t="t" l="l"/>
              <a:pathLst>
                <a:path h="1823740" w="2735610">
                  <a:moveTo>
                    <a:pt x="0" y="0"/>
                  </a:moveTo>
                  <a:lnTo>
                    <a:pt x="2735610" y="0"/>
                  </a:lnTo>
                  <a:lnTo>
                    <a:pt x="2735610" y="1823740"/>
                  </a:lnTo>
                  <a:lnTo>
                    <a:pt x="0" y="1823740"/>
                  </a:lnTo>
                  <a:lnTo>
                    <a:pt x="0" y="0"/>
                  </a:lnTo>
                  <a:close/>
                </a:path>
              </a:pathLst>
            </a:custGeom>
            <a:blipFill>
              <a:blip r:embed="rId25"/>
              <a:stretch>
                <a:fillRect l="0" t="0" r="0" b="0"/>
              </a:stretch>
            </a:blipFill>
          </p:spPr>
        </p:sp>
        <p:sp>
          <p:nvSpPr>
            <p:cNvPr name="Freeform 73" id="73"/>
            <p:cNvSpPr/>
            <p:nvPr/>
          </p:nvSpPr>
          <p:spPr>
            <a:xfrm flipH="false" flipV="false" rot="0">
              <a:off x="6875132" y="1291917"/>
              <a:ext cx="2053514" cy="1155101"/>
            </a:xfrm>
            <a:custGeom>
              <a:avLst/>
              <a:gdLst/>
              <a:ahLst/>
              <a:cxnLst/>
              <a:rect r="r" b="b" t="t" l="l"/>
              <a:pathLst>
                <a:path h="1155101" w="2053514">
                  <a:moveTo>
                    <a:pt x="0" y="0"/>
                  </a:moveTo>
                  <a:lnTo>
                    <a:pt x="2053513" y="0"/>
                  </a:lnTo>
                  <a:lnTo>
                    <a:pt x="2053513" y="1155101"/>
                  </a:lnTo>
                  <a:lnTo>
                    <a:pt x="0" y="1155101"/>
                  </a:lnTo>
                  <a:lnTo>
                    <a:pt x="0" y="0"/>
                  </a:lnTo>
                  <a:close/>
                </a:path>
              </a:pathLst>
            </a:custGeom>
            <a:blipFill>
              <a:blip r:embed="rId26"/>
              <a:stretch>
                <a:fillRect l="0" t="0" r="0" b="0"/>
              </a:stretch>
            </a:blipFill>
          </p:spPr>
        </p:sp>
        <p:sp>
          <p:nvSpPr>
            <p:cNvPr name="Freeform 74" id="74"/>
            <p:cNvSpPr/>
            <p:nvPr/>
          </p:nvSpPr>
          <p:spPr>
            <a:xfrm flipH="false" flipV="false" rot="0">
              <a:off x="5427901" y="1524506"/>
              <a:ext cx="1623346" cy="689922"/>
            </a:xfrm>
            <a:custGeom>
              <a:avLst/>
              <a:gdLst/>
              <a:ahLst/>
              <a:cxnLst/>
              <a:rect r="r" b="b" t="t" l="l"/>
              <a:pathLst>
                <a:path h="689922" w="1623346">
                  <a:moveTo>
                    <a:pt x="0" y="0"/>
                  </a:moveTo>
                  <a:lnTo>
                    <a:pt x="1623346" y="0"/>
                  </a:lnTo>
                  <a:lnTo>
                    <a:pt x="1623346" y="689922"/>
                  </a:lnTo>
                  <a:lnTo>
                    <a:pt x="0" y="689922"/>
                  </a:lnTo>
                  <a:lnTo>
                    <a:pt x="0" y="0"/>
                  </a:lnTo>
                  <a:close/>
                </a:path>
              </a:pathLst>
            </a:custGeom>
            <a:blipFill>
              <a:blip r:embed="rId27"/>
              <a:stretch>
                <a:fillRect l="0" t="0" r="0" b="0"/>
              </a:stretch>
            </a:blipFill>
          </p:spPr>
        </p:sp>
        <p:sp>
          <p:nvSpPr>
            <p:cNvPr name="Freeform 75" id="75"/>
            <p:cNvSpPr/>
            <p:nvPr/>
          </p:nvSpPr>
          <p:spPr>
            <a:xfrm flipH="false" flipV="false" rot="0">
              <a:off x="11974950" y="3547183"/>
              <a:ext cx="2922931" cy="749001"/>
            </a:xfrm>
            <a:custGeom>
              <a:avLst/>
              <a:gdLst/>
              <a:ahLst/>
              <a:cxnLst/>
              <a:rect r="r" b="b" t="t" l="l"/>
              <a:pathLst>
                <a:path h="749001" w="2922931">
                  <a:moveTo>
                    <a:pt x="0" y="0"/>
                  </a:moveTo>
                  <a:lnTo>
                    <a:pt x="2922931" y="0"/>
                  </a:lnTo>
                  <a:lnTo>
                    <a:pt x="2922931" y="749001"/>
                  </a:lnTo>
                  <a:lnTo>
                    <a:pt x="0" y="749001"/>
                  </a:lnTo>
                  <a:lnTo>
                    <a:pt x="0" y="0"/>
                  </a:lnTo>
                  <a:close/>
                </a:path>
              </a:pathLst>
            </a:custGeom>
            <a:blipFill>
              <a:blip r:embed="rId28"/>
              <a:stretch>
                <a:fillRect l="0" t="0" r="0" b="0"/>
              </a:stretch>
            </a:blipFill>
          </p:spPr>
        </p:sp>
        <p:sp>
          <p:nvSpPr>
            <p:cNvPr name="Freeform 76" id="76"/>
            <p:cNvSpPr/>
            <p:nvPr/>
          </p:nvSpPr>
          <p:spPr>
            <a:xfrm flipH="false" flipV="false" rot="0">
              <a:off x="12345427" y="2378862"/>
              <a:ext cx="2921218" cy="810600"/>
            </a:xfrm>
            <a:custGeom>
              <a:avLst/>
              <a:gdLst/>
              <a:ahLst/>
              <a:cxnLst/>
              <a:rect r="r" b="b" t="t" l="l"/>
              <a:pathLst>
                <a:path h="810600" w="2921218">
                  <a:moveTo>
                    <a:pt x="0" y="0"/>
                  </a:moveTo>
                  <a:lnTo>
                    <a:pt x="2921218" y="0"/>
                  </a:lnTo>
                  <a:lnTo>
                    <a:pt x="2921218" y="810599"/>
                  </a:lnTo>
                  <a:lnTo>
                    <a:pt x="0" y="810599"/>
                  </a:lnTo>
                  <a:lnTo>
                    <a:pt x="0" y="0"/>
                  </a:lnTo>
                  <a:close/>
                </a:path>
              </a:pathLst>
            </a:custGeom>
            <a:blipFill>
              <a:blip r:embed="rId29"/>
              <a:stretch>
                <a:fillRect l="0" t="0" r="0" b="0"/>
              </a:stretch>
            </a:blipFill>
          </p:spPr>
        </p:sp>
        <p:sp>
          <p:nvSpPr>
            <p:cNvPr name="Freeform 77" id="77"/>
            <p:cNvSpPr/>
            <p:nvPr/>
          </p:nvSpPr>
          <p:spPr>
            <a:xfrm flipH="false" flipV="false" rot="0">
              <a:off x="5938458" y="3545795"/>
              <a:ext cx="2813953" cy="775809"/>
            </a:xfrm>
            <a:custGeom>
              <a:avLst/>
              <a:gdLst/>
              <a:ahLst/>
              <a:cxnLst/>
              <a:rect r="r" b="b" t="t" l="l"/>
              <a:pathLst>
                <a:path h="775809" w="2813953">
                  <a:moveTo>
                    <a:pt x="0" y="0"/>
                  </a:moveTo>
                  <a:lnTo>
                    <a:pt x="2813953" y="0"/>
                  </a:lnTo>
                  <a:lnTo>
                    <a:pt x="2813953" y="775810"/>
                  </a:lnTo>
                  <a:lnTo>
                    <a:pt x="0" y="775810"/>
                  </a:lnTo>
                  <a:lnTo>
                    <a:pt x="0" y="0"/>
                  </a:lnTo>
                  <a:close/>
                </a:path>
              </a:pathLst>
            </a:custGeom>
            <a:blipFill>
              <a:blip r:embed="rId30"/>
              <a:stretch>
                <a:fillRect l="0" t="0" r="0" b="0"/>
              </a:stretch>
            </a:blipFill>
          </p:spPr>
        </p:sp>
        <p:sp>
          <p:nvSpPr>
            <p:cNvPr name="TextBox 78" id="78"/>
            <p:cNvSpPr txBox="true"/>
            <p:nvPr/>
          </p:nvSpPr>
          <p:spPr>
            <a:xfrm rot="0">
              <a:off x="15590676" y="3305343"/>
              <a:ext cx="2596028" cy="1048667"/>
            </a:xfrm>
            <a:prstGeom prst="rect">
              <a:avLst/>
            </a:prstGeom>
          </p:spPr>
          <p:txBody>
            <a:bodyPr anchor="t" rtlCol="false" tIns="0" lIns="0" bIns="0" rIns="0">
              <a:spAutoFit/>
            </a:bodyPr>
            <a:lstStyle/>
            <a:p>
              <a:pPr algn="r">
                <a:lnSpc>
                  <a:spcPts val="3221"/>
                </a:lnSpc>
              </a:pPr>
              <a:r>
                <a:rPr lang="en-US" b="true" sz="2147" i="true" spc="21">
                  <a:solidFill>
                    <a:srgbClr val="0D2A4E"/>
                  </a:solidFill>
                  <a:latin typeface="Mont 1 Bold Italics"/>
                  <a:ea typeface="Mont 1 Bold Italics"/>
                  <a:cs typeface="Mont 1 Bold Italics"/>
                  <a:sym typeface="Mont 1 Bold Italics"/>
                </a:rPr>
                <a:t>and other</a:t>
              </a:r>
            </a:p>
            <a:p>
              <a:pPr algn="r">
                <a:lnSpc>
                  <a:spcPts val="3221"/>
                </a:lnSpc>
              </a:pPr>
              <a:r>
                <a:rPr lang="en-US" b="true" sz="2147" i="true" spc="21">
                  <a:solidFill>
                    <a:srgbClr val="0D2A4E"/>
                  </a:solidFill>
                  <a:latin typeface="Mont 1 Bold Italics"/>
                  <a:ea typeface="Mont 1 Bold Italics"/>
                  <a:cs typeface="Mont 1 Bold Italics"/>
                  <a:sym typeface="Mont 1 Bold Italics"/>
                </a:rPr>
                <a:t>75+ Clients</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396D">
                <a:alpha val="100000"/>
              </a:srgbClr>
            </a:gs>
            <a:gs pos="100000">
              <a:srgbClr val="092647">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524564" y="0"/>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3" id="3"/>
          <p:cNvSpPr/>
          <p:nvPr/>
        </p:nvSpPr>
        <p:spPr>
          <a:xfrm flipH="false" flipV="false" rot="0">
            <a:off x="15524564" y="0"/>
            <a:ext cx="2763436" cy="657510"/>
          </a:xfrm>
          <a:custGeom>
            <a:avLst/>
            <a:gdLst/>
            <a:ahLst/>
            <a:cxnLst/>
            <a:rect r="r" b="b" t="t" l="l"/>
            <a:pathLst>
              <a:path h="657510" w="2763436">
                <a:moveTo>
                  <a:pt x="0" y="0"/>
                </a:moveTo>
                <a:lnTo>
                  <a:pt x="2763436" y="0"/>
                </a:lnTo>
                <a:lnTo>
                  <a:pt x="2763436" y="657510"/>
                </a:lnTo>
                <a:lnTo>
                  <a:pt x="0" y="657510"/>
                </a:lnTo>
                <a:lnTo>
                  <a:pt x="0" y="0"/>
                </a:lnTo>
                <a:close/>
              </a:path>
            </a:pathLst>
          </a:custGeom>
          <a:blipFill>
            <a:blip r:embed="rId2"/>
            <a:stretch>
              <a:fillRect l="-2336" t="0" r="0" b="0"/>
            </a:stretch>
          </a:blipFill>
        </p:spPr>
      </p:sp>
      <p:sp>
        <p:nvSpPr>
          <p:cNvPr name="Freeform 4" id="4"/>
          <p:cNvSpPr/>
          <p:nvPr/>
        </p:nvSpPr>
        <p:spPr>
          <a:xfrm flipH="false" flipV="false" rot="0">
            <a:off x="5210269" y="4576441"/>
            <a:ext cx="7867462" cy="1682772"/>
          </a:xfrm>
          <a:custGeom>
            <a:avLst/>
            <a:gdLst/>
            <a:ahLst/>
            <a:cxnLst/>
            <a:rect r="r" b="b" t="t" l="l"/>
            <a:pathLst>
              <a:path h="1682772" w="7867462">
                <a:moveTo>
                  <a:pt x="0" y="0"/>
                </a:moveTo>
                <a:lnTo>
                  <a:pt x="7867462" y="0"/>
                </a:lnTo>
                <a:lnTo>
                  <a:pt x="7867462" y="1682772"/>
                </a:lnTo>
                <a:lnTo>
                  <a:pt x="0" y="1682772"/>
                </a:lnTo>
                <a:lnTo>
                  <a:pt x="0" y="0"/>
                </a:lnTo>
                <a:close/>
              </a:path>
            </a:pathLst>
          </a:custGeom>
          <a:blipFill>
            <a:blip r:embed="rId3"/>
            <a:stretch>
              <a:fillRect l="-7259" t="-12705" r="-7166" b="-11675"/>
            </a:stretch>
          </a:blipFill>
        </p:spPr>
      </p:sp>
      <p:sp>
        <p:nvSpPr>
          <p:cNvPr name="AutoShape 5" id="5"/>
          <p:cNvSpPr/>
          <p:nvPr/>
        </p:nvSpPr>
        <p:spPr>
          <a:xfrm>
            <a:off x="8172457" y="8694479"/>
            <a:ext cx="1943085" cy="0"/>
          </a:xfrm>
          <a:prstGeom prst="line">
            <a:avLst/>
          </a:prstGeom>
          <a:ln cap="rnd" w="19050">
            <a:solidFill>
              <a:srgbClr val="FFFFFF"/>
            </a:solidFill>
            <a:prstDash val="solid"/>
            <a:headEnd type="none" len="sm" w="sm"/>
            <a:tailEnd type="none" len="sm" w="sm"/>
          </a:ln>
        </p:spPr>
      </p:sp>
      <p:sp>
        <p:nvSpPr>
          <p:cNvPr name="Freeform 6" id="6"/>
          <p:cNvSpPr/>
          <p:nvPr/>
        </p:nvSpPr>
        <p:spPr>
          <a:xfrm flipH="false" flipV="false" rot="0">
            <a:off x="8172457" y="8268372"/>
            <a:ext cx="1850827" cy="360824"/>
          </a:xfrm>
          <a:custGeom>
            <a:avLst/>
            <a:gdLst/>
            <a:ahLst/>
            <a:cxnLst/>
            <a:rect r="r" b="b" t="t" l="l"/>
            <a:pathLst>
              <a:path h="360824" w="1850827">
                <a:moveTo>
                  <a:pt x="0" y="0"/>
                </a:moveTo>
                <a:lnTo>
                  <a:pt x="1850827" y="0"/>
                </a:lnTo>
                <a:lnTo>
                  <a:pt x="1850827" y="360824"/>
                </a:lnTo>
                <a:lnTo>
                  <a:pt x="0" y="360824"/>
                </a:lnTo>
                <a:lnTo>
                  <a:pt x="0" y="0"/>
                </a:lnTo>
                <a:close/>
              </a:path>
            </a:pathLst>
          </a:custGeom>
          <a:blipFill>
            <a:blip r:embed="rId2"/>
            <a:stretch>
              <a:fillRect l="-4294" t="-12705" r="0" b="-11675"/>
            </a:stretch>
          </a:blipFill>
        </p:spPr>
      </p:sp>
      <p:grpSp>
        <p:nvGrpSpPr>
          <p:cNvPr name="Group 7" id="7"/>
          <p:cNvGrpSpPr/>
          <p:nvPr/>
        </p:nvGrpSpPr>
        <p:grpSpPr>
          <a:xfrm rot="0">
            <a:off x="7285307" y="6598219"/>
            <a:ext cx="2417963" cy="505165"/>
            <a:chOff x="0" y="0"/>
            <a:chExt cx="636830" cy="133048"/>
          </a:xfrm>
        </p:grpSpPr>
        <p:sp>
          <p:nvSpPr>
            <p:cNvPr name="Freeform 8" id="8"/>
            <p:cNvSpPr/>
            <p:nvPr/>
          </p:nvSpPr>
          <p:spPr>
            <a:xfrm flipH="false" flipV="false" rot="0">
              <a:off x="0" y="0"/>
              <a:ext cx="636830" cy="133048"/>
            </a:xfrm>
            <a:custGeom>
              <a:avLst/>
              <a:gdLst/>
              <a:ahLst/>
              <a:cxnLst/>
              <a:rect r="r" b="b" t="t" l="l"/>
              <a:pathLst>
                <a:path h="133048" w="636830">
                  <a:moveTo>
                    <a:pt x="66524" y="0"/>
                  </a:moveTo>
                  <a:lnTo>
                    <a:pt x="570306" y="0"/>
                  </a:lnTo>
                  <a:cubicBezTo>
                    <a:pt x="587949" y="0"/>
                    <a:pt x="604870" y="7009"/>
                    <a:pt x="617345" y="19484"/>
                  </a:cubicBezTo>
                  <a:cubicBezTo>
                    <a:pt x="629821" y="31960"/>
                    <a:pt x="636830" y="48881"/>
                    <a:pt x="636830" y="66524"/>
                  </a:cubicBezTo>
                  <a:lnTo>
                    <a:pt x="636830" y="66524"/>
                  </a:lnTo>
                  <a:cubicBezTo>
                    <a:pt x="636830" y="103264"/>
                    <a:pt x="607046" y="133048"/>
                    <a:pt x="570306"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2F7E9D"/>
            </a:solidFill>
          </p:spPr>
        </p:sp>
        <p:sp>
          <p:nvSpPr>
            <p:cNvPr name="TextBox 9" id="9"/>
            <p:cNvSpPr txBox="true"/>
            <p:nvPr/>
          </p:nvSpPr>
          <p:spPr>
            <a:xfrm>
              <a:off x="0" y="-57150"/>
              <a:ext cx="636830" cy="190198"/>
            </a:xfrm>
            <a:prstGeom prst="rect">
              <a:avLst/>
            </a:prstGeom>
          </p:spPr>
          <p:txBody>
            <a:bodyPr anchor="ctr" rtlCol="false" tIns="50800" lIns="50800" bIns="50800" rIns="50800"/>
            <a:lstStyle/>
            <a:p>
              <a:pPr algn="ctr">
                <a:lnSpc>
                  <a:spcPts val="2007"/>
                </a:lnSpc>
              </a:pPr>
            </a:p>
          </p:txBody>
        </p:sp>
      </p:grpSp>
      <p:sp>
        <p:nvSpPr>
          <p:cNvPr name="Freeform 10" id="10"/>
          <p:cNvSpPr/>
          <p:nvPr/>
        </p:nvSpPr>
        <p:spPr>
          <a:xfrm flipH="false" flipV="false" rot="0">
            <a:off x="7514709" y="6679266"/>
            <a:ext cx="343072" cy="343072"/>
          </a:xfrm>
          <a:custGeom>
            <a:avLst/>
            <a:gdLst/>
            <a:ahLst/>
            <a:cxnLst/>
            <a:rect r="r" b="b" t="t" l="l"/>
            <a:pathLst>
              <a:path h="343072" w="343072">
                <a:moveTo>
                  <a:pt x="0" y="0"/>
                </a:moveTo>
                <a:lnTo>
                  <a:pt x="343072" y="0"/>
                </a:lnTo>
                <a:lnTo>
                  <a:pt x="343072" y="343072"/>
                </a:lnTo>
                <a:lnTo>
                  <a:pt x="0" y="343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609351" y="6598219"/>
            <a:ext cx="3385507" cy="505165"/>
            <a:chOff x="0" y="0"/>
            <a:chExt cx="891656" cy="133048"/>
          </a:xfrm>
        </p:grpSpPr>
        <p:sp>
          <p:nvSpPr>
            <p:cNvPr name="Freeform 12" id="12"/>
            <p:cNvSpPr/>
            <p:nvPr/>
          </p:nvSpPr>
          <p:spPr>
            <a:xfrm flipH="false" flipV="false" rot="0">
              <a:off x="0" y="0"/>
              <a:ext cx="891656" cy="133048"/>
            </a:xfrm>
            <a:custGeom>
              <a:avLst/>
              <a:gdLst/>
              <a:ahLst/>
              <a:cxnLst/>
              <a:rect r="r" b="b" t="t" l="l"/>
              <a:pathLst>
                <a:path h="133048" w="891656">
                  <a:moveTo>
                    <a:pt x="66524" y="0"/>
                  </a:moveTo>
                  <a:lnTo>
                    <a:pt x="825132" y="0"/>
                  </a:lnTo>
                  <a:cubicBezTo>
                    <a:pt x="861872" y="0"/>
                    <a:pt x="891656" y="29784"/>
                    <a:pt x="891656" y="66524"/>
                  </a:cubicBezTo>
                  <a:lnTo>
                    <a:pt x="891656" y="66524"/>
                  </a:lnTo>
                  <a:cubicBezTo>
                    <a:pt x="891656" y="84167"/>
                    <a:pt x="884647" y="101088"/>
                    <a:pt x="872172" y="113563"/>
                  </a:cubicBezTo>
                  <a:cubicBezTo>
                    <a:pt x="859696" y="126039"/>
                    <a:pt x="842776" y="133048"/>
                    <a:pt x="825132"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2F7E9D"/>
            </a:solidFill>
          </p:spPr>
        </p:sp>
        <p:sp>
          <p:nvSpPr>
            <p:cNvPr name="TextBox 13" id="13"/>
            <p:cNvSpPr txBox="true"/>
            <p:nvPr/>
          </p:nvSpPr>
          <p:spPr>
            <a:xfrm>
              <a:off x="0" y="-57150"/>
              <a:ext cx="891656" cy="190198"/>
            </a:xfrm>
            <a:prstGeom prst="rect">
              <a:avLst/>
            </a:prstGeom>
          </p:spPr>
          <p:txBody>
            <a:bodyPr anchor="ctr" rtlCol="false" tIns="50800" lIns="50800" bIns="50800" rIns="50800"/>
            <a:lstStyle/>
            <a:p>
              <a:pPr algn="ctr">
                <a:lnSpc>
                  <a:spcPts val="2007"/>
                </a:lnSpc>
              </a:pPr>
            </a:p>
          </p:txBody>
        </p:sp>
      </p:grpSp>
      <p:sp>
        <p:nvSpPr>
          <p:cNvPr name="Freeform 14" id="14"/>
          <p:cNvSpPr/>
          <p:nvPr/>
        </p:nvSpPr>
        <p:spPr>
          <a:xfrm flipH="false" flipV="false" rot="0">
            <a:off x="3852952" y="6681502"/>
            <a:ext cx="338176" cy="338599"/>
          </a:xfrm>
          <a:custGeom>
            <a:avLst/>
            <a:gdLst/>
            <a:ahLst/>
            <a:cxnLst/>
            <a:rect r="r" b="b" t="t" l="l"/>
            <a:pathLst>
              <a:path h="338599" w="338176">
                <a:moveTo>
                  <a:pt x="0" y="0"/>
                </a:moveTo>
                <a:lnTo>
                  <a:pt x="338175" y="0"/>
                </a:lnTo>
                <a:lnTo>
                  <a:pt x="338175" y="338599"/>
                </a:lnTo>
                <a:lnTo>
                  <a:pt x="0" y="3385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0">
            <a:off x="9989020" y="6598219"/>
            <a:ext cx="4277763" cy="505165"/>
            <a:chOff x="0" y="0"/>
            <a:chExt cx="1126654" cy="133048"/>
          </a:xfrm>
        </p:grpSpPr>
        <p:sp>
          <p:nvSpPr>
            <p:cNvPr name="Freeform 16" id="16"/>
            <p:cNvSpPr/>
            <p:nvPr/>
          </p:nvSpPr>
          <p:spPr>
            <a:xfrm flipH="false" flipV="false" rot="0">
              <a:off x="0" y="0"/>
              <a:ext cx="1126654" cy="133048"/>
            </a:xfrm>
            <a:custGeom>
              <a:avLst/>
              <a:gdLst/>
              <a:ahLst/>
              <a:cxnLst/>
              <a:rect r="r" b="b" t="t" l="l"/>
              <a:pathLst>
                <a:path h="133048" w="1126654">
                  <a:moveTo>
                    <a:pt x="66524" y="0"/>
                  </a:moveTo>
                  <a:lnTo>
                    <a:pt x="1060130" y="0"/>
                  </a:lnTo>
                  <a:cubicBezTo>
                    <a:pt x="1077773" y="0"/>
                    <a:pt x="1094694" y="7009"/>
                    <a:pt x="1107169" y="19484"/>
                  </a:cubicBezTo>
                  <a:cubicBezTo>
                    <a:pt x="1119645" y="31960"/>
                    <a:pt x="1126654" y="48881"/>
                    <a:pt x="1126654" y="66524"/>
                  </a:cubicBezTo>
                  <a:lnTo>
                    <a:pt x="1126654" y="66524"/>
                  </a:lnTo>
                  <a:cubicBezTo>
                    <a:pt x="1126654" y="84167"/>
                    <a:pt x="1119645" y="101088"/>
                    <a:pt x="1107169" y="113563"/>
                  </a:cubicBezTo>
                  <a:cubicBezTo>
                    <a:pt x="1094694" y="126039"/>
                    <a:pt x="1077773" y="133048"/>
                    <a:pt x="1060130"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2F7E9D"/>
            </a:solidFill>
          </p:spPr>
        </p:sp>
        <p:sp>
          <p:nvSpPr>
            <p:cNvPr name="TextBox 17" id="17"/>
            <p:cNvSpPr txBox="true"/>
            <p:nvPr/>
          </p:nvSpPr>
          <p:spPr>
            <a:xfrm>
              <a:off x="0" y="-57150"/>
              <a:ext cx="1126654" cy="190198"/>
            </a:xfrm>
            <a:prstGeom prst="rect">
              <a:avLst/>
            </a:prstGeom>
          </p:spPr>
          <p:txBody>
            <a:bodyPr anchor="ctr" rtlCol="false" tIns="50800" lIns="50800" bIns="50800" rIns="50800"/>
            <a:lstStyle/>
            <a:p>
              <a:pPr algn="ctr">
                <a:lnSpc>
                  <a:spcPts val="2007"/>
                </a:lnSpc>
              </a:pPr>
            </a:p>
          </p:txBody>
        </p:sp>
      </p:grpSp>
      <p:sp>
        <p:nvSpPr>
          <p:cNvPr name="Freeform 18" id="18"/>
          <p:cNvSpPr/>
          <p:nvPr/>
        </p:nvSpPr>
        <p:spPr>
          <a:xfrm flipH="false" flipV="false" rot="0">
            <a:off x="10230449" y="6681502"/>
            <a:ext cx="338599" cy="338599"/>
          </a:xfrm>
          <a:custGeom>
            <a:avLst/>
            <a:gdLst/>
            <a:ahLst/>
            <a:cxnLst/>
            <a:rect r="r" b="b" t="t" l="l"/>
            <a:pathLst>
              <a:path h="338599" w="338599">
                <a:moveTo>
                  <a:pt x="0" y="0"/>
                </a:moveTo>
                <a:lnTo>
                  <a:pt x="338599" y="0"/>
                </a:lnTo>
                <a:lnTo>
                  <a:pt x="338599" y="338599"/>
                </a:lnTo>
                <a:lnTo>
                  <a:pt x="0" y="3385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0" y="2843865"/>
            <a:ext cx="18288000" cy="1312912"/>
          </a:xfrm>
          <a:prstGeom prst="rect">
            <a:avLst/>
          </a:prstGeom>
        </p:spPr>
        <p:txBody>
          <a:bodyPr anchor="t" rtlCol="false" tIns="0" lIns="0" bIns="0" rIns="0">
            <a:spAutoFit/>
          </a:bodyPr>
          <a:lstStyle/>
          <a:p>
            <a:pPr algn="ctr">
              <a:lnSpc>
                <a:spcPts val="10289"/>
              </a:lnSpc>
            </a:pPr>
            <a:r>
              <a:rPr lang="en-US" sz="8574" b="true">
                <a:solidFill>
                  <a:srgbClr val="FFFFFF"/>
                </a:solidFill>
                <a:latin typeface="Mont 1 Heavy"/>
                <a:ea typeface="Mont 1 Heavy"/>
                <a:cs typeface="Mont 1 Heavy"/>
                <a:sym typeface="Mont 1 Heavy"/>
              </a:rPr>
              <a:t>Let’s  Get on the Road with</a:t>
            </a:r>
          </a:p>
        </p:txBody>
      </p:sp>
      <p:sp>
        <p:nvSpPr>
          <p:cNvPr name="TextBox 20" id="20"/>
          <p:cNvSpPr txBox="true"/>
          <p:nvPr/>
        </p:nvSpPr>
        <p:spPr>
          <a:xfrm rot="0">
            <a:off x="7950630" y="6668874"/>
            <a:ext cx="1536444" cy="316230"/>
          </a:xfrm>
          <a:prstGeom prst="rect">
            <a:avLst/>
          </a:prstGeom>
        </p:spPr>
        <p:txBody>
          <a:bodyPr anchor="t" rtlCol="false" tIns="0" lIns="0" bIns="0" rIns="0">
            <a:spAutoFit/>
          </a:bodyPr>
          <a:lstStyle/>
          <a:p>
            <a:pPr algn="l">
              <a:lnSpc>
                <a:spcPts val="2520"/>
              </a:lnSpc>
              <a:spcBef>
                <a:spcPct val="0"/>
              </a:spcBef>
            </a:pPr>
            <a:r>
              <a:rPr lang="en-US" b="true" sz="1800">
                <a:solidFill>
                  <a:srgbClr val="FFFFFF"/>
                </a:solidFill>
                <a:latin typeface="Mont 1 Semi-Bold"/>
                <a:ea typeface="Mont 1 Semi-Bold"/>
                <a:cs typeface="Mont 1 Semi-Bold"/>
                <a:sym typeface="Mont 1 Semi-Bold"/>
              </a:rPr>
              <a:t>@sanggabiz</a:t>
            </a:r>
          </a:p>
        </p:txBody>
      </p:sp>
      <p:sp>
        <p:nvSpPr>
          <p:cNvPr name="TextBox 21" id="21"/>
          <p:cNvSpPr txBox="true"/>
          <p:nvPr/>
        </p:nvSpPr>
        <p:spPr>
          <a:xfrm rot="0">
            <a:off x="4274674" y="6668874"/>
            <a:ext cx="2528256" cy="316230"/>
          </a:xfrm>
          <a:prstGeom prst="rect">
            <a:avLst/>
          </a:prstGeom>
        </p:spPr>
        <p:txBody>
          <a:bodyPr anchor="t" rtlCol="false" tIns="0" lIns="0" bIns="0" rIns="0">
            <a:spAutoFit/>
          </a:bodyPr>
          <a:lstStyle/>
          <a:p>
            <a:pPr algn="l">
              <a:lnSpc>
                <a:spcPts val="2520"/>
              </a:lnSpc>
              <a:spcBef>
                <a:spcPct val="0"/>
              </a:spcBef>
            </a:pPr>
            <a:r>
              <a:rPr lang="en-US" b="true" sz="1800">
                <a:solidFill>
                  <a:srgbClr val="FFFFFF"/>
                </a:solidFill>
                <a:latin typeface="Mont 1 Semi-Bold"/>
                <a:ea typeface="Mont 1 Semi-Bold"/>
                <a:cs typeface="Mont 1 Semi-Bold"/>
                <a:sym typeface="Mont 1 Semi-Bold"/>
              </a:rPr>
              <a:t>www.sanggabiz.com</a:t>
            </a:r>
          </a:p>
        </p:txBody>
      </p:sp>
      <p:sp>
        <p:nvSpPr>
          <p:cNvPr name="TextBox 22" id="22"/>
          <p:cNvSpPr txBox="true"/>
          <p:nvPr/>
        </p:nvSpPr>
        <p:spPr>
          <a:xfrm rot="0">
            <a:off x="10654343" y="6668874"/>
            <a:ext cx="4927552" cy="316203"/>
          </a:xfrm>
          <a:prstGeom prst="rect">
            <a:avLst/>
          </a:prstGeom>
        </p:spPr>
        <p:txBody>
          <a:bodyPr anchor="t" rtlCol="false" tIns="0" lIns="0" bIns="0" rIns="0">
            <a:spAutoFit/>
          </a:bodyPr>
          <a:lstStyle/>
          <a:p>
            <a:pPr algn="l">
              <a:lnSpc>
                <a:spcPts val="2520"/>
              </a:lnSpc>
              <a:spcBef>
                <a:spcPct val="0"/>
              </a:spcBef>
            </a:pPr>
            <a:r>
              <a:rPr lang="en-US" b="true" sz="1800">
                <a:solidFill>
                  <a:srgbClr val="FFFFFF"/>
                </a:solidFill>
                <a:latin typeface="Mont 1 Semi-Bold"/>
                <a:ea typeface="Mont 1 Semi-Bold"/>
                <a:cs typeface="Mont 1 Semi-Bold"/>
                <a:sym typeface="Mont 1 Semi-Bold"/>
              </a:rPr>
              <a:t>partnership@sanggabiz.com</a:t>
            </a:r>
          </a:p>
        </p:txBody>
      </p:sp>
      <p:sp>
        <p:nvSpPr>
          <p:cNvPr name="TextBox 23" id="23"/>
          <p:cNvSpPr txBox="true"/>
          <p:nvPr/>
        </p:nvSpPr>
        <p:spPr>
          <a:xfrm rot="0">
            <a:off x="6153194" y="8761039"/>
            <a:ext cx="6185558" cy="497261"/>
          </a:xfrm>
          <a:prstGeom prst="rect">
            <a:avLst/>
          </a:prstGeom>
        </p:spPr>
        <p:txBody>
          <a:bodyPr anchor="t" rtlCol="false" tIns="0" lIns="0" bIns="0" rIns="0">
            <a:spAutoFit/>
          </a:bodyPr>
          <a:lstStyle/>
          <a:p>
            <a:pPr algn="ctr">
              <a:lnSpc>
                <a:spcPts val="1991"/>
              </a:lnSpc>
              <a:spcBef>
                <a:spcPct val="0"/>
              </a:spcBef>
            </a:pPr>
            <a:r>
              <a:rPr lang="en-US" b="true" sz="1422">
                <a:solidFill>
                  <a:srgbClr val="FFFFFF"/>
                </a:solidFill>
                <a:latin typeface="Mont 1 Bold"/>
                <a:ea typeface="Mont 1 Bold"/>
                <a:cs typeface="Mont 1 Bold"/>
                <a:sym typeface="Mont 1 Bold"/>
              </a:rPr>
              <a:t>Yogyakarta</a:t>
            </a:r>
            <a:r>
              <a:rPr lang="en-US" sz="1422">
                <a:solidFill>
                  <a:srgbClr val="FFFFFF"/>
                </a:solidFill>
                <a:latin typeface="Mont 1"/>
                <a:ea typeface="Mont 1"/>
                <a:cs typeface="Mont 1"/>
                <a:sym typeface="Mont 1"/>
              </a:rPr>
              <a:t> | </a:t>
            </a:r>
            <a:r>
              <a:rPr lang="en-US" sz="1422">
                <a:solidFill>
                  <a:srgbClr val="FFFFFF"/>
                </a:solidFill>
                <a:latin typeface="Mont 1"/>
                <a:ea typeface="Mont 1"/>
                <a:cs typeface="Mont 1"/>
                <a:sym typeface="Mont 1"/>
              </a:rPr>
              <a:t>Jl. Bambu Gading No.111, Sendon, Tirtoadi, Kec. Mlati, Kabupaten Sleman, Daerah Istimewa Yogyakarta 55287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DAG35Cly8Qw</dc:identifier>
  <dcterms:modified xsi:type="dcterms:W3CDTF">2011-08-01T06:04:30Z</dcterms:modified>
  <cp:revision>1</cp:revision>
  <dc:title>Company Profile - Training Portfolio Sanggabiz 2026</dc:title>
</cp:coreProperties>
</file>