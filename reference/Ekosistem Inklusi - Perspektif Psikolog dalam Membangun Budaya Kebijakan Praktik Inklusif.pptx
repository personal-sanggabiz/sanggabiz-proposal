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Plus Jakarta Sans"/>
      <p:regular r:id="rId32"/>
      <p:bold r:id="rId33"/>
      <p:italic r:id="rId34"/>
      <p:boldItalic r:id="rId35"/>
    </p:embeddedFont>
    <p:embeddedFont>
      <p:font typeface="Poppins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usJakartaSans-bold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regular.fntdata"/><Relationship Id="rId13" Type="http://schemas.openxmlformats.org/officeDocument/2006/relationships/slide" Target="slides/slide8.xml"/><Relationship Id="rId35" Type="http://schemas.openxmlformats.org/officeDocument/2006/relationships/font" Target="fonts/PlusJakartaSans-bold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-italic.fntdata"/><Relationship Id="rId15" Type="http://schemas.openxmlformats.org/officeDocument/2006/relationships/slide" Target="slides/slide10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da3c49e1_1_9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9da3c49e1_1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da3c49e1_1_8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09da3c49e1_1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9da3c49e1_1_9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409da3c49e1_1_903:notes"/>
          <p:cNvSpPr/>
          <p:nvPr>
            <p:ph idx="2" type="sldImg"/>
          </p:nvPr>
        </p:nvSpPr>
        <p:spPr>
          <a:xfrm>
            <a:off x="571500" y="1143000"/>
            <a:ext cx="571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da3c49e1_1_8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409da3c49e1_1_892:notes"/>
          <p:cNvSpPr/>
          <p:nvPr>
            <p:ph idx="2" type="sldImg"/>
          </p:nvPr>
        </p:nvSpPr>
        <p:spPr>
          <a:xfrm>
            <a:off x="571500" y="1143000"/>
            <a:ext cx="571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409da3c49e1_1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409da3c49e1_1_9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09da3c49e1_1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409da3c49e1_1_9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09da3c49e1_1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409da3c49e1_1_1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409da3c49e1_1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409da3c49e1_1_10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7.jp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8.jpg"/><Relationship Id="rId7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6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77725" y="524475"/>
            <a:ext cx="51174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Ekosistem Inklusi di MTS: Perspektif Psikolog dalam Membangun Budaya, Kebijakan, &amp; Praktik Inklusif</a:t>
            </a:r>
            <a:endParaRPr sz="2400"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 b="18657" l="16539" r="20022" t="21981"/>
          <a:stretch/>
        </p:blipFill>
        <p:spPr>
          <a:xfrm>
            <a:off x="1408658" y="803232"/>
            <a:ext cx="979211" cy="89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609600" y="6000750"/>
            <a:ext cx="10972800" cy="400050"/>
          </a:xfrm>
          <a:prstGeom prst="roundRect">
            <a:avLst>
              <a:gd fmla="val 190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609600" y="1381125"/>
            <a:ext cx="1421903" cy="4314825"/>
          </a:xfrm>
          <a:prstGeom prst="roundRect">
            <a:avLst>
              <a:gd fmla="val 8038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164853" y="1381125"/>
            <a:ext cx="1421903" cy="4314825"/>
          </a:xfrm>
          <a:prstGeom prst="roundRect">
            <a:avLst>
              <a:gd fmla="val 8038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720107" y="1381125"/>
            <a:ext cx="1421903" cy="4314825"/>
          </a:xfrm>
          <a:prstGeom prst="roundRect">
            <a:avLst>
              <a:gd fmla="val 8038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275361" y="1381125"/>
            <a:ext cx="1440953" cy="4314825"/>
          </a:xfrm>
          <a:prstGeom prst="roundRect">
            <a:avLst>
              <a:gd fmla="val 7932" name="adj"/>
            </a:avLst>
          </a:prstGeom>
          <a:solidFill>
            <a:srgbClr val="F3E8FF"/>
          </a:solidFill>
          <a:ln cap="flat" cmpd="sng" w="1905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49665" y="1381125"/>
            <a:ext cx="1421903" cy="4314825"/>
          </a:xfrm>
          <a:prstGeom prst="roundRect">
            <a:avLst>
              <a:gd fmla="val 8038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404919" y="1381125"/>
            <a:ext cx="1421903" cy="4314825"/>
          </a:xfrm>
          <a:prstGeom prst="roundRect">
            <a:avLst>
              <a:gd fmla="val 8038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9960173" y="1381125"/>
            <a:ext cx="1622375" cy="4314825"/>
          </a:xfrm>
          <a:prstGeom prst="roundRect">
            <a:avLst>
              <a:gd fmla="val 7045" name="adj"/>
            </a:avLst>
          </a:prstGeom>
          <a:solidFill>
            <a:srgbClr val="6B2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6000750"/>
            <a:ext cx="38100" cy="40005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71525" y="1590675"/>
            <a:ext cx="552450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326778" y="1590675"/>
            <a:ext cx="619125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882032" y="1590675"/>
            <a:ext cx="600075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446811" y="1600200"/>
            <a:ext cx="638175" cy="219075"/>
          </a:xfrm>
          <a:prstGeom prst="roundRect">
            <a:avLst>
              <a:gd fmla="val 26086" name="adj"/>
            </a:avLst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011590" y="1590675"/>
            <a:ext cx="561975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566844" y="1590675"/>
            <a:ext cx="552450" cy="219075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0112573" y="1581150"/>
            <a:ext cx="628650" cy="219075"/>
          </a:xfrm>
          <a:prstGeom prst="roundRect">
            <a:avLst>
              <a:gd fmla="val 26086" name="adj"/>
            </a:avLst>
          </a:prstGeom>
          <a:solidFill>
            <a:srgbClr val="D8B4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 Workshop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Peta Jalan Sesi 1 (90 Menit)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8200" y="6115050"/>
            <a:ext cx="11353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Catatan Fasilitator: Sesi ini bersifat konsultatif dan edukatif, fokus pemecahan masalah nyata di madrasah.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5191125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Payung hukum inklusi madrasah.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326778" y="5191125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Prinsip dasar &amp; 3 pilar utama.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882032" y="5191125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Pembelajaran dari sekolah mitra.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446811" y="5181600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Observasi kelas &amp; hasil psikotes.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011590" y="5191125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Fungsi konsultan pembelajaran.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566844" y="5191125"/>
            <a:ext cx="11933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Sintesis poin penting.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112573" y="5200650"/>
            <a:ext cx="1412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9D5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Diskusi interaktif &amp; konsultasi kasus.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7725" y="1628775"/>
            <a:ext cx="495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Menit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71525" y="1895475"/>
            <a:ext cx="12529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Regulasi &amp; Pembuka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402978" y="1628775"/>
            <a:ext cx="5619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Menit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2326778" y="1895475"/>
            <a:ext cx="14529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Konsep Inklusi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958232" y="1628775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 Menit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882032" y="1895475"/>
            <a:ext cx="12529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Practice TK/SD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523011" y="1638300"/>
            <a:ext cx="5810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Menit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446811" y="1905000"/>
            <a:ext cx="14529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 Kasus Inklusif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087790" y="1628775"/>
            <a:ext cx="504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Menit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011590" y="1895475"/>
            <a:ext cx="14529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Peran Psikolog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643044" y="1628775"/>
            <a:ext cx="4953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Menit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566844" y="1895475"/>
            <a:ext cx="14529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Rangkuman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188773" y="1619250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 Menit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0112573" y="1885950"/>
            <a:ext cx="17293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Sesi 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263352" y="332656"/>
            <a:ext cx="111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646"/>
                </a:solidFill>
                <a:latin typeface="Poppins"/>
                <a:ea typeface="Poppins"/>
                <a:cs typeface="Poppins"/>
                <a:sym typeface="Poppins"/>
              </a:rPr>
              <a:t>Bukan Sekedar “Ngetes”, tapi Membangun Ekosistem</a:t>
            </a:r>
            <a:endParaRPr b="1" sz="2400">
              <a:solidFill>
                <a:srgbClr val="0026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746555" y="5510283"/>
            <a:ext cx="24423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325" spcFirstLastPara="1" rIns="85325" wrap="square" tIns="853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Psikotes calon dan tenaga pengajar guru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Sekolah (Mendeteksi Kondisi Mental Guru di Sekolah)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16"/>
          <p:cNvGrpSpPr/>
          <p:nvPr/>
        </p:nvGrpSpPr>
        <p:grpSpPr>
          <a:xfrm>
            <a:off x="716332" y="1117822"/>
            <a:ext cx="10503364" cy="2589187"/>
            <a:chOff x="7698" y="1892667"/>
            <a:chExt cx="15754259" cy="3883586"/>
          </a:xfrm>
        </p:grpSpPr>
        <p:sp>
          <p:nvSpPr>
            <p:cNvPr id="143" name="Google Shape;143;p16"/>
            <p:cNvSpPr/>
            <p:nvPr/>
          </p:nvSpPr>
          <p:spPr>
            <a:xfrm>
              <a:off x="7698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7698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 kami tenaga professional psikolog klinis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berpengalaman lebih dari 8 tahun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Berpengalaman di RS dan Klinik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4037918" y="1892667"/>
              <a:ext cx="3663600" cy="2524200"/>
            </a:xfrm>
            <a:prstGeom prst="roundRect">
              <a:avLst>
                <a:gd fmla="val 16667" name="adj"/>
              </a:avLst>
            </a:prstGeom>
            <a:blipFill rotWithShape="1">
              <a:blip r:embed="rId3">
                <a:alphaModFix/>
              </a:blip>
              <a:stretch>
                <a:fillRect b="0" l="-10999" r="-10999" t="0"/>
              </a:stretch>
            </a:blipFill>
            <a:ln cap="flat" cmpd="sng" w="33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4037918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4037918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 Jenis Alat  Tes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dan terkomputerasi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Sehingga hasil lebih cepat, akurat dan bisa untuk jumlah banyak di satu waktu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8068137" y="1892667"/>
              <a:ext cx="3663600" cy="2524200"/>
            </a:xfrm>
            <a:prstGeom prst="roundRect">
              <a:avLst>
                <a:gd fmla="val 16667" name="adj"/>
              </a:avLst>
            </a:prstGeom>
            <a:blipFill rotWithShape="1">
              <a:blip r:embed="rId4">
                <a:alphaModFix/>
              </a:blip>
              <a:stretch>
                <a:fillRect b="0" l="-10999" r="-10999" t="0"/>
              </a:stretch>
            </a:blipFill>
            <a:ln cap="flat" cmpd="sng" w="33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8068137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8068137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Biro kami telah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dipercaya lebih dari 27 Sekolah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di Samarinda. Mulai dari TK hingga SMA</a:t>
              </a:r>
              <a:endParaRPr sz="9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2098357" y="1892667"/>
              <a:ext cx="3663600" cy="2524200"/>
            </a:xfrm>
            <a:prstGeom prst="roundRect">
              <a:avLst>
                <a:gd fmla="val 16667" name="adj"/>
              </a:avLst>
            </a:prstGeom>
            <a:blipFill rotWithShape="1">
              <a:blip r:embed="rId5">
                <a:alphaModFix/>
              </a:blip>
              <a:stretch>
                <a:fillRect b="-14999" l="0" r="0" t="-14999"/>
              </a:stretch>
            </a:blipFill>
            <a:ln cap="flat" cmpd="sng" w="33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12098357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12098357" y="4416953"/>
              <a:ext cx="3663600" cy="13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Layanan lengkap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mulai dari psikotes, pelatihan guru, kurikulum individu siswa ABK hingga terapi di Sekolah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698" y="1892667"/>
              <a:ext cx="3663600" cy="2524200"/>
            </a:xfrm>
            <a:prstGeom prst="roundRect">
              <a:avLst>
                <a:gd fmla="val 16667" name="adj"/>
              </a:avLst>
            </a:prstGeom>
            <a:blipFill rotWithShape="1">
              <a:blip r:embed="rId6">
                <a:alphaModFix/>
              </a:blip>
              <a:stretch>
                <a:fillRect b="-20001" l="0" r="0" t="-20001"/>
              </a:stretch>
            </a:blipFill>
            <a:ln cap="flat" cmpd="sng" w="33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5" name="Google Shape;15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7717" y="3848695"/>
            <a:ext cx="2860068" cy="160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203200" y="1556503"/>
            <a:ext cx="3013962" cy="2299249"/>
          </a:xfrm>
          <a:custGeom>
            <a:rect b="b" l="l" r="r" t="t"/>
            <a:pathLst>
              <a:path extrusionOk="0" h="3816181" w="5218981">
                <a:moveTo>
                  <a:pt x="0" y="0"/>
                </a:moveTo>
                <a:lnTo>
                  <a:pt x="5218981" y="0"/>
                </a:lnTo>
                <a:lnTo>
                  <a:pt x="5218981" y="3816180"/>
                </a:lnTo>
                <a:lnTo>
                  <a:pt x="0" y="3816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>
            <a:off x="8865913" y="1460788"/>
            <a:ext cx="2983649" cy="4307848"/>
          </a:xfrm>
          <a:custGeom>
            <a:rect b="b" l="l" r="r" t="t"/>
            <a:pathLst>
              <a:path extrusionOk="0" h="6243258" w="4371647">
                <a:moveTo>
                  <a:pt x="0" y="0"/>
                </a:moveTo>
                <a:lnTo>
                  <a:pt x="4371647" y="0"/>
                </a:lnTo>
                <a:lnTo>
                  <a:pt x="4371647" y="6243258"/>
                </a:lnTo>
                <a:lnTo>
                  <a:pt x="0" y="6243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7"/>
          <p:cNvSpPr txBox="1"/>
          <p:nvPr/>
        </p:nvSpPr>
        <p:spPr>
          <a:xfrm>
            <a:off x="1597197" y="188641"/>
            <a:ext cx="904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646"/>
                </a:solidFill>
                <a:latin typeface="Poppins"/>
                <a:ea typeface="Poppins"/>
                <a:cs typeface="Poppins"/>
                <a:sym typeface="Poppins"/>
              </a:rPr>
              <a:t>Pengenalan Biro Mustika Psychology Consulting</a:t>
            </a:r>
            <a:endParaRPr sz="900"/>
          </a:p>
        </p:txBody>
      </p:sp>
      <p:sp>
        <p:nvSpPr>
          <p:cNvPr id="163" name="Google Shape;163;p17"/>
          <p:cNvSpPr txBox="1"/>
          <p:nvPr/>
        </p:nvSpPr>
        <p:spPr>
          <a:xfrm>
            <a:off x="3791747" y="1177337"/>
            <a:ext cx="227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Surat Izin Praktik</a:t>
            </a:r>
            <a:endParaRPr b="1" sz="16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9292893" y="980729"/>
            <a:ext cx="227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Akta Pendirian PT</a:t>
            </a:r>
            <a:endParaRPr sz="900"/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3200" y="4551757"/>
            <a:ext cx="1865797" cy="1163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5561" y="1525237"/>
            <a:ext cx="2467143" cy="35174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11155" y="1541600"/>
            <a:ext cx="2616717" cy="350104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6407794" y="2376487"/>
            <a:ext cx="5174605" cy="2724150"/>
          </a:xfrm>
          <a:prstGeom prst="roundRect">
            <a:avLst>
              <a:gd fmla="val 5594" name="adj"/>
            </a:avLst>
          </a:prstGeom>
          <a:solidFill>
            <a:srgbClr val="F3E8FF"/>
          </a:solidFill>
          <a:ln cap="flat" cmpd="sng" w="9525">
            <a:solidFill>
              <a:srgbClr val="D8B4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09600" y="2147887"/>
            <a:ext cx="5455294" cy="1019175"/>
          </a:xfrm>
          <a:prstGeom prst="roundRect">
            <a:avLst>
              <a:gd fmla="val 11214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09600" y="3319462"/>
            <a:ext cx="5455294" cy="1019175"/>
          </a:xfrm>
          <a:prstGeom prst="roundRect">
            <a:avLst>
              <a:gd fmla="val 11214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09600" y="4491037"/>
            <a:ext cx="5455294" cy="838200"/>
          </a:xfrm>
          <a:prstGeom prst="roundRect">
            <a:avLst>
              <a:gd fmla="val 13636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722119" y="4452937"/>
            <a:ext cx="45459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09600" y="2147887"/>
            <a:ext cx="38100" cy="1019175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09600" y="3319462"/>
            <a:ext cx="38100" cy="1019175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09600" y="4491037"/>
            <a:ext cx="38100" cy="8382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722119" y="4452937"/>
            <a:ext cx="4545955" cy="9525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2119" y="2690812"/>
            <a:ext cx="454595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Landasan Hukum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Mengapa Pendidikan Inklusi Wajib di Madrasah?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722119" y="3224212"/>
            <a:ext cx="54698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Prinsip Kewajiban Madrasah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22119" y="3576637"/>
            <a:ext cx="46412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Madrasah wajib menerima peserta didik apa adanya tanpa membedakan kondisi fisik, mental, intelektual, maupun latar belakang khusus.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38200" y="2338387"/>
            <a:ext cx="661000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Kepdirjen Pendis No. 604 Tahun 2022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38200" y="2614600"/>
            <a:ext cx="54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Penetapan dan tata cara penyelenggaraan madrasah inklusif secara formal.</a:t>
            </a:r>
            <a:endParaRPr sz="1200"/>
          </a:p>
        </p:txBody>
      </p:sp>
      <p:sp>
        <p:nvSpPr>
          <p:cNvPr id="188" name="Google Shape;188;p18"/>
          <p:cNvSpPr txBox="1"/>
          <p:nvPr/>
        </p:nvSpPr>
        <p:spPr>
          <a:xfrm>
            <a:off x="838200" y="3509962"/>
            <a:ext cx="661000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Kepdirjen Pendis No. 758 Tahun 2022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8200" y="3786175"/>
            <a:ext cx="546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Pedoman teknis pelaksanaan dan pendampingan siswa berbutuhan khusus.</a:t>
            </a:r>
            <a:endParaRPr sz="1200"/>
          </a:p>
        </p:txBody>
      </p:sp>
      <p:sp>
        <p:nvSpPr>
          <p:cNvPr id="190" name="Google Shape;190;p18"/>
          <p:cNvSpPr txBox="1"/>
          <p:nvPr/>
        </p:nvSpPr>
        <p:spPr>
          <a:xfrm>
            <a:off x="838200" y="4681537"/>
            <a:ext cx="661000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Panduan Inklusi Kemenag 2017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38200" y="4957762"/>
            <a:ext cx="629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Acuan komprehensif tata kelola layanan inklusi dari RA hingga MA.</a:t>
            </a:r>
            <a:endParaRPr sz="1200"/>
          </a:p>
        </p:txBody>
      </p:sp>
      <p:sp>
        <p:nvSpPr>
          <p:cNvPr id="192" name="Google Shape;192;p18"/>
          <p:cNvSpPr txBox="1"/>
          <p:nvPr/>
        </p:nvSpPr>
        <p:spPr>
          <a:xfrm>
            <a:off x="6722119" y="4614862"/>
            <a:ext cx="54698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"Regulasi adalah payung perlindungan anak, bukan beban administratif."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609600" y="1228725"/>
            <a:ext cx="10972800" cy="600075"/>
          </a:xfrm>
          <a:prstGeom prst="roundRect">
            <a:avLst>
              <a:gd fmla="val 19047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09650" y="2071700"/>
            <a:ext cx="3426000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226024" y="1981212"/>
            <a:ext cx="3426000" cy="1628700"/>
          </a:xfrm>
          <a:prstGeom prst="roundRect">
            <a:avLst>
              <a:gd fmla="val 701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842399" y="2062175"/>
            <a:ext cx="3739800" cy="1467000"/>
          </a:xfrm>
          <a:prstGeom prst="roundRect">
            <a:avLst>
              <a:gd fmla="val 7792" name="adj"/>
            </a:avLst>
          </a:prstGeom>
          <a:solidFill>
            <a:srgbClr val="F3E8FF"/>
          </a:solidFill>
          <a:ln cap="flat" cmpd="sng" w="1905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847775" y="2309825"/>
            <a:ext cx="790500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464149" y="2219337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8090049" y="2309825"/>
            <a:ext cx="628800" cy="228600"/>
          </a:xfrm>
          <a:prstGeom prst="roundRect">
            <a:avLst>
              <a:gd fmla="val 25000" name="adj"/>
            </a:avLst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457325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Definisi &amp; Orientasi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Konsep Inklusi: Penerimaan Tanpa Syarat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09625" y="1428750"/>
            <a:ext cx="11382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Pendidikan inklusif adalah sistem yang menerima semua peserta didik tanpa syarat dalam lingkungan sekolah umum.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3025" y="2347925"/>
            <a:ext cx="695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Segregasi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47775" y="2624150"/>
            <a:ext cx="387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Terpisah Sama Sekali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47775" y="2919425"/>
            <a:ext cx="30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PDBK belajar di sekolah khusus (SLB). Terisolasi dari lingkungan umum.</a:t>
            </a:r>
            <a:endParaRPr sz="1200"/>
          </a:p>
        </p:txBody>
      </p:sp>
      <p:sp>
        <p:nvSpPr>
          <p:cNvPr id="211" name="Google Shape;211;p19"/>
          <p:cNvSpPr txBox="1"/>
          <p:nvPr/>
        </p:nvSpPr>
        <p:spPr>
          <a:xfrm>
            <a:off x="4559399" y="2257437"/>
            <a:ext cx="628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Integrasi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464149" y="2533662"/>
            <a:ext cx="387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Anak Menyesuaikan Sistem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464149" y="2828937"/>
            <a:ext cx="304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PDBK masuk kelas reguler tanpa penyesuaian kurikulum. Dituntut adaptasi mandiri.</a:t>
            </a:r>
            <a:endParaRPr sz="1200"/>
          </a:p>
        </p:txBody>
      </p:sp>
      <p:sp>
        <p:nvSpPr>
          <p:cNvPr id="214" name="Google Shape;214;p19"/>
          <p:cNvSpPr txBox="1"/>
          <p:nvPr/>
        </p:nvSpPr>
        <p:spPr>
          <a:xfrm>
            <a:off x="8185299" y="2347925"/>
            <a:ext cx="53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Inklusif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090049" y="2624150"/>
            <a:ext cx="410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Menyesuaikan Anak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090049" y="2919425"/>
            <a:ext cx="33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Lingkungan dan kurikulum diadaptasi agar mampu mengakomodasi keunikan setiap anak.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3529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450" y="3062929"/>
            <a:ext cx="5180726" cy="293439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fmla="val 17391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09600" y="1204918"/>
            <a:ext cx="3479700" cy="2224200"/>
          </a:xfrm>
          <a:prstGeom prst="roundRect">
            <a:avLst>
              <a:gd fmla="val 6852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356050" y="1312075"/>
            <a:ext cx="3479700" cy="2009700"/>
          </a:xfrm>
          <a:prstGeom prst="roundRect">
            <a:avLst>
              <a:gd fmla="val 7582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8102500" y="1204918"/>
            <a:ext cx="3479700" cy="2224200"/>
          </a:xfrm>
          <a:prstGeom prst="roundRect">
            <a:avLst>
              <a:gd fmla="val 6852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151924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4175" y="16264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0625" y="151924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163354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2287" y="174070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1113" y="163354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Arsitektur Ekosistem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Tiga Pilar Ekosistem Inklusi Madrasah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-261937" y="6096000"/>
            <a:ext cx="12715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Ketiga pilar saling memperkuat: Kebijakan tanpa budaya akan kaku; Budaya tanpa praktik akan pasif.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47725" y="2090743"/>
            <a:ext cx="394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Budaya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47725" y="2471743"/>
            <a:ext cx="30987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Nilai-nilai inklusivitas, semangat empati, dan sikap penerimaan tanpa syarat di seluruh warga sekolah.</a:t>
            </a:r>
            <a:endParaRPr sz="1200"/>
          </a:p>
        </p:txBody>
      </p:sp>
      <p:sp>
        <p:nvSpPr>
          <p:cNvPr id="247" name="Google Shape;247;p22"/>
          <p:cNvSpPr txBox="1"/>
          <p:nvPr/>
        </p:nvSpPr>
        <p:spPr>
          <a:xfrm>
            <a:off x="4594175" y="2197900"/>
            <a:ext cx="394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Kebijakan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94175" y="2491870"/>
            <a:ext cx="3241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Regulasi internal, dokumen </a:t>
            </a:r>
            <a:r>
              <a:rPr lang="en-US" sz="1200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Rencana Kerja dan Anggaran Madrasah</a:t>
            </a: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inklusif, dan analisis kesiapan madrasah (KEKEPAN).</a:t>
            </a:r>
            <a:endParaRPr sz="1200"/>
          </a:p>
        </p:txBody>
      </p:sp>
      <p:sp>
        <p:nvSpPr>
          <p:cNvPr id="249" name="Google Shape;249;p22"/>
          <p:cNvSpPr txBox="1"/>
          <p:nvPr/>
        </p:nvSpPr>
        <p:spPr>
          <a:xfrm>
            <a:off x="8340625" y="2090743"/>
            <a:ext cx="385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Praktik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340625" y="2471743"/>
            <a:ext cx="30987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Pembelajaran adaptif, akomodasi layak di kelas, serta kolaborasi rutin Guru–GPK–Psikolog.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/>
          <p:nvPr/>
        </p:nvSpPr>
        <p:spPr>
          <a:xfrm>
            <a:off x="470350" y="1281887"/>
            <a:ext cx="5315100" cy="2476500"/>
          </a:xfrm>
          <a:prstGeom prst="roundRect">
            <a:avLst>
              <a:gd fmla="val 6153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6128200" y="1612881"/>
            <a:ext cx="5315100" cy="1814400"/>
          </a:xfrm>
          <a:prstGeom prst="roundRect">
            <a:avLst>
              <a:gd fmla="val 8398" name="adj"/>
            </a:avLst>
          </a:prstGeom>
          <a:solidFill>
            <a:srgbClr val="F3E8FF"/>
          </a:solidFill>
          <a:ln cap="flat" cmpd="sng" w="9525">
            <a:solidFill>
              <a:srgbClr val="D8B4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2525" y="1951018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Pembelajaran Lapangan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Belajar dari Jenjang Awal: Best Practice TK &amp; SD Mitra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784675" y="1596212"/>
            <a:ext cx="6150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Mengapa Belajar dari TK &amp; SD?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442525" y="2470131"/>
            <a:ext cx="47817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dan studi kasus disarikan dari pengalaman nyata pendampingan sekolah inklusif. Identitas siswa disamarkan untuk perlindungan privasi.</a:t>
            </a:r>
            <a:endParaRPr sz="1200"/>
          </a:p>
        </p:txBody>
      </p:sp>
      <p:sp>
        <p:nvSpPr>
          <p:cNvPr id="262" name="Google Shape;262;p23"/>
          <p:cNvSpPr txBox="1"/>
          <p:nvPr/>
        </p:nvSpPr>
        <p:spPr>
          <a:xfrm>
            <a:off x="784675" y="2015312"/>
            <a:ext cx="47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Fondasi Utama:</a:t>
            </a: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Penanganan dini terbukti memperkecil hambatan di masa MTS.</a:t>
            </a:r>
            <a:endParaRPr sz="1200"/>
          </a:p>
        </p:txBody>
      </p:sp>
      <p:sp>
        <p:nvSpPr>
          <p:cNvPr id="263" name="Google Shape;263;p23"/>
          <p:cNvSpPr txBox="1"/>
          <p:nvPr/>
        </p:nvSpPr>
        <p:spPr>
          <a:xfrm>
            <a:off x="784675" y="2529662"/>
            <a:ext cx="47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Fleksibel:</a:t>
            </a: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Pendekatan bermain dan multisensori memberikan ruang adaptasi tinggi.</a:t>
            </a:r>
            <a:endParaRPr sz="1200"/>
          </a:p>
        </p:txBody>
      </p:sp>
      <p:sp>
        <p:nvSpPr>
          <p:cNvPr id="264" name="Google Shape;264;p23"/>
          <p:cNvSpPr txBox="1"/>
          <p:nvPr/>
        </p:nvSpPr>
        <p:spPr>
          <a:xfrm>
            <a:off x="784675" y="3044012"/>
            <a:ext cx="47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Relevansi MTS:</a:t>
            </a: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Strategi akomodasi dapat disesuaikan untuk siswa remaja awal.</a:t>
            </a:r>
            <a:endParaRPr sz="1200"/>
          </a:p>
        </p:txBody>
      </p:sp>
      <p:sp>
        <p:nvSpPr>
          <p:cNvPr id="265" name="Google Shape;265;p23"/>
          <p:cNvSpPr txBox="1"/>
          <p:nvPr/>
        </p:nvSpPr>
        <p:spPr>
          <a:xfrm>
            <a:off x="6985450" y="1927206"/>
            <a:ext cx="3187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Pengalaman 27 Sekolah Mitra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985450" y="2146281"/>
            <a:ext cx="303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Refleksi Praktis Biro Psikologi Mustika</a:t>
            </a:r>
            <a:endParaRPr/>
          </a:p>
        </p:txBody>
      </p:sp>
      <p:pic>
        <p:nvPicPr>
          <p:cNvPr id="267" name="Google Shape;2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75" y="3833225"/>
            <a:ext cx="2865399" cy="276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fmla="val 17391" name="adj"/>
            </a:avLst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09600" y="1346400"/>
            <a:ext cx="5810400" cy="2257500"/>
          </a:xfrm>
          <a:prstGeom prst="roundRect">
            <a:avLst>
              <a:gd fmla="val 6751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648450" y="1346350"/>
            <a:ext cx="4934100" cy="22575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85825" y="2632275"/>
            <a:ext cx="5257800" cy="695400"/>
          </a:xfrm>
          <a:prstGeom prst="roundRect">
            <a:avLst>
              <a:gd fmla="val 13698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885825" y="2632275"/>
            <a:ext cx="38100" cy="6954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675" y="23131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675" y="25894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675" y="2865637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Practice #1 • TK Mitra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Deteksi Dini Speech Delay &amp; Sensory Processing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800100" y="6096000"/>
            <a:ext cx="11391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Pelajaran untuk MTS: Prinsip deteksi dini &amp; kolaborasi tetap sama, hanya bentuk akomodasi yang disesuaikan usia.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85825" y="1622625"/>
            <a:ext cx="690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Contoh Kasus &amp; Intervensi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885825" y="1975050"/>
            <a:ext cx="535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Siswa usia 4 tahun mengalami GBE dan keterlambatan bicara (speech delay). Psikolog dan guru merancang program Stimulasi Kartu Gambar Bergambar &amp; Sensori Terarah.</a:t>
            </a:r>
            <a:endParaRPr sz="1200"/>
          </a:p>
        </p:txBody>
      </p:sp>
      <p:sp>
        <p:nvSpPr>
          <p:cNvPr id="285" name="Google Shape;285;p24"/>
          <p:cNvSpPr txBox="1"/>
          <p:nvPr/>
        </p:nvSpPr>
        <p:spPr>
          <a:xfrm>
            <a:off x="6924675" y="1932187"/>
            <a:ext cx="52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Kunci Keberhasilan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076325" y="2784675"/>
            <a:ext cx="526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 Evaluasi 6 Bulan: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076325" y="2994225"/>
            <a:ext cx="5127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Fokus Anak Meningkat, Ketahanan Duduk dan </a:t>
            </a:r>
            <a:r>
              <a:rPr b="1" i="0" lang="en-US" sz="1125" u="none" cap="none" strike="noStrike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Kosakata meningkat 40% &amp; fokus belajar membaik</a:t>
            </a:r>
            <a:r>
              <a:rPr b="1" lang="en-US" sz="1125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serta Anak Tidak Didampingi lagi Shadow Teacher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924675" y="2284612"/>
            <a:ext cx="52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Observasi Rutin:</a:t>
            </a: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Evaluasi sebulan sekali</a:t>
            </a: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924675" y="2560837"/>
            <a:ext cx="52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Trilogi Komunikasi:</a:t>
            </a: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Sinergi Guru, Orang Tua, &amp; Ahli.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924687" y="2829156"/>
            <a:ext cx="52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Rutin Terapi</a:t>
            </a:r>
            <a:r>
              <a:rPr b="1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Program </a:t>
            </a:r>
            <a:r>
              <a:rPr lang="en-US" sz="1125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terapi perilaku dan terapi wicara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937826" y="3041680"/>
            <a:ext cx="52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Stimulasi Rumah:</a:t>
            </a: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Program pendampingan harian ortu.</a:t>
            </a:r>
            <a:endParaRPr/>
          </a:p>
        </p:txBody>
      </p:sp>
      <p:pic>
        <p:nvPicPr>
          <p:cNvPr descr="image.png"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995" y="3035046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00" y="3734112"/>
            <a:ext cx="2563932" cy="182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/>
          <p:nvPr/>
        </p:nvSpPr>
        <p:spPr>
          <a:xfrm>
            <a:off x="5763517" y="2214562"/>
            <a:ext cx="5818882" cy="1038225"/>
          </a:xfrm>
          <a:prstGeom prst="roundRect">
            <a:avLst>
              <a:gd fmla="val 11009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63517" y="3405187"/>
            <a:ext cx="5818882" cy="1038225"/>
          </a:xfrm>
          <a:prstGeom prst="roundRect">
            <a:avLst>
              <a:gd fmla="val 11009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763517" y="4595812"/>
            <a:ext cx="5818882" cy="666750"/>
          </a:xfrm>
          <a:prstGeom prst="roundRect">
            <a:avLst>
              <a:gd fmla="val 14285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63517" y="4595812"/>
            <a:ext cx="38100" cy="66675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214562"/>
            <a:ext cx="4849117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Practice #2 • SD Mitra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Pendampingan Slow Learner &amp; Disleksia Awal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5963542" y="2414587"/>
            <a:ext cx="62284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Profil Sekolah Mitra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5963542" y="2690812"/>
            <a:ext cx="5514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Mendampingi  siswa slow learner &amp;  siswa disleksia awal dengan program PPI terstruktur.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963542" y="3605212"/>
            <a:ext cx="62284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Metode Fonik &amp; Multisensori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5963542" y="3881437"/>
            <a:ext cx="551408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Membaca bertahap menggunakan media taktil dan kartu kata visual secara konsisten.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992117" y="4748212"/>
            <a:ext cx="619988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Capaian Nyata: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5992117" y="4929187"/>
            <a:ext cx="6199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Minat Baca dan Kepercayaan Diri Menceritakan Masalah/Topik Tertentu Membaik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8"/>
          <p:cNvPicPr preferRelativeResize="0"/>
          <p:nvPr/>
        </p:nvPicPr>
        <p:blipFill rotWithShape="1">
          <a:blip r:embed="rId3">
            <a:alphaModFix/>
          </a:blip>
          <a:srcRect b="0" l="0" r="1672" t="10217"/>
          <a:stretch/>
        </p:blipFill>
        <p:spPr>
          <a:xfrm>
            <a:off x="0" y="639400"/>
            <a:ext cx="12192000" cy="62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190500" y="1333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Learner : Anak Yang Dianggap Malas Karena Mudah Capek Berpikir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/>
          <p:nvPr/>
        </p:nvSpPr>
        <p:spPr>
          <a:xfrm>
            <a:off x="609600" y="2862262"/>
            <a:ext cx="4783187" cy="1781175"/>
          </a:xfrm>
          <a:prstGeom prst="roundRect">
            <a:avLst>
              <a:gd fmla="val 8556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10895260" y="457200"/>
            <a:ext cx="687139" cy="228600"/>
          </a:xfrm>
          <a:prstGeom prst="roundRect">
            <a:avLst>
              <a:gd fmla="val 50000" name="adj"/>
            </a:avLst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5659487" y="2790825"/>
            <a:ext cx="5922912" cy="904875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5659487" y="3810000"/>
            <a:ext cx="5922912" cy="904875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609600" y="723900"/>
            <a:ext cx="1158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Gifted Underachiever: Berbakat tapi Berprestasi Rendah</a:t>
            </a:r>
            <a:endParaRPr sz="1500"/>
          </a:p>
        </p:txBody>
      </p:sp>
      <p:sp>
        <p:nvSpPr>
          <p:cNvPr id="346" name="Google Shape;346;p31"/>
          <p:cNvSpPr txBox="1"/>
          <p:nvPr/>
        </p:nvSpPr>
        <p:spPr>
          <a:xfrm>
            <a:off x="278401" y="3128962"/>
            <a:ext cx="5445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≥130</a:t>
            </a:r>
            <a:endParaRPr sz="1500"/>
          </a:p>
        </p:txBody>
      </p:sp>
      <p:sp>
        <p:nvSpPr>
          <p:cNvPr id="347" name="Google Shape;347;p31"/>
          <p:cNvSpPr txBox="1"/>
          <p:nvPr/>
        </p:nvSpPr>
        <p:spPr>
          <a:xfrm>
            <a:off x="609600" y="485775"/>
            <a:ext cx="232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KASUS #4 • POTENSI TINGGI</a:t>
            </a:r>
            <a:endParaRPr sz="1500"/>
          </a:p>
        </p:txBody>
      </p:sp>
      <p:sp>
        <p:nvSpPr>
          <p:cNvPr id="348" name="Google Shape;348;p31"/>
          <p:cNvSpPr txBox="1"/>
          <p:nvPr/>
        </p:nvSpPr>
        <p:spPr>
          <a:xfrm>
            <a:off x="11009560" y="495300"/>
            <a:ext cx="553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IQ ≥ 130</a:t>
            </a:r>
            <a:endParaRPr sz="1500"/>
          </a:p>
        </p:txBody>
      </p:sp>
      <p:sp>
        <p:nvSpPr>
          <p:cNvPr id="349" name="Google Shape;349;p31"/>
          <p:cNvSpPr txBox="1"/>
          <p:nvPr/>
        </p:nvSpPr>
        <p:spPr>
          <a:xfrm>
            <a:off x="356982" y="3938587"/>
            <a:ext cx="52884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Skor IQ Gifted (CFIT)</a:t>
            </a:r>
            <a:endParaRPr sz="1500"/>
          </a:p>
        </p:txBody>
      </p:sp>
      <p:sp>
        <p:nvSpPr>
          <p:cNvPr id="350" name="Google Shape;350;p31"/>
          <p:cNvSpPr txBox="1"/>
          <p:nvPr/>
        </p:nvSpPr>
        <p:spPr>
          <a:xfrm>
            <a:off x="356982" y="4195762"/>
            <a:ext cx="5288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 nilai akademik rapor berada di bawah rata-rata kelas.</a:t>
            </a:r>
            <a:endParaRPr sz="1500"/>
          </a:p>
        </p:txBody>
      </p:sp>
      <p:sp>
        <p:nvSpPr>
          <p:cNvPr id="351" name="Google Shape;351;p31"/>
          <p:cNvSpPr txBox="1"/>
          <p:nvPr/>
        </p:nvSpPr>
        <p:spPr>
          <a:xfrm>
            <a:off x="5859512" y="2952750"/>
            <a:ext cx="6332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Karakteristik Kognitif &amp; Perilaku</a:t>
            </a:r>
            <a:endParaRPr sz="1500"/>
          </a:p>
        </p:txBody>
      </p:sp>
      <p:sp>
        <p:nvSpPr>
          <p:cNvPr id="352" name="Google Shape;352;p31"/>
          <p:cNvSpPr txBox="1"/>
          <p:nvPr/>
        </p:nvSpPr>
        <p:spPr>
          <a:xfrm>
            <a:off x="5859512" y="3190875"/>
            <a:ext cx="561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Kosakata luas, kritis mempertanyakan aturan, cepat bosan, dan kerap menunda tugas akibat perfeksionisme ekstrem.</a:t>
            </a:r>
            <a:endParaRPr sz="1500"/>
          </a:p>
        </p:txBody>
      </p:sp>
      <p:sp>
        <p:nvSpPr>
          <p:cNvPr id="353" name="Google Shape;353;p31"/>
          <p:cNvSpPr txBox="1"/>
          <p:nvPr/>
        </p:nvSpPr>
        <p:spPr>
          <a:xfrm>
            <a:off x="5859512" y="3971925"/>
            <a:ext cx="6332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Penyebab Utama Terlewat</a:t>
            </a:r>
            <a:endParaRPr sz="1500"/>
          </a:p>
        </p:txBody>
      </p:sp>
      <p:sp>
        <p:nvSpPr>
          <p:cNvPr id="354" name="Google Shape;354;p31"/>
          <p:cNvSpPr txBox="1"/>
          <p:nvPr/>
        </p:nvSpPr>
        <p:spPr>
          <a:xfrm>
            <a:off x="5859512" y="4210050"/>
            <a:ext cx="561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Dianggap siswa pembangkang atau malas karena tidak ada saluran program pengayaan potensi di sekolah.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/>
          <p:nvPr/>
        </p:nvSpPr>
        <p:spPr>
          <a:xfrm>
            <a:off x="495300" y="1426375"/>
            <a:ext cx="5372100" cy="2176500"/>
          </a:xfrm>
          <a:prstGeom prst="roundRect">
            <a:avLst>
              <a:gd fmla="val 7594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6096000" y="1426368"/>
            <a:ext cx="5372100" cy="2176500"/>
          </a:xfrm>
          <a:prstGeom prst="roundRect">
            <a:avLst>
              <a:gd fmla="val 5251" name="adj"/>
            </a:avLst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10258425" y="457200"/>
            <a:ext cx="1323975" cy="228600"/>
          </a:xfrm>
          <a:prstGeom prst="roundRect">
            <a:avLst>
              <a:gd fmla="val 50000" name="adj"/>
            </a:avLst>
          </a:prstGeom>
          <a:solidFill>
            <a:srgbClr val="E9D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6334125" y="2793206"/>
            <a:ext cx="4896000" cy="571500"/>
          </a:xfrm>
          <a:prstGeom prst="roundRect">
            <a:avLst>
              <a:gd fmla="val 13333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609600" y="723900"/>
            <a:ext cx="1158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Tunalaras Ringan: Ketika "Kenakalan" Adalah Sinyal</a:t>
            </a:r>
            <a:endParaRPr sz="1500"/>
          </a:p>
        </p:txBody>
      </p:sp>
      <p:sp>
        <p:nvSpPr>
          <p:cNvPr id="364" name="Google Shape;364;p32"/>
          <p:cNvSpPr txBox="1"/>
          <p:nvPr/>
        </p:nvSpPr>
        <p:spPr>
          <a:xfrm>
            <a:off x="609600" y="485775"/>
            <a:ext cx="2524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KASUS #5 • HAMBATAN EMOSI</a:t>
            </a:r>
            <a:endParaRPr sz="1500"/>
          </a:p>
        </p:txBody>
      </p:sp>
      <p:sp>
        <p:nvSpPr>
          <p:cNvPr id="365" name="Google Shape;365;p32"/>
          <p:cNvSpPr txBox="1"/>
          <p:nvPr/>
        </p:nvSpPr>
        <p:spPr>
          <a:xfrm>
            <a:off x="10372725" y="495300"/>
            <a:ext cx="1190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CBCL / SDQ Tinggi</a:t>
            </a:r>
            <a:endParaRPr sz="1500"/>
          </a:p>
        </p:txBody>
      </p:sp>
      <p:sp>
        <p:nvSpPr>
          <p:cNvPr id="366" name="Google Shape;366;p32"/>
          <p:cNvSpPr txBox="1"/>
          <p:nvPr/>
        </p:nvSpPr>
        <p:spPr>
          <a:xfrm>
            <a:off x="733425" y="2000250"/>
            <a:ext cx="642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Gejala Klinis Teramati</a:t>
            </a:r>
            <a:endParaRPr sz="1600"/>
          </a:p>
        </p:txBody>
      </p:sp>
      <p:sp>
        <p:nvSpPr>
          <p:cNvPr id="367" name="Google Shape;367;p32"/>
          <p:cNvSpPr txBox="1"/>
          <p:nvPr/>
        </p:nvSpPr>
        <p:spPr>
          <a:xfrm>
            <a:off x="6334125" y="1664493"/>
            <a:ext cx="5743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Skrining Psikologi</a:t>
            </a:r>
            <a:endParaRPr sz="1600"/>
          </a:p>
        </p:txBody>
      </p:sp>
      <p:sp>
        <p:nvSpPr>
          <p:cNvPr id="368" name="Google Shape;368;p32"/>
          <p:cNvSpPr txBox="1"/>
          <p:nvPr/>
        </p:nvSpPr>
        <p:spPr>
          <a:xfrm>
            <a:off x="6334125" y="1997868"/>
            <a:ext cx="499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Skor tinggi pada subskala </a:t>
            </a:r>
            <a:r>
              <a:rPr b="0" i="1" lang="en-US" sz="13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Externalizing Behavior</a:t>
            </a:r>
            <a:r>
              <a:rPr b="0" i="0" lang="en-US" sz="13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(CBCL) dan </a:t>
            </a:r>
            <a:r>
              <a:rPr b="0" i="1" lang="en-US" sz="13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 Problems</a:t>
            </a:r>
            <a:r>
              <a:rPr b="0" i="0" lang="en-US" sz="13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(SDQ). Berpotensi komorbid dengan ODD atau pengaruh pola asuh traumatis.</a:t>
            </a:r>
            <a:endParaRPr sz="1600"/>
          </a:p>
        </p:txBody>
      </p:sp>
      <p:sp>
        <p:nvSpPr>
          <p:cNvPr id="369" name="Google Shape;369;p32"/>
          <p:cNvSpPr txBox="1"/>
          <p:nvPr/>
        </p:nvSpPr>
        <p:spPr>
          <a:xfrm>
            <a:off x="733425" y="2333625"/>
            <a:ext cx="61197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Agresivitas Verbal/Fisik:</a:t>
            </a:r>
            <a:r>
              <a:rPr b="0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Ledakan emosi tidak proporsional.</a:t>
            </a:r>
            <a:endParaRPr sz="1600"/>
          </a:p>
        </p:txBody>
      </p:sp>
      <p:sp>
        <p:nvSpPr>
          <p:cNvPr id="370" name="Google Shape;370;p32"/>
          <p:cNvSpPr txBox="1"/>
          <p:nvPr/>
        </p:nvSpPr>
        <p:spPr>
          <a:xfrm>
            <a:off x="733425" y="2590800"/>
            <a:ext cx="61197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Defensif Ektrem:</a:t>
            </a:r>
            <a:r>
              <a:rPr b="0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Menolak otoritas &amp; menyalahkan orang lain.</a:t>
            </a:r>
            <a:endParaRPr sz="1600"/>
          </a:p>
        </p:txBody>
      </p:sp>
      <p:sp>
        <p:nvSpPr>
          <p:cNvPr id="371" name="Google Shape;371;p32"/>
          <p:cNvSpPr txBox="1"/>
          <p:nvPr/>
        </p:nvSpPr>
        <p:spPr>
          <a:xfrm>
            <a:off x="733425" y="2847975"/>
            <a:ext cx="61197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Menetap:</a:t>
            </a:r>
            <a:r>
              <a:rPr b="0" i="0" lang="en-US" sz="13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Terjadi menetap minimal 6 bulan berturut.</a:t>
            </a:r>
            <a:endParaRPr sz="1600"/>
          </a:p>
        </p:txBody>
      </p:sp>
      <p:sp>
        <p:nvSpPr>
          <p:cNvPr id="372" name="Google Shape;372;p32"/>
          <p:cNvSpPr txBox="1"/>
          <p:nvPr/>
        </p:nvSpPr>
        <p:spPr>
          <a:xfrm>
            <a:off x="6448425" y="2907506"/>
            <a:ext cx="562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Pendekatan:</a:t>
            </a:r>
            <a:endParaRPr sz="1600"/>
          </a:p>
        </p:txBody>
      </p:sp>
      <p:sp>
        <p:nvSpPr>
          <p:cNvPr id="373" name="Google Shape;373;p32"/>
          <p:cNvSpPr txBox="1"/>
          <p:nvPr/>
        </p:nvSpPr>
        <p:spPr>
          <a:xfrm>
            <a:off x="6448425" y="3078956"/>
            <a:ext cx="562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Konseling perilaku alih-alih hukuman fisik.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609600" y="1295412"/>
            <a:ext cx="5817300" cy="1762200"/>
          </a:xfrm>
          <a:prstGeom prst="roundRect">
            <a:avLst>
              <a:gd fmla="val 6486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6655444" y="1295400"/>
            <a:ext cx="4926955" cy="4914900"/>
          </a:xfrm>
          <a:prstGeom prst="roundRect">
            <a:avLst>
              <a:gd fmla="val 2325" name="adj"/>
            </a:avLst>
          </a:prstGeom>
          <a:solidFill>
            <a:srgbClr val="F3E8FF"/>
          </a:solidFill>
          <a:ln cap="flat" cmpd="sng" w="9525">
            <a:solidFill>
              <a:srgbClr val="D8B4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9867900" y="457200"/>
            <a:ext cx="1714500" cy="22860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6893569" y="5400675"/>
            <a:ext cx="4450705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6893569" y="5400675"/>
            <a:ext cx="38100" cy="5715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609600" y="7239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Trauma Belajar: Korban Bullying yang Tak Terlihat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609600" y="485775"/>
            <a:ext cx="3012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KASUS #6 • HAMBATAN PSIKOLOGIS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9982200" y="495300"/>
            <a:ext cx="1581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Skala TSCC / CPSS Tinggi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847725" y="1533537"/>
            <a:ext cx="7010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Indikasi Perilaku &amp; Fisik</a:t>
            </a:r>
            <a:endParaRPr sz="1500"/>
          </a:p>
        </p:txBody>
      </p:sp>
      <p:sp>
        <p:nvSpPr>
          <p:cNvPr id="387" name="Google Shape;387;p33"/>
          <p:cNvSpPr txBox="1"/>
          <p:nvPr/>
        </p:nvSpPr>
        <p:spPr>
          <a:xfrm>
            <a:off x="847725" y="1866912"/>
            <a:ext cx="66762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Penurunan Drastis:</a:t>
            </a:r>
            <a:r>
              <a:rPr b="0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Nilai akademik anjlok secara mendadak.</a:t>
            </a:r>
            <a:endParaRPr sz="1500"/>
          </a:p>
        </p:txBody>
      </p:sp>
      <p:sp>
        <p:nvSpPr>
          <p:cNvPr id="388" name="Google Shape;388;p33"/>
          <p:cNvSpPr txBox="1"/>
          <p:nvPr/>
        </p:nvSpPr>
        <p:spPr>
          <a:xfrm>
            <a:off x="847725" y="2124087"/>
            <a:ext cx="66762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Keluhan Somatis:</a:t>
            </a:r>
            <a:r>
              <a:rPr b="0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Sering mual/pusing tanpa penyebab medis.</a:t>
            </a:r>
            <a:endParaRPr sz="1500"/>
          </a:p>
        </p:txBody>
      </p:sp>
      <p:sp>
        <p:nvSpPr>
          <p:cNvPr id="389" name="Google Shape;389;p33"/>
          <p:cNvSpPr txBox="1"/>
          <p:nvPr/>
        </p:nvSpPr>
        <p:spPr>
          <a:xfrm>
            <a:off x="847725" y="2381262"/>
            <a:ext cx="66762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Penarikan Diri:</a:t>
            </a:r>
            <a:r>
              <a:rPr b="0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Menghindari interaksi kelompok &amp; kegiatan sekolah.</a:t>
            </a:r>
            <a:endParaRPr sz="1500"/>
          </a:p>
        </p:txBody>
      </p:sp>
      <p:sp>
        <p:nvSpPr>
          <p:cNvPr id="390" name="Google Shape;390;p33"/>
          <p:cNvSpPr txBox="1"/>
          <p:nvPr/>
        </p:nvSpPr>
        <p:spPr>
          <a:xfrm>
            <a:off x="847725" y="2638437"/>
            <a:ext cx="66762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Kecemasan Tinggi:</a:t>
            </a:r>
            <a:r>
              <a:rPr b="0" i="0" lang="en-US" sz="122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Gemetar saat tampil di depan kelas.</a:t>
            </a:r>
            <a:endParaRPr sz="1500"/>
          </a:p>
        </p:txBody>
      </p:sp>
      <p:sp>
        <p:nvSpPr>
          <p:cNvPr id="391" name="Google Shape;391;p33"/>
          <p:cNvSpPr txBox="1"/>
          <p:nvPr/>
        </p:nvSpPr>
        <p:spPr>
          <a:xfrm>
            <a:off x="6893569" y="1533525"/>
            <a:ext cx="5298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Hasil Evaluasi</a:t>
            </a:r>
            <a:endParaRPr sz="1500"/>
          </a:p>
        </p:txBody>
      </p:sp>
      <p:sp>
        <p:nvSpPr>
          <p:cNvPr id="392" name="Google Shape;392;p33"/>
          <p:cNvSpPr txBox="1"/>
          <p:nvPr/>
        </p:nvSpPr>
        <p:spPr>
          <a:xfrm>
            <a:off x="6893569" y="1828800"/>
            <a:ext cx="4545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Skor kecemasan &amp; stres pasca-trauma menonjol, meski tingkat IQ anak berada pada kategori normal.</a:t>
            </a:r>
            <a:endParaRPr sz="1500"/>
          </a:p>
        </p:txBody>
      </p:sp>
      <p:sp>
        <p:nvSpPr>
          <p:cNvPr id="393" name="Google Shape;393;p33"/>
          <p:cNvSpPr txBox="1"/>
          <p:nvPr/>
        </p:nvSpPr>
        <p:spPr>
          <a:xfrm>
            <a:off x="7045969" y="5514975"/>
            <a:ext cx="5145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Fokus Utama:</a:t>
            </a:r>
            <a:endParaRPr sz="1500"/>
          </a:p>
        </p:txBody>
      </p:sp>
      <p:sp>
        <p:nvSpPr>
          <p:cNvPr id="394" name="Google Shape;394;p33"/>
          <p:cNvSpPr txBox="1"/>
          <p:nvPr/>
        </p:nvSpPr>
        <p:spPr>
          <a:xfrm>
            <a:off x="7045969" y="5686425"/>
            <a:ext cx="5145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B076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Pemulihan rasa aman sebelum intervensi akademik.</a:t>
            </a:r>
            <a:endParaRPr sz="1500"/>
          </a:p>
        </p:txBody>
      </p:sp>
      <p:pic>
        <p:nvPicPr>
          <p:cNvPr id="395" name="Google Shape;3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3248094"/>
            <a:ext cx="4772575" cy="3190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6"/>
          <p:cNvGrpSpPr/>
          <p:nvPr/>
        </p:nvGrpSpPr>
        <p:grpSpPr>
          <a:xfrm>
            <a:off x="394002" y="3687452"/>
            <a:ext cx="8711001" cy="1244355"/>
            <a:chOff x="3571" y="615553"/>
            <a:chExt cx="12184922" cy="1740600"/>
          </a:xfrm>
        </p:grpSpPr>
        <p:sp>
          <p:nvSpPr>
            <p:cNvPr id="411" name="Google Shape;411;p36"/>
            <p:cNvSpPr/>
            <p:nvPr/>
          </p:nvSpPr>
          <p:spPr>
            <a:xfrm>
              <a:off x="3571" y="615553"/>
              <a:ext cx="4351800" cy="1740600"/>
            </a:xfrm>
            <a:prstGeom prst="chevron">
              <a:avLst>
                <a:gd fmla="val 50000" name="adj"/>
              </a:avLst>
            </a:prstGeom>
            <a:solidFill>
              <a:srgbClr val="4F81BD">
                <a:alpha val="89800"/>
              </a:srgbClr>
            </a:solidFill>
            <a:ln cap="flat" cmpd="sng" w="36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375" lIns="65375" spcFirstLastPara="1" rIns="65375" wrap="square" tIns="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6"/>
            <p:cNvSpPr txBox="1"/>
            <p:nvPr/>
          </p:nvSpPr>
          <p:spPr>
            <a:xfrm>
              <a:off x="873918" y="615553"/>
              <a:ext cx="2610900" cy="174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51475" spcFirstLastPara="1" rIns="17150" wrap="square" tIns="1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7"/>
                <a:buFont typeface="Calibri"/>
                <a:buNone/>
              </a:pPr>
              <a:r>
                <a:rPr b="1" lang="en-US" sz="12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Psikotes Siswa Baru dilakukan untuk memfilter siswa ABK sejak awal dan mempersiapkan kelas unggulan</a:t>
              </a:r>
              <a:endParaRPr sz="12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3920132" y="615553"/>
              <a:ext cx="4351800" cy="1740600"/>
            </a:xfrm>
            <a:prstGeom prst="chevron">
              <a:avLst>
                <a:gd fmla="val 50000" name="adj"/>
              </a:avLst>
            </a:prstGeom>
            <a:solidFill>
              <a:srgbClr val="4F81BD">
                <a:alpha val="69800"/>
              </a:srgbClr>
            </a:solidFill>
            <a:ln cap="flat" cmpd="sng" w="36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375" lIns="65375" spcFirstLastPara="1" rIns="65375" wrap="square" tIns="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6"/>
            <p:cNvSpPr txBox="1"/>
            <p:nvPr/>
          </p:nvSpPr>
          <p:spPr>
            <a:xfrm>
              <a:off x="4790479" y="615553"/>
              <a:ext cx="2610900" cy="174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51475" spcFirstLastPara="1" rIns="17150" wrap="square" tIns="1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7"/>
                <a:buFont typeface="Calibri"/>
                <a:buNone/>
              </a:pPr>
              <a:r>
                <a:rPr b="1" lang="en-US" sz="12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Konseling Orang Tua, Guru dan Psikolog. Membangun pemahaman dan komitmen Bersama untuk siswa ABK</a:t>
              </a:r>
              <a:endParaRPr b="1" sz="12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7836693" y="615553"/>
              <a:ext cx="4351800" cy="1740600"/>
            </a:xfrm>
            <a:prstGeom prst="chevron">
              <a:avLst>
                <a:gd fmla="val 50000" name="adj"/>
              </a:avLst>
            </a:prstGeom>
            <a:solidFill>
              <a:srgbClr val="4F81BD">
                <a:alpha val="49800"/>
              </a:srgbClr>
            </a:solidFill>
            <a:ln cap="flat" cmpd="sng" w="363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375" lIns="65375" spcFirstLastPara="1" rIns="65375" wrap="square" tIns="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6"/>
            <p:cNvSpPr txBox="1"/>
            <p:nvPr/>
          </p:nvSpPr>
          <p:spPr>
            <a:xfrm>
              <a:off x="8707040" y="615553"/>
              <a:ext cx="2610900" cy="174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51475" spcFirstLastPara="1" rIns="17150" wrap="square" tIns="1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7"/>
                <a:buFont typeface="Calibri"/>
                <a:buNone/>
              </a:pPr>
              <a:r>
                <a:rPr b="1" lang="en-US" sz="12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Mendampingi Sekolah Membuat Program Kurikulum Individual dan Terapi di Sekolah</a:t>
              </a:r>
              <a:endParaRPr b="1" sz="12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36"/>
          <p:cNvSpPr txBox="1"/>
          <p:nvPr/>
        </p:nvSpPr>
        <p:spPr>
          <a:xfrm>
            <a:off x="5" y="3"/>
            <a:ext cx="11968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74">
                <a:solidFill>
                  <a:srgbClr val="002646"/>
                </a:solidFill>
                <a:latin typeface="Poppins"/>
                <a:ea typeface="Poppins"/>
                <a:cs typeface="Poppins"/>
                <a:sym typeface="Poppins"/>
              </a:rPr>
              <a:t>Kunci Sukses Program Inklusi</a:t>
            </a:r>
            <a:endParaRPr b="1" sz="2574">
              <a:solidFill>
                <a:srgbClr val="0026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36"/>
          <p:cNvSpPr txBox="1"/>
          <p:nvPr/>
        </p:nvSpPr>
        <p:spPr>
          <a:xfrm>
            <a:off x="1072756" y="699139"/>
            <a:ext cx="10335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675" lIns="65375" spcFirstLastPara="1" rIns="65375" wrap="square" tIns="326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Sekolah Inklusi akan optimal melalui wujud dari program yang terintegrasi antara Guru, Orang Tua dan Psikolog sejak siswa baru masuk di Sekolah</a:t>
            </a:r>
            <a:endParaRPr sz="200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 txBox="1"/>
          <p:nvPr/>
        </p:nvSpPr>
        <p:spPr>
          <a:xfrm>
            <a:off x="4620210" y="1533379"/>
            <a:ext cx="2289300" cy="286200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anchorCtr="0" anchor="t" bIns="32675" lIns="65375" spcFirstLastPara="1" rIns="65375" wrap="square" tIns="326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Siswa Baru TK - SD</a:t>
            </a:r>
            <a:endParaRPr sz="1001"/>
          </a:p>
        </p:txBody>
      </p:sp>
      <p:pic>
        <p:nvPicPr>
          <p:cNvPr id="420" name="Google Shape;420;p36"/>
          <p:cNvPicPr preferRelativeResize="0"/>
          <p:nvPr/>
        </p:nvPicPr>
        <p:blipFill rotWithShape="1">
          <a:blip r:embed="rId3">
            <a:alphaModFix/>
          </a:blip>
          <a:srcRect b="23361" l="15498" r="23001" t="6802"/>
          <a:stretch/>
        </p:blipFill>
        <p:spPr>
          <a:xfrm>
            <a:off x="3338043" y="2066425"/>
            <a:ext cx="2419028" cy="1546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9315" y="1987524"/>
            <a:ext cx="1341600" cy="1361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2" name="Google Shape;422;p36"/>
          <p:cNvSpPr txBox="1"/>
          <p:nvPr/>
        </p:nvSpPr>
        <p:spPr>
          <a:xfrm>
            <a:off x="9726066" y="1529069"/>
            <a:ext cx="2289300" cy="286200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anchorCtr="0" anchor="t" bIns="32675" lIns="65375" spcFirstLastPara="1" rIns="65375" wrap="square" tIns="326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Program</a:t>
            </a:r>
            <a:endParaRPr sz="1001"/>
          </a:p>
        </p:txBody>
      </p:sp>
      <p:sp>
        <p:nvSpPr>
          <p:cNvPr id="423" name="Google Shape;423;p36"/>
          <p:cNvSpPr txBox="1"/>
          <p:nvPr/>
        </p:nvSpPr>
        <p:spPr>
          <a:xfrm>
            <a:off x="9962489" y="3521480"/>
            <a:ext cx="2070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2675" lIns="65375" spcFirstLastPara="1" rIns="65375" wrap="square" tIns="326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Membantu Sekolah Memetakan Siswa Kelas Unggulan</a:t>
            </a:r>
            <a:endParaRPr b="1" sz="128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09315" y="4394482"/>
            <a:ext cx="1495200" cy="1546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5" name="Google Shape;425;p36"/>
          <p:cNvSpPr txBox="1"/>
          <p:nvPr/>
        </p:nvSpPr>
        <p:spPr>
          <a:xfrm>
            <a:off x="10122018" y="6154284"/>
            <a:ext cx="20700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675" lIns="65375" spcFirstLastPara="1" rIns="65375" wrap="square" tIns="326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Membantu Sekolah Mewujukan Ramah Inklusi</a:t>
            </a:r>
            <a:endParaRPr b="1" sz="128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587" y="2023788"/>
            <a:ext cx="2746972" cy="1546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4411" y="1968275"/>
            <a:ext cx="2289130" cy="157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fmla="val 17391" name="adj"/>
            </a:avLst>
          </a:prstGeom>
          <a:solidFill>
            <a:srgbClr val="7E2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609600" y="1304925"/>
            <a:ext cx="2628900" cy="4429125"/>
          </a:xfrm>
          <a:prstGeom prst="roundRect">
            <a:avLst>
              <a:gd fmla="val 4347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3390900" y="1304925"/>
            <a:ext cx="2628900" cy="4429125"/>
          </a:xfrm>
          <a:prstGeom prst="roundRect">
            <a:avLst>
              <a:gd fmla="val 4347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6172200" y="1304925"/>
            <a:ext cx="2628900" cy="4429125"/>
          </a:xfrm>
          <a:prstGeom prst="roundRect">
            <a:avLst>
              <a:gd fmla="val 4347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8953500" y="1304925"/>
            <a:ext cx="2628900" cy="4429125"/>
          </a:xfrm>
          <a:prstGeom prst="roundRect">
            <a:avLst>
              <a:gd fmla="val 4347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E22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Rangkuman Sesi 1</a:t>
            </a:r>
            <a:endParaRPr/>
          </a:p>
        </p:txBody>
      </p:sp>
      <p:sp>
        <p:nvSpPr>
          <p:cNvPr id="438" name="Google Shape;438;p3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Yang Kita Pelajari Hari Ini</a:t>
            </a:r>
            <a:endParaRPr/>
          </a:p>
        </p:txBody>
      </p:sp>
      <p:sp>
        <p:nvSpPr>
          <p:cNvPr id="439" name="Google Shape;439;p37"/>
          <p:cNvSpPr txBox="1"/>
          <p:nvPr/>
        </p:nvSpPr>
        <p:spPr>
          <a:xfrm>
            <a:off x="-261937" y="6096000"/>
            <a:ext cx="1271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"Madrasah inklusif menciptakan ruang tumbuh terbaik bagi seluruh potensi anak."</a:t>
            </a:r>
            <a:endParaRPr sz="1200"/>
          </a:p>
        </p:txBody>
      </p:sp>
      <p:sp>
        <p:nvSpPr>
          <p:cNvPr id="440" name="Google Shape;440;p37"/>
          <p:cNvSpPr txBox="1"/>
          <p:nvPr/>
        </p:nvSpPr>
        <p:spPr>
          <a:xfrm>
            <a:off x="809625" y="1504950"/>
            <a:ext cx="292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Hakekat Inklusi</a:t>
            </a:r>
            <a:endParaRPr/>
          </a:p>
        </p:txBody>
      </p:sp>
      <p:sp>
        <p:nvSpPr>
          <p:cNvPr id="441" name="Google Shape;441;p37"/>
          <p:cNvSpPr txBox="1"/>
          <p:nvPr/>
        </p:nvSpPr>
        <p:spPr>
          <a:xfrm>
            <a:off x="809625" y="1762125"/>
            <a:ext cx="2324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Penerimaan tanpa syarat melalui 4 prinsip (Presence, Acknowledgment, Participation, Achievement).</a:t>
            </a:r>
            <a:endParaRPr/>
          </a:p>
        </p:txBody>
      </p:sp>
      <p:sp>
        <p:nvSpPr>
          <p:cNvPr id="442" name="Google Shape;442;p37"/>
          <p:cNvSpPr txBox="1"/>
          <p:nvPr/>
        </p:nvSpPr>
        <p:spPr>
          <a:xfrm>
            <a:off x="3590925" y="1504950"/>
            <a:ext cx="292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Pilar Utama</a:t>
            </a:r>
            <a:endParaRPr/>
          </a:p>
        </p:txBody>
      </p:sp>
      <p:sp>
        <p:nvSpPr>
          <p:cNvPr id="443" name="Google Shape;443;p37"/>
          <p:cNvSpPr txBox="1"/>
          <p:nvPr/>
        </p:nvSpPr>
        <p:spPr>
          <a:xfrm>
            <a:off x="3590925" y="1762125"/>
            <a:ext cx="232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Sinergi seimbang antara Budaya penerimaan, Kebijakan pendukung, dan Praktik adaptif.</a:t>
            </a: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6372225" y="1504950"/>
            <a:ext cx="292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Kasus Tersembunyi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6372225" y="1762125"/>
            <a:ext cx="232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Deteksi dini Slow Learner, Disleksia, ADHD Inattentive, Gifted, Tunalaras, &amp; Trauma.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9153525" y="1504950"/>
            <a:ext cx="292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E10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Kemitraan Ahli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9153525" y="1762125"/>
            <a:ext cx="232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Psikolog sebagai konsultan perancang strategi pembelajaran, bukan hanya pemberi tes.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065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/>
          <p:nvPr/>
        </p:nvSpPr>
        <p:spPr>
          <a:xfrm>
            <a:off x="1809750" y="3657600"/>
            <a:ext cx="2730549" cy="828675"/>
          </a:xfrm>
          <a:prstGeom prst="roundRect">
            <a:avLst>
              <a:gd fmla="val 13793" name="adj"/>
            </a:avLst>
          </a:prstGeom>
          <a:solidFill>
            <a:srgbClr val="3F2371"/>
          </a:solidFill>
          <a:ln cap="flat" cmpd="sng" w="9525">
            <a:solidFill>
              <a:srgbClr val="503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4730799" y="3657600"/>
            <a:ext cx="2730549" cy="828675"/>
          </a:xfrm>
          <a:prstGeom prst="roundRect">
            <a:avLst>
              <a:gd fmla="val 13793" name="adj"/>
            </a:avLst>
          </a:prstGeom>
          <a:solidFill>
            <a:srgbClr val="3F2371"/>
          </a:solidFill>
          <a:ln cap="flat" cmpd="sng" w="9525">
            <a:solidFill>
              <a:srgbClr val="503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7651849" y="3657600"/>
            <a:ext cx="2730549" cy="828675"/>
          </a:xfrm>
          <a:prstGeom prst="roundRect">
            <a:avLst>
              <a:gd fmla="val 13793" name="adj"/>
            </a:avLst>
          </a:prstGeom>
          <a:solidFill>
            <a:srgbClr val="3F2371"/>
          </a:solidFill>
          <a:ln cap="flat" cmpd="sng" w="9525">
            <a:solidFill>
              <a:srgbClr val="503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 txBox="1"/>
          <p:nvPr/>
        </p:nvSpPr>
        <p:spPr>
          <a:xfrm>
            <a:off x="4884539" y="1857375"/>
            <a:ext cx="24229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SESI DISKUSI INTERAKTIF</a:t>
            </a:r>
            <a:endParaRPr/>
          </a:p>
        </p:txBody>
      </p:sp>
      <p:sp>
        <p:nvSpPr>
          <p:cNvPr id="456" name="Google Shape;456;p38"/>
          <p:cNvSpPr txBox="1"/>
          <p:nvPr/>
        </p:nvSpPr>
        <p:spPr>
          <a:xfrm>
            <a:off x="1439167" y="2143125"/>
            <a:ext cx="931366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Tanya Jawab &amp; Konsultasi Kasus</a:t>
            </a:r>
            <a:endParaRPr/>
          </a:p>
        </p:txBody>
      </p:sp>
      <p:sp>
        <p:nvSpPr>
          <p:cNvPr id="457" name="Google Shape;457;p38"/>
          <p:cNvSpPr txBox="1"/>
          <p:nvPr/>
        </p:nvSpPr>
        <p:spPr>
          <a:xfrm>
            <a:off x="1928812" y="2876550"/>
            <a:ext cx="83343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9D5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 Menit • Mari mendiskusikan kasus nyata yang sedang dihadapi di madrasah Bapak &amp; Ibu.</a:t>
            </a:r>
            <a:endParaRPr/>
          </a:p>
        </p:txBody>
      </p:sp>
      <p:sp>
        <p:nvSpPr>
          <p:cNvPr id="458" name="Google Shape;458;p38"/>
          <p:cNvSpPr txBox="1"/>
          <p:nvPr/>
        </p:nvSpPr>
        <p:spPr>
          <a:xfrm>
            <a:off x="3351609" y="4829175"/>
            <a:ext cx="5488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8B4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Biro Psikologi Mustika • Mitra Konsultatif Pendidikan Inklusif Balikpapan</a:t>
            </a:r>
            <a:endParaRPr/>
          </a:p>
        </p:txBody>
      </p:sp>
      <p:sp>
        <p:nvSpPr>
          <p:cNvPr id="459" name="Google Shape;459;p38"/>
          <p:cNvSpPr txBox="1"/>
          <p:nvPr/>
        </p:nvSpPr>
        <p:spPr>
          <a:xfrm>
            <a:off x="2000250" y="3848100"/>
            <a:ext cx="244479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Blok 1 (10 Menit)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4921299" y="3848100"/>
            <a:ext cx="244479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Blok 2 (10 Menit)</a:t>
            </a:r>
            <a:endParaRPr/>
          </a:p>
        </p:txBody>
      </p:sp>
      <p:sp>
        <p:nvSpPr>
          <p:cNvPr id="461" name="Google Shape;461;p38"/>
          <p:cNvSpPr txBox="1"/>
          <p:nvPr/>
        </p:nvSpPr>
        <p:spPr>
          <a:xfrm>
            <a:off x="7842349" y="3848100"/>
            <a:ext cx="244479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Blok 3 (10 Menit)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2009775" y="4114800"/>
            <a:ext cx="29131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Prinsip &amp; Kebijakan Inklusi</a:t>
            </a:r>
            <a:endParaRPr/>
          </a:p>
        </p:txBody>
      </p:sp>
      <p:sp>
        <p:nvSpPr>
          <p:cNvPr id="463" name="Google Shape;463;p38"/>
          <p:cNvSpPr txBox="1"/>
          <p:nvPr/>
        </p:nvSpPr>
        <p:spPr>
          <a:xfrm>
            <a:off x="4930824" y="4114800"/>
            <a:ext cx="29131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Studi Kasus Siswa Spesifik</a:t>
            </a:r>
            <a:endParaRPr/>
          </a:p>
        </p:txBody>
      </p:sp>
      <p:sp>
        <p:nvSpPr>
          <p:cNvPr id="464" name="Google Shape;464;p38"/>
          <p:cNvSpPr txBox="1"/>
          <p:nvPr/>
        </p:nvSpPr>
        <p:spPr>
          <a:xfrm>
            <a:off x="7851874" y="4114800"/>
            <a:ext cx="29131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Peran &amp; Pendampingan Psikolog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