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7556500" cy="10693400"/>
  <p:notesSz cx="6858000" cy="9144000"/>
  <p:embeddedFontLst>
    <p:embeddedFont>
      <p:font typeface="Oswald Bold" charset="1" panose="00000800000000000000"/>
      <p:regular r:id="rId27"/>
    </p:embeddedFont>
    <p:embeddedFont>
      <p:font typeface="Nunito" charset="1" panose="00000000000000000000"/>
      <p:regular r:id="rId28"/>
    </p:embeddedFont>
    <p:embeddedFont>
      <p:font typeface="Nunito Bold" charset="1" panose="00000000000000000000"/>
      <p:regular r:id="rId29"/>
    </p:embeddedFont>
    <p:embeddedFont>
      <p:font typeface="Mont Bold" charset="1" panose="00000800000000000000"/>
      <p:regular r:id="rId30"/>
    </p:embeddedFont>
    <p:embeddedFont>
      <p:font typeface="Nunito Italics" charset="1" panose="00000000000000000000"/>
      <p:regular r:id="rId31"/>
    </p:embeddedFont>
    <p:embeddedFont>
      <p:font typeface="Nunito Bold Italics" charset="1" panose="000000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2.png" Type="http://schemas.openxmlformats.org/officeDocument/2006/relationships/image"/><Relationship Id="rId2" Target="../media/image3.jpeg" Type="http://schemas.openxmlformats.org/officeDocument/2006/relationships/image"/><Relationship Id="rId3" Target="../media/image4.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13" Target="../media/image16.png" Type="http://schemas.openxmlformats.org/officeDocument/2006/relationships/image"/><Relationship Id="rId14" Target="../media/image17.svg" Type="http://schemas.openxmlformats.org/officeDocument/2006/relationships/image"/><Relationship Id="rId15" Target="../media/image2.png" Type="http://schemas.openxmlformats.org/officeDocument/2006/relationships/image"/><Relationship Id="rId16" Target="../media/image18.png" Type="http://schemas.openxmlformats.org/officeDocument/2006/relationships/image"/><Relationship Id="rId17" Target="../media/image19.svg" Type="http://schemas.openxmlformats.org/officeDocument/2006/relationships/image"/><Relationship Id="rId18" Target="../media/image20.png" Type="http://schemas.openxmlformats.org/officeDocument/2006/relationships/image"/><Relationship Id="rId19" Target="../media/image21.svg" Type="http://schemas.openxmlformats.org/officeDocument/2006/relationships/image"/><Relationship Id="rId2" Target="../media/image13.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png" Type="http://schemas.openxmlformats.org/officeDocument/2006/relationships/image"/><Relationship Id="rId11" Target="../media/image22.png" Type="http://schemas.openxmlformats.org/officeDocument/2006/relationships/image"/><Relationship Id="rId12" Target="../media/image23.svg" Type="http://schemas.openxmlformats.org/officeDocument/2006/relationships/image"/><Relationship Id="rId13" Target="../media/image24.png" Type="http://schemas.openxmlformats.org/officeDocument/2006/relationships/image"/><Relationship Id="rId14" Target="../media/image25.svg" Type="http://schemas.openxmlformats.org/officeDocument/2006/relationships/image"/><Relationship Id="rId15" Target="../media/image26.png" Type="http://schemas.openxmlformats.org/officeDocument/2006/relationships/image"/><Relationship Id="rId16" Target="../media/image27.svg" Type="http://schemas.openxmlformats.org/officeDocument/2006/relationships/image"/><Relationship Id="rId17" Target="../media/image28.png" Type="http://schemas.openxmlformats.org/officeDocument/2006/relationships/image"/><Relationship Id="rId18" Target="../media/image29.svg" Type="http://schemas.openxmlformats.org/officeDocument/2006/relationships/image"/><Relationship Id="rId19" Target="../media/image30.png" Type="http://schemas.openxmlformats.org/officeDocument/2006/relationships/image"/><Relationship Id="rId2" Target="../media/image5.png" Type="http://schemas.openxmlformats.org/officeDocument/2006/relationships/image"/><Relationship Id="rId20" Target="../media/image31.svg" Type="http://schemas.openxmlformats.org/officeDocument/2006/relationships/image"/><Relationship Id="rId21" Target="../media/image32.png" Type="http://schemas.openxmlformats.org/officeDocument/2006/relationships/image"/><Relationship Id="rId22" Target="../media/image33.svg" Type="http://schemas.openxmlformats.org/officeDocument/2006/relationships/image"/><Relationship Id="rId23" Target="../media/image34.png" Type="http://schemas.openxmlformats.org/officeDocument/2006/relationships/image"/><Relationship Id="rId24" Target="../media/image35.svg" Type="http://schemas.openxmlformats.org/officeDocument/2006/relationships/image"/><Relationship Id="rId25" Target="../media/image36.png" Type="http://schemas.openxmlformats.org/officeDocument/2006/relationships/image"/><Relationship Id="rId26" Target="../media/image37.sv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png" Type="http://schemas.openxmlformats.org/officeDocument/2006/relationships/image"/><Relationship Id="rId11" Target="../media/image38.png" Type="http://schemas.openxmlformats.org/officeDocument/2006/relationships/image"/><Relationship Id="rId12" Target="../embeddings/oleObject1.bin" Type="http://schemas.openxmlformats.org/officeDocument/2006/relationships/oleObjec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png" Type="http://schemas.openxmlformats.org/officeDocument/2006/relationships/image"/><Relationship Id="rId11" Target="../media/image39.png" Type="http://schemas.openxmlformats.org/officeDocument/2006/relationships/image"/><Relationship Id="rId12" Target="../embeddings/oleObject2.bin" Type="http://schemas.openxmlformats.org/officeDocument/2006/relationships/oleObjec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11" Target="../media/image2.png" Type="http://schemas.openxmlformats.org/officeDocument/2006/relationships/image"/><Relationship Id="rId12" Target="../media/image41.png" Type="http://schemas.openxmlformats.org/officeDocument/2006/relationships/image"/><Relationship Id="rId13" Target="../embeddings/oleObject3.bin" Type="http://schemas.openxmlformats.org/officeDocument/2006/relationships/oleObject"/><Relationship Id="rId2" Target="../media/image40.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png" Type="http://schemas.openxmlformats.org/officeDocument/2006/relationships/image"/><Relationship Id="rId11" Target="../media/image42.jpeg" Type="http://schemas.openxmlformats.org/officeDocument/2006/relationships/image"/><Relationship Id="rId12" Target="../media/image43.png" Type="http://schemas.openxmlformats.org/officeDocument/2006/relationships/image"/><Relationship Id="rId13" Target="../media/image44.jpeg" Type="http://schemas.openxmlformats.org/officeDocument/2006/relationships/image"/><Relationship Id="rId14" Target="../media/image45.png" Type="http://schemas.openxmlformats.org/officeDocument/2006/relationships/image"/><Relationship Id="rId15" Target="../media/image46.jpeg" Type="http://schemas.openxmlformats.org/officeDocument/2006/relationships/image"/><Relationship Id="rId16" Target="../media/image47.jpeg" Type="http://schemas.openxmlformats.org/officeDocument/2006/relationships/image"/><Relationship Id="rId17" Target="../media/image48.jpeg" Type="http://schemas.openxmlformats.org/officeDocument/2006/relationships/image"/><Relationship Id="rId18" Target="../media/image49.png" Type="http://schemas.openxmlformats.org/officeDocument/2006/relationships/image"/><Relationship Id="rId19" Target="../media/image50.jpeg" Type="http://schemas.openxmlformats.org/officeDocument/2006/relationships/image"/><Relationship Id="rId2" Target="../media/image5.png" Type="http://schemas.openxmlformats.org/officeDocument/2006/relationships/image"/><Relationship Id="rId20" Target="../media/image51.png" Type="http://schemas.openxmlformats.org/officeDocument/2006/relationships/image"/><Relationship Id="rId21" Target="../media/image52.png" Type="http://schemas.openxmlformats.org/officeDocument/2006/relationships/image"/><Relationship Id="rId22" Target="../media/image53.png" Type="http://schemas.openxmlformats.org/officeDocument/2006/relationships/image"/><Relationship Id="rId23" Target="../media/image54.jpe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png" Type="http://schemas.openxmlformats.org/officeDocument/2006/relationships/image"/><Relationship Id="rId11" Target="../media/image55.png" Type="http://schemas.openxmlformats.org/officeDocument/2006/relationships/image"/><Relationship Id="rId12" Target="../media/image56.png" Type="http://schemas.openxmlformats.org/officeDocument/2006/relationships/image"/><Relationship Id="rId13" Target="../media/image57.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png" Type="http://schemas.openxmlformats.org/officeDocument/2006/relationships/image"/><Relationship Id="rId11" Target="../media/image58.png" Type="http://schemas.openxmlformats.org/officeDocument/2006/relationships/image"/><Relationship Id="rId12" Target="../media/image56.png" Type="http://schemas.openxmlformats.org/officeDocument/2006/relationships/image"/><Relationship Id="rId13" Target="../media/image59.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8.svg" Type="http://schemas.openxmlformats.org/officeDocument/2006/relationships/image"/><Relationship Id="rId11" Target="../media/image69.png" Type="http://schemas.openxmlformats.org/officeDocument/2006/relationships/image"/><Relationship Id="rId12" Target="../media/image70.png" Type="http://schemas.openxmlformats.org/officeDocument/2006/relationships/image"/><Relationship Id="rId13" Target="../media/image71.png" Type="http://schemas.openxmlformats.org/officeDocument/2006/relationships/image"/><Relationship Id="rId14" Target="../media/image72.svg" Type="http://schemas.openxmlformats.org/officeDocument/2006/relationships/image"/><Relationship Id="rId15" Target="../media/image2.png" Type="http://schemas.openxmlformats.org/officeDocument/2006/relationships/image"/><Relationship Id="rId2" Target="../media/image60.jpeg" Type="http://schemas.openxmlformats.org/officeDocument/2006/relationships/image"/><Relationship Id="rId3" Target="../media/image61.png" Type="http://schemas.openxmlformats.org/officeDocument/2006/relationships/image"/><Relationship Id="rId4" Target="../media/image62.svg" Type="http://schemas.openxmlformats.org/officeDocument/2006/relationships/image"/><Relationship Id="rId5" Target="../media/image63.png" Type="http://schemas.openxmlformats.org/officeDocument/2006/relationships/image"/><Relationship Id="rId6" Target="../media/image64.svg" Type="http://schemas.openxmlformats.org/officeDocument/2006/relationships/image"/><Relationship Id="rId7" Target="../media/image65.png" Type="http://schemas.openxmlformats.org/officeDocument/2006/relationships/image"/><Relationship Id="rId8" Target="../media/image66.svg" Type="http://schemas.openxmlformats.org/officeDocument/2006/relationships/image"/><Relationship Id="rId9" Target="../media/image6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99254" y="3740148"/>
            <a:ext cx="8358509" cy="5507280"/>
            <a:chOff x="0" y="0"/>
            <a:chExt cx="1762059" cy="1160991"/>
          </a:xfrm>
        </p:grpSpPr>
        <p:sp>
          <p:nvSpPr>
            <p:cNvPr name="Freeform 3" id="3"/>
            <p:cNvSpPr/>
            <p:nvPr/>
          </p:nvSpPr>
          <p:spPr>
            <a:xfrm flipH="false" flipV="false" rot="0">
              <a:off x="0" y="0"/>
              <a:ext cx="1762059" cy="1160991"/>
            </a:xfrm>
            <a:custGeom>
              <a:avLst/>
              <a:gdLst/>
              <a:ahLst/>
              <a:cxnLst/>
              <a:rect r="r" b="b" t="t" l="l"/>
              <a:pathLst>
                <a:path h="1160991" w="1762059">
                  <a:moveTo>
                    <a:pt x="0" y="0"/>
                  </a:moveTo>
                  <a:lnTo>
                    <a:pt x="1762059" y="0"/>
                  </a:lnTo>
                  <a:lnTo>
                    <a:pt x="1762059" y="1160991"/>
                  </a:lnTo>
                  <a:lnTo>
                    <a:pt x="0" y="1160991"/>
                  </a:lnTo>
                  <a:close/>
                </a:path>
              </a:pathLst>
            </a:custGeom>
            <a:blipFill>
              <a:blip r:embed="rId2"/>
              <a:stretch>
                <a:fillRect l="0" t="-636" r="0" b="-636"/>
              </a:stretch>
            </a:blipFill>
          </p:spPr>
        </p:sp>
      </p:grpSp>
      <p:grpSp>
        <p:nvGrpSpPr>
          <p:cNvPr name="Group 4" id="4"/>
          <p:cNvGrpSpPr/>
          <p:nvPr/>
        </p:nvGrpSpPr>
        <p:grpSpPr>
          <a:xfrm rot="0">
            <a:off x="-243243" y="9247428"/>
            <a:ext cx="8030054" cy="1859808"/>
            <a:chOff x="0" y="0"/>
            <a:chExt cx="2877790" cy="666513"/>
          </a:xfrm>
        </p:grpSpPr>
        <p:sp>
          <p:nvSpPr>
            <p:cNvPr name="Freeform 5" id="5"/>
            <p:cNvSpPr/>
            <p:nvPr/>
          </p:nvSpPr>
          <p:spPr>
            <a:xfrm flipH="false" flipV="false" rot="0">
              <a:off x="0" y="0"/>
              <a:ext cx="2877790" cy="666513"/>
            </a:xfrm>
            <a:custGeom>
              <a:avLst/>
              <a:gdLst/>
              <a:ahLst/>
              <a:cxnLst/>
              <a:rect r="r" b="b" t="t" l="l"/>
              <a:pathLst>
                <a:path h="666513" w="2877790">
                  <a:moveTo>
                    <a:pt x="0" y="0"/>
                  </a:moveTo>
                  <a:lnTo>
                    <a:pt x="2877790" y="0"/>
                  </a:lnTo>
                  <a:lnTo>
                    <a:pt x="2877790" y="666513"/>
                  </a:lnTo>
                  <a:lnTo>
                    <a:pt x="0" y="666513"/>
                  </a:lnTo>
                  <a:close/>
                </a:path>
              </a:pathLst>
            </a:custGeom>
            <a:solidFill>
              <a:srgbClr val="0171CD"/>
            </a:solidFill>
          </p:spPr>
        </p:sp>
        <p:sp>
          <p:nvSpPr>
            <p:cNvPr name="TextBox 6" id="6"/>
            <p:cNvSpPr txBox="true"/>
            <p:nvPr/>
          </p:nvSpPr>
          <p:spPr>
            <a:xfrm>
              <a:off x="0" y="-28575"/>
              <a:ext cx="2877790" cy="695088"/>
            </a:xfrm>
            <a:prstGeom prst="rect">
              <a:avLst/>
            </a:prstGeom>
          </p:spPr>
          <p:txBody>
            <a:bodyPr anchor="ctr" rtlCol="false" tIns="50800" lIns="50800" bIns="50800" rIns="50800"/>
            <a:lstStyle/>
            <a:p>
              <a:pPr algn="ctr">
                <a:lnSpc>
                  <a:spcPts val="1960"/>
                </a:lnSpc>
                <a:spcBef>
                  <a:spcPct val="0"/>
                </a:spcBef>
              </a:pPr>
            </a:p>
          </p:txBody>
        </p:sp>
      </p:grpSp>
      <p:sp>
        <p:nvSpPr>
          <p:cNvPr name="AutoShape 7" id="7"/>
          <p:cNvSpPr/>
          <p:nvPr/>
        </p:nvSpPr>
        <p:spPr>
          <a:xfrm flipV="true">
            <a:off x="529937" y="996809"/>
            <a:ext cx="6500125" cy="0"/>
          </a:xfrm>
          <a:prstGeom prst="line">
            <a:avLst/>
          </a:prstGeom>
          <a:ln cap="flat" w="19050">
            <a:solidFill>
              <a:srgbClr val="0071CE"/>
            </a:solidFill>
            <a:prstDash val="solid"/>
            <a:headEnd type="none" len="sm" w="sm"/>
            <a:tailEnd type="none" len="sm" w="sm"/>
          </a:ln>
        </p:spPr>
      </p:sp>
      <p:sp>
        <p:nvSpPr>
          <p:cNvPr name="Freeform 8" id="8"/>
          <p:cNvSpPr/>
          <p:nvPr/>
        </p:nvSpPr>
        <p:spPr>
          <a:xfrm flipH="false" flipV="false" rot="0">
            <a:off x="529937" y="284819"/>
            <a:ext cx="2112492" cy="492915"/>
          </a:xfrm>
          <a:custGeom>
            <a:avLst/>
            <a:gdLst/>
            <a:ahLst/>
            <a:cxnLst/>
            <a:rect r="r" b="b" t="t" l="l"/>
            <a:pathLst>
              <a:path h="492915" w="2112492">
                <a:moveTo>
                  <a:pt x="0" y="0"/>
                </a:moveTo>
                <a:lnTo>
                  <a:pt x="2112493" y="0"/>
                </a:lnTo>
                <a:lnTo>
                  <a:pt x="2112493" y="492915"/>
                </a:lnTo>
                <a:lnTo>
                  <a:pt x="0" y="492915"/>
                </a:lnTo>
                <a:lnTo>
                  <a:pt x="0" y="0"/>
                </a:lnTo>
                <a:close/>
              </a:path>
            </a:pathLst>
          </a:custGeom>
          <a:blipFill>
            <a:blip r:embed="rId3"/>
            <a:stretch>
              <a:fillRect l="0" t="0" r="0" b="0"/>
            </a:stretch>
          </a:blipFill>
        </p:spPr>
      </p:sp>
      <p:sp>
        <p:nvSpPr>
          <p:cNvPr name="TextBox 9" id="9"/>
          <p:cNvSpPr txBox="true"/>
          <p:nvPr/>
        </p:nvSpPr>
        <p:spPr>
          <a:xfrm rot="0">
            <a:off x="521721" y="1183411"/>
            <a:ext cx="6500125" cy="1581785"/>
          </a:xfrm>
          <a:prstGeom prst="rect">
            <a:avLst/>
          </a:prstGeom>
        </p:spPr>
        <p:txBody>
          <a:bodyPr anchor="t" rtlCol="false" tIns="0" lIns="0" bIns="0" rIns="0">
            <a:spAutoFit/>
          </a:bodyPr>
          <a:lstStyle/>
          <a:p>
            <a:pPr algn="ctr">
              <a:lnSpc>
                <a:spcPts val="4180"/>
              </a:lnSpc>
            </a:pPr>
            <a:r>
              <a:rPr lang="en-US" b="true" sz="3800">
                <a:solidFill>
                  <a:srgbClr val="0171CD"/>
                </a:solidFill>
                <a:latin typeface="Oswald Bold"/>
                <a:ea typeface="Oswald Bold"/>
                <a:cs typeface="Oswald Bold"/>
                <a:sym typeface="Oswald Bold"/>
              </a:rPr>
              <a:t>PROPOSAL TEKNIS PROGRAM PENDAMPINGAN PENGUSAHA AFIRMATIF</a:t>
            </a:r>
          </a:p>
        </p:txBody>
      </p:sp>
      <p:sp>
        <p:nvSpPr>
          <p:cNvPr name="TextBox 10" id="10"/>
          <p:cNvSpPr txBox="true"/>
          <p:nvPr/>
        </p:nvSpPr>
        <p:spPr>
          <a:xfrm rot="0">
            <a:off x="529937" y="9534269"/>
            <a:ext cx="383101" cy="198755"/>
          </a:xfrm>
          <a:prstGeom prst="rect">
            <a:avLst/>
          </a:prstGeom>
        </p:spPr>
        <p:txBody>
          <a:bodyPr anchor="t" rtlCol="false" tIns="0" lIns="0" bIns="0" rIns="0">
            <a:spAutoFit/>
          </a:bodyPr>
          <a:lstStyle/>
          <a:p>
            <a:pPr algn="l">
              <a:lnSpc>
                <a:spcPts val="1540"/>
              </a:lnSpc>
            </a:pPr>
            <a:r>
              <a:rPr lang="en-US" sz="1400">
                <a:solidFill>
                  <a:srgbClr val="FFFFFF"/>
                </a:solidFill>
                <a:latin typeface="Nunito"/>
                <a:ea typeface="Nunito"/>
                <a:cs typeface="Nunito"/>
                <a:sym typeface="Nunito"/>
              </a:rPr>
              <a:t>Date</a:t>
            </a:r>
          </a:p>
        </p:txBody>
      </p:sp>
      <p:sp>
        <p:nvSpPr>
          <p:cNvPr name="TextBox 11" id="11"/>
          <p:cNvSpPr txBox="true"/>
          <p:nvPr/>
        </p:nvSpPr>
        <p:spPr>
          <a:xfrm rot="0">
            <a:off x="529937" y="9767501"/>
            <a:ext cx="770930" cy="198755"/>
          </a:xfrm>
          <a:prstGeom prst="rect">
            <a:avLst/>
          </a:prstGeom>
        </p:spPr>
        <p:txBody>
          <a:bodyPr anchor="t" rtlCol="false" tIns="0" lIns="0" bIns="0" rIns="0">
            <a:spAutoFit/>
          </a:bodyPr>
          <a:lstStyle/>
          <a:p>
            <a:pPr algn="l">
              <a:lnSpc>
                <a:spcPts val="1540"/>
              </a:lnSpc>
            </a:pPr>
            <a:r>
              <a:rPr lang="en-US" sz="1400" b="true">
                <a:solidFill>
                  <a:srgbClr val="FFFFFF"/>
                </a:solidFill>
                <a:latin typeface="Nunito Bold"/>
                <a:ea typeface="Nunito Bold"/>
                <a:cs typeface="Nunito Bold"/>
                <a:sym typeface="Nunito Bold"/>
              </a:rPr>
              <a:t>22 Jun</a:t>
            </a:r>
          </a:p>
        </p:txBody>
      </p:sp>
      <p:sp>
        <p:nvSpPr>
          <p:cNvPr name="TextBox 12" id="12"/>
          <p:cNvSpPr txBox="true"/>
          <p:nvPr/>
        </p:nvSpPr>
        <p:spPr>
          <a:xfrm rot="0">
            <a:off x="6506709" y="519574"/>
            <a:ext cx="523353" cy="186279"/>
          </a:xfrm>
          <a:prstGeom prst="rect">
            <a:avLst/>
          </a:prstGeom>
        </p:spPr>
        <p:txBody>
          <a:bodyPr anchor="t" rtlCol="false" tIns="0" lIns="0" bIns="0" rIns="0">
            <a:spAutoFit/>
          </a:bodyPr>
          <a:lstStyle/>
          <a:p>
            <a:pPr algn="r">
              <a:lnSpc>
                <a:spcPts val="1430"/>
              </a:lnSpc>
            </a:pPr>
            <a:r>
              <a:rPr lang="en-US" b="true" sz="1300">
                <a:solidFill>
                  <a:srgbClr val="0171CD"/>
                </a:solidFill>
                <a:latin typeface="Nunito Bold"/>
                <a:ea typeface="Nunito Bold"/>
                <a:cs typeface="Nunito Bold"/>
                <a:sym typeface="Nunito Bold"/>
              </a:rPr>
              <a:t>2025</a:t>
            </a:r>
          </a:p>
        </p:txBody>
      </p:sp>
      <p:sp>
        <p:nvSpPr>
          <p:cNvPr name="TextBox 13" id="13"/>
          <p:cNvSpPr txBox="true"/>
          <p:nvPr/>
        </p:nvSpPr>
        <p:spPr>
          <a:xfrm rot="0">
            <a:off x="2106771" y="9534269"/>
            <a:ext cx="998199" cy="198755"/>
          </a:xfrm>
          <a:prstGeom prst="rect">
            <a:avLst/>
          </a:prstGeom>
        </p:spPr>
        <p:txBody>
          <a:bodyPr anchor="t" rtlCol="false" tIns="0" lIns="0" bIns="0" rIns="0">
            <a:spAutoFit/>
          </a:bodyPr>
          <a:lstStyle/>
          <a:p>
            <a:pPr algn="l">
              <a:lnSpc>
                <a:spcPts val="1540"/>
              </a:lnSpc>
            </a:pPr>
            <a:r>
              <a:rPr lang="en-US" sz="1400">
                <a:solidFill>
                  <a:srgbClr val="FFFFFF"/>
                </a:solidFill>
                <a:latin typeface="Nunito"/>
                <a:ea typeface="Nunito"/>
                <a:cs typeface="Nunito"/>
                <a:sym typeface="Nunito"/>
              </a:rPr>
              <a:t>Prepared for</a:t>
            </a:r>
          </a:p>
        </p:txBody>
      </p:sp>
      <p:sp>
        <p:nvSpPr>
          <p:cNvPr name="TextBox 14" id="14"/>
          <p:cNvSpPr txBox="true"/>
          <p:nvPr/>
        </p:nvSpPr>
        <p:spPr>
          <a:xfrm rot="0">
            <a:off x="2106771" y="9767501"/>
            <a:ext cx="1365367" cy="389255"/>
          </a:xfrm>
          <a:prstGeom prst="rect">
            <a:avLst/>
          </a:prstGeom>
        </p:spPr>
        <p:txBody>
          <a:bodyPr anchor="t" rtlCol="false" tIns="0" lIns="0" bIns="0" rIns="0">
            <a:spAutoFit/>
          </a:bodyPr>
          <a:lstStyle/>
          <a:p>
            <a:pPr algn="l">
              <a:lnSpc>
                <a:spcPts val="1540"/>
              </a:lnSpc>
            </a:pPr>
            <a:r>
              <a:rPr lang="en-US" sz="1400" b="true">
                <a:solidFill>
                  <a:srgbClr val="FFFFFF"/>
                </a:solidFill>
                <a:latin typeface="Nunito Bold"/>
                <a:ea typeface="Nunito Bold"/>
                <a:cs typeface="Nunito Bold"/>
                <a:sym typeface="Nunito Bold"/>
              </a:rPr>
              <a:t>Kementerian UMKM</a:t>
            </a:r>
          </a:p>
        </p:txBody>
      </p:sp>
      <p:sp>
        <p:nvSpPr>
          <p:cNvPr name="TextBox 15" id="15"/>
          <p:cNvSpPr txBox="true"/>
          <p:nvPr/>
        </p:nvSpPr>
        <p:spPr>
          <a:xfrm rot="0">
            <a:off x="4355686" y="9534269"/>
            <a:ext cx="1053353" cy="198755"/>
          </a:xfrm>
          <a:prstGeom prst="rect">
            <a:avLst/>
          </a:prstGeom>
        </p:spPr>
        <p:txBody>
          <a:bodyPr anchor="t" rtlCol="false" tIns="0" lIns="0" bIns="0" rIns="0">
            <a:spAutoFit/>
          </a:bodyPr>
          <a:lstStyle/>
          <a:p>
            <a:pPr algn="l">
              <a:lnSpc>
                <a:spcPts val="1540"/>
              </a:lnSpc>
            </a:pPr>
            <a:r>
              <a:rPr lang="en-US" sz="1400">
                <a:solidFill>
                  <a:srgbClr val="FFFFFF"/>
                </a:solidFill>
                <a:latin typeface="Nunito"/>
                <a:ea typeface="Nunito"/>
                <a:cs typeface="Nunito"/>
                <a:sym typeface="Nunito"/>
              </a:rPr>
              <a:t>Presented by</a:t>
            </a:r>
          </a:p>
        </p:txBody>
      </p:sp>
      <p:sp>
        <p:nvSpPr>
          <p:cNvPr name="TextBox 16" id="16"/>
          <p:cNvSpPr txBox="true"/>
          <p:nvPr/>
        </p:nvSpPr>
        <p:spPr>
          <a:xfrm rot="0">
            <a:off x="4355686" y="9767501"/>
            <a:ext cx="1355737" cy="198755"/>
          </a:xfrm>
          <a:prstGeom prst="rect">
            <a:avLst/>
          </a:prstGeom>
        </p:spPr>
        <p:txBody>
          <a:bodyPr anchor="t" rtlCol="false" tIns="0" lIns="0" bIns="0" rIns="0">
            <a:spAutoFit/>
          </a:bodyPr>
          <a:lstStyle/>
          <a:p>
            <a:pPr algn="l">
              <a:lnSpc>
                <a:spcPts val="1540"/>
              </a:lnSpc>
            </a:pPr>
            <a:r>
              <a:rPr lang="en-US" sz="1400" b="true">
                <a:solidFill>
                  <a:srgbClr val="FFFFFF"/>
                </a:solidFill>
                <a:latin typeface="Nunito Bold"/>
                <a:ea typeface="Nunito Bold"/>
                <a:cs typeface="Nunito Bold"/>
                <a:sym typeface="Nunito Bold"/>
              </a:rPr>
              <a:t>Sanggabiz</a:t>
            </a:r>
          </a:p>
        </p:txBody>
      </p:sp>
      <p:sp>
        <p:nvSpPr>
          <p:cNvPr name="TextBox 17" id="17"/>
          <p:cNvSpPr txBox="true"/>
          <p:nvPr/>
        </p:nvSpPr>
        <p:spPr>
          <a:xfrm rot="0">
            <a:off x="6594972" y="9534269"/>
            <a:ext cx="358588" cy="198755"/>
          </a:xfrm>
          <a:prstGeom prst="rect">
            <a:avLst/>
          </a:prstGeom>
        </p:spPr>
        <p:txBody>
          <a:bodyPr anchor="t" rtlCol="false" tIns="0" lIns="0" bIns="0" rIns="0">
            <a:spAutoFit/>
          </a:bodyPr>
          <a:lstStyle/>
          <a:p>
            <a:pPr algn="l">
              <a:lnSpc>
                <a:spcPts val="1540"/>
              </a:lnSpc>
            </a:pPr>
            <a:r>
              <a:rPr lang="en-US" sz="1400">
                <a:solidFill>
                  <a:srgbClr val="FFFFFF"/>
                </a:solidFill>
                <a:latin typeface="Nunito"/>
                <a:ea typeface="Nunito"/>
                <a:cs typeface="Nunito"/>
                <a:sym typeface="Nunito"/>
              </a:rPr>
              <a:t>Year</a:t>
            </a:r>
          </a:p>
        </p:txBody>
      </p:sp>
      <p:sp>
        <p:nvSpPr>
          <p:cNvPr name="TextBox 18" id="18"/>
          <p:cNvSpPr txBox="true"/>
          <p:nvPr/>
        </p:nvSpPr>
        <p:spPr>
          <a:xfrm rot="0">
            <a:off x="6594972" y="9767501"/>
            <a:ext cx="426874" cy="198755"/>
          </a:xfrm>
          <a:prstGeom prst="rect">
            <a:avLst/>
          </a:prstGeom>
        </p:spPr>
        <p:txBody>
          <a:bodyPr anchor="t" rtlCol="false" tIns="0" lIns="0" bIns="0" rIns="0">
            <a:spAutoFit/>
          </a:bodyPr>
          <a:lstStyle/>
          <a:p>
            <a:pPr algn="l">
              <a:lnSpc>
                <a:spcPts val="1540"/>
              </a:lnSpc>
            </a:pPr>
            <a:r>
              <a:rPr lang="en-US" sz="1400" b="true">
                <a:solidFill>
                  <a:srgbClr val="FFFFFF"/>
                </a:solidFill>
                <a:latin typeface="Nunito Bold"/>
                <a:ea typeface="Nunito Bold"/>
                <a:cs typeface="Nunito Bold"/>
                <a:sym typeface="Nunito Bold"/>
              </a:rPr>
              <a:t>2026</a:t>
            </a:r>
          </a:p>
        </p:txBody>
      </p:sp>
      <p:sp>
        <p:nvSpPr>
          <p:cNvPr name="TextBox 19" id="19"/>
          <p:cNvSpPr txBox="true"/>
          <p:nvPr/>
        </p:nvSpPr>
        <p:spPr>
          <a:xfrm rot="0">
            <a:off x="529937" y="2927121"/>
            <a:ext cx="6500125" cy="355518"/>
          </a:xfrm>
          <a:prstGeom prst="rect">
            <a:avLst/>
          </a:prstGeom>
        </p:spPr>
        <p:txBody>
          <a:bodyPr anchor="t" rtlCol="false" tIns="0" lIns="0" bIns="0" rIns="0">
            <a:spAutoFit/>
          </a:bodyPr>
          <a:lstStyle/>
          <a:p>
            <a:pPr algn="ctr">
              <a:lnSpc>
                <a:spcPts val="2742"/>
              </a:lnSpc>
            </a:pPr>
            <a:r>
              <a:rPr lang="en-US" b="true" sz="2493">
                <a:solidFill>
                  <a:srgbClr val="0171CD"/>
                </a:solidFill>
                <a:latin typeface="Oswald Bold"/>
                <a:ea typeface="Oswald Bold"/>
                <a:cs typeface="Oswald Bold"/>
                <a:sym typeface="Oswald Bold"/>
              </a:rPr>
              <a:t>KEMENTERIAN UMKM TA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529937" y="926236"/>
            <a:ext cx="6500125" cy="0"/>
          </a:xfrm>
          <a:prstGeom prst="line">
            <a:avLst/>
          </a:prstGeom>
          <a:ln cap="flat" w="19050">
            <a:solidFill>
              <a:srgbClr val="0071CE"/>
            </a:solidFill>
            <a:prstDash val="solid"/>
            <a:headEnd type="none" len="sm" w="sm"/>
            <a:tailEnd type="none" len="sm" w="sm"/>
          </a:ln>
        </p:spPr>
      </p:sp>
      <p:sp>
        <p:nvSpPr>
          <p:cNvPr name="AutoShape 3" id="3"/>
          <p:cNvSpPr/>
          <p:nvPr/>
        </p:nvSpPr>
        <p:spPr>
          <a:xfrm flipV="true">
            <a:off x="529937" y="9782475"/>
            <a:ext cx="6500125" cy="0"/>
          </a:xfrm>
          <a:prstGeom prst="line">
            <a:avLst/>
          </a:prstGeom>
          <a:ln cap="flat" w="19050">
            <a:solidFill>
              <a:srgbClr val="0071CE"/>
            </a:solidFill>
            <a:prstDash val="solid"/>
            <a:headEnd type="none" len="sm" w="sm"/>
            <a:tailEnd type="none" len="sm" w="sm"/>
          </a:ln>
        </p:spPr>
      </p:sp>
      <p:grpSp>
        <p:nvGrpSpPr>
          <p:cNvPr name="Group 4" id="4"/>
          <p:cNvGrpSpPr/>
          <p:nvPr/>
        </p:nvGrpSpPr>
        <p:grpSpPr>
          <a:xfrm rot="0">
            <a:off x="529937" y="1110787"/>
            <a:ext cx="6500125" cy="3989245"/>
            <a:chOff x="0" y="0"/>
            <a:chExt cx="2329498" cy="1429655"/>
          </a:xfrm>
        </p:grpSpPr>
        <p:sp>
          <p:nvSpPr>
            <p:cNvPr name="Freeform 5" id="5"/>
            <p:cNvSpPr/>
            <p:nvPr/>
          </p:nvSpPr>
          <p:spPr>
            <a:xfrm flipH="false" flipV="false" rot="0">
              <a:off x="0" y="0"/>
              <a:ext cx="2329498" cy="1429655"/>
            </a:xfrm>
            <a:custGeom>
              <a:avLst/>
              <a:gdLst/>
              <a:ahLst/>
              <a:cxnLst/>
              <a:rect r="r" b="b" t="t" l="l"/>
              <a:pathLst>
                <a:path h="1429655" w="2329498">
                  <a:moveTo>
                    <a:pt x="0" y="0"/>
                  </a:moveTo>
                  <a:lnTo>
                    <a:pt x="2329498" y="0"/>
                  </a:lnTo>
                  <a:lnTo>
                    <a:pt x="2329498" y="1429655"/>
                  </a:lnTo>
                  <a:lnTo>
                    <a:pt x="0" y="1429655"/>
                  </a:lnTo>
                  <a:close/>
                </a:path>
              </a:pathLst>
            </a:custGeom>
            <a:solidFill>
              <a:srgbClr val="0071CE"/>
            </a:solidFill>
          </p:spPr>
        </p:sp>
        <p:sp>
          <p:nvSpPr>
            <p:cNvPr name="TextBox 6" id="6"/>
            <p:cNvSpPr txBox="true"/>
            <p:nvPr/>
          </p:nvSpPr>
          <p:spPr>
            <a:xfrm>
              <a:off x="0" y="-28575"/>
              <a:ext cx="2329498" cy="1458230"/>
            </a:xfrm>
            <a:prstGeom prst="rect">
              <a:avLst/>
            </a:prstGeom>
          </p:spPr>
          <p:txBody>
            <a:bodyPr anchor="ctr" rtlCol="false" tIns="50800" lIns="50800" bIns="50800" rIns="50800"/>
            <a:lstStyle/>
            <a:p>
              <a:pPr algn="ctr">
                <a:lnSpc>
                  <a:spcPts val="1960"/>
                </a:lnSpc>
                <a:spcBef>
                  <a:spcPct val="0"/>
                </a:spcBef>
              </a:pPr>
            </a:p>
          </p:txBody>
        </p:sp>
      </p:grpSp>
      <p:grpSp>
        <p:nvGrpSpPr>
          <p:cNvPr name="Group 7" id="7"/>
          <p:cNvGrpSpPr/>
          <p:nvPr/>
        </p:nvGrpSpPr>
        <p:grpSpPr>
          <a:xfrm rot="0">
            <a:off x="756000" y="1456507"/>
            <a:ext cx="1922253" cy="3442711"/>
            <a:chOff x="0" y="0"/>
            <a:chExt cx="898829" cy="1609781"/>
          </a:xfrm>
        </p:grpSpPr>
        <p:sp>
          <p:nvSpPr>
            <p:cNvPr name="Freeform 8" id="8"/>
            <p:cNvSpPr/>
            <p:nvPr/>
          </p:nvSpPr>
          <p:spPr>
            <a:xfrm flipH="false" flipV="false" rot="0">
              <a:off x="0" y="0"/>
              <a:ext cx="898829" cy="1609781"/>
            </a:xfrm>
            <a:custGeom>
              <a:avLst/>
              <a:gdLst/>
              <a:ahLst/>
              <a:cxnLst/>
              <a:rect r="r" b="b" t="t" l="l"/>
              <a:pathLst>
                <a:path h="1609781" w="898829">
                  <a:moveTo>
                    <a:pt x="0" y="0"/>
                  </a:moveTo>
                  <a:lnTo>
                    <a:pt x="898829" y="0"/>
                  </a:lnTo>
                  <a:lnTo>
                    <a:pt x="898829" y="1609781"/>
                  </a:lnTo>
                  <a:lnTo>
                    <a:pt x="0" y="1609781"/>
                  </a:lnTo>
                  <a:close/>
                </a:path>
              </a:pathLst>
            </a:custGeom>
            <a:blipFill>
              <a:blip r:embed="rId2"/>
              <a:stretch>
                <a:fillRect l="-53302" t="0" r="-115512" b="0"/>
              </a:stretch>
            </a:blipFill>
          </p:spPr>
        </p:sp>
      </p:grpSp>
      <p:grpSp>
        <p:nvGrpSpPr>
          <p:cNvPr name="Group 9" id="9"/>
          <p:cNvGrpSpPr/>
          <p:nvPr/>
        </p:nvGrpSpPr>
        <p:grpSpPr>
          <a:xfrm rot="0">
            <a:off x="5860007" y="5479572"/>
            <a:ext cx="1699993" cy="4064778"/>
            <a:chOff x="0" y="0"/>
            <a:chExt cx="794902" cy="1900655"/>
          </a:xfrm>
        </p:grpSpPr>
        <p:sp>
          <p:nvSpPr>
            <p:cNvPr name="Freeform 10" id="10"/>
            <p:cNvSpPr/>
            <p:nvPr/>
          </p:nvSpPr>
          <p:spPr>
            <a:xfrm flipH="false" flipV="false" rot="0">
              <a:off x="0" y="0"/>
              <a:ext cx="794902" cy="1900655"/>
            </a:xfrm>
            <a:custGeom>
              <a:avLst/>
              <a:gdLst/>
              <a:ahLst/>
              <a:cxnLst/>
              <a:rect r="r" b="b" t="t" l="l"/>
              <a:pathLst>
                <a:path h="1900655" w="794902">
                  <a:moveTo>
                    <a:pt x="0" y="0"/>
                  </a:moveTo>
                  <a:lnTo>
                    <a:pt x="794902" y="0"/>
                  </a:lnTo>
                  <a:lnTo>
                    <a:pt x="794902" y="1900655"/>
                  </a:lnTo>
                  <a:lnTo>
                    <a:pt x="0" y="1900655"/>
                  </a:lnTo>
                  <a:close/>
                </a:path>
              </a:pathLst>
            </a:custGeom>
            <a:blipFill>
              <a:blip r:embed="rId3"/>
              <a:stretch>
                <a:fillRect l="-120163" t="0" r="-138047" b="0"/>
              </a:stretch>
            </a:blipFill>
          </p:spPr>
        </p:sp>
      </p:grpSp>
      <p:grpSp>
        <p:nvGrpSpPr>
          <p:cNvPr name="Group 11" id="11"/>
          <p:cNvGrpSpPr/>
          <p:nvPr/>
        </p:nvGrpSpPr>
        <p:grpSpPr>
          <a:xfrm rot="0">
            <a:off x="1014419" y="1354860"/>
            <a:ext cx="1768901" cy="203293"/>
            <a:chOff x="0" y="0"/>
            <a:chExt cx="633934" cy="72856"/>
          </a:xfrm>
        </p:grpSpPr>
        <p:sp>
          <p:nvSpPr>
            <p:cNvPr name="Freeform 12" id="12"/>
            <p:cNvSpPr/>
            <p:nvPr/>
          </p:nvSpPr>
          <p:spPr>
            <a:xfrm flipH="false" flipV="false" rot="0">
              <a:off x="0" y="0"/>
              <a:ext cx="633934" cy="72856"/>
            </a:xfrm>
            <a:custGeom>
              <a:avLst/>
              <a:gdLst/>
              <a:ahLst/>
              <a:cxnLst/>
              <a:rect r="r" b="b" t="t" l="l"/>
              <a:pathLst>
                <a:path h="72856" w="633934">
                  <a:moveTo>
                    <a:pt x="0" y="0"/>
                  </a:moveTo>
                  <a:lnTo>
                    <a:pt x="633934" y="0"/>
                  </a:lnTo>
                  <a:lnTo>
                    <a:pt x="633934" y="72856"/>
                  </a:lnTo>
                  <a:lnTo>
                    <a:pt x="0" y="72856"/>
                  </a:lnTo>
                  <a:close/>
                </a:path>
              </a:pathLst>
            </a:custGeom>
            <a:solidFill>
              <a:srgbClr val="34BDCF"/>
            </a:solidFill>
          </p:spPr>
        </p:sp>
        <p:sp>
          <p:nvSpPr>
            <p:cNvPr name="TextBox 13" id="13"/>
            <p:cNvSpPr txBox="true"/>
            <p:nvPr/>
          </p:nvSpPr>
          <p:spPr>
            <a:xfrm>
              <a:off x="0" y="9525"/>
              <a:ext cx="633934" cy="63331"/>
            </a:xfrm>
            <a:prstGeom prst="rect">
              <a:avLst/>
            </a:prstGeom>
          </p:spPr>
          <p:txBody>
            <a:bodyPr anchor="ctr" rtlCol="false" tIns="50800" lIns="50800" bIns="50800" rIns="50800"/>
            <a:lstStyle/>
            <a:p>
              <a:pPr algn="ctr">
                <a:lnSpc>
                  <a:spcPts val="1540"/>
                </a:lnSpc>
              </a:pPr>
            </a:p>
          </p:txBody>
        </p:sp>
      </p:grpSp>
      <p:grpSp>
        <p:nvGrpSpPr>
          <p:cNvPr name="Group 14" id="14"/>
          <p:cNvGrpSpPr/>
          <p:nvPr/>
        </p:nvGrpSpPr>
        <p:grpSpPr>
          <a:xfrm rot="0">
            <a:off x="2414873" y="9968045"/>
            <a:ext cx="263381" cy="266997"/>
            <a:chOff x="0" y="0"/>
            <a:chExt cx="351174" cy="355996"/>
          </a:xfrm>
        </p:grpSpPr>
        <p:sp>
          <p:nvSpPr>
            <p:cNvPr name="Freeform 15" id="15"/>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4">
                <a:extLst>
                  <a:ext uri="{96DAC541-7B7A-43D3-8B79-37D633B846F1}">
                    <asvg:svgBlip xmlns:asvg="http://schemas.microsoft.com/office/drawing/2016/SVG/main" r:embed="rId5"/>
                  </a:ext>
                </a:extLst>
              </a:blip>
              <a:stretch>
                <a:fillRect l="0" t="-131786" r="-598794" b="0"/>
              </a:stretch>
            </a:blipFill>
          </p:spPr>
        </p:sp>
        <p:sp>
          <p:nvSpPr>
            <p:cNvPr name="Freeform 16" id="16"/>
            <p:cNvSpPr/>
            <p:nvPr/>
          </p:nvSpPr>
          <p:spPr>
            <a:xfrm flipH="false" flipV="false" rot="0">
              <a:off x="71763" y="74174"/>
              <a:ext cx="207648" cy="207648"/>
            </a:xfrm>
            <a:custGeom>
              <a:avLst/>
              <a:gdLst/>
              <a:ahLst/>
              <a:cxnLst/>
              <a:rect r="r" b="b" t="t" l="l"/>
              <a:pathLst>
                <a:path h="207648" w="207648">
                  <a:moveTo>
                    <a:pt x="0" y="0"/>
                  </a:moveTo>
                  <a:lnTo>
                    <a:pt x="207648" y="0"/>
                  </a:lnTo>
                  <a:lnTo>
                    <a:pt x="207648" y="207648"/>
                  </a:lnTo>
                  <a:lnTo>
                    <a:pt x="0" y="2076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17" id="17"/>
          <p:cNvGrpSpPr/>
          <p:nvPr/>
        </p:nvGrpSpPr>
        <p:grpSpPr>
          <a:xfrm rot="0">
            <a:off x="469351" y="9968045"/>
            <a:ext cx="263381" cy="266997"/>
            <a:chOff x="0" y="0"/>
            <a:chExt cx="351174" cy="355996"/>
          </a:xfrm>
        </p:grpSpPr>
        <p:sp>
          <p:nvSpPr>
            <p:cNvPr name="Freeform 18" id="18"/>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4">
                <a:extLst>
                  <a:ext uri="{96DAC541-7B7A-43D3-8B79-37D633B846F1}">
                    <asvg:svgBlip xmlns:asvg="http://schemas.microsoft.com/office/drawing/2016/SVG/main" r:embed="rId5"/>
                  </a:ext>
                </a:extLst>
              </a:blip>
              <a:stretch>
                <a:fillRect l="0" t="-131786" r="-598794" b="0"/>
              </a:stretch>
            </a:blipFill>
          </p:spPr>
        </p:sp>
        <p:sp>
          <p:nvSpPr>
            <p:cNvPr name="Freeform 19" id="19"/>
            <p:cNvSpPr/>
            <p:nvPr/>
          </p:nvSpPr>
          <p:spPr>
            <a:xfrm flipH="false" flipV="false" rot="0">
              <a:off x="82548" y="72870"/>
              <a:ext cx="186078" cy="210257"/>
            </a:xfrm>
            <a:custGeom>
              <a:avLst/>
              <a:gdLst/>
              <a:ahLst/>
              <a:cxnLst/>
              <a:rect r="r" b="b" t="t" l="l"/>
              <a:pathLst>
                <a:path h="210257" w="186078">
                  <a:moveTo>
                    <a:pt x="0" y="0"/>
                  </a:moveTo>
                  <a:lnTo>
                    <a:pt x="186078" y="0"/>
                  </a:lnTo>
                  <a:lnTo>
                    <a:pt x="186078" y="210257"/>
                  </a:lnTo>
                  <a:lnTo>
                    <a:pt x="0" y="2102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20" id="20"/>
          <p:cNvGrpSpPr/>
          <p:nvPr/>
        </p:nvGrpSpPr>
        <p:grpSpPr>
          <a:xfrm rot="0">
            <a:off x="4789301" y="9981259"/>
            <a:ext cx="237312" cy="240571"/>
            <a:chOff x="0" y="0"/>
            <a:chExt cx="316416" cy="320761"/>
          </a:xfrm>
        </p:grpSpPr>
        <p:sp>
          <p:nvSpPr>
            <p:cNvPr name="Freeform 21" id="21"/>
            <p:cNvSpPr/>
            <p:nvPr/>
          </p:nvSpPr>
          <p:spPr>
            <a:xfrm flipH="false" flipV="false" rot="0">
              <a:off x="0" y="0"/>
              <a:ext cx="316416" cy="320761"/>
            </a:xfrm>
            <a:custGeom>
              <a:avLst/>
              <a:gdLst/>
              <a:ahLst/>
              <a:cxnLst/>
              <a:rect r="r" b="b" t="t" l="l"/>
              <a:pathLst>
                <a:path h="320761" w="316416">
                  <a:moveTo>
                    <a:pt x="0" y="0"/>
                  </a:moveTo>
                  <a:lnTo>
                    <a:pt x="316416" y="0"/>
                  </a:lnTo>
                  <a:lnTo>
                    <a:pt x="316416" y="320761"/>
                  </a:lnTo>
                  <a:lnTo>
                    <a:pt x="0" y="320761"/>
                  </a:lnTo>
                  <a:lnTo>
                    <a:pt x="0" y="0"/>
                  </a:lnTo>
                  <a:close/>
                </a:path>
              </a:pathLst>
            </a:custGeom>
            <a:blipFill>
              <a:blip r:embed="rId4">
                <a:extLst>
                  <a:ext uri="{96DAC541-7B7A-43D3-8B79-37D633B846F1}">
                    <asvg:svgBlip xmlns:asvg="http://schemas.microsoft.com/office/drawing/2016/SVG/main" r:embed="rId5"/>
                  </a:ext>
                </a:extLst>
              </a:blip>
              <a:stretch>
                <a:fillRect l="0" t="-131786" r="-598794" b="0"/>
              </a:stretch>
            </a:blipFill>
          </p:spPr>
        </p:sp>
        <p:sp>
          <p:nvSpPr>
            <p:cNvPr name="Freeform 22" id="22"/>
            <p:cNvSpPr/>
            <p:nvPr/>
          </p:nvSpPr>
          <p:spPr>
            <a:xfrm flipH="false" flipV="false" rot="0">
              <a:off x="63604" y="89073"/>
              <a:ext cx="189207" cy="142615"/>
            </a:xfrm>
            <a:custGeom>
              <a:avLst/>
              <a:gdLst/>
              <a:ahLst/>
              <a:cxnLst/>
              <a:rect r="r" b="b" t="t" l="l"/>
              <a:pathLst>
                <a:path h="142615" w="189207">
                  <a:moveTo>
                    <a:pt x="0" y="0"/>
                  </a:moveTo>
                  <a:lnTo>
                    <a:pt x="189208" y="0"/>
                  </a:lnTo>
                  <a:lnTo>
                    <a:pt x="189208" y="142615"/>
                  </a:lnTo>
                  <a:lnTo>
                    <a:pt x="0" y="14261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23" id="23"/>
          <p:cNvGrpSpPr/>
          <p:nvPr/>
        </p:nvGrpSpPr>
        <p:grpSpPr>
          <a:xfrm rot="0">
            <a:off x="5594209" y="9442703"/>
            <a:ext cx="1768901" cy="203293"/>
            <a:chOff x="0" y="0"/>
            <a:chExt cx="633934" cy="72856"/>
          </a:xfrm>
        </p:grpSpPr>
        <p:sp>
          <p:nvSpPr>
            <p:cNvPr name="Freeform 24" id="24"/>
            <p:cNvSpPr/>
            <p:nvPr/>
          </p:nvSpPr>
          <p:spPr>
            <a:xfrm flipH="false" flipV="false" rot="0">
              <a:off x="0" y="0"/>
              <a:ext cx="633934" cy="72856"/>
            </a:xfrm>
            <a:custGeom>
              <a:avLst/>
              <a:gdLst/>
              <a:ahLst/>
              <a:cxnLst/>
              <a:rect r="r" b="b" t="t" l="l"/>
              <a:pathLst>
                <a:path h="72856" w="633934">
                  <a:moveTo>
                    <a:pt x="0" y="0"/>
                  </a:moveTo>
                  <a:lnTo>
                    <a:pt x="633934" y="0"/>
                  </a:lnTo>
                  <a:lnTo>
                    <a:pt x="633934" y="72856"/>
                  </a:lnTo>
                  <a:lnTo>
                    <a:pt x="0" y="72856"/>
                  </a:lnTo>
                  <a:close/>
                </a:path>
              </a:pathLst>
            </a:custGeom>
            <a:solidFill>
              <a:srgbClr val="34BDCF"/>
            </a:solidFill>
          </p:spPr>
        </p:sp>
        <p:sp>
          <p:nvSpPr>
            <p:cNvPr name="TextBox 25" id="25"/>
            <p:cNvSpPr txBox="true"/>
            <p:nvPr/>
          </p:nvSpPr>
          <p:spPr>
            <a:xfrm>
              <a:off x="0" y="9525"/>
              <a:ext cx="633934" cy="63331"/>
            </a:xfrm>
            <a:prstGeom prst="rect">
              <a:avLst/>
            </a:prstGeom>
          </p:spPr>
          <p:txBody>
            <a:bodyPr anchor="ctr" rtlCol="false" tIns="50800" lIns="50800" bIns="50800" rIns="50800"/>
            <a:lstStyle/>
            <a:p>
              <a:pPr algn="ctr">
                <a:lnSpc>
                  <a:spcPts val="1540"/>
                </a:lnSpc>
              </a:pPr>
            </a:p>
          </p:txBody>
        </p:sp>
      </p:grpSp>
      <p:sp>
        <p:nvSpPr>
          <p:cNvPr name="Freeform 26" id="26"/>
          <p:cNvSpPr/>
          <p:nvPr/>
        </p:nvSpPr>
        <p:spPr>
          <a:xfrm flipH="false" flipV="false" rot="0">
            <a:off x="565761" y="361494"/>
            <a:ext cx="2112492" cy="492915"/>
          </a:xfrm>
          <a:custGeom>
            <a:avLst/>
            <a:gdLst/>
            <a:ahLst/>
            <a:cxnLst/>
            <a:rect r="r" b="b" t="t" l="l"/>
            <a:pathLst>
              <a:path h="492915" w="2112492">
                <a:moveTo>
                  <a:pt x="0" y="0"/>
                </a:moveTo>
                <a:lnTo>
                  <a:pt x="2112492" y="0"/>
                </a:lnTo>
                <a:lnTo>
                  <a:pt x="2112492" y="492915"/>
                </a:lnTo>
                <a:lnTo>
                  <a:pt x="0" y="492915"/>
                </a:lnTo>
                <a:lnTo>
                  <a:pt x="0" y="0"/>
                </a:lnTo>
                <a:close/>
              </a:path>
            </a:pathLst>
          </a:custGeom>
          <a:blipFill>
            <a:blip r:embed="rId12"/>
            <a:stretch>
              <a:fillRect l="0" t="0" r="0" b="0"/>
            </a:stretch>
          </a:blipFill>
        </p:spPr>
      </p:sp>
      <p:sp>
        <p:nvSpPr>
          <p:cNvPr name="TextBox 27" id="27"/>
          <p:cNvSpPr txBox="true"/>
          <p:nvPr/>
        </p:nvSpPr>
        <p:spPr>
          <a:xfrm rot="0">
            <a:off x="827982" y="10039949"/>
            <a:ext cx="1280004"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0877-74</a:t>
            </a:r>
            <a:r>
              <a:rPr lang="en-US" sz="1100" b="true">
                <a:solidFill>
                  <a:srgbClr val="000000"/>
                </a:solidFill>
                <a:latin typeface="Nunito Bold"/>
                <a:ea typeface="Nunito Bold"/>
                <a:cs typeface="Nunito Bold"/>
                <a:sym typeface="Nunito Bold"/>
              </a:rPr>
              <a:t>13-4288</a:t>
            </a:r>
          </a:p>
        </p:txBody>
      </p:sp>
      <p:sp>
        <p:nvSpPr>
          <p:cNvPr name="TextBox 28" id="28"/>
          <p:cNvSpPr txBox="true"/>
          <p:nvPr/>
        </p:nvSpPr>
        <p:spPr>
          <a:xfrm rot="0">
            <a:off x="2773503" y="10039949"/>
            <a:ext cx="1710998"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www.s</a:t>
            </a:r>
            <a:r>
              <a:rPr lang="en-US" sz="1100" b="true">
                <a:solidFill>
                  <a:srgbClr val="000000"/>
                </a:solidFill>
                <a:latin typeface="Nunito Bold"/>
                <a:ea typeface="Nunito Bold"/>
                <a:cs typeface="Nunito Bold"/>
                <a:sym typeface="Nunito Bold"/>
              </a:rPr>
              <a:t>anggabiz.com</a:t>
            </a:r>
          </a:p>
        </p:txBody>
      </p:sp>
      <p:sp>
        <p:nvSpPr>
          <p:cNvPr name="TextBox 29" id="29"/>
          <p:cNvSpPr txBox="true"/>
          <p:nvPr/>
        </p:nvSpPr>
        <p:spPr>
          <a:xfrm rot="0">
            <a:off x="6478659" y="519574"/>
            <a:ext cx="551403" cy="187960"/>
          </a:xfrm>
          <a:prstGeom prst="rect">
            <a:avLst/>
          </a:prstGeom>
        </p:spPr>
        <p:txBody>
          <a:bodyPr anchor="t" rtlCol="false" tIns="0" lIns="0" bIns="0" rIns="0">
            <a:spAutoFit/>
          </a:bodyPr>
          <a:lstStyle/>
          <a:p>
            <a:pPr algn="r">
              <a:lnSpc>
                <a:spcPts val="1430"/>
              </a:lnSpc>
            </a:pPr>
            <a:r>
              <a:rPr lang="en-US" b="true" sz="1300">
                <a:solidFill>
                  <a:srgbClr val="0F1D3B"/>
                </a:solidFill>
                <a:latin typeface="Nunito Bold"/>
                <a:ea typeface="Nunito Bold"/>
                <a:cs typeface="Nunito Bold"/>
                <a:sym typeface="Nunito Bold"/>
              </a:rPr>
              <a:t>2026</a:t>
            </a:r>
          </a:p>
        </p:txBody>
      </p:sp>
      <p:sp>
        <p:nvSpPr>
          <p:cNvPr name="TextBox 30" id="30"/>
          <p:cNvSpPr txBox="true"/>
          <p:nvPr/>
        </p:nvSpPr>
        <p:spPr>
          <a:xfrm rot="0">
            <a:off x="5126099" y="10039949"/>
            <a:ext cx="1893190"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pa</a:t>
            </a:r>
            <a:r>
              <a:rPr lang="en-US" sz="1100" b="true">
                <a:solidFill>
                  <a:srgbClr val="000000"/>
                </a:solidFill>
                <a:latin typeface="Nunito Bold"/>
                <a:ea typeface="Nunito Bold"/>
                <a:cs typeface="Nunito Bold"/>
                <a:sym typeface="Nunito Bold"/>
              </a:rPr>
              <a:t>rtnership@sanggabiz.com</a:t>
            </a:r>
          </a:p>
        </p:txBody>
      </p:sp>
      <p:sp>
        <p:nvSpPr>
          <p:cNvPr name="TextBox 31" id="31"/>
          <p:cNvSpPr txBox="true"/>
          <p:nvPr/>
        </p:nvSpPr>
        <p:spPr>
          <a:xfrm rot="0">
            <a:off x="3370752" y="1426391"/>
            <a:ext cx="3311723" cy="313690"/>
          </a:xfrm>
          <a:prstGeom prst="rect">
            <a:avLst/>
          </a:prstGeom>
        </p:spPr>
        <p:txBody>
          <a:bodyPr anchor="t" rtlCol="false" tIns="0" lIns="0" bIns="0" rIns="0">
            <a:spAutoFit/>
          </a:bodyPr>
          <a:lstStyle/>
          <a:p>
            <a:pPr algn="ctr">
              <a:lnSpc>
                <a:spcPts val="2420"/>
              </a:lnSpc>
            </a:pPr>
            <a:r>
              <a:rPr lang="en-US" sz="2200" b="true">
                <a:solidFill>
                  <a:srgbClr val="FFFFFF"/>
                </a:solidFill>
                <a:latin typeface="Oswald Bold"/>
                <a:ea typeface="Oswald Bold"/>
                <a:cs typeface="Oswald Bold"/>
                <a:sym typeface="Oswald Bold"/>
              </a:rPr>
              <a:t>LATAR BELAKANG</a:t>
            </a:r>
          </a:p>
        </p:txBody>
      </p:sp>
      <p:sp>
        <p:nvSpPr>
          <p:cNvPr name="TextBox 32" id="32"/>
          <p:cNvSpPr txBox="true"/>
          <p:nvPr/>
        </p:nvSpPr>
        <p:spPr>
          <a:xfrm rot="0">
            <a:off x="2783319" y="1869633"/>
            <a:ext cx="4020681" cy="3122295"/>
          </a:xfrm>
          <a:prstGeom prst="rect">
            <a:avLst/>
          </a:prstGeom>
        </p:spPr>
        <p:txBody>
          <a:bodyPr anchor="t" rtlCol="false" tIns="0" lIns="0" bIns="0" rIns="0">
            <a:spAutoFit/>
          </a:bodyPr>
          <a:lstStyle/>
          <a:p>
            <a:pPr algn="just">
              <a:lnSpc>
                <a:spcPts val="1680"/>
              </a:lnSpc>
            </a:pPr>
            <a:r>
              <a:rPr lang="en-US" sz="1200">
                <a:solidFill>
                  <a:srgbClr val="FFFFFF"/>
                </a:solidFill>
                <a:latin typeface="Nunito"/>
                <a:ea typeface="Nunito"/>
                <a:cs typeface="Nunito"/>
                <a:sym typeface="Nunito"/>
              </a:rPr>
              <a:t>Pemberdayaan ekonomi masyarakat bawah merupakan pilar krusial dalam menyukseskan Program Kesejahteraan Rakyat (PROKESRA) nasional. Berdasarkan arah kebijakan pembangunan nasional, transformasi usaha mikro dari skala subsisten (sekedar bertahan hidup) menuju skala produktif memerlukan intervensi yang terstruktur, inklusif, dan berkelanjutan utamanya bagi kelompok masyarakat afirmatif. Kelompok masyarakat afirmatif mencakup masyarakat miskin/rentan ekstrim, penyandang disabilitas, serta perempuan kepala keluarga yang berada pada klaster ekonomi Desil 1 hingga Desil 4. Masyarakat ini seringkali menghadapi hambatan berlapis, mulai dari keterbatasan akses modal, minimnya literasi keuangan, hingga eksklusi dari ekosistem digital dan rantai pasok formal. </a:t>
            </a:r>
          </a:p>
        </p:txBody>
      </p:sp>
      <p:sp>
        <p:nvSpPr>
          <p:cNvPr name="TextBox 33" id="33"/>
          <p:cNvSpPr txBox="true"/>
          <p:nvPr/>
        </p:nvSpPr>
        <p:spPr>
          <a:xfrm rot="0">
            <a:off x="565761" y="5336475"/>
            <a:ext cx="5028448" cy="4379595"/>
          </a:xfrm>
          <a:prstGeom prst="rect">
            <a:avLst/>
          </a:prstGeom>
        </p:spPr>
        <p:txBody>
          <a:bodyPr anchor="t" rtlCol="false" tIns="0" lIns="0" bIns="0" rIns="0">
            <a:spAutoFit/>
          </a:bodyPr>
          <a:lstStyle/>
          <a:p>
            <a:pPr algn="just">
              <a:lnSpc>
                <a:spcPts val="1679"/>
              </a:lnSpc>
            </a:pPr>
            <a:r>
              <a:rPr lang="en-US" sz="1200">
                <a:solidFill>
                  <a:srgbClr val="000000"/>
                </a:solidFill>
                <a:latin typeface="Nunito"/>
                <a:ea typeface="Nunito"/>
                <a:cs typeface="Nunito"/>
                <a:sym typeface="Nunito"/>
              </a:rPr>
              <a:t>Kementerian Usaha Mik</a:t>
            </a:r>
            <a:r>
              <a:rPr lang="en-US" sz="1200">
                <a:solidFill>
                  <a:srgbClr val="000000"/>
                </a:solidFill>
                <a:latin typeface="Nunito"/>
                <a:ea typeface="Nunito"/>
                <a:cs typeface="Nunito"/>
                <a:sym typeface="Nunito"/>
              </a:rPr>
              <a:t>ro, Kecil, dan Menengah Republik Indonesia melalui Asisten Deputi Pengembangan Kapasitas Usaha Mikro berkomitmen mengatasi kesenjangan ini dengan menyelenggarakan Program Pendampingan Pengusaha Afirmatif Tahun Anggaran 2026. Guna memastikan program berjalan efektif dengan cakupan masif dan memiliki kedalaman dampak, diperlukan kemitraan strategis dengan Penyedia Jasa Lainnya (Kontraktual) yang kapabel. Program ini dirancang untuk menjangkau 1.700 pelaku usaha di Provinsi Jawa Timur dan Provinsi Bali dengan menerapkan metode intervensi berjenjang. </a:t>
            </a:r>
          </a:p>
          <a:p>
            <a:pPr algn="just">
              <a:lnSpc>
                <a:spcPts val="1679"/>
              </a:lnSpc>
            </a:pPr>
          </a:p>
          <a:p>
            <a:pPr algn="just">
              <a:lnSpc>
                <a:spcPts val="1679"/>
              </a:lnSpc>
            </a:pPr>
            <a:r>
              <a:rPr lang="en-US" sz="1200">
                <a:solidFill>
                  <a:srgbClr val="000000"/>
                </a:solidFill>
                <a:latin typeface="Nunito"/>
                <a:ea typeface="Nunito"/>
                <a:cs typeface="Nunito"/>
                <a:sym typeface="Nunito"/>
              </a:rPr>
              <a:t>Sanggabiz, sebagai perusahaan rintisan teknologi (startup tech firm) yang bergerak di bidang pengembangan digital dan pelatihan, hadir untuk mengawal program ini. Dengan pengalaman mengelola program berskala besar, Sanggabiz berkomitmen menerapkan metode intervensi berjenjang yang ramah disabilitas, menggunakan pendekatan andragogi (pembelajaran orang dewasa), serta memastikan seluruh data performa dan profil usaha peserta terintegrasi secara real-time ke dalam basis data nasional melalui sistem SAPA UMKM. Melalui sinergi ini, diharapkan tercipta kemandirian ekonomi yang berkelanjutan, peningkatan omzet secara nyata, serta perluasan akses legalitas bagi kelompok afirmatif. </a:t>
            </a:r>
          </a:p>
          <a:p>
            <a:pPr algn="just">
              <a:lnSpc>
                <a:spcPts val="167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71CE"/>
        </a:solidFill>
      </p:bgPr>
    </p:bg>
    <p:spTree>
      <p:nvGrpSpPr>
        <p:cNvPr id="1" name=""/>
        <p:cNvGrpSpPr/>
        <p:nvPr/>
      </p:nvGrpSpPr>
      <p:grpSpPr>
        <a:xfrm>
          <a:off x="0" y="0"/>
          <a:ext cx="0" cy="0"/>
          <a:chOff x="0" y="0"/>
          <a:chExt cx="0" cy="0"/>
        </a:xfrm>
      </p:grpSpPr>
      <p:sp>
        <p:nvSpPr>
          <p:cNvPr name="AutoShape 2" id="2"/>
          <p:cNvSpPr/>
          <p:nvPr/>
        </p:nvSpPr>
        <p:spPr>
          <a:xfrm flipV="true">
            <a:off x="529937" y="1017556"/>
            <a:ext cx="6500125" cy="0"/>
          </a:xfrm>
          <a:prstGeom prst="line">
            <a:avLst/>
          </a:prstGeom>
          <a:ln cap="flat" w="19050">
            <a:solidFill>
              <a:srgbClr val="FFFFFF"/>
            </a:solidFill>
            <a:prstDash val="solid"/>
            <a:headEnd type="none" len="sm" w="sm"/>
            <a:tailEnd type="none" len="sm" w="sm"/>
          </a:ln>
        </p:spPr>
      </p:sp>
      <p:sp>
        <p:nvSpPr>
          <p:cNvPr name="AutoShape 3" id="3"/>
          <p:cNvSpPr/>
          <p:nvPr/>
        </p:nvSpPr>
        <p:spPr>
          <a:xfrm flipV="true">
            <a:off x="529937" y="9782475"/>
            <a:ext cx="6500125" cy="0"/>
          </a:xfrm>
          <a:prstGeom prst="line">
            <a:avLst/>
          </a:prstGeom>
          <a:ln cap="flat" w="19050">
            <a:solidFill>
              <a:srgbClr val="FFFFFF"/>
            </a:solidFill>
            <a:prstDash val="solid"/>
            <a:headEnd type="none" len="sm" w="sm"/>
            <a:tailEnd type="none" len="sm" w="sm"/>
          </a:ln>
        </p:spPr>
      </p:sp>
      <p:grpSp>
        <p:nvGrpSpPr>
          <p:cNvPr name="Group 4" id="4"/>
          <p:cNvGrpSpPr/>
          <p:nvPr/>
        </p:nvGrpSpPr>
        <p:grpSpPr>
          <a:xfrm rot="0">
            <a:off x="5157543" y="1312605"/>
            <a:ext cx="2559899" cy="5910821"/>
            <a:chOff x="0" y="0"/>
            <a:chExt cx="1196986" cy="2763848"/>
          </a:xfrm>
        </p:grpSpPr>
        <p:sp>
          <p:nvSpPr>
            <p:cNvPr name="Freeform 5" id="5"/>
            <p:cNvSpPr/>
            <p:nvPr/>
          </p:nvSpPr>
          <p:spPr>
            <a:xfrm flipH="false" flipV="false" rot="0">
              <a:off x="0" y="0"/>
              <a:ext cx="1196986" cy="2763848"/>
            </a:xfrm>
            <a:custGeom>
              <a:avLst/>
              <a:gdLst/>
              <a:ahLst/>
              <a:cxnLst/>
              <a:rect r="r" b="b" t="t" l="l"/>
              <a:pathLst>
                <a:path h="2763848" w="1196986">
                  <a:moveTo>
                    <a:pt x="0" y="0"/>
                  </a:moveTo>
                  <a:lnTo>
                    <a:pt x="1196986" y="0"/>
                  </a:lnTo>
                  <a:lnTo>
                    <a:pt x="1196986" y="2763848"/>
                  </a:lnTo>
                  <a:lnTo>
                    <a:pt x="0" y="2763848"/>
                  </a:lnTo>
                  <a:close/>
                </a:path>
              </a:pathLst>
            </a:custGeom>
            <a:blipFill>
              <a:blip r:embed="rId2"/>
              <a:stretch>
                <a:fillRect l="-130788" t="0" r="-115779" b="0"/>
              </a:stretch>
            </a:blipFill>
          </p:spPr>
        </p:sp>
      </p:grpSp>
      <p:grpSp>
        <p:nvGrpSpPr>
          <p:cNvPr name="Group 6" id="6"/>
          <p:cNvGrpSpPr/>
          <p:nvPr/>
        </p:nvGrpSpPr>
        <p:grpSpPr>
          <a:xfrm rot="0">
            <a:off x="-483378" y="1924484"/>
            <a:ext cx="3197311" cy="506229"/>
            <a:chOff x="0" y="0"/>
            <a:chExt cx="2566799" cy="406400"/>
          </a:xfrm>
        </p:grpSpPr>
        <p:sp>
          <p:nvSpPr>
            <p:cNvPr name="Freeform 7" id="7"/>
            <p:cNvSpPr/>
            <p:nvPr/>
          </p:nvSpPr>
          <p:spPr>
            <a:xfrm flipH="false" flipV="false" rot="0">
              <a:off x="0" y="0"/>
              <a:ext cx="2566799" cy="406400"/>
            </a:xfrm>
            <a:custGeom>
              <a:avLst/>
              <a:gdLst/>
              <a:ahLst/>
              <a:cxnLst/>
              <a:rect r="r" b="b" t="t" l="l"/>
              <a:pathLst>
                <a:path h="406400" w="2566799">
                  <a:moveTo>
                    <a:pt x="2363599" y="0"/>
                  </a:moveTo>
                  <a:cubicBezTo>
                    <a:pt x="2475823" y="0"/>
                    <a:pt x="2566799" y="90976"/>
                    <a:pt x="2566799" y="203200"/>
                  </a:cubicBezTo>
                  <a:cubicBezTo>
                    <a:pt x="2566799" y="315424"/>
                    <a:pt x="2475823" y="406400"/>
                    <a:pt x="2363599" y="406400"/>
                  </a:cubicBezTo>
                  <a:lnTo>
                    <a:pt x="203200" y="406400"/>
                  </a:lnTo>
                  <a:cubicBezTo>
                    <a:pt x="90976" y="406400"/>
                    <a:pt x="0" y="315424"/>
                    <a:pt x="0" y="203200"/>
                  </a:cubicBezTo>
                  <a:cubicBezTo>
                    <a:pt x="0" y="90976"/>
                    <a:pt x="90976" y="0"/>
                    <a:pt x="203200" y="0"/>
                  </a:cubicBezTo>
                  <a:close/>
                </a:path>
              </a:pathLst>
            </a:custGeom>
            <a:solidFill>
              <a:srgbClr val="34BDCF"/>
            </a:solidFill>
          </p:spPr>
        </p:sp>
        <p:sp>
          <p:nvSpPr>
            <p:cNvPr name="TextBox 8" id="8"/>
            <p:cNvSpPr txBox="true"/>
            <p:nvPr/>
          </p:nvSpPr>
          <p:spPr>
            <a:xfrm>
              <a:off x="0" y="19050"/>
              <a:ext cx="2566799" cy="387350"/>
            </a:xfrm>
            <a:prstGeom prst="rect">
              <a:avLst/>
            </a:prstGeom>
          </p:spPr>
          <p:txBody>
            <a:bodyPr anchor="ctr" rtlCol="false" tIns="50800" lIns="50800" bIns="50800" rIns="50800"/>
            <a:lstStyle/>
            <a:p>
              <a:pPr algn="ctr">
                <a:lnSpc>
                  <a:spcPts val="1100"/>
                </a:lnSpc>
              </a:pPr>
            </a:p>
          </p:txBody>
        </p:sp>
      </p:grpSp>
      <p:grpSp>
        <p:nvGrpSpPr>
          <p:cNvPr name="Group 9" id="9"/>
          <p:cNvGrpSpPr/>
          <p:nvPr/>
        </p:nvGrpSpPr>
        <p:grpSpPr>
          <a:xfrm rot="0">
            <a:off x="562871" y="7452026"/>
            <a:ext cx="6500125" cy="2330449"/>
            <a:chOff x="0" y="0"/>
            <a:chExt cx="2329498" cy="835180"/>
          </a:xfrm>
        </p:grpSpPr>
        <p:sp>
          <p:nvSpPr>
            <p:cNvPr name="Freeform 10" id="10"/>
            <p:cNvSpPr/>
            <p:nvPr/>
          </p:nvSpPr>
          <p:spPr>
            <a:xfrm flipH="false" flipV="false" rot="0">
              <a:off x="0" y="0"/>
              <a:ext cx="2329498" cy="835180"/>
            </a:xfrm>
            <a:custGeom>
              <a:avLst/>
              <a:gdLst/>
              <a:ahLst/>
              <a:cxnLst/>
              <a:rect r="r" b="b" t="t" l="l"/>
              <a:pathLst>
                <a:path h="835180" w="2329498">
                  <a:moveTo>
                    <a:pt x="0" y="0"/>
                  </a:moveTo>
                  <a:lnTo>
                    <a:pt x="2329498" y="0"/>
                  </a:lnTo>
                  <a:lnTo>
                    <a:pt x="2329498" y="835180"/>
                  </a:lnTo>
                  <a:lnTo>
                    <a:pt x="0" y="835180"/>
                  </a:lnTo>
                  <a:close/>
                </a:path>
              </a:pathLst>
            </a:custGeom>
            <a:solidFill>
              <a:srgbClr val="FFFFFF"/>
            </a:solidFill>
          </p:spPr>
        </p:sp>
        <p:sp>
          <p:nvSpPr>
            <p:cNvPr name="TextBox 11" id="11"/>
            <p:cNvSpPr txBox="true"/>
            <p:nvPr/>
          </p:nvSpPr>
          <p:spPr>
            <a:xfrm>
              <a:off x="0" y="-28575"/>
              <a:ext cx="2329498" cy="863755"/>
            </a:xfrm>
            <a:prstGeom prst="rect">
              <a:avLst/>
            </a:prstGeom>
          </p:spPr>
          <p:txBody>
            <a:bodyPr anchor="ctr" rtlCol="false" tIns="50800" lIns="50800" bIns="50800" rIns="50800"/>
            <a:lstStyle/>
            <a:p>
              <a:pPr algn="ctr">
                <a:lnSpc>
                  <a:spcPts val="1960"/>
                </a:lnSpc>
                <a:spcBef>
                  <a:spcPct val="0"/>
                </a:spcBef>
              </a:pPr>
            </a:p>
          </p:txBody>
        </p:sp>
      </p:grpSp>
      <p:grpSp>
        <p:nvGrpSpPr>
          <p:cNvPr name="Group 12" id="12"/>
          <p:cNvGrpSpPr/>
          <p:nvPr/>
        </p:nvGrpSpPr>
        <p:grpSpPr>
          <a:xfrm rot="0">
            <a:off x="289072" y="2613340"/>
            <a:ext cx="535335" cy="53533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BDCF"/>
            </a:solidFill>
          </p:spPr>
        </p:sp>
        <p:sp>
          <p:nvSpPr>
            <p:cNvPr name="TextBox 14" id="14"/>
            <p:cNvSpPr txBox="true"/>
            <p:nvPr/>
          </p:nvSpPr>
          <p:spPr>
            <a:xfrm>
              <a:off x="76200" y="66675"/>
              <a:ext cx="660400" cy="669925"/>
            </a:xfrm>
            <a:prstGeom prst="rect">
              <a:avLst/>
            </a:prstGeom>
          </p:spPr>
          <p:txBody>
            <a:bodyPr anchor="ctr" rtlCol="false" tIns="50800" lIns="50800" bIns="50800" rIns="50800"/>
            <a:lstStyle/>
            <a:p>
              <a:pPr algn="ctr">
                <a:lnSpc>
                  <a:spcPts val="1679"/>
                </a:lnSpc>
              </a:pPr>
            </a:p>
          </p:txBody>
        </p:sp>
      </p:grpSp>
      <p:grpSp>
        <p:nvGrpSpPr>
          <p:cNvPr name="Group 15" id="15"/>
          <p:cNvGrpSpPr/>
          <p:nvPr/>
        </p:nvGrpSpPr>
        <p:grpSpPr>
          <a:xfrm rot="0">
            <a:off x="289072" y="3427320"/>
            <a:ext cx="535335" cy="535335"/>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BDCF"/>
            </a:solidFill>
          </p:spPr>
        </p:sp>
        <p:sp>
          <p:nvSpPr>
            <p:cNvPr name="TextBox 17" id="17"/>
            <p:cNvSpPr txBox="true"/>
            <p:nvPr/>
          </p:nvSpPr>
          <p:spPr>
            <a:xfrm>
              <a:off x="76200" y="66675"/>
              <a:ext cx="660400" cy="669925"/>
            </a:xfrm>
            <a:prstGeom prst="rect">
              <a:avLst/>
            </a:prstGeom>
          </p:spPr>
          <p:txBody>
            <a:bodyPr anchor="ctr" rtlCol="false" tIns="50800" lIns="50800" bIns="50800" rIns="50800"/>
            <a:lstStyle/>
            <a:p>
              <a:pPr algn="ctr">
                <a:lnSpc>
                  <a:spcPts val="1679"/>
                </a:lnSpc>
              </a:pPr>
            </a:p>
          </p:txBody>
        </p:sp>
      </p:grpSp>
      <p:grpSp>
        <p:nvGrpSpPr>
          <p:cNvPr name="Group 18" id="18"/>
          <p:cNvGrpSpPr/>
          <p:nvPr/>
        </p:nvGrpSpPr>
        <p:grpSpPr>
          <a:xfrm rot="0">
            <a:off x="289072" y="4410329"/>
            <a:ext cx="535335" cy="535335"/>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BDCF"/>
            </a:solidFill>
          </p:spPr>
        </p:sp>
        <p:sp>
          <p:nvSpPr>
            <p:cNvPr name="TextBox 20" id="20"/>
            <p:cNvSpPr txBox="true"/>
            <p:nvPr/>
          </p:nvSpPr>
          <p:spPr>
            <a:xfrm>
              <a:off x="76200" y="66675"/>
              <a:ext cx="660400" cy="669925"/>
            </a:xfrm>
            <a:prstGeom prst="rect">
              <a:avLst/>
            </a:prstGeom>
          </p:spPr>
          <p:txBody>
            <a:bodyPr anchor="ctr" rtlCol="false" tIns="50800" lIns="50800" bIns="50800" rIns="50800"/>
            <a:lstStyle/>
            <a:p>
              <a:pPr algn="ctr">
                <a:lnSpc>
                  <a:spcPts val="1679"/>
                </a:lnSpc>
              </a:pPr>
            </a:p>
          </p:txBody>
        </p:sp>
      </p:grpSp>
      <p:grpSp>
        <p:nvGrpSpPr>
          <p:cNvPr name="Group 21" id="21"/>
          <p:cNvGrpSpPr/>
          <p:nvPr/>
        </p:nvGrpSpPr>
        <p:grpSpPr>
          <a:xfrm rot="0">
            <a:off x="289072" y="5499559"/>
            <a:ext cx="535335" cy="535335"/>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BDCF"/>
            </a:solidFill>
          </p:spPr>
        </p:sp>
        <p:sp>
          <p:nvSpPr>
            <p:cNvPr name="TextBox 23" id="23"/>
            <p:cNvSpPr txBox="true"/>
            <p:nvPr/>
          </p:nvSpPr>
          <p:spPr>
            <a:xfrm>
              <a:off x="76200" y="66675"/>
              <a:ext cx="660400" cy="669925"/>
            </a:xfrm>
            <a:prstGeom prst="rect">
              <a:avLst/>
            </a:prstGeom>
          </p:spPr>
          <p:txBody>
            <a:bodyPr anchor="ctr" rtlCol="false" tIns="50800" lIns="50800" bIns="50800" rIns="50800"/>
            <a:lstStyle/>
            <a:p>
              <a:pPr algn="ctr">
                <a:lnSpc>
                  <a:spcPts val="1679"/>
                </a:lnSpc>
              </a:pPr>
            </a:p>
          </p:txBody>
        </p:sp>
      </p:grpSp>
      <p:grpSp>
        <p:nvGrpSpPr>
          <p:cNvPr name="Group 24" id="24"/>
          <p:cNvGrpSpPr/>
          <p:nvPr/>
        </p:nvGrpSpPr>
        <p:grpSpPr>
          <a:xfrm rot="0">
            <a:off x="2964652" y="7366301"/>
            <a:ext cx="1780214" cy="259863"/>
            <a:chOff x="0" y="0"/>
            <a:chExt cx="637989" cy="93129"/>
          </a:xfrm>
        </p:grpSpPr>
        <p:sp>
          <p:nvSpPr>
            <p:cNvPr name="Freeform 25" id="25"/>
            <p:cNvSpPr/>
            <p:nvPr/>
          </p:nvSpPr>
          <p:spPr>
            <a:xfrm flipH="false" flipV="false" rot="0">
              <a:off x="0" y="0"/>
              <a:ext cx="637989" cy="93129"/>
            </a:xfrm>
            <a:custGeom>
              <a:avLst/>
              <a:gdLst/>
              <a:ahLst/>
              <a:cxnLst/>
              <a:rect r="r" b="b" t="t" l="l"/>
              <a:pathLst>
                <a:path h="93129" w="637989">
                  <a:moveTo>
                    <a:pt x="0" y="0"/>
                  </a:moveTo>
                  <a:lnTo>
                    <a:pt x="637989" y="0"/>
                  </a:lnTo>
                  <a:lnTo>
                    <a:pt x="637989" y="93129"/>
                  </a:lnTo>
                  <a:lnTo>
                    <a:pt x="0" y="93129"/>
                  </a:lnTo>
                  <a:close/>
                </a:path>
              </a:pathLst>
            </a:custGeom>
            <a:solidFill>
              <a:srgbClr val="34BDCF"/>
            </a:solidFill>
          </p:spPr>
        </p:sp>
        <p:sp>
          <p:nvSpPr>
            <p:cNvPr name="TextBox 26" id="26"/>
            <p:cNvSpPr txBox="true"/>
            <p:nvPr/>
          </p:nvSpPr>
          <p:spPr>
            <a:xfrm>
              <a:off x="0" y="9525"/>
              <a:ext cx="637989" cy="83604"/>
            </a:xfrm>
            <a:prstGeom prst="rect">
              <a:avLst/>
            </a:prstGeom>
          </p:spPr>
          <p:txBody>
            <a:bodyPr anchor="ctr" rtlCol="false" tIns="50800" lIns="50800" bIns="50800" rIns="50800"/>
            <a:lstStyle/>
            <a:p>
              <a:pPr algn="ctr">
                <a:lnSpc>
                  <a:spcPts val="1540"/>
                </a:lnSpc>
              </a:pPr>
            </a:p>
          </p:txBody>
        </p:sp>
      </p:grpSp>
      <p:grpSp>
        <p:nvGrpSpPr>
          <p:cNvPr name="Group 27" id="27"/>
          <p:cNvGrpSpPr/>
          <p:nvPr/>
        </p:nvGrpSpPr>
        <p:grpSpPr>
          <a:xfrm rot="0">
            <a:off x="2450553" y="10030852"/>
            <a:ext cx="263381" cy="266997"/>
            <a:chOff x="0" y="0"/>
            <a:chExt cx="351174" cy="355996"/>
          </a:xfrm>
        </p:grpSpPr>
        <p:sp>
          <p:nvSpPr>
            <p:cNvPr name="Freeform 28" id="28"/>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3">
                <a:extLst>
                  <a:ext uri="{96DAC541-7B7A-43D3-8B79-37D633B846F1}">
                    <asvg:svgBlip xmlns:asvg="http://schemas.microsoft.com/office/drawing/2016/SVG/main" r:embed="rId4"/>
                  </a:ext>
                </a:extLst>
              </a:blip>
              <a:stretch>
                <a:fillRect l="0" t="-131786" r="-598794" b="0"/>
              </a:stretch>
            </a:blipFill>
          </p:spPr>
        </p:sp>
        <p:sp>
          <p:nvSpPr>
            <p:cNvPr name="Freeform 29" id="29"/>
            <p:cNvSpPr/>
            <p:nvPr/>
          </p:nvSpPr>
          <p:spPr>
            <a:xfrm flipH="false" flipV="false" rot="0">
              <a:off x="71763" y="74174"/>
              <a:ext cx="207648" cy="207648"/>
            </a:xfrm>
            <a:custGeom>
              <a:avLst/>
              <a:gdLst/>
              <a:ahLst/>
              <a:cxnLst/>
              <a:rect r="r" b="b" t="t" l="l"/>
              <a:pathLst>
                <a:path h="207648" w="207648">
                  <a:moveTo>
                    <a:pt x="0" y="0"/>
                  </a:moveTo>
                  <a:lnTo>
                    <a:pt x="207648" y="0"/>
                  </a:lnTo>
                  <a:lnTo>
                    <a:pt x="207648" y="207648"/>
                  </a:lnTo>
                  <a:lnTo>
                    <a:pt x="0" y="2076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30" id="30"/>
          <p:cNvGrpSpPr/>
          <p:nvPr/>
        </p:nvGrpSpPr>
        <p:grpSpPr>
          <a:xfrm rot="0">
            <a:off x="505031" y="10030852"/>
            <a:ext cx="263381" cy="266997"/>
            <a:chOff x="0" y="0"/>
            <a:chExt cx="351174" cy="355996"/>
          </a:xfrm>
        </p:grpSpPr>
        <p:sp>
          <p:nvSpPr>
            <p:cNvPr name="Freeform 31" id="31"/>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3">
                <a:extLst>
                  <a:ext uri="{96DAC541-7B7A-43D3-8B79-37D633B846F1}">
                    <asvg:svgBlip xmlns:asvg="http://schemas.microsoft.com/office/drawing/2016/SVG/main" r:embed="rId4"/>
                  </a:ext>
                </a:extLst>
              </a:blip>
              <a:stretch>
                <a:fillRect l="0" t="-131786" r="-598794" b="0"/>
              </a:stretch>
            </a:blipFill>
          </p:spPr>
        </p:sp>
        <p:sp>
          <p:nvSpPr>
            <p:cNvPr name="Freeform 32" id="32"/>
            <p:cNvSpPr/>
            <p:nvPr/>
          </p:nvSpPr>
          <p:spPr>
            <a:xfrm flipH="false" flipV="false" rot="0">
              <a:off x="82548" y="72870"/>
              <a:ext cx="186078" cy="210257"/>
            </a:xfrm>
            <a:custGeom>
              <a:avLst/>
              <a:gdLst/>
              <a:ahLst/>
              <a:cxnLst/>
              <a:rect r="r" b="b" t="t" l="l"/>
              <a:pathLst>
                <a:path h="210257" w="186078">
                  <a:moveTo>
                    <a:pt x="0" y="0"/>
                  </a:moveTo>
                  <a:lnTo>
                    <a:pt x="186078" y="0"/>
                  </a:lnTo>
                  <a:lnTo>
                    <a:pt x="186078" y="210257"/>
                  </a:lnTo>
                  <a:lnTo>
                    <a:pt x="0" y="2102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grpSp>
        <p:nvGrpSpPr>
          <p:cNvPr name="Group 33" id="33"/>
          <p:cNvGrpSpPr/>
          <p:nvPr/>
        </p:nvGrpSpPr>
        <p:grpSpPr>
          <a:xfrm rot="0">
            <a:off x="4824981" y="10044066"/>
            <a:ext cx="237312" cy="240571"/>
            <a:chOff x="0" y="0"/>
            <a:chExt cx="316416" cy="320761"/>
          </a:xfrm>
        </p:grpSpPr>
        <p:sp>
          <p:nvSpPr>
            <p:cNvPr name="Freeform 34" id="34"/>
            <p:cNvSpPr/>
            <p:nvPr/>
          </p:nvSpPr>
          <p:spPr>
            <a:xfrm flipH="false" flipV="false" rot="0">
              <a:off x="0" y="0"/>
              <a:ext cx="316416" cy="320761"/>
            </a:xfrm>
            <a:custGeom>
              <a:avLst/>
              <a:gdLst/>
              <a:ahLst/>
              <a:cxnLst/>
              <a:rect r="r" b="b" t="t" l="l"/>
              <a:pathLst>
                <a:path h="320761" w="316416">
                  <a:moveTo>
                    <a:pt x="0" y="0"/>
                  </a:moveTo>
                  <a:lnTo>
                    <a:pt x="316416" y="0"/>
                  </a:lnTo>
                  <a:lnTo>
                    <a:pt x="316416" y="320761"/>
                  </a:lnTo>
                  <a:lnTo>
                    <a:pt x="0" y="320761"/>
                  </a:lnTo>
                  <a:lnTo>
                    <a:pt x="0" y="0"/>
                  </a:lnTo>
                  <a:close/>
                </a:path>
              </a:pathLst>
            </a:custGeom>
            <a:blipFill>
              <a:blip r:embed="rId3">
                <a:extLst>
                  <a:ext uri="{96DAC541-7B7A-43D3-8B79-37D633B846F1}">
                    <asvg:svgBlip xmlns:asvg="http://schemas.microsoft.com/office/drawing/2016/SVG/main" r:embed="rId4"/>
                  </a:ext>
                </a:extLst>
              </a:blip>
              <a:stretch>
                <a:fillRect l="0" t="-131786" r="-598794" b="0"/>
              </a:stretch>
            </a:blipFill>
          </p:spPr>
        </p:sp>
        <p:sp>
          <p:nvSpPr>
            <p:cNvPr name="Freeform 35" id="35"/>
            <p:cNvSpPr/>
            <p:nvPr/>
          </p:nvSpPr>
          <p:spPr>
            <a:xfrm flipH="false" flipV="false" rot="0">
              <a:off x="63604" y="89073"/>
              <a:ext cx="189207" cy="142615"/>
            </a:xfrm>
            <a:custGeom>
              <a:avLst/>
              <a:gdLst/>
              <a:ahLst/>
              <a:cxnLst/>
              <a:rect r="r" b="b" t="t" l="l"/>
              <a:pathLst>
                <a:path h="142615" w="189207">
                  <a:moveTo>
                    <a:pt x="0" y="0"/>
                  </a:moveTo>
                  <a:lnTo>
                    <a:pt x="189208" y="0"/>
                  </a:lnTo>
                  <a:lnTo>
                    <a:pt x="189208" y="142615"/>
                  </a:lnTo>
                  <a:lnTo>
                    <a:pt x="0" y="14261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grpSp>
        <p:nvGrpSpPr>
          <p:cNvPr name="Group 36" id="36"/>
          <p:cNvGrpSpPr/>
          <p:nvPr/>
        </p:nvGrpSpPr>
        <p:grpSpPr>
          <a:xfrm rot="0">
            <a:off x="-149697" y="-149697"/>
            <a:ext cx="6383128" cy="1167253"/>
            <a:chOff x="0" y="0"/>
            <a:chExt cx="2287569" cy="418317"/>
          </a:xfrm>
        </p:grpSpPr>
        <p:sp>
          <p:nvSpPr>
            <p:cNvPr name="Freeform 37" id="37"/>
            <p:cNvSpPr/>
            <p:nvPr/>
          </p:nvSpPr>
          <p:spPr>
            <a:xfrm flipH="false" flipV="false" rot="0">
              <a:off x="0" y="0"/>
              <a:ext cx="2287569" cy="418317"/>
            </a:xfrm>
            <a:custGeom>
              <a:avLst/>
              <a:gdLst/>
              <a:ahLst/>
              <a:cxnLst/>
              <a:rect r="r" b="b" t="t" l="l"/>
              <a:pathLst>
                <a:path h="418317" w="2287569">
                  <a:moveTo>
                    <a:pt x="2084369" y="0"/>
                  </a:moveTo>
                  <a:lnTo>
                    <a:pt x="0" y="0"/>
                  </a:lnTo>
                  <a:lnTo>
                    <a:pt x="0" y="418317"/>
                  </a:lnTo>
                  <a:lnTo>
                    <a:pt x="2084369" y="418317"/>
                  </a:lnTo>
                  <a:lnTo>
                    <a:pt x="2287569" y="209159"/>
                  </a:lnTo>
                  <a:lnTo>
                    <a:pt x="2084369" y="0"/>
                  </a:lnTo>
                  <a:close/>
                </a:path>
              </a:pathLst>
            </a:custGeom>
            <a:solidFill>
              <a:srgbClr val="FFFFFF"/>
            </a:solidFill>
          </p:spPr>
        </p:sp>
        <p:sp>
          <p:nvSpPr>
            <p:cNvPr name="TextBox 38" id="38"/>
            <p:cNvSpPr txBox="true"/>
            <p:nvPr/>
          </p:nvSpPr>
          <p:spPr>
            <a:xfrm>
              <a:off x="0" y="19050"/>
              <a:ext cx="2173269" cy="399267"/>
            </a:xfrm>
            <a:prstGeom prst="rect">
              <a:avLst/>
            </a:prstGeom>
          </p:spPr>
          <p:txBody>
            <a:bodyPr anchor="ctr" rtlCol="false" tIns="50800" lIns="50800" bIns="50800" rIns="50800"/>
            <a:lstStyle/>
            <a:p>
              <a:pPr algn="ctr">
                <a:lnSpc>
                  <a:spcPts val="1100"/>
                </a:lnSpc>
              </a:pPr>
            </a:p>
            <a:p>
              <a:pPr algn="ctr">
                <a:lnSpc>
                  <a:spcPts val="1100"/>
                </a:lnSpc>
              </a:pPr>
            </a:p>
          </p:txBody>
        </p:sp>
      </p:grpSp>
      <p:sp>
        <p:nvSpPr>
          <p:cNvPr name="Freeform 39" id="39"/>
          <p:cNvSpPr/>
          <p:nvPr/>
        </p:nvSpPr>
        <p:spPr>
          <a:xfrm flipH="false" flipV="false" rot="0">
            <a:off x="377333" y="2696842"/>
            <a:ext cx="358813" cy="335042"/>
          </a:xfrm>
          <a:custGeom>
            <a:avLst/>
            <a:gdLst/>
            <a:ahLst/>
            <a:cxnLst/>
            <a:rect r="r" b="b" t="t" l="l"/>
            <a:pathLst>
              <a:path h="335042" w="358813">
                <a:moveTo>
                  <a:pt x="0" y="0"/>
                </a:moveTo>
                <a:lnTo>
                  <a:pt x="358813" y="0"/>
                </a:lnTo>
                <a:lnTo>
                  <a:pt x="358813" y="335042"/>
                </a:lnTo>
                <a:lnTo>
                  <a:pt x="0" y="33504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40" id="40"/>
          <p:cNvSpPr/>
          <p:nvPr/>
        </p:nvSpPr>
        <p:spPr>
          <a:xfrm flipH="false" flipV="false" rot="0">
            <a:off x="391849" y="4511767"/>
            <a:ext cx="330382" cy="332460"/>
          </a:xfrm>
          <a:custGeom>
            <a:avLst/>
            <a:gdLst/>
            <a:ahLst/>
            <a:cxnLst/>
            <a:rect r="r" b="b" t="t" l="l"/>
            <a:pathLst>
              <a:path h="332460" w="330382">
                <a:moveTo>
                  <a:pt x="0" y="0"/>
                </a:moveTo>
                <a:lnTo>
                  <a:pt x="330382" y="0"/>
                </a:lnTo>
                <a:lnTo>
                  <a:pt x="330382" y="332459"/>
                </a:lnTo>
                <a:lnTo>
                  <a:pt x="0" y="33245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41" id="41"/>
          <p:cNvSpPr/>
          <p:nvPr/>
        </p:nvSpPr>
        <p:spPr>
          <a:xfrm flipH="false" flipV="false" rot="0">
            <a:off x="529937" y="187472"/>
            <a:ext cx="2112492" cy="492915"/>
          </a:xfrm>
          <a:custGeom>
            <a:avLst/>
            <a:gdLst/>
            <a:ahLst/>
            <a:cxnLst/>
            <a:rect r="r" b="b" t="t" l="l"/>
            <a:pathLst>
              <a:path h="492915" w="2112492">
                <a:moveTo>
                  <a:pt x="0" y="0"/>
                </a:moveTo>
                <a:lnTo>
                  <a:pt x="2112493" y="0"/>
                </a:lnTo>
                <a:lnTo>
                  <a:pt x="2112493" y="492915"/>
                </a:lnTo>
                <a:lnTo>
                  <a:pt x="0" y="492915"/>
                </a:lnTo>
                <a:lnTo>
                  <a:pt x="0" y="0"/>
                </a:lnTo>
                <a:close/>
              </a:path>
            </a:pathLst>
          </a:custGeom>
          <a:blipFill>
            <a:blip r:embed="rId15"/>
            <a:stretch>
              <a:fillRect l="0" t="0" r="0" b="0"/>
            </a:stretch>
          </a:blipFill>
        </p:spPr>
      </p:sp>
      <p:sp>
        <p:nvSpPr>
          <p:cNvPr name="Freeform 42" id="42"/>
          <p:cNvSpPr/>
          <p:nvPr/>
        </p:nvSpPr>
        <p:spPr>
          <a:xfrm flipH="false" flipV="false" rot="0">
            <a:off x="377333" y="3553035"/>
            <a:ext cx="369306" cy="283904"/>
          </a:xfrm>
          <a:custGeom>
            <a:avLst/>
            <a:gdLst/>
            <a:ahLst/>
            <a:cxnLst/>
            <a:rect r="r" b="b" t="t" l="l"/>
            <a:pathLst>
              <a:path h="283904" w="369306">
                <a:moveTo>
                  <a:pt x="0" y="0"/>
                </a:moveTo>
                <a:lnTo>
                  <a:pt x="369306" y="0"/>
                </a:lnTo>
                <a:lnTo>
                  <a:pt x="369306" y="283904"/>
                </a:lnTo>
                <a:lnTo>
                  <a:pt x="0" y="28390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43" id="43"/>
          <p:cNvSpPr/>
          <p:nvPr/>
        </p:nvSpPr>
        <p:spPr>
          <a:xfrm flipH="false" flipV="false" rot="0">
            <a:off x="377333" y="5584518"/>
            <a:ext cx="344898" cy="356945"/>
          </a:xfrm>
          <a:custGeom>
            <a:avLst/>
            <a:gdLst/>
            <a:ahLst/>
            <a:cxnLst/>
            <a:rect r="r" b="b" t="t" l="l"/>
            <a:pathLst>
              <a:path h="356945" w="344898">
                <a:moveTo>
                  <a:pt x="0" y="0"/>
                </a:moveTo>
                <a:lnTo>
                  <a:pt x="344898" y="0"/>
                </a:lnTo>
                <a:lnTo>
                  <a:pt x="344898" y="356945"/>
                </a:lnTo>
                <a:lnTo>
                  <a:pt x="0" y="35694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44" id="44"/>
          <p:cNvSpPr txBox="true"/>
          <p:nvPr/>
        </p:nvSpPr>
        <p:spPr>
          <a:xfrm rot="0">
            <a:off x="6525158" y="519574"/>
            <a:ext cx="504905" cy="187960"/>
          </a:xfrm>
          <a:prstGeom prst="rect">
            <a:avLst/>
          </a:prstGeom>
        </p:spPr>
        <p:txBody>
          <a:bodyPr anchor="t" rtlCol="false" tIns="0" lIns="0" bIns="0" rIns="0">
            <a:spAutoFit/>
          </a:bodyPr>
          <a:lstStyle/>
          <a:p>
            <a:pPr algn="r">
              <a:lnSpc>
                <a:spcPts val="1430"/>
              </a:lnSpc>
            </a:pPr>
            <a:r>
              <a:rPr lang="en-US" b="true" sz="1300">
                <a:solidFill>
                  <a:srgbClr val="FFFAEF"/>
                </a:solidFill>
                <a:latin typeface="Nunito Bold"/>
                <a:ea typeface="Nunito Bold"/>
                <a:cs typeface="Nunito Bold"/>
                <a:sym typeface="Nunito Bold"/>
              </a:rPr>
              <a:t>2026</a:t>
            </a:r>
          </a:p>
        </p:txBody>
      </p:sp>
      <p:sp>
        <p:nvSpPr>
          <p:cNvPr name="TextBox 45" id="45"/>
          <p:cNvSpPr txBox="true"/>
          <p:nvPr/>
        </p:nvSpPr>
        <p:spPr>
          <a:xfrm rot="0">
            <a:off x="529937" y="1341180"/>
            <a:ext cx="3592074" cy="455420"/>
          </a:xfrm>
          <a:prstGeom prst="rect">
            <a:avLst/>
          </a:prstGeom>
        </p:spPr>
        <p:txBody>
          <a:bodyPr anchor="t" rtlCol="false" tIns="0" lIns="0" bIns="0" rIns="0">
            <a:spAutoFit/>
          </a:bodyPr>
          <a:lstStyle/>
          <a:p>
            <a:pPr algn="l">
              <a:lnSpc>
                <a:spcPts val="3547"/>
              </a:lnSpc>
            </a:pPr>
            <a:r>
              <a:rPr lang="en-US" sz="3225" b="true">
                <a:solidFill>
                  <a:srgbClr val="FFFAEF"/>
                </a:solidFill>
                <a:latin typeface="Oswald Bold"/>
                <a:ea typeface="Oswald Bold"/>
                <a:cs typeface="Oswald Bold"/>
                <a:sym typeface="Oswald Bold"/>
              </a:rPr>
              <a:t>PROGRAM OVERVIEW</a:t>
            </a:r>
          </a:p>
        </p:txBody>
      </p:sp>
      <p:sp>
        <p:nvSpPr>
          <p:cNvPr name="TextBox 46" id="46"/>
          <p:cNvSpPr txBox="true"/>
          <p:nvPr/>
        </p:nvSpPr>
        <p:spPr>
          <a:xfrm rot="0">
            <a:off x="516734" y="2001143"/>
            <a:ext cx="1945521" cy="323215"/>
          </a:xfrm>
          <a:prstGeom prst="rect">
            <a:avLst/>
          </a:prstGeom>
        </p:spPr>
        <p:txBody>
          <a:bodyPr anchor="t" rtlCol="false" tIns="0" lIns="0" bIns="0" rIns="0">
            <a:spAutoFit/>
          </a:bodyPr>
          <a:lstStyle/>
          <a:p>
            <a:pPr algn="l">
              <a:lnSpc>
                <a:spcPts val="2659"/>
              </a:lnSpc>
            </a:pPr>
            <a:r>
              <a:rPr lang="en-US" sz="1899" b="true">
                <a:solidFill>
                  <a:srgbClr val="000000"/>
                </a:solidFill>
                <a:latin typeface="Oswald Bold"/>
                <a:ea typeface="Oswald Bold"/>
                <a:cs typeface="Oswald Bold"/>
                <a:sym typeface="Oswald Bold"/>
              </a:rPr>
              <a:t>Program Goals</a:t>
            </a:r>
          </a:p>
        </p:txBody>
      </p:sp>
      <p:sp>
        <p:nvSpPr>
          <p:cNvPr name="TextBox 47" id="47"/>
          <p:cNvSpPr txBox="true"/>
          <p:nvPr/>
        </p:nvSpPr>
        <p:spPr>
          <a:xfrm rot="0">
            <a:off x="722231" y="7711889"/>
            <a:ext cx="6081769" cy="1896110"/>
          </a:xfrm>
          <a:prstGeom prst="rect">
            <a:avLst/>
          </a:prstGeom>
        </p:spPr>
        <p:txBody>
          <a:bodyPr anchor="t" rtlCol="false" tIns="0" lIns="0" bIns="0" rIns="0">
            <a:spAutoFit/>
          </a:bodyPr>
          <a:lstStyle/>
          <a:p>
            <a:pPr algn="just">
              <a:lnSpc>
                <a:spcPts val="1540"/>
              </a:lnSpc>
            </a:pPr>
            <a:r>
              <a:rPr lang="en-US" sz="1100">
                <a:solidFill>
                  <a:srgbClr val="000000"/>
                </a:solidFill>
                <a:latin typeface="Nunito"/>
                <a:ea typeface="Nunito"/>
                <a:cs typeface="Nunito"/>
                <a:sym typeface="Nunito"/>
              </a:rPr>
              <a:t>Program Pendampingan</a:t>
            </a:r>
            <a:r>
              <a:rPr lang="en-US" sz="1100">
                <a:solidFill>
                  <a:srgbClr val="000000"/>
                </a:solidFill>
                <a:latin typeface="Nunito"/>
                <a:ea typeface="Nunito"/>
                <a:cs typeface="Nunito"/>
                <a:sym typeface="Nunito"/>
              </a:rPr>
              <a:t> Pengusaha Afirmatif TA 2026 oleh Sanggabiz </a:t>
            </a:r>
            <a:r>
              <a:rPr lang="en-US" sz="1100">
                <a:solidFill>
                  <a:srgbClr val="000000"/>
                </a:solidFill>
                <a:latin typeface="Nunito"/>
                <a:ea typeface="Nunito"/>
                <a:cs typeface="Nunito"/>
                <a:sym typeface="Nunito"/>
              </a:rPr>
              <a:t>mener</a:t>
            </a:r>
            <a:r>
              <a:rPr lang="en-US" sz="1100">
                <a:solidFill>
                  <a:srgbClr val="000000"/>
                </a:solidFill>
                <a:latin typeface="Nunito"/>
                <a:ea typeface="Nunito"/>
                <a:cs typeface="Nunito"/>
                <a:sym typeface="Nunito"/>
              </a:rPr>
              <a:t>apkan pendekatan sistem corong (funneling approach) dan model experiential learning yang inklusif untuk mendampingi 1.700 pelaku usaha di Jawa Timur dan Bali, dengan target minimal 60% perempuan kepala keluarga dan 10% penyandang disabilitas. Intervensi dir</a:t>
            </a:r>
            <a:r>
              <a:rPr lang="en-US" sz="1100">
                <a:solidFill>
                  <a:srgbClr val="000000"/>
                </a:solidFill>
                <a:latin typeface="Nunito"/>
                <a:ea typeface="Nunito"/>
                <a:cs typeface="Nunito"/>
                <a:sym typeface="Nunito"/>
              </a:rPr>
              <a:t>ancang berjenj</a:t>
            </a:r>
            <a:r>
              <a:rPr lang="en-US" sz="1100">
                <a:solidFill>
                  <a:srgbClr val="000000"/>
                </a:solidFill>
                <a:latin typeface="Nunito"/>
                <a:ea typeface="Nunito"/>
                <a:cs typeface="Nunito"/>
                <a:sym typeface="Nunito"/>
              </a:rPr>
              <a:t>ang mulai dari</a:t>
            </a:r>
            <a:r>
              <a:rPr lang="en-US" sz="1100">
                <a:solidFill>
                  <a:srgbClr val="000000"/>
                </a:solidFill>
                <a:latin typeface="Nunito"/>
                <a:ea typeface="Nunito"/>
                <a:cs typeface="Nunito"/>
                <a:sym typeface="Nunito"/>
              </a:rPr>
              <a:t> sosial</a:t>
            </a:r>
            <a:r>
              <a:rPr lang="en-US" sz="1100">
                <a:solidFill>
                  <a:srgbClr val="000000"/>
                </a:solidFill>
                <a:latin typeface="Nunito"/>
                <a:ea typeface="Nunito"/>
                <a:cs typeface="Nunito"/>
                <a:sym typeface="Nunito"/>
              </a:rPr>
              <a:t>isasi</a:t>
            </a:r>
            <a:r>
              <a:rPr lang="en-US" sz="1100">
                <a:solidFill>
                  <a:srgbClr val="000000"/>
                </a:solidFill>
                <a:latin typeface="Nunito"/>
                <a:ea typeface="Nunito"/>
                <a:cs typeface="Nunito"/>
                <a:sym typeface="Nunito"/>
              </a:rPr>
              <a:t> dan profiling masif, workshop litera</a:t>
            </a:r>
            <a:r>
              <a:rPr lang="en-US" sz="1100">
                <a:solidFill>
                  <a:srgbClr val="000000"/>
                </a:solidFill>
                <a:latin typeface="Nunito"/>
                <a:ea typeface="Nunito"/>
                <a:cs typeface="Nunito"/>
                <a:sym typeface="Nunito"/>
              </a:rPr>
              <a:t>si keuangan, hingga pelatihan manajemen dan pendampingan intensif bagi peserta di puncak corong menggunakan inovasi teknologi ramah disabilitas seperti practical AI. Seluruh rangkaian proses dipantau melalui platform digital internal untuk memastikan validitas peningkatan kapasitas, yang diakhiri dengan integrasi data performa peserta secara by name by address ke dalam sistem SAPA UMKM guna mendukung program kesejahteraan rakyat dalam pengentasan kemiskinan ekstrem.</a:t>
            </a:r>
          </a:p>
        </p:txBody>
      </p:sp>
      <p:sp>
        <p:nvSpPr>
          <p:cNvPr name="TextBox 48" id="48"/>
          <p:cNvSpPr txBox="true"/>
          <p:nvPr/>
        </p:nvSpPr>
        <p:spPr>
          <a:xfrm rot="0">
            <a:off x="919383" y="2871482"/>
            <a:ext cx="4090539" cy="507536"/>
          </a:xfrm>
          <a:prstGeom prst="rect">
            <a:avLst/>
          </a:prstGeom>
        </p:spPr>
        <p:txBody>
          <a:bodyPr anchor="t" rtlCol="false" tIns="0" lIns="0" bIns="0" rIns="0">
            <a:spAutoFit/>
          </a:bodyPr>
          <a:lstStyle/>
          <a:p>
            <a:pPr algn="just">
              <a:lnSpc>
                <a:spcPts val="1368"/>
              </a:lnSpc>
            </a:pPr>
            <a:r>
              <a:rPr lang="en-US" sz="1052">
                <a:solidFill>
                  <a:srgbClr val="FFFFFF"/>
                </a:solidFill>
                <a:latin typeface="Nunito"/>
                <a:ea typeface="Nunito"/>
                <a:cs typeface="Nunito"/>
                <a:sym typeface="Nunito"/>
              </a:rPr>
              <a:t>Meningkatkan kapasitas manajerial, kompetensi teknis, dan penguatan mindset kewirausahaan mandiri bagi pelaku usaha mikro afirmatif secara komprehensif.</a:t>
            </a:r>
          </a:p>
        </p:txBody>
      </p:sp>
      <p:sp>
        <p:nvSpPr>
          <p:cNvPr name="TextBox 49" id="49"/>
          <p:cNvSpPr txBox="true"/>
          <p:nvPr/>
        </p:nvSpPr>
        <p:spPr>
          <a:xfrm rot="0">
            <a:off x="919383" y="2603815"/>
            <a:ext cx="3573196" cy="176530"/>
          </a:xfrm>
          <a:prstGeom prst="rect">
            <a:avLst/>
          </a:prstGeom>
        </p:spPr>
        <p:txBody>
          <a:bodyPr anchor="t" rtlCol="false" tIns="0" lIns="0" bIns="0" rIns="0">
            <a:spAutoFit/>
          </a:bodyPr>
          <a:lstStyle/>
          <a:p>
            <a:pPr algn="just" marL="0" indent="0" lvl="0">
              <a:lnSpc>
                <a:spcPts val="1430"/>
              </a:lnSpc>
            </a:pPr>
            <a:r>
              <a:rPr lang="en-US" b="true" sz="1100">
                <a:solidFill>
                  <a:srgbClr val="FFFFFF"/>
                </a:solidFill>
                <a:latin typeface="Oswald Bold"/>
                <a:ea typeface="Oswald Bold"/>
                <a:cs typeface="Oswald Bold"/>
                <a:sym typeface="Oswald Bold"/>
              </a:rPr>
              <a:t>Peningkatan Kompetensi Teknis</a:t>
            </a:r>
          </a:p>
        </p:txBody>
      </p:sp>
      <p:sp>
        <p:nvSpPr>
          <p:cNvPr name="TextBox 50" id="50"/>
          <p:cNvSpPr txBox="true"/>
          <p:nvPr/>
        </p:nvSpPr>
        <p:spPr>
          <a:xfrm rot="0">
            <a:off x="919383" y="3695992"/>
            <a:ext cx="4090539" cy="848456"/>
          </a:xfrm>
          <a:prstGeom prst="rect">
            <a:avLst/>
          </a:prstGeom>
        </p:spPr>
        <p:txBody>
          <a:bodyPr anchor="t" rtlCol="false" tIns="0" lIns="0" bIns="0" rIns="0">
            <a:spAutoFit/>
          </a:bodyPr>
          <a:lstStyle/>
          <a:p>
            <a:pPr algn="just">
              <a:lnSpc>
                <a:spcPts val="1368"/>
              </a:lnSpc>
            </a:pPr>
            <a:r>
              <a:rPr lang="en-US" sz="1052">
                <a:solidFill>
                  <a:srgbClr val="FFFFFF"/>
                </a:solidFill>
                <a:latin typeface="Nunito"/>
                <a:ea typeface="Nunito"/>
                <a:cs typeface="Nunito"/>
                <a:sym typeface="Nunito"/>
              </a:rPr>
              <a:t>Mendorong adopsi digitalisasi usaha, perbaikan kualitas produk (pemberian standar kemasan/packaging, pengembangan branding, dan legalitas usaha/NIB), serta penataan tata kelola keuangan melalui pemisahan keuangan pribadi dan usaha.</a:t>
            </a:r>
          </a:p>
          <a:p>
            <a:pPr algn="just" marL="0" indent="0" lvl="0">
              <a:lnSpc>
                <a:spcPts val="1368"/>
              </a:lnSpc>
            </a:pPr>
          </a:p>
        </p:txBody>
      </p:sp>
      <p:sp>
        <p:nvSpPr>
          <p:cNvPr name="TextBox 51" id="51"/>
          <p:cNvSpPr txBox="true"/>
          <p:nvPr/>
        </p:nvSpPr>
        <p:spPr>
          <a:xfrm rot="0">
            <a:off x="919383" y="3451331"/>
            <a:ext cx="3044032" cy="176530"/>
          </a:xfrm>
          <a:prstGeom prst="rect">
            <a:avLst/>
          </a:prstGeom>
        </p:spPr>
        <p:txBody>
          <a:bodyPr anchor="t" rtlCol="false" tIns="0" lIns="0" bIns="0" rIns="0">
            <a:spAutoFit/>
          </a:bodyPr>
          <a:lstStyle/>
          <a:p>
            <a:pPr algn="just" marL="0" indent="0" lvl="0">
              <a:lnSpc>
                <a:spcPts val="1430"/>
              </a:lnSpc>
            </a:pPr>
            <a:r>
              <a:rPr lang="en-US" b="true" sz="1100">
                <a:solidFill>
                  <a:srgbClr val="FFFFFF"/>
                </a:solidFill>
                <a:latin typeface="Oswald Bold"/>
                <a:ea typeface="Oswald Bold"/>
                <a:cs typeface="Oswald Bold"/>
                <a:sym typeface="Oswald Bold"/>
              </a:rPr>
              <a:t>Transformasi Digital</a:t>
            </a:r>
          </a:p>
        </p:txBody>
      </p:sp>
      <p:sp>
        <p:nvSpPr>
          <p:cNvPr name="TextBox 52" id="52"/>
          <p:cNvSpPr txBox="true"/>
          <p:nvPr/>
        </p:nvSpPr>
        <p:spPr>
          <a:xfrm rot="0">
            <a:off x="919383" y="4679002"/>
            <a:ext cx="4090539" cy="677996"/>
          </a:xfrm>
          <a:prstGeom prst="rect">
            <a:avLst/>
          </a:prstGeom>
        </p:spPr>
        <p:txBody>
          <a:bodyPr anchor="t" rtlCol="false" tIns="0" lIns="0" bIns="0" rIns="0">
            <a:spAutoFit/>
          </a:bodyPr>
          <a:lstStyle/>
          <a:p>
            <a:pPr algn="just">
              <a:lnSpc>
                <a:spcPts val="1368"/>
              </a:lnSpc>
            </a:pPr>
            <a:r>
              <a:rPr lang="en-US" sz="1052">
                <a:solidFill>
                  <a:srgbClr val="FFFFFF"/>
                </a:solidFill>
                <a:latin typeface="Nunito"/>
                <a:ea typeface="Nunito"/>
                <a:cs typeface="Nunito"/>
                <a:sym typeface="Nunito"/>
              </a:rPr>
              <a:t>Memfasilitasi akses konkret terhadap ekosistem bisnis formal, khususnya lembaga keuangan perbankan/non-perbankan untuk penyerapan Kredit Usaha Rakyat (KUR) serta jaringan pasar eksternal (off-taker/mitra usaha komersial).</a:t>
            </a:r>
          </a:p>
        </p:txBody>
      </p:sp>
      <p:sp>
        <p:nvSpPr>
          <p:cNvPr name="TextBox 53" id="53"/>
          <p:cNvSpPr txBox="true"/>
          <p:nvPr/>
        </p:nvSpPr>
        <p:spPr>
          <a:xfrm rot="0">
            <a:off x="919383" y="4430885"/>
            <a:ext cx="3044032" cy="176530"/>
          </a:xfrm>
          <a:prstGeom prst="rect">
            <a:avLst/>
          </a:prstGeom>
        </p:spPr>
        <p:txBody>
          <a:bodyPr anchor="t" rtlCol="false" tIns="0" lIns="0" bIns="0" rIns="0">
            <a:spAutoFit/>
          </a:bodyPr>
          <a:lstStyle/>
          <a:p>
            <a:pPr algn="just" marL="0" indent="0" lvl="0">
              <a:lnSpc>
                <a:spcPts val="1430"/>
              </a:lnSpc>
            </a:pPr>
            <a:r>
              <a:rPr lang="en-US" b="true" sz="1100">
                <a:solidFill>
                  <a:srgbClr val="FFFFFF"/>
                </a:solidFill>
                <a:latin typeface="Oswald Bold"/>
                <a:ea typeface="Oswald Bold"/>
                <a:cs typeface="Oswald Bold"/>
                <a:sym typeface="Oswald Bold"/>
              </a:rPr>
              <a:t>Penyediaan Akses Ekosistem Bisnis</a:t>
            </a:r>
          </a:p>
        </p:txBody>
      </p:sp>
      <p:sp>
        <p:nvSpPr>
          <p:cNvPr name="TextBox 54" id="54"/>
          <p:cNvSpPr txBox="true"/>
          <p:nvPr/>
        </p:nvSpPr>
        <p:spPr>
          <a:xfrm rot="0">
            <a:off x="919383" y="5768232"/>
            <a:ext cx="4090539" cy="507536"/>
          </a:xfrm>
          <a:prstGeom prst="rect">
            <a:avLst/>
          </a:prstGeom>
        </p:spPr>
        <p:txBody>
          <a:bodyPr anchor="t" rtlCol="false" tIns="0" lIns="0" bIns="0" rIns="0">
            <a:spAutoFit/>
          </a:bodyPr>
          <a:lstStyle/>
          <a:p>
            <a:pPr algn="just">
              <a:lnSpc>
                <a:spcPts val="1368"/>
              </a:lnSpc>
            </a:pPr>
            <a:r>
              <a:rPr lang="en-US" sz="1052">
                <a:solidFill>
                  <a:srgbClr val="FFFFFF"/>
                </a:solidFill>
                <a:latin typeface="Nunito"/>
                <a:ea typeface="Nunito"/>
                <a:cs typeface="Nunito"/>
                <a:sym typeface="Nunito"/>
              </a:rPr>
              <a:t>Mendukung akselerasi pengurangan angka kemiskinan ekstrem melalui model pemberdayaan ekonomi kelompok rentan yang terukur, dapat divalidasi, dan berkelanjutan.</a:t>
            </a:r>
          </a:p>
        </p:txBody>
      </p:sp>
      <p:sp>
        <p:nvSpPr>
          <p:cNvPr name="TextBox 55" id="55"/>
          <p:cNvSpPr txBox="true"/>
          <p:nvPr/>
        </p:nvSpPr>
        <p:spPr>
          <a:xfrm rot="0">
            <a:off x="919383" y="5520116"/>
            <a:ext cx="4480821" cy="176530"/>
          </a:xfrm>
          <a:prstGeom prst="rect">
            <a:avLst/>
          </a:prstGeom>
        </p:spPr>
        <p:txBody>
          <a:bodyPr anchor="t" rtlCol="false" tIns="0" lIns="0" bIns="0" rIns="0">
            <a:spAutoFit/>
          </a:bodyPr>
          <a:lstStyle/>
          <a:p>
            <a:pPr algn="just" marL="0" indent="0" lvl="0">
              <a:lnSpc>
                <a:spcPts val="1430"/>
              </a:lnSpc>
            </a:pPr>
            <a:r>
              <a:rPr lang="en-US" b="true" sz="1100">
                <a:solidFill>
                  <a:srgbClr val="FFFFFF"/>
                </a:solidFill>
                <a:latin typeface="Oswald Bold"/>
                <a:ea typeface="Oswald Bold"/>
                <a:cs typeface="Oswald Bold"/>
                <a:sym typeface="Oswald Bold"/>
              </a:rPr>
              <a:t>Pengurangan Angka Kemiskinan</a:t>
            </a:r>
          </a:p>
        </p:txBody>
      </p:sp>
      <p:sp>
        <p:nvSpPr>
          <p:cNvPr name="TextBox 56" id="56"/>
          <p:cNvSpPr txBox="true"/>
          <p:nvPr/>
        </p:nvSpPr>
        <p:spPr>
          <a:xfrm rot="0">
            <a:off x="863662" y="10102756"/>
            <a:ext cx="1280004" cy="142240"/>
          </a:xfrm>
          <a:prstGeom prst="rect">
            <a:avLst/>
          </a:prstGeom>
        </p:spPr>
        <p:txBody>
          <a:bodyPr anchor="t" rtlCol="false" tIns="0" lIns="0" bIns="0" rIns="0">
            <a:spAutoFit/>
          </a:bodyPr>
          <a:lstStyle/>
          <a:p>
            <a:pPr algn="just">
              <a:lnSpc>
                <a:spcPts val="1100"/>
              </a:lnSpc>
            </a:pPr>
            <a:r>
              <a:rPr lang="en-US" sz="1100" b="true">
                <a:solidFill>
                  <a:srgbClr val="FFFFFF"/>
                </a:solidFill>
                <a:latin typeface="Nunito Bold"/>
                <a:ea typeface="Nunito Bold"/>
                <a:cs typeface="Nunito Bold"/>
                <a:sym typeface="Nunito Bold"/>
              </a:rPr>
              <a:t>0877-7413-4288</a:t>
            </a:r>
          </a:p>
        </p:txBody>
      </p:sp>
      <p:sp>
        <p:nvSpPr>
          <p:cNvPr name="TextBox 57" id="57"/>
          <p:cNvSpPr txBox="true"/>
          <p:nvPr/>
        </p:nvSpPr>
        <p:spPr>
          <a:xfrm rot="0">
            <a:off x="2809183" y="10102756"/>
            <a:ext cx="1710998" cy="142240"/>
          </a:xfrm>
          <a:prstGeom prst="rect">
            <a:avLst/>
          </a:prstGeom>
        </p:spPr>
        <p:txBody>
          <a:bodyPr anchor="t" rtlCol="false" tIns="0" lIns="0" bIns="0" rIns="0">
            <a:spAutoFit/>
          </a:bodyPr>
          <a:lstStyle/>
          <a:p>
            <a:pPr algn="just">
              <a:lnSpc>
                <a:spcPts val="1100"/>
              </a:lnSpc>
            </a:pPr>
            <a:r>
              <a:rPr lang="en-US" sz="1100" b="true">
                <a:solidFill>
                  <a:srgbClr val="FFFFFF"/>
                </a:solidFill>
                <a:latin typeface="Nunito Bold"/>
                <a:ea typeface="Nunito Bold"/>
                <a:cs typeface="Nunito Bold"/>
                <a:sym typeface="Nunito Bold"/>
              </a:rPr>
              <a:t>www.sanggabiz.com</a:t>
            </a:r>
          </a:p>
        </p:txBody>
      </p:sp>
      <p:sp>
        <p:nvSpPr>
          <p:cNvPr name="TextBox 58" id="58"/>
          <p:cNvSpPr txBox="true"/>
          <p:nvPr/>
        </p:nvSpPr>
        <p:spPr>
          <a:xfrm rot="0">
            <a:off x="5161779" y="10102756"/>
            <a:ext cx="1893190" cy="142240"/>
          </a:xfrm>
          <a:prstGeom prst="rect">
            <a:avLst/>
          </a:prstGeom>
        </p:spPr>
        <p:txBody>
          <a:bodyPr anchor="t" rtlCol="false" tIns="0" lIns="0" bIns="0" rIns="0">
            <a:spAutoFit/>
          </a:bodyPr>
          <a:lstStyle/>
          <a:p>
            <a:pPr algn="just">
              <a:lnSpc>
                <a:spcPts val="1100"/>
              </a:lnSpc>
            </a:pPr>
            <a:r>
              <a:rPr lang="en-US" sz="1100" b="true">
                <a:solidFill>
                  <a:srgbClr val="FFFFFF"/>
                </a:solidFill>
                <a:latin typeface="Nunito Bold"/>
                <a:ea typeface="Nunito Bold"/>
                <a:cs typeface="Nunito Bold"/>
                <a:sym typeface="Nunito Bold"/>
              </a:rPr>
              <a:t>partnership@sanggabiz.com</a:t>
            </a:r>
          </a:p>
        </p:txBody>
      </p:sp>
      <p:grpSp>
        <p:nvGrpSpPr>
          <p:cNvPr name="Group 59" id="59"/>
          <p:cNvGrpSpPr/>
          <p:nvPr/>
        </p:nvGrpSpPr>
        <p:grpSpPr>
          <a:xfrm rot="0">
            <a:off x="244735" y="6447218"/>
            <a:ext cx="535335" cy="535335"/>
            <a:chOff x="0" y="0"/>
            <a:chExt cx="812800" cy="812800"/>
          </a:xfrm>
        </p:grpSpPr>
        <p:sp>
          <p:nvSpPr>
            <p:cNvPr name="Freeform 60" id="6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4BDCF"/>
            </a:solidFill>
          </p:spPr>
        </p:sp>
        <p:sp>
          <p:nvSpPr>
            <p:cNvPr name="TextBox 61" id="61"/>
            <p:cNvSpPr txBox="true"/>
            <p:nvPr/>
          </p:nvSpPr>
          <p:spPr>
            <a:xfrm>
              <a:off x="76200" y="66675"/>
              <a:ext cx="660400" cy="669925"/>
            </a:xfrm>
            <a:prstGeom prst="rect">
              <a:avLst/>
            </a:prstGeom>
          </p:spPr>
          <p:txBody>
            <a:bodyPr anchor="ctr" rtlCol="false" tIns="50800" lIns="50800" bIns="50800" rIns="50800"/>
            <a:lstStyle/>
            <a:p>
              <a:pPr algn="ctr">
                <a:lnSpc>
                  <a:spcPts val="1679"/>
                </a:lnSpc>
              </a:pPr>
            </a:p>
          </p:txBody>
        </p:sp>
      </p:grpSp>
      <p:sp>
        <p:nvSpPr>
          <p:cNvPr name="Freeform 62" id="62"/>
          <p:cNvSpPr/>
          <p:nvPr/>
        </p:nvSpPr>
        <p:spPr>
          <a:xfrm flipH="false" flipV="false" rot="0">
            <a:off x="332996" y="6532176"/>
            <a:ext cx="344898" cy="356945"/>
          </a:xfrm>
          <a:custGeom>
            <a:avLst/>
            <a:gdLst/>
            <a:ahLst/>
            <a:cxnLst/>
            <a:rect r="r" b="b" t="t" l="l"/>
            <a:pathLst>
              <a:path h="356945" w="344898">
                <a:moveTo>
                  <a:pt x="0" y="0"/>
                </a:moveTo>
                <a:lnTo>
                  <a:pt x="344898" y="0"/>
                </a:lnTo>
                <a:lnTo>
                  <a:pt x="344898" y="356945"/>
                </a:lnTo>
                <a:lnTo>
                  <a:pt x="0" y="35694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63" id="63"/>
          <p:cNvSpPr txBox="true"/>
          <p:nvPr/>
        </p:nvSpPr>
        <p:spPr>
          <a:xfrm rot="0">
            <a:off x="871216" y="6715890"/>
            <a:ext cx="4090539" cy="507536"/>
          </a:xfrm>
          <a:prstGeom prst="rect">
            <a:avLst/>
          </a:prstGeom>
        </p:spPr>
        <p:txBody>
          <a:bodyPr anchor="t" rtlCol="false" tIns="0" lIns="0" bIns="0" rIns="0">
            <a:spAutoFit/>
          </a:bodyPr>
          <a:lstStyle/>
          <a:p>
            <a:pPr algn="just">
              <a:lnSpc>
                <a:spcPts val="1368"/>
              </a:lnSpc>
            </a:pPr>
            <a:r>
              <a:rPr lang="en-US" sz="1052">
                <a:solidFill>
                  <a:srgbClr val="FFFFFF"/>
                </a:solidFill>
                <a:latin typeface="Nunito"/>
                <a:ea typeface="Nunito"/>
                <a:cs typeface="Nunito"/>
                <a:sym typeface="Nunito"/>
              </a:rPr>
              <a:t>Menyediakan dan mengintegrasikan data profil serta capaian kinerja 1.700 pelaku usaha afirmatif secara by name by address ke dalam sistem SAPA UMKM untuk pemutakhiran data nasional.</a:t>
            </a:r>
          </a:p>
        </p:txBody>
      </p:sp>
      <p:sp>
        <p:nvSpPr>
          <p:cNvPr name="TextBox 64" id="64"/>
          <p:cNvSpPr txBox="true"/>
          <p:nvPr/>
        </p:nvSpPr>
        <p:spPr>
          <a:xfrm rot="0">
            <a:off x="871216" y="6467774"/>
            <a:ext cx="4480821" cy="176530"/>
          </a:xfrm>
          <a:prstGeom prst="rect">
            <a:avLst/>
          </a:prstGeom>
        </p:spPr>
        <p:txBody>
          <a:bodyPr anchor="t" rtlCol="false" tIns="0" lIns="0" bIns="0" rIns="0">
            <a:spAutoFit/>
          </a:bodyPr>
          <a:lstStyle/>
          <a:p>
            <a:pPr algn="just" marL="0" indent="0" lvl="0">
              <a:lnSpc>
                <a:spcPts val="1430"/>
              </a:lnSpc>
            </a:pPr>
            <a:r>
              <a:rPr lang="en-US" b="true" sz="1100">
                <a:solidFill>
                  <a:srgbClr val="FFFFFF"/>
                </a:solidFill>
                <a:latin typeface="Oswald Bold"/>
                <a:ea typeface="Oswald Bold"/>
                <a:cs typeface="Oswald Bold"/>
                <a:sym typeface="Oswald Bold"/>
              </a:rPr>
              <a:t>Penyediaan Data Pelaku Usaha Afirmatif</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71CE"/>
        </a:solidFill>
      </p:bgPr>
    </p:bg>
    <p:spTree>
      <p:nvGrpSpPr>
        <p:cNvPr id="1" name=""/>
        <p:cNvGrpSpPr/>
        <p:nvPr/>
      </p:nvGrpSpPr>
      <p:grpSpPr>
        <a:xfrm>
          <a:off x="0" y="0"/>
          <a:ext cx="0" cy="0"/>
          <a:chOff x="0" y="0"/>
          <a:chExt cx="0" cy="0"/>
        </a:xfrm>
      </p:grpSpPr>
      <p:sp>
        <p:nvSpPr>
          <p:cNvPr name="AutoShape 2" id="2"/>
          <p:cNvSpPr/>
          <p:nvPr/>
        </p:nvSpPr>
        <p:spPr>
          <a:xfrm flipV="true">
            <a:off x="529937" y="1017556"/>
            <a:ext cx="6500125" cy="0"/>
          </a:xfrm>
          <a:prstGeom prst="line">
            <a:avLst/>
          </a:prstGeom>
          <a:ln cap="flat" w="19050">
            <a:solidFill>
              <a:srgbClr val="FFFFFF"/>
            </a:solidFill>
            <a:prstDash val="solid"/>
            <a:headEnd type="none" len="sm" w="sm"/>
            <a:tailEnd type="none" len="sm" w="sm"/>
          </a:ln>
        </p:spPr>
      </p:sp>
      <p:sp>
        <p:nvSpPr>
          <p:cNvPr name="AutoShape 3" id="3"/>
          <p:cNvSpPr/>
          <p:nvPr/>
        </p:nvSpPr>
        <p:spPr>
          <a:xfrm flipV="true">
            <a:off x="529937" y="9782475"/>
            <a:ext cx="6500125" cy="0"/>
          </a:xfrm>
          <a:prstGeom prst="line">
            <a:avLst/>
          </a:prstGeom>
          <a:ln cap="flat" w="19050">
            <a:solidFill>
              <a:srgbClr val="FFFFFF"/>
            </a:solidFill>
            <a:prstDash val="solid"/>
            <a:headEnd type="none" len="sm" w="sm"/>
            <a:tailEnd type="none" len="sm" w="sm"/>
          </a:ln>
        </p:spPr>
      </p:sp>
      <p:grpSp>
        <p:nvGrpSpPr>
          <p:cNvPr name="Group 4" id="4"/>
          <p:cNvGrpSpPr/>
          <p:nvPr/>
        </p:nvGrpSpPr>
        <p:grpSpPr>
          <a:xfrm rot="0">
            <a:off x="2450553" y="10030852"/>
            <a:ext cx="263381" cy="266997"/>
            <a:chOff x="0" y="0"/>
            <a:chExt cx="351174" cy="355996"/>
          </a:xfrm>
        </p:grpSpPr>
        <p:sp>
          <p:nvSpPr>
            <p:cNvPr name="Freeform 5" id="5"/>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6" id="6"/>
            <p:cNvSpPr/>
            <p:nvPr/>
          </p:nvSpPr>
          <p:spPr>
            <a:xfrm flipH="false" flipV="false" rot="0">
              <a:off x="71763" y="74174"/>
              <a:ext cx="207648" cy="207648"/>
            </a:xfrm>
            <a:custGeom>
              <a:avLst/>
              <a:gdLst/>
              <a:ahLst/>
              <a:cxnLst/>
              <a:rect r="r" b="b" t="t" l="l"/>
              <a:pathLst>
                <a:path h="207648" w="207648">
                  <a:moveTo>
                    <a:pt x="0" y="0"/>
                  </a:moveTo>
                  <a:lnTo>
                    <a:pt x="207648" y="0"/>
                  </a:lnTo>
                  <a:lnTo>
                    <a:pt x="207648" y="207648"/>
                  </a:lnTo>
                  <a:lnTo>
                    <a:pt x="0" y="207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7" id="7"/>
          <p:cNvGrpSpPr/>
          <p:nvPr/>
        </p:nvGrpSpPr>
        <p:grpSpPr>
          <a:xfrm rot="0">
            <a:off x="505031" y="10030852"/>
            <a:ext cx="263381" cy="266997"/>
            <a:chOff x="0" y="0"/>
            <a:chExt cx="351174" cy="355996"/>
          </a:xfrm>
        </p:grpSpPr>
        <p:sp>
          <p:nvSpPr>
            <p:cNvPr name="Freeform 8" id="8"/>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9" id="9"/>
            <p:cNvSpPr/>
            <p:nvPr/>
          </p:nvSpPr>
          <p:spPr>
            <a:xfrm flipH="false" flipV="false" rot="0">
              <a:off x="82548" y="72870"/>
              <a:ext cx="186078" cy="210257"/>
            </a:xfrm>
            <a:custGeom>
              <a:avLst/>
              <a:gdLst/>
              <a:ahLst/>
              <a:cxnLst/>
              <a:rect r="r" b="b" t="t" l="l"/>
              <a:pathLst>
                <a:path h="210257" w="186078">
                  <a:moveTo>
                    <a:pt x="0" y="0"/>
                  </a:moveTo>
                  <a:lnTo>
                    <a:pt x="186078" y="0"/>
                  </a:lnTo>
                  <a:lnTo>
                    <a:pt x="186078" y="210257"/>
                  </a:lnTo>
                  <a:lnTo>
                    <a:pt x="0" y="2102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10" id="10"/>
          <p:cNvGrpSpPr/>
          <p:nvPr/>
        </p:nvGrpSpPr>
        <p:grpSpPr>
          <a:xfrm rot="0">
            <a:off x="4824981" y="10044066"/>
            <a:ext cx="237312" cy="240571"/>
            <a:chOff x="0" y="0"/>
            <a:chExt cx="316416" cy="320761"/>
          </a:xfrm>
        </p:grpSpPr>
        <p:sp>
          <p:nvSpPr>
            <p:cNvPr name="Freeform 11" id="11"/>
            <p:cNvSpPr/>
            <p:nvPr/>
          </p:nvSpPr>
          <p:spPr>
            <a:xfrm flipH="false" flipV="false" rot="0">
              <a:off x="0" y="0"/>
              <a:ext cx="316416" cy="320761"/>
            </a:xfrm>
            <a:custGeom>
              <a:avLst/>
              <a:gdLst/>
              <a:ahLst/>
              <a:cxnLst/>
              <a:rect r="r" b="b" t="t" l="l"/>
              <a:pathLst>
                <a:path h="320761" w="316416">
                  <a:moveTo>
                    <a:pt x="0" y="0"/>
                  </a:moveTo>
                  <a:lnTo>
                    <a:pt x="316416" y="0"/>
                  </a:lnTo>
                  <a:lnTo>
                    <a:pt x="316416" y="320761"/>
                  </a:lnTo>
                  <a:lnTo>
                    <a:pt x="0" y="320761"/>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12" id="12"/>
            <p:cNvSpPr/>
            <p:nvPr/>
          </p:nvSpPr>
          <p:spPr>
            <a:xfrm flipH="false" flipV="false" rot="0">
              <a:off x="63604" y="89073"/>
              <a:ext cx="189207" cy="142615"/>
            </a:xfrm>
            <a:custGeom>
              <a:avLst/>
              <a:gdLst/>
              <a:ahLst/>
              <a:cxnLst/>
              <a:rect r="r" b="b" t="t" l="l"/>
              <a:pathLst>
                <a:path h="142615" w="189207">
                  <a:moveTo>
                    <a:pt x="0" y="0"/>
                  </a:moveTo>
                  <a:lnTo>
                    <a:pt x="189208" y="0"/>
                  </a:lnTo>
                  <a:lnTo>
                    <a:pt x="189208" y="142615"/>
                  </a:lnTo>
                  <a:lnTo>
                    <a:pt x="0" y="1426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13" id="13"/>
          <p:cNvGrpSpPr/>
          <p:nvPr/>
        </p:nvGrpSpPr>
        <p:grpSpPr>
          <a:xfrm rot="0">
            <a:off x="-149697" y="-149697"/>
            <a:ext cx="6383128" cy="1167253"/>
            <a:chOff x="0" y="0"/>
            <a:chExt cx="2287569" cy="418317"/>
          </a:xfrm>
        </p:grpSpPr>
        <p:sp>
          <p:nvSpPr>
            <p:cNvPr name="Freeform 14" id="14"/>
            <p:cNvSpPr/>
            <p:nvPr/>
          </p:nvSpPr>
          <p:spPr>
            <a:xfrm flipH="false" flipV="false" rot="0">
              <a:off x="0" y="0"/>
              <a:ext cx="2287569" cy="418317"/>
            </a:xfrm>
            <a:custGeom>
              <a:avLst/>
              <a:gdLst/>
              <a:ahLst/>
              <a:cxnLst/>
              <a:rect r="r" b="b" t="t" l="l"/>
              <a:pathLst>
                <a:path h="418317" w="2287569">
                  <a:moveTo>
                    <a:pt x="2084369" y="0"/>
                  </a:moveTo>
                  <a:lnTo>
                    <a:pt x="0" y="0"/>
                  </a:lnTo>
                  <a:lnTo>
                    <a:pt x="0" y="418317"/>
                  </a:lnTo>
                  <a:lnTo>
                    <a:pt x="2084369" y="418317"/>
                  </a:lnTo>
                  <a:lnTo>
                    <a:pt x="2287569" y="209159"/>
                  </a:lnTo>
                  <a:lnTo>
                    <a:pt x="2084369" y="0"/>
                  </a:lnTo>
                  <a:close/>
                </a:path>
              </a:pathLst>
            </a:custGeom>
            <a:solidFill>
              <a:srgbClr val="FFFFFF"/>
            </a:solidFill>
          </p:spPr>
        </p:sp>
        <p:sp>
          <p:nvSpPr>
            <p:cNvPr name="TextBox 15" id="15"/>
            <p:cNvSpPr txBox="true"/>
            <p:nvPr/>
          </p:nvSpPr>
          <p:spPr>
            <a:xfrm>
              <a:off x="0" y="19050"/>
              <a:ext cx="2173269" cy="399267"/>
            </a:xfrm>
            <a:prstGeom prst="rect">
              <a:avLst/>
            </a:prstGeom>
          </p:spPr>
          <p:txBody>
            <a:bodyPr anchor="ctr" rtlCol="false" tIns="50800" lIns="50800" bIns="50800" rIns="50800"/>
            <a:lstStyle/>
            <a:p>
              <a:pPr algn="ctr">
                <a:lnSpc>
                  <a:spcPts val="1100"/>
                </a:lnSpc>
              </a:pPr>
            </a:p>
            <a:p>
              <a:pPr algn="ctr">
                <a:lnSpc>
                  <a:spcPts val="1100"/>
                </a:lnSpc>
              </a:pPr>
            </a:p>
          </p:txBody>
        </p:sp>
      </p:grpSp>
      <p:sp>
        <p:nvSpPr>
          <p:cNvPr name="Freeform 16" id="16"/>
          <p:cNvSpPr/>
          <p:nvPr/>
        </p:nvSpPr>
        <p:spPr>
          <a:xfrm flipH="false" flipV="false" rot="0">
            <a:off x="529937" y="187472"/>
            <a:ext cx="2112492" cy="492915"/>
          </a:xfrm>
          <a:custGeom>
            <a:avLst/>
            <a:gdLst/>
            <a:ahLst/>
            <a:cxnLst/>
            <a:rect r="r" b="b" t="t" l="l"/>
            <a:pathLst>
              <a:path h="492915" w="2112492">
                <a:moveTo>
                  <a:pt x="0" y="0"/>
                </a:moveTo>
                <a:lnTo>
                  <a:pt x="2112493" y="0"/>
                </a:lnTo>
                <a:lnTo>
                  <a:pt x="2112493" y="492915"/>
                </a:lnTo>
                <a:lnTo>
                  <a:pt x="0" y="492915"/>
                </a:lnTo>
                <a:lnTo>
                  <a:pt x="0" y="0"/>
                </a:lnTo>
                <a:close/>
              </a:path>
            </a:pathLst>
          </a:custGeom>
          <a:blipFill>
            <a:blip r:embed="rId10"/>
            <a:stretch>
              <a:fillRect l="0" t="0" r="0" b="0"/>
            </a:stretch>
          </a:blipFill>
        </p:spPr>
      </p:sp>
      <p:sp>
        <p:nvSpPr>
          <p:cNvPr name="TextBox 17" id="17"/>
          <p:cNvSpPr txBox="true"/>
          <p:nvPr/>
        </p:nvSpPr>
        <p:spPr>
          <a:xfrm rot="0">
            <a:off x="6525158" y="519574"/>
            <a:ext cx="504905" cy="187960"/>
          </a:xfrm>
          <a:prstGeom prst="rect">
            <a:avLst/>
          </a:prstGeom>
        </p:spPr>
        <p:txBody>
          <a:bodyPr anchor="t" rtlCol="false" tIns="0" lIns="0" bIns="0" rIns="0">
            <a:spAutoFit/>
          </a:bodyPr>
          <a:lstStyle/>
          <a:p>
            <a:pPr algn="r">
              <a:lnSpc>
                <a:spcPts val="1430"/>
              </a:lnSpc>
            </a:pPr>
            <a:r>
              <a:rPr lang="en-US" b="true" sz="1300">
                <a:solidFill>
                  <a:srgbClr val="FFFAEF"/>
                </a:solidFill>
                <a:latin typeface="Nunito Bold"/>
                <a:ea typeface="Nunito Bold"/>
                <a:cs typeface="Nunito Bold"/>
                <a:sym typeface="Nunito Bold"/>
              </a:rPr>
              <a:t>2026</a:t>
            </a:r>
          </a:p>
        </p:txBody>
      </p:sp>
      <p:sp>
        <p:nvSpPr>
          <p:cNvPr name="TextBox 18" id="18"/>
          <p:cNvSpPr txBox="true"/>
          <p:nvPr/>
        </p:nvSpPr>
        <p:spPr>
          <a:xfrm rot="0">
            <a:off x="529937" y="1341180"/>
            <a:ext cx="6525031" cy="458335"/>
          </a:xfrm>
          <a:prstGeom prst="rect">
            <a:avLst/>
          </a:prstGeom>
        </p:spPr>
        <p:txBody>
          <a:bodyPr anchor="t" rtlCol="false" tIns="0" lIns="0" bIns="0" rIns="0">
            <a:spAutoFit/>
          </a:bodyPr>
          <a:lstStyle/>
          <a:p>
            <a:pPr algn="l">
              <a:lnSpc>
                <a:spcPts val="3547"/>
              </a:lnSpc>
            </a:pPr>
            <a:r>
              <a:rPr lang="en-US" sz="3225" b="true">
                <a:solidFill>
                  <a:srgbClr val="FFFAEF"/>
                </a:solidFill>
                <a:latin typeface="Oswald Bold"/>
                <a:ea typeface="Oswald Bold"/>
                <a:cs typeface="Oswald Bold"/>
                <a:sym typeface="Oswald Bold"/>
              </a:rPr>
              <a:t>STRATEGI DAN METODE PELAKSANAAN</a:t>
            </a:r>
          </a:p>
        </p:txBody>
      </p:sp>
      <p:sp>
        <p:nvSpPr>
          <p:cNvPr name="TextBox 19" id="19"/>
          <p:cNvSpPr txBox="true"/>
          <p:nvPr/>
        </p:nvSpPr>
        <p:spPr>
          <a:xfrm rot="0">
            <a:off x="863662" y="10102756"/>
            <a:ext cx="1280004" cy="142240"/>
          </a:xfrm>
          <a:prstGeom prst="rect">
            <a:avLst/>
          </a:prstGeom>
        </p:spPr>
        <p:txBody>
          <a:bodyPr anchor="t" rtlCol="false" tIns="0" lIns="0" bIns="0" rIns="0">
            <a:spAutoFit/>
          </a:bodyPr>
          <a:lstStyle/>
          <a:p>
            <a:pPr algn="just">
              <a:lnSpc>
                <a:spcPts val="1100"/>
              </a:lnSpc>
            </a:pPr>
            <a:r>
              <a:rPr lang="en-US" sz="1100" b="true">
                <a:solidFill>
                  <a:srgbClr val="FFFFFF"/>
                </a:solidFill>
                <a:latin typeface="Nunito Bold"/>
                <a:ea typeface="Nunito Bold"/>
                <a:cs typeface="Nunito Bold"/>
                <a:sym typeface="Nunito Bold"/>
              </a:rPr>
              <a:t>0877-7413-4288</a:t>
            </a:r>
          </a:p>
        </p:txBody>
      </p:sp>
      <p:sp>
        <p:nvSpPr>
          <p:cNvPr name="TextBox 20" id="20"/>
          <p:cNvSpPr txBox="true"/>
          <p:nvPr/>
        </p:nvSpPr>
        <p:spPr>
          <a:xfrm rot="0">
            <a:off x="2809183" y="10102756"/>
            <a:ext cx="1710998" cy="142240"/>
          </a:xfrm>
          <a:prstGeom prst="rect">
            <a:avLst/>
          </a:prstGeom>
        </p:spPr>
        <p:txBody>
          <a:bodyPr anchor="t" rtlCol="false" tIns="0" lIns="0" bIns="0" rIns="0">
            <a:spAutoFit/>
          </a:bodyPr>
          <a:lstStyle/>
          <a:p>
            <a:pPr algn="just">
              <a:lnSpc>
                <a:spcPts val="1100"/>
              </a:lnSpc>
            </a:pPr>
            <a:r>
              <a:rPr lang="en-US" sz="1100" b="true">
                <a:solidFill>
                  <a:srgbClr val="FFFFFF"/>
                </a:solidFill>
                <a:latin typeface="Nunito Bold"/>
                <a:ea typeface="Nunito Bold"/>
                <a:cs typeface="Nunito Bold"/>
                <a:sym typeface="Nunito Bold"/>
              </a:rPr>
              <a:t>www.sanggabiz.com</a:t>
            </a:r>
          </a:p>
        </p:txBody>
      </p:sp>
      <p:sp>
        <p:nvSpPr>
          <p:cNvPr name="TextBox 21" id="21"/>
          <p:cNvSpPr txBox="true"/>
          <p:nvPr/>
        </p:nvSpPr>
        <p:spPr>
          <a:xfrm rot="0">
            <a:off x="5161779" y="10102756"/>
            <a:ext cx="1893190" cy="142240"/>
          </a:xfrm>
          <a:prstGeom prst="rect">
            <a:avLst/>
          </a:prstGeom>
        </p:spPr>
        <p:txBody>
          <a:bodyPr anchor="t" rtlCol="false" tIns="0" lIns="0" bIns="0" rIns="0">
            <a:spAutoFit/>
          </a:bodyPr>
          <a:lstStyle/>
          <a:p>
            <a:pPr algn="just">
              <a:lnSpc>
                <a:spcPts val="1100"/>
              </a:lnSpc>
            </a:pPr>
            <a:r>
              <a:rPr lang="en-US" sz="1100" b="true">
                <a:solidFill>
                  <a:srgbClr val="FFFFFF"/>
                </a:solidFill>
                <a:latin typeface="Nunito Bold"/>
                <a:ea typeface="Nunito Bold"/>
                <a:cs typeface="Nunito Bold"/>
                <a:sym typeface="Nunito Bold"/>
              </a:rPr>
              <a:t>partnership@sanggabiz.com</a:t>
            </a:r>
          </a:p>
        </p:txBody>
      </p:sp>
      <p:grpSp>
        <p:nvGrpSpPr>
          <p:cNvPr name="Group 22" id="22"/>
          <p:cNvGrpSpPr/>
          <p:nvPr/>
        </p:nvGrpSpPr>
        <p:grpSpPr>
          <a:xfrm rot="0">
            <a:off x="212425" y="2242570"/>
            <a:ext cx="7135150" cy="7087323"/>
            <a:chOff x="0" y="0"/>
            <a:chExt cx="9513534" cy="9449765"/>
          </a:xfrm>
        </p:grpSpPr>
        <p:grpSp>
          <p:nvGrpSpPr>
            <p:cNvPr name="Group 23" id="23"/>
            <p:cNvGrpSpPr/>
            <p:nvPr/>
          </p:nvGrpSpPr>
          <p:grpSpPr>
            <a:xfrm rot="0">
              <a:off x="5196711" y="106834"/>
              <a:ext cx="4117886" cy="2066923"/>
              <a:chOff x="0" y="0"/>
              <a:chExt cx="1698730" cy="852657"/>
            </a:xfrm>
          </p:grpSpPr>
          <p:sp>
            <p:nvSpPr>
              <p:cNvPr name="Freeform 24" id="24"/>
              <p:cNvSpPr/>
              <p:nvPr/>
            </p:nvSpPr>
            <p:spPr>
              <a:xfrm flipH="false" flipV="false" rot="0">
                <a:off x="0" y="0"/>
                <a:ext cx="1698730" cy="852657"/>
              </a:xfrm>
              <a:custGeom>
                <a:avLst/>
                <a:gdLst/>
                <a:ahLst/>
                <a:cxnLst/>
                <a:rect r="r" b="b" t="t" l="l"/>
                <a:pathLst>
                  <a:path h="852657" w="1698730">
                    <a:moveTo>
                      <a:pt x="45122" y="0"/>
                    </a:moveTo>
                    <a:lnTo>
                      <a:pt x="1653609" y="0"/>
                    </a:lnTo>
                    <a:cubicBezTo>
                      <a:pt x="1678529" y="0"/>
                      <a:pt x="1698730" y="20202"/>
                      <a:pt x="1698730" y="45122"/>
                    </a:cubicBezTo>
                    <a:lnTo>
                      <a:pt x="1698730" y="807535"/>
                    </a:lnTo>
                    <a:cubicBezTo>
                      <a:pt x="1698730" y="819502"/>
                      <a:pt x="1693976" y="830979"/>
                      <a:pt x="1685514" y="839441"/>
                    </a:cubicBezTo>
                    <a:cubicBezTo>
                      <a:pt x="1677052" y="847903"/>
                      <a:pt x="1665575" y="852657"/>
                      <a:pt x="1653609" y="852657"/>
                    </a:cubicBezTo>
                    <a:lnTo>
                      <a:pt x="45122" y="852657"/>
                    </a:lnTo>
                    <a:cubicBezTo>
                      <a:pt x="33155" y="852657"/>
                      <a:pt x="21678" y="847903"/>
                      <a:pt x="13216" y="839441"/>
                    </a:cubicBezTo>
                    <a:cubicBezTo>
                      <a:pt x="4754" y="830979"/>
                      <a:pt x="0" y="819502"/>
                      <a:pt x="0" y="807535"/>
                    </a:cubicBezTo>
                    <a:lnTo>
                      <a:pt x="0" y="45122"/>
                    </a:lnTo>
                    <a:cubicBezTo>
                      <a:pt x="0" y="33155"/>
                      <a:pt x="4754" y="21678"/>
                      <a:pt x="13216" y="13216"/>
                    </a:cubicBezTo>
                    <a:cubicBezTo>
                      <a:pt x="21678" y="4754"/>
                      <a:pt x="33155" y="0"/>
                      <a:pt x="45122" y="0"/>
                    </a:cubicBezTo>
                    <a:close/>
                  </a:path>
                </a:pathLst>
              </a:custGeom>
              <a:solidFill>
                <a:srgbClr val="D9D9D9"/>
              </a:solidFill>
            </p:spPr>
          </p:sp>
          <p:sp>
            <p:nvSpPr>
              <p:cNvPr name="TextBox 25" id="25"/>
              <p:cNvSpPr txBox="true"/>
              <p:nvPr/>
            </p:nvSpPr>
            <p:spPr>
              <a:xfrm>
                <a:off x="0" y="-19050"/>
                <a:ext cx="1698730" cy="871707"/>
              </a:xfrm>
              <a:prstGeom prst="rect">
                <a:avLst/>
              </a:prstGeom>
            </p:spPr>
            <p:txBody>
              <a:bodyPr anchor="ctr" rtlCol="false" tIns="50800" lIns="50800" bIns="50800" rIns="50800"/>
              <a:lstStyle/>
              <a:p>
                <a:pPr algn="ctr">
                  <a:lnSpc>
                    <a:spcPts val="1328"/>
                  </a:lnSpc>
                </a:pPr>
              </a:p>
            </p:txBody>
          </p:sp>
        </p:grpSp>
        <p:grpSp>
          <p:nvGrpSpPr>
            <p:cNvPr name="Group 26" id="26"/>
            <p:cNvGrpSpPr/>
            <p:nvPr/>
          </p:nvGrpSpPr>
          <p:grpSpPr>
            <a:xfrm rot="0">
              <a:off x="427518" y="106834"/>
              <a:ext cx="4135175" cy="2066923"/>
              <a:chOff x="0" y="0"/>
              <a:chExt cx="1705863" cy="852657"/>
            </a:xfrm>
          </p:grpSpPr>
          <p:sp>
            <p:nvSpPr>
              <p:cNvPr name="Freeform 27" id="27"/>
              <p:cNvSpPr/>
              <p:nvPr/>
            </p:nvSpPr>
            <p:spPr>
              <a:xfrm flipH="false" flipV="false" rot="0">
                <a:off x="0" y="0"/>
                <a:ext cx="1705863" cy="852657"/>
              </a:xfrm>
              <a:custGeom>
                <a:avLst/>
                <a:gdLst/>
                <a:ahLst/>
                <a:cxnLst/>
                <a:rect r="r" b="b" t="t" l="l"/>
                <a:pathLst>
                  <a:path h="852657" w="1705863">
                    <a:moveTo>
                      <a:pt x="44933" y="0"/>
                    </a:moveTo>
                    <a:lnTo>
                      <a:pt x="1660929" y="0"/>
                    </a:lnTo>
                    <a:cubicBezTo>
                      <a:pt x="1685745" y="0"/>
                      <a:pt x="1705863" y="20117"/>
                      <a:pt x="1705863" y="44933"/>
                    </a:cubicBezTo>
                    <a:lnTo>
                      <a:pt x="1705863" y="807724"/>
                    </a:lnTo>
                    <a:cubicBezTo>
                      <a:pt x="1705863" y="832540"/>
                      <a:pt x="1685745" y="852657"/>
                      <a:pt x="1660929" y="852657"/>
                    </a:cubicBezTo>
                    <a:lnTo>
                      <a:pt x="44933" y="852657"/>
                    </a:lnTo>
                    <a:cubicBezTo>
                      <a:pt x="20117" y="852657"/>
                      <a:pt x="0" y="832540"/>
                      <a:pt x="0" y="807724"/>
                    </a:cubicBezTo>
                    <a:lnTo>
                      <a:pt x="0" y="44933"/>
                    </a:lnTo>
                    <a:cubicBezTo>
                      <a:pt x="0" y="20117"/>
                      <a:pt x="20117" y="0"/>
                      <a:pt x="44933" y="0"/>
                    </a:cubicBezTo>
                    <a:close/>
                  </a:path>
                </a:pathLst>
              </a:custGeom>
              <a:solidFill>
                <a:srgbClr val="D9D9D9"/>
              </a:solidFill>
            </p:spPr>
          </p:sp>
          <p:sp>
            <p:nvSpPr>
              <p:cNvPr name="TextBox 28" id="28"/>
              <p:cNvSpPr txBox="true"/>
              <p:nvPr/>
            </p:nvSpPr>
            <p:spPr>
              <a:xfrm>
                <a:off x="0" y="-19050"/>
                <a:ext cx="1705863" cy="871707"/>
              </a:xfrm>
              <a:prstGeom prst="rect">
                <a:avLst/>
              </a:prstGeom>
            </p:spPr>
            <p:txBody>
              <a:bodyPr anchor="ctr" rtlCol="false" tIns="50800" lIns="50800" bIns="50800" rIns="50800"/>
              <a:lstStyle/>
              <a:p>
                <a:pPr algn="ctr">
                  <a:lnSpc>
                    <a:spcPts val="1328"/>
                  </a:lnSpc>
                </a:pPr>
              </a:p>
            </p:txBody>
          </p:sp>
        </p:grpSp>
        <p:sp>
          <p:nvSpPr>
            <p:cNvPr name="Freeform 29" id="29"/>
            <p:cNvSpPr/>
            <p:nvPr/>
          </p:nvSpPr>
          <p:spPr>
            <a:xfrm flipH="false" flipV="false" rot="0">
              <a:off x="645352" y="0"/>
              <a:ext cx="1030814" cy="646836"/>
            </a:xfrm>
            <a:custGeom>
              <a:avLst/>
              <a:gdLst/>
              <a:ahLst/>
              <a:cxnLst/>
              <a:rect r="r" b="b" t="t" l="l"/>
              <a:pathLst>
                <a:path h="646836" w="1030814">
                  <a:moveTo>
                    <a:pt x="0" y="0"/>
                  </a:moveTo>
                  <a:lnTo>
                    <a:pt x="1030814" y="0"/>
                  </a:lnTo>
                  <a:lnTo>
                    <a:pt x="1030814" y="646836"/>
                  </a:lnTo>
                  <a:lnTo>
                    <a:pt x="0" y="64683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0" id="30"/>
            <p:cNvSpPr/>
            <p:nvPr/>
          </p:nvSpPr>
          <p:spPr>
            <a:xfrm flipH="false" flipV="false" rot="0">
              <a:off x="5361686" y="0"/>
              <a:ext cx="1030814" cy="646836"/>
            </a:xfrm>
            <a:custGeom>
              <a:avLst/>
              <a:gdLst/>
              <a:ahLst/>
              <a:cxnLst/>
              <a:rect r="r" b="b" t="t" l="l"/>
              <a:pathLst>
                <a:path h="646836" w="1030814">
                  <a:moveTo>
                    <a:pt x="0" y="0"/>
                  </a:moveTo>
                  <a:lnTo>
                    <a:pt x="1030814" y="0"/>
                  </a:lnTo>
                  <a:lnTo>
                    <a:pt x="1030814" y="646836"/>
                  </a:lnTo>
                  <a:lnTo>
                    <a:pt x="0" y="64683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1" id="31"/>
            <p:cNvSpPr/>
            <p:nvPr/>
          </p:nvSpPr>
          <p:spPr>
            <a:xfrm flipH="false" flipV="false" rot="0">
              <a:off x="1676166" y="696486"/>
              <a:ext cx="570158" cy="570158"/>
            </a:xfrm>
            <a:custGeom>
              <a:avLst/>
              <a:gdLst/>
              <a:ahLst/>
              <a:cxnLst/>
              <a:rect r="r" b="b" t="t" l="l"/>
              <a:pathLst>
                <a:path h="570158" w="570158">
                  <a:moveTo>
                    <a:pt x="0" y="0"/>
                  </a:moveTo>
                  <a:lnTo>
                    <a:pt x="570158" y="0"/>
                  </a:lnTo>
                  <a:lnTo>
                    <a:pt x="570158" y="570158"/>
                  </a:lnTo>
                  <a:lnTo>
                    <a:pt x="0" y="57015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32" id="32"/>
            <p:cNvSpPr/>
            <p:nvPr/>
          </p:nvSpPr>
          <p:spPr>
            <a:xfrm flipH="false" flipV="false" rot="0">
              <a:off x="5639690" y="752350"/>
              <a:ext cx="558798" cy="405827"/>
            </a:xfrm>
            <a:custGeom>
              <a:avLst/>
              <a:gdLst/>
              <a:ahLst/>
              <a:cxnLst/>
              <a:rect r="r" b="b" t="t" l="l"/>
              <a:pathLst>
                <a:path h="405827" w="558798">
                  <a:moveTo>
                    <a:pt x="0" y="0"/>
                  </a:moveTo>
                  <a:lnTo>
                    <a:pt x="558798" y="0"/>
                  </a:lnTo>
                  <a:lnTo>
                    <a:pt x="558798" y="405827"/>
                  </a:lnTo>
                  <a:lnTo>
                    <a:pt x="0" y="405827"/>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33" id="33"/>
            <p:cNvSpPr/>
            <p:nvPr/>
          </p:nvSpPr>
          <p:spPr>
            <a:xfrm flipH="false" flipV="false" rot="0">
              <a:off x="6921533" y="669507"/>
              <a:ext cx="584184" cy="495826"/>
            </a:xfrm>
            <a:custGeom>
              <a:avLst/>
              <a:gdLst/>
              <a:ahLst/>
              <a:cxnLst/>
              <a:rect r="r" b="b" t="t" l="l"/>
              <a:pathLst>
                <a:path h="495826" w="584184">
                  <a:moveTo>
                    <a:pt x="0" y="0"/>
                  </a:moveTo>
                  <a:lnTo>
                    <a:pt x="584184" y="0"/>
                  </a:lnTo>
                  <a:lnTo>
                    <a:pt x="584184" y="495826"/>
                  </a:lnTo>
                  <a:lnTo>
                    <a:pt x="0" y="495826"/>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34" id="34"/>
            <p:cNvSpPr/>
            <p:nvPr/>
          </p:nvSpPr>
          <p:spPr>
            <a:xfrm flipH="false" flipV="false" rot="0">
              <a:off x="8243772" y="614383"/>
              <a:ext cx="541309" cy="550950"/>
            </a:xfrm>
            <a:custGeom>
              <a:avLst/>
              <a:gdLst/>
              <a:ahLst/>
              <a:cxnLst/>
              <a:rect r="r" b="b" t="t" l="l"/>
              <a:pathLst>
                <a:path h="550950" w="541309">
                  <a:moveTo>
                    <a:pt x="0" y="0"/>
                  </a:moveTo>
                  <a:lnTo>
                    <a:pt x="541309" y="0"/>
                  </a:lnTo>
                  <a:lnTo>
                    <a:pt x="541309" y="550950"/>
                  </a:lnTo>
                  <a:lnTo>
                    <a:pt x="0" y="550950"/>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35" id="35"/>
            <p:cNvSpPr/>
            <p:nvPr/>
          </p:nvSpPr>
          <p:spPr>
            <a:xfrm flipH="false" flipV="false" rot="0">
              <a:off x="666982" y="717452"/>
              <a:ext cx="566426" cy="566426"/>
            </a:xfrm>
            <a:custGeom>
              <a:avLst/>
              <a:gdLst/>
              <a:ahLst/>
              <a:cxnLst/>
              <a:rect r="r" b="b" t="t" l="l"/>
              <a:pathLst>
                <a:path h="566426" w="566426">
                  <a:moveTo>
                    <a:pt x="0" y="0"/>
                  </a:moveTo>
                  <a:lnTo>
                    <a:pt x="566426" y="0"/>
                  </a:lnTo>
                  <a:lnTo>
                    <a:pt x="566426" y="566426"/>
                  </a:lnTo>
                  <a:lnTo>
                    <a:pt x="0" y="56642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36" id="36"/>
            <p:cNvSpPr/>
            <p:nvPr/>
          </p:nvSpPr>
          <p:spPr>
            <a:xfrm flipH="false" flipV="false" rot="0">
              <a:off x="2737958" y="721511"/>
              <a:ext cx="547897" cy="589929"/>
            </a:xfrm>
            <a:custGeom>
              <a:avLst/>
              <a:gdLst/>
              <a:ahLst/>
              <a:cxnLst/>
              <a:rect r="r" b="b" t="t" l="l"/>
              <a:pathLst>
                <a:path h="589929" w="547897">
                  <a:moveTo>
                    <a:pt x="0" y="0"/>
                  </a:moveTo>
                  <a:lnTo>
                    <a:pt x="547896" y="0"/>
                  </a:lnTo>
                  <a:lnTo>
                    <a:pt x="547896" y="589929"/>
                  </a:lnTo>
                  <a:lnTo>
                    <a:pt x="0" y="589929"/>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37" id="37"/>
            <p:cNvSpPr/>
            <p:nvPr/>
          </p:nvSpPr>
          <p:spPr>
            <a:xfrm flipH="false" flipV="false" rot="0">
              <a:off x="3697213" y="734036"/>
              <a:ext cx="547897" cy="589929"/>
            </a:xfrm>
            <a:custGeom>
              <a:avLst/>
              <a:gdLst/>
              <a:ahLst/>
              <a:cxnLst/>
              <a:rect r="r" b="b" t="t" l="l"/>
              <a:pathLst>
                <a:path h="589929" w="547897">
                  <a:moveTo>
                    <a:pt x="0" y="0"/>
                  </a:moveTo>
                  <a:lnTo>
                    <a:pt x="547897" y="0"/>
                  </a:lnTo>
                  <a:lnTo>
                    <a:pt x="547897" y="589929"/>
                  </a:lnTo>
                  <a:lnTo>
                    <a:pt x="0" y="589929"/>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grpSp>
          <p:nvGrpSpPr>
            <p:cNvPr name="Group 38" id="38"/>
            <p:cNvGrpSpPr/>
            <p:nvPr/>
          </p:nvGrpSpPr>
          <p:grpSpPr>
            <a:xfrm rot="0">
              <a:off x="5774482" y="2793841"/>
              <a:ext cx="3739052" cy="2157334"/>
              <a:chOff x="0" y="0"/>
              <a:chExt cx="1542452" cy="889954"/>
            </a:xfrm>
          </p:grpSpPr>
          <p:sp>
            <p:nvSpPr>
              <p:cNvPr name="Freeform 39" id="39"/>
              <p:cNvSpPr/>
              <p:nvPr/>
            </p:nvSpPr>
            <p:spPr>
              <a:xfrm flipH="false" flipV="false" rot="0">
                <a:off x="0" y="0"/>
                <a:ext cx="1542452" cy="889954"/>
              </a:xfrm>
              <a:custGeom>
                <a:avLst/>
                <a:gdLst/>
                <a:ahLst/>
                <a:cxnLst/>
                <a:rect r="r" b="b" t="t" l="l"/>
                <a:pathLst>
                  <a:path h="889954" w="1542452">
                    <a:moveTo>
                      <a:pt x="49693" y="0"/>
                    </a:moveTo>
                    <a:lnTo>
                      <a:pt x="1492758" y="0"/>
                    </a:lnTo>
                    <a:cubicBezTo>
                      <a:pt x="1520203" y="0"/>
                      <a:pt x="1542452" y="22248"/>
                      <a:pt x="1542452" y="49693"/>
                    </a:cubicBezTo>
                    <a:lnTo>
                      <a:pt x="1542452" y="840260"/>
                    </a:lnTo>
                    <a:cubicBezTo>
                      <a:pt x="1542452" y="867705"/>
                      <a:pt x="1520203" y="889954"/>
                      <a:pt x="1492758" y="889954"/>
                    </a:cubicBezTo>
                    <a:lnTo>
                      <a:pt x="49693" y="889954"/>
                    </a:lnTo>
                    <a:cubicBezTo>
                      <a:pt x="22248" y="889954"/>
                      <a:pt x="0" y="867705"/>
                      <a:pt x="0" y="840260"/>
                    </a:cubicBezTo>
                    <a:lnTo>
                      <a:pt x="0" y="49693"/>
                    </a:lnTo>
                    <a:cubicBezTo>
                      <a:pt x="0" y="22248"/>
                      <a:pt x="22248" y="0"/>
                      <a:pt x="49693" y="0"/>
                    </a:cubicBezTo>
                    <a:close/>
                  </a:path>
                </a:pathLst>
              </a:custGeom>
              <a:solidFill>
                <a:srgbClr val="D9D9D9"/>
              </a:solidFill>
            </p:spPr>
          </p:sp>
          <p:sp>
            <p:nvSpPr>
              <p:cNvPr name="TextBox 40" id="40"/>
              <p:cNvSpPr txBox="true"/>
              <p:nvPr/>
            </p:nvSpPr>
            <p:spPr>
              <a:xfrm>
                <a:off x="0" y="-19050"/>
                <a:ext cx="1542452" cy="909004"/>
              </a:xfrm>
              <a:prstGeom prst="rect">
                <a:avLst/>
              </a:prstGeom>
            </p:spPr>
            <p:txBody>
              <a:bodyPr anchor="ctr" rtlCol="false" tIns="50800" lIns="50800" bIns="50800" rIns="50800"/>
              <a:lstStyle/>
              <a:p>
                <a:pPr algn="ctr">
                  <a:lnSpc>
                    <a:spcPts val="1328"/>
                  </a:lnSpc>
                </a:pPr>
              </a:p>
            </p:txBody>
          </p:sp>
        </p:grpSp>
        <p:sp>
          <p:nvSpPr>
            <p:cNvPr name="Freeform 41" id="41"/>
            <p:cNvSpPr/>
            <p:nvPr/>
          </p:nvSpPr>
          <p:spPr>
            <a:xfrm flipH="false" flipV="false" rot="0">
              <a:off x="5957361" y="2687007"/>
              <a:ext cx="1030814" cy="646836"/>
            </a:xfrm>
            <a:custGeom>
              <a:avLst/>
              <a:gdLst/>
              <a:ahLst/>
              <a:cxnLst/>
              <a:rect r="r" b="b" t="t" l="l"/>
              <a:pathLst>
                <a:path h="646836" w="1030814">
                  <a:moveTo>
                    <a:pt x="0" y="0"/>
                  </a:moveTo>
                  <a:lnTo>
                    <a:pt x="1030814" y="0"/>
                  </a:lnTo>
                  <a:lnTo>
                    <a:pt x="1030814" y="646836"/>
                  </a:lnTo>
                  <a:lnTo>
                    <a:pt x="0" y="64683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42" id="42"/>
            <p:cNvSpPr/>
            <p:nvPr/>
          </p:nvSpPr>
          <p:spPr>
            <a:xfrm flipH="false" flipV="false" rot="0">
              <a:off x="6934810" y="3372216"/>
              <a:ext cx="570158" cy="570158"/>
            </a:xfrm>
            <a:custGeom>
              <a:avLst/>
              <a:gdLst/>
              <a:ahLst/>
              <a:cxnLst/>
              <a:rect r="r" b="b" t="t" l="l"/>
              <a:pathLst>
                <a:path h="570158" w="570158">
                  <a:moveTo>
                    <a:pt x="0" y="0"/>
                  </a:moveTo>
                  <a:lnTo>
                    <a:pt x="570158" y="0"/>
                  </a:lnTo>
                  <a:lnTo>
                    <a:pt x="570158" y="570157"/>
                  </a:lnTo>
                  <a:lnTo>
                    <a:pt x="0" y="57015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43" id="43"/>
            <p:cNvSpPr/>
            <p:nvPr/>
          </p:nvSpPr>
          <p:spPr>
            <a:xfrm flipH="false" flipV="false" rot="0">
              <a:off x="6111600" y="3404460"/>
              <a:ext cx="566426" cy="566426"/>
            </a:xfrm>
            <a:custGeom>
              <a:avLst/>
              <a:gdLst/>
              <a:ahLst/>
              <a:cxnLst/>
              <a:rect r="r" b="b" t="t" l="l"/>
              <a:pathLst>
                <a:path h="566426" w="566426">
                  <a:moveTo>
                    <a:pt x="0" y="0"/>
                  </a:moveTo>
                  <a:lnTo>
                    <a:pt x="566425" y="0"/>
                  </a:lnTo>
                  <a:lnTo>
                    <a:pt x="566425" y="566426"/>
                  </a:lnTo>
                  <a:lnTo>
                    <a:pt x="0" y="56642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44" id="44"/>
            <p:cNvSpPr/>
            <p:nvPr/>
          </p:nvSpPr>
          <p:spPr>
            <a:xfrm flipH="false" flipV="false" rot="0">
              <a:off x="8275646" y="3362330"/>
              <a:ext cx="547897" cy="589929"/>
            </a:xfrm>
            <a:custGeom>
              <a:avLst/>
              <a:gdLst/>
              <a:ahLst/>
              <a:cxnLst/>
              <a:rect r="r" b="b" t="t" l="l"/>
              <a:pathLst>
                <a:path h="589929" w="547897">
                  <a:moveTo>
                    <a:pt x="0" y="0"/>
                  </a:moveTo>
                  <a:lnTo>
                    <a:pt x="547897" y="0"/>
                  </a:lnTo>
                  <a:lnTo>
                    <a:pt x="547897" y="589929"/>
                  </a:lnTo>
                  <a:lnTo>
                    <a:pt x="0" y="589929"/>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grpSp>
          <p:nvGrpSpPr>
            <p:cNvPr name="Group 45" id="45"/>
            <p:cNvGrpSpPr/>
            <p:nvPr/>
          </p:nvGrpSpPr>
          <p:grpSpPr>
            <a:xfrm rot="0">
              <a:off x="2885982" y="2781141"/>
              <a:ext cx="2394011" cy="2170034"/>
              <a:chOff x="0" y="0"/>
              <a:chExt cx="987589" cy="895193"/>
            </a:xfrm>
          </p:grpSpPr>
          <p:sp>
            <p:nvSpPr>
              <p:cNvPr name="Freeform 46" id="46"/>
              <p:cNvSpPr/>
              <p:nvPr/>
            </p:nvSpPr>
            <p:spPr>
              <a:xfrm flipH="false" flipV="false" rot="0">
                <a:off x="0" y="0"/>
                <a:ext cx="987589" cy="895193"/>
              </a:xfrm>
              <a:custGeom>
                <a:avLst/>
                <a:gdLst/>
                <a:ahLst/>
                <a:cxnLst/>
                <a:rect r="r" b="b" t="t" l="l"/>
                <a:pathLst>
                  <a:path h="895193" w="987589">
                    <a:moveTo>
                      <a:pt x="77613" y="0"/>
                    </a:moveTo>
                    <a:lnTo>
                      <a:pt x="909976" y="0"/>
                    </a:lnTo>
                    <a:cubicBezTo>
                      <a:pt x="952841" y="0"/>
                      <a:pt x="987589" y="34748"/>
                      <a:pt x="987589" y="77613"/>
                    </a:cubicBezTo>
                    <a:lnTo>
                      <a:pt x="987589" y="817580"/>
                    </a:lnTo>
                    <a:cubicBezTo>
                      <a:pt x="987589" y="860444"/>
                      <a:pt x="952841" y="895193"/>
                      <a:pt x="909976" y="895193"/>
                    </a:cubicBezTo>
                    <a:lnTo>
                      <a:pt x="77613" y="895193"/>
                    </a:lnTo>
                    <a:cubicBezTo>
                      <a:pt x="57029" y="895193"/>
                      <a:pt x="37288" y="887016"/>
                      <a:pt x="22732" y="872461"/>
                    </a:cubicBezTo>
                    <a:cubicBezTo>
                      <a:pt x="8177" y="857905"/>
                      <a:pt x="0" y="838164"/>
                      <a:pt x="0" y="817580"/>
                    </a:cubicBezTo>
                    <a:lnTo>
                      <a:pt x="0" y="77613"/>
                    </a:lnTo>
                    <a:cubicBezTo>
                      <a:pt x="0" y="34748"/>
                      <a:pt x="34748" y="0"/>
                      <a:pt x="77613" y="0"/>
                    </a:cubicBezTo>
                    <a:close/>
                  </a:path>
                </a:pathLst>
              </a:custGeom>
              <a:solidFill>
                <a:srgbClr val="D9D9D9"/>
              </a:solidFill>
            </p:spPr>
          </p:sp>
          <p:sp>
            <p:nvSpPr>
              <p:cNvPr name="TextBox 47" id="47"/>
              <p:cNvSpPr txBox="true"/>
              <p:nvPr/>
            </p:nvSpPr>
            <p:spPr>
              <a:xfrm>
                <a:off x="0" y="-19050"/>
                <a:ext cx="987589" cy="914243"/>
              </a:xfrm>
              <a:prstGeom prst="rect">
                <a:avLst/>
              </a:prstGeom>
            </p:spPr>
            <p:txBody>
              <a:bodyPr anchor="ctr" rtlCol="false" tIns="50800" lIns="50800" bIns="50800" rIns="50800"/>
              <a:lstStyle/>
              <a:p>
                <a:pPr algn="ctr">
                  <a:lnSpc>
                    <a:spcPts val="1328"/>
                  </a:lnSpc>
                </a:pPr>
              </a:p>
            </p:txBody>
          </p:sp>
        </p:grpSp>
        <p:sp>
          <p:nvSpPr>
            <p:cNvPr name="Freeform 48" id="48"/>
            <p:cNvSpPr/>
            <p:nvPr/>
          </p:nvSpPr>
          <p:spPr>
            <a:xfrm flipH="false" flipV="false" rot="0">
              <a:off x="2987570" y="2674307"/>
              <a:ext cx="1030814" cy="646836"/>
            </a:xfrm>
            <a:custGeom>
              <a:avLst/>
              <a:gdLst/>
              <a:ahLst/>
              <a:cxnLst/>
              <a:rect r="r" b="b" t="t" l="l"/>
              <a:pathLst>
                <a:path h="646836" w="1030814">
                  <a:moveTo>
                    <a:pt x="0" y="0"/>
                  </a:moveTo>
                  <a:lnTo>
                    <a:pt x="1030814" y="0"/>
                  </a:lnTo>
                  <a:lnTo>
                    <a:pt x="1030814" y="646836"/>
                  </a:lnTo>
                  <a:lnTo>
                    <a:pt x="0" y="64683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49" id="49"/>
            <p:cNvSpPr/>
            <p:nvPr/>
          </p:nvSpPr>
          <p:spPr>
            <a:xfrm flipH="false" flipV="false" rot="0">
              <a:off x="3774602" y="3363248"/>
              <a:ext cx="566426" cy="566426"/>
            </a:xfrm>
            <a:custGeom>
              <a:avLst/>
              <a:gdLst/>
              <a:ahLst/>
              <a:cxnLst/>
              <a:rect r="r" b="b" t="t" l="l"/>
              <a:pathLst>
                <a:path h="566426" w="566426">
                  <a:moveTo>
                    <a:pt x="0" y="0"/>
                  </a:moveTo>
                  <a:lnTo>
                    <a:pt x="566426" y="0"/>
                  </a:lnTo>
                  <a:lnTo>
                    <a:pt x="566426" y="566425"/>
                  </a:lnTo>
                  <a:lnTo>
                    <a:pt x="0" y="566425"/>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50" id="50"/>
            <p:cNvGrpSpPr/>
            <p:nvPr/>
          </p:nvGrpSpPr>
          <p:grpSpPr>
            <a:xfrm rot="0">
              <a:off x="0" y="2743041"/>
              <a:ext cx="2394011" cy="2208134"/>
              <a:chOff x="0" y="0"/>
              <a:chExt cx="987589" cy="910910"/>
            </a:xfrm>
          </p:grpSpPr>
          <p:sp>
            <p:nvSpPr>
              <p:cNvPr name="Freeform 51" id="51"/>
              <p:cNvSpPr/>
              <p:nvPr/>
            </p:nvSpPr>
            <p:spPr>
              <a:xfrm flipH="false" flipV="false" rot="0">
                <a:off x="0" y="0"/>
                <a:ext cx="987589" cy="910910"/>
              </a:xfrm>
              <a:custGeom>
                <a:avLst/>
                <a:gdLst/>
                <a:ahLst/>
                <a:cxnLst/>
                <a:rect r="r" b="b" t="t" l="l"/>
                <a:pathLst>
                  <a:path h="910910" w="987589">
                    <a:moveTo>
                      <a:pt x="77613" y="0"/>
                    </a:moveTo>
                    <a:lnTo>
                      <a:pt x="909976" y="0"/>
                    </a:lnTo>
                    <a:cubicBezTo>
                      <a:pt x="952841" y="0"/>
                      <a:pt x="987589" y="34748"/>
                      <a:pt x="987589" y="77613"/>
                    </a:cubicBezTo>
                    <a:lnTo>
                      <a:pt x="987589" y="833297"/>
                    </a:lnTo>
                    <a:cubicBezTo>
                      <a:pt x="987589" y="876162"/>
                      <a:pt x="952841" y="910910"/>
                      <a:pt x="909976" y="910910"/>
                    </a:cubicBezTo>
                    <a:lnTo>
                      <a:pt x="77613" y="910910"/>
                    </a:lnTo>
                    <a:cubicBezTo>
                      <a:pt x="34748" y="910910"/>
                      <a:pt x="0" y="876162"/>
                      <a:pt x="0" y="833297"/>
                    </a:cubicBezTo>
                    <a:lnTo>
                      <a:pt x="0" y="77613"/>
                    </a:lnTo>
                    <a:cubicBezTo>
                      <a:pt x="0" y="34748"/>
                      <a:pt x="34748" y="0"/>
                      <a:pt x="77613" y="0"/>
                    </a:cubicBezTo>
                    <a:close/>
                  </a:path>
                </a:pathLst>
              </a:custGeom>
              <a:solidFill>
                <a:srgbClr val="D9D9D9"/>
              </a:solidFill>
            </p:spPr>
          </p:sp>
          <p:sp>
            <p:nvSpPr>
              <p:cNvPr name="TextBox 52" id="52"/>
              <p:cNvSpPr txBox="true"/>
              <p:nvPr/>
            </p:nvSpPr>
            <p:spPr>
              <a:xfrm>
                <a:off x="0" y="-19050"/>
                <a:ext cx="987589" cy="929960"/>
              </a:xfrm>
              <a:prstGeom prst="rect">
                <a:avLst/>
              </a:prstGeom>
            </p:spPr>
            <p:txBody>
              <a:bodyPr anchor="ctr" rtlCol="false" tIns="50800" lIns="50800" bIns="50800" rIns="50800"/>
              <a:lstStyle/>
              <a:p>
                <a:pPr algn="ctr">
                  <a:lnSpc>
                    <a:spcPts val="1328"/>
                  </a:lnSpc>
                </a:pPr>
              </a:p>
            </p:txBody>
          </p:sp>
        </p:grpSp>
        <p:sp>
          <p:nvSpPr>
            <p:cNvPr name="Freeform 53" id="53"/>
            <p:cNvSpPr/>
            <p:nvPr/>
          </p:nvSpPr>
          <p:spPr>
            <a:xfrm flipH="false" flipV="false" rot="0">
              <a:off x="101588" y="2636207"/>
              <a:ext cx="1030814" cy="646836"/>
            </a:xfrm>
            <a:custGeom>
              <a:avLst/>
              <a:gdLst/>
              <a:ahLst/>
              <a:cxnLst/>
              <a:rect r="r" b="b" t="t" l="l"/>
              <a:pathLst>
                <a:path h="646836" w="1030814">
                  <a:moveTo>
                    <a:pt x="0" y="0"/>
                  </a:moveTo>
                  <a:lnTo>
                    <a:pt x="1030814" y="0"/>
                  </a:lnTo>
                  <a:lnTo>
                    <a:pt x="1030814" y="646836"/>
                  </a:lnTo>
                  <a:lnTo>
                    <a:pt x="0" y="64683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54" id="54"/>
            <p:cNvSpPr/>
            <p:nvPr/>
          </p:nvSpPr>
          <p:spPr>
            <a:xfrm flipH="false" flipV="false" rot="0">
              <a:off x="888620" y="3325148"/>
              <a:ext cx="566426" cy="566426"/>
            </a:xfrm>
            <a:custGeom>
              <a:avLst/>
              <a:gdLst/>
              <a:ahLst/>
              <a:cxnLst/>
              <a:rect r="r" b="b" t="t" l="l"/>
              <a:pathLst>
                <a:path h="566426" w="566426">
                  <a:moveTo>
                    <a:pt x="0" y="0"/>
                  </a:moveTo>
                  <a:lnTo>
                    <a:pt x="566426" y="0"/>
                  </a:lnTo>
                  <a:lnTo>
                    <a:pt x="566426" y="566425"/>
                  </a:lnTo>
                  <a:lnTo>
                    <a:pt x="0" y="566425"/>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55" id="55"/>
            <p:cNvGrpSpPr/>
            <p:nvPr/>
          </p:nvGrpSpPr>
          <p:grpSpPr>
            <a:xfrm rot="0">
              <a:off x="1070096" y="5520459"/>
              <a:ext cx="4135175" cy="2208134"/>
              <a:chOff x="0" y="0"/>
              <a:chExt cx="1705863" cy="910910"/>
            </a:xfrm>
          </p:grpSpPr>
          <p:sp>
            <p:nvSpPr>
              <p:cNvPr name="Freeform 56" id="56"/>
              <p:cNvSpPr/>
              <p:nvPr/>
            </p:nvSpPr>
            <p:spPr>
              <a:xfrm flipH="false" flipV="false" rot="0">
                <a:off x="0" y="0"/>
                <a:ext cx="1705863" cy="910910"/>
              </a:xfrm>
              <a:custGeom>
                <a:avLst/>
                <a:gdLst/>
                <a:ahLst/>
                <a:cxnLst/>
                <a:rect r="r" b="b" t="t" l="l"/>
                <a:pathLst>
                  <a:path h="910910" w="1705863">
                    <a:moveTo>
                      <a:pt x="44933" y="0"/>
                    </a:moveTo>
                    <a:lnTo>
                      <a:pt x="1660929" y="0"/>
                    </a:lnTo>
                    <a:cubicBezTo>
                      <a:pt x="1685745" y="0"/>
                      <a:pt x="1705863" y="20117"/>
                      <a:pt x="1705863" y="44933"/>
                    </a:cubicBezTo>
                    <a:lnTo>
                      <a:pt x="1705863" y="865977"/>
                    </a:lnTo>
                    <a:cubicBezTo>
                      <a:pt x="1705863" y="890793"/>
                      <a:pt x="1685745" y="910910"/>
                      <a:pt x="1660929" y="910910"/>
                    </a:cubicBezTo>
                    <a:lnTo>
                      <a:pt x="44933" y="910910"/>
                    </a:lnTo>
                    <a:cubicBezTo>
                      <a:pt x="20117" y="910910"/>
                      <a:pt x="0" y="890793"/>
                      <a:pt x="0" y="865977"/>
                    </a:cubicBezTo>
                    <a:lnTo>
                      <a:pt x="0" y="44933"/>
                    </a:lnTo>
                    <a:cubicBezTo>
                      <a:pt x="0" y="20117"/>
                      <a:pt x="20117" y="0"/>
                      <a:pt x="44933" y="0"/>
                    </a:cubicBezTo>
                    <a:close/>
                  </a:path>
                </a:pathLst>
              </a:custGeom>
              <a:solidFill>
                <a:srgbClr val="D9D9D9"/>
              </a:solidFill>
            </p:spPr>
          </p:sp>
          <p:sp>
            <p:nvSpPr>
              <p:cNvPr name="TextBox 57" id="57"/>
              <p:cNvSpPr txBox="true"/>
              <p:nvPr/>
            </p:nvSpPr>
            <p:spPr>
              <a:xfrm>
                <a:off x="0" y="-19050"/>
                <a:ext cx="1705863" cy="929960"/>
              </a:xfrm>
              <a:prstGeom prst="rect">
                <a:avLst/>
              </a:prstGeom>
            </p:spPr>
            <p:txBody>
              <a:bodyPr anchor="ctr" rtlCol="false" tIns="50800" lIns="50800" bIns="50800" rIns="50800"/>
              <a:lstStyle/>
              <a:p>
                <a:pPr algn="ctr">
                  <a:lnSpc>
                    <a:spcPts val="1328"/>
                  </a:lnSpc>
                </a:pPr>
              </a:p>
            </p:txBody>
          </p:sp>
        </p:grpSp>
        <p:sp>
          <p:nvSpPr>
            <p:cNvPr name="Freeform 58" id="58"/>
            <p:cNvSpPr/>
            <p:nvPr/>
          </p:nvSpPr>
          <p:spPr>
            <a:xfrm flipH="false" flipV="false" rot="0">
              <a:off x="1217120" y="5413626"/>
              <a:ext cx="1030814" cy="646836"/>
            </a:xfrm>
            <a:custGeom>
              <a:avLst/>
              <a:gdLst/>
              <a:ahLst/>
              <a:cxnLst/>
              <a:rect r="r" b="b" t="t" l="l"/>
              <a:pathLst>
                <a:path h="646836" w="1030814">
                  <a:moveTo>
                    <a:pt x="0" y="0"/>
                  </a:moveTo>
                  <a:lnTo>
                    <a:pt x="1030814" y="0"/>
                  </a:lnTo>
                  <a:lnTo>
                    <a:pt x="1030814" y="646836"/>
                  </a:lnTo>
                  <a:lnTo>
                    <a:pt x="0" y="64683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59" id="59"/>
            <p:cNvSpPr/>
            <p:nvPr/>
          </p:nvSpPr>
          <p:spPr>
            <a:xfrm flipH="false" flipV="false" rot="0">
              <a:off x="1422733" y="6120982"/>
              <a:ext cx="566426" cy="566426"/>
            </a:xfrm>
            <a:custGeom>
              <a:avLst/>
              <a:gdLst/>
              <a:ahLst/>
              <a:cxnLst/>
              <a:rect r="r" b="b" t="t" l="l"/>
              <a:pathLst>
                <a:path h="566426" w="566426">
                  <a:moveTo>
                    <a:pt x="0" y="0"/>
                  </a:moveTo>
                  <a:lnTo>
                    <a:pt x="566425" y="0"/>
                  </a:lnTo>
                  <a:lnTo>
                    <a:pt x="566425" y="566426"/>
                  </a:lnTo>
                  <a:lnTo>
                    <a:pt x="0" y="56642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60" id="60"/>
            <p:cNvGrpSpPr/>
            <p:nvPr/>
          </p:nvGrpSpPr>
          <p:grpSpPr>
            <a:xfrm rot="0">
              <a:off x="5826488" y="5520459"/>
              <a:ext cx="2571728" cy="2208134"/>
              <a:chOff x="0" y="0"/>
              <a:chExt cx="1060902" cy="910910"/>
            </a:xfrm>
          </p:grpSpPr>
          <p:sp>
            <p:nvSpPr>
              <p:cNvPr name="Freeform 61" id="61"/>
              <p:cNvSpPr/>
              <p:nvPr/>
            </p:nvSpPr>
            <p:spPr>
              <a:xfrm flipH="false" flipV="false" rot="0">
                <a:off x="0" y="0"/>
                <a:ext cx="1060902" cy="910910"/>
              </a:xfrm>
              <a:custGeom>
                <a:avLst/>
                <a:gdLst/>
                <a:ahLst/>
                <a:cxnLst/>
                <a:rect r="r" b="b" t="t" l="l"/>
                <a:pathLst>
                  <a:path h="910910" w="1060902">
                    <a:moveTo>
                      <a:pt x="72249" y="0"/>
                    </a:moveTo>
                    <a:lnTo>
                      <a:pt x="988652" y="0"/>
                    </a:lnTo>
                    <a:cubicBezTo>
                      <a:pt x="1028555" y="0"/>
                      <a:pt x="1060902" y="32347"/>
                      <a:pt x="1060902" y="72249"/>
                    </a:cubicBezTo>
                    <a:lnTo>
                      <a:pt x="1060902" y="838661"/>
                    </a:lnTo>
                    <a:cubicBezTo>
                      <a:pt x="1060902" y="878563"/>
                      <a:pt x="1028555" y="910910"/>
                      <a:pt x="988652" y="910910"/>
                    </a:cubicBezTo>
                    <a:lnTo>
                      <a:pt x="72249" y="910910"/>
                    </a:lnTo>
                    <a:cubicBezTo>
                      <a:pt x="32347" y="910910"/>
                      <a:pt x="0" y="878563"/>
                      <a:pt x="0" y="838661"/>
                    </a:cubicBezTo>
                    <a:lnTo>
                      <a:pt x="0" y="72249"/>
                    </a:lnTo>
                    <a:cubicBezTo>
                      <a:pt x="0" y="32347"/>
                      <a:pt x="32347" y="0"/>
                      <a:pt x="72249" y="0"/>
                    </a:cubicBezTo>
                    <a:close/>
                  </a:path>
                </a:pathLst>
              </a:custGeom>
              <a:solidFill>
                <a:srgbClr val="D9D9D9"/>
              </a:solidFill>
            </p:spPr>
          </p:sp>
          <p:sp>
            <p:nvSpPr>
              <p:cNvPr name="TextBox 62" id="62"/>
              <p:cNvSpPr txBox="true"/>
              <p:nvPr/>
            </p:nvSpPr>
            <p:spPr>
              <a:xfrm>
                <a:off x="0" y="-19050"/>
                <a:ext cx="1060902" cy="929960"/>
              </a:xfrm>
              <a:prstGeom prst="rect">
                <a:avLst/>
              </a:prstGeom>
            </p:spPr>
            <p:txBody>
              <a:bodyPr anchor="ctr" rtlCol="false" tIns="50800" lIns="50800" bIns="50800" rIns="50800"/>
              <a:lstStyle/>
              <a:p>
                <a:pPr algn="ctr">
                  <a:lnSpc>
                    <a:spcPts val="1328"/>
                  </a:lnSpc>
                </a:pPr>
              </a:p>
            </p:txBody>
          </p:sp>
        </p:grpSp>
        <p:sp>
          <p:nvSpPr>
            <p:cNvPr name="Freeform 63" id="63"/>
            <p:cNvSpPr/>
            <p:nvPr/>
          </p:nvSpPr>
          <p:spPr>
            <a:xfrm flipH="false" flipV="false" rot="0">
              <a:off x="5928076" y="5413626"/>
              <a:ext cx="1030814" cy="646836"/>
            </a:xfrm>
            <a:custGeom>
              <a:avLst/>
              <a:gdLst/>
              <a:ahLst/>
              <a:cxnLst/>
              <a:rect r="r" b="b" t="t" l="l"/>
              <a:pathLst>
                <a:path h="646836" w="1030814">
                  <a:moveTo>
                    <a:pt x="0" y="0"/>
                  </a:moveTo>
                  <a:lnTo>
                    <a:pt x="1030814" y="0"/>
                  </a:lnTo>
                  <a:lnTo>
                    <a:pt x="1030814" y="646836"/>
                  </a:lnTo>
                  <a:lnTo>
                    <a:pt x="0" y="64683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64" id="64"/>
            <p:cNvSpPr/>
            <p:nvPr/>
          </p:nvSpPr>
          <p:spPr>
            <a:xfrm flipH="false" flipV="false" rot="0">
              <a:off x="6896565" y="6102566"/>
              <a:ext cx="566426" cy="566426"/>
            </a:xfrm>
            <a:custGeom>
              <a:avLst/>
              <a:gdLst/>
              <a:ahLst/>
              <a:cxnLst/>
              <a:rect r="r" b="b" t="t" l="l"/>
              <a:pathLst>
                <a:path h="566426" w="566426">
                  <a:moveTo>
                    <a:pt x="0" y="0"/>
                  </a:moveTo>
                  <a:lnTo>
                    <a:pt x="566426" y="0"/>
                  </a:lnTo>
                  <a:lnTo>
                    <a:pt x="566426" y="566426"/>
                  </a:lnTo>
                  <a:lnTo>
                    <a:pt x="0" y="56642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65" id="65"/>
            <p:cNvSpPr/>
            <p:nvPr/>
          </p:nvSpPr>
          <p:spPr>
            <a:xfrm flipH="false" flipV="false" rot="0">
              <a:off x="2390523" y="6120982"/>
              <a:ext cx="566426" cy="566426"/>
            </a:xfrm>
            <a:custGeom>
              <a:avLst/>
              <a:gdLst/>
              <a:ahLst/>
              <a:cxnLst/>
              <a:rect r="r" b="b" t="t" l="l"/>
              <a:pathLst>
                <a:path h="566426" w="566426">
                  <a:moveTo>
                    <a:pt x="0" y="0"/>
                  </a:moveTo>
                  <a:lnTo>
                    <a:pt x="566426" y="0"/>
                  </a:lnTo>
                  <a:lnTo>
                    <a:pt x="566426" y="566426"/>
                  </a:lnTo>
                  <a:lnTo>
                    <a:pt x="0" y="56642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66" id="66"/>
            <p:cNvSpPr/>
            <p:nvPr/>
          </p:nvSpPr>
          <p:spPr>
            <a:xfrm flipH="false" flipV="false" rot="0">
              <a:off x="3245348" y="6133682"/>
              <a:ext cx="566426" cy="566426"/>
            </a:xfrm>
            <a:custGeom>
              <a:avLst/>
              <a:gdLst/>
              <a:ahLst/>
              <a:cxnLst/>
              <a:rect r="r" b="b" t="t" l="l"/>
              <a:pathLst>
                <a:path h="566426" w="566426">
                  <a:moveTo>
                    <a:pt x="0" y="0"/>
                  </a:moveTo>
                  <a:lnTo>
                    <a:pt x="566425" y="0"/>
                  </a:lnTo>
                  <a:lnTo>
                    <a:pt x="566425" y="566426"/>
                  </a:lnTo>
                  <a:lnTo>
                    <a:pt x="0" y="56642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67" id="67"/>
            <p:cNvSpPr/>
            <p:nvPr/>
          </p:nvSpPr>
          <p:spPr>
            <a:xfrm flipH="false" flipV="false" rot="0">
              <a:off x="4252652" y="6133682"/>
              <a:ext cx="566426" cy="566426"/>
            </a:xfrm>
            <a:custGeom>
              <a:avLst/>
              <a:gdLst/>
              <a:ahLst/>
              <a:cxnLst/>
              <a:rect r="r" b="b" t="t" l="l"/>
              <a:pathLst>
                <a:path h="566426" w="566426">
                  <a:moveTo>
                    <a:pt x="0" y="0"/>
                  </a:moveTo>
                  <a:lnTo>
                    <a:pt x="566425" y="0"/>
                  </a:lnTo>
                  <a:lnTo>
                    <a:pt x="566425" y="566426"/>
                  </a:lnTo>
                  <a:lnTo>
                    <a:pt x="0" y="56642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68" id="68"/>
            <p:cNvGrpSpPr/>
            <p:nvPr/>
          </p:nvGrpSpPr>
          <p:grpSpPr>
            <a:xfrm rot="0">
              <a:off x="2592200" y="8218784"/>
              <a:ext cx="4395975" cy="1230981"/>
              <a:chOff x="0" y="0"/>
              <a:chExt cx="1813449" cy="507810"/>
            </a:xfrm>
          </p:grpSpPr>
          <p:sp>
            <p:nvSpPr>
              <p:cNvPr name="Freeform 69" id="69"/>
              <p:cNvSpPr/>
              <p:nvPr/>
            </p:nvSpPr>
            <p:spPr>
              <a:xfrm flipH="false" flipV="false" rot="0">
                <a:off x="0" y="0"/>
                <a:ext cx="1813449" cy="507810"/>
              </a:xfrm>
              <a:custGeom>
                <a:avLst/>
                <a:gdLst/>
                <a:ahLst/>
                <a:cxnLst/>
                <a:rect r="r" b="b" t="t" l="l"/>
                <a:pathLst>
                  <a:path h="507810" w="1813449">
                    <a:moveTo>
                      <a:pt x="42267" y="0"/>
                    </a:moveTo>
                    <a:lnTo>
                      <a:pt x="1771181" y="0"/>
                    </a:lnTo>
                    <a:cubicBezTo>
                      <a:pt x="1782391" y="0"/>
                      <a:pt x="1793142" y="4453"/>
                      <a:pt x="1801069" y="12380"/>
                    </a:cubicBezTo>
                    <a:cubicBezTo>
                      <a:pt x="1808996" y="20306"/>
                      <a:pt x="1813449" y="31057"/>
                      <a:pt x="1813449" y="42267"/>
                    </a:cubicBezTo>
                    <a:lnTo>
                      <a:pt x="1813449" y="465543"/>
                    </a:lnTo>
                    <a:cubicBezTo>
                      <a:pt x="1813449" y="488886"/>
                      <a:pt x="1794525" y="507810"/>
                      <a:pt x="1771181" y="507810"/>
                    </a:cubicBezTo>
                    <a:lnTo>
                      <a:pt x="42267" y="507810"/>
                    </a:lnTo>
                    <a:cubicBezTo>
                      <a:pt x="31057" y="507810"/>
                      <a:pt x="20306" y="503357"/>
                      <a:pt x="12380" y="495430"/>
                    </a:cubicBezTo>
                    <a:cubicBezTo>
                      <a:pt x="4453" y="487504"/>
                      <a:pt x="0" y="476753"/>
                      <a:pt x="0" y="465543"/>
                    </a:cubicBezTo>
                    <a:lnTo>
                      <a:pt x="0" y="42267"/>
                    </a:lnTo>
                    <a:cubicBezTo>
                      <a:pt x="0" y="31057"/>
                      <a:pt x="4453" y="20306"/>
                      <a:pt x="12380" y="12380"/>
                    </a:cubicBezTo>
                    <a:cubicBezTo>
                      <a:pt x="20306" y="4453"/>
                      <a:pt x="31057" y="0"/>
                      <a:pt x="42267" y="0"/>
                    </a:cubicBezTo>
                    <a:close/>
                  </a:path>
                </a:pathLst>
              </a:custGeom>
              <a:solidFill>
                <a:srgbClr val="D9D9D9"/>
              </a:solidFill>
            </p:spPr>
          </p:sp>
          <p:sp>
            <p:nvSpPr>
              <p:cNvPr name="TextBox 70" id="70"/>
              <p:cNvSpPr txBox="true"/>
              <p:nvPr/>
            </p:nvSpPr>
            <p:spPr>
              <a:xfrm>
                <a:off x="0" y="-19050"/>
                <a:ext cx="1813449" cy="526860"/>
              </a:xfrm>
              <a:prstGeom prst="rect">
                <a:avLst/>
              </a:prstGeom>
            </p:spPr>
            <p:txBody>
              <a:bodyPr anchor="ctr" rtlCol="false" tIns="50800" lIns="50800" bIns="50800" rIns="50800"/>
              <a:lstStyle/>
              <a:p>
                <a:pPr algn="ctr">
                  <a:lnSpc>
                    <a:spcPts val="1328"/>
                  </a:lnSpc>
                </a:pPr>
              </a:p>
            </p:txBody>
          </p:sp>
        </p:grpSp>
        <p:sp>
          <p:nvSpPr>
            <p:cNvPr name="Freeform 71" id="71"/>
            <p:cNvSpPr/>
            <p:nvPr/>
          </p:nvSpPr>
          <p:spPr>
            <a:xfrm flipH="false" flipV="false" rot="0">
              <a:off x="2693788" y="8111950"/>
              <a:ext cx="1030814" cy="646836"/>
            </a:xfrm>
            <a:custGeom>
              <a:avLst/>
              <a:gdLst/>
              <a:ahLst/>
              <a:cxnLst/>
              <a:rect r="r" b="b" t="t" l="l"/>
              <a:pathLst>
                <a:path h="646836" w="1030814">
                  <a:moveTo>
                    <a:pt x="0" y="0"/>
                  </a:moveTo>
                  <a:lnTo>
                    <a:pt x="1030814" y="0"/>
                  </a:lnTo>
                  <a:lnTo>
                    <a:pt x="1030814" y="646836"/>
                  </a:lnTo>
                  <a:lnTo>
                    <a:pt x="0" y="64683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72" id="72"/>
            <p:cNvSpPr/>
            <p:nvPr/>
          </p:nvSpPr>
          <p:spPr>
            <a:xfrm flipH="false" flipV="false" rot="0">
              <a:off x="5687024" y="8229310"/>
              <a:ext cx="566426" cy="566426"/>
            </a:xfrm>
            <a:custGeom>
              <a:avLst/>
              <a:gdLst/>
              <a:ahLst/>
              <a:cxnLst/>
              <a:rect r="r" b="b" t="t" l="l"/>
              <a:pathLst>
                <a:path h="566426" w="566426">
                  <a:moveTo>
                    <a:pt x="0" y="0"/>
                  </a:moveTo>
                  <a:lnTo>
                    <a:pt x="566425" y="0"/>
                  </a:lnTo>
                  <a:lnTo>
                    <a:pt x="566425" y="566426"/>
                  </a:lnTo>
                  <a:lnTo>
                    <a:pt x="0" y="56642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73" id="73"/>
            <p:cNvGrpSpPr/>
            <p:nvPr/>
          </p:nvGrpSpPr>
          <p:grpSpPr>
            <a:xfrm rot="0">
              <a:off x="4557053" y="838348"/>
              <a:ext cx="639658" cy="639658"/>
              <a:chOff x="0" y="0"/>
              <a:chExt cx="812800" cy="812800"/>
            </a:xfrm>
          </p:grpSpPr>
          <p:sp>
            <p:nvSpPr>
              <p:cNvPr name="Freeform 74" id="74"/>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FFFAEF"/>
              </a:solidFill>
            </p:spPr>
          </p:sp>
          <p:sp>
            <p:nvSpPr>
              <p:cNvPr name="TextBox 75" id="75"/>
              <p:cNvSpPr txBox="true"/>
              <p:nvPr/>
            </p:nvSpPr>
            <p:spPr>
              <a:xfrm>
                <a:off x="0" y="222250"/>
                <a:ext cx="711200" cy="387350"/>
              </a:xfrm>
              <a:prstGeom prst="rect">
                <a:avLst/>
              </a:prstGeom>
            </p:spPr>
            <p:txBody>
              <a:bodyPr anchor="ctr" rtlCol="false" tIns="50800" lIns="50800" bIns="50800" rIns="50800"/>
              <a:lstStyle/>
              <a:p>
                <a:pPr algn="ctr">
                  <a:lnSpc>
                    <a:spcPts val="1100"/>
                  </a:lnSpc>
                </a:pPr>
              </a:p>
            </p:txBody>
          </p:sp>
        </p:grpSp>
        <p:sp>
          <p:nvSpPr>
            <p:cNvPr name="TextBox 76" id="76"/>
            <p:cNvSpPr txBox="true"/>
            <p:nvPr/>
          </p:nvSpPr>
          <p:spPr>
            <a:xfrm rot="0">
              <a:off x="976621" y="57616"/>
              <a:ext cx="440770" cy="485369"/>
            </a:xfrm>
            <a:prstGeom prst="rect">
              <a:avLst/>
            </a:prstGeom>
          </p:spPr>
          <p:txBody>
            <a:bodyPr anchor="t" rtlCol="false" tIns="0" lIns="0" bIns="0" rIns="0">
              <a:spAutoFit/>
            </a:bodyPr>
            <a:lstStyle/>
            <a:p>
              <a:pPr algn="ctr">
                <a:lnSpc>
                  <a:spcPts val="2637"/>
                </a:lnSpc>
              </a:pPr>
              <a:r>
                <a:rPr lang="en-US" b="true" sz="1884">
                  <a:solidFill>
                    <a:srgbClr val="0E0763"/>
                  </a:solidFill>
                  <a:latin typeface="Mont Bold"/>
                  <a:ea typeface="Mont Bold"/>
                  <a:cs typeface="Mont Bold"/>
                  <a:sym typeface="Mont Bold"/>
                </a:rPr>
                <a:t>1.</a:t>
              </a:r>
            </a:p>
          </p:txBody>
        </p:sp>
        <p:sp>
          <p:nvSpPr>
            <p:cNvPr name="TextBox 77" id="77"/>
            <p:cNvSpPr txBox="true"/>
            <p:nvPr/>
          </p:nvSpPr>
          <p:spPr>
            <a:xfrm rot="0">
              <a:off x="1688525" y="194869"/>
              <a:ext cx="2508069" cy="296587"/>
            </a:xfrm>
            <a:prstGeom prst="rect">
              <a:avLst/>
            </a:prstGeom>
          </p:spPr>
          <p:txBody>
            <a:bodyPr anchor="t" rtlCol="false" tIns="0" lIns="0" bIns="0" rIns="0">
              <a:spAutoFit/>
            </a:bodyPr>
            <a:lstStyle/>
            <a:p>
              <a:pPr algn="l">
                <a:lnSpc>
                  <a:spcPts val="1316"/>
                </a:lnSpc>
              </a:pPr>
              <a:r>
                <a:rPr lang="en-US" sz="1400" b="true">
                  <a:solidFill>
                    <a:srgbClr val="0E0763"/>
                  </a:solidFill>
                  <a:latin typeface="Mont Bold"/>
                  <a:ea typeface="Mont Bold"/>
                  <a:cs typeface="Mont Bold"/>
                  <a:sym typeface="Mont Bold"/>
                </a:rPr>
                <a:t>Persiapan</a:t>
              </a:r>
            </a:p>
          </p:txBody>
        </p:sp>
        <p:sp>
          <p:nvSpPr>
            <p:cNvPr name="TextBox 78" id="78"/>
            <p:cNvSpPr txBox="true"/>
            <p:nvPr/>
          </p:nvSpPr>
          <p:spPr>
            <a:xfrm rot="0">
              <a:off x="5656708" y="-72732"/>
              <a:ext cx="440770" cy="485468"/>
            </a:xfrm>
            <a:prstGeom prst="rect">
              <a:avLst/>
            </a:prstGeom>
          </p:spPr>
          <p:txBody>
            <a:bodyPr anchor="t" rtlCol="false" tIns="0" lIns="0" bIns="0" rIns="0">
              <a:spAutoFit/>
            </a:bodyPr>
            <a:lstStyle/>
            <a:p>
              <a:pPr algn="ctr">
                <a:lnSpc>
                  <a:spcPts val="2637"/>
                </a:lnSpc>
              </a:pPr>
              <a:r>
                <a:rPr lang="en-US" sz="1884" b="true">
                  <a:solidFill>
                    <a:srgbClr val="0E0763"/>
                  </a:solidFill>
                  <a:latin typeface="Mont Bold"/>
                  <a:ea typeface="Mont Bold"/>
                  <a:cs typeface="Mont Bold"/>
                  <a:sym typeface="Mont Bold"/>
                </a:rPr>
                <a:t>2</a:t>
              </a:r>
              <a:r>
                <a:rPr lang="en-US" b="true" sz="1884">
                  <a:solidFill>
                    <a:srgbClr val="0E0763"/>
                  </a:solidFill>
                  <a:latin typeface="Mont Bold"/>
                  <a:ea typeface="Mont Bold"/>
                  <a:cs typeface="Mont Bold"/>
                  <a:sym typeface="Mont Bold"/>
                </a:rPr>
                <a:t>.</a:t>
              </a:r>
            </a:p>
          </p:txBody>
        </p:sp>
        <p:sp>
          <p:nvSpPr>
            <p:cNvPr name="TextBox 79" id="79"/>
            <p:cNvSpPr txBox="true"/>
            <p:nvPr/>
          </p:nvSpPr>
          <p:spPr>
            <a:xfrm rot="0">
              <a:off x="6347665" y="194869"/>
              <a:ext cx="2744188" cy="512487"/>
            </a:xfrm>
            <a:prstGeom prst="rect">
              <a:avLst/>
            </a:prstGeom>
          </p:spPr>
          <p:txBody>
            <a:bodyPr anchor="t" rtlCol="false" tIns="0" lIns="0" bIns="0" rIns="0">
              <a:spAutoFit/>
            </a:bodyPr>
            <a:lstStyle/>
            <a:p>
              <a:pPr algn="l">
                <a:lnSpc>
                  <a:spcPts val="1316"/>
                </a:lnSpc>
              </a:pPr>
              <a:r>
                <a:rPr lang="en-US" sz="1400" b="true">
                  <a:solidFill>
                    <a:srgbClr val="0E0763"/>
                  </a:solidFill>
                  <a:latin typeface="Mont Bold"/>
                  <a:ea typeface="Mont Bold"/>
                  <a:cs typeface="Mont Bold"/>
                  <a:sym typeface="Mont Bold"/>
                </a:rPr>
                <a:t>Sosialisasi &amp; Seleksi Peserta</a:t>
              </a:r>
            </a:p>
          </p:txBody>
        </p:sp>
        <p:sp>
          <p:nvSpPr>
            <p:cNvPr name="TextBox 80" id="80"/>
            <p:cNvSpPr txBox="true"/>
            <p:nvPr/>
          </p:nvSpPr>
          <p:spPr>
            <a:xfrm rot="0">
              <a:off x="447554" y="1422219"/>
              <a:ext cx="1032970" cy="293103"/>
            </a:xfrm>
            <a:prstGeom prst="rect">
              <a:avLst/>
            </a:prstGeom>
          </p:spPr>
          <p:txBody>
            <a:bodyPr anchor="t" rtlCol="false" tIns="0" lIns="0" bIns="0" rIns="0">
              <a:spAutoFit/>
            </a:bodyPr>
            <a:lstStyle/>
            <a:p>
              <a:pPr algn="ctr">
                <a:lnSpc>
                  <a:spcPts val="752"/>
                </a:lnSpc>
              </a:pPr>
              <a:r>
                <a:rPr lang="en-US" b="true" sz="800">
                  <a:solidFill>
                    <a:srgbClr val="0E0763"/>
                  </a:solidFill>
                  <a:latin typeface="Mont Bold"/>
                  <a:ea typeface="Mont Bold"/>
                  <a:cs typeface="Mont Bold"/>
                  <a:sym typeface="Mont Bold"/>
                </a:rPr>
                <a:t>Pembahasan Kurikulum</a:t>
              </a:r>
            </a:p>
          </p:txBody>
        </p:sp>
        <p:sp>
          <p:nvSpPr>
            <p:cNvPr name="TextBox 81" id="81"/>
            <p:cNvSpPr txBox="true"/>
            <p:nvPr/>
          </p:nvSpPr>
          <p:spPr>
            <a:xfrm rot="0">
              <a:off x="1474282" y="1408040"/>
              <a:ext cx="1009124" cy="293103"/>
            </a:xfrm>
            <a:prstGeom prst="rect">
              <a:avLst/>
            </a:prstGeom>
          </p:spPr>
          <p:txBody>
            <a:bodyPr anchor="t" rtlCol="false" tIns="0" lIns="0" bIns="0" rIns="0">
              <a:spAutoFit/>
            </a:bodyPr>
            <a:lstStyle/>
            <a:p>
              <a:pPr algn="ctr">
                <a:lnSpc>
                  <a:spcPts val="752"/>
                </a:lnSpc>
              </a:pPr>
              <a:r>
                <a:rPr lang="en-US" sz="800" b="true">
                  <a:solidFill>
                    <a:srgbClr val="0E0763"/>
                  </a:solidFill>
                  <a:latin typeface="Mont Bold"/>
                  <a:ea typeface="Mont Bold"/>
                  <a:cs typeface="Mont Bold"/>
                  <a:sym typeface="Mont Bold"/>
                </a:rPr>
                <a:t>Penetapan Tim</a:t>
              </a:r>
            </a:p>
          </p:txBody>
        </p:sp>
        <p:sp>
          <p:nvSpPr>
            <p:cNvPr name="TextBox 82" id="82"/>
            <p:cNvSpPr txBox="true"/>
            <p:nvPr/>
          </p:nvSpPr>
          <p:spPr>
            <a:xfrm rot="0">
              <a:off x="2483405" y="1422219"/>
              <a:ext cx="995896" cy="293103"/>
            </a:xfrm>
            <a:prstGeom prst="rect">
              <a:avLst/>
            </a:prstGeom>
          </p:spPr>
          <p:txBody>
            <a:bodyPr anchor="t" rtlCol="false" tIns="0" lIns="0" bIns="0" rIns="0">
              <a:spAutoFit/>
            </a:bodyPr>
            <a:lstStyle/>
            <a:p>
              <a:pPr algn="ctr">
                <a:lnSpc>
                  <a:spcPts val="752"/>
                </a:lnSpc>
              </a:pPr>
              <a:r>
                <a:rPr lang="en-US" sz="800" b="true">
                  <a:solidFill>
                    <a:srgbClr val="0E0763"/>
                  </a:solidFill>
                  <a:latin typeface="Mont Bold"/>
                  <a:ea typeface="Mont Bold"/>
                  <a:cs typeface="Mont Bold"/>
                  <a:sym typeface="Mont Bold"/>
                </a:rPr>
                <a:t>Koordinasi Pemda</a:t>
              </a:r>
            </a:p>
          </p:txBody>
        </p:sp>
        <p:sp>
          <p:nvSpPr>
            <p:cNvPr name="TextBox 83" id="83"/>
            <p:cNvSpPr txBox="true"/>
            <p:nvPr/>
          </p:nvSpPr>
          <p:spPr>
            <a:xfrm rot="0">
              <a:off x="7997054" y="1262836"/>
              <a:ext cx="1105707" cy="293103"/>
            </a:xfrm>
            <a:prstGeom prst="rect">
              <a:avLst/>
            </a:prstGeom>
          </p:spPr>
          <p:txBody>
            <a:bodyPr anchor="t" rtlCol="false" tIns="0" lIns="0" bIns="0" rIns="0">
              <a:spAutoFit/>
            </a:bodyPr>
            <a:lstStyle/>
            <a:p>
              <a:pPr algn="ctr">
                <a:lnSpc>
                  <a:spcPts val="752"/>
                </a:lnSpc>
              </a:pPr>
              <a:r>
                <a:rPr lang="en-US" sz="800" b="true">
                  <a:solidFill>
                    <a:srgbClr val="0E0763"/>
                  </a:solidFill>
                  <a:latin typeface="Mont Bold"/>
                  <a:ea typeface="Mont Bold"/>
                  <a:cs typeface="Mont Bold"/>
                  <a:sym typeface="Mont Bold"/>
                </a:rPr>
                <a:t>Penetapan Peserta</a:t>
              </a:r>
            </a:p>
          </p:txBody>
        </p:sp>
        <p:sp>
          <p:nvSpPr>
            <p:cNvPr name="TextBox 84" id="84"/>
            <p:cNvSpPr txBox="true"/>
            <p:nvPr/>
          </p:nvSpPr>
          <p:spPr>
            <a:xfrm rot="0">
              <a:off x="6714550" y="1295508"/>
              <a:ext cx="1012542" cy="417281"/>
            </a:xfrm>
            <a:prstGeom prst="rect">
              <a:avLst/>
            </a:prstGeom>
          </p:spPr>
          <p:txBody>
            <a:bodyPr anchor="t" rtlCol="false" tIns="0" lIns="0" bIns="0" rIns="0">
              <a:spAutoFit/>
            </a:bodyPr>
            <a:lstStyle/>
            <a:p>
              <a:pPr algn="ctr">
                <a:lnSpc>
                  <a:spcPts val="752"/>
                </a:lnSpc>
              </a:pPr>
              <a:r>
                <a:rPr lang="en-US" sz="800" b="true">
                  <a:solidFill>
                    <a:srgbClr val="0E0763"/>
                  </a:solidFill>
                  <a:latin typeface="Mont Bold"/>
                  <a:ea typeface="Mont Bold"/>
                  <a:cs typeface="Mont Bold"/>
                  <a:sym typeface="Mont Bold"/>
                </a:rPr>
                <a:t>Pengumpulan dan Valisasi Data</a:t>
              </a:r>
            </a:p>
          </p:txBody>
        </p:sp>
        <p:sp>
          <p:nvSpPr>
            <p:cNvPr name="TextBox 85" id="85"/>
            <p:cNvSpPr txBox="true"/>
            <p:nvPr/>
          </p:nvSpPr>
          <p:spPr>
            <a:xfrm rot="0">
              <a:off x="5458608" y="1262836"/>
              <a:ext cx="985980" cy="293103"/>
            </a:xfrm>
            <a:prstGeom prst="rect">
              <a:avLst/>
            </a:prstGeom>
          </p:spPr>
          <p:txBody>
            <a:bodyPr anchor="t" rtlCol="false" tIns="0" lIns="0" bIns="0" rIns="0">
              <a:spAutoFit/>
            </a:bodyPr>
            <a:lstStyle/>
            <a:p>
              <a:pPr algn="ctr">
                <a:lnSpc>
                  <a:spcPts val="752"/>
                </a:lnSpc>
              </a:pPr>
              <a:r>
                <a:rPr lang="en-US" sz="800" b="true">
                  <a:solidFill>
                    <a:srgbClr val="0E0763"/>
                  </a:solidFill>
                  <a:latin typeface="Mont Bold"/>
                  <a:ea typeface="Mont Bold"/>
                  <a:cs typeface="Mont Bold"/>
                  <a:sym typeface="Mont Bold"/>
                </a:rPr>
                <a:t>Penyebaran Informasi</a:t>
              </a:r>
            </a:p>
          </p:txBody>
        </p:sp>
        <p:sp>
          <p:nvSpPr>
            <p:cNvPr name="TextBox 86" id="86"/>
            <p:cNvSpPr txBox="true"/>
            <p:nvPr/>
          </p:nvSpPr>
          <p:spPr>
            <a:xfrm rot="0">
              <a:off x="506162" y="1810396"/>
              <a:ext cx="3815825" cy="172579"/>
            </a:xfrm>
            <a:prstGeom prst="rect">
              <a:avLst/>
            </a:prstGeom>
          </p:spPr>
          <p:txBody>
            <a:bodyPr anchor="t" rtlCol="false" tIns="0" lIns="0" bIns="0" rIns="0">
              <a:spAutoFit/>
            </a:bodyPr>
            <a:lstStyle/>
            <a:p>
              <a:pPr algn="ctr">
                <a:lnSpc>
                  <a:spcPts val="1120"/>
                </a:lnSpc>
              </a:pPr>
              <a:r>
                <a:rPr lang="en-US" sz="800">
                  <a:solidFill>
                    <a:srgbClr val="000000"/>
                  </a:solidFill>
                  <a:latin typeface="Nunito"/>
                  <a:ea typeface="Nunito"/>
                  <a:cs typeface="Nunito"/>
                  <a:sym typeface="Nunito"/>
                </a:rPr>
                <a:t>Dokumen kurikulum, Modul, SK Tim, Dokumen Kerjasama</a:t>
              </a:r>
            </a:p>
          </p:txBody>
        </p:sp>
        <p:sp>
          <p:nvSpPr>
            <p:cNvPr name="TextBox 87" id="87"/>
            <p:cNvSpPr txBox="true"/>
            <p:nvPr/>
          </p:nvSpPr>
          <p:spPr>
            <a:xfrm rot="0">
              <a:off x="5421377" y="1810396"/>
              <a:ext cx="3641243" cy="172579"/>
            </a:xfrm>
            <a:prstGeom prst="rect">
              <a:avLst/>
            </a:prstGeom>
          </p:spPr>
          <p:txBody>
            <a:bodyPr anchor="t" rtlCol="false" tIns="0" lIns="0" bIns="0" rIns="0">
              <a:spAutoFit/>
            </a:bodyPr>
            <a:lstStyle/>
            <a:p>
              <a:pPr algn="ctr">
                <a:lnSpc>
                  <a:spcPts val="1120"/>
                </a:lnSpc>
              </a:pPr>
              <a:r>
                <a:rPr lang="en-US" sz="800">
                  <a:solidFill>
                    <a:srgbClr val="000000"/>
                  </a:solidFill>
                  <a:latin typeface="Nunito"/>
                  <a:ea typeface="Nunito"/>
                  <a:cs typeface="Nunito"/>
                  <a:sym typeface="Nunito"/>
                </a:rPr>
                <a:t>#Data 3000 Pendaftar</a:t>
              </a:r>
            </a:p>
          </p:txBody>
        </p:sp>
        <p:sp>
          <p:nvSpPr>
            <p:cNvPr name="TextBox 88" id="88"/>
            <p:cNvSpPr txBox="true"/>
            <p:nvPr/>
          </p:nvSpPr>
          <p:spPr>
            <a:xfrm rot="0">
              <a:off x="3442661" y="1434743"/>
              <a:ext cx="995896" cy="293103"/>
            </a:xfrm>
            <a:prstGeom prst="rect">
              <a:avLst/>
            </a:prstGeom>
          </p:spPr>
          <p:txBody>
            <a:bodyPr anchor="t" rtlCol="false" tIns="0" lIns="0" bIns="0" rIns="0">
              <a:spAutoFit/>
            </a:bodyPr>
            <a:lstStyle/>
            <a:p>
              <a:pPr algn="ctr">
                <a:lnSpc>
                  <a:spcPts val="752"/>
                </a:lnSpc>
              </a:pPr>
              <a:r>
                <a:rPr lang="en-US" sz="800" b="true">
                  <a:solidFill>
                    <a:srgbClr val="0E0763"/>
                  </a:solidFill>
                  <a:latin typeface="Mont Bold"/>
                  <a:ea typeface="Mont Bold"/>
                  <a:cs typeface="Mont Bold"/>
                  <a:sym typeface="Mont Bold"/>
                </a:rPr>
                <a:t>Penyusunan Instrumen</a:t>
              </a:r>
            </a:p>
          </p:txBody>
        </p:sp>
        <p:sp>
          <p:nvSpPr>
            <p:cNvPr name="TextBox 89" id="89"/>
            <p:cNvSpPr txBox="true"/>
            <p:nvPr/>
          </p:nvSpPr>
          <p:spPr>
            <a:xfrm rot="0">
              <a:off x="6288629" y="2744623"/>
              <a:ext cx="440770" cy="485468"/>
            </a:xfrm>
            <a:prstGeom prst="rect">
              <a:avLst/>
            </a:prstGeom>
          </p:spPr>
          <p:txBody>
            <a:bodyPr anchor="t" rtlCol="false" tIns="0" lIns="0" bIns="0" rIns="0">
              <a:spAutoFit/>
            </a:bodyPr>
            <a:lstStyle/>
            <a:p>
              <a:pPr algn="ctr">
                <a:lnSpc>
                  <a:spcPts val="2637"/>
                </a:lnSpc>
              </a:pPr>
              <a:r>
                <a:rPr lang="en-US" sz="1884" b="true">
                  <a:solidFill>
                    <a:srgbClr val="0E0763"/>
                  </a:solidFill>
                  <a:latin typeface="Mont Bold"/>
                  <a:ea typeface="Mont Bold"/>
                  <a:cs typeface="Mont Bold"/>
                  <a:sym typeface="Mont Bold"/>
                </a:rPr>
                <a:t>3.</a:t>
              </a:r>
            </a:p>
          </p:txBody>
        </p:sp>
        <p:sp>
          <p:nvSpPr>
            <p:cNvPr name="TextBox 90" id="90"/>
            <p:cNvSpPr txBox="true"/>
            <p:nvPr/>
          </p:nvSpPr>
          <p:spPr>
            <a:xfrm rot="0">
              <a:off x="6988175" y="2881877"/>
              <a:ext cx="2508069" cy="296587"/>
            </a:xfrm>
            <a:prstGeom prst="rect">
              <a:avLst/>
            </a:prstGeom>
          </p:spPr>
          <p:txBody>
            <a:bodyPr anchor="t" rtlCol="false" tIns="0" lIns="0" bIns="0" rIns="0">
              <a:spAutoFit/>
            </a:bodyPr>
            <a:lstStyle/>
            <a:p>
              <a:pPr algn="l">
                <a:lnSpc>
                  <a:spcPts val="1316"/>
                </a:lnSpc>
              </a:pPr>
              <a:r>
                <a:rPr lang="en-US" sz="1400" b="true">
                  <a:solidFill>
                    <a:srgbClr val="0E0763"/>
                  </a:solidFill>
                  <a:latin typeface="Mont Bold"/>
                  <a:ea typeface="Mont Bold"/>
                  <a:cs typeface="Mont Bold"/>
                  <a:sym typeface="Mont Bold"/>
                </a:rPr>
                <a:t>Sosialisasi</a:t>
              </a:r>
            </a:p>
          </p:txBody>
        </p:sp>
        <p:sp>
          <p:nvSpPr>
            <p:cNvPr name="TextBox 91" id="91"/>
            <p:cNvSpPr txBox="true"/>
            <p:nvPr/>
          </p:nvSpPr>
          <p:spPr>
            <a:xfrm rot="0">
              <a:off x="5863650" y="4029527"/>
              <a:ext cx="1032970" cy="293103"/>
            </a:xfrm>
            <a:prstGeom prst="rect">
              <a:avLst/>
            </a:prstGeom>
          </p:spPr>
          <p:txBody>
            <a:bodyPr anchor="t" rtlCol="false" tIns="0" lIns="0" bIns="0" rIns="0">
              <a:spAutoFit/>
            </a:bodyPr>
            <a:lstStyle/>
            <a:p>
              <a:pPr algn="ctr">
                <a:lnSpc>
                  <a:spcPts val="752"/>
                </a:lnSpc>
              </a:pPr>
              <a:r>
                <a:rPr lang="en-US" b="true" sz="800">
                  <a:solidFill>
                    <a:srgbClr val="0E0763"/>
                  </a:solidFill>
                  <a:latin typeface="Mont Bold"/>
                  <a:ea typeface="Mont Bold"/>
                  <a:cs typeface="Mont Bold"/>
                  <a:sym typeface="Mont Bold"/>
                </a:rPr>
                <a:t>Sosialisasi Daring</a:t>
              </a:r>
            </a:p>
          </p:txBody>
        </p:sp>
        <p:sp>
          <p:nvSpPr>
            <p:cNvPr name="TextBox 92" id="92"/>
            <p:cNvSpPr txBox="true"/>
            <p:nvPr/>
          </p:nvSpPr>
          <p:spPr>
            <a:xfrm rot="0">
              <a:off x="6752989" y="4021748"/>
              <a:ext cx="1009124" cy="293103"/>
            </a:xfrm>
            <a:prstGeom prst="rect">
              <a:avLst/>
            </a:prstGeom>
          </p:spPr>
          <p:txBody>
            <a:bodyPr anchor="t" rtlCol="false" tIns="0" lIns="0" bIns="0" rIns="0">
              <a:spAutoFit/>
            </a:bodyPr>
            <a:lstStyle/>
            <a:p>
              <a:pPr algn="ctr">
                <a:lnSpc>
                  <a:spcPts val="752"/>
                </a:lnSpc>
              </a:pPr>
              <a:r>
                <a:rPr lang="en-US" sz="800" b="true">
                  <a:solidFill>
                    <a:srgbClr val="0E0763"/>
                  </a:solidFill>
                  <a:latin typeface="Mont Bold"/>
                  <a:ea typeface="Mont Bold"/>
                  <a:cs typeface="Mont Bold"/>
                  <a:sym typeface="Mont Bold"/>
                </a:rPr>
                <a:t>Sosialisasi Luring</a:t>
              </a:r>
            </a:p>
          </p:txBody>
        </p:sp>
        <p:sp>
          <p:nvSpPr>
            <p:cNvPr name="TextBox 93" id="93"/>
            <p:cNvSpPr txBox="true"/>
            <p:nvPr/>
          </p:nvSpPr>
          <p:spPr>
            <a:xfrm rot="0">
              <a:off x="7758325" y="4021748"/>
              <a:ext cx="1629526" cy="417281"/>
            </a:xfrm>
            <a:prstGeom prst="rect">
              <a:avLst/>
            </a:prstGeom>
          </p:spPr>
          <p:txBody>
            <a:bodyPr anchor="t" rtlCol="false" tIns="0" lIns="0" bIns="0" rIns="0">
              <a:spAutoFit/>
            </a:bodyPr>
            <a:lstStyle/>
            <a:p>
              <a:pPr algn="ctr">
                <a:lnSpc>
                  <a:spcPts val="752"/>
                </a:lnSpc>
              </a:pPr>
              <a:r>
                <a:rPr lang="en-US" sz="800" b="true">
                  <a:solidFill>
                    <a:srgbClr val="0E0763"/>
                  </a:solidFill>
                  <a:latin typeface="Mont Bold"/>
                  <a:ea typeface="Mont Bold"/>
                  <a:cs typeface="Mont Bold"/>
                  <a:sym typeface="Mont Bold"/>
                </a:rPr>
                <a:t>Pengisian Asesmen dan Penandatanganan Komitmen</a:t>
              </a:r>
            </a:p>
          </p:txBody>
        </p:sp>
        <p:sp>
          <p:nvSpPr>
            <p:cNvPr name="TextBox 94" id="94"/>
            <p:cNvSpPr txBox="true"/>
            <p:nvPr/>
          </p:nvSpPr>
          <p:spPr>
            <a:xfrm rot="0">
              <a:off x="6008134" y="4456093"/>
              <a:ext cx="822122" cy="353202"/>
            </a:xfrm>
            <a:prstGeom prst="rect">
              <a:avLst/>
            </a:prstGeom>
          </p:spPr>
          <p:txBody>
            <a:bodyPr anchor="t" rtlCol="false" tIns="0" lIns="0" bIns="0" rIns="0">
              <a:spAutoFit/>
            </a:bodyPr>
            <a:lstStyle/>
            <a:p>
              <a:pPr algn="ctr">
                <a:lnSpc>
                  <a:spcPts val="1120"/>
                </a:lnSpc>
              </a:pPr>
              <a:r>
                <a:rPr lang="en-US" sz="800">
                  <a:solidFill>
                    <a:srgbClr val="000000"/>
                  </a:solidFill>
                  <a:latin typeface="Nunito"/>
                  <a:ea typeface="Nunito"/>
                  <a:cs typeface="Nunito"/>
                  <a:sym typeface="Nunito"/>
                </a:rPr>
                <a:t>#2000 Peserta</a:t>
              </a:r>
            </a:p>
          </p:txBody>
        </p:sp>
        <p:sp>
          <p:nvSpPr>
            <p:cNvPr name="TextBox 95" id="95"/>
            <p:cNvSpPr txBox="true"/>
            <p:nvPr/>
          </p:nvSpPr>
          <p:spPr>
            <a:xfrm rot="0">
              <a:off x="6896197" y="4454681"/>
              <a:ext cx="822122" cy="353202"/>
            </a:xfrm>
            <a:prstGeom prst="rect">
              <a:avLst/>
            </a:prstGeom>
          </p:spPr>
          <p:txBody>
            <a:bodyPr anchor="t" rtlCol="false" tIns="0" lIns="0" bIns="0" rIns="0">
              <a:spAutoFit/>
            </a:bodyPr>
            <a:lstStyle/>
            <a:p>
              <a:pPr algn="ctr">
                <a:lnSpc>
                  <a:spcPts val="1120"/>
                </a:lnSpc>
              </a:pPr>
              <a:r>
                <a:rPr lang="en-US" sz="800">
                  <a:solidFill>
                    <a:srgbClr val="000000"/>
                  </a:solidFill>
                  <a:latin typeface="Nunito"/>
                  <a:ea typeface="Nunito"/>
                  <a:cs typeface="Nunito"/>
                  <a:sym typeface="Nunito"/>
                </a:rPr>
                <a:t>#1000 Peserta</a:t>
              </a:r>
            </a:p>
          </p:txBody>
        </p:sp>
        <p:sp>
          <p:nvSpPr>
            <p:cNvPr name="TextBox 96" id="96"/>
            <p:cNvSpPr txBox="true"/>
            <p:nvPr/>
          </p:nvSpPr>
          <p:spPr>
            <a:xfrm rot="0">
              <a:off x="7687364" y="4521580"/>
              <a:ext cx="1753921" cy="172579"/>
            </a:xfrm>
            <a:prstGeom prst="rect">
              <a:avLst/>
            </a:prstGeom>
          </p:spPr>
          <p:txBody>
            <a:bodyPr anchor="t" rtlCol="false" tIns="0" lIns="0" bIns="0" rIns="0">
              <a:spAutoFit/>
            </a:bodyPr>
            <a:lstStyle/>
            <a:p>
              <a:pPr algn="ctr">
                <a:lnSpc>
                  <a:spcPts val="1120"/>
                </a:lnSpc>
              </a:pPr>
              <a:r>
                <a:rPr lang="en-US" sz="800">
                  <a:solidFill>
                    <a:srgbClr val="000000"/>
                  </a:solidFill>
                  <a:latin typeface="Nunito"/>
                  <a:ea typeface="Nunito"/>
                  <a:cs typeface="Nunito"/>
                  <a:sym typeface="Nunito"/>
                </a:rPr>
                <a:t>#1200 peserta</a:t>
              </a:r>
            </a:p>
          </p:txBody>
        </p:sp>
        <p:sp>
          <p:nvSpPr>
            <p:cNvPr name="TextBox 97" id="97"/>
            <p:cNvSpPr txBox="true"/>
            <p:nvPr/>
          </p:nvSpPr>
          <p:spPr>
            <a:xfrm rot="0">
              <a:off x="3318838" y="2731923"/>
              <a:ext cx="440770" cy="485468"/>
            </a:xfrm>
            <a:prstGeom prst="rect">
              <a:avLst/>
            </a:prstGeom>
          </p:spPr>
          <p:txBody>
            <a:bodyPr anchor="t" rtlCol="false" tIns="0" lIns="0" bIns="0" rIns="0">
              <a:spAutoFit/>
            </a:bodyPr>
            <a:lstStyle/>
            <a:p>
              <a:pPr algn="ctr">
                <a:lnSpc>
                  <a:spcPts val="2637"/>
                </a:lnSpc>
              </a:pPr>
              <a:r>
                <a:rPr lang="en-US" sz="1884" b="true">
                  <a:solidFill>
                    <a:srgbClr val="0E0763"/>
                  </a:solidFill>
                  <a:latin typeface="Mont Bold"/>
                  <a:ea typeface="Mont Bold"/>
                  <a:cs typeface="Mont Bold"/>
                  <a:sym typeface="Mont Bold"/>
                </a:rPr>
                <a:t>4.</a:t>
              </a:r>
            </a:p>
          </p:txBody>
        </p:sp>
        <p:sp>
          <p:nvSpPr>
            <p:cNvPr name="TextBox 98" id="98"/>
            <p:cNvSpPr txBox="true"/>
            <p:nvPr/>
          </p:nvSpPr>
          <p:spPr>
            <a:xfrm rot="0">
              <a:off x="3905967" y="2869177"/>
              <a:ext cx="1244275" cy="296587"/>
            </a:xfrm>
            <a:prstGeom prst="rect">
              <a:avLst/>
            </a:prstGeom>
          </p:spPr>
          <p:txBody>
            <a:bodyPr anchor="t" rtlCol="false" tIns="0" lIns="0" bIns="0" rIns="0">
              <a:spAutoFit/>
            </a:bodyPr>
            <a:lstStyle/>
            <a:p>
              <a:pPr algn="l">
                <a:lnSpc>
                  <a:spcPts val="1316"/>
                </a:lnSpc>
              </a:pPr>
              <a:r>
                <a:rPr lang="en-US" sz="1400" b="true">
                  <a:solidFill>
                    <a:srgbClr val="0E0763"/>
                  </a:solidFill>
                  <a:latin typeface="Mont Bold"/>
                  <a:ea typeface="Mont Bold"/>
                  <a:cs typeface="Mont Bold"/>
                  <a:sym typeface="Mont Bold"/>
                </a:rPr>
                <a:t>Workshop</a:t>
              </a:r>
            </a:p>
          </p:txBody>
        </p:sp>
        <p:sp>
          <p:nvSpPr>
            <p:cNvPr name="TextBox 99" id="99"/>
            <p:cNvSpPr txBox="true"/>
            <p:nvPr/>
          </p:nvSpPr>
          <p:spPr>
            <a:xfrm rot="0">
              <a:off x="3123064" y="4047148"/>
              <a:ext cx="1990818" cy="293103"/>
            </a:xfrm>
            <a:prstGeom prst="rect">
              <a:avLst/>
            </a:prstGeom>
          </p:spPr>
          <p:txBody>
            <a:bodyPr anchor="t" rtlCol="false" tIns="0" lIns="0" bIns="0" rIns="0">
              <a:spAutoFit/>
            </a:bodyPr>
            <a:lstStyle/>
            <a:p>
              <a:pPr algn="ctr">
                <a:lnSpc>
                  <a:spcPts val="752"/>
                </a:lnSpc>
              </a:pPr>
              <a:r>
                <a:rPr lang="en-US" b="true" sz="800">
                  <a:solidFill>
                    <a:srgbClr val="0E0763"/>
                  </a:solidFill>
                  <a:latin typeface="Mont Bold"/>
                  <a:ea typeface="Mont Bold"/>
                  <a:cs typeface="Mont Bold"/>
                  <a:sym typeface="Mont Bold"/>
                </a:rPr>
                <a:t>Lokakarya Luring Literasi Pengelolaan Keuangan</a:t>
              </a:r>
            </a:p>
          </p:txBody>
        </p:sp>
        <p:sp>
          <p:nvSpPr>
            <p:cNvPr name="TextBox 100" id="100"/>
            <p:cNvSpPr txBox="true"/>
            <p:nvPr/>
          </p:nvSpPr>
          <p:spPr>
            <a:xfrm rot="0">
              <a:off x="3083921" y="4521580"/>
              <a:ext cx="2118431" cy="172579"/>
            </a:xfrm>
            <a:prstGeom prst="rect">
              <a:avLst/>
            </a:prstGeom>
          </p:spPr>
          <p:txBody>
            <a:bodyPr anchor="t" rtlCol="false" tIns="0" lIns="0" bIns="0" rIns="0">
              <a:spAutoFit/>
            </a:bodyPr>
            <a:lstStyle/>
            <a:p>
              <a:pPr algn="ctr">
                <a:lnSpc>
                  <a:spcPts val="1120"/>
                </a:lnSpc>
              </a:pPr>
              <a:r>
                <a:rPr lang="en-US" sz="800">
                  <a:solidFill>
                    <a:srgbClr val="000000"/>
                  </a:solidFill>
                  <a:latin typeface="Nunito"/>
                  <a:ea typeface="Nunito"/>
                  <a:cs typeface="Nunito"/>
                  <a:sym typeface="Nunito"/>
                </a:rPr>
                <a:t>#200 Peserta</a:t>
              </a:r>
            </a:p>
          </p:txBody>
        </p:sp>
        <p:sp>
          <p:nvSpPr>
            <p:cNvPr name="TextBox 101" id="101"/>
            <p:cNvSpPr txBox="true"/>
            <p:nvPr/>
          </p:nvSpPr>
          <p:spPr>
            <a:xfrm rot="0">
              <a:off x="432856" y="2693823"/>
              <a:ext cx="440770" cy="485468"/>
            </a:xfrm>
            <a:prstGeom prst="rect">
              <a:avLst/>
            </a:prstGeom>
          </p:spPr>
          <p:txBody>
            <a:bodyPr anchor="t" rtlCol="false" tIns="0" lIns="0" bIns="0" rIns="0">
              <a:spAutoFit/>
            </a:bodyPr>
            <a:lstStyle/>
            <a:p>
              <a:pPr algn="ctr">
                <a:lnSpc>
                  <a:spcPts val="2637"/>
                </a:lnSpc>
              </a:pPr>
              <a:r>
                <a:rPr lang="en-US" sz="1884" b="true">
                  <a:solidFill>
                    <a:srgbClr val="0E0763"/>
                  </a:solidFill>
                  <a:latin typeface="Mont Bold"/>
                  <a:ea typeface="Mont Bold"/>
                  <a:cs typeface="Mont Bold"/>
                  <a:sym typeface="Mont Bold"/>
                </a:rPr>
                <a:t>5.</a:t>
              </a:r>
            </a:p>
          </p:txBody>
        </p:sp>
        <p:sp>
          <p:nvSpPr>
            <p:cNvPr name="TextBox 102" id="102"/>
            <p:cNvSpPr txBox="true"/>
            <p:nvPr/>
          </p:nvSpPr>
          <p:spPr>
            <a:xfrm rot="0">
              <a:off x="1019985" y="2831077"/>
              <a:ext cx="1244275" cy="512487"/>
            </a:xfrm>
            <a:prstGeom prst="rect">
              <a:avLst/>
            </a:prstGeom>
          </p:spPr>
          <p:txBody>
            <a:bodyPr anchor="t" rtlCol="false" tIns="0" lIns="0" bIns="0" rIns="0">
              <a:spAutoFit/>
            </a:bodyPr>
            <a:lstStyle/>
            <a:p>
              <a:pPr algn="l">
                <a:lnSpc>
                  <a:spcPts val="1316"/>
                </a:lnSpc>
              </a:pPr>
              <a:r>
                <a:rPr lang="en-US" sz="1400" b="true">
                  <a:solidFill>
                    <a:srgbClr val="0E0763"/>
                  </a:solidFill>
                  <a:latin typeface="Mont Bold"/>
                  <a:ea typeface="Mont Bold"/>
                  <a:cs typeface="Mont Bold"/>
                  <a:sym typeface="Mont Bold"/>
                </a:rPr>
                <a:t>Pelatihan Dasar</a:t>
              </a:r>
            </a:p>
          </p:txBody>
        </p:sp>
        <p:sp>
          <p:nvSpPr>
            <p:cNvPr name="TextBox 103" id="103"/>
            <p:cNvSpPr txBox="true"/>
            <p:nvPr/>
          </p:nvSpPr>
          <p:spPr>
            <a:xfrm rot="0">
              <a:off x="237081" y="4009048"/>
              <a:ext cx="1990818" cy="417281"/>
            </a:xfrm>
            <a:prstGeom prst="rect">
              <a:avLst/>
            </a:prstGeom>
          </p:spPr>
          <p:txBody>
            <a:bodyPr anchor="t" rtlCol="false" tIns="0" lIns="0" bIns="0" rIns="0">
              <a:spAutoFit/>
            </a:bodyPr>
            <a:lstStyle/>
            <a:p>
              <a:pPr algn="ctr">
                <a:lnSpc>
                  <a:spcPts val="752"/>
                </a:lnSpc>
              </a:pPr>
              <a:r>
                <a:rPr lang="en-US" b="true" sz="800">
                  <a:solidFill>
                    <a:srgbClr val="0E0763"/>
                  </a:solidFill>
                  <a:latin typeface="Mont Bold"/>
                  <a:ea typeface="Mont Bold"/>
                  <a:cs typeface="Mont Bold"/>
                  <a:sym typeface="Mont Bold"/>
                </a:rPr>
                <a:t>Pelatihan Manajemen Bisnis, Digitalsisasi, Integrasi QRIS</a:t>
              </a:r>
            </a:p>
          </p:txBody>
        </p:sp>
        <p:sp>
          <p:nvSpPr>
            <p:cNvPr name="TextBox 104" id="104"/>
            <p:cNvSpPr txBox="true"/>
            <p:nvPr/>
          </p:nvSpPr>
          <p:spPr>
            <a:xfrm rot="0">
              <a:off x="197938" y="4521580"/>
              <a:ext cx="2118431" cy="172579"/>
            </a:xfrm>
            <a:prstGeom prst="rect">
              <a:avLst/>
            </a:prstGeom>
          </p:spPr>
          <p:txBody>
            <a:bodyPr anchor="t" rtlCol="false" tIns="0" lIns="0" bIns="0" rIns="0">
              <a:spAutoFit/>
            </a:bodyPr>
            <a:lstStyle/>
            <a:p>
              <a:pPr algn="ctr">
                <a:lnSpc>
                  <a:spcPts val="1120"/>
                </a:lnSpc>
              </a:pPr>
              <a:r>
                <a:rPr lang="en-US" sz="800">
                  <a:solidFill>
                    <a:srgbClr val="000000"/>
                  </a:solidFill>
                  <a:latin typeface="Nunito"/>
                  <a:ea typeface="Nunito"/>
                  <a:cs typeface="Nunito"/>
                  <a:sym typeface="Nunito"/>
                </a:rPr>
                <a:t>#60 Peserta</a:t>
              </a:r>
            </a:p>
          </p:txBody>
        </p:sp>
        <p:sp>
          <p:nvSpPr>
            <p:cNvPr name="TextBox 105" id="105"/>
            <p:cNvSpPr txBox="true"/>
            <p:nvPr/>
          </p:nvSpPr>
          <p:spPr>
            <a:xfrm rot="0">
              <a:off x="1548389" y="5471241"/>
              <a:ext cx="440770" cy="485468"/>
            </a:xfrm>
            <a:prstGeom prst="rect">
              <a:avLst/>
            </a:prstGeom>
          </p:spPr>
          <p:txBody>
            <a:bodyPr anchor="t" rtlCol="false" tIns="0" lIns="0" bIns="0" rIns="0">
              <a:spAutoFit/>
            </a:bodyPr>
            <a:lstStyle/>
            <a:p>
              <a:pPr algn="ctr">
                <a:lnSpc>
                  <a:spcPts val="2637"/>
                </a:lnSpc>
              </a:pPr>
              <a:r>
                <a:rPr lang="en-US" sz="1884" b="true">
                  <a:solidFill>
                    <a:srgbClr val="0E0763"/>
                  </a:solidFill>
                  <a:latin typeface="Mont Bold"/>
                  <a:ea typeface="Mont Bold"/>
                  <a:cs typeface="Mont Bold"/>
                  <a:sym typeface="Mont Bold"/>
                </a:rPr>
                <a:t>6.</a:t>
              </a:r>
            </a:p>
          </p:txBody>
        </p:sp>
        <p:sp>
          <p:nvSpPr>
            <p:cNvPr name="TextBox 106" id="106"/>
            <p:cNvSpPr txBox="true"/>
            <p:nvPr/>
          </p:nvSpPr>
          <p:spPr>
            <a:xfrm rot="0">
              <a:off x="2135518" y="5608495"/>
              <a:ext cx="2046284" cy="512487"/>
            </a:xfrm>
            <a:prstGeom prst="rect">
              <a:avLst/>
            </a:prstGeom>
          </p:spPr>
          <p:txBody>
            <a:bodyPr anchor="t" rtlCol="false" tIns="0" lIns="0" bIns="0" rIns="0">
              <a:spAutoFit/>
            </a:bodyPr>
            <a:lstStyle/>
            <a:p>
              <a:pPr algn="l">
                <a:lnSpc>
                  <a:spcPts val="1316"/>
                </a:lnSpc>
              </a:pPr>
              <a:r>
                <a:rPr lang="en-US" sz="1400" b="true">
                  <a:solidFill>
                    <a:srgbClr val="0E0763"/>
                  </a:solidFill>
                  <a:latin typeface="Mont Bold"/>
                  <a:ea typeface="Mont Bold"/>
                  <a:cs typeface="Mont Bold"/>
                  <a:sym typeface="Mont Bold"/>
                </a:rPr>
                <a:t>Pendampingan Intensif</a:t>
              </a:r>
            </a:p>
          </p:txBody>
        </p:sp>
        <p:sp>
          <p:nvSpPr>
            <p:cNvPr name="TextBox 107" id="107"/>
            <p:cNvSpPr txBox="true"/>
            <p:nvPr/>
          </p:nvSpPr>
          <p:spPr>
            <a:xfrm rot="0">
              <a:off x="1352614" y="6786467"/>
              <a:ext cx="795121" cy="417281"/>
            </a:xfrm>
            <a:prstGeom prst="rect">
              <a:avLst/>
            </a:prstGeom>
          </p:spPr>
          <p:txBody>
            <a:bodyPr anchor="t" rtlCol="false" tIns="0" lIns="0" bIns="0" rIns="0">
              <a:spAutoFit/>
            </a:bodyPr>
            <a:lstStyle/>
            <a:p>
              <a:pPr algn="ctr">
                <a:lnSpc>
                  <a:spcPts val="752"/>
                </a:lnSpc>
              </a:pPr>
              <a:r>
                <a:rPr lang="en-US" b="true" sz="800">
                  <a:solidFill>
                    <a:srgbClr val="0E0763"/>
                  </a:solidFill>
                  <a:latin typeface="Mont Bold"/>
                  <a:ea typeface="Mont Bold"/>
                  <a:cs typeface="Mont Bold"/>
                  <a:sym typeface="Mont Bold"/>
                </a:rPr>
                <a:t>Mentoring Kelompok Usaha</a:t>
              </a:r>
            </a:p>
          </p:txBody>
        </p:sp>
        <p:sp>
          <p:nvSpPr>
            <p:cNvPr name="TextBox 108" id="108"/>
            <p:cNvSpPr txBox="true"/>
            <p:nvPr/>
          </p:nvSpPr>
          <p:spPr>
            <a:xfrm rot="0">
              <a:off x="1422733" y="7311698"/>
              <a:ext cx="3560873" cy="172579"/>
            </a:xfrm>
            <a:prstGeom prst="rect">
              <a:avLst/>
            </a:prstGeom>
          </p:spPr>
          <p:txBody>
            <a:bodyPr anchor="t" rtlCol="false" tIns="0" lIns="0" bIns="0" rIns="0">
              <a:spAutoFit/>
            </a:bodyPr>
            <a:lstStyle/>
            <a:p>
              <a:pPr algn="ctr">
                <a:lnSpc>
                  <a:spcPts val="1120"/>
                </a:lnSpc>
              </a:pPr>
              <a:r>
                <a:rPr lang="en-US" sz="800">
                  <a:solidFill>
                    <a:srgbClr val="000000"/>
                  </a:solidFill>
                  <a:latin typeface="Nunito"/>
                  <a:ea typeface="Nunito"/>
                  <a:cs typeface="Nunito"/>
                  <a:sym typeface="Nunito"/>
                </a:rPr>
                <a:t>#60 Peserta</a:t>
              </a:r>
            </a:p>
          </p:txBody>
        </p:sp>
        <p:sp>
          <p:nvSpPr>
            <p:cNvPr name="TextBox 109" id="109"/>
            <p:cNvSpPr txBox="true"/>
            <p:nvPr/>
          </p:nvSpPr>
          <p:spPr>
            <a:xfrm rot="0">
              <a:off x="6259344" y="5471241"/>
              <a:ext cx="440770" cy="485468"/>
            </a:xfrm>
            <a:prstGeom prst="rect">
              <a:avLst/>
            </a:prstGeom>
          </p:spPr>
          <p:txBody>
            <a:bodyPr anchor="t" rtlCol="false" tIns="0" lIns="0" bIns="0" rIns="0">
              <a:spAutoFit/>
            </a:bodyPr>
            <a:lstStyle/>
            <a:p>
              <a:pPr algn="ctr">
                <a:lnSpc>
                  <a:spcPts val="2637"/>
                </a:lnSpc>
              </a:pPr>
              <a:r>
                <a:rPr lang="en-US" sz="1884" b="true">
                  <a:solidFill>
                    <a:srgbClr val="0E0763"/>
                  </a:solidFill>
                  <a:latin typeface="Mont Bold"/>
                  <a:ea typeface="Mont Bold"/>
                  <a:cs typeface="Mont Bold"/>
                  <a:sym typeface="Mont Bold"/>
                </a:rPr>
                <a:t>7.</a:t>
              </a:r>
            </a:p>
          </p:txBody>
        </p:sp>
        <p:sp>
          <p:nvSpPr>
            <p:cNvPr name="TextBox 110" id="110"/>
            <p:cNvSpPr txBox="true"/>
            <p:nvPr/>
          </p:nvSpPr>
          <p:spPr>
            <a:xfrm rot="0">
              <a:off x="6846473" y="5608495"/>
              <a:ext cx="1429384" cy="512487"/>
            </a:xfrm>
            <a:prstGeom prst="rect">
              <a:avLst/>
            </a:prstGeom>
          </p:spPr>
          <p:txBody>
            <a:bodyPr anchor="t" rtlCol="false" tIns="0" lIns="0" bIns="0" rIns="0">
              <a:spAutoFit/>
            </a:bodyPr>
            <a:lstStyle/>
            <a:p>
              <a:pPr algn="l">
                <a:lnSpc>
                  <a:spcPts val="1316"/>
                </a:lnSpc>
              </a:pPr>
              <a:r>
                <a:rPr lang="en-US" sz="1400" b="true">
                  <a:solidFill>
                    <a:srgbClr val="0E0763"/>
                  </a:solidFill>
                  <a:latin typeface="Mont Bold"/>
                  <a:ea typeface="Mont Bold"/>
                  <a:cs typeface="Mont Bold"/>
                  <a:sym typeface="Mont Bold"/>
                </a:rPr>
                <a:t>Temu Mitra Usaha</a:t>
              </a:r>
            </a:p>
          </p:txBody>
        </p:sp>
        <p:sp>
          <p:nvSpPr>
            <p:cNvPr name="TextBox 111" id="111"/>
            <p:cNvSpPr txBox="true"/>
            <p:nvPr/>
          </p:nvSpPr>
          <p:spPr>
            <a:xfrm rot="0">
              <a:off x="6024426" y="6771678"/>
              <a:ext cx="2196824" cy="417281"/>
            </a:xfrm>
            <a:prstGeom prst="rect">
              <a:avLst/>
            </a:prstGeom>
          </p:spPr>
          <p:txBody>
            <a:bodyPr anchor="t" rtlCol="false" tIns="0" lIns="0" bIns="0" rIns="0">
              <a:spAutoFit/>
            </a:bodyPr>
            <a:lstStyle/>
            <a:p>
              <a:pPr algn="ctr">
                <a:lnSpc>
                  <a:spcPts val="752"/>
                </a:lnSpc>
              </a:pPr>
              <a:r>
                <a:rPr lang="en-US" b="true" sz="800">
                  <a:solidFill>
                    <a:srgbClr val="0E0763"/>
                  </a:solidFill>
                  <a:latin typeface="Mont Bold"/>
                  <a:ea typeface="Mont Bold"/>
                  <a:cs typeface="Mont Bold"/>
                  <a:sym typeface="Mont Bold"/>
                </a:rPr>
                <a:t>Temu Bisnis untuk Akses Modal Kerja, Pemasaran Produk, Penguatan Rantai Pasok Usaha</a:t>
              </a:r>
            </a:p>
          </p:txBody>
        </p:sp>
        <p:sp>
          <p:nvSpPr>
            <p:cNvPr name="TextBox 112" id="112"/>
            <p:cNvSpPr txBox="true"/>
            <p:nvPr/>
          </p:nvSpPr>
          <p:spPr>
            <a:xfrm rot="0">
              <a:off x="6024426" y="7298998"/>
              <a:ext cx="2354727" cy="172579"/>
            </a:xfrm>
            <a:prstGeom prst="rect">
              <a:avLst/>
            </a:prstGeom>
          </p:spPr>
          <p:txBody>
            <a:bodyPr anchor="t" rtlCol="false" tIns="0" lIns="0" bIns="0" rIns="0">
              <a:spAutoFit/>
            </a:bodyPr>
            <a:lstStyle/>
            <a:p>
              <a:pPr algn="ctr">
                <a:lnSpc>
                  <a:spcPts val="1120"/>
                </a:lnSpc>
              </a:pPr>
              <a:r>
                <a:rPr lang="en-US" sz="800">
                  <a:solidFill>
                    <a:srgbClr val="000000"/>
                  </a:solidFill>
                  <a:latin typeface="Nunito"/>
                  <a:ea typeface="Nunito"/>
                  <a:cs typeface="Nunito"/>
                  <a:sym typeface="Nunito"/>
                </a:rPr>
                <a:t>#20 Lembaga</a:t>
              </a:r>
            </a:p>
          </p:txBody>
        </p:sp>
        <p:sp>
          <p:nvSpPr>
            <p:cNvPr name="TextBox 113" id="113"/>
            <p:cNvSpPr txBox="true"/>
            <p:nvPr/>
          </p:nvSpPr>
          <p:spPr>
            <a:xfrm rot="0">
              <a:off x="2318745" y="6833767"/>
              <a:ext cx="795121" cy="293103"/>
            </a:xfrm>
            <a:prstGeom prst="rect">
              <a:avLst/>
            </a:prstGeom>
          </p:spPr>
          <p:txBody>
            <a:bodyPr anchor="t" rtlCol="false" tIns="0" lIns="0" bIns="0" rIns="0">
              <a:spAutoFit/>
            </a:bodyPr>
            <a:lstStyle/>
            <a:p>
              <a:pPr algn="ctr">
                <a:lnSpc>
                  <a:spcPts val="752"/>
                </a:lnSpc>
              </a:pPr>
              <a:r>
                <a:rPr lang="en-US" b="true" sz="800">
                  <a:solidFill>
                    <a:srgbClr val="0E0763"/>
                  </a:solidFill>
                  <a:latin typeface="Mont Bold"/>
                  <a:ea typeface="Mont Bold"/>
                  <a:cs typeface="Mont Bold"/>
                  <a:sym typeface="Mont Bold"/>
                </a:rPr>
                <a:t>Coaching Usaha</a:t>
              </a:r>
            </a:p>
          </p:txBody>
        </p:sp>
        <p:sp>
          <p:nvSpPr>
            <p:cNvPr name="TextBox 114" id="114"/>
            <p:cNvSpPr txBox="true"/>
            <p:nvPr/>
          </p:nvSpPr>
          <p:spPr>
            <a:xfrm rot="0">
              <a:off x="3125984" y="6833767"/>
              <a:ext cx="795121" cy="293103"/>
            </a:xfrm>
            <a:prstGeom prst="rect">
              <a:avLst/>
            </a:prstGeom>
          </p:spPr>
          <p:txBody>
            <a:bodyPr anchor="t" rtlCol="false" tIns="0" lIns="0" bIns="0" rIns="0">
              <a:spAutoFit/>
            </a:bodyPr>
            <a:lstStyle/>
            <a:p>
              <a:pPr algn="ctr">
                <a:lnSpc>
                  <a:spcPts val="752"/>
                </a:lnSpc>
              </a:pPr>
              <a:r>
                <a:rPr lang="en-US" b="true" sz="800">
                  <a:solidFill>
                    <a:srgbClr val="0E0763"/>
                  </a:solidFill>
                  <a:latin typeface="Mont Bold"/>
                  <a:ea typeface="Mont Bold"/>
                  <a:cs typeface="Mont Bold"/>
                  <a:sym typeface="Mont Bold"/>
                </a:rPr>
                <a:t>Klinik Usaha</a:t>
              </a:r>
            </a:p>
          </p:txBody>
        </p:sp>
        <p:sp>
          <p:nvSpPr>
            <p:cNvPr name="TextBox 115" id="115"/>
            <p:cNvSpPr txBox="true"/>
            <p:nvPr/>
          </p:nvSpPr>
          <p:spPr>
            <a:xfrm rot="0">
              <a:off x="3990593" y="6861256"/>
              <a:ext cx="1090542" cy="293103"/>
            </a:xfrm>
            <a:prstGeom prst="rect">
              <a:avLst/>
            </a:prstGeom>
          </p:spPr>
          <p:txBody>
            <a:bodyPr anchor="t" rtlCol="false" tIns="0" lIns="0" bIns="0" rIns="0">
              <a:spAutoFit/>
            </a:bodyPr>
            <a:lstStyle/>
            <a:p>
              <a:pPr algn="ctr">
                <a:lnSpc>
                  <a:spcPts val="752"/>
                </a:lnSpc>
              </a:pPr>
              <a:r>
                <a:rPr lang="en-US" b="true" sz="800">
                  <a:solidFill>
                    <a:srgbClr val="0E0763"/>
                  </a:solidFill>
                  <a:latin typeface="Mont Bold"/>
                  <a:ea typeface="Mont Bold"/>
                  <a:cs typeface="Mont Bold"/>
                  <a:sym typeface="Mont Bold"/>
                </a:rPr>
                <a:t>Pendampingan Lainnya</a:t>
              </a:r>
            </a:p>
          </p:txBody>
        </p:sp>
        <p:sp>
          <p:nvSpPr>
            <p:cNvPr name="TextBox 116" id="116"/>
            <p:cNvSpPr txBox="true"/>
            <p:nvPr/>
          </p:nvSpPr>
          <p:spPr>
            <a:xfrm rot="0">
              <a:off x="3025056" y="8169566"/>
              <a:ext cx="440770" cy="485468"/>
            </a:xfrm>
            <a:prstGeom prst="rect">
              <a:avLst/>
            </a:prstGeom>
          </p:spPr>
          <p:txBody>
            <a:bodyPr anchor="t" rtlCol="false" tIns="0" lIns="0" bIns="0" rIns="0">
              <a:spAutoFit/>
            </a:bodyPr>
            <a:lstStyle/>
            <a:p>
              <a:pPr algn="ctr">
                <a:lnSpc>
                  <a:spcPts val="2637"/>
                </a:lnSpc>
              </a:pPr>
              <a:r>
                <a:rPr lang="en-US" sz="1884" b="true">
                  <a:solidFill>
                    <a:srgbClr val="0E0763"/>
                  </a:solidFill>
                  <a:latin typeface="Mont Bold"/>
                  <a:ea typeface="Mont Bold"/>
                  <a:cs typeface="Mont Bold"/>
                  <a:sym typeface="Mont Bold"/>
                </a:rPr>
                <a:t>8.</a:t>
              </a:r>
            </a:p>
          </p:txBody>
        </p:sp>
        <p:sp>
          <p:nvSpPr>
            <p:cNvPr name="TextBox 117" id="117"/>
            <p:cNvSpPr txBox="true"/>
            <p:nvPr/>
          </p:nvSpPr>
          <p:spPr>
            <a:xfrm rot="0">
              <a:off x="3618677" y="8257267"/>
              <a:ext cx="2303932" cy="512487"/>
            </a:xfrm>
            <a:prstGeom prst="rect">
              <a:avLst/>
            </a:prstGeom>
          </p:spPr>
          <p:txBody>
            <a:bodyPr anchor="t" rtlCol="false" tIns="0" lIns="0" bIns="0" rIns="0">
              <a:spAutoFit/>
            </a:bodyPr>
            <a:lstStyle/>
            <a:p>
              <a:pPr algn="l">
                <a:lnSpc>
                  <a:spcPts val="1316"/>
                </a:lnSpc>
              </a:pPr>
              <a:r>
                <a:rPr lang="en-US" sz="1400" b="true">
                  <a:solidFill>
                    <a:srgbClr val="0E0763"/>
                  </a:solidFill>
                  <a:latin typeface="Mont Bold"/>
                  <a:ea typeface="Mont Bold"/>
                  <a:cs typeface="Mont Bold"/>
                  <a:sym typeface="Mont Bold"/>
                </a:rPr>
                <a:t>Monitoring dan Evaluasi</a:t>
              </a:r>
            </a:p>
          </p:txBody>
        </p:sp>
        <p:sp>
          <p:nvSpPr>
            <p:cNvPr name="TextBox 118" id="118"/>
            <p:cNvSpPr txBox="true"/>
            <p:nvPr/>
          </p:nvSpPr>
          <p:spPr>
            <a:xfrm rot="0">
              <a:off x="2936209" y="8786211"/>
              <a:ext cx="3573317" cy="293103"/>
            </a:xfrm>
            <a:prstGeom prst="rect">
              <a:avLst/>
            </a:prstGeom>
          </p:spPr>
          <p:txBody>
            <a:bodyPr anchor="t" rtlCol="false" tIns="0" lIns="0" bIns="0" rIns="0">
              <a:spAutoFit/>
            </a:bodyPr>
            <a:lstStyle/>
            <a:p>
              <a:pPr algn="ctr">
                <a:lnSpc>
                  <a:spcPts val="752"/>
                </a:lnSpc>
              </a:pPr>
              <a:r>
                <a:rPr lang="en-US" b="true" sz="800">
                  <a:solidFill>
                    <a:srgbClr val="0E0763"/>
                  </a:solidFill>
                  <a:latin typeface="Mont Bold"/>
                  <a:ea typeface="Mont Bold"/>
                  <a:cs typeface="Mont Bold"/>
                  <a:sym typeface="Mont Bold"/>
                </a:rPr>
                <a:t>Monitoring dan Evaluasi Berkala, Evaluasi Tengah Program, dan Evaluasi Akhir Tahun</a:t>
              </a:r>
            </a:p>
          </p:txBody>
        </p:sp>
        <p:sp>
          <p:nvSpPr>
            <p:cNvPr name="TextBox 119" id="119"/>
            <p:cNvSpPr txBox="true"/>
            <p:nvPr/>
          </p:nvSpPr>
          <p:spPr>
            <a:xfrm rot="0">
              <a:off x="3734413" y="9161864"/>
              <a:ext cx="2118431" cy="172579"/>
            </a:xfrm>
            <a:prstGeom prst="rect">
              <a:avLst/>
            </a:prstGeom>
          </p:spPr>
          <p:txBody>
            <a:bodyPr anchor="t" rtlCol="false" tIns="0" lIns="0" bIns="0" rIns="0">
              <a:spAutoFit/>
            </a:bodyPr>
            <a:lstStyle/>
            <a:p>
              <a:pPr algn="ctr">
                <a:lnSpc>
                  <a:spcPts val="1120"/>
                </a:lnSpc>
              </a:pPr>
              <a:r>
                <a:rPr lang="en-US" sz="800">
                  <a:solidFill>
                    <a:srgbClr val="000000"/>
                  </a:solidFill>
                  <a:latin typeface="Nunito"/>
                  <a:ea typeface="Nunito"/>
                  <a:cs typeface="Nunito"/>
                  <a:sym typeface="Nunito"/>
                </a:rPr>
                <a:t>#60 Peserta</a:t>
              </a:r>
            </a:p>
          </p:txBody>
        </p:sp>
        <p:grpSp>
          <p:nvGrpSpPr>
            <p:cNvPr name="Group 120" id="120"/>
            <p:cNvGrpSpPr/>
            <p:nvPr/>
          </p:nvGrpSpPr>
          <p:grpSpPr>
            <a:xfrm rot="5400000">
              <a:off x="7047706" y="2154183"/>
              <a:ext cx="639658" cy="639658"/>
              <a:chOff x="0" y="0"/>
              <a:chExt cx="812800" cy="812800"/>
            </a:xfrm>
          </p:grpSpPr>
          <p:sp>
            <p:nvSpPr>
              <p:cNvPr name="Freeform 121" id="121"/>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FFFAEF"/>
              </a:solidFill>
            </p:spPr>
          </p:sp>
          <p:sp>
            <p:nvSpPr>
              <p:cNvPr name="TextBox 122" id="122"/>
              <p:cNvSpPr txBox="true"/>
              <p:nvPr/>
            </p:nvSpPr>
            <p:spPr>
              <a:xfrm>
                <a:off x="0" y="222250"/>
                <a:ext cx="711200" cy="387350"/>
              </a:xfrm>
              <a:prstGeom prst="rect">
                <a:avLst/>
              </a:prstGeom>
            </p:spPr>
            <p:txBody>
              <a:bodyPr anchor="ctr" rtlCol="false" tIns="50800" lIns="50800" bIns="50800" rIns="50800"/>
              <a:lstStyle/>
              <a:p>
                <a:pPr algn="ctr">
                  <a:lnSpc>
                    <a:spcPts val="1100"/>
                  </a:lnSpc>
                </a:pPr>
              </a:p>
            </p:txBody>
          </p:sp>
        </p:grpSp>
        <p:grpSp>
          <p:nvGrpSpPr>
            <p:cNvPr name="Group 123" id="123"/>
            <p:cNvGrpSpPr/>
            <p:nvPr/>
          </p:nvGrpSpPr>
          <p:grpSpPr>
            <a:xfrm rot="-10800000">
              <a:off x="5292400" y="3609844"/>
              <a:ext cx="495051" cy="639658"/>
              <a:chOff x="0" y="0"/>
              <a:chExt cx="629050" cy="812800"/>
            </a:xfrm>
          </p:grpSpPr>
          <p:sp>
            <p:nvSpPr>
              <p:cNvPr name="Freeform 124" id="124"/>
              <p:cNvSpPr/>
              <p:nvPr/>
            </p:nvSpPr>
            <p:spPr>
              <a:xfrm flipH="false" flipV="false" rot="0">
                <a:off x="0" y="0"/>
                <a:ext cx="629050" cy="812800"/>
              </a:xfrm>
              <a:custGeom>
                <a:avLst/>
                <a:gdLst/>
                <a:ahLst/>
                <a:cxnLst/>
                <a:rect r="r" b="b" t="t" l="l"/>
                <a:pathLst>
                  <a:path h="812800" w="629050">
                    <a:moveTo>
                      <a:pt x="629050" y="406400"/>
                    </a:moveTo>
                    <a:lnTo>
                      <a:pt x="222650" y="0"/>
                    </a:lnTo>
                    <a:lnTo>
                      <a:pt x="222650" y="203200"/>
                    </a:lnTo>
                    <a:lnTo>
                      <a:pt x="0" y="203200"/>
                    </a:lnTo>
                    <a:lnTo>
                      <a:pt x="0" y="609600"/>
                    </a:lnTo>
                    <a:lnTo>
                      <a:pt x="222650" y="609600"/>
                    </a:lnTo>
                    <a:lnTo>
                      <a:pt x="222650" y="812800"/>
                    </a:lnTo>
                    <a:lnTo>
                      <a:pt x="629050" y="406400"/>
                    </a:lnTo>
                    <a:close/>
                  </a:path>
                </a:pathLst>
              </a:custGeom>
              <a:solidFill>
                <a:srgbClr val="FFFAEF"/>
              </a:solidFill>
            </p:spPr>
          </p:sp>
          <p:sp>
            <p:nvSpPr>
              <p:cNvPr name="TextBox 125" id="125"/>
              <p:cNvSpPr txBox="true"/>
              <p:nvPr/>
            </p:nvSpPr>
            <p:spPr>
              <a:xfrm>
                <a:off x="0" y="222250"/>
                <a:ext cx="527450" cy="387350"/>
              </a:xfrm>
              <a:prstGeom prst="rect">
                <a:avLst/>
              </a:prstGeom>
            </p:spPr>
            <p:txBody>
              <a:bodyPr anchor="ctr" rtlCol="false" tIns="50800" lIns="50800" bIns="50800" rIns="50800"/>
              <a:lstStyle/>
              <a:p>
                <a:pPr algn="ctr">
                  <a:lnSpc>
                    <a:spcPts val="1100"/>
                  </a:lnSpc>
                </a:pPr>
              </a:p>
            </p:txBody>
          </p:sp>
        </p:grpSp>
        <p:grpSp>
          <p:nvGrpSpPr>
            <p:cNvPr name="Group 126" id="126"/>
            <p:cNvGrpSpPr/>
            <p:nvPr/>
          </p:nvGrpSpPr>
          <p:grpSpPr>
            <a:xfrm rot="-10800000">
              <a:off x="2392354" y="3595493"/>
              <a:ext cx="495051" cy="639658"/>
              <a:chOff x="0" y="0"/>
              <a:chExt cx="629050" cy="812800"/>
            </a:xfrm>
          </p:grpSpPr>
          <p:sp>
            <p:nvSpPr>
              <p:cNvPr name="Freeform 127" id="127"/>
              <p:cNvSpPr/>
              <p:nvPr/>
            </p:nvSpPr>
            <p:spPr>
              <a:xfrm flipH="false" flipV="false" rot="0">
                <a:off x="0" y="0"/>
                <a:ext cx="629050" cy="812800"/>
              </a:xfrm>
              <a:custGeom>
                <a:avLst/>
                <a:gdLst/>
                <a:ahLst/>
                <a:cxnLst/>
                <a:rect r="r" b="b" t="t" l="l"/>
                <a:pathLst>
                  <a:path h="812800" w="629050">
                    <a:moveTo>
                      <a:pt x="629050" y="406400"/>
                    </a:moveTo>
                    <a:lnTo>
                      <a:pt x="222650" y="0"/>
                    </a:lnTo>
                    <a:lnTo>
                      <a:pt x="222650" y="203200"/>
                    </a:lnTo>
                    <a:lnTo>
                      <a:pt x="0" y="203200"/>
                    </a:lnTo>
                    <a:lnTo>
                      <a:pt x="0" y="609600"/>
                    </a:lnTo>
                    <a:lnTo>
                      <a:pt x="222650" y="609600"/>
                    </a:lnTo>
                    <a:lnTo>
                      <a:pt x="222650" y="812800"/>
                    </a:lnTo>
                    <a:lnTo>
                      <a:pt x="629050" y="406400"/>
                    </a:lnTo>
                    <a:close/>
                  </a:path>
                </a:pathLst>
              </a:custGeom>
              <a:solidFill>
                <a:srgbClr val="FFFAEF"/>
              </a:solidFill>
            </p:spPr>
          </p:sp>
          <p:sp>
            <p:nvSpPr>
              <p:cNvPr name="TextBox 128" id="128"/>
              <p:cNvSpPr txBox="true"/>
              <p:nvPr/>
            </p:nvSpPr>
            <p:spPr>
              <a:xfrm>
                <a:off x="0" y="222250"/>
                <a:ext cx="527450" cy="387350"/>
              </a:xfrm>
              <a:prstGeom prst="rect">
                <a:avLst/>
              </a:prstGeom>
            </p:spPr>
            <p:txBody>
              <a:bodyPr anchor="ctr" rtlCol="false" tIns="50800" lIns="50800" bIns="50800" rIns="50800"/>
              <a:lstStyle/>
              <a:p>
                <a:pPr algn="ctr">
                  <a:lnSpc>
                    <a:spcPts val="1100"/>
                  </a:lnSpc>
                </a:pPr>
              </a:p>
            </p:txBody>
          </p:sp>
        </p:grpSp>
        <p:grpSp>
          <p:nvGrpSpPr>
            <p:cNvPr name="Group 129" id="129"/>
            <p:cNvGrpSpPr/>
            <p:nvPr/>
          </p:nvGrpSpPr>
          <p:grpSpPr>
            <a:xfrm rot="5400000">
              <a:off x="1596680" y="4862571"/>
              <a:ext cx="462451" cy="639658"/>
              <a:chOff x="0" y="0"/>
              <a:chExt cx="587626" cy="812800"/>
            </a:xfrm>
          </p:grpSpPr>
          <p:sp>
            <p:nvSpPr>
              <p:cNvPr name="Freeform 130" id="130"/>
              <p:cNvSpPr/>
              <p:nvPr/>
            </p:nvSpPr>
            <p:spPr>
              <a:xfrm flipH="false" flipV="false" rot="0">
                <a:off x="0" y="0"/>
                <a:ext cx="587626" cy="812800"/>
              </a:xfrm>
              <a:custGeom>
                <a:avLst/>
                <a:gdLst/>
                <a:ahLst/>
                <a:cxnLst/>
                <a:rect r="r" b="b" t="t" l="l"/>
                <a:pathLst>
                  <a:path h="812800" w="587626">
                    <a:moveTo>
                      <a:pt x="587626" y="406400"/>
                    </a:moveTo>
                    <a:lnTo>
                      <a:pt x="181226" y="0"/>
                    </a:lnTo>
                    <a:lnTo>
                      <a:pt x="181226" y="203200"/>
                    </a:lnTo>
                    <a:lnTo>
                      <a:pt x="0" y="203200"/>
                    </a:lnTo>
                    <a:lnTo>
                      <a:pt x="0" y="609600"/>
                    </a:lnTo>
                    <a:lnTo>
                      <a:pt x="181226" y="609600"/>
                    </a:lnTo>
                    <a:lnTo>
                      <a:pt x="181226" y="812800"/>
                    </a:lnTo>
                    <a:lnTo>
                      <a:pt x="587626" y="406400"/>
                    </a:lnTo>
                    <a:close/>
                  </a:path>
                </a:pathLst>
              </a:custGeom>
              <a:solidFill>
                <a:srgbClr val="FFFAEF"/>
              </a:solidFill>
            </p:spPr>
          </p:sp>
          <p:sp>
            <p:nvSpPr>
              <p:cNvPr name="TextBox 131" id="131"/>
              <p:cNvSpPr txBox="true"/>
              <p:nvPr/>
            </p:nvSpPr>
            <p:spPr>
              <a:xfrm>
                <a:off x="0" y="222250"/>
                <a:ext cx="486026" cy="387350"/>
              </a:xfrm>
              <a:prstGeom prst="rect">
                <a:avLst/>
              </a:prstGeom>
            </p:spPr>
            <p:txBody>
              <a:bodyPr anchor="ctr" rtlCol="false" tIns="50800" lIns="50800" bIns="50800" rIns="50800"/>
              <a:lstStyle/>
              <a:p>
                <a:pPr algn="ctr">
                  <a:lnSpc>
                    <a:spcPts val="1100"/>
                  </a:lnSpc>
                </a:pPr>
              </a:p>
            </p:txBody>
          </p:sp>
        </p:grpSp>
        <p:grpSp>
          <p:nvGrpSpPr>
            <p:cNvPr name="Group 132" id="132"/>
            <p:cNvGrpSpPr/>
            <p:nvPr/>
          </p:nvGrpSpPr>
          <p:grpSpPr>
            <a:xfrm rot="0">
              <a:off x="5196711" y="6174762"/>
              <a:ext cx="639658" cy="639658"/>
              <a:chOff x="0" y="0"/>
              <a:chExt cx="812800" cy="812800"/>
            </a:xfrm>
          </p:grpSpPr>
          <p:sp>
            <p:nvSpPr>
              <p:cNvPr name="Freeform 133" id="133"/>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FFFAEF"/>
              </a:solidFill>
            </p:spPr>
          </p:sp>
          <p:sp>
            <p:nvSpPr>
              <p:cNvPr name="TextBox 134" id="134"/>
              <p:cNvSpPr txBox="true"/>
              <p:nvPr/>
            </p:nvSpPr>
            <p:spPr>
              <a:xfrm>
                <a:off x="0" y="222250"/>
                <a:ext cx="711200" cy="387350"/>
              </a:xfrm>
              <a:prstGeom prst="rect">
                <a:avLst/>
              </a:prstGeom>
            </p:spPr>
            <p:txBody>
              <a:bodyPr anchor="ctr" rtlCol="false" tIns="50800" lIns="50800" bIns="50800" rIns="50800"/>
              <a:lstStyle/>
              <a:p>
                <a:pPr algn="ctr">
                  <a:lnSpc>
                    <a:spcPts val="1100"/>
                  </a:lnSpc>
                </a:pPr>
              </a:p>
            </p:txBody>
          </p:sp>
        </p:grpSp>
        <p:grpSp>
          <p:nvGrpSpPr>
            <p:cNvPr name="Group 135" id="135"/>
            <p:cNvGrpSpPr/>
            <p:nvPr/>
          </p:nvGrpSpPr>
          <p:grpSpPr>
            <a:xfrm rot="5400000">
              <a:off x="6227673" y="7653859"/>
              <a:ext cx="490191" cy="639658"/>
              <a:chOff x="0" y="0"/>
              <a:chExt cx="622875" cy="812800"/>
            </a:xfrm>
          </p:grpSpPr>
          <p:sp>
            <p:nvSpPr>
              <p:cNvPr name="Freeform 136" id="136"/>
              <p:cNvSpPr/>
              <p:nvPr/>
            </p:nvSpPr>
            <p:spPr>
              <a:xfrm flipH="false" flipV="false" rot="0">
                <a:off x="0" y="0"/>
                <a:ext cx="622875" cy="812800"/>
              </a:xfrm>
              <a:custGeom>
                <a:avLst/>
                <a:gdLst/>
                <a:ahLst/>
                <a:cxnLst/>
                <a:rect r="r" b="b" t="t" l="l"/>
                <a:pathLst>
                  <a:path h="812800" w="622875">
                    <a:moveTo>
                      <a:pt x="622875" y="406400"/>
                    </a:moveTo>
                    <a:lnTo>
                      <a:pt x="216475" y="0"/>
                    </a:lnTo>
                    <a:lnTo>
                      <a:pt x="216475" y="203200"/>
                    </a:lnTo>
                    <a:lnTo>
                      <a:pt x="0" y="203200"/>
                    </a:lnTo>
                    <a:lnTo>
                      <a:pt x="0" y="609600"/>
                    </a:lnTo>
                    <a:lnTo>
                      <a:pt x="216475" y="609600"/>
                    </a:lnTo>
                    <a:lnTo>
                      <a:pt x="216475" y="812800"/>
                    </a:lnTo>
                    <a:lnTo>
                      <a:pt x="622875" y="406400"/>
                    </a:lnTo>
                    <a:close/>
                  </a:path>
                </a:pathLst>
              </a:custGeom>
              <a:solidFill>
                <a:srgbClr val="FFFAEF"/>
              </a:solidFill>
            </p:spPr>
          </p:sp>
          <p:sp>
            <p:nvSpPr>
              <p:cNvPr name="TextBox 137" id="137"/>
              <p:cNvSpPr txBox="true"/>
              <p:nvPr/>
            </p:nvSpPr>
            <p:spPr>
              <a:xfrm>
                <a:off x="0" y="222250"/>
                <a:ext cx="521275" cy="387350"/>
              </a:xfrm>
              <a:prstGeom prst="rect">
                <a:avLst/>
              </a:prstGeom>
            </p:spPr>
            <p:txBody>
              <a:bodyPr anchor="ctr" rtlCol="false" tIns="50800" lIns="50800" bIns="50800" rIns="50800"/>
              <a:lstStyle/>
              <a:p>
                <a:pPr algn="ctr">
                  <a:lnSpc>
                    <a:spcPts val="1100"/>
                  </a:lnSpc>
                </a:pPr>
              </a:p>
            </p:txBody>
          </p:sp>
        </p:gr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529937" y="926236"/>
            <a:ext cx="6500125" cy="0"/>
          </a:xfrm>
          <a:prstGeom prst="line">
            <a:avLst/>
          </a:prstGeom>
          <a:ln cap="flat" w="19050">
            <a:solidFill>
              <a:srgbClr val="000000"/>
            </a:solidFill>
            <a:prstDash val="solid"/>
            <a:headEnd type="none" len="sm" w="sm"/>
            <a:tailEnd type="none" len="sm" w="sm"/>
          </a:ln>
        </p:spPr>
      </p:sp>
      <p:sp>
        <p:nvSpPr>
          <p:cNvPr name="AutoShape 3" id="3"/>
          <p:cNvSpPr/>
          <p:nvPr/>
        </p:nvSpPr>
        <p:spPr>
          <a:xfrm flipV="true">
            <a:off x="529937" y="9782475"/>
            <a:ext cx="6500125" cy="0"/>
          </a:xfrm>
          <a:prstGeom prst="line">
            <a:avLst/>
          </a:prstGeom>
          <a:ln cap="flat" w="19050">
            <a:solidFill>
              <a:srgbClr val="000000"/>
            </a:solidFill>
            <a:prstDash val="solid"/>
            <a:headEnd type="none" len="sm" w="sm"/>
            <a:tailEnd type="none" len="sm" w="sm"/>
          </a:ln>
        </p:spPr>
      </p:sp>
      <p:grpSp>
        <p:nvGrpSpPr>
          <p:cNvPr name="Group 4" id="4"/>
          <p:cNvGrpSpPr/>
          <p:nvPr/>
        </p:nvGrpSpPr>
        <p:grpSpPr>
          <a:xfrm rot="0">
            <a:off x="2414873" y="9968045"/>
            <a:ext cx="263381" cy="266997"/>
            <a:chOff x="0" y="0"/>
            <a:chExt cx="351174" cy="355996"/>
          </a:xfrm>
        </p:grpSpPr>
        <p:sp>
          <p:nvSpPr>
            <p:cNvPr name="Freeform 5" id="5"/>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6" id="6"/>
            <p:cNvSpPr/>
            <p:nvPr/>
          </p:nvSpPr>
          <p:spPr>
            <a:xfrm flipH="false" flipV="false" rot="0">
              <a:off x="71763" y="74174"/>
              <a:ext cx="207648" cy="207648"/>
            </a:xfrm>
            <a:custGeom>
              <a:avLst/>
              <a:gdLst/>
              <a:ahLst/>
              <a:cxnLst/>
              <a:rect r="r" b="b" t="t" l="l"/>
              <a:pathLst>
                <a:path h="207648" w="207648">
                  <a:moveTo>
                    <a:pt x="0" y="0"/>
                  </a:moveTo>
                  <a:lnTo>
                    <a:pt x="207648" y="0"/>
                  </a:lnTo>
                  <a:lnTo>
                    <a:pt x="207648" y="207648"/>
                  </a:lnTo>
                  <a:lnTo>
                    <a:pt x="0" y="207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7" id="7"/>
          <p:cNvGrpSpPr/>
          <p:nvPr/>
        </p:nvGrpSpPr>
        <p:grpSpPr>
          <a:xfrm rot="0">
            <a:off x="469351" y="9968045"/>
            <a:ext cx="263381" cy="266997"/>
            <a:chOff x="0" y="0"/>
            <a:chExt cx="351174" cy="355996"/>
          </a:xfrm>
        </p:grpSpPr>
        <p:sp>
          <p:nvSpPr>
            <p:cNvPr name="Freeform 8" id="8"/>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9" id="9"/>
            <p:cNvSpPr/>
            <p:nvPr/>
          </p:nvSpPr>
          <p:spPr>
            <a:xfrm flipH="false" flipV="false" rot="0">
              <a:off x="82548" y="72870"/>
              <a:ext cx="186078" cy="210257"/>
            </a:xfrm>
            <a:custGeom>
              <a:avLst/>
              <a:gdLst/>
              <a:ahLst/>
              <a:cxnLst/>
              <a:rect r="r" b="b" t="t" l="l"/>
              <a:pathLst>
                <a:path h="210257" w="186078">
                  <a:moveTo>
                    <a:pt x="0" y="0"/>
                  </a:moveTo>
                  <a:lnTo>
                    <a:pt x="186078" y="0"/>
                  </a:lnTo>
                  <a:lnTo>
                    <a:pt x="186078" y="210257"/>
                  </a:lnTo>
                  <a:lnTo>
                    <a:pt x="0" y="2102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10" id="10"/>
          <p:cNvGrpSpPr/>
          <p:nvPr/>
        </p:nvGrpSpPr>
        <p:grpSpPr>
          <a:xfrm rot="0">
            <a:off x="4789301" y="9981259"/>
            <a:ext cx="237312" cy="240571"/>
            <a:chOff x="0" y="0"/>
            <a:chExt cx="316416" cy="320761"/>
          </a:xfrm>
        </p:grpSpPr>
        <p:sp>
          <p:nvSpPr>
            <p:cNvPr name="Freeform 11" id="11"/>
            <p:cNvSpPr/>
            <p:nvPr/>
          </p:nvSpPr>
          <p:spPr>
            <a:xfrm flipH="false" flipV="false" rot="0">
              <a:off x="0" y="0"/>
              <a:ext cx="316416" cy="320761"/>
            </a:xfrm>
            <a:custGeom>
              <a:avLst/>
              <a:gdLst/>
              <a:ahLst/>
              <a:cxnLst/>
              <a:rect r="r" b="b" t="t" l="l"/>
              <a:pathLst>
                <a:path h="320761" w="316416">
                  <a:moveTo>
                    <a:pt x="0" y="0"/>
                  </a:moveTo>
                  <a:lnTo>
                    <a:pt x="316416" y="0"/>
                  </a:lnTo>
                  <a:lnTo>
                    <a:pt x="316416" y="320761"/>
                  </a:lnTo>
                  <a:lnTo>
                    <a:pt x="0" y="320761"/>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12" id="12"/>
            <p:cNvSpPr/>
            <p:nvPr/>
          </p:nvSpPr>
          <p:spPr>
            <a:xfrm flipH="false" flipV="false" rot="0">
              <a:off x="63604" y="89073"/>
              <a:ext cx="189207" cy="142615"/>
            </a:xfrm>
            <a:custGeom>
              <a:avLst/>
              <a:gdLst/>
              <a:ahLst/>
              <a:cxnLst/>
              <a:rect r="r" b="b" t="t" l="l"/>
              <a:pathLst>
                <a:path h="142615" w="189207">
                  <a:moveTo>
                    <a:pt x="0" y="0"/>
                  </a:moveTo>
                  <a:lnTo>
                    <a:pt x="189208" y="0"/>
                  </a:lnTo>
                  <a:lnTo>
                    <a:pt x="189208" y="142615"/>
                  </a:lnTo>
                  <a:lnTo>
                    <a:pt x="0" y="1426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13" id="13"/>
          <p:cNvSpPr/>
          <p:nvPr/>
        </p:nvSpPr>
        <p:spPr>
          <a:xfrm flipH="false" flipV="false" rot="0">
            <a:off x="529937" y="235022"/>
            <a:ext cx="2112492" cy="492915"/>
          </a:xfrm>
          <a:custGeom>
            <a:avLst/>
            <a:gdLst/>
            <a:ahLst/>
            <a:cxnLst/>
            <a:rect r="r" b="b" t="t" l="l"/>
            <a:pathLst>
              <a:path h="492915" w="2112492">
                <a:moveTo>
                  <a:pt x="0" y="0"/>
                </a:moveTo>
                <a:lnTo>
                  <a:pt x="2112493" y="0"/>
                </a:lnTo>
                <a:lnTo>
                  <a:pt x="2112493" y="492915"/>
                </a:lnTo>
                <a:lnTo>
                  <a:pt x="0" y="492915"/>
                </a:lnTo>
                <a:lnTo>
                  <a:pt x="0" y="0"/>
                </a:lnTo>
                <a:close/>
              </a:path>
            </a:pathLst>
          </a:custGeom>
          <a:blipFill>
            <a:blip r:embed="rId10"/>
            <a:stretch>
              <a:fillRect l="0" t="0" r="0" b="0"/>
            </a:stretch>
          </a:blipFill>
        </p:spPr>
      </p:sp>
      <p:grpSp>
        <p:nvGrpSpPr>
          <p:cNvPr name="Group 14" id="14"/>
          <p:cNvGrpSpPr/>
          <p:nvPr/>
        </p:nvGrpSpPr>
        <p:grpSpPr>
          <a:xfrm rot="0">
            <a:off x="523107" y="1911084"/>
            <a:ext cx="1602482" cy="1696212"/>
            <a:chOff x="0" y="0"/>
            <a:chExt cx="574293" cy="607884"/>
          </a:xfrm>
        </p:grpSpPr>
        <p:sp>
          <p:nvSpPr>
            <p:cNvPr name="Freeform 15" id="15"/>
            <p:cNvSpPr/>
            <p:nvPr/>
          </p:nvSpPr>
          <p:spPr>
            <a:xfrm flipH="false" flipV="false" rot="0">
              <a:off x="0" y="0"/>
              <a:ext cx="574293" cy="607884"/>
            </a:xfrm>
            <a:custGeom>
              <a:avLst/>
              <a:gdLst/>
              <a:ahLst/>
              <a:cxnLst/>
              <a:rect r="r" b="b" t="t" l="l"/>
              <a:pathLst>
                <a:path h="607884" w="574293">
                  <a:moveTo>
                    <a:pt x="0" y="0"/>
                  </a:moveTo>
                  <a:lnTo>
                    <a:pt x="574293" y="0"/>
                  </a:lnTo>
                  <a:lnTo>
                    <a:pt x="574293" y="607884"/>
                  </a:lnTo>
                  <a:lnTo>
                    <a:pt x="0" y="607884"/>
                  </a:lnTo>
                  <a:close/>
                </a:path>
              </a:pathLst>
            </a:custGeom>
            <a:solidFill>
              <a:srgbClr val="0F1D3B"/>
            </a:solidFill>
          </p:spPr>
        </p:sp>
        <p:sp>
          <p:nvSpPr>
            <p:cNvPr name="TextBox 16" id="16"/>
            <p:cNvSpPr txBox="true"/>
            <p:nvPr/>
          </p:nvSpPr>
          <p:spPr>
            <a:xfrm>
              <a:off x="0" y="28575"/>
              <a:ext cx="574293" cy="579309"/>
            </a:xfrm>
            <a:prstGeom prst="rect">
              <a:avLst/>
            </a:prstGeom>
          </p:spPr>
          <p:txBody>
            <a:bodyPr anchor="ctr" rtlCol="false" tIns="50800" lIns="50800" bIns="50800" rIns="50800"/>
            <a:lstStyle/>
            <a:p>
              <a:pPr algn="ctr">
                <a:lnSpc>
                  <a:spcPts val="1200"/>
                </a:lnSpc>
              </a:pPr>
              <a:r>
                <a:rPr lang="en-US" b="true" sz="1200">
                  <a:solidFill>
                    <a:srgbClr val="FFFFFF"/>
                  </a:solidFill>
                  <a:latin typeface="Nunito Bold"/>
                  <a:ea typeface="Nunito Bold"/>
                  <a:cs typeface="Nunito Bold"/>
                  <a:sym typeface="Nunito Bold"/>
                </a:rPr>
                <a:t>Model Blended Learning &amp; Sistem Corong (Funneling) </a:t>
              </a:r>
            </a:p>
          </p:txBody>
        </p:sp>
      </p:grpSp>
      <p:grpSp>
        <p:nvGrpSpPr>
          <p:cNvPr name="Group 17" id="17"/>
          <p:cNvGrpSpPr/>
          <p:nvPr/>
        </p:nvGrpSpPr>
        <p:grpSpPr>
          <a:xfrm rot="0">
            <a:off x="2432477" y="1911084"/>
            <a:ext cx="4604416" cy="1696212"/>
            <a:chOff x="0" y="0"/>
            <a:chExt cx="1650119" cy="607884"/>
          </a:xfrm>
        </p:grpSpPr>
        <p:sp>
          <p:nvSpPr>
            <p:cNvPr name="Freeform 18" id="18"/>
            <p:cNvSpPr/>
            <p:nvPr/>
          </p:nvSpPr>
          <p:spPr>
            <a:xfrm flipH="false" flipV="false" rot="0">
              <a:off x="0" y="0"/>
              <a:ext cx="1650119" cy="607884"/>
            </a:xfrm>
            <a:custGeom>
              <a:avLst/>
              <a:gdLst/>
              <a:ahLst/>
              <a:cxnLst/>
              <a:rect r="r" b="b" t="t" l="l"/>
              <a:pathLst>
                <a:path h="607884" w="1650119">
                  <a:moveTo>
                    <a:pt x="0" y="0"/>
                  </a:moveTo>
                  <a:lnTo>
                    <a:pt x="1650119" y="0"/>
                  </a:lnTo>
                  <a:lnTo>
                    <a:pt x="1650119" y="607884"/>
                  </a:lnTo>
                  <a:lnTo>
                    <a:pt x="0" y="607884"/>
                  </a:lnTo>
                  <a:close/>
                </a:path>
              </a:pathLst>
            </a:custGeom>
            <a:solidFill>
              <a:srgbClr val="CDD6FF"/>
            </a:solidFill>
          </p:spPr>
        </p:sp>
        <p:sp>
          <p:nvSpPr>
            <p:cNvPr name="TextBox 19" id="19"/>
            <p:cNvSpPr txBox="true"/>
            <p:nvPr/>
          </p:nvSpPr>
          <p:spPr>
            <a:xfrm>
              <a:off x="0" y="-28575"/>
              <a:ext cx="1650119" cy="636459"/>
            </a:xfrm>
            <a:prstGeom prst="rect">
              <a:avLst/>
            </a:prstGeom>
          </p:spPr>
          <p:txBody>
            <a:bodyPr anchor="ctr" rtlCol="false" tIns="50800" lIns="50800" bIns="50800" rIns="50800"/>
            <a:lstStyle/>
            <a:p>
              <a:pPr algn="just">
                <a:lnSpc>
                  <a:spcPts val="1800"/>
                </a:lnSpc>
              </a:pPr>
              <a:r>
                <a:rPr lang="en-US" sz="1200">
                  <a:solidFill>
                    <a:srgbClr val="000000"/>
                  </a:solidFill>
                  <a:latin typeface="Nunito"/>
                  <a:ea typeface="Nunito"/>
                  <a:cs typeface="Nunito"/>
                  <a:sym typeface="Nunito"/>
                </a:rPr>
                <a:t>Kurikulum dirancang secara berjenjang menggabungkan pembelajaran daring (LMS/Zoom) dan luring (tatap muka). Pendekatan sistem corong digunakan untuk menyaring peserta secara sistematis: dimulai dari Tahap Sosialisasi (1.200 daring &amp; 500 luring) untuk </a:t>
              </a:r>
              <a:r>
                <a:rPr lang="en-US" sz="1200" i="true">
                  <a:solidFill>
                    <a:srgbClr val="000000"/>
                  </a:solidFill>
                  <a:latin typeface="Nunito Italics"/>
                  <a:ea typeface="Nunito Italics"/>
                  <a:cs typeface="Nunito Italics"/>
                  <a:sym typeface="Nunito Italics"/>
                </a:rPr>
                <a:t>profiling</a:t>
              </a:r>
              <a:r>
                <a:rPr lang="en-US" sz="1200">
                  <a:solidFill>
                    <a:srgbClr val="000000"/>
                  </a:solidFill>
                  <a:latin typeface="Nunito"/>
                  <a:ea typeface="Nunito"/>
                  <a:cs typeface="Nunito"/>
                  <a:sym typeface="Nunito"/>
                </a:rPr>
                <a:t> masif, dikerucutkan ke Tahap Workshop (200 peserta) untuk literasi keuangan, hingga Tahap Pelatihan Dasar (60 peserta) untuk manajemen dan digitalisasi.</a:t>
              </a:r>
            </a:p>
          </p:txBody>
        </p:sp>
      </p:grpSp>
      <p:grpSp>
        <p:nvGrpSpPr>
          <p:cNvPr name="Group 20" id="20"/>
          <p:cNvGrpSpPr/>
          <p:nvPr/>
        </p:nvGrpSpPr>
        <p:grpSpPr>
          <a:xfrm rot="0">
            <a:off x="526522" y="3921621"/>
            <a:ext cx="1602482" cy="1965170"/>
            <a:chOff x="0" y="0"/>
            <a:chExt cx="574293" cy="704273"/>
          </a:xfrm>
        </p:grpSpPr>
        <p:sp>
          <p:nvSpPr>
            <p:cNvPr name="Freeform 21" id="21"/>
            <p:cNvSpPr/>
            <p:nvPr/>
          </p:nvSpPr>
          <p:spPr>
            <a:xfrm flipH="false" flipV="false" rot="0">
              <a:off x="0" y="0"/>
              <a:ext cx="574293" cy="704273"/>
            </a:xfrm>
            <a:custGeom>
              <a:avLst/>
              <a:gdLst/>
              <a:ahLst/>
              <a:cxnLst/>
              <a:rect r="r" b="b" t="t" l="l"/>
              <a:pathLst>
                <a:path h="704273" w="574293">
                  <a:moveTo>
                    <a:pt x="0" y="0"/>
                  </a:moveTo>
                  <a:lnTo>
                    <a:pt x="574293" y="0"/>
                  </a:lnTo>
                  <a:lnTo>
                    <a:pt x="574293" y="704273"/>
                  </a:lnTo>
                  <a:lnTo>
                    <a:pt x="0" y="704273"/>
                  </a:lnTo>
                  <a:close/>
                </a:path>
              </a:pathLst>
            </a:custGeom>
            <a:solidFill>
              <a:srgbClr val="0F1D3B"/>
            </a:solidFill>
          </p:spPr>
        </p:sp>
        <p:sp>
          <p:nvSpPr>
            <p:cNvPr name="TextBox 22" id="22"/>
            <p:cNvSpPr txBox="true"/>
            <p:nvPr/>
          </p:nvSpPr>
          <p:spPr>
            <a:xfrm>
              <a:off x="0" y="28575"/>
              <a:ext cx="574293" cy="675698"/>
            </a:xfrm>
            <a:prstGeom prst="rect">
              <a:avLst/>
            </a:prstGeom>
          </p:spPr>
          <p:txBody>
            <a:bodyPr anchor="ctr" rtlCol="false" tIns="50800" lIns="50800" bIns="50800" rIns="50800"/>
            <a:lstStyle/>
            <a:p>
              <a:pPr algn="ctr">
                <a:lnSpc>
                  <a:spcPts val="1200"/>
                </a:lnSpc>
              </a:pPr>
              <a:r>
                <a:rPr lang="en-US" b="true" sz="1200">
                  <a:solidFill>
                    <a:srgbClr val="FFFFFF"/>
                  </a:solidFill>
                  <a:latin typeface="Nunito Bold"/>
                  <a:ea typeface="Nunito Bold"/>
                  <a:cs typeface="Nunito Bold"/>
                  <a:sym typeface="Nunito Bold"/>
                </a:rPr>
                <a:t>Pendekatan Partisipatif &amp; Berbasis Proyek (Andragogi)</a:t>
              </a:r>
            </a:p>
          </p:txBody>
        </p:sp>
      </p:grpSp>
      <p:grpSp>
        <p:nvGrpSpPr>
          <p:cNvPr name="Group 23" id="23"/>
          <p:cNvGrpSpPr/>
          <p:nvPr/>
        </p:nvGrpSpPr>
        <p:grpSpPr>
          <a:xfrm rot="0">
            <a:off x="2435892" y="3921621"/>
            <a:ext cx="4604416" cy="1965170"/>
            <a:chOff x="0" y="0"/>
            <a:chExt cx="1650119" cy="704273"/>
          </a:xfrm>
        </p:grpSpPr>
        <p:sp>
          <p:nvSpPr>
            <p:cNvPr name="Freeform 24" id="24"/>
            <p:cNvSpPr/>
            <p:nvPr/>
          </p:nvSpPr>
          <p:spPr>
            <a:xfrm flipH="false" flipV="false" rot="0">
              <a:off x="0" y="0"/>
              <a:ext cx="1650119" cy="704273"/>
            </a:xfrm>
            <a:custGeom>
              <a:avLst/>
              <a:gdLst/>
              <a:ahLst/>
              <a:cxnLst/>
              <a:rect r="r" b="b" t="t" l="l"/>
              <a:pathLst>
                <a:path h="704273" w="1650119">
                  <a:moveTo>
                    <a:pt x="0" y="0"/>
                  </a:moveTo>
                  <a:lnTo>
                    <a:pt x="1650119" y="0"/>
                  </a:lnTo>
                  <a:lnTo>
                    <a:pt x="1650119" y="704273"/>
                  </a:lnTo>
                  <a:lnTo>
                    <a:pt x="0" y="704273"/>
                  </a:lnTo>
                  <a:close/>
                </a:path>
              </a:pathLst>
            </a:custGeom>
            <a:solidFill>
              <a:srgbClr val="CDD6FF"/>
            </a:solidFill>
          </p:spPr>
        </p:sp>
        <p:sp>
          <p:nvSpPr>
            <p:cNvPr name="TextBox 25" id="25"/>
            <p:cNvSpPr txBox="true"/>
            <p:nvPr/>
          </p:nvSpPr>
          <p:spPr>
            <a:xfrm>
              <a:off x="0" y="-28575"/>
              <a:ext cx="1650119" cy="732848"/>
            </a:xfrm>
            <a:prstGeom prst="rect">
              <a:avLst/>
            </a:prstGeom>
          </p:spPr>
          <p:txBody>
            <a:bodyPr anchor="ctr" rtlCol="false" tIns="50800" lIns="50800" bIns="50800" rIns="50800"/>
            <a:lstStyle/>
            <a:p>
              <a:pPr algn="just">
                <a:lnSpc>
                  <a:spcPts val="1800"/>
                </a:lnSpc>
              </a:pPr>
              <a:r>
                <a:rPr lang="en-US" sz="1200">
                  <a:solidFill>
                    <a:srgbClr val="000000"/>
                  </a:solidFill>
                  <a:latin typeface="Nunito"/>
                  <a:ea typeface="Nunito"/>
                  <a:cs typeface="Nunito"/>
                  <a:sym typeface="Nunito"/>
                </a:rPr>
                <a:t>Setiap sesi pelatihan bersifat praktik dan partisipatif menggunakan metode role-play, studi kasus, dan simulasi. Peserta tidak hanya menerima teori, tetapi langsung mempraktikkan pembuatan akun marketplace, registrasi QRIS, serta pemanfaatan tools AI praktis untuk desain kemasan dan copywriting. Pendekatan ini memastikan peserta langsung memiliki output nyata (akun bisnis, catatan keuangan, desain produk) di akhir sesi.</a:t>
              </a:r>
            </a:p>
          </p:txBody>
        </p:sp>
      </p:grpSp>
      <p:grpSp>
        <p:nvGrpSpPr>
          <p:cNvPr name="Group 26" id="26"/>
          <p:cNvGrpSpPr/>
          <p:nvPr/>
        </p:nvGrpSpPr>
        <p:grpSpPr>
          <a:xfrm rot="0">
            <a:off x="498673" y="6201116"/>
            <a:ext cx="1602482" cy="1493861"/>
            <a:chOff x="0" y="0"/>
            <a:chExt cx="574293" cy="535366"/>
          </a:xfrm>
        </p:grpSpPr>
        <p:sp>
          <p:nvSpPr>
            <p:cNvPr name="Freeform 27" id="27"/>
            <p:cNvSpPr/>
            <p:nvPr/>
          </p:nvSpPr>
          <p:spPr>
            <a:xfrm flipH="false" flipV="false" rot="0">
              <a:off x="0" y="0"/>
              <a:ext cx="574293" cy="535366"/>
            </a:xfrm>
            <a:custGeom>
              <a:avLst/>
              <a:gdLst/>
              <a:ahLst/>
              <a:cxnLst/>
              <a:rect r="r" b="b" t="t" l="l"/>
              <a:pathLst>
                <a:path h="535366" w="574293">
                  <a:moveTo>
                    <a:pt x="0" y="0"/>
                  </a:moveTo>
                  <a:lnTo>
                    <a:pt x="574293" y="0"/>
                  </a:lnTo>
                  <a:lnTo>
                    <a:pt x="574293" y="535366"/>
                  </a:lnTo>
                  <a:lnTo>
                    <a:pt x="0" y="535366"/>
                  </a:lnTo>
                  <a:close/>
                </a:path>
              </a:pathLst>
            </a:custGeom>
            <a:solidFill>
              <a:srgbClr val="0F1D3B"/>
            </a:solidFill>
          </p:spPr>
        </p:sp>
        <p:sp>
          <p:nvSpPr>
            <p:cNvPr name="TextBox 28" id="28"/>
            <p:cNvSpPr txBox="true"/>
            <p:nvPr/>
          </p:nvSpPr>
          <p:spPr>
            <a:xfrm>
              <a:off x="0" y="28575"/>
              <a:ext cx="574293" cy="506791"/>
            </a:xfrm>
            <a:prstGeom prst="rect">
              <a:avLst/>
            </a:prstGeom>
          </p:spPr>
          <p:txBody>
            <a:bodyPr anchor="ctr" rtlCol="false" tIns="50800" lIns="50800" bIns="50800" rIns="50800"/>
            <a:lstStyle/>
            <a:p>
              <a:pPr algn="ctr">
                <a:lnSpc>
                  <a:spcPts val="1200"/>
                </a:lnSpc>
              </a:pPr>
              <a:r>
                <a:rPr lang="en-US" b="true" sz="1200">
                  <a:solidFill>
                    <a:srgbClr val="FFFFFF"/>
                  </a:solidFill>
                  <a:latin typeface="Nunito Bold"/>
                  <a:ea typeface="Nunito Bold"/>
                  <a:cs typeface="Nunito Bold"/>
                  <a:sym typeface="Nunito Bold"/>
                </a:rPr>
                <a:t>Mentoring, Coaching &amp; Klinik Usaha</a:t>
              </a:r>
            </a:p>
          </p:txBody>
        </p:sp>
      </p:grpSp>
      <p:grpSp>
        <p:nvGrpSpPr>
          <p:cNvPr name="Group 29" id="29"/>
          <p:cNvGrpSpPr/>
          <p:nvPr/>
        </p:nvGrpSpPr>
        <p:grpSpPr>
          <a:xfrm rot="0">
            <a:off x="2408042" y="6201116"/>
            <a:ext cx="4604416" cy="1493861"/>
            <a:chOff x="0" y="0"/>
            <a:chExt cx="1650119" cy="535366"/>
          </a:xfrm>
        </p:grpSpPr>
        <p:sp>
          <p:nvSpPr>
            <p:cNvPr name="Freeform 30" id="30"/>
            <p:cNvSpPr/>
            <p:nvPr/>
          </p:nvSpPr>
          <p:spPr>
            <a:xfrm flipH="false" flipV="false" rot="0">
              <a:off x="0" y="0"/>
              <a:ext cx="1650119" cy="535366"/>
            </a:xfrm>
            <a:custGeom>
              <a:avLst/>
              <a:gdLst/>
              <a:ahLst/>
              <a:cxnLst/>
              <a:rect r="r" b="b" t="t" l="l"/>
              <a:pathLst>
                <a:path h="535366" w="1650119">
                  <a:moveTo>
                    <a:pt x="0" y="0"/>
                  </a:moveTo>
                  <a:lnTo>
                    <a:pt x="1650119" y="0"/>
                  </a:lnTo>
                  <a:lnTo>
                    <a:pt x="1650119" y="535366"/>
                  </a:lnTo>
                  <a:lnTo>
                    <a:pt x="0" y="535366"/>
                  </a:lnTo>
                  <a:close/>
                </a:path>
              </a:pathLst>
            </a:custGeom>
            <a:solidFill>
              <a:srgbClr val="CDD6FF"/>
            </a:solidFill>
          </p:spPr>
        </p:sp>
        <p:sp>
          <p:nvSpPr>
            <p:cNvPr name="TextBox 31" id="31"/>
            <p:cNvSpPr txBox="true"/>
            <p:nvPr/>
          </p:nvSpPr>
          <p:spPr>
            <a:xfrm>
              <a:off x="0" y="-28575"/>
              <a:ext cx="1650119" cy="563941"/>
            </a:xfrm>
            <a:prstGeom prst="rect">
              <a:avLst/>
            </a:prstGeom>
          </p:spPr>
          <p:txBody>
            <a:bodyPr anchor="ctr" rtlCol="false" tIns="50800" lIns="50800" bIns="50800" rIns="50800"/>
            <a:lstStyle/>
            <a:p>
              <a:pPr algn="just">
                <a:lnSpc>
                  <a:spcPts val="1800"/>
                </a:lnSpc>
              </a:pPr>
              <a:r>
                <a:rPr lang="en-US" sz="1200">
                  <a:solidFill>
                    <a:srgbClr val="000000"/>
                  </a:solidFill>
                  <a:latin typeface="Nunito"/>
                  <a:ea typeface="Nunito"/>
                  <a:cs typeface="Nunito"/>
                  <a:sym typeface="Nunito"/>
                </a:rPr>
                <a:t>Untuk 60 peserta di puncak corong, intervensi dilakukan secara mendalam melalui Tahap Pendampingan Intensif. Metode yang digunakan meliputi one-on-one coaching, bimbingan via grup chat, dan fasilitasi "Klinik Usaha" untuk bedah produk, perbaikan higienitas, estetika kemasan (packaging), serta penyusunan Business Plan sederhana yang siap jual.</a:t>
              </a:r>
            </a:p>
          </p:txBody>
        </p:sp>
      </p:grpSp>
      <p:grpSp>
        <p:nvGrpSpPr>
          <p:cNvPr name="Group 32" id="32"/>
          <p:cNvGrpSpPr/>
          <p:nvPr/>
        </p:nvGrpSpPr>
        <p:grpSpPr>
          <a:xfrm rot="0">
            <a:off x="505503" y="8038707"/>
            <a:ext cx="1602482" cy="1666806"/>
            <a:chOff x="0" y="0"/>
            <a:chExt cx="574293" cy="597346"/>
          </a:xfrm>
        </p:grpSpPr>
        <p:sp>
          <p:nvSpPr>
            <p:cNvPr name="Freeform 33" id="33"/>
            <p:cNvSpPr/>
            <p:nvPr/>
          </p:nvSpPr>
          <p:spPr>
            <a:xfrm flipH="false" flipV="false" rot="0">
              <a:off x="0" y="0"/>
              <a:ext cx="574293" cy="597346"/>
            </a:xfrm>
            <a:custGeom>
              <a:avLst/>
              <a:gdLst/>
              <a:ahLst/>
              <a:cxnLst/>
              <a:rect r="r" b="b" t="t" l="l"/>
              <a:pathLst>
                <a:path h="597346" w="574293">
                  <a:moveTo>
                    <a:pt x="0" y="0"/>
                  </a:moveTo>
                  <a:lnTo>
                    <a:pt x="574293" y="0"/>
                  </a:lnTo>
                  <a:lnTo>
                    <a:pt x="574293" y="597346"/>
                  </a:lnTo>
                  <a:lnTo>
                    <a:pt x="0" y="597346"/>
                  </a:lnTo>
                  <a:close/>
                </a:path>
              </a:pathLst>
            </a:custGeom>
            <a:solidFill>
              <a:srgbClr val="0F1D3B"/>
            </a:solidFill>
          </p:spPr>
        </p:sp>
        <p:sp>
          <p:nvSpPr>
            <p:cNvPr name="TextBox 34" id="34"/>
            <p:cNvSpPr txBox="true"/>
            <p:nvPr/>
          </p:nvSpPr>
          <p:spPr>
            <a:xfrm>
              <a:off x="0" y="28575"/>
              <a:ext cx="574293" cy="568771"/>
            </a:xfrm>
            <a:prstGeom prst="rect">
              <a:avLst/>
            </a:prstGeom>
          </p:spPr>
          <p:txBody>
            <a:bodyPr anchor="ctr" rtlCol="false" tIns="50800" lIns="50800" bIns="50800" rIns="50800"/>
            <a:lstStyle/>
            <a:p>
              <a:pPr algn="ctr">
                <a:lnSpc>
                  <a:spcPts val="1200"/>
                </a:lnSpc>
              </a:pPr>
              <a:r>
                <a:rPr lang="en-US" b="true" sz="1200">
                  <a:solidFill>
                    <a:srgbClr val="FFFFFF"/>
                  </a:solidFill>
                  <a:latin typeface="Nunito Bold"/>
                  <a:ea typeface="Nunito Bold"/>
                  <a:cs typeface="Nunito Bold"/>
                  <a:sym typeface="Nunito Bold"/>
                </a:rPr>
                <a:t>Kolaborasi Mitra &amp; Stakeholders Lokal</a:t>
              </a:r>
            </a:p>
          </p:txBody>
        </p:sp>
      </p:grpSp>
      <p:grpSp>
        <p:nvGrpSpPr>
          <p:cNvPr name="Group 35" id="35"/>
          <p:cNvGrpSpPr/>
          <p:nvPr/>
        </p:nvGrpSpPr>
        <p:grpSpPr>
          <a:xfrm rot="0">
            <a:off x="2414873" y="8009301"/>
            <a:ext cx="4604416" cy="1696212"/>
            <a:chOff x="0" y="0"/>
            <a:chExt cx="1650119" cy="607884"/>
          </a:xfrm>
        </p:grpSpPr>
        <p:sp>
          <p:nvSpPr>
            <p:cNvPr name="Freeform 36" id="36"/>
            <p:cNvSpPr/>
            <p:nvPr/>
          </p:nvSpPr>
          <p:spPr>
            <a:xfrm flipH="false" flipV="false" rot="0">
              <a:off x="0" y="0"/>
              <a:ext cx="1650119" cy="607884"/>
            </a:xfrm>
            <a:custGeom>
              <a:avLst/>
              <a:gdLst/>
              <a:ahLst/>
              <a:cxnLst/>
              <a:rect r="r" b="b" t="t" l="l"/>
              <a:pathLst>
                <a:path h="607884" w="1650119">
                  <a:moveTo>
                    <a:pt x="0" y="0"/>
                  </a:moveTo>
                  <a:lnTo>
                    <a:pt x="1650119" y="0"/>
                  </a:lnTo>
                  <a:lnTo>
                    <a:pt x="1650119" y="607884"/>
                  </a:lnTo>
                  <a:lnTo>
                    <a:pt x="0" y="607884"/>
                  </a:lnTo>
                  <a:close/>
                </a:path>
              </a:pathLst>
            </a:custGeom>
            <a:solidFill>
              <a:srgbClr val="CDD6FF"/>
            </a:solidFill>
          </p:spPr>
        </p:sp>
        <p:sp>
          <p:nvSpPr>
            <p:cNvPr name="TextBox 37" id="37"/>
            <p:cNvSpPr txBox="true"/>
            <p:nvPr/>
          </p:nvSpPr>
          <p:spPr>
            <a:xfrm>
              <a:off x="0" y="-28575"/>
              <a:ext cx="1650119" cy="636459"/>
            </a:xfrm>
            <a:prstGeom prst="rect">
              <a:avLst/>
            </a:prstGeom>
          </p:spPr>
          <p:txBody>
            <a:bodyPr anchor="ctr" rtlCol="false" tIns="50800" lIns="50800" bIns="50800" rIns="50800"/>
            <a:lstStyle/>
            <a:p>
              <a:pPr algn="just">
                <a:lnSpc>
                  <a:spcPts val="1800"/>
                </a:lnSpc>
              </a:pPr>
              <a:r>
                <a:rPr lang="en-US" sz="1200">
                  <a:solidFill>
                    <a:srgbClr val="000000"/>
                  </a:solidFill>
                  <a:latin typeface="Nunito"/>
                  <a:ea typeface="Nunito"/>
                  <a:cs typeface="Nunito"/>
                  <a:sym typeface="Nunito"/>
                </a:rPr>
                <a:t>Keberhasilan program didukung oleh pelibatan aktif pemangku kepentingan. Kami berkoordinasi erat dengan Dinas Koperasi &amp; UMKM di Jawa Timur dan Bali untuk Tahap Identifikasi &amp; Seleksi peserta yang tepat sasaran (Desil 1-4). Pada Tahap Temu Mitra Usaha, kami menggandeng Perbankan (Himbara/BPD) untuk akses KUR dan pelaku usaha skala besar sebagai off-taker (pembeli siaga).</a:t>
              </a:r>
            </a:p>
          </p:txBody>
        </p:sp>
      </p:grpSp>
      <p:sp>
        <p:nvSpPr>
          <p:cNvPr name="TextBox 38" id="38"/>
          <p:cNvSpPr txBox="true"/>
          <p:nvPr/>
        </p:nvSpPr>
        <p:spPr>
          <a:xfrm rot="0">
            <a:off x="6571656" y="519574"/>
            <a:ext cx="458406" cy="187960"/>
          </a:xfrm>
          <a:prstGeom prst="rect">
            <a:avLst/>
          </a:prstGeom>
        </p:spPr>
        <p:txBody>
          <a:bodyPr anchor="t" rtlCol="false" tIns="0" lIns="0" bIns="0" rIns="0">
            <a:spAutoFit/>
          </a:bodyPr>
          <a:lstStyle/>
          <a:p>
            <a:pPr algn="r">
              <a:lnSpc>
                <a:spcPts val="1430"/>
              </a:lnSpc>
            </a:pPr>
            <a:r>
              <a:rPr lang="en-US" b="true" sz="1300">
                <a:solidFill>
                  <a:srgbClr val="000000"/>
                </a:solidFill>
                <a:latin typeface="Nunito Bold"/>
                <a:ea typeface="Nunito Bold"/>
                <a:cs typeface="Nunito Bold"/>
                <a:sym typeface="Nunito Bold"/>
              </a:rPr>
              <a:t>2026</a:t>
            </a:r>
          </a:p>
        </p:txBody>
      </p:sp>
      <p:sp>
        <p:nvSpPr>
          <p:cNvPr name="TextBox 39" id="39"/>
          <p:cNvSpPr txBox="true"/>
          <p:nvPr/>
        </p:nvSpPr>
        <p:spPr>
          <a:xfrm rot="0">
            <a:off x="467939" y="1126261"/>
            <a:ext cx="6624121" cy="470535"/>
          </a:xfrm>
          <a:prstGeom prst="rect">
            <a:avLst/>
          </a:prstGeom>
        </p:spPr>
        <p:txBody>
          <a:bodyPr anchor="t" rtlCol="false" tIns="0" lIns="0" bIns="0" rIns="0">
            <a:spAutoFit/>
          </a:bodyPr>
          <a:lstStyle/>
          <a:p>
            <a:pPr algn="ctr">
              <a:lnSpc>
                <a:spcPts val="3630"/>
              </a:lnSpc>
            </a:pPr>
            <a:r>
              <a:rPr lang="en-US" b="true" sz="3300">
                <a:solidFill>
                  <a:srgbClr val="34BDCF"/>
                </a:solidFill>
                <a:latin typeface="Oswald Bold"/>
                <a:ea typeface="Oswald Bold"/>
                <a:cs typeface="Oswald Bold"/>
                <a:sym typeface="Oswald Bold"/>
              </a:rPr>
              <a:t>STRATEGI DAN METODE PELAKSANAAN</a:t>
            </a:r>
          </a:p>
        </p:txBody>
      </p:sp>
      <p:sp>
        <p:nvSpPr>
          <p:cNvPr name="TextBox 40" id="40"/>
          <p:cNvSpPr txBox="true"/>
          <p:nvPr/>
        </p:nvSpPr>
        <p:spPr>
          <a:xfrm rot="0">
            <a:off x="827982" y="10039949"/>
            <a:ext cx="1280004"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0877-74</a:t>
            </a:r>
            <a:r>
              <a:rPr lang="en-US" sz="1100" b="true">
                <a:solidFill>
                  <a:srgbClr val="000000"/>
                </a:solidFill>
                <a:latin typeface="Nunito Bold"/>
                <a:ea typeface="Nunito Bold"/>
                <a:cs typeface="Nunito Bold"/>
                <a:sym typeface="Nunito Bold"/>
              </a:rPr>
              <a:t>13-4288</a:t>
            </a:r>
          </a:p>
        </p:txBody>
      </p:sp>
      <p:sp>
        <p:nvSpPr>
          <p:cNvPr name="TextBox 41" id="41"/>
          <p:cNvSpPr txBox="true"/>
          <p:nvPr/>
        </p:nvSpPr>
        <p:spPr>
          <a:xfrm rot="0">
            <a:off x="2773503" y="10039949"/>
            <a:ext cx="1710998"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www.s</a:t>
            </a:r>
            <a:r>
              <a:rPr lang="en-US" sz="1100" b="true">
                <a:solidFill>
                  <a:srgbClr val="000000"/>
                </a:solidFill>
                <a:latin typeface="Nunito Bold"/>
                <a:ea typeface="Nunito Bold"/>
                <a:cs typeface="Nunito Bold"/>
                <a:sym typeface="Nunito Bold"/>
              </a:rPr>
              <a:t>anggabiz.com</a:t>
            </a:r>
          </a:p>
        </p:txBody>
      </p:sp>
      <p:sp>
        <p:nvSpPr>
          <p:cNvPr name="TextBox 42" id="42"/>
          <p:cNvSpPr txBox="true"/>
          <p:nvPr/>
        </p:nvSpPr>
        <p:spPr>
          <a:xfrm rot="0">
            <a:off x="5126099" y="10039949"/>
            <a:ext cx="1893190"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pa</a:t>
            </a:r>
            <a:r>
              <a:rPr lang="en-US" sz="1100" b="true">
                <a:solidFill>
                  <a:srgbClr val="000000"/>
                </a:solidFill>
                <a:latin typeface="Nunito Bold"/>
                <a:ea typeface="Nunito Bold"/>
                <a:cs typeface="Nunito Bold"/>
                <a:sym typeface="Nunito Bold"/>
              </a:rPr>
              <a:t>rtnership@sanggabiz.com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529937" y="926236"/>
            <a:ext cx="6500125" cy="0"/>
          </a:xfrm>
          <a:prstGeom prst="line">
            <a:avLst/>
          </a:prstGeom>
          <a:ln cap="flat" w="19050">
            <a:solidFill>
              <a:srgbClr val="000000"/>
            </a:solidFill>
            <a:prstDash val="solid"/>
            <a:headEnd type="none" len="sm" w="sm"/>
            <a:tailEnd type="none" len="sm" w="sm"/>
          </a:ln>
        </p:spPr>
      </p:sp>
      <p:sp>
        <p:nvSpPr>
          <p:cNvPr name="AutoShape 3" id="3"/>
          <p:cNvSpPr/>
          <p:nvPr/>
        </p:nvSpPr>
        <p:spPr>
          <a:xfrm flipV="true">
            <a:off x="529937" y="9782475"/>
            <a:ext cx="6500125" cy="0"/>
          </a:xfrm>
          <a:prstGeom prst="line">
            <a:avLst/>
          </a:prstGeom>
          <a:ln cap="flat" w="19050">
            <a:solidFill>
              <a:srgbClr val="000000"/>
            </a:solidFill>
            <a:prstDash val="solid"/>
            <a:headEnd type="none" len="sm" w="sm"/>
            <a:tailEnd type="none" len="sm" w="sm"/>
          </a:ln>
        </p:spPr>
      </p:sp>
      <p:grpSp>
        <p:nvGrpSpPr>
          <p:cNvPr name="Group 4" id="4"/>
          <p:cNvGrpSpPr/>
          <p:nvPr/>
        </p:nvGrpSpPr>
        <p:grpSpPr>
          <a:xfrm rot="0">
            <a:off x="2414873" y="9968045"/>
            <a:ext cx="263381" cy="266997"/>
            <a:chOff x="0" y="0"/>
            <a:chExt cx="351174" cy="355996"/>
          </a:xfrm>
        </p:grpSpPr>
        <p:sp>
          <p:nvSpPr>
            <p:cNvPr name="Freeform 5" id="5"/>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6" id="6"/>
            <p:cNvSpPr/>
            <p:nvPr/>
          </p:nvSpPr>
          <p:spPr>
            <a:xfrm flipH="false" flipV="false" rot="0">
              <a:off x="71763" y="74174"/>
              <a:ext cx="207648" cy="207648"/>
            </a:xfrm>
            <a:custGeom>
              <a:avLst/>
              <a:gdLst/>
              <a:ahLst/>
              <a:cxnLst/>
              <a:rect r="r" b="b" t="t" l="l"/>
              <a:pathLst>
                <a:path h="207648" w="207648">
                  <a:moveTo>
                    <a:pt x="0" y="0"/>
                  </a:moveTo>
                  <a:lnTo>
                    <a:pt x="207648" y="0"/>
                  </a:lnTo>
                  <a:lnTo>
                    <a:pt x="207648" y="207648"/>
                  </a:lnTo>
                  <a:lnTo>
                    <a:pt x="0" y="207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7" id="7"/>
          <p:cNvGrpSpPr/>
          <p:nvPr/>
        </p:nvGrpSpPr>
        <p:grpSpPr>
          <a:xfrm rot="0">
            <a:off x="469351" y="9968045"/>
            <a:ext cx="263381" cy="266997"/>
            <a:chOff x="0" y="0"/>
            <a:chExt cx="351174" cy="355996"/>
          </a:xfrm>
        </p:grpSpPr>
        <p:sp>
          <p:nvSpPr>
            <p:cNvPr name="Freeform 8" id="8"/>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9" id="9"/>
            <p:cNvSpPr/>
            <p:nvPr/>
          </p:nvSpPr>
          <p:spPr>
            <a:xfrm flipH="false" flipV="false" rot="0">
              <a:off x="82548" y="72870"/>
              <a:ext cx="186078" cy="210257"/>
            </a:xfrm>
            <a:custGeom>
              <a:avLst/>
              <a:gdLst/>
              <a:ahLst/>
              <a:cxnLst/>
              <a:rect r="r" b="b" t="t" l="l"/>
              <a:pathLst>
                <a:path h="210257" w="186078">
                  <a:moveTo>
                    <a:pt x="0" y="0"/>
                  </a:moveTo>
                  <a:lnTo>
                    <a:pt x="186078" y="0"/>
                  </a:lnTo>
                  <a:lnTo>
                    <a:pt x="186078" y="210257"/>
                  </a:lnTo>
                  <a:lnTo>
                    <a:pt x="0" y="2102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10" id="10"/>
          <p:cNvGrpSpPr/>
          <p:nvPr/>
        </p:nvGrpSpPr>
        <p:grpSpPr>
          <a:xfrm rot="0">
            <a:off x="4789301" y="9981259"/>
            <a:ext cx="237312" cy="240571"/>
            <a:chOff x="0" y="0"/>
            <a:chExt cx="316416" cy="320761"/>
          </a:xfrm>
        </p:grpSpPr>
        <p:sp>
          <p:nvSpPr>
            <p:cNvPr name="Freeform 11" id="11"/>
            <p:cNvSpPr/>
            <p:nvPr/>
          </p:nvSpPr>
          <p:spPr>
            <a:xfrm flipH="false" flipV="false" rot="0">
              <a:off x="0" y="0"/>
              <a:ext cx="316416" cy="320761"/>
            </a:xfrm>
            <a:custGeom>
              <a:avLst/>
              <a:gdLst/>
              <a:ahLst/>
              <a:cxnLst/>
              <a:rect r="r" b="b" t="t" l="l"/>
              <a:pathLst>
                <a:path h="320761" w="316416">
                  <a:moveTo>
                    <a:pt x="0" y="0"/>
                  </a:moveTo>
                  <a:lnTo>
                    <a:pt x="316416" y="0"/>
                  </a:lnTo>
                  <a:lnTo>
                    <a:pt x="316416" y="320761"/>
                  </a:lnTo>
                  <a:lnTo>
                    <a:pt x="0" y="320761"/>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12" id="12"/>
            <p:cNvSpPr/>
            <p:nvPr/>
          </p:nvSpPr>
          <p:spPr>
            <a:xfrm flipH="false" flipV="false" rot="0">
              <a:off x="63604" y="89073"/>
              <a:ext cx="189207" cy="142615"/>
            </a:xfrm>
            <a:custGeom>
              <a:avLst/>
              <a:gdLst/>
              <a:ahLst/>
              <a:cxnLst/>
              <a:rect r="r" b="b" t="t" l="l"/>
              <a:pathLst>
                <a:path h="142615" w="189207">
                  <a:moveTo>
                    <a:pt x="0" y="0"/>
                  </a:moveTo>
                  <a:lnTo>
                    <a:pt x="189208" y="0"/>
                  </a:lnTo>
                  <a:lnTo>
                    <a:pt x="189208" y="142615"/>
                  </a:lnTo>
                  <a:lnTo>
                    <a:pt x="0" y="1426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13" id="13"/>
          <p:cNvSpPr/>
          <p:nvPr/>
        </p:nvSpPr>
        <p:spPr>
          <a:xfrm flipH="false" flipV="false" rot="0">
            <a:off x="529937" y="235022"/>
            <a:ext cx="2112492" cy="492915"/>
          </a:xfrm>
          <a:custGeom>
            <a:avLst/>
            <a:gdLst/>
            <a:ahLst/>
            <a:cxnLst/>
            <a:rect r="r" b="b" t="t" l="l"/>
            <a:pathLst>
              <a:path h="492915" w="2112492">
                <a:moveTo>
                  <a:pt x="0" y="0"/>
                </a:moveTo>
                <a:lnTo>
                  <a:pt x="2112493" y="0"/>
                </a:lnTo>
                <a:lnTo>
                  <a:pt x="2112493" y="492915"/>
                </a:lnTo>
                <a:lnTo>
                  <a:pt x="0" y="492915"/>
                </a:lnTo>
                <a:lnTo>
                  <a:pt x="0" y="0"/>
                </a:lnTo>
                <a:close/>
              </a:path>
            </a:pathLst>
          </a:custGeom>
          <a:blipFill>
            <a:blip r:embed="rId10"/>
            <a:stretch>
              <a:fillRect l="0" t="0" r="0" b="0"/>
            </a:stretch>
          </a:blipFill>
        </p:spPr>
      </p:sp>
      <p:grpSp>
        <p:nvGrpSpPr>
          <p:cNvPr name="Group 14" id="14"/>
          <p:cNvGrpSpPr/>
          <p:nvPr/>
        </p:nvGrpSpPr>
        <p:grpSpPr>
          <a:xfrm rot="0">
            <a:off x="523107" y="1911084"/>
            <a:ext cx="1602482" cy="1696212"/>
            <a:chOff x="0" y="0"/>
            <a:chExt cx="574293" cy="607884"/>
          </a:xfrm>
        </p:grpSpPr>
        <p:sp>
          <p:nvSpPr>
            <p:cNvPr name="Freeform 15" id="15"/>
            <p:cNvSpPr/>
            <p:nvPr/>
          </p:nvSpPr>
          <p:spPr>
            <a:xfrm flipH="false" flipV="false" rot="0">
              <a:off x="0" y="0"/>
              <a:ext cx="574293" cy="607884"/>
            </a:xfrm>
            <a:custGeom>
              <a:avLst/>
              <a:gdLst/>
              <a:ahLst/>
              <a:cxnLst/>
              <a:rect r="r" b="b" t="t" l="l"/>
              <a:pathLst>
                <a:path h="607884" w="574293">
                  <a:moveTo>
                    <a:pt x="0" y="0"/>
                  </a:moveTo>
                  <a:lnTo>
                    <a:pt x="574293" y="0"/>
                  </a:lnTo>
                  <a:lnTo>
                    <a:pt x="574293" y="607884"/>
                  </a:lnTo>
                  <a:lnTo>
                    <a:pt x="0" y="607884"/>
                  </a:lnTo>
                  <a:close/>
                </a:path>
              </a:pathLst>
            </a:custGeom>
            <a:solidFill>
              <a:srgbClr val="0F1D3B"/>
            </a:solidFill>
          </p:spPr>
        </p:sp>
        <p:sp>
          <p:nvSpPr>
            <p:cNvPr name="TextBox 16" id="16"/>
            <p:cNvSpPr txBox="true"/>
            <p:nvPr/>
          </p:nvSpPr>
          <p:spPr>
            <a:xfrm>
              <a:off x="0" y="28575"/>
              <a:ext cx="574293" cy="579309"/>
            </a:xfrm>
            <a:prstGeom prst="rect">
              <a:avLst/>
            </a:prstGeom>
          </p:spPr>
          <p:txBody>
            <a:bodyPr anchor="ctr" rtlCol="false" tIns="50800" lIns="50800" bIns="50800" rIns="50800"/>
            <a:lstStyle/>
            <a:p>
              <a:pPr algn="ctr">
                <a:lnSpc>
                  <a:spcPts val="1200"/>
                </a:lnSpc>
              </a:pPr>
              <a:r>
                <a:rPr lang="en-US" b="true" sz="1200">
                  <a:solidFill>
                    <a:srgbClr val="FFFFFF"/>
                  </a:solidFill>
                  <a:latin typeface="Nunito Bold"/>
                  <a:ea typeface="Nunito Bold"/>
                  <a:cs typeface="Nunito Bold"/>
                  <a:sym typeface="Nunito Bold"/>
                </a:rPr>
                <a:t>Kurikulum &amp; Fasilitas Inklusif (Ramah Disabilitas)</a:t>
              </a:r>
            </a:p>
          </p:txBody>
        </p:sp>
      </p:grpSp>
      <p:grpSp>
        <p:nvGrpSpPr>
          <p:cNvPr name="Group 17" id="17"/>
          <p:cNvGrpSpPr/>
          <p:nvPr/>
        </p:nvGrpSpPr>
        <p:grpSpPr>
          <a:xfrm rot="0">
            <a:off x="2432477" y="1911084"/>
            <a:ext cx="4604416" cy="1696212"/>
            <a:chOff x="0" y="0"/>
            <a:chExt cx="1650119" cy="607884"/>
          </a:xfrm>
        </p:grpSpPr>
        <p:sp>
          <p:nvSpPr>
            <p:cNvPr name="Freeform 18" id="18"/>
            <p:cNvSpPr/>
            <p:nvPr/>
          </p:nvSpPr>
          <p:spPr>
            <a:xfrm flipH="false" flipV="false" rot="0">
              <a:off x="0" y="0"/>
              <a:ext cx="1650119" cy="607884"/>
            </a:xfrm>
            <a:custGeom>
              <a:avLst/>
              <a:gdLst/>
              <a:ahLst/>
              <a:cxnLst/>
              <a:rect r="r" b="b" t="t" l="l"/>
              <a:pathLst>
                <a:path h="607884" w="1650119">
                  <a:moveTo>
                    <a:pt x="0" y="0"/>
                  </a:moveTo>
                  <a:lnTo>
                    <a:pt x="1650119" y="0"/>
                  </a:lnTo>
                  <a:lnTo>
                    <a:pt x="1650119" y="607884"/>
                  </a:lnTo>
                  <a:lnTo>
                    <a:pt x="0" y="607884"/>
                  </a:lnTo>
                  <a:close/>
                </a:path>
              </a:pathLst>
            </a:custGeom>
            <a:solidFill>
              <a:srgbClr val="CDD6FF"/>
            </a:solidFill>
          </p:spPr>
        </p:sp>
        <p:sp>
          <p:nvSpPr>
            <p:cNvPr name="TextBox 19" id="19"/>
            <p:cNvSpPr txBox="true"/>
            <p:nvPr/>
          </p:nvSpPr>
          <p:spPr>
            <a:xfrm>
              <a:off x="0" y="-28575"/>
              <a:ext cx="1650119" cy="636459"/>
            </a:xfrm>
            <a:prstGeom prst="rect">
              <a:avLst/>
            </a:prstGeom>
          </p:spPr>
          <p:txBody>
            <a:bodyPr anchor="ctr" rtlCol="false" tIns="50800" lIns="50800" bIns="50800" rIns="50800"/>
            <a:lstStyle/>
            <a:p>
              <a:pPr algn="just">
                <a:lnSpc>
                  <a:spcPts val="1800"/>
                </a:lnSpc>
              </a:pPr>
              <a:r>
                <a:rPr lang="en-US" sz="1200">
                  <a:solidFill>
                    <a:srgbClr val="000000"/>
                  </a:solidFill>
                  <a:latin typeface="Nunito"/>
                  <a:ea typeface="Nunito"/>
                  <a:cs typeface="Nunito"/>
                  <a:sym typeface="Nunito"/>
                </a:rPr>
                <a:t>Mate</a:t>
              </a:r>
              <a:r>
                <a:rPr lang="en-US" sz="1200">
                  <a:solidFill>
                    <a:srgbClr val="000000"/>
                  </a:solidFill>
                  <a:latin typeface="Nunito"/>
                  <a:ea typeface="Nunito"/>
                  <a:cs typeface="Nunito"/>
                  <a:sym typeface="Nunito"/>
                </a:rPr>
                <a:t>ri disusun melalui Tahap Pembahasan Modul bersama ahli andragogi untuk memastikan konten aplikatif dan inklusif. Kurikulum menggunakan pendekatan multimodal (visual, audio, teks sederhana). Fasilitas luring di</a:t>
              </a:r>
              <a:r>
                <a:rPr lang="en-US" sz="1200">
                  <a:solidFill>
                    <a:srgbClr val="000000"/>
                  </a:solidFill>
                  <a:latin typeface="Nunito"/>
                  <a:ea typeface="Nunito"/>
                  <a:cs typeface="Nunito"/>
                  <a:sym typeface="Nunito"/>
                </a:rPr>
                <a:t>pili</a:t>
              </a:r>
              <a:r>
                <a:rPr lang="en-US" sz="1200">
                  <a:solidFill>
                    <a:srgbClr val="000000"/>
                  </a:solidFill>
                  <a:latin typeface="Nunito"/>
                  <a:ea typeface="Nunito"/>
                  <a:cs typeface="Nunito"/>
                  <a:sym typeface="Nunito"/>
                </a:rPr>
                <a:t>h ya</a:t>
              </a:r>
              <a:r>
                <a:rPr lang="en-US" sz="1200">
                  <a:solidFill>
                    <a:srgbClr val="000000"/>
                  </a:solidFill>
                  <a:latin typeface="Nunito"/>
                  <a:ea typeface="Nunito"/>
                  <a:cs typeface="Nunito"/>
                  <a:sym typeface="Nunito"/>
                </a:rPr>
                <a:t>ng</a:t>
              </a:r>
              <a:r>
                <a:rPr lang="en-US" sz="1200">
                  <a:solidFill>
                    <a:srgbClr val="000000"/>
                  </a:solidFill>
                  <a:latin typeface="Nunito"/>
                  <a:ea typeface="Nunito"/>
                  <a:cs typeface="Nunito"/>
                  <a:sym typeface="Nunito"/>
                </a:rPr>
                <a:t> memiliki aksesibilitas fisik memadai (ramah kursi roda/mobilitas), serta menyediakan pendampingan personal bagi peserta penyandang disabilitas dan kelompok rentan.</a:t>
              </a:r>
            </a:p>
          </p:txBody>
        </p:sp>
      </p:grpSp>
      <p:grpSp>
        <p:nvGrpSpPr>
          <p:cNvPr name="Group 20" id="20"/>
          <p:cNvGrpSpPr/>
          <p:nvPr/>
        </p:nvGrpSpPr>
        <p:grpSpPr>
          <a:xfrm rot="0">
            <a:off x="526522" y="3921621"/>
            <a:ext cx="1602482" cy="1703886"/>
            <a:chOff x="0" y="0"/>
            <a:chExt cx="574293" cy="610634"/>
          </a:xfrm>
        </p:grpSpPr>
        <p:sp>
          <p:nvSpPr>
            <p:cNvPr name="Freeform 21" id="21"/>
            <p:cNvSpPr/>
            <p:nvPr/>
          </p:nvSpPr>
          <p:spPr>
            <a:xfrm flipH="false" flipV="false" rot="0">
              <a:off x="0" y="0"/>
              <a:ext cx="574293" cy="610634"/>
            </a:xfrm>
            <a:custGeom>
              <a:avLst/>
              <a:gdLst/>
              <a:ahLst/>
              <a:cxnLst/>
              <a:rect r="r" b="b" t="t" l="l"/>
              <a:pathLst>
                <a:path h="610634" w="574293">
                  <a:moveTo>
                    <a:pt x="0" y="0"/>
                  </a:moveTo>
                  <a:lnTo>
                    <a:pt x="574293" y="0"/>
                  </a:lnTo>
                  <a:lnTo>
                    <a:pt x="574293" y="610634"/>
                  </a:lnTo>
                  <a:lnTo>
                    <a:pt x="0" y="610634"/>
                  </a:lnTo>
                  <a:close/>
                </a:path>
              </a:pathLst>
            </a:custGeom>
            <a:solidFill>
              <a:srgbClr val="0F1D3B"/>
            </a:solidFill>
          </p:spPr>
        </p:sp>
        <p:sp>
          <p:nvSpPr>
            <p:cNvPr name="TextBox 22" id="22"/>
            <p:cNvSpPr txBox="true"/>
            <p:nvPr/>
          </p:nvSpPr>
          <p:spPr>
            <a:xfrm>
              <a:off x="0" y="28575"/>
              <a:ext cx="574293" cy="582059"/>
            </a:xfrm>
            <a:prstGeom prst="rect">
              <a:avLst/>
            </a:prstGeom>
          </p:spPr>
          <p:txBody>
            <a:bodyPr anchor="ctr" rtlCol="false" tIns="50800" lIns="50800" bIns="50800" rIns="50800"/>
            <a:lstStyle/>
            <a:p>
              <a:pPr algn="ctr">
                <a:lnSpc>
                  <a:spcPts val="1200"/>
                </a:lnSpc>
              </a:pPr>
              <a:r>
                <a:rPr lang="en-US" b="true" sz="1200">
                  <a:solidFill>
                    <a:srgbClr val="FFFFFF"/>
                  </a:solidFill>
                  <a:latin typeface="Nunito Bold"/>
                  <a:ea typeface="Nunito Bold"/>
                  <a:cs typeface="Nunito Bold"/>
                  <a:sym typeface="Nunito Bold"/>
                </a:rPr>
                <a:t>Evaluasi Berjenjang &amp; Integrasi Data (Learning Journey)</a:t>
              </a:r>
            </a:p>
          </p:txBody>
        </p:sp>
      </p:grpSp>
      <p:grpSp>
        <p:nvGrpSpPr>
          <p:cNvPr name="Group 23" id="23"/>
          <p:cNvGrpSpPr/>
          <p:nvPr/>
        </p:nvGrpSpPr>
        <p:grpSpPr>
          <a:xfrm rot="0">
            <a:off x="2435892" y="3921621"/>
            <a:ext cx="4604416" cy="1703886"/>
            <a:chOff x="0" y="0"/>
            <a:chExt cx="1650119" cy="610634"/>
          </a:xfrm>
        </p:grpSpPr>
        <p:sp>
          <p:nvSpPr>
            <p:cNvPr name="Freeform 24" id="24"/>
            <p:cNvSpPr/>
            <p:nvPr/>
          </p:nvSpPr>
          <p:spPr>
            <a:xfrm flipH="false" flipV="false" rot="0">
              <a:off x="0" y="0"/>
              <a:ext cx="1650119" cy="610634"/>
            </a:xfrm>
            <a:custGeom>
              <a:avLst/>
              <a:gdLst/>
              <a:ahLst/>
              <a:cxnLst/>
              <a:rect r="r" b="b" t="t" l="l"/>
              <a:pathLst>
                <a:path h="610634" w="1650119">
                  <a:moveTo>
                    <a:pt x="0" y="0"/>
                  </a:moveTo>
                  <a:lnTo>
                    <a:pt x="1650119" y="0"/>
                  </a:lnTo>
                  <a:lnTo>
                    <a:pt x="1650119" y="610634"/>
                  </a:lnTo>
                  <a:lnTo>
                    <a:pt x="0" y="610634"/>
                  </a:lnTo>
                  <a:close/>
                </a:path>
              </a:pathLst>
            </a:custGeom>
            <a:solidFill>
              <a:srgbClr val="CDD6FF"/>
            </a:solidFill>
          </p:spPr>
        </p:sp>
        <p:sp>
          <p:nvSpPr>
            <p:cNvPr name="TextBox 25" id="25"/>
            <p:cNvSpPr txBox="true"/>
            <p:nvPr/>
          </p:nvSpPr>
          <p:spPr>
            <a:xfrm>
              <a:off x="0" y="-28575"/>
              <a:ext cx="1650119" cy="639209"/>
            </a:xfrm>
            <a:prstGeom prst="rect">
              <a:avLst/>
            </a:prstGeom>
          </p:spPr>
          <p:txBody>
            <a:bodyPr anchor="ctr" rtlCol="false" tIns="50800" lIns="50800" bIns="50800" rIns="50800"/>
            <a:lstStyle/>
            <a:p>
              <a:pPr algn="just">
                <a:lnSpc>
                  <a:spcPts val="1800"/>
                </a:lnSpc>
              </a:pPr>
              <a:r>
                <a:rPr lang="en-US" sz="1200">
                  <a:solidFill>
                    <a:srgbClr val="000000"/>
                  </a:solidFill>
                  <a:latin typeface="Nunito"/>
                  <a:ea typeface="Nunito"/>
                  <a:cs typeface="Nunito"/>
                  <a:sym typeface="Nunito"/>
                </a:rPr>
                <a:t>Evaluasi dilakukan secara berkala menggunakan kerangka Kirkpatrick (Reaction, Learning, Behavior, Results) untuk mengukur kenaikan omzet dan adopsi digital. Seluruh proses diakhiri dengan Tahap Monitoring, Evaluasi, dan Integrasi Data, di mana 1.700 data profil dan capaian peserta by name by address dimigrasikan secara penuh ke dalam pangkalan data SAPA UMKM.</a:t>
              </a:r>
            </a:p>
          </p:txBody>
        </p:sp>
      </p:grpSp>
      <p:sp>
        <p:nvSpPr>
          <p:cNvPr name="TextBox 26" id="26"/>
          <p:cNvSpPr txBox="true"/>
          <p:nvPr/>
        </p:nvSpPr>
        <p:spPr>
          <a:xfrm rot="0">
            <a:off x="6571656" y="519574"/>
            <a:ext cx="458406" cy="187960"/>
          </a:xfrm>
          <a:prstGeom prst="rect">
            <a:avLst/>
          </a:prstGeom>
        </p:spPr>
        <p:txBody>
          <a:bodyPr anchor="t" rtlCol="false" tIns="0" lIns="0" bIns="0" rIns="0">
            <a:spAutoFit/>
          </a:bodyPr>
          <a:lstStyle/>
          <a:p>
            <a:pPr algn="r">
              <a:lnSpc>
                <a:spcPts val="1430"/>
              </a:lnSpc>
            </a:pPr>
            <a:r>
              <a:rPr lang="en-US" b="true" sz="1300">
                <a:solidFill>
                  <a:srgbClr val="000000"/>
                </a:solidFill>
                <a:latin typeface="Nunito Bold"/>
                <a:ea typeface="Nunito Bold"/>
                <a:cs typeface="Nunito Bold"/>
                <a:sym typeface="Nunito Bold"/>
              </a:rPr>
              <a:t>2026</a:t>
            </a:r>
          </a:p>
        </p:txBody>
      </p:sp>
      <p:sp>
        <p:nvSpPr>
          <p:cNvPr name="TextBox 27" id="27"/>
          <p:cNvSpPr txBox="true"/>
          <p:nvPr/>
        </p:nvSpPr>
        <p:spPr>
          <a:xfrm rot="0">
            <a:off x="467939" y="1126261"/>
            <a:ext cx="6624121" cy="470535"/>
          </a:xfrm>
          <a:prstGeom prst="rect">
            <a:avLst/>
          </a:prstGeom>
        </p:spPr>
        <p:txBody>
          <a:bodyPr anchor="t" rtlCol="false" tIns="0" lIns="0" bIns="0" rIns="0">
            <a:spAutoFit/>
          </a:bodyPr>
          <a:lstStyle/>
          <a:p>
            <a:pPr algn="ctr">
              <a:lnSpc>
                <a:spcPts val="3630"/>
              </a:lnSpc>
            </a:pPr>
            <a:r>
              <a:rPr lang="en-US" b="true" sz="3300">
                <a:solidFill>
                  <a:srgbClr val="34BDCF"/>
                </a:solidFill>
                <a:latin typeface="Oswald Bold"/>
                <a:ea typeface="Oswald Bold"/>
                <a:cs typeface="Oswald Bold"/>
                <a:sym typeface="Oswald Bold"/>
              </a:rPr>
              <a:t>STRATEGI DAN METODE PELAKSANAAN</a:t>
            </a:r>
          </a:p>
        </p:txBody>
      </p:sp>
      <p:sp>
        <p:nvSpPr>
          <p:cNvPr name="TextBox 28" id="28"/>
          <p:cNvSpPr txBox="true"/>
          <p:nvPr/>
        </p:nvSpPr>
        <p:spPr>
          <a:xfrm rot="0">
            <a:off x="827982" y="10039949"/>
            <a:ext cx="1280004"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0877-74</a:t>
            </a:r>
            <a:r>
              <a:rPr lang="en-US" sz="1100" b="true">
                <a:solidFill>
                  <a:srgbClr val="000000"/>
                </a:solidFill>
                <a:latin typeface="Nunito Bold"/>
                <a:ea typeface="Nunito Bold"/>
                <a:cs typeface="Nunito Bold"/>
                <a:sym typeface="Nunito Bold"/>
              </a:rPr>
              <a:t>13-4288</a:t>
            </a:r>
          </a:p>
        </p:txBody>
      </p:sp>
      <p:sp>
        <p:nvSpPr>
          <p:cNvPr name="TextBox 29" id="29"/>
          <p:cNvSpPr txBox="true"/>
          <p:nvPr/>
        </p:nvSpPr>
        <p:spPr>
          <a:xfrm rot="0">
            <a:off x="2773503" y="10039949"/>
            <a:ext cx="1710998"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www.s</a:t>
            </a:r>
            <a:r>
              <a:rPr lang="en-US" sz="1100" b="true">
                <a:solidFill>
                  <a:srgbClr val="000000"/>
                </a:solidFill>
                <a:latin typeface="Nunito Bold"/>
                <a:ea typeface="Nunito Bold"/>
                <a:cs typeface="Nunito Bold"/>
                <a:sym typeface="Nunito Bold"/>
              </a:rPr>
              <a:t>anggabiz.com</a:t>
            </a:r>
          </a:p>
        </p:txBody>
      </p:sp>
      <p:sp>
        <p:nvSpPr>
          <p:cNvPr name="TextBox 30" id="30"/>
          <p:cNvSpPr txBox="true"/>
          <p:nvPr/>
        </p:nvSpPr>
        <p:spPr>
          <a:xfrm rot="0">
            <a:off x="5126099" y="10039949"/>
            <a:ext cx="1893190"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pa</a:t>
            </a:r>
            <a:r>
              <a:rPr lang="en-US" sz="1100" b="true">
                <a:solidFill>
                  <a:srgbClr val="000000"/>
                </a:solidFill>
                <a:latin typeface="Nunito Bold"/>
                <a:ea typeface="Nunito Bold"/>
                <a:cs typeface="Nunito Bold"/>
                <a:sym typeface="Nunito Bold"/>
              </a:rPr>
              <a:t>rtnership@sanggabiz.com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529937" y="926236"/>
            <a:ext cx="6500125" cy="0"/>
          </a:xfrm>
          <a:prstGeom prst="line">
            <a:avLst/>
          </a:prstGeom>
          <a:ln cap="flat" w="19050">
            <a:solidFill>
              <a:srgbClr val="000000"/>
            </a:solidFill>
            <a:prstDash val="solid"/>
            <a:headEnd type="none" len="sm" w="sm"/>
            <a:tailEnd type="none" len="sm" w="sm"/>
          </a:ln>
        </p:spPr>
      </p:sp>
      <p:sp>
        <p:nvSpPr>
          <p:cNvPr name="AutoShape 3" id="3"/>
          <p:cNvSpPr/>
          <p:nvPr/>
        </p:nvSpPr>
        <p:spPr>
          <a:xfrm flipV="true">
            <a:off x="529937" y="9782475"/>
            <a:ext cx="6500125" cy="0"/>
          </a:xfrm>
          <a:prstGeom prst="line">
            <a:avLst/>
          </a:prstGeom>
          <a:ln cap="flat" w="19050">
            <a:solidFill>
              <a:srgbClr val="000000"/>
            </a:solidFill>
            <a:prstDash val="solid"/>
            <a:headEnd type="none" len="sm" w="sm"/>
            <a:tailEnd type="none" len="sm" w="sm"/>
          </a:ln>
        </p:spPr>
      </p:sp>
      <p:grpSp>
        <p:nvGrpSpPr>
          <p:cNvPr name="Group 4" id="4"/>
          <p:cNvGrpSpPr/>
          <p:nvPr/>
        </p:nvGrpSpPr>
        <p:grpSpPr>
          <a:xfrm rot="0">
            <a:off x="2414873" y="9968045"/>
            <a:ext cx="263381" cy="266997"/>
            <a:chOff x="0" y="0"/>
            <a:chExt cx="351174" cy="355996"/>
          </a:xfrm>
        </p:grpSpPr>
        <p:sp>
          <p:nvSpPr>
            <p:cNvPr name="Freeform 5" id="5"/>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6" id="6"/>
            <p:cNvSpPr/>
            <p:nvPr/>
          </p:nvSpPr>
          <p:spPr>
            <a:xfrm flipH="false" flipV="false" rot="0">
              <a:off x="71763" y="74174"/>
              <a:ext cx="207648" cy="207648"/>
            </a:xfrm>
            <a:custGeom>
              <a:avLst/>
              <a:gdLst/>
              <a:ahLst/>
              <a:cxnLst/>
              <a:rect r="r" b="b" t="t" l="l"/>
              <a:pathLst>
                <a:path h="207648" w="207648">
                  <a:moveTo>
                    <a:pt x="0" y="0"/>
                  </a:moveTo>
                  <a:lnTo>
                    <a:pt x="207648" y="0"/>
                  </a:lnTo>
                  <a:lnTo>
                    <a:pt x="207648" y="207648"/>
                  </a:lnTo>
                  <a:lnTo>
                    <a:pt x="0" y="207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7" id="7"/>
          <p:cNvGrpSpPr/>
          <p:nvPr/>
        </p:nvGrpSpPr>
        <p:grpSpPr>
          <a:xfrm rot="0">
            <a:off x="469351" y="9968045"/>
            <a:ext cx="263381" cy="266997"/>
            <a:chOff x="0" y="0"/>
            <a:chExt cx="351174" cy="355996"/>
          </a:xfrm>
        </p:grpSpPr>
        <p:sp>
          <p:nvSpPr>
            <p:cNvPr name="Freeform 8" id="8"/>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9" id="9"/>
            <p:cNvSpPr/>
            <p:nvPr/>
          </p:nvSpPr>
          <p:spPr>
            <a:xfrm flipH="false" flipV="false" rot="0">
              <a:off x="82548" y="72870"/>
              <a:ext cx="186078" cy="210257"/>
            </a:xfrm>
            <a:custGeom>
              <a:avLst/>
              <a:gdLst/>
              <a:ahLst/>
              <a:cxnLst/>
              <a:rect r="r" b="b" t="t" l="l"/>
              <a:pathLst>
                <a:path h="210257" w="186078">
                  <a:moveTo>
                    <a:pt x="0" y="0"/>
                  </a:moveTo>
                  <a:lnTo>
                    <a:pt x="186078" y="0"/>
                  </a:lnTo>
                  <a:lnTo>
                    <a:pt x="186078" y="210257"/>
                  </a:lnTo>
                  <a:lnTo>
                    <a:pt x="0" y="2102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10" id="10"/>
          <p:cNvGrpSpPr/>
          <p:nvPr/>
        </p:nvGrpSpPr>
        <p:grpSpPr>
          <a:xfrm rot="0">
            <a:off x="4789301" y="9981259"/>
            <a:ext cx="237312" cy="240571"/>
            <a:chOff x="0" y="0"/>
            <a:chExt cx="316416" cy="320761"/>
          </a:xfrm>
        </p:grpSpPr>
        <p:sp>
          <p:nvSpPr>
            <p:cNvPr name="Freeform 11" id="11"/>
            <p:cNvSpPr/>
            <p:nvPr/>
          </p:nvSpPr>
          <p:spPr>
            <a:xfrm flipH="false" flipV="false" rot="0">
              <a:off x="0" y="0"/>
              <a:ext cx="316416" cy="320761"/>
            </a:xfrm>
            <a:custGeom>
              <a:avLst/>
              <a:gdLst/>
              <a:ahLst/>
              <a:cxnLst/>
              <a:rect r="r" b="b" t="t" l="l"/>
              <a:pathLst>
                <a:path h="320761" w="316416">
                  <a:moveTo>
                    <a:pt x="0" y="0"/>
                  </a:moveTo>
                  <a:lnTo>
                    <a:pt x="316416" y="0"/>
                  </a:lnTo>
                  <a:lnTo>
                    <a:pt x="316416" y="320761"/>
                  </a:lnTo>
                  <a:lnTo>
                    <a:pt x="0" y="320761"/>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12" id="12"/>
            <p:cNvSpPr/>
            <p:nvPr/>
          </p:nvSpPr>
          <p:spPr>
            <a:xfrm flipH="false" flipV="false" rot="0">
              <a:off x="63604" y="89073"/>
              <a:ext cx="189207" cy="142615"/>
            </a:xfrm>
            <a:custGeom>
              <a:avLst/>
              <a:gdLst/>
              <a:ahLst/>
              <a:cxnLst/>
              <a:rect r="r" b="b" t="t" l="l"/>
              <a:pathLst>
                <a:path h="142615" w="189207">
                  <a:moveTo>
                    <a:pt x="0" y="0"/>
                  </a:moveTo>
                  <a:lnTo>
                    <a:pt x="189208" y="0"/>
                  </a:lnTo>
                  <a:lnTo>
                    <a:pt x="189208" y="142615"/>
                  </a:lnTo>
                  <a:lnTo>
                    <a:pt x="0" y="1426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13" id="13"/>
          <p:cNvSpPr/>
          <p:nvPr/>
        </p:nvSpPr>
        <p:spPr>
          <a:xfrm flipH="false" flipV="false" rot="0">
            <a:off x="529937" y="235022"/>
            <a:ext cx="2112492" cy="492915"/>
          </a:xfrm>
          <a:custGeom>
            <a:avLst/>
            <a:gdLst/>
            <a:ahLst/>
            <a:cxnLst/>
            <a:rect r="r" b="b" t="t" l="l"/>
            <a:pathLst>
              <a:path h="492915" w="2112492">
                <a:moveTo>
                  <a:pt x="0" y="0"/>
                </a:moveTo>
                <a:lnTo>
                  <a:pt x="2112493" y="0"/>
                </a:lnTo>
                <a:lnTo>
                  <a:pt x="2112493" y="492915"/>
                </a:lnTo>
                <a:lnTo>
                  <a:pt x="0" y="492915"/>
                </a:lnTo>
                <a:lnTo>
                  <a:pt x="0" y="0"/>
                </a:lnTo>
                <a:close/>
              </a:path>
            </a:pathLst>
          </a:custGeom>
          <a:blipFill>
            <a:blip r:embed="rId10"/>
            <a:stretch>
              <a:fillRect l="0" t="0" r="0" b="0"/>
            </a:stretch>
          </a:blipFill>
        </p:spPr>
      </p:sp>
      <p:graphicFrame>
        <p:nvGraphicFramePr>
          <p:cNvPr name="Object 14" id="14"/>
          <p:cNvGraphicFramePr/>
          <p:nvPr/>
        </p:nvGraphicFramePr>
        <p:xfrm>
          <a:off x="467939" y="1827459"/>
          <a:ext cx="6515100" cy="2514600"/>
        </p:xfrm>
        <a:graphic>
          <a:graphicData uri="http://schemas.openxmlformats.org/presentationml/2006/ole">
            <p:oleObj imgW="7810500" imgH="3810000" r:id="rId12" progId="Excel.Sheet.12" name="Worksheet">
              <p:embed/>
              <p:pic>
                <p:nvPicPr>
                  <p:cNvPr name="" id="0"/>
                  <p:cNvPicPr/>
                  <p:nvPr/>
                </p:nvPicPr>
                <p:blipFill>
                  <a:blip r:embed="rId11"/>
                  <a:stretch>
                    <a:fillRect/>
                  </a:stretch>
                </p:blipFill>
                <p:spPr>
                  <a:xfrm>
                    <a:off x="1270000" y="1270000"/>
                    <a:ext cx="1270000" cy="1270000"/>
                  </a:xfrm>
                  <a:prstGeom prst="rect"/>
                </p:spPr>
              </p:pic>
            </p:oleObj>
          </a:graphicData>
        </a:graphic>
      </p:graphicFrame>
      <p:sp>
        <p:nvSpPr>
          <p:cNvPr name="TextBox 15" id="15"/>
          <p:cNvSpPr txBox="true"/>
          <p:nvPr/>
        </p:nvSpPr>
        <p:spPr>
          <a:xfrm rot="0">
            <a:off x="6571656" y="519574"/>
            <a:ext cx="458406" cy="187960"/>
          </a:xfrm>
          <a:prstGeom prst="rect">
            <a:avLst/>
          </a:prstGeom>
        </p:spPr>
        <p:txBody>
          <a:bodyPr anchor="t" rtlCol="false" tIns="0" lIns="0" bIns="0" rIns="0">
            <a:spAutoFit/>
          </a:bodyPr>
          <a:lstStyle/>
          <a:p>
            <a:pPr algn="r">
              <a:lnSpc>
                <a:spcPts val="1430"/>
              </a:lnSpc>
            </a:pPr>
            <a:r>
              <a:rPr lang="en-US" b="true" sz="1300">
                <a:solidFill>
                  <a:srgbClr val="000000"/>
                </a:solidFill>
                <a:latin typeface="Nunito Bold"/>
                <a:ea typeface="Nunito Bold"/>
                <a:cs typeface="Nunito Bold"/>
                <a:sym typeface="Nunito Bold"/>
              </a:rPr>
              <a:t>2026</a:t>
            </a:r>
          </a:p>
        </p:txBody>
      </p:sp>
      <p:sp>
        <p:nvSpPr>
          <p:cNvPr name="TextBox 16" id="16"/>
          <p:cNvSpPr txBox="true"/>
          <p:nvPr/>
        </p:nvSpPr>
        <p:spPr>
          <a:xfrm rot="0">
            <a:off x="467939" y="1126261"/>
            <a:ext cx="6624121" cy="539273"/>
          </a:xfrm>
          <a:prstGeom prst="rect">
            <a:avLst/>
          </a:prstGeom>
        </p:spPr>
        <p:txBody>
          <a:bodyPr anchor="t" rtlCol="false" tIns="0" lIns="0" bIns="0" rIns="0">
            <a:spAutoFit/>
          </a:bodyPr>
          <a:lstStyle/>
          <a:p>
            <a:pPr algn="ctr">
              <a:lnSpc>
                <a:spcPts val="4137"/>
              </a:lnSpc>
            </a:pPr>
            <a:r>
              <a:rPr lang="en-US" b="true" sz="3761">
                <a:solidFill>
                  <a:srgbClr val="34BDCF"/>
                </a:solidFill>
                <a:latin typeface="Oswald Bold"/>
                <a:ea typeface="Oswald Bold"/>
                <a:cs typeface="Oswald Bold"/>
                <a:sym typeface="Oswald Bold"/>
              </a:rPr>
              <a:t>KURIKULUM PEMBELAJARAN</a:t>
            </a:r>
          </a:p>
        </p:txBody>
      </p:sp>
      <p:sp>
        <p:nvSpPr>
          <p:cNvPr name="TextBox 17" id="17"/>
          <p:cNvSpPr txBox="true"/>
          <p:nvPr/>
        </p:nvSpPr>
        <p:spPr>
          <a:xfrm rot="0">
            <a:off x="827982" y="10039949"/>
            <a:ext cx="1280004"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0877-74</a:t>
            </a:r>
            <a:r>
              <a:rPr lang="en-US" sz="1100" b="true">
                <a:solidFill>
                  <a:srgbClr val="000000"/>
                </a:solidFill>
                <a:latin typeface="Nunito Bold"/>
                <a:ea typeface="Nunito Bold"/>
                <a:cs typeface="Nunito Bold"/>
                <a:sym typeface="Nunito Bold"/>
              </a:rPr>
              <a:t>13-4288</a:t>
            </a:r>
          </a:p>
        </p:txBody>
      </p:sp>
      <p:sp>
        <p:nvSpPr>
          <p:cNvPr name="TextBox 18" id="18"/>
          <p:cNvSpPr txBox="true"/>
          <p:nvPr/>
        </p:nvSpPr>
        <p:spPr>
          <a:xfrm rot="0">
            <a:off x="2773503" y="10039949"/>
            <a:ext cx="1710998"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www.s</a:t>
            </a:r>
            <a:r>
              <a:rPr lang="en-US" sz="1100" b="true">
                <a:solidFill>
                  <a:srgbClr val="000000"/>
                </a:solidFill>
                <a:latin typeface="Nunito Bold"/>
                <a:ea typeface="Nunito Bold"/>
                <a:cs typeface="Nunito Bold"/>
                <a:sym typeface="Nunito Bold"/>
              </a:rPr>
              <a:t>anggabiz.com</a:t>
            </a:r>
          </a:p>
        </p:txBody>
      </p:sp>
      <p:sp>
        <p:nvSpPr>
          <p:cNvPr name="TextBox 19" id="19"/>
          <p:cNvSpPr txBox="true"/>
          <p:nvPr/>
        </p:nvSpPr>
        <p:spPr>
          <a:xfrm rot="0">
            <a:off x="5126099" y="10039949"/>
            <a:ext cx="1893190"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pa</a:t>
            </a:r>
            <a:r>
              <a:rPr lang="en-US" sz="1100" b="true">
                <a:solidFill>
                  <a:srgbClr val="000000"/>
                </a:solidFill>
                <a:latin typeface="Nunito Bold"/>
                <a:ea typeface="Nunito Bold"/>
                <a:cs typeface="Nunito Bold"/>
                <a:sym typeface="Nunito Bold"/>
              </a:rPr>
              <a:t>rtnership@sanggabiz.com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529937" y="926236"/>
            <a:ext cx="6500125" cy="0"/>
          </a:xfrm>
          <a:prstGeom prst="line">
            <a:avLst/>
          </a:prstGeom>
          <a:ln cap="flat" w="19050">
            <a:solidFill>
              <a:srgbClr val="000000"/>
            </a:solidFill>
            <a:prstDash val="solid"/>
            <a:headEnd type="none" len="sm" w="sm"/>
            <a:tailEnd type="none" len="sm" w="sm"/>
          </a:ln>
        </p:spPr>
      </p:sp>
      <p:sp>
        <p:nvSpPr>
          <p:cNvPr name="AutoShape 3" id="3"/>
          <p:cNvSpPr/>
          <p:nvPr/>
        </p:nvSpPr>
        <p:spPr>
          <a:xfrm flipV="true">
            <a:off x="529937" y="9782475"/>
            <a:ext cx="6500125" cy="0"/>
          </a:xfrm>
          <a:prstGeom prst="line">
            <a:avLst/>
          </a:prstGeom>
          <a:ln cap="flat" w="19050">
            <a:solidFill>
              <a:srgbClr val="000000"/>
            </a:solidFill>
            <a:prstDash val="solid"/>
            <a:headEnd type="none" len="sm" w="sm"/>
            <a:tailEnd type="none" len="sm" w="sm"/>
          </a:ln>
        </p:spPr>
      </p:sp>
      <p:grpSp>
        <p:nvGrpSpPr>
          <p:cNvPr name="Group 4" id="4"/>
          <p:cNvGrpSpPr/>
          <p:nvPr/>
        </p:nvGrpSpPr>
        <p:grpSpPr>
          <a:xfrm rot="0">
            <a:off x="2414873" y="9968045"/>
            <a:ext cx="263381" cy="266997"/>
            <a:chOff x="0" y="0"/>
            <a:chExt cx="351174" cy="355996"/>
          </a:xfrm>
        </p:grpSpPr>
        <p:sp>
          <p:nvSpPr>
            <p:cNvPr name="Freeform 5" id="5"/>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6" id="6"/>
            <p:cNvSpPr/>
            <p:nvPr/>
          </p:nvSpPr>
          <p:spPr>
            <a:xfrm flipH="false" flipV="false" rot="0">
              <a:off x="71763" y="74174"/>
              <a:ext cx="207648" cy="207648"/>
            </a:xfrm>
            <a:custGeom>
              <a:avLst/>
              <a:gdLst/>
              <a:ahLst/>
              <a:cxnLst/>
              <a:rect r="r" b="b" t="t" l="l"/>
              <a:pathLst>
                <a:path h="207648" w="207648">
                  <a:moveTo>
                    <a:pt x="0" y="0"/>
                  </a:moveTo>
                  <a:lnTo>
                    <a:pt x="207648" y="0"/>
                  </a:lnTo>
                  <a:lnTo>
                    <a:pt x="207648" y="207648"/>
                  </a:lnTo>
                  <a:lnTo>
                    <a:pt x="0" y="207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7" id="7"/>
          <p:cNvGrpSpPr/>
          <p:nvPr/>
        </p:nvGrpSpPr>
        <p:grpSpPr>
          <a:xfrm rot="0">
            <a:off x="469351" y="9968045"/>
            <a:ext cx="263381" cy="266997"/>
            <a:chOff x="0" y="0"/>
            <a:chExt cx="351174" cy="355996"/>
          </a:xfrm>
        </p:grpSpPr>
        <p:sp>
          <p:nvSpPr>
            <p:cNvPr name="Freeform 8" id="8"/>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9" id="9"/>
            <p:cNvSpPr/>
            <p:nvPr/>
          </p:nvSpPr>
          <p:spPr>
            <a:xfrm flipH="false" flipV="false" rot="0">
              <a:off x="82548" y="72870"/>
              <a:ext cx="186078" cy="210257"/>
            </a:xfrm>
            <a:custGeom>
              <a:avLst/>
              <a:gdLst/>
              <a:ahLst/>
              <a:cxnLst/>
              <a:rect r="r" b="b" t="t" l="l"/>
              <a:pathLst>
                <a:path h="210257" w="186078">
                  <a:moveTo>
                    <a:pt x="0" y="0"/>
                  </a:moveTo>
                  <a:lnTo>
                    <a:pt x="186078" y="0"/>
                  </a:lnTo>
                  <a:lnTo>
                    <a:pt x="186078" y="210257"/>
                  </a:lnTo>
                  <a:lnTo>
                    <a:pt x="0" y="2102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10" id="10"/>
          <p:cNvGrpSpPr/>
          <p:nvPr/>
        </p:nvGrpSpPr>
        <p:grpSpPr>
          <a:xfrm rot="0">
            <a:off x="4789301" y="9981259"/>
            <a:ext cx="237312" cy="240571"/>
            <a:chOff x="0" y="0"/>
            <a:chExt cx="316416" cy="320761"/>
          </a:xfrm>
        </p:grpSpPr>
        <p:sp>
          <p:nvSpPr>
            <p:cNvPr name="Freeform 11" id="11"/>
            <p:cNvSpPr/>
            <p:nvPr/>
          </p:nvSpPr>
          <p:spPr>
            <a:xfrm flipH="false" flipV="false" rot="0">
              <a:off x="0" y="0"/>
              <a:ext cx="316416" cy="320761"/>
            </a:xfrm>
            <a:custGeom>
              <a:avLst/>
              <a:gdLst/>
              <a:ahLst/>
              <a:cxnLst/>
              <a:rect r="r" b="b" t="t" l="l"/>
              <a:pathLst>
                <a:path h="320761" w="316416">
                  <a:moveTo>
                    <a:pt x="0" y="0"/>
                  </a:moveTo>
                  <a:lnTo>
                    <a:pt x="316416" y="0"/>
                  </a:lnTo>
                  <a:lnTo>
                    <a:pt x="316416" y="320761"/>
                  </a:lnTo>
                  <a:lnTo>
                    <a:pt x="0" y="320761"/>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12" id="12"/>
            <p:cNvSpPr/>
            <p:nvPr/>
          </p:nvSpPr>
          <p:spPr>
            <a:xfrm flipH="false" flipV="false" rot="0">
              <a:off x="63604" y="89073"/>
              <a:ext cx="189207" cy="142615"/>
            </a:xfrm>
            <a:custGeom>
              <a:avLst/>
              <a:gdLst/>
              <a:ahLst/>
              <a:cxnLst/>
              <a:rect r="r" b="b" t="t" l="l"/>
              <a:pathLst>
                <a:path h="142615" w="189207">
                  <a:moveTo>
                    <a:pt x="0" y="0"/>
                  </a:moveTo>
                  <a:lnTo>
                    <a:pt x="189208" y="0"/>
                  </a:lnTo>
                  <a:lnTo>
                    <a:pt x="189208" y="142615"/>
                  </a:lnTo>
                  <a:lnTo>
                    <a:pt x="0" y="1426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13" id="13"/>
          <p:cNvSpPr/>
          <p:nvPr/>
        </p:nvSpPr>
        <p:spPr>
          <a:xfrm flipH="false" flipV="false" rot="0">
            <a:off x="529937" y="235022"/>
            <a:ext cx="2112492" cy="492915"/>
          </a:xfrm>
          <a:custGeom>
            <a:avLst/>
            <a:gdLst/>
            <a:ahLst/>
            <a:cxnLst/>
            <a:rect r="r" b="b" t="t" l="l"/>
            <a:pathLst>
              <a:path h="492915" w="2112492">
                <a:moveTo>
                  <a:pt x="0" y="0"/>
                </a:moveTo>
                <a:lnTo>
                  <a:pt x="2112493" y="0"/>
                </a:lnTo>
                <a:lnTo>
                  <a:pt x="2112493" y="492915"/>
                </a:lnTo>
                <a:lnTo>
                  <a:pt x="0" y="492915"/>
                </a:lnTo>
                <a:lnTo>
                  <a:pt x="0" y="0"/>
                </a:lnTo>
                <a:close/>
              </a:path>
            </a:pathLst>
          </a:custGeom>
          <a:blipFill>
            <a:blip r:embed="rId10"/>
            <a:stretch>
              <a:fillRect l="0" t="0" r="0" b="0"/>
            </a:stretch>
          </a:blipFill>
        </p:spPr>
      </p:sp>
      <p:graphicFrame>
        <p:nvGraphicFramePr>
          <p:cNvPr name="Object 14" id="14"/>
          <p:cNvGraphicFramePr/>
          <p:nvPr/>
        </p:nvGraphicFramePr>
        <p:xfrm>
          <a:off x="467939" y="1827459"/>
          <a:ext cx="6515100" cy="2514600"/>
        </p:xfrm>
        <a:graphic>
          <a:graphicData uri="http://schemas.openxmlformats.org/presentationml/2006/ole">
            <p:oleObj imgW="7810500" imgH="3810000" r:id="rId12" progId="Excel.Sheet.12" name="Worksheet">
              <p:embed/>
              <p:pic>
                <p:nvPicPr>
                  <p:cNvPr name="" id="0"/>
                  <p:cNvPicPr/>
                  <p:nvPr/>
                </p:nvPicPr>
                <p:blipFill>
                  <a:blip r:embed="rId11"/>
                  <a:stretch>
                    <a:fillRect/>
                  </a:stretch>
                </p:blipFill>
                <p:spPr>
                  <a:xfrm>
                    <a:off x="1270000" y="1270000"/>
                    <a:ext cx="1270000" cy="1270000"/>
                  </a:xfrm>
                  <a:prstGeom prst="rect"/>
                </p:spPr>
              </p:pic>
            </p:oleObj>
          </a:graphicData>
        </a:graphic>
      </p:graphicFrame>
      <p:sp>
        <p:nvSpPr>
          <p:cNvPr name="TextBox 15" id="15"/>
          <p:cNvSpPr txBox="true"/>
          <p:nvPr/>
        </p:nvSpPr>
        <p:spPr>
          <a:xfrm rot="0">
            <a:off x="6571656" y="519574"/>
            <a:ext cx="458406" cy="187960"/>
          </a:xfrm>
          <a:prstGeom prst="rect">
            <a:avLst/>
          </a:prstGeom>
        </p:spPr>
        <p:txBody>
          <a:bodyPr anchor="t" rtlCol="false" tIns="0" lIns="0" bIns="0" rIns="0">
            <a:spAutoFit/>
          </a:bodyPr>
          <a:lstStyle/>
          <a:p>
            <a:pPr algn="r">
              <a:lnSpc>
                <a:spcPts val="1430"/>
              </a:lnSpc>
            </a:pPr>
            <a:r>
              <a:rPr lang="en-US" b="true" sz="1300">
                <a:solidFill>
                  <a:srgbClr val="000000"/>
                </a:solidFill>
                <a:latin typeface="Nunito Bold"/>
                <a:ea typeface="Nunito Bold"/>
                <a:cs typeface="Nunito Bold"/>
                <a:sym typeface="Nunito Bold"/>
              </a:rPr>
              <a:t>2026</a:t>
            </a:r>
          </a:p>
        </p:txBody>
      </p:sp>
      <p:sp>
        <p:nvSpPr>
          <p:cNvPr name="TextBox 16" id="16"/>
          <p:cNvSpPr txBox="true"/>
          <p:nvPr/>
        </p:nvSpPr>
        <p:spPr>
          <a:xfrm rot="0">
            <a:off x="467939" y="1126261"/>
            <a:ext cx="6624121" cy="539273"/>
          </a:xfrm>
          <a:prstGeom prst="rect">
            <a:avLst/>
          </a:prstGeom>
        </p:spPr>
        <p:txBody>
          <a:bodyPr anchor="t" rtlCol="false" tIns="0" lIns="0" bIns="0" rIns="0">
            <a:spAutoFit/>
          </a:bodyPr>
          <a:lstStyle/>
          <a:p>
            <a:pPr algn="ctr">
              <a:lnSpc>
                <a:spcPts val="4137"/>
              </a:lnSpc>
            </a:pPr>
            <a:r>
              <a:rPr lang="en-US" b="true" sz="3761">
                <a:solidFill>
                  <a:srgbClr val="34BDCF"/>
                </a:solidFill>
                <a:latin typeface="Oswald Bold"/>
                <a:ea typeface="Oswald Bold"/>
                <a:cs typeface="Oswald Bold"/>
                <a:sym typeface="Oswald Bold"/>
              </a:rPr>
              <a:t>KURIKULUM PEMBELAJARAN</a:t>
            </a:r>
          </a:p>
        </p:txBody>
      </p:sp>
      <p:sp>
        <p:nvSpPr>
          <p:cNvPr name="TextBox 17" id="17"/>
          <p:cNvSpPr txBox="true"/>
          <p:nvPr/>
        </p:nvSpPr>
        <p:spPr>
          <a:xfrm rot="0">
            <a:off x="827982" y="10039949"/>
            <a:ext cx="1280004"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0877-74</a:t>
            </a:r>
            <a:r>
              <a:rPr lang="en-US" sz="1100" b="true">
                <a:solidFill>
                  <a:srgbClr val="000000"/>
                </a:solidFill>
                <a:latin typeface="Nunito Bold"/>
                <a:ea typeface="Nunito Bold"/>
                <a:cs typeface="Nunito Bold"/>
                <a:sym typeface="Nunito Bold"/>
              </a:rPr>
              <a:t>13-4288</a:t>
            </a:r>
          </a:p>
        </p:txBody>
      </p:sp>
      <p:sp>
        <p:nvSpPr>
          <p:cNvPr name="TextBox 18" id="18"/>
          <p:cNvSpPr txBox="true"/>
          <p:nvPr/>
        </p:nvSpPr>
        <p:spPr>
          <a:xfrm rot="0">
            <a:off x="2773503" y="10039949"/>
            <a:ext cx="1710998"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www.s</a:t>
            </a:r>
            <a:r>
              <a:rPr lang="en-US" sz="1100" b="true">
                <a:solidFill>
                  <a:srgbClr val="000000"/>
                </a:solidFill>
                <a:latin typeface="Nunito Bold"/>
                <a:ea typeface="Nunito Bold"/>
                <a:cs typeface="Nunito Bold"/>
                <a:sym typeface="Nunito Bold"/>
              </a:rPr>
              <a:t>anggabiz.com</a:t>
            </a:r>
          </a:p>
        </p:txBody>
      </p:sp>
      <p:sp>
        <p:nvSpPr>
          <p:cNvPr name="TextBox 19" id="19"/>
          <p:cNvSpPr txBox="true"/>
          <p:nvPr/>
        </p:nvSpPr>
        <p:spPr>
          <a:xfrm rot="0">
            <a:off x="5126099" y="10039949"/>
            <a:ext cx="1893190"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pa</a:t>
            </a:r>
            <a:r>
              <a:rPr lang="en-US" sz="1100" b="true">
                <a:solidFill>
                  <a:srgbClr val="000000"/>
                </a:solidFill>
                <a:latin typeface="Nunito Bold"/>
                <a:ea typeface="Nunito Bold"/>
                <a:cs typeface="Nunito Bold"/>
                <a:sym typeface="Nunito Bold"/>
              </a:rPr>
              <a:t>rtnership@sanggabiz.com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529937" y="926236"/>
            <a:ext cx="6500125" cy="0"/>
          </a:xfrm>
          <a:prstGeom prst="line">
            <a:avLst/>
          </a:prstGeom>
          <a:ln cap="flat" w="19050">
            <a:solidFill>
              <a:srgbClr val="000000"/>
            </a:solidFill>
            <a:prstDash val="solid"/>
            <a:headEnd type="none" len="sm" w="sm"/>
            <a:tailEnd type="none" len="sm" w="sm"/>
          </a:ln>
        </p:spPr>
      </p:sp>
      <p:sp>
        <p:nvSpPr>
          <p:cNvPr name="AutoShape 3" id="3"/>
          <p:cNvSpPr/>
          <p:nvPr/>
        </p:nvSpPr>
        <p:spPr>
          <a:xfrm flipV="true">
            <a:off x="529937" y="9782475"/>
            <a:ext cx="6500125" cy="0"/>
          </a:xfrm>
          <a:prstGeom prst="line">
            <a:avLst/>
          </a:prstGeom>
          <a:ln cap="flat" w="19050">
            <a:solidFill>
              <a:srgbClr val="000000"/>
            </a:solidFill>
            <a:prstDash val="solid"/>
            <a:headEnd type="none" len="sm" w="sm"/>
            <a:tailEnd type="none" len="sm" w="sm"/>
          </a:ln>
        </p:spPr>
      </p:sp>
      <p:grpSp>
        <p:nvGrpSpPr>
          <p:cNvPr name="Group 4" id="4"/>
          <p:cNvGrpSpPr/>
          <p:nvPr/>
        </p:nvGrpSpPr>
        <p:grpSpPr>
          <a:xfrm rot="0">
            <a:off x="-116517" y="1859201"/>
            <a:ext cx="7177308" cy="1022067"/>
            <a:chOff x="0" y="0"/>
            <a:chExt cx="2572185" cy="366286"/>
          </a:xfrm>
        </p:grpSpPr>
        <p:sp>
          <p:nvSpPr>
            <p:cNvPr name="Freeform 5" id="5"/>
            <p:cNvSpPr/>
            <p:nvPr/>
          </p:nvSpPr>
          <p:spPr>
            <a:xfrm flipH="false" flipV="false" rot="0">
              <a:off x="0" y="0"/>
              <a:ext cx="2572185" cy="366286"/>
            </a:xfrm>
            <a:custGeom>
              <a:avLst/>
              <a:gdLst/>
              <a:ahLst/>
              <a:cxnLst/>
              <a:rect r="r" b="b" t="t" l="l"/>
              <a:pathLst>
                <a:path h="366286" w="2572185">
                  <a:moveTo>
                    <a:pt x="0" y="0"/>
                  </a:moveTo>
                  <a:lnTo>
                    <a:pt x="2572185" y="0"/>
                  </a:lnTo>
                  <a:lnTo>
                    <a:pt x="2572185" y="366286"/>
                  </a:lnTo>
                  <a:lnTo>
                    <a:pt x="0" y="366286"/>
                  </a:lnTo>
                  <a:close/>
                </a:path>
              </a:pathLst>
            </a:custGeom>
            <a:solidFill>
              <a:srgbClr val="0071CE"/>
            </a:solidFill>
          </p:spPr>
        </p:sp>
        <p:sp>
          <p:nvSpPr>
            <p:cNvPr name="TextBox 6" id="6"/>
            <p:cNvSpPr txBox="true"/>
            <p:nvPr/>
          </p:nvSpPr>
          <p:spPr>
            <a:xfrm>
              <a:off x="0" y="-28575"/>
              <a:ext cx="2572185" cy="394861"/>
            </a:xfrm>
            <a:prstGeom prst="rect">
              <a:avLst/>
            </a:prstGeom>
          </p:spPr>
          <p:txBody>
            <a:bodyPr anchor="ctr" rtlCol="false" tIns="50800" lIns="50800" bIns="50800" rIns="50800"/>
            <a:lstStyle/>
            <a:p>
              <a:pPr algn="ctr">
                <a:lnSpc>
                  <a:spcPts val="1960"/>
                </a:lnSpc>
                <a:spcBef>
                  <a:spcPct val="0"/>
                </a:spcBef>
              </a:pPr>
            </a:p>
          </p:txBody>
        </p:sp>
      </p:grpSp>
      <p:grpSp>
        <p:nvGrpSpPr>
          <p:cNvPr name="Group 7" id="7"/>
          <p:cNvGrpSpPr/>
          <p:nvPr/>
        </p:nvGrpSpPr>
        <p:grpSpPr>
          <a:xfrm rot="0">
            <a:off x="3545297" y="1723476"/>
            <a:ext cx="3791794" cy="1293517"/>
            <a:chOff x="0" y="0"/>
            <a:chExt cx="1773010" cy="604837"/>
          </a:xfrm>
        </p:grpSpPr>
        <p:sp>
          <p:nvSpPr>
            <p:cNvPr name="Freeform 8" id="8"/>
            <p:cNvSpPr/>
            <p:nvPr/>
          </p:nvSpPr>
          <p:spPr>
            <a:xfrm flipH="false" flipV="false" rot="0">
              <a:off x="0" y="0"/>
              <a:ext cx="1773010" cy="604837"/>
            </a:xfrm>
            <a:custGeom>
              <a:avLst/>
              <a:gdLst/>
              <a:ahLst/>
              <a:cxnLst/>
              <a:rect r="r" b="b" t="t" l="l"/>
              <a:pathLst>
                <a:path h="604837" w="1773010">
                  <a:moveTo>
                    <a:pt x="0" y="0"/>
                  </a:moveTo>
                  <a:lnTo>
                    <a:pt x="1773010" y="0"/>
                  </a:lnTo>
                  <a:lnTo>
                    <a:pt x="1773010" y="604837"/>
                  </a:lnTo>
                  <a:lnTo>
                    <a:pt x="0" y="604837"/>
                  </a:lnTo>
                  <a:close/>
                </a:path>
              </a:pathLst>
            </a:custGeom>
            <a:blipFill>
              <a:blip r:embed="rId2"/>
              <a:stretch>
                <a:fillRect l="0" t="-35943" r="0" b="-43969"/>
              </a:stretch>
            </a:blipFill>
          </p:spPr>
        </p:sp>
      </p:grpSp>
      <p:grpSp>
        <p:nvGrpSpPr>
          <p:cNvPr name="Group 9" id="9"/>
          <p:cNvGrpSpPr/>
          <p:nvPr/>
        </p:nvGrpSpPr>
        <p:grpSpPr>
          <a:xfrm rot="0">
            <a:off x="2414873" y="9968045"/>
            <a:ext cx="263381" cy="266997"/>
            <a:chOff x="0" y="0"/>
            <a:chExt cx="351174" cy="355996"/>
          </a:xfrm>
        </p:grpSpPr>
        <p:sp>
          <p:nvSpPr>
            <p:cNvPr name="Freeform 10" id="10"/>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3">
                <a:extLst>
                  <a:ext uri="{96DAC541-7B7A-43D3-8B79-37D633B846F1}">
                    <asvg:svgBlip xmlns:asvg="http://schemas.microsoft.com/office/drawing/2016/SVG/main" r:embed="rId4"/>
                  </a:ext>
                </a:extLst>
              </a:blip>
              <a:stretch>
                <a:fillRect l="0" t="-131786" r="-598794" b="0"/>
              </a:stretch>
            </a:blipFill>
          </p:spPr>
        </p:sp>
        <p:sp>
          <p:nvSpPr>
            <p:cNvPr name="Freeform 11" id="11"/>
            <p:cNvSpPr/>
            <p:nvPr/>
          </p:nvSpPr>
          <p:spPr>
            <a:xfrm flipH="false" flipV="false" rot="0">
              <a:off x="71763" y="74174"/>
              <a:ext cx="207648" cy="207648"/>
            </a:xfrm>
            <a:custGeom>
              <a:avLst/>
              <a:gdLst/>
              <a:ahLst/>
              <a:cxnLst/>
              <a:rect r="r" b="b" t="t" l="l"/>
              <a:pathLst>
                <a:path h="207648" w="207648">
                  <a:moveTo>
                    <a:pt x="0" y="0"/>
                  </a:moveTo>
                  <a:lnTo>
                    <a:pt x="207648" y="0"/>
                  </a:lnTo>
                  <a:lnTo>
                    <a:pt x="207648" y="207648"/>
                  </a:lnTo>
                  <a:lnTo>
                    <a:pt x="0" y="2076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12" id="12"/>
          <p:cNvGrpSpPr/>
          <p:nvPr/>
        </p:nvGrpSpPr>
        <p:grpSpPr>
          <a:xfrm rot="0">
            <a:off x="469351" y="9968045"/>
            <a:ext cx="263381" cy="266997"/>
            <a:chOff x="0" y="0"/>
            <a:chExt cx="351174" cy="355996"/>
          </a:xfrm>
        </p:grpSpPr>
        <p:sp>
          <p:nvSpPr>
            <p:cNvPr name="Freeform 13" id="13"/>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3">
                <a:extLst>
                  <a:ext uri="{96DAC541-7B7A-43D3-8B79-37D633B846F1}">
                    <asvg:svgBlip xmlns:asvg="http://schemas.microsoft.com/office/drawing/2016/SVG/main" r:embed="rId4"/>
                  </a:ext>
                </a:extLst>
              </a:blip>
              <a:stretch>
                <a:fillRect l="0" t="-131786" r="-598794" b="0"/>
              </a:stretch>
            </a:blipFill>
          </p:spPr>
        </p:sp>
        <p:sp>
          <p:nvSpPr>
            <p:cNvPr name="Freeform 14" id="14"/>
            <p:cNvSpPr/>
            <p:nvPr/>
          </p:nvSpPr>
          <p:spPr>
            <a:xfrm flipH="false" flipV="false" rot="0">
              <a:off x="82548" y="72870"/>
              <a:ext cx="186078" cy="210257"/>
            </a:xfrm>
            <a:custGeom>
              <a:avLst/>
              <a:gdLst/>
              <a:ahLst/>
              <a:cxnLst/>
              <a:rect r="r" b="b" t="t" l="l"/>
              <a:pathLst>
                <a:path h="210257" w="186078">
                  <a:moveTo>
                    <a:pt x="0" y="0"/>
                  </a:moveTo>
                  <a:lnTo>
                    <a:pt x="186078" y="0"/>
                  </a:lnTo>
                  <a:lnTo>
                    <a:pt x="186078" y="210257"/>
                  </a:lnTo>
                  <a:lnTo>
                    <a:pt x="0" y="2102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grpSp>
        <p:nvGrpSpPr>
          <p:cNvPr name="Group 15" id="15"/>
          <p:cNvGrpSpPr/>
          <p:nvPr/>
        </p:nvGrpSpPr>
        <p:grpSpPr>
          <a:xfrm rot="0">
            <a:off x="4789301" y="9981259"/>
            <a:ext cx="237312" cy="240571"/>
            <a:chOff x="0" y="0"/>
            <a:chExt cx="316416" cy="320761"/>
          </a:xfrm>
        </p:grpSpPr>
        <p:sp>
          <p:nvSpPr>
            <p:cNvPr name="Freeform 16" id="16"/>
            <p:cNvSpPr/>
            <p:nvPr/>
          </p:nvSpPr>
          <p:spPr>
            <a:xfrm flipH="false" flipV="false" rot="0">
              <a:off x="0" y="0"/>
              <a:ext cx="316416" cy="320761"/>
            </a:xfrm>
            <a:custGeom>
              <a:avLst/>
              <a:gdLst/>
              <a:ahLst/>
              <a:cxnLst/>
              <a:rect r="r" b="b" t="t" l="l"/>
              <a:pathLst>
                <a:path h="320761" w="316416">
                  <a:moveTo>
                    <a:pt x="0" y="0"/>
                  </a:moveTo>
                  <a:lnTo>
                    <a:pt x="316416" y="0"/>
                  </a:lnTo>
                  <a:lnTo>
                    <a:pt x="316416" y="320761"/>
                  </a:lnTo>
                  <a:lnTo>
                    <a:pt x="0" y="320761"/>
                  </a:lnTo>
                  <a:lnTo>
                    <a:pt x="0" y="0"/>
                  </a:lnTo>
                  <a:close/>
                </a:path>
              </a:pathLst>
            </a:custGeom>
            <a:blipFill>
              <a:blip r:embed="rId3">
                <a:extLst>
                  <a:ext uri="{96DAC541-7B7A-43D3-8B79-37D633B846F1}">
                    <asvg:svgBlip xmlns:asvg="http://schemas.microsoft.com/office/drawing/2016/SVG/main" r:embed="rId4"/>
                  </a:ext>
                </a:extLst>
              </a:blip>
              <a:stretch>
                <a:fillRect l="0" t="-131786" r="-598794" b="0"/>
              </a:stretch>
            </a:blipFill>
          </p:spPr>
        </p:sp>
        <p:sp>
          <p:nvSpPr>
            <p:cNvPr name="Freeform 17" id="17"/>
            <p:cNvSpPr/>
            <p:nvPr/>
          </p:nvSpPr>
          <p:spPr>
            <a:xfrm flipH="false" flipV="false" rot="0">
              <a:off x="63604" y="89073"/>
              <a:ext cx="189207" cy="142615"/>
            </a:xfrm>
            <a:custGeom>
              <a:avLst/>
              <a:gdLst/>
              <a:ahLst/>
              <a:cxnLst/>
              <a:rect r="r" b="b" t="t" l="l"/>
              <a:pathLst>
                <a:path h="142615" w="189207">
                  <a:moveTo>
                    <a:pt x="0" y="0"/>
                  </a:moveTo>
                  <a:lnTo>
                    <a:pt x="189208" y="0"/>
                  </a:lnTo>
                  <a:lnTo>
                    <a:pt x="189208" y="142615"/>
                  </a:lnTo>
                  <a:lnTo>
                    <a:pt x="0" y="14261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sp>
        <p:nvSpPr>
          <p:cNvPr name="Freeform 18" id="18"/>
          <p:cNvSpPr/>
          <p:nvPr/>
        </p:nvSpPr>
        <p:spPr>
          <a:xfrm flipH="false" flipV="false" rot="0">
            <a:off x="565761" y="235022"/>
            <a:ext cx="2112492" cy="492915"/>
          </a:xfrm>
          <a:custGeom>
            <a:avLst/>
            <a:gdLst/>
            <a:ahLst/>
            <a:cxnLst/>
            <a:rect r="r" b="b" t="t" l="l"/>
            <a:pathLst>
              <a:path h="492915" w="2112492">
                <a:moveTo>
                  <a:pt x="0" y="0"/>
                </a:moveTo>
                <a:lnTo>
                  <a:pt x="2112492" y="0"/>
                </a:lnTo>
                <a:lnTo>
                  <a:pt x="2112492" y="492915"/>
                </a:lnTo>
                <a:lnTo>
                  <a:pt x="0" y="492915"/>
                </a:lnTo>
                <a:lnTo>
                  <a:pt x="0" y="0"/>
                </a:lnTo>
                <a:close/>
              </a:path>
            </a:pathLst>
          </a:custGeom>
          <a:blipFill>
            <a:blip r:embed="rId11"/>
            <a:stretch>
              <a:fillRect l="0" t="0" r="0" b="0"/>
            </a:stretch>
          </a:blipFill>
        </p:spPr>
      </p:sp>
      <p:graphicFrame>
        <p:nvGraphicFramePr>
          <p:cNvPr name="Object 19" id="19"/>
          <p:cNvGraphicFramePr/>
          <p:nvPr/>
        </p:nvGraphicFramePr>
        <p:xfrm>
          <a:off x="538340" y="3226543"/>
          <a:ext cx="10877550" cy="5029200"/>
        </p:xfrm>
        <a:graphic>
          <a:graphicData uri="http://schemas.openxmlformats.org/presentationml/2006/ole">
            <p:oleObj imgW="13042900" imgH="7200900" r:id="rId13" progId="Excel.Sheet.12" name="Worksheet">
              <p:embed/>
              <p:pic>
                <p:nvPicPr>
                  <p:cNvPr name="" id="0"/>
                  <p:cNvPicPr/>
                  <p:nvPr/>
                </p:nvPicPr>
                <p:blipFill>
                  <a:blip r:embed="rId12"/>
                  <a:stretch>
                    <a:fillRect/>
                  </a:stretch>
                </p:blipFill>
                <p:spPr>
                  <a:xfrm>
                    <a:off x="1270000" y="1270000"/>
                    <a:ext cx="1270000" cy="1270000"/>
                  </a:xfrm>
                  <a:prstGeom prst="rect"/>
                </p:spPr>
              </p:pic>
            </p:oleObj>
          </a:graphicData>
        </a:graphic>
      </p:graphicFrame>
      <p:sp>
        <p:nvSpPr>
          <p:cNvPr name="TextBox 20" id="20"/>
          <p:cNvSpPr txBox="true"/>
          <p:nvPr/>
        </p:nvSpPr>
        <p:spPr>
          <a:xfrm rot="0">
            <a:off x="6571656" y="519574"/>
            <a:ext cx="458406" cy="186279"/>
          </a:xfrm>
          <a:prstGeom prst="rect">
            <a:avLst/>
          </a:prstGeom>
        </p:spPr>
        <p:txBody>
          <a:bodyPr anchor="t" rtlCol="false" tIns="0" lIns="0" bIns="0" rIns="0">
            <a:spAutoFit/>
          </a:bodyPr>
          <a:lstStyle/>
          <a:p>
            <a:pPr algn="r">
              <a:lnSpc>
                <a:spcPts val="1430"/>
              </a:lnSpc>
            </a:pPr>
            <a:r>
              <a:rPr lang="en-US" b="true" sz="1300">
                <a:solidFill>
                  <a:srgbClr val="000000"/>
                </a:solidFill>
                <a:latin typeface="Nunito Bold"/>
                <a:ea typeface="Nunito Bold"/>
                <a:cs typeface="Nunito Bold"/>
                <a:sym typeface="Nunito Bold"/>
              </a:rPr>
              <a:t>2025</a:t>
            </a:r>
          </a:p>
        </p:txBody>
      </p:sp>
      <p:sp>
        <p:nvSpPr>
          <p:cNvPr name="TextBox 21" id="21"/>
          <p:cNvSpPr txBox="true"/>
          <p:nvPr/>
        </p:nvSpPr>
        <p:spPr>
          <a:xfrm rot="0">
            <a:off x="467939" y="1048478"/>
            <a:ext cx="6624121" cy="539273"/>
          </a:xfrm>
          <a:prstGeom prst="rect">
            <a:avLst/>
          </a:prstGeom>
        </p:spPr>
        <p:txBody>
          <a:bodyPr anchor="t" rtlCol="false" tIns="0" lIns="0" bIns="0" rIns="0">
            <a:spAutoFit/>
          </a:bodyPr>
          <a:lstStyle/>
          <a:p>
            <a:pPr algn="ctr">
              <a:lnSpc>
                <a:spcPts val="4137"/>
              </a:lnSpc>
            </a:pPr>
            <a:r>
              <a:rPr lang="en-US" b="true" sz="3761">
                <a:solidFill>
                  <a:srgbClr val="34BDCF"/>
                </a:solidFill>
                <a:latin typeface="Oswald Bold"/>
                <a:ea typeface="Oswald Bold"/>
                <a:cs typeface="Oswald Bold"/>
                <a:sym typeface="Oswald Bold"/>
              </a:rPr>
              <a:t>TIMELINE KEGIATAN</a:t>
            </a:r>
          </a:p>
        </p:txBody>
      </p:sp>
      <p:sp>
        <p:nvSpPr>
          <p:cNvPr name="TextBox 22" id="22"/>
          <p:cNvSpPr txBox="true"/>
          <p:nvPr/>
        </p:nvSpPr>
        <p:spPr>
          <a:xfrm rot="0">
            <a:off x="467939" y="1984155"/>
            <a:ext cx="2721366" cy="753110"/>
          </a:xfrm>
          <a:prstGeom prst="rect">
            <a:avLst/>
          </a:prstGeom>
        </p:spPr>
        <p:txBody>
          <a:bodyPr anchor="t" rtlCol="false" tIns="0" lIns="0" bIns="0" rIns="0">
            <a:spAutoFit/>
          </a:bodyPr>
          <a:lstStyle/>
          <a:p>
            <a:pPr algn="just">
              <a:lnSpc>
                <a:spcPts val="1540"/>
              </a:lnSpc>
            </a:pPr>
            <a:r>
              <a:rPr lang="en-US" sz="1100">
                <a:solidFill>
                  <a:srgbClr val="FFFFFF"/>
                </a:solidFill>
                <a:latin typeface="Nunito"/>
                <a:ea typeface="Nunito"/>
                <a:cs typeface="Nunito"/>
                <a:sym typeface="Nunito"/>
              </a:rPr>
              <a:t>Pelaksanaan program direncanakan berlangsung </a:t>
            </a:r>
            <a:r>
              <a:rPr lang="en-US" sz="1100" b="true">
                <a:solidFill>
                  <a:srgbClr val="FFFFFF"/>
                </a:solidFill>
                <a:latin typeface="Nunito Bold"/>
                <a:ea typeface="Nunito Bold"/>
                <a:cs typeface="Nunito Bold"/>
                <a:sym typeface="Nunito Bold"/>
              </a:rPr>
              <a:t>selama 6 bulan</a:t>
            </a:r>
            <a:r>
              <a:rPr lang="en-US" sz="1100">
                <a:solidFill>
                  <a:srgbClr val="FFFFFF"/>
                </a:solidFill>
                <a:latin typeface="Nunito"/>
                <a:ea typeface="Nunito"/>
                <a:cs typeface="Nunito"/>
                <a:sym typeface="Nunito"/>
              </a:rPr>
              <a:t>. Berikut rincian rencana waktu dan tahapan utama kegiatan</a:t>
            </a:r>
          </a:p>
        </p:txBody>
      </p:sp>
      <p:sp>
        <p:nvSpPr>
          <p:cNvPr name="TextBox 23" id="23"/>
          <p:cNvSpPr txBox="true"/>
          <p:nvPr/>
        </p:nvSpPr>
        <p:spPr>
          <a:xfrm rot="0">
            <a:off x="827982" y="10039949"/>
            <a:ext cx="1280004"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0877-74</a:t>
            </a:r>
            <a:r>
              <a:rPr lang="en-US" sz="1100" b="true">
                <a:solidFill>
                  <a:srgbClr val="000000"/>
                </a:solidFill>
                <a:latin typeface="Nunito Bold"/>
                <a:ea typeface="Nunito Bold"/>
                <a:cs typeface="Nunito Bold"/>
                <a:sym typeface="Nunito Bold"/>
              </a:rPr>
              <a:t>13-4288</a:t>
            </a:r>
          </a:p>
        </p:txBody>
      </p:sp>
      <p:sp>
        <p:nvSpPr>
          <p:cNvPr name="TextBox 24" id="24"/>
          <p:cNvSpPr txBox="true"/>
          <p:nvPr/>
        </p:nvSpPr>
        <p:spPr>
          <a:xfrm rot="0">
            <a:off x="2773503" y="10039949"/>
            <a:ext cx="1710998"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www.s</a:t>
            </a:r>
            <a:r>
              <a:rPr lang="en-US" sz="1100" b="true">
                <a:solidFill>
                  <a:srgbClr val="000000"/>
                </a:solidFill>
                <a:latin typeface="Nunito Bold"/>
                <a:ea typeface="Nunito Bold"/>
                <a:cs typeface="Nunito Bold"/>
                <a:sym typeface="Nunito Bold"/>
              </a:rPr>
              <a:t>anggabiz.com</a:t>
            </a:r>
          </a:p>
        </p:txBody>
      </p:sp>
      <p:sp>
        <p:nvSpPr>
          <p:cNvPr name="TextBox 25" id="25"/>
          <p:cNvSpPr txBox="true"/>
          <p:nvPr/>
        </p:nvSpPr>
        <p:spPr>
          <a:xfrm rot="0">
            <a:off x="5126099" y="10039949"/>
            <a:ext cx="1893190"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pa</a:t>
            </a:r>
            <a:r>
              <a:rPr lang="en-US" sz="1100" b="true">
                <a:solidFill>
                  <a:srgbClr val="000000"/>
                </a:solidFill>
                <a:latin typeface="Nunito Bold"/>
                <a:ea typeface="Nunito Bold"/>
                <a:cs typeface="Nunito Bold"/>
                <a:sym typeface="Nunito Bold"/>
              </a:rPr>
              <a:t>rtnership@sanggabiz.com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529937" y="926236"/>
            <a:ext cx="6500125" cy="0"/>
          </a:xfrm>
          <a:prstGeom prst="line">
            <a:avLst/>
          </a:prstGeom>
          <a:ln cap="flat" w="19050">
            <a:solidFill>
              <a:srgbClr val="0071CE"/>
            </a:solidFill>
            <a:prstDash val="solid"/>
            <a:headEnd type="none" len="sm" w="sm"/>
            <a:tailEnd type="none" len="sm" w="sm"/>
          </a:ln>
        </p:spPr>
      </p:sp>
      <p:sp>
        <p:nvSpPr>
          <p:cNvPr name="AutoShape 3" id="3"/>
          <p:cNvSpPr/>
          <p:nvPr/>
        </p:nvSpPr>
        <p:spPr>
          <a:xfrm flipV="true">
            <a:off x="529937" y="9782475"/>
            <a:ext cx="6500125" cy="0"/>
          </a:xfrm>
          <a:prstGeom prst="line">
            <a:avLst/>
          </a:prstGeom>
          <a:ln cap="flat" w="19050">
            <a:solidFill>
              <a:srgbClr val="0071CE"/>
            </a:solidFill>
            <a:prstDash val="solid"/>
            <a:headEnd type="none" len="sm" w="sm"/>
            <a:tailEnd type="none" len="sm" w="sm"/>
          </a:ln>
        </p:spPr>
      </p:sp>
      <p:grpSp>
        <p:nvGrpSpPr>
          <p:cNvPr name="Group 4" id="4"/>
          <p:cNvGrpSpPr/>
          <p:nvPr/>
        </p:nvGrpSpPr>
        <p:grpSpPr>
          <a:xfrm rot="0">
            <a:off x="2414873" y="9968045"/>
            <a:ext cx="263381" cy="266997"/>
            <a:chOff x="0" y="0"/>
            <a:chExt cx="351174" cy="355996"/>
          </a:xfrm>
        </p:grpSpPr>
        <p:sp>
          <p:nvSpPr>
            <p:cNvPr name="Freeform 5" id="5"/>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6" id="6"/>
            <p:cNvSpPr/>
            <p:nvPr/>
          </p:nvSpPr>
          <p:spPr>
            <a:xfrm flipH="false" flipV="false" rot="0">
              <a:off x="71763" y="74174"/>
              <a:ext cx="207648" cy="207648"/>
            </a:xfrm>
            <a:custGeom>
              <a:avLst/>
              <a:gdLst/>
              <a:ahLst/>
              <a:cxnLst/>
              <a:rect r="r" b="b" t="t" l="l"/>
              <a:pathLst>
                <a:path h="207648" w="207648">
                  <a:moveTo>
                    <a:pt x="0" y="0"/>
                  </a:moveTo>
                  <a:lnTo>
                    <a:pt x="207648" y="0"/>
                  </a:lnTo>
                  <a:lnTo>
                    <a:pt x="207648" y="207648"/>
                  </a:lnTo>
                  <a:lnTo>
                    <a:pt x="0" y="207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7" id="7"/>
          <p:cNvGrpSpPr/>
          <p:nvPr/>
        </p:nvGrpSpPr>
        <p:grpSpPr>
          <a:xfrm rot="0">
            <a:off x="469351" y="9968045"/>
            <a:ext cx="263381" cy="266997"/>
            <a:chOff x="0" y="0"/>
            <a:chExt cx="351174" cy="355996"/>
          </a:xfrm>
        </p:grpSpPr>
        <p:sp>
          <p:nvSpPr>
            <p:cNvPr name="Freeform 8" id="8"/>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9" id="9"/>
            <p:cNvSpPr/>
            <p:nvPr/>
          </p:nvSpPr>
          <p:spPr>
            <a:xfrm flipH="false" flipV="false" rot="0">
              <a:off x="82548" y="72870"/>
              <a:ext cx="186078" cy="210257"/>
            </a:xfrm>
            <a:custGeom>
              <a:avLst/>
              <a:gdLst/>
              <a:ahLst/>
              <a:cxnLst/>
              <a:rect r="r" b="b" t="t" l="l"/>
              <a:pathLst>
                <a:path h="210257" w="186078">
                  <a:moveTo>
                    <a:pt x="0" y="0"/>
                  </a:moveTo>
                  <a:lnTo>
                    <a:pt x="186078" y="0"/>
                  </a:lnTo>
                  <a:lnTo>
                    <a:pt x="186078" y="210257"/>
                  </a:lnTo>
                  <a:lnTo>
                    <a:pt x="0" y="2102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10" id="10"/>
          <p:cNvGrpSpPr/>
          <p:nvPr/>
        </p:nvGrpSpPr>
        <p:grpSpPr>
          <a:xfrm rot="0">
            <a:off x="4789301" y="9981259"/>
            <a:ext cx="237312" cy="240571"/>
            <a:chOff x="0" y="0"/>
            <a:chExt cx="316416" cy="320761"/>
          </a:xfrm>
        </p:grpSpPr>
        <p:sp>
          <p:nvSpPr>
            <p:cNvPr name="Freeform 11" id="11"/>
            <p:cNvSpPr/>
            <p:nvPr/>
          </p:nvSpPr>
          <p:spPr>
            <a:xfrm flipH="false" flipV="false" rot="0">
              <a:off x="0" y="0"/>
              <a:ext cx="316416" cy="320761"/>
            </a:xfrm>
            <a:custGeom>
              <a:avLst/>
              <a:gdLst/>
              <a:ahLst/>
              <a:cxnLst/>
              <a:rect r="r" b="b" t="t" l="l"/>
              <a:pathLst>
                <a:path h="320761" w="316416">
                  <a:moveTo>
                    <a:pt x="0" y="0"/>
                  </a:moveTo>
                  <a:lnTo>
                    <a:pt x="316416" y="0"/>
                  </a:lnTo>
                  <a:lnTo>
                    <a:pt x="316416" y="320761"/>
                  </a:lnTo>
                  <a:lnTo>
                    <a:pt x="0" y="320761"/>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12" id="12"/>
            <p:cNvSpPr/>
            <p:nvPr/>
          </p:nvSpPr>
          <p:spPr>
            <a:xfrm flipH="false" flipV="false" rot="0">
              <a:off x="63604" y="89073"/>
              <a:ext cx="189207" cy="142615"/>
            </a:xfrm>
            <a:custGeom>
              <a:avLst/>
              <a:gdLst/>
              <a:ahLst/>
              <a:cxnLst/>
              <a:rect r="r" b="b" t="t" l="l"/>
              <a:pathLst>
                <a:path h="142615" w="189207">
                  <a:moveTo>
                    <a:pt x="0" y="0"/>
                  </a:moveTo>
                  <a:lnTo>
                    <a:pt x="189208" y="0"/>
                  </a:lnTo>
                  <a:lnTo>
                    <a:pt x="189208" y="142615"/>
                  </a:lnTo>
                  <a:lnTo>
                    <a:pt x="0" y="1426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13" id="13"/>
          <p:cNvSpPr/>
          <p:nvPr/>
        </p:nvSpPr>
        <p:spPr>
          <a:xfrm flipH="false" flipV="false" rot="0">
            <a:off x="529937" y="263592"/>
            <a:ext cx="2112492" cy="492915"/>
          </a:xfrm>
          <a:custGeom>
            <a:avLst/>
            <a:gdLst/>
            <a:ahLst/>
            <a:cxnLst/>
            <a:rect r="r" b="b" t="t" l="l"/>
            <a:pathLst>
              <a:path h="492915" w="2112492">
                <a:moveTo>
                  <a:pt x="0" y="0"/>
                </a:moveTo>
                <a:lnTo>
                  <a:pt x="2112493" y="0"/>
                </a:lnTo>
                <a:lnTo>
                  <a:pt x="2112493" y="492915"/>
                </a:lnTo>
                <a:lnTo>
                  <a:pt x="0" y="492915"/>
                </a:lnTo>
                <a:lnTo>
                  <a:pt x="0" y="0"/>
                </a:lnTo>
                <a:close/>
              </a:path>
            </a:pathLst>
          </a:custGeom>
          <a:blipFill>
            <a:blip r:embed="rId10"/>
            <a:stretch>
              <a:fillRect l="0" t="0" r="0" b="0"/>
            </a:stretch>
          </a:blipFill>
        </p:spPr>
      </p:sp>
      <p:sp>
        <p:nvSpPr>
          <p:cNvPr name="TextBox 14" id="14"/>
          <p:cNvSpPr txBox="true"/>
          <p:nvPr/>
        </p:nvSpPr>
        <p:spPr>
          <a:xfrm rot="0">
            <a:off x="827982" y="10039949"/>
            <a:ext cx="1280004"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0877-74</a:t>
            </a:r>
            <a:r>
              <a:rPr lang="en-US" sz="1100" b="true">
                <a:solidFill>
                  <a:srgbClr val="000000"/>
                </a:solidFill>
                <a:latin typeface="Nunito Bold"/>
                <a:ea typeface="Nunito Bold"/>
                <a:cs typeface="Nunito Bold"/>
                <a:sym typeface="Nunito Bold"/>
              </a:rPr>
              <a:t>13-4288</a:t>
            </a:r>
          </a:p>
        </p:txBody>
      </p:sp>
      <p:sp>
        <p:nvSpPr>
          <p:cNvPr name="TextBox 15" id="15"/>
          <p:cNvSpPr txBox="true"/>
          <p:nvPr/>
        </p:nvSpPr>
        <p:spPr>
          <a:xfrm rot="0">
            <a:off x="2773503" y="10039949"/>
            <a:ext cx="1710998"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www.s</a:t>
            </a:r>
            <a:r>
              <a:rPr lang="en-US" sz="1100" b="true">
                <a:solidFill>
                  <a:srgbClr val="000000"/>
                </a:solidFill>
                <a:latin typeface="Nunito Bold"/>
                <a:ea typeface="Nunito Bold"/>
                <a:cs typeface="Nunito Bold"/>
                <a:sym typeface="Nunito Bold"/>
              </a:rPr>
              <a:t>anggabiz.com</a:t>
            </a:r>
          </a:p>
        </p:txBody>
      </p:sp>
      <p:sp>
        <p:nvSpPr>
          <p:cNvPr name="TextBox 16" id="16"/>
          <p:cNvSpPr txBox="true"/>
          <p:nvPr/>
        </p:nvSpPr>
        <p:spPr>
          <a:xfrm rot="0">
            <a:off x="6478659" y="519574"/>
            <a:ext cx="551403" cy="186279"/>
          </a:xfrm>
          <a:prstGeom prst="rect">
            <a:avLst/>
          </a:prstGeom>
        </p:spPr>
        <p:txBody>
          <a:bodyPr anchor="t" rtlCol="false" tIns="0" lIns="0" bIns="0" rIns="0">
            <a:spAutoFit/>
          </a:bodyPr>
          <a:lstStyle/>
          <a:p>
            <a:pPr algn="r">
              <a:lnSpc>
                <a:spcPts val="1430"/>
              </a:lnSpc>
            </a:pPr>
            <a:r>
              <a:rPr lang="en-US" b="true" sz="1300">
                <a:solidFill>
                  <a:srgbClr val="0F1D3B"/>
                </a:solidFill>
                <a:latin typeface="Nunito Bold"/>
                <a:ea typeface="Nunito Bold"/>
                <a:cs typeface="Nunito Bold"/>
                <a:sym typeface="Nunito Bold"/>
              </a:rPr>
              <a:t>2025</a:t>
            </a:r>
          </a:p>
        </p:txBody>
      </p:sp>
      <p:sp>
        <p:nvSpPr>
          <p:cNvPr name="TextBox 17" id="17"/>
          <p:cNvSpPr txBox="true"/>
          <p:nvPr/>
        </p:nvSpPr>
        <p:spPr>
          <a:xfrm rot="0">
            <a:off x="5126099" y="10039949"/>
            <a:ext cx="1893190"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pa</a:t>
            </a:r>
            <a:r>
              <a:rPr lang="en-US" sz="1100" b="true">
                <a:solidFill>
                  <a:srgbClr val="000000"/>
                </a:solidFill>
                <a:latin typeface="Nunito Bold"/>
                <a:ea typeface="Nunito Bold"/>
                <a:cs typeface="Nunito Bold"/>
                <a:sym typeface="Nunito Bold"/>
              </a:rPr>
              <a:t>rtnership@sanggabiz.com</a:t>
            </a:r>
          </a:p>
        </p:txBody>
      </p:sp>
      <p:sp>
        <p:nvSpPr>
          <p:cNvPr name="TextBox 18" id="18"/>
          <p:cNvSpPr txBox="true"/>
          <p:nvPr/>
        </p:nvSpPr>
        <p:spPr>
          <a:xfrm rot="0">
            <a:off x="467939" y="1126261"/>
            <a:ext cx="6624121" cy="539273"/>
          </a:xfrm>
          <a:prstGeom prst="rect">
            <a:avLst/>
          </a:prstGeom>
        </p:spPr>
        <p:txBody>
          <a:bodyPr anchor="t" rtlCol="false" tIns="0" lIns="0" bIns="0" rIns="0">
            <a:spAutoFit/>
          </a:bodyPr>
          <a:lstStyle/>
          <a:p>
            <a:pPr algn="ctr">
              <a:lnSpc>
                <a:spcPts val="4137"/>
              </a:lnSpc>
            </a:pPr>
            <a:r>
              <a:rPr lang="en-US" b="true" sz="3761">
                <a:solidFill>
                  <a:srgbClr val="34BDCF"/>
                </a:solidFill>
                <a:latin typeface="Oswald Bold"/>
                <a:ea typeface="Oswald Bold"/>
                <a:cs typeface="Oswald Bold"/>
                <a:sym typeface="Oswald Bold"/>
              </a:rPr>
              <a:t>RINCIAN ANGGARAN</a:t>
            </a:r>
          </a:p>
        </p:txBody>
      </p:sp>
      <p:sp>
        <p:nvSpPr>
          <p:cNvPr name="TextBox 19" id="19"/>
          <p:cNvSpPr txBox="true"/>
          <p:nvPr/>
        </p:nvSpPr>
        <p:spPr>
          <a:xfrm rot="0">
            <a:off x="540670" y="2046534"/>
            <a:ext cx="6478659" cy="508000"/>
          </a:xfrm>
          <a:prstGeom prst="rect">
            <a:avLst/>
          </a:prstGeom>
        </p:spPr>
        <p:txBody>
          <a:bodyPr anchor="t" rtlCol="false" tIns="0" lIns="0" bIns="0" rIns="0">
            <a:spAutoFit/>
          </a:bodyPr>
          <a:lstStyle/>
          <a:p>
            <a:pPr algn="ctr">
              <a:lnSpc>
                <a:spcPts val="2000"/>
              </a:lnSpc>
              <a:spcBef>
                <a:spcPct val="0"/>
              </a:spcBef>
            </a:pPr>
            <a:r>
              <a:rPr lang="en-US" b="true" sz="2000" i="true">
                <a:solidFill>
                  <a:srgbClr val="000000"/>
                </a:solidFill>
                <a:latin typeface="Nunito Bold Italics"/>
                <a:ea typeface="Nunito Bold Italics"/>
                <a:cs typeface="Nunito Bold Italics"/>
                <a:sym typeface="Nunito Bold Italics"/>
              </a:rPr>
              <a:t>Detail lampiran untuk program ini terdapat pada bagian lampiran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529937" y="926236"/>
            <a:ext cx="6500125" cy="0"/>
          </a:xfrm>
          <a:prstGeom prst="line">
            <a:avLst/>
          </a:prstGeom>
          <a:ln cap="flat" w="19050">
            <a:solidFill>
              <a:srgbClr val="000000"/>
            </a:solidFill>
            <a:prstDash val="solid"/>
            <a:headEnd type="none" len="sm" w="sm"/>
            <a:tailEnd type="none" len="sm" w="sm"/>
          </a:ln>
        </p:spPr>
      </p:sp>
      <p:sp>
        <p:nvSpPr>
          <p:cNvPr name="AutoShape 3" id="3"/>
          <p:cNvSpPr/>
          <p:nvPr/>
        </p:nvSpPr>
        <p:spPr>
          <a:xfrm flipV="true">
            <a:off x="529937" y="9782475"/>
            <a:ext cx="6500125" cy="0"/>
          </a:xfrm>
          <a:prstGeom prst="line">
            <a:avLst/>
          </a:prstGeom>
          <a:ln cap="flat" w="19050">
            <a:solidFill>
              <a:srgbClr val="000000"/>
            </a:solidFill>
            <a:prstDash val="solid"/>
            <a:headEnd type="none" len="sm" w="sm"/>
            <a:tailEnd type="none" len="sm" w="sm"/>
          </a:ln>
        </p:spPr>
      </p:sp>
      <p:grpSp>
        <p:nvGrpSpPr>
          <p:cNvPr name="Group 4" id="4"/>
          <p:cNvGrpSpPr/>
          <p:nvPr/>
        </p:nvGrpSpPr>
        <p:grpSpPr>
          <a:xfrm rot="0">
            <a:off x="2414873" y="9968045"/>
            <a:ext cx="263381" cy="266997"/>
            <a:chOff x="0" y="0"/>
            <a:chExt cx="351174" cy="355996"/>
          </a:xfrm>
        </p:grpSpPr>
        <p:sp>
          <p:nvSpPr>
            <p:cNvPr name="Freeform 5" id="5"/>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6" id="6"/>
            <p:cNvSpPr/>
            <p:nvPr/>
          </p:nvSpPr>
          <p:spPr>
            <a:xfrm flipH="false" flipV="false" rot="0">
              <a:off x="71763" y="74174"/>
              <a:ext cx="207648" cy="207648"/>
            </a:xfrm>
            <a:custGeom>
              <a:avLst/>
              <a:gdLst/>
              <a:ahLst/>
              <a:cxnLst/>
              <a:rect r="r" b="b" t="t" l="l"/>
              <a:pathLst>
                <a:path h="207648" w="207648">
                  <a:moveTo>
                    <a:pt x="0" y="0"/>
                  </a:moveTo>
                  <a:lnTo>
                    <a:pt x="207648" y="0"/>
                  </a:lnTo>
                  <a:lnTo>
                    <a:pt x="207648" y="207648"/>
                  </a:lnTo>
                  <a:lnTo>
                    <a:pt x="0" y="207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7" id="7"/>
          <p:cNvGrpSpPr/>
          <p:nvPr/>
        </p:nvGrpSpPr>
        <p:grpSpPr>
          <a:xfrm rot="0">
            <a:off x="469351" y="9968045"/>
            <a:ext cx="263381" cy="266997"/>
            <a:chOff x="0" y="0"/>
            <a:chExt cx="351174" cy="355996"/>
          </a:xfrm>
        </p:grpSpPr>
        <p:sp>
          <p:nvSpPr>
            <p:cNvPr name="Freeform 8" id="8"/>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9" id="9"/>
            <p:cNvSpPr/>
            <p:nvPr/>
          </p:nvSpPr>
          <p:spPr>
            <a:xfrm flipH="false" flipV="false" rot="0">
              <a:off x="82548" y="72870"/>
              <a:ext cx="186078" cy="210257"/>
            </a:xfrm>
            <a:custGeom>
              <a:avLst/>
              <a:gdLst/>
              <a:ahLst/>
              <a:cxnLst/>
              <a:rect r="r" b="b" t="t" l="l"/>
              <a:pathLst>
                <a:path h="210257" w="186078">
                  <a:moveTo>
                    <a:pt x="0" y="0"/>
                  </a:moveTo>
                  <a:lnTo>
                    <a:pt x="186078" y="0"/>
                  </a:lnTo>
                  <a:lnTo>
                    <a:pt x="186078" y="210257"/>
                  </a:lnTo>
                  <a:lnTo>
                    <a:pt x="0" y="2102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10" id="10"/>
          <p:cNvGrpSpPr/>
          <p:nvPr/>
        </p:nvGrpSpPr>
        <p:grpSpPr>
          <a:xfrm rot="0">
            <a:off x="4789301" y="9981259"/>
            <a:ext cx="237312" cy="240571"/>
            <a:chOff x="0" y="0"/>
            <a:chExt cx="316416" cy="320761"/>
          </a:xfrm>
        </p:grpSpPr>
        <p:sp>
          <p:nvSpPr>
            <p:cNvPr name="Freeform 11" id="11"/>
            <p:cNvSpPr/>
            <p:nvPr/>
          </p:nvSpPr>
          <p:spPr>
            <a:xfrm flipH="false" flipV="false" rot="0">
              <a:off x="0" y="0"/>
              <a:ext cx="316416" cy="320761"/>
            </a:xfrm>
            <a:custGeom>
              <a:avLst/>
              <a:gdLst/>
              <a:ahLst/>
              <a:cxnLst/>
              <a:rect r="r" b="b" t="t" l="l"/>
              <a:pathLst>
                <a:path h="320761" w="316416">
                  <a:moveTo>
                    <a:pt x="0" y="0"/>
                  </a:moveTo>
                  <a:lnTo>
                    <a:pt x="316416" y="0"/>
                  </a:lnTo>
                  <a:lnTo>
                    <a:pt x="316416" y="320761"/>
                  </a:lnTo>
                  <a:lnTo>
                    <a:pt x="0" y="320761"/>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12" id="12"/>
            <p:cNvSpPr/>
            <p:nvPr/>
          </p:nvSpPr>
          <p:spPr>
            <a:xfrm flipH="false" flipV="false" rot="0">
              <a:off x="63604" y="89073"/>
              <a:ext cx="189207" cy="142615"/>
            </a:xfrm>
            <a:custGeom>
              <a:avLst/>
              <a:gdLst/>
              <a:ahLst/>
              <a:cxnLst/>
              <a:rect r="r" b="b" t="t" l="l"/>
              <a:pathLst>
                <a:path h="142615" w="189207">
                  <a:moveTo>
                    <a:pt x="0" y="0"/>
                  </a:moveTo>
                  <a:lnTo>
                    <a:pt x="189208" y="0"/>
                  </a:lnTo>
                  <a:lnTo>
                    <a:pt x="189208" y="142615"/>
                  </a:lnTo>
                  <a:lnTo>
                    <a:pt x="0" y="1426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13" id="13"/>
          <p:cNvSpPr/>
          <p:nvPr/>
        </p:nvSpPr>
        <p:spPr>
          <a:xfrm flipH="false" flipV="false" rot="0">
            <a:off x="529937" y="235022"/>
            <a:ext cx="2112492" cy="492915"/>
          </a:xfrm>
          <a:custGeom>
            <a:avLst/>
            <a:gdLst/>
            <a:ahLst/>
            <a:cxnLst/>
            <a:rect r="r" b="b" t="t" l="l"/>
            <a:pathLst>
              <a:path h="492915" w="2112492">
                <a:moveTo>
                  <a:pt x="0" y="0"/>
                </a:moveTo>
                <a:lnTo>
                  <a:pt x="2112493" y="0"/>
                </a:lnTo>
                <a:lnTo>
                  <a:pt x="2112493" y="492915"/>
                </a:lnTo>
                <a:lnTo>
                  <a:pt x="0" y="492915"/>
                </a:lnTo>
                <a:lnTo>
                  <a:pt x="0" y="0"/>
                </a:lnTo>
                <a:close/>
              </a:path>
            </a:pathLst>
          </a:custGeom>
          <a:blipFill>
            <a:blip r:embed="rId10"/>
            <a:stretch>
              <a:fillRect l="0" t="0" r="0" b="0"/>
            </a:stretch>
          </a:blipFill>
        </p:spPr>
      </p:sp>
      <p:grpSp>
        <p:nvGrpSpPr>
          <p:cNvPr name="Group 14" id="14"/>
          <p:cNvGrpSpPr/>
          <p:nvPr/>
        </p:nvGrpSpPr>
        <p:grpSpPr>
          <a:xfrm rot="0">
            <a:off x="576959" y="2066076"/>
            <a:ext cx="970912" cy="970912"/>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11"/>
              <a:stretch>
                <a:fillRect l="-51570" t="-70916" r="-67313" b="-157614"/>
              </a:stretch>
            </a:blipFill>
          </p:spPr>
        </p:sp>
      </p:grpSp>
      <p:grpSp>
        <p:nvGrpSpPr>
          <p:cNvPr name="Group 16" id="16"/>
          <p:cNvGrpSpPr/>
          <p:nvPr/>
        </p:nvGrpSpPr>
        <p:grpSpPr>
          <a:xfrm rot="0">
            <a:off x="477496" y="7025499"/>
            <a:ext cx="970912" cy="97091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12"/>
              <a:stretch>
                <a:fillRect l="0" t="-2286" r="0" b="-35090"/>
              </a:stretch>
            </a:blipFill>
          </p:spPr>
        </p:sp>
      </p:grpSp>
      <p:sp>
        <p:nvSpPr>
          <p:cNvPr name="Freeform 18" id="18"/>
          <p:cNvSpPr/>
          <p:nvPr/>
        </p:nvSpPr>
        <p:spPr>
          <a:xfrm flipH="false" flipV="false" rot="0">
            <a:off x="560741" y="4592658"/>
            <a:ext cx="970912" cy="941888"/>
          </a:xfrm>
          <a:custGeom>
            <a:avLst/>
            <a:gdLst/>
            <a:ahLst/>
            <a:cxnLst/>
            <a:rect r="r" b="b" t="t" l="l"/>
            <a:pathLst>
              <a:path h="941888" w="970912">
                <a:moveTo>
                  <a:pt x="0" y="0"/>
                </a:moveTo>
                <a:lnTo>
                  <a:pt x="970911" y="0"/>
                </a:lnTo>
                <a:lnTo>
                  <a:pt x="970911" y="941888"/>
                </a:lnTo>
                <a:lnTo>
                  <a:pt x="0" y="941888"/>
                </a:lnTo>
                <a:lnTo>
                  <a:pt x="0" y="0"/>
                </a:lnTo>
                <a:close/>
              </a:path>
            </a:pathLst>
          </a:custGeom>
          <a:blipFill>
            <a:blip r:embed="rId13"/>
            <a:stretch>
              <a:fillRect l="-28381" t="-73178" r="-15243" b="-90022"/>
            </a:stretch>
          </a:blipFill>
        </p:spPr>
      </p:sp>
      <p:sp>
        <p:nvSpPr>
          <p:cNvPr name="Freeform 19" id="19"/>
          <p:cNvSpPr/>
          <p:nvPr/>
        </p:nvSpPr>
        <p:spPr>
          <a:xfrm flipH="false" flipV="false" rot="0">
            <a:off x="4423182" y="4592658"/>
            <a:ext cx="951643" cy="920629"/>
          </a:xfrm>
          <a:custGeom>
            <a:avLst/>
            <a:gdLst/>
            <a:ahLst/>
            <a:cxnLst/>
            <a:rect r="r" b="b" t="t" l="l"/>
            <a:pathLst>
              <a:path h="920629" w="951643">
                <a:moveTo>
                  <a:pt x="0" y="0"/>
                </a:moveTo>
                <a:lnTo>
                  <a:pt x="951642" y="0"/>
                </a:lnTo>
                <a:lnTo>
                  <a:pt x="951642" y="920629"/>
                </a:lnTo>
                <a:lnTo>
                  <a:pt x="0" y="920629"/>
                </a:lnTo>
                <a:lnTo>
                  <a:pt x="0" y="0"/>
                </a:lnTo>
                <a:close/>
              </a:path>
            </a:pathLst>
          </a:custGeom>
          <a:blipFill>
            <a:blip r:embed="rId14"/>
            <a:stretch>
              <a:fillRect l="0" t="0" r="0" b="0"/>
            </a:stretch>
          </a:blipFill>
        </p:spPr>
      </p:sp>
      <p:sp>
        <p:nvSpPr>
          <p:cNvPr name="Freeform 20" id="20"/>
          <p:cNvSpPr/>
          <p:nvPr/>
        </p:nvSpPr>
        <p:spPr>
          <a:xfrm flipH="false" flipV="false" rot="0">
            <a:off x="6086201" y="2066076"/>
            <a:ext cx="970912" cy="970912"/>
          </a:xfrm>
          <a:custGeom>
            <a:avLst/>
            <a:gdLst/>
            <a:ahLst/>
            <a:cxnLst/>
            <a:rect r="r" b="b" t="t" l="l"/>
            <a:pathLst>
              <a:path h="970912" w="970912">
                <a:moveTo>
                  <a:pt x="0" y="0"/>
                </a:moveTo>
                <a:lnTo>
                  <a:pt x="970911" y="0"/>
                </a:lnTo>
                <a:lnTo>
                  <a:pt x="970911" y="970912"/>
                </a:lnTo>
                <a:lnTo>
                  <a:pt x="0" y="970912"/>
                </a:lnTo>
                <a:lnTo>
                  <a:pt x="0" y="0"/>
                </a:lnTo>
                <a:close/>
              </a:path>
            </a:pathLst>
          </a:custGeom>
          <a:blipFill>
            <a:blip r:embed="rId15"/>
            <a:stretch>
              <a:fillRect l="0" t="0" r="0" b="0"/>
            </a:stretch>
          </a:blipFill>
        </p:spPr>
      </p:sp>
      <p:sp>
        <p:nvSpPr>
          <p:cNvPr name="Freeform 21" id="21"/>
          <p:cNvSpPr/>
          <p:nvPr/>
        </p:nvSpPr>
        <p:spPr>
          <a:xfrm flipH="false" flipV="false" rot="0">
            <a:off x="2493952" y="4592658"/>
            <a:ext cx="920629" cy="920629"/>
          </a:xfrm>
          <a:custGeom>
            <a:avLst/>
            <a:gdLst/>
            <a:ahLst/>
            <a:cxnLst/>
            <a:rect r="r" b="b" t="t" l="l"/>
            <a:pathLst>
              <a:path h="920629" w="920629">
                <a:moveTo>
                  <a:pt x="0" y="0"/>
                </a:moveTo>
                <a:lnTo>
                  <a:pt x="920629" y="0"/>
                </a:lnTo>
                <a:lnTo>
                  <a:pt x="920629" y="920629"/>
                </a:lnTo>
                <a:lnTo>
                  <a:pt x="0" y="920629"/>
                </a:lnTo>
                <a:lnTo>
                  <a:pt x="0" y="0"/>
                </a:lnTo>
                <a:close/>
              </a:path>
            </a:pathLst>
          </a:custGeom>
          <a:blipFill>
            <a:blip r:embed="rId16"/>
            <a:stretch>
              <a:fillRect l="0" t="0" r="0" b="0"/>
            </a:stretch>
          </a:blipFill>
        </p:spPr>
      </p:sp>
      <p:sp>
        <p:nvSpPr>
          <p:cNvPr name="Freeform 22" id="22"/>
          <p:cNvSpPr/>
          <p:nvPr/>
        </p:nvSpPr>
        <p:spPr>
          <a:xfrm flipH="false" flipV="false" rot="0">
            <a:off x="6069982" y="4569425"/>
            <a:ext cx="943862" cy="943862"/>
          </a:xfrm>
          <a:custGeom>
            <a:avLst/>
            <a:gdLst/>
            <a:ahLst/>
            <a:cxnLst/>
            <a:rect r="r" b="b" t="t" l="l"/>
            <a:pathLst>
              <a:path h="943862" w="943862">
                <a:moveTo>
                  <a:pt x="0" y="0"/>
                </a:moveTo>
                <a:lnTo>
                  <a:pt x="943862" y="0"/>
                </a:lnTo>
                <a:lnTo>
                  <a:pt x="943862" y="943862"/>
                </a:lnTo>
                <a:lnTo>
                  <a:pt x="0" y="943862"/>
                </a:lnTo>
                <a:lnTo>
                  <a:pt x="0" y="0"/>
                </a:lnTo>
                <a:close/>
              </a:path>
            </a:pathLst>
          </a:custGeom>
          <a:blipFill>
            <a:blip r:embed="rId17"/>
            <a:stretch>
              <a:fillRect l="0" t="0" r="0" b="0"/>
            </a:stretch>
          </a:blipFill>
        </p:spPr>
      </p:sp>
      <p:grpSp>
        <p:nvGrpSpPr>
          <p:cNvPr name="Group 23" id="23"/>
          <p:cNvGrpSpPr/>
          <p:nvPr/>
        </p:nvGrpSpPr>
        <p:grpSpPr>
          <a:xfrm rot="0">
            <a:off x="1908805" y="7025499"/>
            <a:ext cx="970912" cy="970912"/>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18"/>
              <a:stretch>
                <a:fillRect l="0" t="0" r="0" b="0"/>
              </a:stretch>
            </a:blipFill>
          </p:spPr>
        </p:sp>
      </p:grpSp>
      <p:sp>
        <p:nvSpPr>
          <p:cNvPr name="Freeform 25" id="25"/>
          <p:cNvSpPr/>
          <p:nvPr/>
        </p:nvSpPr>
        <p:spPr>
          <a:xfrm flipH="false" flipV="false" rot="0">
            <a:off x="4439401" y="2066076"/>
            <a:ext cx="948379" cy="970912"/>
          </a:xfrm>
          <a:custGeom>
            <a:avLst/>
            <a:gdLst/>
            <a:ahLst/>
            <a:cxnLst/>
            <a:rect r="r" b="b" t="t" l="l"/>
            <a:pathLst>
              <a:path h="970912" w="948379">
                <a:moveTo>
                  <a:pt x="0" y="0"/>
                </a:moveTo>
                <a:lnTo>
                  <a:pt x="948379" y="0"/>
                </a:lnTo>
                <a:lnTo>
                  <a:pt x="948379" y="970912"/>
                </a:lnTo>
                <a:lnTo>
                  <a:pt x="0" y="970912"/>
                </a:lnTo>
                <a:lnTo>
                  <a:pt x="0" y="0"/>
                </a:lnTo>
                <a:close/>
              </a:path>
            </a:pathLst>
          </a:custGeom>
          <a:blipFill>
            <a:blip r:embed="rId19"/>
            <a:stretch>
              <a:fillRect l="-14439" t="0" r="-21092" b="-98579"/>
            </a:stretch>
          </a:blipFill>
        </p:spPr>
      </p:sp>
      <p:sp>
        <p:nvSpPr>
          <p:cNvPr name="Freeform 26" id="26"/>
          <p:cNvSpPr/>
          <p:nvPr/>
        </p:nvSpPr>
        <p:spPr>
          <a:xfrm flipH="false" flipV="false" rot="0">
            <a:off x="2444872" y="2066076"/>
            <a:ext cx="1051227" cy="970912"/>
          </a:xfrm>
          <a:custGeom>
            <a:avLst/>
            <a:gdLst/>
            <a:ahLst/>
            <a:cxnLst/>
            <a:rect r="r" b="b" t="t" l="l"/>
            <a:pathLst>
              <a:path h="970912" w="1051227">
                <a:moveTo>
                  <a:pt x="0" y="0"/>
                </a:moveTo>
                <a:lnTo>
                  <a:pt x="1051226" y="0"/>
                </a:lnTo>
                <a:lnTo>
                  <a:pt x="1051226" y="970912"/>
                </a:lnTo>
                <a:lnTo>
                  <a:pt x="0" y="970912"/>
                </a:lnTo>
                <a:lnTo>
                  <a:pt x="0" y="0"/>
                </a:lnTo>
                <a:close/>
              </a:path>
            </a:pathLst>
          </a:custGeom>
          <a:blipFill>
            <a:blip r:embed="rId20"/>
            <a:stretch>
              <a:fillRect l="-26622" t="0" r="-12939" b="-737"/>
            </a:stretch>
          </a:blipFill>
        </p:spPr>
      </p:sp>
      <p:sp>
        <p:nvSpPr>
          <p:cNvPr name="TextBox 27" id="27"/>
          <p:cNvSpPr txBox="true"/>
          <p:nvPr/>
        </p:nvSpPr>
        <p:spPr>
          <a:xfrm rot="0">
            <a:off x="1686768" y="8336004"/>
            <a:ext cx="1533227" cy="154305"/>
          </a:xfrm>
          <a:prstGeom prst="rect">
            <a:avLst/>
          </a:prstGeom>
        </p:spPr>
        <p:txBody>
          <a:bodyPr anchor="t" rtlCol="false" tIns="0" lIns="0" bIns="0" rIns="0">
            <a:spAutoFit/>
          </a:bodyPr>
          <a:lstStyle/>
          <a:p>
            <a:pPr algn="ctr">
              <a:lnSpc>
                <a:spcPts val="1200"/>
              </a:lnSpc>
              <a:spcBef>
                <a:spcPct val="0"/>
              </a:spcBef>
            </a:pPr>
            <a:r>
              <a:rPr lang="en-US" b="true" sz="1200">
                <a:solidFill>
                  <a:srgbClr val="000000"/>
                </a:solidFill>
                <a:latin typeface="Nunito Bold"/>
                <a:ea typeface="Nunito Bold"/>
                <a:cs typeface="Nunito Bold"/>
                <a:sym typeface="Nunito Bold"/>
              </a:rPr>
              <a:t>Moderator </a:t>
            </a:r>
          </a:p>
        </p:txBody>
      </p:sp>
      <p:sp>
        <p:nvSpPr>
          <p:cNvPr name="TextBox 28" id="28"/>
          <p:cNvSpPr txBox="true"/>
          <p:nvPr/>
        </p:nvSpPr>
        <p:spPr>
          <a:xfrm rot="0">
            <a:off x="1674204" y="8088134"/>
            <a:ext cx="1533227" cy="184785"/>
          </a:xfrm>
          <a:prstGeom prst="rect">
            <a:avLst/>
          </a:prstGeom>
        </p:spPr>
        <p:txBody>
          <a:bodyPr anchor="t" rtlCol="false" tIns="0" lIns="0" bIns="0" rIns="0">
            <a:spAutoFit/>
          </a:bodyPr>
          <a:lstStyle/>
          <a:p>
            <a:pPr algn="ctr" marL="0" indent="0" lvl="0">
              <a:lnSpc>
                <a:spcPts val="1560"/>
              </a:lnSpc>
            </a:pPr>
            <a:r>
              <a:rPr lang="en-US" b="true" sz="1200">
                <a:solidFill>
                  <a:srgbClr val="14145B"/>
                </a:solidFill>
                <a:latin typeface="Oswald Bold"/>
                <a:ea typeface="Oswald Bold"/>
                <a:cs typeface="Oswald Bold"/>
                <a:sym typeface="Oswald Bold"/>
              </a:rPr>
              <a:t>Indah Purnamasari</a:t>
            </a:r>
          </a:p>
        </p:txBody>
      </p:sp>
      <p:grpSp>
        <p:nvGrpSpPr>
          <p:cNvPr name="Group 29" id="29"/>
          <p:cNvGrpSpPr/>
          <p:nvPr/>
        </p:nvGrpSpPr>
        <p:grpSpPr>
          <a:xfrm rot="0">
            <a:off x="4765029" y="7025499"/>
            <a:ext cx="970912" cy="970912"/>
            <a:chOff x="0" y="0"/>
            <a:chExt cx="347953" cy="347953"/>
          </a:xfrm>
        </p:grpSpPr>
        <p:sp>
          <p:nvSpPr>
            <p:cNvPr name="Freeform 30" id="30"/>
            <p:cNvSpPr/>
            <p:nvPr/>
          </p:nvSpPr>
          <p:spPr>
            <a:xfrm flipH="false" flipV="false" rot="0">
              <a:off x="0" y="0"/>
              <a:ext cx="347953" cy="347953"/>
            </a:xfrm>
            <a:custGeom>
              <a:avLst/>
              <a:gdLst/>
              <a:ahLst/>
              <a:cxnLst/>
              <a:rect r="r" b="b" t="t" l="l"/>
              <a:pathLst>
                <a:path h="347953" w="347953">
                  <a:moveTo>
                    <a:pt x="0" y="0"/>
                  </a:moveTo>
                  <a:lnTo>
                    <a:pt x="347953" y="0"/>
                  </a:lnTo>
                  <a:lnTo>
                    <a:pt x="347953" y="347953"/>
                  </a:lnTo>
                  <a:lnTo>
                    <a:pt x="0" y="347953"/>
                  </a:lnTo>
                  <a:close/>
                </a:path>
              </a:pathLst>
            </a:custGeom>
            <a:solidFill>
              <a:srgbClr val="0071CE"/>
            </a:solidFill>
          </p:spPr>
        </p:sp>
        <p:sp>
          <p:nvSpPr>
            <p:cNvPr name="TextBox 31" id="31"/>
            <p:cNvSpPr txBox="true"/>
            <p:nvPr/>
          </p:nvSpPr>
          <p:spPr>
            <a:xfrm>
              <a:off x="0" y="28575"/>
              <a:ext cx="347953" cy="319378"/>
            </a:xfrm>
            <a:prstGeom prst="rect">
              <a:avLst/>
            </a:prstGeom>
          </p:spPr>
          <p:txBody>
            <a:bodyPr anchor="ctr" rtlCol="false" tIns="50800" lIns="50800" bIns="50800" rIns="50800"/>
            <a:lstStyle/>
            <a:p>
              <a:pPr algn="ctr">
                <a:lnSpc>
                  <a:spcPts val="1200"/>
                </a:lnSpc>
              </a:pPr>
              <a:r>
                <a:rPr lang="en-US" b="true" sz="1200">
                  <a:solidFill>
                    <a:srgbClr val="FFFFFF"/>
                  </a:solidFill>
                  <a:latin typeface="Nunito Bold"/>
                  <a:ea typeface="Nunito Bold"/>
                  <a:cs typeface="Nunito Bold"/>
                  <a:sym typeface="Nunito Bold"/>
                </a:rPr>
                <a:t>To be Confirmed</a:t>
              </a:r>
            </a:p>
          </p:txBody>
        </p:sp>
      </p:grpSp>
      <p:sp>
        <p:nvSpPr>
          <p:cNvPr name="TextBox 32" id="32"/>
          <p:cNvSpPr txBox="true"/>
          <p:nvPr/>
        </p:nvSpPr>
        <p:spPr>
          <a:xfrm rot="0">
            <a:off x="3141803" y="8518884"/>
            <a:ext cx="1361141" cy="306631"/>
          </a:xfrm>
          <a:prstGeom prst="rect">
            <a:avLst/>
          </a:prstGeom>
        </p:spPr>
        <p:txBody>
          <a:bodyPr anchor="t" rtlCol="false" tIns="0" lIns="0" bIns="0" rIns="0">
            <a:spAutoFit/>
          </a:bodyPr>
          <a:lstStyle/>
          <a:p>
            <a:pPr algn="ctr">
              <a:lnSpc>
                <a:spcPts val="1200"/>
              </a:lnSpc>
            </a:pPr>
            <a:r>
              <a:rPr lang="en-US" sz="1200" b="true">
                <a:solidFill>
                  <a:srgbClr val="000000"/>
                </a:solidFill>
                <a:latin typeface="Nunito Bold"/>
                <a:ea typeface="Nunito Bold"/>
                <a:cs typeface="Nunito Bold"/>
                <a:sym typeface="Nunito Bold"/>
              </a:rPr>
              <a:t>Pengajar </a:t>
            </a:r>
          </a:p>
          <a:p>
            <a:pPr algn="ctr">
              <a:lnSpc>
                <a:spcPts val="1200"/>
              </a:lnSpc>
              <a:spcBef>
                <a:spcPct val="0"/>
              </a:spcBef>
            </a:pPr>
            <a:r>
              <a:rPr lang="en-US" b="true" sz="1200">
                <a:solidFill>
                  <a:srgbClr val="000000"/>
                </a:solidFill>
                <a:latin typeface="Nunito Bold"/>
                <a:ea typeface="Nunito Bold"/>
                <a:cs typeface="Nunito Bold"/>
                <a:sym typeface="Nunito Bold"/>
              </a:rPr>
              <a:t>(dari luar lembaga)</a:t>
            </a:r>
          </a:p>
        </p:txBody>
      </p:sp>
      <p:sp>
        <p:nvSpPr>
          <p:cNvPr name="TextBox 33" id="33"/>
          <p:cNvSpPr txBox="true"/>
          <p:nvPr/>
        </p:nvSpPr>
        <p:spPr>
          <a:xfrm rot="0">
            <a:off x="3049477" y="8088134"/>
            <a:ext cx="1533227" cy="375285"/>
          </a:xfrm>
          <a:prstGeom prst="rect">
            <a:avLst/>
          </a:prstGeom>
        </p:spPr>
        <p:txBody>
          <a:bodyPr anchor="t" rtlCol="false" tIns="0" lIns="0" bIns="0" rIns="0">
            <a:spAutoFit/>
          </a:bodyPr>
          <a:lstStyle/>
          <a:p>
            <a:pPr algn="ctr" marL="0" indent="0" lvl="0">
              <a:lnSpc>
                <a:spcPts val="1560"/>
              </a:lnSpc>
            </a:pPr>
            <a:r>
              <a:rPr lang="en-US" b="true" sz="1200">
                <a:solidFill>
                  <a:srgbClr val="14145B"/>
                </a:solidFill>
                <a:latin typeface="Oswald Bold"/>
                <a:ea typeface="Oswald Bold"/>
                <a:cs typeface="Oswald Bold"/>
                <a:sym typeface="Oswald Bold"/>
              </a:rPr>
              <a:t>Fani Pramuditya, S.E., M.B.A.</a:t>
            </a:r>
          </a:p>
        </p:txBody>
      </p:sp>
      <p:sp>
        <p:nvSpPr>
          <p:cNvPr name="TextBox 34" id="34"/>
          <p:cNvSpPr txBox="true"/>
          <p:nvPr/>
        </p:nvSpPr>
        <p:spPr>
          <a:xfrm rot="0">
            <a:off x="4576196" y="8330006"/>
            <a:ext cx="1361141" cy="154268"/>
          </a:xfrm>
          <a:prstGeom prst="rect">
            <a:avLst/>
          </a:prstGeom>
        </p:spPr>
        <p:txBody>
          <a:bodyPr anchor="t" rtlCol="false" tIns="0" lIns="0" bIns="0" rIns="0">
            <a:spAutoFit/>
          </a:bodyPr>
          <a:lstStyle/>
          <a:p>
            <a:pPr algn="ctr">
              <a:lnSpc>
                <a:spcPts val="1200"/>
              </a:lnSpc>
              <a:spcBef>
                <a:spcPct val="0"/>
              </a:spcBef>
            </a:pPr>
            <a:r>
              <a:rPr lang="en-US" b="true" sz="1200">
                <a:solidFill>
                  <a:srgbClr val="000000"/>
                </a:solidFill>
                <a:latin typeface="Nunito Bold"/>
                <a:ea typeface="Nunito Bold"/>
                <a:cs typeface="Nunito Bold"/>
                <a:sym typeface="Nunito Bold"/>
              </a:rPr>
              <a:t>Fasilitator</a:t>
            </a:r>
          </a:p>
        </p:txBody>
      </p:sp>
      <p:sp>
        <p:nvSpPr>
          <p:cNvPr name="TextBox 35" id="35"/>
          <p:cNvSpPr txBox="true"/>
          <p:nvPr/>
        </p:nvSpPr>
        <p:spPr>
          <a:xfrm rot="0">
            <a:off x="4483871" y="8082136"/>
            <a:ext cx="1533227" cy="184785"/>
          </a:xfrm>
          <a:prstGeom prst="rect">
            <a:avLst/>
          </a:prstGeom>
        </p:spPr>
        <p:txBody>
          <a:bodyPr anchor="t" rtlCol="false" tIns="0" lIns="0" bIns="0" rIns="0">
            <a:spAutoFit/>
          </a:bodyPr>
          <a:lstStyle/>
          <a:p>
            <a:pPr algn="ctr" marL="0" indent="0" lvl="0">
              <a:lnSpc>
                <a:spcPts val="1560"/>
              </a:lnSpc>
            </a:pPr>
            <a:r>
              <a:rPr lang="en-US" b="true" sz="1200">
                <a:solidFill>
                  <a:srgbClr val="14145B"/>
                </a:solidFill>
                <a:latin typeface="Oswald Bold"/>
                <a:ea typeface="Oswald Bold"/>
                <a:cs typeface="Oswald Bold"/>
                <a:sym typeface="Oswald Bold"/>
              </a:rPr>
              <a:t>Eko Imam M, S.Kom</a:t>
            </a:r>
          </a:p>
        </p:txBody>
      </p:sp>
      <p:grpSp>
        <p:nvGrpSpPr>
          <p:cNvPr name="Group 36" id="36"/>
          <p:cNvGrpSpPr/>
          <p:nvPr/>
        </p:nvGrpSpPr>
        <p:grpSpPr>
          <a:xfrm rot="0">
            <a:off x="4765029" y="7025499"/>
            <a:ext cx="970912" cy="970912"/>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21"/>
              <a:stretch>
                <a:fillRect l="-7210" t="-8255" r="-2997" b="-16427"/>
              </a:stretch>
            </a:blipFill>
          </p:spPr>
        </p:sp>
      </p:grpSp>
      <p:sp>
        <p:nvSpPr>
          <p:cNvPr name="TextBox 38" id="38"/>
          <p:cNvSpPr txBox="true"/>
          <p:nvPr/>
        </p:nvSpPr>
        <p:spPr>
          <a:xfrm rot="0">
            <a:off x="6571656" y="519574"/>
            <a:ext cx="458406" cy="186279"/>
          </a:xfrm>
          <a:prstGeom prst="rect">
            <a:avLst/>
          </a:prstGeom>
        </p:spPr>
        <p:txBody>
          <a:bodyPr anchor="t" rtlCol="false" tIns="0" lIns="0" bIns="0" rIns="0">
            <a:spAutoFit/>
          </a:bodyPr>
          <a:lstStyle/>
          <a:p>
            <a:pPr algn="r">
              <a:lnSpc>
                <a:spcPts val="1430"/>
              </a:lnSpc>
            </a:pPr>
            <a:r>
              <a:rPr lang="en-US" b="true" sz="1300">
                <a:solidFill>
                  <a:srgbClr val="000000"/>
                </a:solidFill>
                <a:latin typeface="Nunito Bold"/>
                <a:ea typeface="Nunito Bold"/>
                <a:cs typeface="Nunito Bold"/>
                <a:sym typeface="Nunito Bold"/>
              </a:rPr>
              <a:t>2025</a:t>
            </a:r>
          </a:p>
        </p:txBody>
      </p:sp>
      <p:sp>
        <p:nvSpPr>
          <p:cNvPr name="TextBox 39" id="39"/>
          <p:cNvSpPr txBox="true"/>
          <p:nvPr/>
        </p:nvSpPr>
        <p:spPr>
          <a:xfrm rot="0">
            <a:off x="467939" y="1084699"/>
            <a:ext cx="6624121" cy="539273"/>
          </a:xfrm>
          <a:prstGeom prst="rect">
            <a:avLst/>
          </a:prstGeom>
        </p:spPr>
        <p:txBody>
          <a:bodyPr anchor="t" rtlCol="false" tIns="0" lIns="0" bIns="0" rIns="0">
            <a:spAutoFit/>
          </a:bodyPr>
          <a:lstStyle/>
          <a:p>
            <a:pPr algn="ctr">
              <a:lnSpc>
                <a:spcPts val="4137"/>
              </a:lnSpc>
            </a:pPr>
            <a:r>
              <a:rPr lang="en-US" b="true" sz="3761">
                <a:solidFill>
                  <a:srgbClr val="34BDCF"/>
                </a:solidFill>
                <a:latin typeface="Oswald Bold"/>
                <a:ea typeface="Oswald Bold"/>
                <a:cs typeface="Oswald Bold"/>
                <a:sym typeface="Oswald Bold"/>
              </a:rPr>
              <a:t>TEAM MEMBERS</a:t>
            </a:r>
          </a:p>
        </p:txBody>
      </p:sp>
      <p:sp>
        <p:nvSpPr>
          <p:cNvPr name="TextBox 40" id="40"/>
          <p:cNvSpPr txBox="true"/>
          <p:nvPr/>
        </p:nvSpPr>
        <p:spPr>
          <a:xfrm rot="0">
            <a:off x="827982" y="10039949"/>
            <a:ext cx="1280004"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0877-74</a:t>
            </a:r>
            <a:r>
              <a:rPr lang="en-US" sz="1100" b="true">
                <a:solidFill>
                  <a:srgbClr val="000000"/>
                </a:solidFill>
                <a:latin typeface="Nunito Bold"/>
                <a:ea typeface="Nunito Bold"/>
                <a:cs typeface="Nunito Bold"/>
                <a:sym typeface="Nunito Bold"/>
              </a:rPr>
              <a:t>13-4288</a:t>
            </a:r>
          </a:p>
        </p:txBody>
      </p:sp>
      <p:sp>
        <p:nvSpPr>
          <p:cNvPr name="TextBox 41" id="41"/>
          <p:cNvSpPr txBox="true"/>
          <p:nvPr/>
        </p:nvSpPr>
        <p:spPr>
          <a:xfrm rot="0">
            <a:off x="2773503" y="10039949"/>
            <a:ext cx="1710998"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www.s</a:t>
            </a:r>
            <a:r>
              <a:rPr lang="en-US" sz="1100" b="true">
                <a:solidFill>
                  <a:srgbClr val="000000"/>
                </a:solidFill>
                <a:latin typeface="Nunito Bold"/>
                <a:ea typeface="Nunito Bold"/>
                <a:cs typeface="Nunito Bold"/>
                <a:sym typeface="Nunito Bold"/>
              </a:rPr>
              <a:t>anggabiz.com</a:t>
            </a:r>
          </a:p>
        </p:txBody>
      </p:sp>
      <p:sp>
        <p:nvSpPr>
          <p:cNvPr name="TextBox 42" id="42"/>
          <p:cNvSpPr txBox="true"/>
          <p:nvPr/>
        </p:nvSpPr>
        <p:spPr>
          <a:xfrm rot="0">
            <a:off x="5126099" y="10039949"/>
            <a:ext cx="1893190"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pa</a:t>
            </a:r>
            <a:r>
              <a:rPr lang="en-US" sz="1100" b="true">
                <a:solidFill>
                  <a:srgbClr val="000000"/>
                </a:solidFill>
                <a:latin typeface="Nunito Bold"/>
                <a:ea typeface="Nunito Bold"/>
                <a:cs typeface="Nunito Bold"/>
                <a:sym typeface="Nunito Bold"/>
              </a:rPr>
              <a:t>rtnership@sanggabiz.com</a:t>
            </a:r>
          </a:p>
        </p:txBody>
      </p:sp>
      <p:sp>
        <p:nvSpPr>
          <p:cNvPr name="TextBox 43" id="43"/>
          <p:cNvSpPr txBox="true"/>
          <p:nvPr/>
        </p:nvSpPr>
        <p:spPr>
          <a:xfrm rot="0">
            <a:off x="295802" y="3119930"/>
            <a:ext cx="1533227" cy="184785"/>
          </a:xfrm>
          <a:prstGeom prst="rect">
            <a:avLst/>
          </a:prstGeom>
        </p:spPr>
        <p:txBody>
          <a:bodyPr anchor="t" rtlCol="false" tIns="0" lIns="0" bIns="0" rIns="0">
            <a:spAutoFit/>
          </a:bodyPr>
          <a:lstStyle/>
          <a:p>
            <a:pPr algn="ctr" marL="0" indent="0" lvl="0">
              <a:lnSpc>
                <a:spcPts val="1560"/>
              </a:lnSpc>
            </a:pPr>
            <a:r>
              <a:rPr lang="en-US" b="true" sz="1200">
                <a:solidFill>
                  <a:srgbClr val="14145B"/>
                </a:solidFill>
                <a:latin typeface="Oswald Bold"/>
                <a:ea typeface="Oswald Bold"/>
                <a:cs typeface="Oswald Bold"/>
                <a:sym typeface="Oswald Bold"/>
              </a:rPr>
              <a:t>Dwi Andi Rohmatika</a:t>
            </a:r>
          </a:p>
        </p:txBody>
      </p:sp>
      <p:sp>
        <p:nvSpPr>
          <p:cNvPr name="TextBox 44" id="44"/>
          <p:cNvSpPr txBox="true"/>
          <p:nvPr/>
        </p:nvSpPr>
        <p:spPr>
          <a:xfrm rot="0">
            <a:off x="295802" y="3333289"/>
            <a:ext cx="1533227" cy="154305"/>
          </a:xfrm>
          <a:prstGeom prst="rect">
            <a:avLst/>
          </a:prstGeom>
        </p:spPr>
        <p:txBody>
          <a:bodyPr anchor="t" rtlCol="false" tIns="0" lIns="0" bIns="0" rIns="0">
            <a:spAutoFit/>
          </a:bodyPr>
          <a:lstStyle/>
          <a:p>
            <a:pPr algn="ctr">
              <a:lnSpc>
                <a:spcPts val="1200"/>
              </a:lnSpc>
              <a:spcBef>
                <a:spcPct val="0"/>
              </a:spcBef>
            </a:pPr>
            <a:r>
              <a:rPr lang="en-US" b="true" sz="1200">
                <a:solidFill>
                  <a:srgbClr val="000000"/>
                </a:solidFill>
                <a:latin typeface="Nunito Bold"/>
                <a:ea typeface="Nunito Bold"/>
                <a:cs typeface="Nunito Bold"/>
                <a:sym typeface="Nunito Bold"/>
              </a:rPr>
              <a:t>Project Manager </a:t>
            </a:r>
          </a:p>
        </p:txBody>
      </p:sp>
      <p:sp>
        <p:nvSpPr>
          <p:cNvPr name="TextBox 45" id="45"/>
          <p:cNvSpPr txBox="true"/>
          <p:nvPr/>
        </p:nvSpPr>
        <p:spPr>
          <a:xfrm rot="0">
            <a:off x="93952" y="8088134"/>
            <a:ext cx="1533227" cy="184785"/>
          </a:xfrm>
          <a:prstGeom prst="rect">
            <a:avLst/>
          </a:prstGeom>
        </p:spPr>
        <p:txBody>
          <a:bodyPr anchor="t" rtlCol="false" tIns="0" lIns="0" bIns="0" rIns="0">
            <a:spAutoFit/>
          </a:bodyPr>
          <a:lstStyle/>
          <a:p>
            <a:pPr algn="ctr" marL="0" indent="0" lvl="0">
              <a:lnSpc>
                <a:spcPts val="1560"/>
              </a:lnSpc>
            </a:pPr>
            <a:r>
              <a:rPr lang="en-US" b="true" sz="1200">
                <a:solidFill>
                  <a:srgbClr val="14145B"/>
                </a:solidFill>
                <a:latin typeface="Oswald Bold"/>
                <a:ea typeface="Oswald Bold"/>
                <a:cs typeface="Oswald Bold"/>
                <a:sym typeface="Oswald Bold"/>
              </a:rPr>
              <a:t>Faricha Khairunnafi</a:t>
            </a:r>
          </a:p>
        </p:txBody>
      </p:sp>
      <p:sp>
        <p:nvSpPr>
          <p:cNvPr name="TextBox 46" id="46"/>
          <p:cNvSpPr txBox="true"/>
          <p:nvPr/>
        </p:nvSpPr>
        <p:spPr>
          <a:xfrm rot="0">
            <a:off x="311928" y="5620271"/>
            <a:ext cx="1533227" cy="184785"/>
          </a:xfrm>
          <a:prstGeom prst="rect">
            <a:avLst/>
          </a:prstGeom>
        </p:spPr>
        <p:txBody>
          <a:bodyPr anchor="t" rtlCol="false" tIns="0" lIns="0" bIns="0" rIns="0">
            <a:spAutoFit/>
          </a:bodyPr>
          <a:lstStyle/>
          <a:p>
            <a:pPr algn="ctr" marL="0" indent="0" lvl="0">
              <a:lnSpc>
                <a:spcPts val="1560"/>
              </a:lnSpc>
            </a:pPr>
            <a:r>
              <a:rPr lang="en-US" b="true" sz="1200">
                <a:solidFill>
                  <a:srgbClr val="14145B"/>
                </a:solidFill>
                <a:latin typeface="Oswald Bold"/>
                <a:ea typeface="Oswald Bold"/>
                <a:cs typeface="Oswald Bold"/>
                <a:sym typeface="Oswald Bold"/>
              </a:rPr>
              <a:t>Sulistyaning Palupijati </a:t>
            </a:r>
          </a:p>
        </p:txBody>
      </p:sp>
      <p:sp>
        <p:nvSpPr>
          <p:cNvPr name="TextBox 47" id="47"/>
          <p:cNvSpPr txBox="true"/>
          <p:nvPr/>
        </p:nvSpPr>
        <p:spPr>
          <a:xfrm rot="0">
            <a:off x="311928" y="5928881"/>
            <a:ext cx="1533227" cy="306705"/>
          </a:xfrm>
          <a:prstGeom prst="rect">
            <a:avLst/>
          </a:prstGeom>
        </p:spPr>
        <p:txBody>
          <a:bodyPr anchor="t" rtlCol="false" tIns="0" lIns="0" bIns="0" rIns="0">
            <a:spAutoFit/>
          </a:bodyPr>
          <a:lstStyle/>
          <a:p>
            <a:pPr algn="ctr">
              <a:lnSpc>
                <a:spcPts val="1200"/>
              </a:lnSpc>
              <a:spcBef>
                <a:spcPct val="0"/>
              </a:spcBef>
            </a:pPr>
            <a:r>
              <a:rPr lang="en-US" b="true" sz="1200">
                <a:solidFill>
                  <a:srgbClr val="000000"/>
                </a:solidFill>
                <a:latin typeface="Nunito Bold"/>
                <a:ea typeface="Nunito Bold"/>
                <a:cs typeface="Nunito Bold"/>
                <a:sym typeface="Nunito Bold"/>
              </a:rPr>
              <a:t>Koordinator Bidang Materi Pengajar</a:t>
            </a:r>
          </a:p>
        </p:txBody>
      </p:sp>
      <p:sp>
        <p:nvSpPr>
          <p:cNvPr name="TextBox 48" id="48"/>
          <p:cNvSpPr txBox="true"/>
          <p:nvPr/>
        </p:nvSpPr>
        <p:spPr>
          <a:xfrm rot="0">
            <a:off x="2187653" y="5627587"/>
            <a:ext cx="1533227" cy="184785"/>
          </a:xfrm>
          <a:prstGeom prst="rect">
            <a:avLst/>
          </a:prstGeom>
        </p:spPr>
        <p:txBody>
          <a:bodyPr anchor="t" rtlCol="false" tIns="0" lIns="0" bIns="0" rIns="0">
            <a:spAutoFit/>
          </a:bodyPr>
          <a:lstStyle/>
          <a:p>
            <a:pPr algn="ctr" marL="0" indent="0" lvl="0">
              <a:lnSpc>
                <a:spcPts val="1560"/>
              </a:lnSpc>
            </a:pPr>
            <a:r>
              <a:rPr lang="en-US" b="true" sz="1200">
                <a:solidFill>
                  <a:srgbClr val="14145B"/>
                </a:solidFill>
                <a:latin typeface="Oswald Bold"/>
                <a:ea typeface="Oswald Bold"/>
                <a:cs typeface="Oswald Bold"/>
                <a:sym typeface="Oswald Bold"/>
              </a:rPr>
              <a:t>FARISYA SETIADI</a:t>
            </a:r>
          </a:p>
        </p:txBody>
      </p:sp>
      <p:sp>
        <p:nvSpPr>
          <p:cNvPr name="TextBox 49" id="49"/>
          <p:cNvSpPr txBox="true"/>
          <p:nvPr/>
        </p:nvSpPr>
        <p:spPr>
          <a:xfrm rot="0">
            <a:off x="5805043" y="3119930"/>
            <a:ext cx="1533227" cy="184785"/>
          </a:xfrm>
          <a:prstGeom prst="rect">
            <a:avLst/>
          </a:prstGeom>
        </p:spPr>
        <p:txBody>
          <a:bodyPr anchor="t" rtlCol="false" tIns="0" lIns="0" bIns="0" rIns="0">
            <a:spAutoFit/>
          </a:bodyPr>
          <a:lstStyle/>
          <a:p>
            <a:pPr algn="ctr" marL="0" indent="0" lvl="0">
              <a:lnSpc>
                <a:spcPts val="1560"/>
              </a:lnSpc>
            </a:pPr>
            <a:r>
              <a:rPr lang="en-US" b="true" sz="1200">
                <a:solidFill>
                  <a:srgbClr val="14145B"/>
                </a:solidFill>
                <a:latin typeface="Oswald Bold"/>
                <a:ea typeface="Oswald Bold"/>
                <a:cs typeface="Oswald Bold"/>
                <a:sym typeface="Oswald Bold"/>
              </a:rPr>
              <a:t>Muchson Attoyibi</a:t>
            </a:r>
          </a:p>
        </p:txBody>
      </p:sp>
      <p:sp>
        <p:nvSpPr>
          <p:cNvPr name="TextBox 50" id="50"/>
          <p:cNvSpPr txBox="true"/>
          <p:nvPr/>
        </p:nvSpPr>
        <p:spPr>
          <a:xfrm rot="0">
            <a:off x="4119492" y="5599012"/>
            <a:ext cx="1533227" cy="184785"/>
          </a:xfrm>
          <a:prstGeom prst="rect">
            <a:avLst/>
          </a:prstGeom>
        </p:spPr>
        <p:txBody>
          <a:bodyPr anchor="t" rtlCol="false" tIns="0" lIns="0" bIns="0" rIns="0">
            <a:spAutoFit/>
          </a:bodyPr>
          <a:lstStyle/>
          <a:p>
            <a:pPr algn="ctr" marL="0" indent="0" lvl="0">
              <a:lnSpc>
                <a:spcPts val="1560"/>
              </a:lnSpc>
            </a:pPr>
            <a:r>
              <a:rPr lang="en-US" b="true" sz="1200">
                <a:solidFill>
                  <a:srgbClr val="14145B"/>
                </a:solidFill>
                <a:latin typeface="Oswald Bold"/>
                <a:ea typeface="Oswald Bold"/>
                <a:cs typeface="Oswald Bold"/>
                <a:sym typeface="Oswald Bold"/>
              </a:rPr>
              <a:t>M G Mahardhika</a:t>
            </a:r>
          </a:p>
        </p:txBody>
      </p:sp>
      <p:sp>
        <p:nvSpPr>
          <p:cNvPr name="TextBox 51" id="51"/>
          <p:cNvSpPr txBox="true"/>
          <p:nvPr/>
        </p:nvSpPr>
        <p:spPr>
          <a:xfrm rot="0">
            <a:off x="2187653" y="5936196"/>
            <a:ext cx="1533227" cy="306705"/>
          </a:xfrm>
          <a:prstGeom prst="rect">
            <a:avLst/>
          </a:prstGeom>
        </p:spPr>
        <p:txBody>
          <a:bodyPr anchor="t" rtlCol="false" tIns="0" lIns="0" bIns="0" rIns="0">
            <a:spAutoFit/>
          </a:bodyPr>
          <a:lstStyle/>
          <a:p>
            <a:pPr algn="ctr">
              <a:lnSpc>
                <a:spcPts val="1200"/>
              </a:lnSpc>
              <a:spcBef>
                <a:spcPct val="0"/>
              </a:spcBef>
            </a:pPr>
            <a:r>
              <a:rPr lang="en-US" b="true" sz="1200">
                <a:solidFill>
                  <a:srgbClr val="000000"/>
                </a:solidFill>
                <a:latin typeface="Nunito Bold"/>
                <a:ea typeface="Nunito Bold"/>
                <a:cs typeface="Nunito Bold"/>
                <a:sym typeface="Nunito Bold"/>
              </a:rPr>
              <a:t>Koordinator Bidang Materi Pengajar</a:t>
            </a:r>
          </a:p>
        </p:txBody>
      </p:sp>
      <p:sp>
        <p:nvSpPr>
          <p:cNvPr name="TextBox 52" id="52"/>
          <p:cNvSpPr txBox="true"/>
          <p:nvPr/>
        </p:nvSpPr>
        <p:spPr>
          <a:xfrm rot="0">
            <a:off x="5805043" y="3424729"/>
            <a:ext cx="1533227" cy="306705"/>
          </a:xfrm>
          <a:prstGeom prst="rect">
            <a:avLst/>
          </a:prstGeom>
        </p:spPr>
        <p:txBody>
          <a:bodyPr anchor="t" rtlCol="false" tIns="0" lIns="0" bIns="0" rIns="0">
            <a:spAutoFit/>
          </a:bodyPr>
          <a:lstStyle/>
          <a:p>
            <a:pPr algn="ctr">
              <a:lnSpc>
                <a:spcPts val="1200"/>
              </a:lnSpc>
              <a:spcBef>
                <a:spcPct val="0"/>
              </a:spcBef>
            </a:pPr>
            <a:r>
              <a:rPr lang="en-US" b="true" sz="1200">
                <a:solidFill>
                  <a:srgbClr val="000000"/>
                </a:solidFill>
                <a:latin typeface="Nunito Bold"/>
                <a:ea typeface="Nunito Bold"/>
                <a:cs typeface="Nunito Bold"/>
                <a:sym typeface="Nunito Bold"/>
              </a:rPr>
              <a:t>Koordinator Bidang Materi Pengajar</a:t>
            </a:r>
          </a:p>
        </p:txBody>
      </p:sp>
      <p:sp>
        <p:nvSpPr>
          <p:cNvPr name="TextBox 53" id="53"/>
          <p:cNvSpPr txBox="true"/>
          <p:nvPr/>
        </p:nvSpPr>
        <p:spPr>
          <a:xfrm rot="0">
            <a:off x="4132389" y="5936196"/>
            <a:ext cx="1533227" cy="306705"/>
          </a:xfrm>
          <a:prstGeom prst="rect">
            <a:avLst/>
          </a:prstGeom>
        </p:spPr>
        <p:txBody>
          <a:bodyPr anchor="t" rtlCol="false" tIns="0" lIns="0" bIns="0" rIns="0">
            <a:spAutoFit/>
          </a:bodyPr>
          <a:lstStyle/>
          <a:p>
            <a:pPr algn="ctr">
              <a:lnSpc>
                <a:spcPts val="1200"/>
              </a:lnSpc>
              <a:spcBef>
                <a:spcPct val="0"/>
              </a:spcBef>
            </a:pPr>
            <a:r>
              <a:rPr lang="en-US" b="true" sz="1200">
                <a:solidFill>
                  <a:srgbClr val="000000"/>
                </a:solidFill>
                <a:latin typeface="Nunito Bold"/>
                <a:ea typeface="Nunito Bold"/>
                <a:cs typeface="Nunito Bold"/>
                <a:sym typeface="Nunito Bold"/>
              </a:rPr>
              <a:t>Koordinator Bidang Materi Pengajar</a:t>
            </a:r>
          </a:p>
        </p:txBody>
      </p:sp>
      <p:sp>
        <p:nvSpPr>
          <p:cNvPr name="TextBox 54" id="54"/>
          <p:cNvSpPr txBox="true"/>
          <p:nvPr/>
        </p:nvSpPr>
        <p:spPr>
          <a:xfrm rot="0">
            <a:off x="136853" y="8336004"/>
            <a:ext cx="1533227" cy="154305"/>
          </a:xfrm>
          <a:prstGeom prst="rect">
            <a:avLst/>
          </a:prstGeom>
        </p:spPr>
        <p:txBody>
          <a:bodyPr anchor="t" rtlCol="false" tIns="0" lIns="0" bIns="0" rIns="0">
            <a:spAutoFit/>
          </a:bodyPr>
          <a:lstStyle/>
          <a:p>
            <a:pPr algn="ctr">
              <a:lnSpc>
                <a:spcPts val="1200"/>
              </a:lnSpc>
              <a:spcBef>
                <a:spcPct val="0"/>
              </a:spcBef>
            </a:pPr>
            <a:r>
              <a:rPr lang="en-US" b="true" sz="1200">
                <a:solidFill>
                  <a:srgbClr val="000000"/>
                </a:solidFill>
                <a:latin typeface="Nunito Bold"/>
                <a:ea typeface="Nunito Bold"/>
                <a:cs typeface="Nunito Bold"/>
                <a:sym typeface="Nunito Bold"/>
              </a:rPr>
              <a:t>Administrator</a:t>
            </a:r>
          </a:p>
        </p:txBody>
      </p:sp>
      <p:sp>
        <p:nvSpPr>
          <p:cNvPr name="TextBox 55" id="55"/>
          <p:cNvSpPr txBox="true"/>
          <p:nvPr/>
        </p:nvSpPr>
        <p:spPr>
          <a:xfrm rot="0">
            <a:off x="5714844" y="5599012"/>
            <a:ext cx="1533227" cy="184785"/>
          </a:xfrm>
          <a:prstGeom prst="rect">
            <a:avLst/>
          </a:prstGeom>
        </p:spPr>
        <p:txBody>
          <a:bodyPr anchor="t" rtlCol="false" tIns="0" lIns="0" bIns="0" rIns="0">
            <a:spAutoFit/>
          </a:bodyPr>
          <a:lstStyle/>
          <a:p>
            <a:pPr algn="ctr" marL="0" indent="0" lvl="0">
              <a:lnSpc>
                <a:spcPts val="1560"/>
              </a:lnSpc>
            </a:pPr>
            <a:r>
              <a:rPr lang="en-US" b="true" sz="1200">
                <a:solidFill>
                  <a:srgbClr val="14145B"/>
                </a:solidFill>
                <a:latin typeface="Oswald Bold"/>
                <a:ea typeface="Oswald Bold"/>
                <a:cs typeface="Oswald Bold"/>
                <a:sym typeface="Oswald Bold"/>
              </a:rPr>
              <a:t>Halwa Annisa K.</a:t>
            </a:r>
          </a:p>
        </p:txBody>
      </p:sp>
      <p:sp>
        <p:nvSpPr>
          <p:cNvPr name="TextBox 56" id="56"/>
          <p:cNvSpPr txBox="true"/>
          <p:nvPr/>
        </p:nvSpPr>
        <p:spPr>
          <a:xfrm rot="0">
            <a:off x="5714844" y="5936196"/>
            <a:ext cx="1533227" cy="306705"/>
          </a:xfrm>
          <a:prstGeom prst="rect">
            <a:avLst/>
          </a:prstGeom>
        </p:spPr>
        <p:txBody>
          <a:bodyPr anchor="t" rtlCol="false" tIns="0" lIns="0" bIns="0" rIns="0">
            <a:spAutoFit/>
          </a:bodyPr>
          <a:lstStyle/>
          <a:p>
            <a:pPr algn="ctr">
              <a:lnSpc>
                <a:spcPts val="1200"/>
              </a:lnSpc>
              <a:spcBef>
                <a:spcPct val="0"/>
              </a:spcBef>
            </a:pPr>
            <a:r>
              <a:rPr lang="en-US" b="true" sz="1200">
                <a:solidFill>
                  <a:srgbClr val="000000"/>
                </a:solidFill>
                <a:latin typeface="Nunito Bold"/>
                <a:ea typeface="Nunito Bold"/>
                <a:cs typeface="Nunito Bold"/>
                <a:sym typeface="Nunito Bold"/>
              </a:rPr>
              <a:t>Koordinator Bidang Materi Pengajar</a:t>
            </a:r>
          </a:p>
        </p:txBody>
      </p:sp>
      <p:sp>
        <p:nvSpPr>
          <p:cNvPr name="TextBox 57" id="57"/>
          <p:cNvSpPr txBox="true"/>
          <p:nvPr/>
        </p:nvSpPr>
        <p:spPr>
          <a:xfrm rot="0">
            <a:off x="4146977" y="3119930"/>
            <a:ext cx="1533227" cy="184785"/>
          </a:xfrm>
          <a:prstGeom prst="rect">
            <a:avLst/>
          </a:prstGeom>
        </p:spPr>
        <p:txBody>
          <a:bodyPr anchor="t" rtlCol="false" tIns="0" lIns="0" bIns="0" rIns="0">
            <a:spAutoFit/>
          </a:bodyPr>
          <a:lstStyle/>
          <a:p>
            <a:pPr algn="ctr" marL="0" indent="0" lvl="0">
              <a:lnSpc>
                <a:spcPts val="1560"/>
              </a:lnSpc>
            </a:pPr>
            <a:r>
              <a:rPr lang="en-US" b="true" sz="1200">
                <a:solidFill>
                  <a:srgbClr val="14145B"/>
                </a:solidFill>
                <a:latin typeface="Oswald Bold"/>
                <a:ea typeface="Oswald Bold"/>
                <a:cs typeface="Oswald Bold"/>
                <a:sym typeface="Oswald Bold"/>
              </a:rPr>
              <a:t>Aidil Wicaksono </a:t>
            </a:r>
          </a:p>
        </p:txBody>
      </p:sp>
      <p:sp>
        <p:nvSpPr>
          <p:cNvPr name="TextBox 58" id="58"/>
          <p:cNvSpPr txBox="true"/>
          <p:nvPr/>
        </p:nvSpPr>
        <p:spPr>
          <a:xfrm rot="0">
            <a:off x="4135710" y="3378868"/>
            <a:ext cx="1533227" cy="154305"/>
          </a:xfrm>
          <a:prstGeom prst="rect">
            <a:avLst/>
          </a:prstGeom>
        </p:spPr>
        <p:txBody>
          <a:bodyPr anchor="t" rtlCol="false" tIns="0" lIns="0" bIns="0" rIns="0">
            <a:spAutoFit/>
          </a:bodyPr>
          <a:lstStyle/>
          <a:p>
            <a:pPr algn="ctr">
              <a:lnSpc>
                <a:spcPts val="1200"/>
              </a:lnSpc>
              <a:spcBef>
                <a:spcPct val="0"/>
              </a:spcBef>
            </a:pPr>
            <a:r>
              <a:rPr lang="en-US" b="true" sz="1200">
                <a:solidFill>
                  <a:srgbClr val="000000"/>
                </a:solidFill>
                <a:latin typeface="Nunito Bold"/>
                <a:ea typeface="Nunito Bold"/>
                <a:cs typeface="Nunito Bold"/>
                <a:sym typeface="Nunito Bold"/>
              </a:rPr>
              <a:t>Profesional </a:t>
            </a:r>
          </a:p>
        </p:txBody>
      </p:sp>
      <p:sp>
        <p:nvSpPr>
          <p:cNvPr name="TextBox 59" id="59"/>
          <p:cNvSpPr txBox="true"/>
          <p:nvPr/>
        </p:nvSpPr>
        <p:spPr>
          <a:xfrm rot="0">
            <a:off x="2203871" y="3119930"/>
            <a:ext cx="1533227" cy="184785"/>
          </a:xfrm>
          <a:prstGeom prst="rect">
            <a:avLst/>
          </a:prstGeom>
        </p:spPr>
        <p:txBody>
          <a:bodyPr anchor="t" rtlCol="false" tIns="0" lIns="0" bIns="0" rIns="0">
            <a:spAutoFit/>
          </a:bodyPr>
          <a:lstStyle/>
          <a:p>
            <a:pPr algn="ctr" marL="0" indent="0" lvl="0">
              <a:lnSpc>
                <a:spcPts val="1560"/>
              </a:lnSpc>
            </a:pPr>
            <a:r>
              <a:rPr lang="en-US" b="true" sz="1200">
                <a:solidFill>
                  <a:srgbClr val="14145B"/>
                </a:solidFill>
                <a:latin typeface="Oswald Bold"/>
                <a:ea typeface="Oswald Bold"/>
                <a:cs typeface="Oswald Bold"/>
                <a:sym typeface="Oswald Bold"/>
              </a:rPr>
              <a:t>Ir Siti Azizah MBA (TBC)</a:t>
            </a:r>
          </a:p>
        </p:txBody>
      </p:sp>
      <p:sp>
        <p:nvSpPr>
          <p:cNvPr name="TextBox 60" id="60"/>
          <p:cNvSpPr txBox="true"/>
          <p:nvPr/>
        </p:nvSpPr>
        <p:spPr>
          <a:xfrm rot="0">
            <a:off x="1861374" y="3378868"/>
            <a:ext cx="2218221" cy="306631"/>
          </a:xfrm>
          <a:prstGeom prst="rect">
            <a:avLst/>
          </a:prstGeom>
        </p:spPr>
        <p:txBody>
          <a:bodyPr anchor="t" rtlCol="false" tIns="0" lIns="0" bIns="0" rIns="0">
            <a:spAutoFit/>
          </a:bodyPr>
          <a:lstStyle/>
          <a:p>
            <a:pPr algn="ctr">
              <a:lnSpc>
                <a:spcPts val="1200"/>
              </a:lnSpc>
            </a:pPr>
            <a:r>
              <a:rPr lang="en-US" sz="1200" b="true">
                <a:solidFill>
                  <a:srgbClr val="000000"/>
                </a:solidFill>
                <a:latin typeface="Nunito Bold"/>
                <a:ea typeface="Nunito Bold"/>
                <a:cs typeface="Nunito Bold"/>
                <a:sym typeface="Nunito Bold"/>
              </a:rPr>
              <a:t>Deputi bidang Kewirausahaan</a:t>
            </a:r>
          </a:p>
          <a:p>
            <a:pPr algn="ctr">
              <a:lnSpc>
                <a:spcPts val="1200"/>
              </a:lnSpc>
              <a:spcBef>
                <a:spcPct val="0"/>
              </a:spcBef>
            </a:pPr>
            <a:r>
              <a:rPr lang="en-US" b="true" sz="1200">
                <a:solidFill>
                  <a:srgbClr val="000000"/>
                </a:solidFill>
                <a:latin typeface="Nunito Bold"/>
                <a:ea typeface="Nunito Bold"/>
                <a:cs typeface="Nunito Bold"/>
                <a:sym typeface="Nunito Bold"/>
              </a:rPr>
              <a:t>Kementerian UMKM</a:t>
            </a:r>
          </a:p>
        </p:txBody>
      </p:sp>
      <p:sp>
        <p:nvSpPr>
          <p:cNvPr name="TextBox 61" id="61"/>
          <p:cNvSpPr txBox="true"/>
          <p:nvPr/>
        </p:nvSpPr>
        <p:spPr>
          <a:xfrm rot="0">
            <a:off x="6004308" y="8330006"/>
            <a:ext cx="1361141" cy="154268"/>
          </a:xfrm>
          <a:prstGeom prst="rect">
            <a:avLst/>
          </a:prstGeom>
        </p:spPr>
        <p:txBody>
          <a:bodyPr anchor="t" rtlCol="false" tIns="0" lIns="0" bIns="0" rIns="0">
            <a:spAutoFit/>
          </a:bodyPr>
          <a:lstStyle/>
          <a:p>
            <a:pPr algn="ctr">
              <a:lnSpc>
                <a:spcPts val="1200"/>
              </a:lnSpc>
              <a:spcBef>
                <a:spcPct val="0"/>
              </a:spcBef>
            </a:pPr>
            <a:r>
              <a:rPr lang="en-US" b="true" sz="1200">
                <a:solidFill>
                  <a:srgbClr val="000000"/>
                </a:solidFill>
                <a:latin typeface="Nunito Bold"/>
                <a:ea typeface="Nunito Bold"/>
                <a:cs typeface="Nunito Bold"/>
                <a:sym typeface="Nunito Bold"/>
              </a:rPr>
              <a:t>Fasilitator</a:t>
            </a:r>
          </a:p>
        </p:txBody>
      </p:sp>
      <p:sp>
        <p:nvSpPr>
          <p:cNvPr name="TextBox 62" id="62"/>
          <p:cNvSpPr txBox="true"/>
          <p:nvPr/>
        </p:nvSpPr>
        <p:spPr>
          <a:xfrm rot="0">
            <a:off x="5911983" y="8082136"/>
            <a:ext cx="1533227" cy="184785"/>
          </a:xfrm>
          <a:prstGeom prst="rect">
            <a:avLst/>
          </a:prstGeom>
        </p:spPr>
        <p:txBody>
          <a:bodyPr anchor="t" rtlCol="false" tIns="0" lIns="0" bIns="0" rIns="0">
            <a:spAutoFit/>
          </a:bodyPr>
          <a:lstStyle/>
          <a:p>
            <a:pPr algn="ctr" marL="0" indent="0" lvl="0">
              <a:lnSpc>
                <a:spcPts val="1560"/>
              </a:lnSpc>
            </a:pPr>
            <a:r>
              <a:rPr lang="en-US" b="true" sz="1200">
                <a:solidFill>
                  <a:srgbClr val="14145B"/>
                </a:solidFill>
                <a:latin typeface="Oswald Bold"/>
                <a:ea typeface="Oswald Bold"/>
                <a:cs typeface="Oswald Bold"/>
                <a:sym typeface="Oswald Bold"/>
              </a:rPr>
              <a:t>Aan Muzaki</a:t>
            </a:r>
          </a:p>
        </p:txBody>
      </p:sp>
      <p:grpSp>
        <p:nvGrpSpPr>
          <p:cNvPr name="Group 63" id="63"/>
          <p:cNvGrpSpPr/>
          <p:nvPr/>
        </p:nvGrpSpPr>
        <p:grpSpPr>
          <a:xfrm rot="0">
            <a:off x="6193141" y="7025499"/>
            <a:ext cx="970912" cy="970912"/>
            <a:chOff x="0" y="0"/>
            <a:chExt cx="812800" cy="812800"/>
          </a:xfrm>
        </p:grpSpPr>
        <p:sp>
          <p:nvSpPr>
            <p:cNvPr name="Freeform 64" id="6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22"/>
              <a:stretch>
                <a:fillRect l="0" t="-4213" r="0" b="-27078"/>
              </a:stretch>
            </a:blipFill>
          </p:spPr>
        </p:sp>
      </p:grpSp>
      <p:grpSp>
        <p:nvGrpSpPr>
          <p:cNvPr name="Group 65" id="65"/>
          <p:cNvGrpSpPr/>
          <p:nvPr/>
        </p:nvGrpSpPr>
        <p:grpSpPr>
          <a:xfrm rot="0">
            <a:off x="3336917" y="7025499"/>
            <a:ext cx="970912" cy="970912"/>
            <a:chOff x="0" y="0"/>
            <a:chExt cx="812800" cy="812800"/>
          </a:xfrm>
        </p:grpSpPr>
        <p:sp>
          <p:nvSpPr>
            <p:cNvPr name="Freeform 66" id="6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23"/>
              <a:stretch>
                <a:fillRect l="0" t="0" r="0" b="0"/>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529937" y="926236"/>
            <a:ext cx="6500125" cy="0"/>
          </a:xfrm>
          <a:prstGeom prst="line">
            <a:avLst/>
          </a:prstGeom>
          <a:ln cap="flat" w="19050">
            <a:solidFill>
              <a:srgbClr val="0071CE"/>
            </a:solidFill>
            <a:prstDash val="solid"/>
            <a:headEnd type="none" len="sm" w="sm"/>
            <a:tailEnd type="none" len="sm" w="sm"/>
          </a:ln>
        </p:spPr>
      </p:sp>
      <p:sp>
        <p:nvSpPr>
          <p:cNvPr name="AutoShape 3" id="3"/>
          <p:cNvSpPr/>
          <p:nvPr/>
        </p:nvSpPr>
        <p:spPr>
          <a:xfrm flipV="true">
            <a:off x="529937" y="9782475"/>
            <a:ext cx="6500125" cy="0"/>
          </a:xfrm>
          <a:prstGeom prst="line">
            <a:avLst/>
          </a:prstGeom>
          <a:ln cap="flat" w="19050">
            <a:solidFill>
              <a:srgbClr val="0071CE"/>
            </a:solidFill>
            <a:prstDash val="solid"/>
            <a:headEnd type="none" len="sm" w="sm"/>
            <a:tailEnd type="none" len="sm" w="sm"/>
          </a:ln>
        </p:spPr>
      </p:sp>
      <p:grpSp>
        <p:nvGrpSpPr>
          <p:cNvPr name="Group 4" id="4"/>
          <p:cNvGrpSpPr/>
          <p:nvPr/>
        </p:nvGrpSpPr>
        <p:grpSpPr>
          <a:xfrm rot="0">
            <a:off x="2414873" y="9968045"/>
            <a:ext cx="263381" cy="266997"/>
            <a:chOff x="0" y="0"/>
            <a:chExt cx="351174" cy="355996"/>
          </a:xfrm>
        </p:grpSpPr>
        <p:sp>
          <p:nvSpPr>
            <p:cNvPr name="Freeform 5" id="5"/>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6" id="6"/>
            <p:cNvSpPr/>
            <p:nvPr/>
          </p:nvSpPr>
          <p:spPr>
            <a:xfrm flipH="false" flipV="false" rot="0">
              <a:off x="71763" y="74174"/>
              <a:ext cx="207648" cy="207648"/>
            </a:xfrm>
            <a:custGeom>
              <a:avLst/>
              <a:gdLst/>
              <a:ahLst/>
              <a:cxnLst/>
              <a:rect r="r" b="b" t="t" l="l"/>
              <a:pathLst>
                <a:path h="207648" w="207648">
                  <a:moveTo>
                    <a:pt x="0" y="0"/>
                  </a:moveTo>
                  <a:lnTo>
                    <a:pt x="207648" y="0"/>
                  </a:lnTo>
                  <a:lnTo>
                    <a:pt x="207648" y="207648"/>
                  </a:lnTo>
                  <a:lnTo>
                    <a:pt x="0" y="207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7" id="7"/>
          <p:cNvGrpSpPr/>
          <p:nvPr/>
        </p:nvGrpSpPr>
        <p:grpSpPr>
          <a:xfrm rot="0">
            <a:off x="469351" y="9968045"/>
            <a:ext cx="263381" cy="266997"/>
            <a:chOff x="0" y="0"/>
            <a:chExt cx="351174" cy="355996"/>
          </a:xfrm>
        </p:grpSpPr>
        <p:sp>
          <p:nvSpPr>
            <p:cNvPr name="Freeform 8" id="8"/>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9" id="9"/>
            <p:cNvSpPr/>
            <p:nvPr/>
          </p:nvSpPr>
          <p:spPr>
            <a:xfrm flipH="false" flipV="false" rot="0">
              <a:off x="82548" y="72870"/>
              <a:ext cx="186078" cy="210257"/>
            </a:xfrm>
            <a:custGeom>
              <a:avLst/>
              <a:gdLst/>
              <a:ahLst/>
              <a:cxnLst/>
              <a:rect r="r" b="b" t="t" l="l"/>
              <a:pathLst>
                <a:path h="210257" w="186078">
                  <a:moveTo>
                    <a:pt x="0" y="0"/>
                  </a:moveTo>
                  <a:lnTo>
                    <a:pt x="186078" y="0"/>
                  </a:lnTo>
                  <a:lnTo>
                    <a:pt x="186078" y="210257"/>
                  </a:lnTo>
                  <a:lnTo>
                    <a:pt x="0" y="2102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10" id="10"/>
          <p:cNvGrpSpPr/>
          <p:nvPr/>
        </p:nvGrpSpPr>
        <p:grpSpPr>
          <a:xfrm rot="0">
            <a:off x="4789301" y="9981259"/>
            <a:ext cx="237312" cy="240571"/>
            <a:chOff x="0" y="0"/>
            <a:chExt cx="316416" cy="320761"/>
          </a:xfrm>
        </p:grpSpPr>
        <p:sp>
          <p:nvSpPr>
            <p:cNvPr name="Freeform 11" id="11"/>
            <p:cNvSpPr/>
            <p:nvPr/>
          </p:nvSpPr>
          <p:spPr>
            <a:xfrm flipH="false" flipV="false" rot="0">
              <a:off x="0" y="0"/>
              <a:ext cx="316416" cy="320761"/>
            </a:xfrm>
            <a:custGeom>
              <a:avLst/>
              <a:gdLst/>
              <a:ahLst/>
              <a:cxnLst/>
              <a:rect r="r" b="b" t="t" l="l"/>
              <a:pathLst>
                <a:path h="320761" w="316416">
                  <a:moveTo>
                    <a:pt x="0" y="0"/>
                  </a:moveTo>
                  <a:lnTo>
                    <a:pt x="316416" y="0"/>
                  </a:lnTo>
                  <a:lnTo>
                    <a:pt x="316416" y="320761"/>
                  </a:lnTo>
                  <a:lnTo>
                    <a:pt x="0" y="320761"/>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12" id="12"/>
            <p:cNvSpPr/>
            <p:nvPr/>
          </p:nvSpPr>
          <p:spPr>
            <a:xfrm flipH="false" flipV="false" rot="0">
              <a:off x="63604" y="89073"/>
              <a:ext cx="189207" cy="142615"/>
            </a:xfrm>
            <a:custGeom>
              <a:avLst/>
              <a:gdLst/>
              <a:ahLst/>
              <a:cxnLst/>
              <a:rect r="r" b="b" t="t" l="l"/>
              <a:pathLst>
                <a:path h="142615" w="189207">
                  <a:moveTo>
                    <a:pt x="0" y="0"/>
                  </a:moveTo>
                  <a:lnTo>
                    <a:pt x="189208" y="0"/>
                  </a:lnTo>
                  <a:lnTo>
                    <a:pt x="189208" y="142615"/>
                  </a:lnTo>
                  <a:lnTo>
                    <a:pt x="0" y="1426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13" id="13"/>
          <p:cNvSpPr/>
          <p:nvPr/>
        </p:nvSpPr>
        <p:spPr>
          <a:xfrm flipH="false" flipV="false" rot="0">
            <a:off x="529937" y="263592"/>
            <a:ext cx="2112492" cy="492915"/>
          </a:xfrm>
          <a:custGeom>
            <a:avLst/>
            <a:gdLst/>
            <a:ahLst/>
            <a:cxnLst/>
            <a:rect r="r" b="b" t="t" l="l"/>
            <a:pathLst>
              <a:path h="492915" w="2112492">
                <a:moveTo>
                  <a:pt x="0" y="0"/>
                </a:moveTo>
                <a:lnTo>
                  <a:pt x="2112493" y="0"/>
                </a:lnTo>
                <a:lnTo>
                  <a:pt x="2112493" y="492915"/>
                </a:lnTo>
                <a:lnTo>
                  <a:pt x="0" y="492915"/>
                </a:lnTo>
                <a:lnTo>
                  <a:pt x="0" y="0"/>
                </a:lnTo>
                <a:close/>
              </a:path>
            </a:pathLst>
          </a:custGeom>
          <a:blipFill>
            <a:blip r:embed="rId10"/>
            <a:stretch>
              <a:fillRect l="0" t="0" r="0" b="0"/>
            </a:stretch>
          </a:blipFill>
        </p:spPr>
      </p:sp>
      <p:sp>
        <p:nvSpPr>
          <p:cNvPr name="Freeform 14" id="14"/>
          <p:cNvSpPr/>
          <p:nvPr/>
        </p:nvSpPr>
        <p:spPr>
          <a:xfrm flipH="false" flipV="false" rot="0">
            <a:off x="2053216" y="2306884"/>
            <a:ext cx="3453568" cy="2591615"/>
          </a:xfrm>
          <a:custGeom>
            <a:avLst/>
            <a:gdLst/>
            <a:ahLst/>
            <a:cxnLst/>
            <a:rect r="r" b="b" t="t" l="l"/>
            <a:pathLst>
              <a:path h="2591615" w="3453568">
                <a:moveTo>
                  <a:pt x="0" y="0"/>
                </a:moveTo>
                <a:lnTo>
                  <a:pt x="3453568" y="0"/>
                </a:lnTo>
                <a:lnTo>
                  <a:pt x="3453568" y="2591615"/>
                </a:lnTo>
                <a:lnTo>
                  <a:pt x="0" y="2591615"/>
                </a:lnTo>
                <a:lnTo>
                  <a:pt x="0" y="0"/>
                </a:lnTo>
                <a:close/>
              </a:path>
            </a:pathLst>
          </a:custGeom>
          <a:blipFill>
            <a:blip r:embed="rId11"/>
            <a:stretch>
              <a:fillRect l="0" t="0" r="0" b="0"/>
            </a:stretch>
          </a:blipFill>
        </p:spPr>
      </p:sp>
      <p:sp>
        <p:nvSpPr>
          <p:cNvPr name="Freeform 15" id="15"/>
          <p:cNvSpPr/>
          <p:nvPr/>
        </p:nvSpPr>
        <p:spPr>
          <a:xfrm flipH="false" flipV="false" rot="374319">
            <a:off x="3044613" y="3989086"/>
            <a:ext cx="714159" cy="429611"/>
          </a:xfrm>
          <a:custGeom>
            <a:avLst/>
            <a:gdLst/>
            <a:ahLst/>
            <a:cxnLst/>
            <a:rect r="r" b="b" t="t" l="l"/>
            <a:pathLst>
              <a:path h="429611" w="714159">
                <a:moveTo>
                  <a:pt x="0" y="0"/>
                </a:moveTo>
                <a:lnTo>
                  <a:pt x="714159" y="0"/>
                </a:lnTo>
                <a:lnTo>
                  <a:pt x="714159" y="429611"/>
                </a:lnTo>
                <a:lnTo>
                  <a:pt x="0" y="429611"/>
                </a:lnTo>
                <a:lnTo>
                  <a:pt x="0" y="0"/>
                </a:lnTo>
                <a:close/>
              </a:path>
            </a:pathLst>
          </a:custGeom>
          <a:blipFill>
            <a:blip r:embed="rId12"/>
            <a:stretch>
              <a:fillRect l="0" t="0" r="0" b="0"/>
            </a:stretch>
          </a:blipFill>
        </p:spPr>
      </p:sp>
      <p:sp>
        <p:nvSpPr>
          <p:cNvPr name="Freeform 16" id="16"/>
          <p:cNvSpPr/>
          <p:nvPr/>
        </p:nvSpPr>
        <p:spPr>
          <a:xfrm flipH="false" flipV="false" rot="0">
            <a:off x="2854619" y="6025104"/>
            <a:ext cx="1850762" cy="2313452"/>
          </a:xfrm>
          <a:custGeom>
            <a:avLst/>
            <a:gdLst/>
            <a:ahLst/>
            <a:cxnLst/>
            <a:rect r="r" b="b" t="t" l="l"/>
            <a:pathLst>
              <a:path h="2313452" w="1850762">
                <a:moveTo>
                  <a:pt x="0" y="0"/>
                </a:moveTo>
                <a:lnTo>
                  <a:pt x="1850762" y="0"/>
                </a:lnTo>
                <a:lnTo>
                  <a:pt x="1850762" y="2313452"/>
                </a:lnTo>
                <a:lnTo>
                  <a:pt x="0" y="2313452"/>
                </a:lnTo>
                <a:lnTo>
                  <a:pt x="0" y="0"/>
                </a:lnTo>
                <a:close/>
              </a:path>
            </a:pathLst>
          </a:custGeom>
          <a:blipFill>
            <a:blip r:embed="rId13"/>
            <a:stretch>
              <a:fillRect l="0" t="0" r="0" b="0"/>
            </a:stretch>
          </a:blipFill>
        </p:spPr>
      </p:sp>
      <p:sp>
        <p:nvSpPr>
          <p:cNvPr name="TextBox 17" id="17"/>
          <p:cNvSpPr txBox="true"/>
          <p:nvPr/>
        </p:nvSpPr>
        <p:spPr>
          <a:xfrm rot="0">
            <a:off x="827982" y="10039949"/>
            <a:ext cx="1280004"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0877-74</a:t>
            </a:r>
            <a:r>
              <a:rPr lang="en-US" sz="1100" b="true">
                <a:solidFill>
                  <a:srgbClr val="000000"/>
                </a:solidFill>
                <a:latin typeface="Nunito Bold"/>
                <a:ea typeface="Nunito Bold"/>
                <a:cs typeface="Nunito Bold"/>
                <a:sym typeface="Nunito Bold"/>
              </a:rPr>
              <a:t>13-4288</a:t>
            </a:r>
          </a:p>
        </p:txBody>
      </p:sp>
      <p:sp>
        <p:nvSpPr>
          <p:cNvPr name="TextBox 18" id="18"/>
          <p:cNvSpPr txBox="true"/>
          <p:nvPr/>
        </p:nvSpPr>
        <p:spPr>
          <a:xfrm rot="0">
            <a:off x="2773503" y="10039949"/>
            <a:ext cx="1710998"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www.s</a:t>
            </a:r>
            <a:r>
              <a:rPr lang="en-US" sz="1100" b="true">
                <a:solidFill>
                  <a:srgbClr val="000000"/>
                </a:solidFill>
                <a:latin typeface="Nunito Bold"/>
                <a:ea typeface="Nunito Bold"/>
                <a:cs typeface="Nunito Bold"/>
                <a:sym typeface="Nunito Bold"/>
              </a:rPr>
              <a:t>anggabiz.com</a:t>
            </a:r>
          </a:p>
        </p:txBody>
      </p:sp>
      <p:sp>
        <p:nvSpPr>
          <p:cNvPr name="TextBox 19" id="19"/>
          <p:cNvSpPr txBox="true"/>
          <p:nvPr/>
        </p:nvSpPr>
        <p:spPr>
          <a:xfrm rot="0">
            <a:off x="6478659" y="519574"/>
            <a:ext cx="551403" cy="186279"/>
          </a:xfrm>
          <a:prstGeom prst="rect">
            <a:avLst/>
          </a:prstGeom>
        </p:spPr>
        <p:txBody>
          <a:bodyPr anchor="t" rtlCol="false" tIns="0" lIns="0" bIns="0" rIns="0">
            <a:spAutoFit/>
          </a:bodyPr>
          <a:lstStyle/>
          <a:p>
            <a:pPr algn="r">
              <a:lnSpc>
                <a:spcPts val="1430"/>
              </a:lnSpc>
            </a:pPr>
            <a:r>
              <a:rPr lang="en-US" b="true" sz="1300">
                <a:solidFill>
                  <a:srgbClr val="0F1D3B"/>
                </a:solidFill>
                <a:latin typeface="Nunito Bold"/>
                <a:ea typeface="Nunito Bold"/>
                <a:cs typeface="Nunito Bold"/>
                <a:sym typeface="Nunito Bold"/>
              </a:rPr>
              <a:t>2025</a:t>
            </a:r>
          </a:p>
        </p:txBody>
      </p:sp>
      <p:sp>
        <p:nvSpPr>
          <p:cNvPr name="TextBox 20" id="20"/>
          <p:cNvSpPr txBox="true"/>
          <p:nvPr/>
        </p:nvSpPr>
        <p:spPr>
          <a:xfrm rot="0">
            <a:off x="5126099" y="10039949"/>
            <a:ext cx="1893190"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pa</a:t>
            </a:r>
            <a:r>
              <a:rPr lang="en-US" sz="1100" b="true">
                <a:solidFill>
                  <a:srgbClr val="000000"/>
                </a:solidFill>
                <a:latin typeface="Nunito Bold"/>
                <a:ea typeface="Nunito Bold"/>
                <a:cs typeface="Nunito Bold"/>
                <a:sym typeface="Nunito Bold"/>
              </a:rPr>
              <a:t>rtnership@sanggabiz.com</a:t>
            </a:r>
          </a:p>
        </p:txBody>
      </p:sp>
      <p:sp>
        <p:nvSpPr>
          <p:cNvPr name="TextBox 21" id="21"/>
          <p:cNvSpPr txBox="true"/>
          <p:nvPr/>
        </p:nvSpPr>
        <p:spPr>
          <a:xfrm rot="0">
            <a:off x="467939" y="1126261"/>
            <a:ext cx="6624121" cy="539273"/>
          </a:xfrm>
          <a:prstGeom prst="rect">
            <a:avLst/>
          </a:prstGeom>
        </p:spPr>
        <p:txBody>
          <a:bodyPr anchor="t" rtlCol="false" tIns="0" lIns="0" bIns="0" rIns="0">
            <a:spAutoFit/>
          </a:bodyPr>
          <a:lstStyle/>
          <a:p>
            <a:pPr algn="ctr">
              <a:lnSpc>
                <a:spcPts val="4137"/>
              </a:lnSpc>
            </a:pPr>
            <a:r>
              <a:rPr lang="en-US" b="true" sz="3761">
                <a:solidFill>
                  <a:srgbClr val="34BDCF"/>
                </a:solidFill>
                <a:latin typeface="Oswald Bold"/>
                <a:ea typeface="Oswald Bold"/>
                <a:cs typeface="Oswald Bold"/>
                <a:sym typeface="Oswald Bold"/>
              </a:rPr>
              <a:t>SEMINAR KIT </a:t>
            </a:r>
          </a:p>
        </p:txBody>
      </p:sp>
      <p:sp>
        <p:nvSpPr>
          <p:cNvPr name="TextBox 22" id="22"/>
          <p:cNvSpPr txBox="true"/>
          <p:nvPr/>
        </p:nvSpPr>
        <p:spPr>
          <a:xfrm rot="0">
            <a:off x="540670" y="2046534"/>
            <a:ext cx="6478659" cy="260350"/>
          </a:xfrm>
          <a:prstGeom prst="rect">
            <a:avLst/>
          </a:prstGeom>
        </p:spPr>
        <p:txBody>
          <a:bodyPr anchor="t" rtlCol="false" tIns="0" lIns="0" bIns="0" rIns="0">
            <a:spAutoFit/>
          </a:bodyPr>
          <a:lstStyle/>
          <a:p>
            <a:pPr algn="ctr">
              <a:lnSpc>
                <a:spcPts val="2000"/>
              </a:lnSpc>
              <a:spcBef>
                <a:spcPct val="0"/>
              </a:spcBef>
            </a:pPr>
            <a:r>
              <a:rPr lang="en-US" b="true" sz="2000">
                <a:solidFill>
                  <a:srgbClr val="000000"/>
                </a:solidFill>
                <a:latin typeface="Nunito Bold"/>
                <a:ea typeface="Nunito Bold"/>
                <a:cs typeface="Nunito Bold"/>
                <a:sym typeface="Nunito Bold"/>
              </a:rPr>
              <a:t>Tas Ransel </a:t>
            </a:r>
          </a:p>
        </p:txBody>
      </p:sp>
      <p:sp>
        <p:nvSpPr>
          <p:cNvPr name="TextBox 23" id="23"/>
          <p:cNvSpPr txBox="true"/>
          <p:nvPr/>
        </p:nvSpPr>
        <p:spPr>
          <a:xfrm rot="0">
            <a:off x="1222621" y="4870674"/>
            <a:ext cx="5114759" cy="763905"/>
          </a:xfrm>
          <a:prstGeom prst="rect">
            <a:avLst/>
          </a:prstGeom>
        </p:spPr>
        <p:txBody>
          <a:bodyPr anchor="t" rtlCol="false" tIns="0" lIns="0" bIns="0" rIns="0">
            <a:spAutoFit/>
          </a:bodyPr>
          <a:lstStyle/>
          <a:p>
            <a:pPr algn="ctr">
              <a:lnSpc>
                <a:spcPts val="1200"/>
              </a:lnSpc>
              <a:spcBef>
                <a:spcPct val="0"/>
              </a:spcBef>
            </a:pPr>
            <a:r>
              <a:rPr lang="en-US" b="true" sz="1200">
                <a:solidFill>
                  <a:srgbClr val="000000"/>
                </a:solidFill>
                <a:latin typeface="Nunito Bold"/>
                <a:ea typeface="Nunito Bold"/>
                <a:cs typeface="Nunito Bold"/>
                <a:sym typeface="Nunito Bold"/>
              </a:rPr>
              <a:t>1. Jenis : Tas ransel laptop 2. Bahan: Cordura 3. Ukuran tas: 30 x 21 x 9 cm 4. Ukuran Panjang Tali :  110 cm 5. Spesifikasi fungsi: Terdapat 4 Slot Penyimpanan (Ruang Utama Dilengkapi Sekat) dan di samping Untuk Penyimpanan Botol Minum Atau Lainnya 6. Kelebihan Tas: Panjang Tali Bisa Diatur Sesuai keinginan</a:t>
            </a:r>
          </a:p>
        </p:txBody>
      </p:sp>
      <p:sp>
        <p:nvSpPr>
          <p:cNvPr name="TextBox 24" id="24"/>
          <p:cNvSpPr txBox="true"/>
          <p:nvPr/>
        </p:nvSpPr>
        <p:spPr>
          <a:xfrm rot="0">
            <a:off x="756000" y="8437991"/>
            <a:ext cx="6048000" cy="459105"/>
          </a:xfrm>
          <a:prstGeom prst="rect">
            <a:avLst/>
          </a:prstGeom>
        </p:spPr>
        <p:txBody>
          <a:bodyPr anchor="t" rtlCol="false" tIns="0" lIns="0" bIns="0" rIns="0">
            <a:spAutoFit/>
          </a:bodyPr>
          <a:lstStyle/>
          <a:p>
            <a:pPr algn="ctr">
              <a:lnSpc>
                <a:spcPts val="1200"/>
              </a:lnSpc>
              <a:spcBef>
                <a:spcPct val="0"/>
              </a:spcBef>
            </a:pPr>
            <a:r>
              <a:rPr lang="en-US" b="true" sz="1200">
                <a:solidFill>
                  <a:srgbClr val="000000"/>
                </a:solidFill>
                <a:latin typeface="Nunito Bold"/>
                <a:ea typeface="Nunito Bold"/>
                <a:cs typeface="Nunito Bold"/>
                <a:sym typeface="Nunito Bold"/>
              </a:rPr>
              <a:t>1. Jenis: Tumbler 2. Bahan: Material 304 stainless steel 3. Volume: 500ml 4. Finishing: Cetak UV Logo color 5. Kinerja: Bisa untuk air panas dan dingin. (Awet dan Tahan lama hingga - /+ 12 jam)</a:t>
            </a:r>
          </a:p>
        </p:txBody>
      </p:sp>
      <p:sp>
        <p:nvSpPr>
          <p:cNvPr name="Freeform 25" id="25"/>
          <p:cNvSpPr/>
          <p:nvPr/>
        </p:nvSpPr>
        <p:spPr>
          <a:xfrm flipH="false" flipV="false" rot="0">
            <a:off x="3467508" y="7147741"/>
            <a:ext cx="624984" cy="375967"/>
          </a:xfrm>
          <a:custGeom>
            <a:avLst/>
            <a:gdLst/>
            <a:ahLst/>
            <a:cxnLst/>
            <a:rect r="r" b="b" t="t" l="l"/>
            <a:pathLst>
              <a:path h="375967" w="624984">
                <a:moveTo>
                  <a:pt x="0" y="0"/>
                </a:moveTo>
                <a:lnTo>
                  <a:pt x="624984" y="0"/>
                </a:lnTo>
                <a:lnTo>
                  <a:pt x="624984" y="375967"/>
                </a:lnTo>
                <a:lnTo>
                  <a:pt x="0" y="375967"/>
                </a:lnTo>
                <a:lnTo>
                  <a:pt x="0" y="0"/>
                </a:lnTo>
                <a:close/>
              </a:path>
            </a:pathLst>
          </a:custGeom>
          <a:blipFill>
            <a:blip r:embed="rId12"/>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529937" y="926236"/>
            <a:ext cx="6500125" cy="0"/>
          </a:xfrm>
          <a:prstGeom prst="line">
            <a:avLst/>
          </a:prstGeom>
          <a:ln cap="flat" w="19050">
            <a:solidFill>
              <a:srgbClr val="0071CE"/>
            </a:solidFill>
            <a:prstDash val="solid"/>
            <a:headEnd type="none" len="sm" w="sm"/>
            <a:tailEnd type="none" len="sm" w="sm"/>
          </a:ln>
        </p:spPr>
      </p:sp>
      <p:sp>
        <p:nvSpPr>
          <p:cNvPr name="AutoShape 3" id="3"/>
          <p:cNvSpPr/>
          <p:nvPr/>
        </p:nvSpPr>
        <p:spPr>
          <a:xfrm flipV="true">
            <a:off x="1059875" y="9782921"/>
            <a:ext cx="6500125" cy="0"/>
          </a:xfrm>
          <a:prstGeom prst="line">
            <a:avLst/>
          </a:prstGeom>
          <a:ln cap="flat" w="19050">
            <a:solidFill>
              <a:srgbClr val="0071CE"/>
            </a:solidFill>
            <a:prstDash val="solid"/>
            <a:headEnd type="none" len="sm" w="sm"/>
            <a:tailEnd type="none" len="sm" w="sm"/>
          </a:ln>
        </p:spPr>
      </p:sp>
      <p:grpSp>
        <p:nvGrpSpPr>
          <p:cNvPr name="Group 4" id="4"/>
          <p:cNvGrpSpPr/>
          <p:nvPr/>
        </p:nvGrpSpPr>
        <p:grpSpPr>
          <a:xfrm rot="0">
            <a:off x="2414873" y="9968045"/>
            <a:ext cx="263381" cy="266997"/>
            <a:chOff x="0" y="0"/>
            <a:chExt cx="351174" cy="355996"/>
          </a:xfrm>
        </p:grpSpPr>
        <p:sp>
          <p:nvSpPr>
            <p:cNvPr name="Freeform 5" id="5"/>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6" id="6"/>
            <p:cNvSpPr/>
            <p:nvPr/>
          </p:nvSpPr>
          <p:spPr>
            <a:xfrm flipH="false" flipV="false" rot="0">
              <a:off x="71763" y="74174"/>
              <a:ext cx="207648" cy="207648"/>
            </a:xfrm>
            <a:custGeom>
              <a:avLst/>
              <a:gdLst/>
              <a:ahLst/>
              <a:cxnLst/>
              <a:rect r="r" b="b" t="t" l="l"/>
              <a:pathLst>
                <a:path h="207648" w="207648">
                  <a:moveTo>
                    <a:pt x="0" y="0"/>
                  </a:moveTo>
                  <a:lnTo>
                    <a:pt x="207648" y="0"/>
                  </a:lnTo>
                  <a:lnTo>
                    <a:pt x="207648" y="207648"/>
                  </a:lnTo>
                  <a:lnTo>
                    <a:pt x="0" y="207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7" id="7"/>
          <p:cNvGrpSpPr/>
          <p:nvPr/>
        </p:nvGrpSpPr>
        <p:grpSpPr>
          <a:xfrm rot="0">
            <a:off x="469351" y="9968045"/>
            <a:ext cx="263381" cy="266997"/>
            <a:chOff x="0" y="0"/>
            <a:chExt cx="351174" cy="355996"/>
          </a:xfrm>
        </p:grpSpPr>
        <p:sp>
          <p:nvSpPr>
            <p:cNvPr name="Freeform 8" id="8"/>
            <p:cNvSpPr/>
            <p:nvPr/>
          </p:nvSpPr>
          <p:spPr>
            <a:xfrm flipH="false" flipV="false" rot="0">
              <a:off x="0" y="0"/>
              <a:ext cx="351174" cy="355996"/>
            </a:xfrm>
            <a:custGeom>
              <a:avLst/>
              <a:gdLst/>
              <a:ahLst/>
              <a:cxnLst/>
              <a:rect r="r" b="b" t="t" l="l"/>
              <a:pathLst>
                <a:path h="355996" w="351174">
                  <a:moveTo>
                    <a:pt x="0" y="0"/>
                  </a:moveTo>
                  <a:lnTo>
                    <a:pt x="351174" y="0"/>
                  </a:lnTo>
                  <a:lnTo>
                    <a:pt x="351174" y="355996"/>
                  </a:lnTo>
                  <a:lnTo>
                    <a:pt x="0" y="355996"/>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9" id="9"/>
            <p:cNvSpPr/>
            <p:nvPr/>
          </p:nvSpPr>
          <p:spPr>
            <a:xfrm flipH="false" flipV="false" rot="0">
              <a:off x="82548" y="72870"/>
              <a:ext cx="186078" cy="210257"/>
            </a:xfrm>
            <a:custGeom>
              <a:avLst/>
              <a:gdLst/>
              <a:ahLst/>
              <a:cxnLst/>
              <a:rect r="r" b="b" t="t" l="l"/>
              <a:pathLst>
                <a:path h="210257" w="186078">
                  <a:moveTo>
                    <a:pt x="0" y="0"/>
                  </a:moveTo>
                  <a:lnTo>
                    <a:pt x="186078" y="0"/>
                  </a:lnTo>
                  <a:lnTo>
                    <a:pt x="186078" y="210257"/>
                  </a:lnTo>
                  <a:lnTo>
                    <a:pt x="0" y="2102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10" id="10"/>
          <p:cNvGrpSpPr/>
          <p:nvPr/>
        </p:nvGrpSpPr>
        <p:grpSpPr>
          <a:xfrm rot="0">
            <a:off x="4789301" y="9981259"/>
            <a:ext cx="237312" cy="240571"/>
            <a:chOff x="0" y="0"/>
            <a:chExt cx="316416" cy="320761"/>
          </a:xfrm>
        </p:grpSpPr>
        <p:sp>
          <p:nvSpPr>
            <p:cNvPr name="Freeform 11" id="11"/>
            <p:cNvSpPr/>
            <p:nvPr/>
          </p:nvSpPr>
          <p:spPr>
            <a:xfrm flipH="false" flipV="false" rot="0">
              <a:off x="0" y="0"/>
              <a:ext cx="316416" cy="320761"/>
            </a:xfrm>
            <a:custGeom>
              <a:avLst/>
              <a:gdLst/>
              <a:ahLst/>
              <a:cxnLst/>
              <a:rect r="r" b="b" t="t" l="l"/>
              <a:pathLst>
                <a:path h="320761" w="316416">
                  <a:moveTo>
                    <a:pt x="0" y="0"/>
                  </a:moveTo>
                  <a:lnTo>
                    <a:pt x="316416" y="0"/>
                  </a:lnTo>
                  <a:lnTo>
                    <a:pt x="316416" y="320761"/>
                  </a:lnTo>
                  <a:lnTo>
                    <a:pt x="0" y="320761"/>
                  </a:lnTo>
                  <a:lnTo>
                    <a:pt x="0" y="0"/>
                  </a:lnTo>
                  <a:close/>
                </a:path>
              </a:pathLst>
            </a:custGeom>
            <a:blipFill>
              <a:blip r:embed="rId2">
                <a:extLst>
                  <a:ext uri="{96DAC541-7B7A-43D3-8B79-37D633B846F1}">
                    <asvg:svgBlip xmlns:asvg="http://schemas.microsoft.com/office/drawing/2016/SVG/main" r:embed="rId3"/>
                  </a:ext>
                </a:extLst>
              </a:blip>
              <a:stretch>
                <a:fillRect l="0" t="-131786" r="-598794" b="0"/>
              </a:stretch>
            </a:blipFill>
          </p:spPr>
        </p:sp>
        <p:sp>
          <p:nvSpPr>
            <p:cNvPr name="Freeform 12" id="12"/>
            <p:cNvSpPr/>
            <p:nvPr/>
          </p:nvSpPr>
          <p:spPr>
            <a:xfrm flipH="false" flipV="false" rot="0">
              <a:off x="63604" y="89073"/>
              <a:ext cx="189207" cy="142615"/>
            </a:xfrm>
            <a:custGeom>
              <a:avLst/>
              <a:gdLst/>
              <a:ahLst/>
              <a:cxnLst/>
              <a:rect r="r" b="b" t="t" l="l"/>
              <a:pathLst>
                <a:path h="142615" w="189207">
                  <a:moveTo>
                    <a:pt x="0" y="0"/>
                  </a:moveTo>
                  <a:lnTo>
                    <a:pt x="189208" y="0"/>
                  </a:lnTo>
                  <a:lnTo>
                    <a:pt x="189208" y="142615"/>
                  </a:lnTo>
                  <a:lnTo>
                    <a:pt x="0" y="1426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Freeform 13" id="13"/>
          <p:cNvSpPr/>
          <p:nvPr/>
        </p:nvSpPr>
        <p:spPr>
          <a:xfrm flipH="false" flipV="false" rot="0">
            <a:off x="529937" y="263592"/>
            <a:ext cx="2112492" cy="492915"/>
          </a:xfrm>
          <a:custGeom>
            <a:avLst/>
            <a:gdLst/>
            <a:ahLst/>
            <a:cxnLst/>
            <a:rect r="r" b="b" t="t" l="l"/>
            <a:pathLst>
              <a:path h="492915" w="2112492">
                <a:moveTo>
                  <a:pt x="0" y="0"/>
                </a:moveTo>
                <a:lnTo>
                  <a:pt x="2112493" y="0"/>
                </a:lnTo>
                <a:lnTo>
                  <a:pt x="2112493" y="492915"/>
                </a:lnTo>
                <a:lnTo>
                  <a:pt x="0" y="492915"/>
                </a:lnTo>
                <a:lnTo>
                  <a:pt x="0" y="0"/>
                </a:lnTo>
                <a:close/>
              </a:path>
            </a:pathLst>
          </a:custGeom>
          <a:blipFill>
            <a:blip r:embed="rId10"/>
            <a:stretch>
              <a:fillRect l="0" t="0" r="0" b="0"/>
            </a:stretch>
          </a:blipFill>
        </p:spPr>
      </p:sp>
      <p:sp>
        <p:nvSpPr>
          <p:cNvPr name="Freeform 14" id="14"/>
          <p:cNvSpPr/>
          <p:nvPr/>
        </p:nvSpPr>
        <p:spPr>
          <a:xfrm flipH="false" flipV="false" rot="0">
            <a:off x="2107985" y="2233984"/>
            <a:ext cx="3640761" cy="2425657"/>
          </a:xfrm>
          <a:custGeom>
            <a:avLst/>
            <a:gdLst/>
            <a:ahLst/>
            <a:cxnLst/>
            <a:rect r="r" b="b" t="t" l="l"/>
            <a:pathLst>
              <a:path h="2425657" w="3640761">
                <a:moveTo>
                  <a:pt x="0" y="0"/>
                </a:moveTo>
                <a:lnTo>
                  <a:pt x="3640761" y="0"/>
                </a:lnTo>
                <a:lnTo>
                  <a:pt x="3640761" y="2425657"/>
                </a:lnTo>
                <a:lnTo>
                  <a:pt x="0" y="2425657"/>
                </a:lnTo>
                <a:lnTo>
                  <a:pt x="0" y="0"/>
                </a:lnTo>
                <a:close/>
              </a:path>
            </a:pathLst>
          </a:custGeom>
          <a:blipFill>
            <a:blip r:embed="rId11"/>
            <a:stretch>
              <a:fillRect l="0" t="0" r="0" b="0"/>
            </a:stretch>
          </a:blipFill>
        </p:spPr>
      </p:sp>
      <p:sp>
        <p:nvSpPr>
          <p:cNvPr name="Freeform 15" id="15"/>
          <p:cNvSpPr/>
          <p:nvPr/>
        </p:nvSpPr>
        <p:spPr>
          <a:xfrm flipH="false" flipV="false" rot="-2928844">
            <a:off x="2916833" y="3929511"/>
            <a:ext cx="624984" cy="375967"/>
          </a:xfrm>
          <a:custGeom>
            <a:avLst/>
            <a:gdLst/>
            <a:ahLst/>
            <a:cxnLst/>
            <a:rect r="r" b="b" t="t" l="l"/>
            <a:pathLst>
              <a:path h="375967" w="624984">
                <a:moveTo>
                  <a:pt x="0" y="0"/>
                </a:moveTo>
                <a:lnTo>
                  <a:pt x="624984" y="0"/>
                </a:lnTo>
                <a:lnTo>
                  <a:pt x="624984" y="375967"/>
                </a:lnTo>
                <a:lnTo>
                  <a:pt x="0" y="375967"/>
                </a:lnTo>
                <a:lnTo>
                  <a:pt x="0" y="0"/>
                </a:lnTo>
                <a:close/>
              </a:path>
            </a:pathLst>
          </a:custGeom>
          <a:blipFill>
            <a:blip r:embed="rId12"/>
            <a:stretch>
              <a:fillRect l="0" t="0" r="0" b="0"/>
            </a:stretch>
          </a:blipFill>
        </p:spPr>
      </p:sp>
      <p:sp>
        <p:nvSpPr>
          <p:cNvPr name="Freeform 16" id="16"/>
          <p:cNvSpPr/>
          <p:nvPr/>
        </p:nvSpPr>
        <p:spPr>
          <a:xfrm flipH="false" flipV="false" rot="0">
            <a:off x="1847791" y="5957972"/>
            <a:ext cx="3864418" cy="2618143"/>
          </a:xfrm>
          <a:custGeom>
            <a:avLst/>
            <a:gdLst/>
            <a:ahLst/>
            <a:cxnLst/>
            <a:rect r="r" b="b" t="t" l="l"/>
            <a:pathLst>
              <a:path h="2618143" w="3864418">
                <a:moveTo>
                  <a:pt x="0" y="0"/>
                </a:moveTo>
                <a:lnTo>
                  <a:pt x="3864418" y="0"/>
                </a:lnTo>
                <a:lnTo>
                  <a:pt x="3864418" y="2618144"/>
                </a:lnTo>
                <a:lnTo>
                  <a:pt x="0" y="2618144"/>
                </a:lnTo>
                <a:lnTo>
                  <a:pt x="0" y="0"/>
                </a:lnTo>
                <a:close/>
              </a:path>
            </a:pathLst>
          </a:custGeom>
          <a:blipFill>
            <a:blip r:embed="rId13"/>
            <a:stretch>
              <a:fillRect l="0" t="0" r="0" b="0"/>
            </a:stretch>
          </a:blipFill>
        </p:spPr>
      </p:sp>
      <p:sp>
        <p:nvSpPr>
          <p:cNvPr name="TextBox 17" id="17"/>
          <p:cNvSpPr txBox="true"/>
          <p:nvPr/>
        </p:nvSpPr>
        <p:spPr>
          <a:xfrm rot="0">
            <a:off x="827982" y="10039949"/>
            <a:ext cx="1280004"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0877-74</a:t>
            </a:r>
            <a:r>
              <a:rPr lang="en-US" sz="1100" b="true">
                <a:solidFill>
                  <a:srgbClr val="000000"/>
                </a:solidFill>
                <a:latin typeface="Nunito Bold"/>
                <a:ea typeface="Nunito Bold"/>
                <a:cs typeface="Nunito Bold"/>
                <a:sym typeface="Nunito Bold"/>
              </a:rPr>
              <a:t>13-4288</a:t>
            </a:r>
          </a:p>
        </p:txBody>
      </p:sp>
      <p:sp>
        <p:nvSpPr>
          <p:cNvPr name="TextBox 18" id="18"/>
          <p:cNvSpPr txBox="true"/>
          <p:nvPr/>
        </p:nvSpPr>
        <p:spPr>
          <a:xfrm rot="0">
            <a:off x="2773503" y="10039949"/>
            <a:ext cx="1710998"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www.s</a:t>
            </a:r>
            <a:r>
              <a:rPr lang="en-US" sz="1100" b="true">
                <a:solidFill>
                  <a:srgbClr val="000000"/>
                </a:solidFill>
                <a:latin typeface="Nunito Bold"/>
                <a:ea typeface="Nunito Bold"/>
                <a:cs typeface="Nunito Bold"/>
                <a:sym typeface="Nunito Bold"/>
              </a:rPr>
              <a:t>anggabiz.com</a:t>
            </a:r>
          </a:p>
        </p:txBody>
      </p:sp>
      <p:sp>
        <p:nvSpPr>
          <p:cNvPr name="TextBox 19" id="19"/>
          <p:cNvSpPr txBox="true"/>
          <p:nvPr/>
        </p:nvSpPr>
        <p:spPr>
          <a:xfrm rot="0">
            <a:off x="6478659" y="519574"/>
            <a:ext cx="551403" cy="186279"/>
          </a:xfrm>
          <a:prstGeom prst="rect">
            <a:avLst/>
          </a:prstGeom>
        </p:spPr>
        <p:txBody>
          <a:bodyPr anchor="t" rtlCol="false" tIns="0" lIns="0" bIns="0" rIns="0">
            <a:spAutoFit/>
          </a:bodyPr>
          <a:lstStyle/>
          <a:p>
            <a:pPr algn="r">
              <a:lnSpc>
                <a:spcPts val="1430"/>
              </a:lnSpc>
            </a:pPr>
            <a:r>
              <a:rPr lang="en-US" b="true" sz="1300">
                <a:solidFill>
                  <a:srgbClr val="0F1D3B"/>
                </a:solidFill>
                <a:latin typeface="Nunito Bold"/>
                <a:ea typeface="Nunito Bold"/>
                <a:cs typeface="Nunito Bold"/>
                <a:sym typeface="Nunito Bold"/>
              </a:rPr>
              <a:t>2025</a:t>
            </a:r>
          </a:p>
        </p:txBody>
      </p:sp>
      <p:sp>
        <p:nvSpPr>
          <p:cNvPr name="TextBox 20" id="20"/>
          <p:cNvSpPr txBox="true"/>
          <p:nvPr/>
        </p:nvSpPr>
        <p:spPr>
          <a:xfrm rot="0">
            <a:off x="5126099" y="10039949"/>
            <a:ext cx="1893190" cy="142240"/>
          </a:xfrm>
          <a:prstGeom prst="rect">
            <a:avLst/>
          </a:prstGeom>
        </p:spPr>
        <p:txBody>
          <a:bodyPr anchor="t" rtlCol="false" tIns="0" lIns="0" bIns="0" rIns="0">
            <a:spAutoFit/>
          </a:bodyPr>
          <a:lstStyle/>
          <a:p>
            <a:pPr algn="just">
              <a:lnSpc>
                <a:spcPts val="1100"/>
              </a:lnSpc>
            </a:pPr>
            <a:r>
              <a:rPr lang="en-US" sz="1100" b="true">
                <a:solidFill>
                  <a:srgbClr val="000000"/>
                </a:solidFill>
                <a:latin typeface="Nunito Bold"/>
                <a:ea typeface="Nunito Bold"/>
                <a:cs typeface="Nunito Bold"/>
                <a:sym typeface="Nunito Bold"/>
              </a:rPr>
              <a:t>pa</a:t>
            </a:r>
            <a:r>
              <a:rPr lang="en-US" sz="1100" b="true">
                <a:solidFill>
                  <a:srgbClr val="000000"/>
                </a:solidFill>
                <a:latin typeface="Nunito Bold"/>
                <a:ea typeface="Nunito Bold"/>
                <a:cs typeface="Nunito Bold"/>
                <a:sym typeface="Nunito Bold"/>
              </a:rPr>
              <a:t>rtnership@sanggabiz.com</a:t>
            </a:r>
          </a:p>
        </p:txBody>
      </p:sp>
      <p:sp>
        <p:nvSpPr>
          <p:cNvPr name="TextBox 21" id="21"/>
          <p:cNvSpPr txBox="true"/>
          <p:nvPr/>
        </p:nvSpPr>
        <p:spPr>
          <a:xfrm rot="0">
            <a:off x="467939" y="1126261"/>
            <a:ext cx="6624121" cy="539273"/>
          </a:xfrm>
          <a:prstGeom prst="rect">
            <a:avLst/>
          </a:prstGeom>
        </p:spPr>
        <p:txBody>
          <a:bodyPr anchor="t" rtlCol="false" tIns="0" lIns="0" bIns="0" rIns="0">
            <a:spAutoFit/>
          </a:bodyPr>
          <a:lstStyle/>
          <a:p>
            <a:pPr algn="ctr">
              <a:lnSpc>
                <a:spcPts val="4137"/>
              </a:lnSpc>
            </a:pPr>
            <a:r>
              <a:rPr lang="en-US" b="true" sz="3761">
                <a:solidFill>
                  <a:srgbClr val="34BDCF"/>
                </a:solidFill>
                <a:latin typeface="Oswald Bold"/>
                <a:ea typeface="Oswald Bold"/>
                <a:cs typeface="Oswald Bold"/>
                <a:sym typeface="Oswald Bold"/>
              </a:rPr>
              <a:t>SEMINAR KIT </a:t>
            </a:r>
          </a:p>
        </p:txBody>
      </p:sp>
      <p:sp>
        <p:nvSpPr>
          <p:cNvPr name="TextBox 22" id="22"/>
          <p:cNvSpPr txBox="true"/>
          <p:nvPr/>
        </p:nvSpPr>
        <p:spPr>
          <a:xfrm rot="0">
            <a:off x="540670" y="2046534"/>
            <a:ext cx="6478659" cy="260350"/>
          </a:xfrm>
          <a:prstGeom prst="rect">
            <a:avLst/>
          </a:prstGeom>
        </p:spPr>
        <p:txBody>
          <a:bodyPr anchor="t" rtlCol="false" tIns="0" lIns="0" bIns="0" rIns="0">
            <a:spAutoFit/>
          </a:bodyPr>
          <a:lstStyle/>
          <a:p>
            <a:pPr algn="ctr">
              <a:lnSpc>
                <a:spcPts val="2000"/>
              </a:lnSpc>
              <a:spcBef>
                <a:spcPct val="0"/>
              </a:spcBef>
            </a:pPr>
            <a:r>
              <a:rPr lang="en-US" b="true" sz="2000">
                <a:solidFill>
                  <a:srgbClr val="000000"/>
                </a:solidFill>
                <a:latin typeface="Nunito Bold"/>
                <a:ea typeface="Nunito Bold"/>
                <a:cs typeface="Nunito Bold"/>
                <a:sym typeface="Nunito Bold"/>
              </a:rPr>
              <a:t>Kipas Mini Portable</a:t>
            </a:r>
          </a:p>
        </p:txBody>
      </p:sp>
      <p:sp>
        <p:nvSpPr>
          <p:cNvPr name="TextBox 23" id="23"/>
          <p:cNvSpPr txBox="true"/>
          <p:nvPr/>
        </p:nvSpPr>
        <p:spPr>
          <a:xfrm rot="0">
            <a:off x="1222621" y="4870674"/>
            <a:ext cx="5114759" cy="611505"/>
          </a:xfrm>
          <a:prstGeom prst="rect">
            <a:avLst/>
          </a:prstGeom>
        </p:spPr>
        <p:txBody>
          <a:bodyPr anchor="t" rtlCol="false" tIns="0" lIns="0" bIns="0" rIns="0">
            <a:spAutoFit/>
          </a:bodyPr>
          <a:lstStyle/>
          <a:p>
            <a:pPr algn="ctr">
              <a:lnSpc>
                <a:spcPts val="1200"/>
              </a:lnSpc>
              <a:spcBef>
                <a:spcPct val="0"/>
              </a:spcBef>
            </a:pPr>
            <a:r>
              <a:rPr lang="en-US" b="true" sz="1200">
                <a:solidFill>
                  <a:srgbClr val="000000"/>
                </a:solidFill>
                <a:latin typeface="Nunito Bold"/>
                <a:ea typeface="Nunito Bold"/>
                <a:cs typeface="Nunito Bold"/>
                <a:sym typeface="Nunito Bold"/>
              </a:rPr>
              <a:t>Po</a:t>
            </a:r>
            <a:r>
              <a:rPr lang="en-US" b="true" sz="1200">
                <a:solidFill>
                  <a:srgbClr val="000000"/>
                </a:solidFill>
                <a:latin typeface="Nunito Bold"/>
                <a:ea typeface="Nunito Bold"/>
                <a:cs typeface="Nunito Bold"/>
                <a:sym typeface="Nunito Bold"/>
              </a:rPr>
              <a:t>rtabel 2. Daya Listrik: 2.5 Watt 3. Tegangan baterai: 3.7V 4. Tegangan/arus  masukan: 5V/2А 5. Bahan: ABS/PС Antarmuka daya: USB tipe C 6. Pengaturan kecepatan angin: 5 level 7. Lama pengisian daya:</a:t>
            </a:r>
          </a:p>
        </p:txBody>
      </p:sp>
      <p:sp>
        <p:nvSpPr>
          <p:cNvPr name="TextBox 24" id="24"/>
          <p:cNvSpPr txBox="true"/>
          <p:nvPr/>
        </p:nvSpPr>
        <p:spPr>
          <a:xfrm rot="0">
            <a:off x="1065953" y="8776141"/>
            <a:ext cx="5126099" cy="459105"/>
          </a:xfrm>
          <a:prstGeom prst="rect">
            <a:avLst/>
          </a:prstGeom>
        </p:spPr>
        <p:txBody>
          <a:bodyPr anchor="t" rtlCol="false" tIns="0" lIns="0" bIns="0" rIns="0">
            <a:spAutoFit/>
          </a:bodyPr>
          <a:lstStyle/>
          <a:p>
            <a:pPr algn="ctr">
              <a:lnSpc>
                <a:spcPts val="1200"/>
              </a:lnSpc>
              <a:spcBef>
                <a:spcPct val="0"/>
              </a:spcBef>
            </a:pPr>
            <a:r>
              <a:rPr lang="en-US" b="true" sz="1200">
                <a:solidFill>
                  <a:srgbClr val="000000"/>
                </a:solidFill>
                <a:latin typeface="Nunito Bold"/>
                <a:ea typeface="Nunito Bold"/>
                <a:cs typeface="Nunito Bold"/>
                <a:sym typeface="Nunito Bold"/>
              </a:rPr>
              <a:t>1. Jenis: Kaos kerah berkancing, tidak luntur, kualitas premium 2. Finisfhing: Logo Bordir 3. Size Chart: M = P 70cm x LD 96cm L= P 72cm x LD 100cm XL = P 74cm x LD 104cm XXL = P 74cm x LD 110cm</a:t>
            </a:r>
          </a:p>
        </p:txBody>
      </p:sp>
      <p:sp>
        <p:nvSpPr>
          <p:cNvPr name="Freeform 25" id="25"/>
          <p:cNvSpPr/>
          <p:nvPr/>
        </p:nvSpPr>
        <p:spPr>
          <a:xfrm flipH="false" flipV="false" rot="0">
            <a:off x="4408544" y="6109237"/>
            <a:ext cx="659741" cy="396875"/>
          </a:xfrm>
          <a:custGeom>
            <a:avLst/>
            <a:gdLst/>
            <a:ahLst/>
            <a:cxnLst/>
            <a:rect r="r" b="b" t="t" l="l"/>
            <a:pathLst>
              <a:path h="396875" w="659741">
                <a:moveTo>
                  <a:pt x="0" y="0"/>
                </a:moveTo>
                <a:lnTo>
                  <a:pt x="659741" y="0"/>
                </a:lnTo>
                <a:lnTo>
                  <a:pt x="659741" y="396876"/>
                </a:lnTo>
                <a:lnTo>
                  <a:pt x="0" y="396876"/>
                </a:lnTo>
                <a:lnTo>
                  <a:pt x="0" y="0"/>
                </a:lnTo>
                <a:close/>
              </a:path>
            </a:pathLst>
          </a:custGeom>
          <a:blipFill>
            <a:blip r:embed="rId12"/>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71CE"/>
        </a:solidFill>
      </p:bgPr>
    </p:bg>
    <p:spTree>
      <p:nvGrpSpPr>
        <p:cNvPr id="1" name=""/>
        <p:cNvGrpSpPr/>
        <p:nvPr/>
      </p:nvGrpSpPr>
      <p:grpSpPr>
        <a:xfrm>
          <a:off x="0" y="0"/>
          <a:ext cx="0" cy="0"/>
          <a:chOff x="0" y="0"/>
          <a:chExt cx="0" cy="0"/>
        </a:xfrm>
      </p:grpSpPr>
      <p:sp>
        <p:nvSpPr>
          <p:cNvPr name="AutoShape 2" id="2"/>
          <p:cNvSpPr/>
          <p:nvPr/>
        </p:nvSpPr>
        <p:spPr>
          <a:xfrm flipV="true">
            <a:off x="529937" y="926236"/>
            <a:ext cx="6500125" cy="0"/>
          </a:xfrm>
          <a:prstGeom prst="line">
            <a:avLst/>
          </a:prstGeom>
          <a:ln cap="flat" w="19050">
            <a:solidFill>
              <a:srgbClr val="FFFFFF"/>
            </a:solidFill>
            <a:prstDash val="solid"/>
            <a:headEnd type="none" len="sm" w="sm"/>
            <a:tailEnd type="none" len="sm" w="sm"/>
          </a:ln>
        </p:spPr>
      </p:sp>
      <p:grpSp>
        <p:nvGrpSpPr>
          <p:cNvPr name="Group 3" id="3"/>
          <p:cNvGrpSpPr/>
          <p:nvPr/>
        </p:nvGrpSpPr>
        <p:grpSpPr>
          <a:xfrm rot="0">
            <a:off x="-128954" y="4453121"/>
            <a:ext cx="7817908" cy="4366312"/>
            <a:chOff x="0" y="0"/>
            <a:chExt cx="1648095" cy="920463"/>
          </a:xfrm>
        </p:grpSpPr>
        <p:sp>
          <p:nvSpPr>
            <p:cNvPr name="Freeform 4" id="4"/>
            <p:cNvSpPr/>
            <p:nvPr/>
          </p:nvSpPr>
          <p:spPr>
            <a:xfrm flipH="false" flipV="false" rot="0">
              <a:off x="0" y="0"/>
              <a:ext cx="1648095" cy="920463"/>
            </a:xfrm>
            <a:custGeom>
              <a:avLst/>
              <a:gdLst/>
              <a:ahLst/>
              <a:cxnLst/>
              <a:rect r="r" b="b" t="t" l="l"/>
              <a:pathLst>
                <a:path h="920463" w="1648095">
                  <a:moveTo>
                    <a:pt x="0" y="0"/>
                  </a:moveTo>
                  <a:lnTo>
                    <a:pt x="1648095" y="0"/>
                  </a:lnTo>
                  <a:lnTo>
                    <a:pt x="1648095" y="920463"/>
                  </a:lnTo>
                  <a:lnTo>
                    <a:pt x="0" y="920463"/>
                  </a:lnTo>
                  <a:close/>
                </a:path>
              </a:pathLst>
            </a:custGeom>
            <a:blipFill>
              <a:blip r:embed="rId2"/>
              <a:stretch>
                <a:fillRect l="0" t="-9737" r="0" b="-9737"/>
              </a:stretch>
            </a:blipFill>
          </p:spPr>
        </p:sp>
      </p:grpSp>
      <p:grpSp>
        <p:nvGrpSpPr>
          <p:cNvPr name="Group 5" id="5"/>
          <p:cNvGrpSpPr/>
          <p:nvPr/>
        </p:nvGrpSpPr>
        <p:grpSpPr>
          <a:xfrm rot="0">
            <a:off x="415519" y="7580502"/>
            <a:ext cx="6728961" cy="2477862"/>
            <a:chOff x="0" y="0"/>
            <a:chExt cx="2411508" cy="888010"/>
          </a:xfrm>
        </p:grpSpPr>
        <p:sp>
          <p:nvSpPr>
            <p:cNvPr name="Freeform 6" id="6"/>
            <p:cNvSpPr/>
            <p:nvPr/>
          </p:nvSpPr>
          <p:spPr>
            <a:xfrm flipH="false" flipV="false" rot="0">
              <a:off x="0" y="0"/>
              <a:ext cx="2411508" cy="888010"/>
            </a:xfrm>
            <a:custGeom>
              <a:avLst/>
              <a:gdLst/>
              <a:ahLst/>
              <a:cxnLst/>
              <a:rect r="r" b="b" t="t" l="l"/>
              <a:pathLst>
                <a:path h="888010" w="2411508">
                  <a:moveTo>
                    <a:pt x="0" y="0"/>
                  </a:moveTo>
                  <a:lnTo>
                    <a:pt x="2411508" y="0"/>
                  </a:lnTo>
                  <a:lnTo>
                    <a:pt x="2411508" y="888010"/>
                  </a:lnTo>
                  <a:lnTo>
                    <a:pt x="0" y="888010"/>
                  </a:lnTo>
                  <a:close/>
                </a:path>
              </a:pathLst>
            </a:custGeom>
            <a:solidFill>
              <a:srgbClr val="FFFFFF"/>
            </a:solidFill>
          </p:spPr>
        </p:sp>
        <p:sp>
          <p:nvSpPr>
            <p:cNvPr name="TextBox 7" id="7"/>
            <p:cNvSpPr txBox="true"/>
            <p:nvPr/>
          </p:nvSpPr>
          <p:spPr>
            <a:xfrm>
              <a:off x="0" y="-28575"/>
              <a:ext cx="2411508" cy="916585"/>
            </a:xfrm>
            <a:prstGeom prst="rect">
              <a:avLst/>
            </a:prstGeom>
          </p:spPr>
          <p:txBody>
            <a:bodyPr anchor="ctr" rtlCol="false" tIns="50800" lIns="50800" bIns="50800" rIns="50800"/>
            <a:lstStyle/>
            <a:p>
              <a:pPr algn="ctr">
                <a:lnSpc>
                  <a:spcPts val="1960"/>
                </a:lnSpc>
                <a:spcBef>
                  <a:spcPct val="0"/>
                </a:spcBef>
              </a:pPr>
            </a:p>
          </p:txBody>
        </p:sp>
      </p:grpSp>
      <p:sp>
        <p:nvSpPr>
          <p:cNvPr name="Freeform 8" id="8"/>
          <p:cNvSpPr/>
          <p:nvPr/>
        </p:nvSpPr>
        <p:spPr>
          <a:xfrm flipH="false" flipV="false" rot="0">
            <a:off x="875645" y="8937947"/>
            <a:ext cx="224209" cy="224209"/>
          </a:xfrm>
          <a:custGeom>
            <a:avLst/>
            <a:gdLst/>
            <a:ahLst/>
            <a:cxnLst/>
            <a:rect r="r" b="b" t="t" l="l"/>
            <a:pathLst>
              <a:path h="224209" w="224209">
                <a:moveTo>
                  <a:pt x="0" y="0"/>
                </a:moveTo>
                <a:lnTo>
                  <a:pt x="224208" y="0"/>
                </a:lnTo>
                <a:lnTo>
                  <a:pt x="224208" y="224208"/>
                </a:lnTo>
                <a:lnTo>
                  <a:pt x="0" y="2242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537754" y="8937947"/>
            <a:ext cx="224209" cy="224209"/>
          </a:xfrm>
          <a:custGeom>
            <a:avLst/>
            <a:gdLst/>
            <a:ahLst/>
            <a:cxnLst/>
            <a:rect r="r" b="b" t="t" l="l"/>
            <a:pathLst>
              <a:path h="224209" w="224209">
                <a:moveTo>
                  <a:pt x="0" y="0"/>
                </a:moveTo>
                <a:lnTo>
                  <a:pt x="224209" y="0"/>
                </a:lnTo>
                <a:lnTo>
                  <a:pt x="224209" y="224208"/>
                </a:lnTo>
                <a:lnTo>
                  <a:pt x="0" y="2242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3537754" y="9379669"/>
            <a:ext cx="224209" cy="224209"/>
          </a:xfrm>
          <a:custGeom>
            <a:avLst/>
            <a:gdLst/>
            <a:ahLst/>
            <a:cxnLst/>
            <a:rect r="r" b="b" t="t" l="l"/>
            <a:pathLst>
              <a:path h="224209" w="224209">
                <a:moveTo>
                  <a:pt x="0" y="0"/>
                </a:moveTo>
                <a:lnTo>
                  <a:pt x="224209" y="0"/>
                </a:lnTo>
                <a:lnTo>
                  <a:pt x="224209" y="224209"/>
                </a:lnTo>
                <a:lnTo>
                  <a:pt x="0" y="2242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875645" y="9379601"/>
            <a:ext cx="224277" cy="224277"/>
          </a:xfrm>
          <a:custGeom>
            <a:avLst/>
            <a:gdLst/>
            <a:ahLst/>
            <a:cxnLst/>
            <a:rect r="r" b="b" t="t" l="l"/>
            <a:pathLst>
              <a:path h="224277" w="224277">
                <a:moveTo>
                  <a:pt x="0" y="0"/>
                </a:moveTo>
                <a:lnTo>
                  <a:pt x="224277" y="0"/>
                </a:lnTo>
                <a:lnTo>
                  <a:pt x="224277" y="224277"/>
                </a:lnTo>
                <a:lnTo>
                  <a:pt x="0" y="2242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5106575">
            <a:off x="3569037" y="9438560"/>
            <a:ext cx="161643" cy="106359"/>
          </a:xfrm>
          <a:custGeom>
            <a:avLst/>
            <a:gdLst/>
            <a:ahLst/>
            <a:cxnLst/>
            <a:rect r="r" b="b" t="t" l="l"/>
            <a:pathLst>
              <a:path h="106359" w="161643">
                <a:moveTo>
                  <a:pt x="0" y="0"/>
                </a:moveTo>
                <a:lnTo>
                  <a:pt x="161643" y="0"/>
                </a:lnTo>
                <a:lnTo>
                  <a:pt x="161643" y="106359"/>
                </a:lnTo>
                <a:lnTo>
                  <a:pt x="0" y="106359"/>
                </a:lnTo>
                <a:lnTo>
                  <a:pt x="0" y="0"/>
                </a:lnTo>
                <a:close/>
              </a:path>
            </a:pathLst>
          </a:custGeom>
          <a:blipFill>
            <a:blip r:embed="rId11"/>
            <a:stretch>
              <a:fillRect l="-3219" t="0" r="-3219" b="0"/>
            </a:stretch>
          </a:blipFill>
        </p:spPr>
      </p:sp>
      <p:sp>
        <p:nvSpPr>
          <p:cNvPr name="Freeform 13" id="13"/>
          <p:cNvSpPr/>
          <p:nvPr/>
        </p:nvSpPr>
        <p:spPr>
          <a:xfrm flipH="false" flipV="false" rot="0">
            <a:off x="3611461" y="9406678"/>
            <a:ext cx="98273" cy="130804"/>
          </a:xfrm>
          <a:custGeom>
            <a:avLst/>
            <a:gdLst/>
            <a:ahLst/>
            <a:cxnLst/>
            <a:rect r="r" b="b" t="t" l="l"/>
            <a:pathLst>
              <a:path h="130804" w="98273">
                <a:moveTo>
                  <a:pt x="0" y="0"/>
                </a:moveTo>
                <a:lnTo>
                  <a:pt x="98273" y="0"/>
                </a:lnTo>
                <a:lnTo>
                  <a:pt x="98273" y="130805"/>
                </a:lnTo>
                <a:lnTo>
                  <a:pt x="0" y="130805"/>
                </a:lnTo>
                <a:lnTo>
                  <a:pt x="0" y="0"/>
                </a:lnTo>
                <a:close/>
              </a:path>
            </a:pathLst>
          </a:custGeom>
          <a:blipFill>
            <a:blip r:embed="rId12"/>
            <a:stretch>
              <a:fillRect l="0" t="-13984" r="0" b="-13984"/>
            </a:stretch>
          </a:blipFill>
        </p:spPr>
      </p:sp>
      <p:sp>
        <p:nvSpPr>
          <p:cNvPr name="TextBox 14" id="14"/>
          <p:cNvSpPr txBox="true"/>
          <p:nvPr/>
        </p:nvSpPr>
        <p:spPr>
          <a:xfrm rot="0">
            <a:off x="415519" y="911656"/>
            <a:ext cx="4904288" cy="3541465"/>
          </a:xfrm>
          <a:prstGeom prst="rect">
            <a:avLst/>
          </a:prstGeom>
        </p:spPr>
        <p:txBody>
          <a:bodyPr anchor="t" rtlCol="false" tIns="0" lIns="0" bIns="0" rIns="0">
            <a:spAutoFit/>
          </a:bodyPr>
          <a:lstStyle/>
          <a:p>
            <a:pPr algn="l">
              <a:lnSpc>
                <a:spcPts val="13866"/>
              </a:lnSpc>
            </a:pPr>
            <a:r>
              <a:rPr lang="en-US" sz="12605" b="true">
                <a:solidFill>
                  <a:srgbClr val="FFFFFF"/>
                </a:solidFill>
                <a:latin typeface="Oswald Bold"/>
                <a:ea typeface="Oswald Bold"/>
                <a:cs typeface="Oswald Bold"/>
                <a:sym typeface="Oswald Bold"/>
              </a:rPr>
              <a:t>TERIMA </a:t>
            </a:r>
          </a:p>
          <a:p>
            <a:pPr algn="l">
              <a:lnSpc>
                <a:spcPts val="13866"/>
              </a:lnSpc>
            </a:pPr>
            <a:r>
              <a:rPr lang="en-US" sz="12605" b="true">
                <a:solidFill>
                  <a:srgbClr val="FFFFFF"/>
                </a:solidFill>
                <a:latin typeface="Oswald Bold"/>
                <a:ea typeface="Oswald Bold"/>
                <a:cs typeface="Oswald Bold"/>
                <a:sym typeface="Oswald Bold"/>
              </a:rPr>
              <a:t>KASIH</a:t>
            </a:r>
          </a:p>
        </p:txBody>
      </p:sp>
      <p:sp>
        <p:nvSpPr>
          <p:cNvPr name="Freeform 15" id="15"/>
          <p:cNvSpPr/>
          <p:nvPr/>
        </p:nvSpPr>
        <p:spPr>
          <a:xfrm flipH="false" flipV="false" rot="0">
            <a:off x="3576302" y="9418217"/>
            <a:ext cx="147112" cy="147112"/>
          </a:xfrm>
          <a:custGeom>
            <a:avLst/>
            <a:gdLst/>
            <a:ahLst/>
            <a:cxnLst/>
            <a:rect r="r" b="b" t="t" l="l"/>
            <a:pathLst>
              <a:path h="147112" w="147112">
                <a:moveTo>
                  <a:pt x="0" y="0"/>
                </a:moveTo>
                <a:lnTo>
                  <a:pt x="147113" y="0"/>
                </a:lnTo>
                <a:lnTo>
                  <a:pt x="147113" y="147113"/>
                </a:lnTo>
                <a:lnTo>
                  <a:pt x="0" y="14711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6" id="16"/>
          <p:cNvGrpSpPr/>
          <p:nvPr/>
        </p:nvGrpSpPr>
        <p:grpSpPr>
          <a:xfrm rot="0">
            <a:off x="0" y="-59520"/>
            <a:ext cx="5678195" cy="985756"/>
            <a:chOff x="0" y="0"/>
            <a:chExt cx="2034937" cy="353273"/>
          </a:xfrm>
        </p:grpSpPr>
        <p:sp>
          <p:nvSpPr>
            <p:cNvPr name="Freeform 17" id="17"/>
            <p:cNvSpPr/>
            <p:nvPr/>
          </p:nvSpPr>
          <p:spPr>
            <a:xfrm flipH="false" flipV="false" rot="0">
              <a:off x="0" y="0"/>
              <a:ext cx="2034937" cy="353273"/>
            </a:xfrm>
            <a:custGeom>
              <a:avLst/>
              <a:gdLst/>
              <a:ahLst/>
              <a:cxnLst/>
              <a:rect r="r" b="b" t="t" l="l"/>
              <a:pathLst>
                <a:path h="353273" w="2034937">
                  <a:moveTo>
                    <a:pt x="1831737" y="0"/>
                  </a:moveTo>
                  <a:lnTo>
                    <a:pt x="0" y="0"/>
                  </a:lnTo>
                  <a:lnTo>
                    <a:pt x="0" y="353273"/>
                  </a:lnTo>
                  <a:lnTo>
                    <a:pt x="1831737" y="353273"/>
                  </a:lnTo>
                  <a:lnTo>
                    <a:pt x="2034937" y="176636"/>
                  </a:lnTo>
                  <a:lnTo>
                    <a:pt x="1831737" y="0"/>
                  </a:lnTo>
                  <a:close/>
                </a:path>
              </a:pathLst>
            </a:custGeom>
            <a:solidFill>
              <a:srgbClr val="FFFFFF"/>
            </a:solidFill>
          </p:spPr>
        </p:sp>
        <p:sp>
          <p:nvSpPr>
            <p:cNvPr name="TextBox 18" id="18"/>
            <p:cNvSpPr txBox="true"/>
            <p:nvPr/>
          </p:nvSpPr>
          <p:spPr>
            <a:xfrm>
              <a:off x="0" y="19050"/>
              <a:ext cx="1920637" cy="334223"/>
            </a:xfrm>
            <a:prstGeom prst="rect">
              <a:avLst/>
            </a:prstGeom>
          </p:spPr>
          <p:txBody>
            <a:bodyPr anchor="ctr" rtlCol="false" tIns="50800" lIns="50800" bIns="50800" rIns="50800"/>
            <a:lstStyle/>
            <a:p>
              <a:pPr algn="ctr">
                <a:lnSpc>
                  <a:spcPts val="1100"/>
                </a:lnSpc>
              </a:pPr>
            </a:p>
            <a:p>
              <a:pPr algn="ctr">
                <a:lnSpc>
                  <a:spcPts val="1100"/>
                </a:lnSpc>
              </a:pPr>
            </a:p>
          </p:txBody>
        </p:sp>
      </p:grpSp>
      <p:sp>
        <p:nvSpPr>
          <p:cNvPr name="Freeform 19" id="19"/>
          <p:cNvSpPr/>
          <p:nvPr/>
        </p:nvSpPr>
        <p:spPr>
          <a:xfrm flipH="false" flipV="false" rot="0">
            <a:off x="415519" y="212939"/>
            <a:ext cx="2112492" cy="492915"/>
          </a:xfrm>
          <a:custGeom>
            <a:avLst/>
            <a:gdLst/>
            <a:ahLst/>
            <a:cxnLst/>
            <a:rect r="r" b="b" t="t" l="l"/>
            <a:pathLst>
              <a:path h="492915" w="2112492">
                <a:moveTo>
                  <a:pt x="0" y="0"/>
                </a:moveTo>
                <a:lnTo>
                  <a:pt x="2112493" y="0"/>
                </a:lnTo>
                <a:lnTo>
                  <a:pt x="2112493" y="492915"/>
                </a:lnTo>
                <a:lnTo>
                  <a:pt x="0" y="492915"/>
                </a:lnTo>
                <a:lnTo>
                  <a:pt x="0" y="0"/>
                </a:lnTo>
                <a:close/>
              </a:path>
            </a:pathLst>
          </a:custGeom>
          <a:blipFill>
            <a:blip r:embed="rId15"/>
            <a:stretch>
              <a:fillRect l="0" t="0" r="0" b="0"/>
            </a:stretch>
          </a:blipFill>
        </p:spPr>
      </p:sp>
      <p:sp>
        <p:nvSpPr>
          <p:cNvPr name="TextBox 20" id="20"/>
          <p:cNvSpPr txBox="true"/>
          <p:nvPr/>
        </p:nvSpPr>
        <p:spPr>
          <a:xfrm rot="0">
            <a:off x="6531492" y="519574"/>
            <a:ext cx="498571" cy="186279"/>
          </a:xfrm>
          <a:prstGeom prst="rect">
            <a:avLst/>
          </a:prstGeom>
        </p:spPr>
        <p:txBody>
          <a:bodyPr anchor="t" rtlCol="false" tIns="0" lIns="0" bIns="0" rIns="0">
            <a:spAutoFit/>
          </a:bodyPr>
          <a:lstStyle/>
          <a:p>
            <a:pPr algn="r">
              <a:lnSpc>
                <a:spcPts val="1430"/>
              </a:lnSpc>
            </a:pPr>
            <a:r>
              <a:rPr lang="en-US" b="true" sz="1300">
                <a:solidFill>
                  <a:srgbClr val="FFFAEF"/>
                </a:solidFill>
                <a:latin typeface="Nunito Bold"/>
                <a:ea typeface="Nunito Bold"/>
                <a:cs typeface="Nunito Bold"/>
                <a:sym typeface="Nunito Bold"/>
              </a:rPr>
              <a:t>2025</a:t>
            </a:r>
          </a:p>
        </p:txBody>
      </p:sp>
      <p:sp>
        <p:nvSpPr>
          <p:cNvPr name="TextBox 21" id="21"/>
          <p:cNvSpPr txBox="true"/>
          <p:nvPr/>
        </p:nvSpPr>
        <p:spPr>
          <a:xfrm rot="0">
            <a:off x="1242797" y="8977142"/>
            <a:ext cx="1484339" cy="166685"/>
          </a:xfrm>
          <a:prstGeom prst="rect">
            <a:avLst/>
          </a:prstGeom>
        </p:spPr>
        <p:txBody>
          <a:bodyPr anchor="t" rtlCol="false" tIns="0" lIns="0" bIns="0" rIns="0">
            <a:spAutoFit/>
          </a:bodyPr>
          <a:lstStyle/>
          <a:p>
            <a:pPr algn="l">
              <a:lnSpc>
                <a:spcPts val="1232"/>
              </a:lnSpc>
            </a:pPr>
            <a:r>
              <a:rPr lang="en-US" sz="1232">
                <a:solidFill>
                  <a:srgbClr val="000000"/>
                </a:solidFill>
                <a:latin typeface="Nunito"/>
                <a:ea typeface="Nunito"/>
                <a:cs typeface="Nunito"/>
                <a:sym typeface="Nunito"/>
              </a:rPr>
              <a:t>0877-74</a:t>
            </a:r>
            <a:r>
              <a:rPr lang="en-US" sz="1232">
                <a:solidFill>
                  <a:srgbClr val="000000"/>
                </a:solidFill>
                <a:latin typeface="Nunito"/>
                <a:ea typeface="Nunito"/>
                <a:cs typeface="Nunito"/>
                <a:sym typeface="Nunito"/>
              </a:rPr>
              <a:t>13-4288</a:t>
            </a:r>
          </a:p>
        </p:txBody>
      </p:sp>
      <p:sp>
        <p:nvSpPr>
          <p:cNvPr name="TextBox 22" id="22"/>
          <p:cNvSpPr txBox="true"/>
          <p:nvPr/>
        </p:nvSpPr>
        <p:spPr>
          <a:xfrm rot="0">
            <a:off x="1242797" y="9418865"/>
            <a:ext cx="2070468" cy="166685"/>
          </a:xfrm>
          <a:prstGeom prst="rect">
            <a:avLst/>
          </a:prstGeom>
        </p:spPr>
        <p:txBody>
          <a:bodyPr anchor="t" rtlCol="false" tIns="0" lIns="0" bIns="0" rIns="0">
            <a:spAutoFit/>
          </a:bodyPr>
          <a:lstStyle/>
          <a:p>
            <a:pPr algn="l">
              <a:lnSpc>
                <a:spcPts val="1232"/>
              </a:lnSpc>
            </a:pPr>
            <a:r>
              <a:rPr lang="en-US" sz="1232">
                <a:solidFill>
                  <a:srgbClr val="000000"/>
                </a:solidFill>
                <a:latin typeface="Nunito"/>
                <a:ea typeface="Nunito"/>
                <a:cs typeface="Nunito"/>
                <a:sym typeface="Nunito"/>
              </a:rPr>
              <a:t>partn</a:t>
            </a:r>
            <a:r>
              <a:rPr lang="en-US" sz="1232">
                <a:solidFill>
                  <a:srgbClr val="000000"/>
                </a:solidFill>
                <a:latin typeface="Nunito"/>
                <a:ea typeface="Nunito"/>
                <a:cs typeface="Nunito"/>
                <a:sym typeface="Nunito"/>
              </a:rPr>
              <a:t>ership@sanggabiz.com</a:t>
            </a:r>
          </a:p>
        </p:txBody>
      </p:sp>
      <p:sp>
        <p:nvSpPr>
          <p:cNvPr name="TextBox 23" id="23"/>
          <p:cNvSpPr txBox="true"/>
          <p:nvPr/>
        </p:nvSpPr>
        <p:spPr>
          <a:xfrm rot="0">
            <a:off x="3904907" y="8977142"/>
            <a:ext cx="1773289" cy="166685"/>
          </a:xfrm>
          <a:prstGeom prst="rect">
            <a:avLst/>
          </a:prstGeom>
        </p:spPr>
        <p:txBody>
          <a:bodyPr anchor="t" rtlCol="false" tIns="0" lIns="0" bIns="0" rIns="0">
            <a:spAutoFit/>
          </a:bodyPr>
          <a:lstStyle/>
          <a:p>
            <a:pPr algn="l">
              <a:lnSpc>
                <a:spcPts val="1232"/>
              </a:lnSpc>
            </a:pPr>
            <a:r>
              <a:rPr lang="en-US" sz="1232">
                <a:solidFill>
                  <a:srgbClr val="000000"/>
                </a:solidFill>
                <a:latin typeface="Nunito"/>
                <a:ea typeface="Nunito"/>
                <a:cs typeface="Nunito"/>
                <a:sym typeface="Nunito"/>
              </a:rPr>
              <a:t>www.sanggabiz.com</a:t>
            </a:r>
          </a:p>
        </p:txBody>
      </p:sp>
      <p:sp>
        <p:nvSpPr>
          <p:cNvPr name="TextBox 24" id="24"/>
          <p:cNvSpPr txBox="true"/>
          <p:nvPr/>
        </p:nvSpPr>
        <p:spPr>
          <a:xfrm rot="0">
            <a:off x="3904907" y="9418865"/>
            <a:ext cx="2728748" cy="166685"/>
          </a:xfrm>
          <a:prstGeom prst="rect">
            <a:avLst/>
          </a:prstGeom>
        </p:spPr>
        <p:txBody>
          <a:bodyPr anchor="t" rtlCol="false" tIns="0" lIns="0" bIns="0" rIns="0">
            <a:spAutoFit/>
          </a:bodyPr>
          <a:lstStyle/>
          <a:p>
            <a:pPr algn="l">
              <a:lnSpc>
                <a:spcPts val="1232"/>
              </a:lnSpc>
            </a:pPr>
            <a:r>
              <a:rPr lang="en-US" sz="1232">
                <a:solidFill>
                  <a:srgbClr val="000000"/>
                </a:solidFill>
                <a:latin typeface="Nunito"/>
                <a:ea typeface="Nunito"/>
                <a:cs typeface="Nunito"/>
                <a:sym typeface="Nunito"/>
              </a:rPr>
              <a:t>sanggabiz</a:t>
            </a:r>
          </a:p>
        </p:txBody>
      </p:sp>
      <p:sp>
        <p:nvSpPr>
          <p:cNvPr name="TextBox 25" id="25"/>
          <p:cNvSpPr txBox="true"/>
          <p:nvPr/>
        </p:nvSpPr>
        <p:spPr>
          <a:xfrm rot="0">
            <a:off x="875645" y="8043572"/>
            <a:ext cx="3460801" cy="534666"/>
          </a:xfrm>
          <a:prstGeom prst="rect">
            <a:avLst/>
          </a:prstGeom>
        </p:spPr>
        <p:txBody>
          <a:bodyPr anchor="t" rtlCol="false" tIns="0" lIns="0" bIns="0" rIns="0">
            <a:spAutoFit/>
          </a:bodyPr>
          <a:lstStyle/>
          <a:p>
            <a:pPr algn="l">
              <a:lnSpc>
                <a:spcPts val="4137"/>
              </a:lnSpc>
            </a:pPr>
            <a:r>
              <a:rPr lang="en-US" sz="3761" b="true">
                <a:solidFill>
                  <a:srgbClr val="0F1D3B"/>
                </a:solidFill>
                <a:latin typeface="Oswald Bold"/>
                <a:ea typeface="Oswald Bold"/>
                <a:cs typeface="Oswald Bold"/>
                <a:sym typeface="Oswald Bold"/>
              </a:rPr>
              <a:t>GET IN TOUCH</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0071CE"/>
        </a:solidFill>
      </p:bgPr>
    </p:bg>
    <p:spTree>
      <p:nvGrpSpPr>
        <p:cNvPr id="1" name=""/>
        <p:cNvGrpSpPr/>
        <p:nvPr/>
      </p:nvGrpSpPr>
      <p:grpSpPr>
        <a:xfrm>
          <a:off x="0" y="0"/>
          <a:ext cx="0" cy="0"/>
          <a:chOff x="0" y="0"/>
          <a:chExt cx="0" cy="0"/>
        </a:xfrm>
      </p:grpSpPr>
      <p:sp>
        <p:nvSpPr>
          <p:cNvPr name="TextBox 2" id="2"/>
          <p:cNvSpPr txBox="true"/>
          <p:nvPr/>
        </p:nvSpPr>
        <p:spPr>
          <a:xfrm rot="0">
            <a:off x="415519" y="3728435"/>
            <a:ext cx="7036481" cy="1788865"/>
          </a:xfrm>
          <a:prstGeom prst="rect">
            <a:avLst/>
          </a:prstGeom>
        </p:spPr>
        <p:txBody>
          <a:bodyPr anchor="t" rtlCol="false" tIns="0" lIns="0" bIns="0" rIns="0">
            <a:spAutoFit/>
          </a:bodyPr>
          <a:lstStyle/>
          <a:p>
            <a:pPr algn="l">
              <a:lnSpc>
                <a:spcPts val="13866"/>
              </a:lnSpc>
            </a:pPr>
            <a:r>
              <a:rPr lang="en-US" sz="12605" b="true">
                <a:solidFill>
                  <a:srgbClr val="FFFFFF"/>
                </a:solidFill>
                <a:latin typeface="Oswald Bold"/>
                <a:ea typeface="Oswald Bold"/>
                <a:cs typeface="Oswald Bold"/>
                <a:sym typeface="Oswald Bold"/>
              </a:rPr>
              <a:t>LAMPIRAN</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0071CE"/>
        </a:solidFill>
      </p:bgPr>
    </p:bg>
    <p:spTree>
      <p:nvGrpSpPr>
        <p:cNvPr id="1" name=""/>
        <p:cNvGrpSpPr/>
        <p:nvPr/>
      </p:nvGrpSpPr>
      <p:grpSpPr>
        <a:xfrm>
          <a:off x="0" y="0"/>
          <a:ext cx="0" cy="0"/>
          <a:chOff x="0" y="0"/>
          <a:chExt cx="0" cy="0"/>
        </a:xfrm>
      </p:grpSpPr>
      <p:sp>
        <p:nvSpPr>
          <p:cNvPr name="TextBox 2" id="2"/>
          <p:cNvSpPr txBox="true"/>
          <p:nvPr/>
        </p:nvSpPr>
        <p:spPr>
          <a:xfrm rot="0">
            <a:off x="415519" y="3709385"/>
            <a:ext cx="7036481" cy="2962275"/>
          </a:xfrm>
          <a:prstGeom prst="rect">
            <a:avLst/>
          </a:prstGeom>
        </p:spPr>
        <p:txBody>
          <a:bodyPr anchor="t" rtlCol="false" tIns="0" lIns="0" bIns="0" rIns="0">
            <a:spAutoFit/>
          </a:bodyPr>
          <a:lstStyle/>
          <a:p>
            <a:pPr algn="l">
              <a:lnSpc>
                <a:spcPts val="11550"/>
              </a:lnSpc>
            </a:pPr>
            <a:r>
              <a:rPr lang="en-US" sz="10500" b="true">
                <a:solidFill>
                  <a:srgbClr val="FFFFFF"/>
                </a:solidFill>
                <a:latin typeface="Oswald Bold"/>
                <a:ea typeface="Oswald Bold"/>
                <a:cs typeface="Oswald Bold"/>
                <a:sym typeface="Oswald Bold"/>
              </a:rPr>
              <a:t>DATA KUALIFIKASI</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0071CE"/>
        </a:solidFill>
      </p:bgPr>
    </p:bg>
    <p:spTree>
      <p:nvGrpSpPr>
        <p:cNvPr id="1" name=""/>
        <p:cNvGrpSpPr/>
        <p:nvPr/>
      </p:nvGrpSpPr>
      <p:grpSpPr>
        <a:xfrm>
          <a:off x="0" y="0"/>
          <a:ext cx="0" cy="0"/>
          <a:chOff x="0" y="0"/>
          <a:chExt cx="0" cy="0"/>
        </a:xfrm>
      </p:grpSpPr>
      <p:sp>
        <p:nvSpPr>
          <p:cNvPr name="TextBox 2" id="2"/>
          <p:cNvSpPr txBox="true"/>
          <p:nvPr/>
        </p:nvSpPr>
        <p:spPr>
          <a:xfrm rot="0">
            <a:off x="415519" y="3699860"/>
            <a:ext cx="7036481" cy="2633982"/>
          </a:xfrm>
          <a:prstGeom prst="rect">
            <a:avLst/>
          </a:prstGeom>
        </p:spPr>
        <p:txBody>
          <a:bodyPr anchor="t" rtlCol="false" tIns="0" lIns="0" bIns="0" rIns="0">
            <a:spAutoFit/>
          </a:bodyPr>
          <a:lstStyle/>
          <a:p>
            <a:pPr algn="l">
              <a:lnSpc>
                <a:spcPts val="10340"/>
              </a:lnSpc>
            </a:pPr>
            <a:r>
              <a:rPr lang="en-US" sz="9400" b="true">
                <a:solidFill>
                  <a:srgbClr val="FFFFFF"/>
                </a:solidFill>
                <a:latin typeface="Oswald Bold"/>
                <a:ea typeface="Oswald Bold"/>
                <a:cs typeface="Oswald Bold"/>
                <a:sym typeface="Oswald Bold"/>
              </a:rPr>
              <a:t>METODE PELAKSANAAN</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0071CE"/>
        </a:solidFill>
      </p:bgPr>
    </p:bg>
    <p:spTree>
      <p:nvGrpSpPr>
        <p:cNvPr id="1" name=""/>
        <p:cNvGrpSpPr/>
        <p:nvPr/>
      </p:nvGrpSpPr>
      <p:grpSpPr>
        <a:xfrm>
          <a:off x="0" y="0"/>
          <a:ext cx="0" cy="0"/>
          <a:chOff x="0" y="0"/>
          <a:chExt cx="0" cy="0"/>
        </a:xfrm>
      </p:grpSpPr>
      <p:sp>
        <p:nvSpPr>
          <p:cNvPr name="TextBox 2" id="2"/>
          <p:cNvSpPr txBox="true"/>
          <p:nvPr/>
        </p:nvSpPr>
        <p:spPr>
          <a:xfrm rot="0">
            <a:off x="415519" y="3709385"/>
            <a:ext cx="7036481" cy="2962275"/>
          </a:xfrm>
          <a:prstGeom prst="rect">
            <a:avLst/>
          </a:prstGeom>
        </p:spPr>
        <p:txBody>
          <a:bodyPr anchor="t" rtlCol="false" tIns="0" lIns="0" bIns="0" rIns="0">
            <a:spAutoFit/>
          </a:bodyPr>
          <a:lstStyle/>
          <a:p>
            <a:pPr algn="l">
              <a:lnSpc>
                <a:spcPts val="11550"/>
              </a:lnSpc>
            </a:pPr>
            <a:r>
              <a:rPr lang="en-US" sz="10500" b="true">
                <a:solidFill>
                  <a:srgbClr val="FFFFFF"/>
                </a:solidFill>
                <a:latin typeface="Oswald Bold"/>
                <a:ea typeface="Oswald Bold"/>
                <a:cs typeface="Oswald Bold"/>
                <a:sym typeface="Oswald Bold"/>
              </a:rPr>
              <a:t>DETAIL </a:t>
            </a:r>
          </a:p>
          <a:p>
            <a:pPr algn="l">
              <a:lnSpc>
                <a:spcPts val="11550"/>
              </a:lnSpc>
            </a:pPr>
            <a:r>
              <a:rPr lang="en-US" sz="10500" b="true">
                <a:solidFill>
                  <a:srgbClr val="FFFFFF"/>
                </a:solidFill>
                <a:latin typeface="Oswald Bold"/>
                <a:ea typeface="Oswald Bold"/>
                <a:cs typeface="Oswald Bold"/>
                <a:sym typeface="Oswald Bold"/>
              </a:rPr>
              <a:t>DATA TIM</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0071CE"/>
        </a:solidFill>
      </p:bgPr>
    </p:bg>
    <p:spTree>
      <p:nvGrpSpPr>
        <p:cNvPr id="1" name=""/>
        <p:cNvGrpSpPr/>
        <p:nvPr/>
      </p:nvGrpSpPr>
      <p:grpSpPr>
        <a:xfrm>
          <a:off x="0" y="0"/>
          <a:ext cx="0" cy="0"/>
          <a:chOff x="0" y="0"/>
          <a:chExt cx="0" cy="0"/>
        </a:xfrm>
      </p:grpSpPr>
      <p:sp>
        <p:nvSpPr>
          <p:cNvPr name="TextBox 2" id="2"/>
          <p:cNvSpPr txBox="true"/>
          <p:nvPr/>
        </p:nvSpPr>
        <p:spPr>
          <a:xfrm rot="0">
            <a:off x="415519" y="3709385"/>
            <a:ext cx="7036481" cy="4429125"/>
          </a:xfrm>
          <a:prstGeom prst="rect">
            <a:avLst/>
          </a:prstGeom>
        </p:spPr>
        <p:txBody>
          <a:bodyPr anchor="t" rtlCol="false" tIns="0" lIns="0" bIns="0" rIns="0">
            <a:spAutoFit/>
          </a:bodyPr>
          <a:lstStyle/>
          <a:p>
            <a:pPr algn="l">
              <a:lnSpc>
                <a:spcPts val="11550"/>
              </a:lnSpc>
            </a:pPr>
            <a:r>
              <a:rPr lang="en-US" sz="10500" b="true">
                <a:solidFill>
                  <a:srgbClr val="FFFFFF"/>
                </a:solidFill>
                <a:latin typeface="Oswald Bold"/>
                <a:ea typeface="Oswald Bold"/>
                <a:cs typeface="Oswald Bold"/>
                <a:sym typeface="Oswald Bold"/>
              </a:rPr>
              <a:t>SURAT DUKUNGAN HOTEL</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0071CE"/>
        </a:solidFill>
      </p:bgPr>
    </p:bg>
    <p:spTree>
      <p:nvGrpSpPr>
        <p:cNvPr id="1" name=""/>
        <p:cNvGrpSpPr/>
        <p:nvPr/>
      </p:nvGrpSpPr>
      <p:grpSpPr>
        <a:xfrm>
          <a:off x="0" y="0"/>
          <a:ext cx="0" cy="0"/>
          <a:chOff x="0" y="0"/>
          <a:chExt cx="0" cy="0"/>
        </a:xfrm>
      </p:grpSpPr>
      <p:sp>
        <p:nvSpPr>
          <p:cNvPr name="TextBox 2" id="2"/>
          <p:cNvSpPr txBox="true"/>
          <p:nvPr/>
        </p:nvSpPr>
        <p:spPr>
          <a:xfrm rot="0">
            <a:off x="415519" y="3709385"/>
            <a:ext cx="7036481" cy="2962275"/>
          </a:xfrm>
          <a:prstGeom prst="rect">
            <a:avLst/>
          </a:prstGeom>
        </p:spPr>
        <p:txBody>
          <a:bodyPr anchor="t" rtlCol="false" tIns="0" lIns="0" bIns="0" rIns="0">
            <a:spAutoFit/>
          </a:bodyPr>
          <a:lstStyle/>
          <a:p>
            <a:pPr algn="l">
              <a:lnSpc>
                <a:spcPts val="11550"/>
              </a:lnSpc>
            </a:pPr>
            <a:r>
              <a:rPr lang="en-US" sz="10500" b="true">
                <a:solidFill>
                  <a:srgbClr val="FFFFFF"/>
                </a:solidFill>
                <a:latin typeface="Oswald Bold"/>
                <a:ea typeface="Oswald Bold"/>
                <a:cs typeface="Oswald Bold"/>
                <a:sym typeface="Oswald Bold"/>
              </a:rPr>
              <a:t>DETAIL KURIKULUM</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0071CE"/>
        </a:solidFill>
      </p:bgPr>
    </p:bg>
    <p:spTree>
      <p:nvGrpSpPr>
        <p:cNvPr id="1" name=""/>
        <p:cNvGrpSpPr/>
        <p:nvPr/>
      </p:nvGrpSpPr>
      <p:grpSpPr>
        <a:xfrm>
          <a:off x="0" y="0"/>
          <a:ext cx="0" cy="0"/>
          <a:chOff x="0" y="0"/>
          <a:chExt cx="0" cy="0"/>
        </a:xfrm>
      </p:grpSpPr>
      <p:sp>
        <p:nvSpPr>
          <p:cNvPr name="TextBox 2" id="2"/>
          <p:cNvSpPr txBox="true"/>
          <p:nvPr/>
        </p:nvSpPr>
        <p:spPr>
          <a:xfrm rot="0">
            <a:off x="415519" y="3709385"/>
            <a:ext cx="7036481" cy="2962275"/>
          </a:xfrm>
          <a:prstGeom prst="rect">
            <a:avLst/>
          </a:prstGeom>
        </p:spPr>
        <p:txBody>
          <a:bodyPr anchor="t" rtlCol="false" tIns="0" lIns="0" bIns="0" rIns="0">
            <a:spAutoFit/>
          </a:bodyPr>
          <a:lstStyle/>
          <a:p>
            <a:pPr algn="l">
              <a:lnSpc>
                <a:spcPts val="11550"/>
              </a:lnSpc>
            </a:pPr>
            <a:r>
              <a:rPr lang="en-US" sz="10500" b="true">
                <a:solidFill>
                  <a:srgbClr val="FFFFFF"/>
                </a:solidFill>
                <a:latin typeface="Oswald Bold"/>
                <a:ea typeface="Oswald Bold"/>
                <a:cs typeface="Oswald Bold"/>
                <a:sym typeface="Oswald Bold"/>
              </a:rPr>
              <a:t>DETAIL ANGGARAN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DAHM-xdwnbk</dc:identifier>
  <dcterms:modified xsi:type="dcterms:W3CDTF">2011-08-01T06:04:30Z</dcterms:modified>
  <cp:revision>1</cp:revision>
  <dc:title>Proposal Pelatihan UMKM Afirmatif - Kementerian UMKM</dc:title>
</cp:coreProperties>
</file>